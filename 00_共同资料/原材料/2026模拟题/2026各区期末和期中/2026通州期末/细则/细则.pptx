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3"/>
    <p:sldId id="259" r:id="rId4"/>
    <p:sldId id="258" r:id="rId5"/>
    <p:sldId id="272" r:id="rId6"/>
    <p:sldId id="273" r:id="rId7"/>
    <p:sldId id="260" r:id="rId8"/>
    <p:sldId id="264" r:id="rId9"/>
    <p:sldId id="261" r:id="rId10"/>
    <p:sldId id="274" r:id="rId11"/>
    <p:sldId id="262" r:id="rId12"/>
    <p:sldId id="276" r:id="rId13"/>
    <p:sldId id="266" r:id="rId14"/>
    <p:sldId id="275" r:id="rId15"/>
    <p:sldId id="267" r:id="rId16"/>
    <p:sldId id="271" r:id="rId17"/>
    <p:sldId id="268" r:id="rId18"/>
    <p:sldId id="26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7"/>
        <p:guide pos="384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25525" y="986155"/>
            <a:ext cx="6547485" cy="1321435"/>
          </a:xfrm>
          <a:prstGeom prst="rect">
            <a:avLst/>
          </a:prstGeom>
        </p:spPr>
        <p:txBody>
          <a:bodyPr>
            <a:noAutofit/>
          </a:bodyPr>
          <a:p>
            <a:pPr marL="0" indent="63500" algn="just" defTabSz="26670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第一部分共</a:t>
            </a:r>
            <a:r>
              <a:rPr lang="en-US" altLang="zh-CN" sz="2600" b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15</a:t>
            </a:r>
            <a:r>
              <a:rPr lang="zh-CN" altLang="en-US" sz="2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题，每题</a:t>
            </a:r>
            <a:r>
              <a:rPr lang="en-US" altLang="zh-CN" sz="2600" b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3</a:t>
            </a:r>
            <a:r>
              <a:rPr lang="zh-CN" altLang="en-US" sz="2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分，共</a:t>
            </a:r>
            <a:r>
              <a:rPr lang="en-US" altLang="zh-CN" sz="2600" b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45</a:t>
            </a:r>
            <a:r>
              <a:rPr lang="zh-CN" altLang="en-US" sz="26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分。</a:t>
            </a:r>
            <a:endParaRPr lang="zh-CN" altLang="en-US" sz="26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ts val="7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410210" y="1779270"/>
          <a:ext cx="11280140" cy="3435350"/>
        </p:xfrm>
        <a:graphic>
          <a:graphicData uri="http://schemas.openxmlformats.org/drawingml/2006/table">
            <a:tbl>
              <a:tblPr/>
              <a:tblGrid>
                <a:gridCol w="864870"/>
                <a:gridCol w="699770"/>
                <a:gridCol w="697865"/>
                <a:gridCol w="698500"/>
                <a:gridCol w="700405"/>
                <a:gridCol w="697230"/>
                <a:gridCol w="665480"/>
                <a:gridCol w="665480"/>
                <a:gridCol w="664845"/>
                <a:gridCol w="732155"/>
                <a:gridCol w="697865"/>
                <a:gridCol w="701040"/>
                <a:gridCol w="699135"/>
                <a:gridCol w="698500"/>
                <a:gridCol w="697865"/>
                <a:gridCol w="699135"/>
              </a:tblGrid>
              <a:tr h="1717675">
                <a:tc>
                  <a:txBody>
                    <a:bodyPr/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endParaRPr lang="zh-CN" sz="32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 fontAlgn="auto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3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题号</a:t>
                      </a:r>
                      <a:endParaRPr lang="zh-CN" sz="32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88900" algn="just">
                        <a:lnSpc>
                          <a:spcPts val="97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88900" algn="just">
                        <a:lnSpc>
                          <a:spcPts val="97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88900" algn="just">
                        <a:lnSpc>
                          <a:spcPts val="97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gradFill>
                            <a:gsLst>
                              <a:gs pos="50000">
                                <a:srgbClr val="1F5FBF"/>
                              </a:gs>
                              <a:gs pos="0">
                                <a:srgbClr val="1486CB"/>
                              </a:gs>
                              <a:gs pos="100000">
                                <a:srgbClr val="2A34B2"/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gradFill>
                            <a:gsLst>
                              <a:gs pos="50000">
                                <a:srgbClr val="1F5FBF"/>
                              </a:gs>
                              <a:gs pos="0">
                                <a:srgbClr val="1486CB"/>
                              </a:gs>
                              <a:gs pos="100000">
                                <a:srgbClr val="2A34B2"/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gradFill>
                            <a:gsLst>
                              <a:gs pos="50000">
                                <a:srgbClr val="1F5FBF"/>
                              </a:gs>
                              <a:gs pos="0">
                                <a:srgbClr val="1486CB"/>
                              </a:gs>
                              <a:gs pos="100000">
                                <a:srgbClr val="2A34B2"/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gradFill>
                            <a:gsLst>
                              <a:gs pos="50000">
                                <a:srgbClr val="1F5FBF"/>
                              </a:gs>
                              <a:gs pos="0">
                                <a:srgbClr val="1486CB"/>
                              </a:gs>
                              <a:gs pos="100000">
                                <a:srgbClr val="2A34B2"/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gradFill>
                            <a:gsLst>
                              <a:gs pos="50000">
                                <a:srgbClr val="1F5FBF"/>
                              </a:gs>
                              <a:gs pos="0">
                                <a:srgbClr val="1486CB"/>
                              </a:gs>
                              <a:gs pos="100000">
                                <a:srgbClr val="2A34B2"/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17675">
                <a:tc>
                  <a:txBody>
                    <a:bodyPr/>
                    <a:p>
                      <a:pPr marL="144780" indent="0" algn="ctr">
                        <a:lnSpc>
                          <a:spcPts val="1035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zh-CN" sz="32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 fontAlgn="auto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zh-CN" sz="32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答案</a:t>
                      </a:r>
                      <a:endParaRPr lang="zh-CN" sz="32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76200" algn="just">
                        <a:lnSpc>
                          <a:spcPts val="97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76200" algn="just">
                        <a:lnSpc>
                          <a:spcPts val="97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76200" algn="just">
                        <a:lnSpc>
                          <a:spcPts val="97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</a:t>
                      </a: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88900" algn="just">
                        <a:lnSpc>
                          <a:spcPts val="97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88900" algn="just">
                        <a:lnSpc>
                          <a:spcPts val="97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88900" algn="just">
                        <a:lnSpc>
                          <a:spcPts val="97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</a:t>
                      </a: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</a:t>
                      </a:r>
                      <a:endParaRPr lang="en-US" altLang="zh-CN" sz="3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gradFill>
                            <a:gsLst>
                              <a:gs pos="50000">
                                <a:srgbClr val="1F5FBF"/>
                              </a:gs>
                              <a:gs pos="0">
                                <a:srgbClr val="1486CB"/>
                              </a:gs>
                              <a:gs pos="100000">
                                <a:srgbClr val="2A34B2"/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gradFill>
                            <a:gsLst>
                              <a:gs pos="50000">
                                <a:srgbClr val="1F5FBF"/>
                              </a:gs>
                              <a:gs pos="0">
                                <a:srgbClr val="1486CB"/>
                              </a:gs>
                              <a:gs pos="100000">
                                <a:srgbClr val="2A34B2"/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63500" algn="just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63500" algn="just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63500" algn="just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gradFill>
                            <a:gsLst>
                              <a:gs pos="50000">
                                <a:srgbClr val="1F5FBF"/>
                              </a:gs>
                              <a:gs pos="0">
                                <a:srgbClr val="1486CB"/>
                              </a:gs>
                              <a:gs pos="100000">
                                <a:srgbClr val="2A34B2"/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微软雅黑" panose="020B0503020204020204" charset="-122"/>
                        </a:rPr>
                        <a:t>D</a:t>
                      </a: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88900" algn="just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88900" algn="just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88900" algn="just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gradFill>
                            <a:gsLst>
                              <a:gs pos="50000">
                                <a:srgbClr val="1F5FBF"/>
                              </a:gs>
                              <a:gs pos="0">
                                <a:srgbClr val="1486CB"/>
                              </a:gs>
                              <a:gs pos="100000">
                                <a:srgbClr val="2A34B2"/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微软雅黑" panose="020B0503020204020204" charset="-122"/>
                        </a:rPr>
                        <a:t>D</a:t>
                      </a: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gradFill>
                            <a:gsLst>
                              <a:gs pos="50000">
                                <a:srgbClr val="1F5FBF"/>
                              </a:gs>
                              <a:gs pos="0">
                                <a:srgbClr val="1486CB"/>
                              </a:gs>
                              <a:gs pos="100000">
                                <a:srgbClr val="2A34B2"/>
                              </a:gs>
                            </a:gsLst>
                            <a:lin ang="5400000" scaled="1"/>
                          </a:gradFill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endParaRPr lang="en-US" altLang="zh-CN" sz="3200" b="1">
                        <a:gradFill>
                          <a:gsLst>
                            <a:gs pos="50000">
                              <a:srgbClr val="1F5FBF"/>
                            </a:gs>
                            <a:gs pos="0">
                              <a:srgbClr val="1486CB"/>
                            </a:gs>
                            <a:gs pos="100000">
                              <a:srgbClr val="2A34B2"/>
                            </a:gs>
                          </a:gsLst>
                          <a:lin ang="5400000" scaled="1"/>
                        </a:gra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C</a:t>
                      </a: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C</a:t>
                      </a: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A</a:t>
                      </a: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44780" indent="0" algn="ctr">
                        <a:lnSpc>
                          <a:spcPts val="97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32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B</a:t>
                      </a:r>
                      <a:endParaRPr lang="en-US" altLang="zh-CN" sz="3200" b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6075" y="229235"/>
            <a:ext cx="11500485" cy="639953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16.(8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都江堰，这座全世界迄今唯一仍在使用的古代水利工程，是人类与自然和谐共生最早的成功实践之一。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【因势利导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千年安澜】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战国时期，秦国蜀郡太守李冰利用当地西北高、东南低的地理条件，率领民众历经艰难、勇于开拓，修建都江堰，治水利民，充分彰显了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因地制宜、顺势而为、天人合一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的传统理念。如今，它也成为生态文明教育、爱国主义教育和中华优秀传统文化教育的生动课堂。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【珍水万世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永续守护】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都江堰的修建并非一蹴而就，历代治水者接力维护，使其千年至今仍焕发生机。如今，建设者守正创新，迈入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智水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时代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构建智慧水资源保护与污染防治体系、科技赋能文物保护等，推动工程持续升级。同时创新放水节文化表达，以情景剧演绎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李冰治水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故事，增设游客互动体验项目，让治水文化可触可感，为都江堰世界文化遗产的可持续发展注入智慧力量。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治水如治世，犹如当今世界大势，越是困难时刻，越要坚定信心，任何艰难曲折都不能阻挡历史前进的车轮。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结合材料，运用《哲学与文化》知识，阐释都江堰跨越千年的治水智慧。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01675" y="483235"/>
            <a:ext cx="10220960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635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16.(8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可从一切从实际出发、尊重规律和发挥主观能动性、发展的观点、中华民族精神、中华优秀传统文化创造性转化和创新性发展等角度作答。</a:t>
            </a:r>
            <a:endParaRPr lang="zh-CN" altLang="en-US" sz="24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53085" y="2185670"/>
          <a:ext cx="10641330" cy="3601085"/>
        </p:xfrm>
        <a:graphic>
          <a:graphicData uri="http://schemas.openxmlformats.org/drawingml/2006/table">
            <a:tbl>
              <a:tblPr/>
              <a:tblGrid>
                <a:gridCol w="1725930"/>
                <a:gridCol w="8915400"/>
              </a:tblGrid>
              <a:tr h="770890">
                <a:tc>
                  <a:txBody>
                    <a:bodyPr/>
                    <a:p>
                      <a:pPr marL="246380" indent="25400" algn="just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等级水平</a:t>
                      </a:r>
                      <a:endParaRPr 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46380" indent="0" algn="ctr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等级描述</a:t>
                      </a:r>
                      <a:endParaRPr 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7560">
                <a:tc>
                  <a:txBody>
                    <a:bodyPr/>
                    <a:p>
                      <a:pPr marL="246380" indent="0" algn="just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6380" indent="165100" algn="just" fontAlgn="auto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水平</a:t>
                      </a: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3500" indent="0" algn="just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观点鲜明，能明确表达自己的见解；紧扣问题，综合运用所学知识展开论述；逻辑严密，条理清晰</a:t>
                      </a:r>
                      <a:endParaRPr 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6925">
                <a:tc>
                  <a:txBody>
                    <a:bodyPr/>
                    <a:p>
                      <a:pPr marL="246380" indent="0" algn="just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6380" indent="152400" algn="just" fontAlgn="auto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水平</a:t>
                      </a: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50800" indent="12700" algn="just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观点比较明确，能表达自己的见解；能扣住问题展开论述，知识运用比较准确；逻辑性较强，有条理</a:t>
                      </a:r>
                      <a:endParaRPr 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6930">
                <a:tc>
                  <a:txBody>
                    <a:bodyPr/>
                    <a:p>
                      <a:pPr marL="246380" indent="0" algn="just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46380" indent="152400" algn="just" fontAlgn="auto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水平</a:t>
                      </a: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8100" indent="12700" algn="just" fontAlgn="auto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观点不明确；论述不能集中指向问题，罗列知识；知识运用不正确；论述缺乏逻辑，条理性差</a:t>
                      </a:r>
                      <a:endParaRPr 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8780">
                <a:tc>
                  <a:txBody>
                    <a:bodyPr/>
                    <a:p>
                      <a:pPr marL="246380" indent="152400" algn="just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水平</a:t>
                      </a: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alt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46380" indent="38100" algn="just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应答与试题无关；或重复试题内容；或没有应答</a:t>
                      </a:r>
                      <a:endParaRPr lang="zh-CN" sz="24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49860" y="122555"/>
            <a:ext cx="11879580" cy="657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355" algn="l" rtl="0" eaLnBrk="0">
              <a:lnSpc>
                <a:spcPct val="95000"/>
              </a:lnSpc>
              <a:spcBef>
                <a:spcPts val="0"/>
              </a:spcBef>
            </a:pPr>
            <a:r>
              <a:rPr sz="2240" b="1" kern="0" spc="140" dirty="0">
                <a:solidFill>
                  <a:srgbClr val="A04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哲学角度</a:t>
            </a:r>
            <a:r>
              <a:rPr sz="2240" b="1" kern="0" spc="140" dirty="0">
                <a:solidFill>
                  <a:srgbClr val="D05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endParaRPr sz="22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7465" algn="l" rtl="0" eaLnBrk="0">
              <a:lnSpc>
                <a:spcPct val="92000"/>
              </a:lnSpc>
              <a:spcBef>
                <a:spcPts val="1025"/>
              </a:spcBef>
            </a:pPr>
            <a:r>
              <a:rPr sz="2240" kern="0" spc="20" dirty="0">
                <a:solidFill>
                  <a:srgbClr val="E03020">
                    <a:alpha val="100000"/>
                  </a:srgbClr>
                </a:solidFill>
                <a:highlight>
                  <a:srgbClr val="00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唯物论角度</a:t>
            </a:r>
            <a:r>
              <a:rPr sz="2240" kern="0" spc="20" dirty="0">
                <a:solidFill>
                  <a:srgbClr val="000000">
                    <a:alpha val="100000"/>
                  </a:srgbClr>
                </a:solidFill>
                <a:highlight>
                  <a:srgbClr val="00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224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坚持一切从实际出发，实事求是/尊重客观规律与发挥主观能</a:t>
            </a:r>
            <a:r>
              <a:rPr sz="224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动性相结合</a:t>
            </a:r>
            <a:endParaRPr sz="22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595"/>
              </a:spcBef>
            </a:pPr>
            <a:r>
              <a:rPr sz="224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李冰利用当地北高东南低的地理条件修建都江堰，做到了因地制宜、顺势而为，体</a:t>
            </a:r>
            <a:r>
              <a:rPr sz="224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现了</a:t>
            </a:r>
            <a:endParaRPr sz="22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7465" algn="l" rtl="0" eaLnBrk="0">
              <a:lnSpc>
                <a:spcPct val="106000"/>
              </a:lnSpc>
              <a:spcBef>
                <a:spcPts val="5"/>
              </a:spcBef>
            </a:pPr>
            <a:r>
              <a:rPr sz="224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物质决定意识，要尊重客观规律，同时发挥人</a:t>
            </a:r>
            <a:r>
              <a:rPr sz="224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的主观能动性，实现人与自然的和谐共生。</a:t>
            </a:r>
            <a:r>
              <a:rPr sz="224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endParaRPr sz="2240" kern="0" spc="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7465" algn="l" rtl="0" eaLnBrk="0">
              <a:lnSpc>
                <a:spcPct val="106000"/>
              </a:lnSpc>
              <a:spcBef>
                <a:spcPts val="5"/>
              </a:spcBef>
            </a:pPr>
            <a:endParaRPr sz="2240" kern="0" spc="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7465" algn="l" rtl="0" eaLnBrk="0">
              <a:lnSpc>
                <a:spcPct val="106000"/>
              </a:lnSpc>
              <a:spcBef>
                <a:spcPts val="5"/>
              </a:spcBef>
            </a:pPr>
            <a:r>
              <a:rPr sz="2240" kern="0" spc="0" dirty="0">
                <a:solidFill>
                  <a:srgbClr val="E03020">
                    <a:alpha val="100000"/>
                  </a:srgbClr>
                </a:solidFill>
                <a:highlight>
                  <a:srgbClr val="00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辩证法角度：</a:t>
            </a:r>
            <a:r>
              <a:rPr sz="224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用联系观/发展观/</a:t>
            </a:r>
            <a:r>
              <a:rPr sz="224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辩证否定观</a:t>
            </a:r>
            <a:endParaRPr sz="22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6355" algn="l" rtl="0" eaLnBrk="0">
              <a:lnSpc>
                <a:spcPct val="91000"/>
              </a:lnSpc>
              <a:spcBef>
                <a:spcPts val="50"/>
              </a:spcBef>
            </a:pPr>
            <a:r>
              <a:rPr sz="2240" b="1" kern="0" spc="9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联系观</a:t>
            </a:r>
            <a:r>
              <a:rPr sz="2240" b="1" kern="0" spc="90" dirty="0">
                <a:solidFill>
                  <a:srgbClr val="3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：治水并非单一工程</a:t>
            </a:r>
            <a:r>
              <a:rPr sz="2240" b="1" kern="0" spc="80" dirty="0">
                <a:solidFill>
                  <a:srgbClr val="3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，而是兼顾防洪、灌溉、生态等多重效益，体现了联系的普</a:t>
            </a:r>
            <a:endParaRPr sz="22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6355" algn="l" rtl="0" eaLnBrk="0">
              <a:lnSpc>
                <a:spcPct val="92000"/>
              </a:lnSpc>
              <a:spcBef>
                <a:spcPts val="260"/>
              </a:spcBef>
            </a:pPr>
            <a:r>
              <a:rPr sz="2240" b="1" kern="0" spc="6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遍性、客观性和多祥性，把握了</a:t>
            </a:r>
            <a:r>
              <a:rPr sz="2240" b="1" kern="0" spc="5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事物之间的内在联系。</a:t>
            </a:r>
            <a:r>
              <a:rPr sz="2240" kern="0" spc="5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240" b="1" kern="0" spc="5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(系统观念/</a:t>
            </a:r>
            <a:r>
              <a:rPr sz="2240" kern="0" spc="5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整体部分)</a:t>
            </a:r>
            <a:endParaRPr sz="22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6355" algn="l" rtl="0" eaLnBrk="0">
              <a:lnSpc>
                <a:spcPct val="85000"/>
              </a:lnSpc>
              <a:spcBef>
                <a:spcPts val="1145"/>
              </a:spcBef>
            </a:pPr>
            <a:r>
              <a:rPr sz="2240" b="1" kern="0" spc="30" dirty="0">
                <a:solidFill>
                  <a:srgbClr val="603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发展观</a:t>
            </a:r>
            <a:r>
              <a:rPr sz="2240" b="1" kern="0" spc="30" dirty="0">
                <a:solidFill>
                  <a:srgbClr val="705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2240" b="1" kern="0" spc="30" dirty="0">
                <a:solidFill>
                  <a:srgbClr val="208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都江堰并非一蹴而就，历代治水者接力维护，如今迈入“智水</a:t>
            </a:r>
            <a:r>
              <a:rPr sz="2240" kern="0" spc="-320" dirty="0">
                <a:solidFill>
                  <a:srgbClr val="208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”时代，通过科技</a:t>
            </a:r>
            <a:endParaRPr sz="22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6355" algn="l" rtl="0" eaLnBrk="0">
              <a:lnSpc>
                <a:spcPct val="111000"/>
              </a:lnSpc>
              <a:spcBef>
                <a:spcPts val="60"/>
              </a:spcBef>
            </a:pPr>
            <a:r>
              <a:rPr sz="2240" b="1" kern="0" spc="90" dirty="0">
                <a:solidFill>
                  <a:srgbClr val="207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赋能、文化表达创新实现持续升级，体现了事物是不断变化发展的，要</a:t>
            </a:r>
            <a:r>
              <a:rPr sz="2240" kern="0" spc="90" dirty="0">
                <a:solidFill>
                  <a:srgbClr val="207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与时</a:t>
            </a:r>
            <a:r>
              <a:rPr sz="2240" kern="0" spc="80" dirty="0">
                <a:solidFill>
                  <a:srgbClr val="207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俱进、开拓</a:t>
            </a:r>
            <a:r>
              <a:rPr sz="2240" kern="0" spc="-10" dirty="0">
                <a:solidFill>
                  <a:srgbClr val="207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240" b="1" kern="0" spc="150" dirty="0">
                <a:solidFill>
                  <a:srgbClr val="207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创新。</a:t>
            </a:r>
            <a:r>
              <a:rPr sz="2240" kern="0" spc="1240" dirty="0">
                <a:solidFill>
                  <a:srgbClr val="207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40" b="1" kern="0" spc="150" dirty="0">
                <a:solidFill>
                  <a:srgbClr val="207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(前途光明道路曲折/质</a:t>
            </a:r>
            <a:r>
              <a:rPr sz="2240" b="1" kern="0" spc="140" dirty="0">
                <a:solidFill>
                  <a:srgbClr val="207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变量变)</a:t>
            </a:r>
            <a:endParaRPr sz="22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6355" algn="l" rtl="0" eaLnBrk="0">
              <a:lnSpc>
                <a:spcPct val="91000"/>
              </a:lnSpc>
              <a:spcBef>
                <a:spcPts val="50"/>
              </a:spcBef>
            </a:pPr>
            <a:r>
              <a:rPr sz="2240" b="1" kern="0" spc="-140" dirty="0">
                <a:solidFill>
                  <a:srgbClr val="705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辩证否定观</a:t>
            </a:r>
            <a:r>
              <a:rPr sz="2240" b="1" kern="0" spc="-140" dirty="0">
                <a:solidFill>
                  <a:srgbClr val="504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：守正创新是对传统治水智慧的继承</a:t>
            </a:r>
            <a:r>
              <a:rPr sz="2240" b="1" kern="0" spc="-150" dirty="0">
                <a:solidFill>
                  <a:srgbClr val="504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与发展，既保留了“因势利导”的核</a:t>
            </a:r>
            <a:r>
              <a:rPr sz="2240" kern="0" spc="-730" dirty="0">
                <a:solidFill>
                  <a:srgbClr val="504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心智慧，</a:t>
            </a:r>
            <a:endParaRPr sz="22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54305" algn="l" rtl="0" eaLnBrk="0">
              <a:lnSpc>
                <a:spcPct val="92000"/>
              </a:lnSpc>
              <a:spcBef>
                <a:spcPts val="960"/>
              </a:spcBef>
            </a:pPr>
            <a:r>
              <a:rPr sz="2240" b="1" kern="0" spc="80" dirty="0">
                <a:solidFill>
                  <a:srgbClr val="40307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又结合现代科技、文化传播实现升级，</a:t>
            </a:r>
            <a:r>
              <a:rPr sz="2240" b="1" kern="0" spc="70" dirty="0">
                <a:solidFill>
                  <a:srgbClr val="40307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体现了辩证否定是联系的环节、发展的环节</a:t>
            </a:r>
            <a:r>
              <a:rPr sz="2240" kern="0" spc="70" dirty="0">
                <a:solidFill>
                  <a:srgbClr val="40307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，实</a:t>
            </a:r>
            <a:r>
              <a:rPr sz="2000" b="1" kern="0" spc="-310" dirty="0">
                <a:solidFill>
                  <a:srgbClr val="4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质</a:t>
            </a:r>
            <a:r>
              <a:rPr sz="2000" kern="0" spc="-590" dirty="0">
                <a:solidFill>
                  <a:srgbClr val="4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b="1" kern="0" spc="-310" dirty="0">
                <a:solidFill>
                  <a:srgbClr val="4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</a:t>
            </a:r>
            <a:r>
              <a:rPr sz="2000" kern="0" spc="-820" dirty="0">
                <a:solidFill>
                  <a:srgbClr val="4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b="1" kern="0" spc="-310" dirty="0">
                <a:solidFill>
                  <a:srgbClr val="4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sz="2000" kern="0" spc="-700" dirty="0">
                <a:solidFill>
                  <a:srgbClr val="4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b="1" kern="0" spc="-310" dirty="0">
                <a:solidFill>
                  <a:srgbClr val="403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扬</a:t>
            </a:r>
            <a:r>
              <a:rPr sz="2000" b="1" kern="0" spc="-310" dirty="0">
                <a:solidFill>
                  <a:srgbClr val="40307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弃”。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54305" algn="l" rtl="0" eaLnBrk="0">
              <a:lnSpc>
                <a:spcPct val="95000"/>
              </a:lnSpc>
              <a:spcBef>
                <a:spcPts val="25"/>
              </a:spcBef>
            </a:pPr>
            <a:endParaRPr sz="2240" b="1" kern="0" spc="-470" dirty="0">
              <a:solidFill>
                <a:srgbClr val="90302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54305" algn="l" rtl="0" eaLnBrk="0">
              <a:lnSpc>
                <a:spcPct val="95000"/>
              </a:lnSpc>
              <a:spcBef>
                <a:spcPts val="25"/>
              </a:spcBef>
            </a:pPr>
            <a:r>
              <a:rPr sz="2240" b="1" kern="0" spc="-470" dirty="0">
                <a:solidFill>
                  <a:srgbClr val="903020">
                    <a:alpha val="100000"/>
                  </a:srgbClr>
                </a:solidFill>
                <a:highlight>
                  <a:srgbClr val="00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唯物史观：</a:t>
            </a:r>
            <a:r>
              <a:rPr sz="2240" b="1" kern="0" spc="-30" dirty="0">
                <a:solidFill>
                  <a:srgbClr val="3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人民群众是历史的创造者</a:t>
            </a:r>
            <a:r>
              <a:rPr sz="2240" b="1" kern="0" spc="-30" dirty="0">
                <a:solidFill>
                  <a:srgbClr val="C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sz="2240" kern="0" spc="-30" dirty="0">
                <a:solidFill>
                  <a:srgbClr val="C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40" kern="0" spc="-30" dirty="0">
                <a:solidFill>
                  <a:srgbClr val="C06030">
                    <a:alpha val="100000"/>
                  </a:srgbClr>
                </a:solidFill>
                <a:highlight>
                  <a:srgbClr val="00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价值观</a:t>
            </a:r>
            <a:r>
              <a:rPr sz="2240" kern="0" spc="-30" dirty="0">
                <a:solidFill>
                  <a:srgbClr val="B06040">
                    <a:alpha val="100000"/>
                  </a:srgbClr>
                </a:solidFill>
                <a:highlight>
                  <a:srgbClr val="00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224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自觉站在最广大人民群众的立场上</a:t>
            </a:r>
            <a:endParaRPr sz="22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46050" algn="l" rtl="0" eaLnBrk="0">
              <a:lnSpc>
                <a:spcPct val="85000"/>
              </a:lnSpc>
              <a:spcBef>
                <a:spcPts val="455"/>
              </a:spcBef>
            </a:pPr>
            <a:r>
              <a:rPr sz="224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李冰率领民众历经艰难修建都江堰，</a:t>
            </a:r>
            <a:r>
              <a:rPr sz="2240" kern="0" spc="-5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4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历代治水者接力维护，体现</a:t>
            </a:r>
            <a:r>
              <a:rPr sz="224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了人民群众是社会物质</a:t>
            </a:r>
            <a:r>
              <a:rPr sz="224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财富和精神财富的创造者，治水智慧源于人</a:t>
            </a:r>
            <a:r>
              <a:rPr sz="224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民的实践。</a:t>
            </a:r>
            <a:endParaRPr sz="224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96215" y="464820"/>
            <a:ext cx="11770360" cy="554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algn="l" rtl="0" eaLnBrk="0">
              <a:lnSpc>
                <a:spcPct val="97000"/>
              </a:lnSpc>
            </a:pPr>
            <a:r>
              <a:rPr sz="2025" b="1" kern="0" spc="400" dirty="0">
                <a:solidFill>
                  <a:srgbClr val="903030">
                    <a:alpha val="100000"/>
                  </a:srgbClr>
                </a:solidFill>
                <a:highlight>
                  <a:srgbClr val="00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文化角度</a:t>
            </a:r>
            <a:r>
              <a:rPr sz="2025" b="1" kern="0" spc="400" dirty="0">
                <a:solidFill>
                  <a:srgbClr val="D04030">
                    <a:alpha val="100000"/>
                  </a:srgbClr>
                </a:solidFill>
                <a:highlight>
                  <a:srgbClr val="00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endParaRPr sz="2025" dirty="0">
              <a:highlight>
                <a:srgbClr val="00FF00"/>
              </a:highligh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0955" algn="l" rtl="0" eaLnBrk="0">
              <a:lnSpc>
                <a:spcPct val="95000"/>
              </a:lnSpc>
              <a:spcBef>
                <a:spcPts val="1170"/>
              </a:spcBef>
            </a:pPr>
            <a:r>
              <a:rPr sz="2170" b="1" kern="0" spc="-20" dirty="0">
                <a:solidFill>
                  <a:srgbClr val="D03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1.优秀传统文化的角度</a:t>
            </a:r>
            <a:r>
              <a:rPr lang="zh-CN" sz="2170" b="1" kern="0" spc="-20" dirty="0">
                <a:solidFill>
                  <a:srgbClr val="D03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217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中华优秀传统文化的</a:t>
            </a:r>
            <a:r>
              <a:rPr sz="217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传承/民族精神的角度</a:t>
            </a:r>
            <a:endParaRPr sz="217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0320" algn="l" rtl="0" eaLnBrk="0">
              <a:lnSpc>
                <a:spcPct val="86000"/>
              </a:lnSpc>
              <a:spcBef>
                <a:spcPts val="1465"/>
              </a:spcBef>
            </a:pPr>
            <a:r>
              <a:rPr sz="2025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都江堰蕴含的“天人合一”“因地制宜”</a:t>
            </a:r>
            <a:r>
              <a:rPr sz="2025" b="1" kern="0" spc="-320" dirty="0">
                <a:solidFill>
                  <a:srgbClr val="4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的传统理念，是中华优秀传统文化的</a:t>
            </a:r>
            <a:r>
              <a:rPr sz="2025" b="1" kern="0" spc="-330" dirty="0">
                <a:solidFill>
                  <a:srgbClr val="4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重要组成部分，</a:t>
            </a:r>
            <a:endParaRPr sz="20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5400"/>
              </a:lnSpc>
            </a:pPr>
            <a:r>
              <a:rPr sz="2025" kern="0" spc="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历经千年传承至今，成为生态文明教育</a:t>
            </a:r>
            <a:r>
              <a:rPr sz="2025" b="1" kern="0" spc="310" dirty="0">
                <a:solidFill>
                  <a:srgbClr val="408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、爱国主义</a:t>
            </a:r>
            <a:r>
              <a:rPr sz="2025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教育的生动课堂，体现了中华</a:t>
            </a:r>
            <a:r>
              <a:rPr sz="2025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优秀</a:t>
            </a:r>
            <a:endParaRPr sz="20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0320" algn="l" rtl="0" eaLnBrk="0">
              <a:lnSpc>
                <a:spcPct val="88000"/>
              </a:lnSpc>
              <a:spcBef>
                <a:spcPts val="935"/>
              </a:spcBef>
            </a:pPr>
            <a:r>
              <a:rPr sz="2025" b="1" kern="0" spc="3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传统文化具有相对</a:t>
            </a:r>
            <a:r>
              <a:rPr sz="2025" kern="0" spc="3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稳定性</a:t>
            </a:r>
            <a:r>
              <a:rPr sz="2025" kern="0" spc="3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和鲜明的民族性</a:t>
            </a:r>
            <a:r>
              <a:rPr sz="2025" b="1" kern="0" spc="-210" dirty="0">
                <a:solidFill>
                  <a:srgbClr val="407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，是中华民族的精神基因。</a:t>
            </a:r>
            <a:endParaRPr sz="2025" b="1" kern="0" spc="-210" dirty="0">
              <a:solidFill>
                <a:srgbClr val="40704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0320" algn="l" rtl="0" eaLnBrk="0">
              <a:lnSpc>
                <a:spcPct val="88000"/>
              </a:lnSpc>
              <a:spcBef>
                <a:spcPts val="935"/>
              </a:spcBef>
            </a:pPr>
            <a:endParaRPr sz="20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0955" algn="l" rtl="0" eaLnBrk="0">
              <a:lnSpc>
                <a:spcPct val="95000"/>
              </a:lnSpc>
              <a:spcBef>
                <a:spcPts val="25"/>
              </a:spcBef>
            </a:pPr>
            <a:r>
              <a:rPr sz="2170" b="1" kern="0" spc="-30" dirty="0">
                <a:solidFill>
                  <a:srgbClr val="D03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2.文化创新的角度</a:t>
            </a:r>
            <a:r>
              <a:rPr lang="zh-CN" sz="2170" b="1" kern="0" spc="-30" dirty="0">
                <a:solidFill>
                  <a:srgbClr val="D03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217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创造性转化和创新性发展/文化创新的途</a:t>
            </a:r>
            <a:r>
              <a:rPr sz="217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径</a:t>
            </a:r>
            <a:endParaRPr sz="217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415"/>
              </a:spcBef>
            </a:pPr>
            <a:r>
              <a:rPr sz="2025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如今通过构建智慧水资</a:t>
            </a:r>
            <a:r>
              <a:rPr sz="2025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源保护体系、创新水文化↓(情景剧演绎、智慧游客互动体验),</a:t>
            </a:r>
            <a:endParaRPr sz="20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0320" indent="-7620" algn="l" rtl="0" eaLnBrk="0">
              <a:lnSpc>
                <a:spcPct val="98000"/>
              </a:lnSpc>
              <a:spcBef>
                <a:spcPts val="130"/>
              </a:spcBef>
            </a:pPr>
            <a:r>
              <a:rPr sz="2025" kern="0" spc="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实现了传统文化与现代科技、社会实践</a:t>
            </a:r>
            <a:r>
              <a:rPr sz="2025" kern="0" spc="2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的结合，推动了水文化的</a:t>
            </a:r>
            <a:r>
              <a:rPr sz="2025" b="1" kern="0" spc="-170" dirty="0">
                <a:solidFill>
                  <a:srgbClr val="307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创造性转化和创新性</a:t>
            </a:r>
            <a:r>
              <a:rPr sz="2025" b="1" kern="0" spc="330" dirty="0">
                <a:solidFill>
                  <a:srgbClr val="208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发展/融通不同资源，实现综合创新</a:t>
            </a:r>
            <a:r>
              <a:rPr sz="2025" b="1" kern="0" spc="330" dirty="0">
                <a:solidFill>
                  <a:srgbClr val="206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sz="2025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为都江堰世界文化遗产的可持续发展注</a:t>
            </a:r>
            <a:r>
              <a:rPr sz="2025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入智慧</a:t>
            </a:r>
            <a:r>
              <a:rPr lang="zh-CN" sz="2025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力量</a:t>
            </a:r>
            <a:r>
              <a:rPr lang="en-US" altLang="zh-CN" sz="2025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lang="en-US" altLang="zh-CN" sz="2025" kern="0" spc="-20" dirty="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0320" indent="-7620" algn="l" rtl="0" eaLnBrk="0">
              <a:lnSpc>
                <a:spcPct val="98000"/>
              </a:lnSpc>
              <a:spcBef>
                <a:spcPts val="130"/>
              </a:spcBef>
            </a:pPr>
            <a:endParaRPr sz="28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0955" algn="l" rtl="0" eaLnBrk="0">
              <a:lnSpc>
                <a:spcPct val="95000"/>
              </a:lnSpc>
              <a:spcBef>
                <a:spcPts val="45"/>
              </a:spcBef>
            </a:pPr>
            <a:r>
              <a:rPr sz="2170" b="1" kern="0" spc="-30" dirty="0">
                <a:solidFill>
                  <a:srgbClr val="D03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3.文化的作用角度</a:t>
            </a:r>
            <a:r>
              <a:rPr lang="zh-CN" sz="2170" b="1" kern="0" spc="-30" dirty="0">
                <a:solidFill>
                  <a:srgbClr val="D0303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2025" b="1" kern="0" spc="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基本功能/当代价值</a:t>
            </a:r>
            <a:endParaRPr sz="20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30"/>
              </a:spcBef>
            </a:pPr>
            <a:r>
              <a:rPr sz="2025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都江堰的治水智慧不仅</a:t>
            </a:r>
            <a:r>
              <a:rPr sz="2025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塑造了巴蜀地区的生态与经济格局，还成为文化教育的载体，</a:t>
            </a:r>
            <a:endParaRPr sz="20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4000"/>
              </a:lnSpc>
              <a:spcBef>
                <a:spcPts val="90"/>
              </a:spcBef>
            </a:pPr>
            <a:r>
              <a:rPr sz="2025" kern="0" spc="180" dirty="0">
                <a:solidFill>
                  <a:srgbClr val="707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</a:t>
            </a:r>
            <a:r>
              <a:rPr sz="2025" kern="0" spc="-970" dirty="0">
                <a:solidFill>
                  <a:srgbClr val="707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25" kern="0" spc="180" dirty="0">
                <a:solidFill>
                  <a:srgbClr val="707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挥</a:t>
            </a:r>
            <a:r>
              <a:rPr sz="2025" kern="0" spc="-500" dirty="0">
                <a:solidFill>
                  <a:srgbClr val="707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25" kern="0" spc="180" dirty="0">
                <a:solidFill>
                  <a:srgbClr val="707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了</a:t>
            </a:r>
            <a:r>
              <a:rPr sz="2025" b="1" kern="0" spc="180" dirty="0">
                <a:solidFill>
                  <a:srgbClr val="707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文化教化育人、传承文明、推动社会发展</a:t>
            </a:r>
            <a:r>
              <a:rPr sz="2025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的作用，彰显了中华文化的博大精深</a:t>
            </a:r>
            <a:r>
              <a:rPr sz="2025" kern="0" spc="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和当代价值。</a:t>
            </a:r>
            <a:endParaRPr sz="2025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9000"/>
              </a:lnSpc>
            </a:pPr>
            <a:endParaRPr sz="47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47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099800" algn="l" rtl="0" eaLnBrk="0">
              <a:lnSpc>
                <a:spcPct val="78000"/>
              </a:lnSpc>
              <a:spcBef>
                <a:spcPts val="5"/>
              </a:spcBef>
            </a:pPr>
            <a:endParaRPr sz="2025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4880" y="190570"/>
            <a:ext cx="10969200" cy="705600"/>
          </a:xfrm>
        </p:spPr>
        <p:txBody>
          <a:bodyPr>
            <a:noAutofit/>
          </a:bodyPr>
          <a:p>
            <a:r>
              <a:rPr lang="en-US" altLang="zh-CN" sz="2400" b="1"/>
              <a:t>17.(8</a:t>
            </a:r>
            <a:r>
              <a:rPr lang="zh-CN" altLang="en-US" sz="2400" b="1"/>
              <a:t>分）</a:t>
            </a:r>
            <a:br>
              <a:rPr lang="zh-CN" altLang="en-US" sz="2400" b="1"/>
            </a:br>
            <a:r>
              <a:rPr lang="zh-CN" altLang="en-US" sz="2400" b="1"/>
              <a:t>以法为脉，守护中轴。</a:t>
            </a:r>
            <a:endParaRPr lang="zh-CN" altLang="en-US" sz="2400" b="1"/>
          </a:p>
        </p:txBody>
      </p:sp>
      <p:pic>
        <p:nvPicPr>
          <p:cNvPr id="27" name="Picture 1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384175" y="895985"/>
            <a:ext cx="8623935" cy="50653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4670" y="5975985"/>
            <a:ext cx="11146790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5588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结合材料，运用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政治与法治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知识，分析北京市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是如何</a:t>
            </a:r>
            <a:r>
              <a:rPr lang="zh-CN" altLang="en-US" sz="2400" b="1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以法治赋能中轴线文化遗产保护的。</a:t>
            </a:r>
            <a:endParaRPr lang="zh-CN" altLang="en-US" sz="2400" b="1">
              <a:solidFill>
                <a:srgbClr val="000000"/>
              </a:solidFill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88755" y="190500"/>
            <a:ext cx="3016885" cy="578548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63500" algn="just" defTabSz="266700">
              <a:lnSpc>
                <a:spcPts val="19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70C0"/>
                </a:solidFill>
                <a:latin typeface="Calibri" panose="020F0502020204030204"/>
                <a:ea typeface="Calibri" panose="020F0502020204030204"/>
              </a:rPr>
              <a:t>17.(8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zh-CN" altLang="en-US" sz="2000" b="1">
                <a:solidFill>
                  <a:srgbClr val="0070C0"/>
                </a:solidFill>
                <a:latin typeface="Calibri" panose="020F0502020204030204"/>
                <a:ea typeface="Calibri" panose="020F0502020204030204"/>
              </a:rPr>
              <a:t>）</a:t>
            </a:r>
            <a:endParaRPr lang="zh-CN" altLang="en-US" sz="2000" b="1">
              <a:solidFill>
                <a:srgbClr val="0070C0"/>
              </a:solidFill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坚持科学立法，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北京市人大常委会依法制定地方性法规，为遗产保护提供法律依据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，行使监督权开展相关执法检查，</a:t>
            </a:r>
            <a:r>
              <a:rPr lang="zh-CN" altLang="en-US" sz="2000" b="1">
                <a:solidFill>
                  <a:schemeClr val="tx1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进行普法宣传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，营造中轴线遗产保护的良好社会氛围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；（</a:t>
            </a: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推进法治政府建设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北京市政府坚持依法行政，建立联动执法机制，明确职责权限，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条例</a:t>
            </a: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规定转化为常态化执法实践；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分）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司法机关创新普法形式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面向青少年开展法治宣传教育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，提升公众法治素养。（</a:t>
            </a: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r="15459"/>
          <a:stretch>
            <a:fillRect/>
          </a:stretch>
        </p:blipFill>
        <p:spPr>
          <a:xfrm>
            <a:off x="906780" y="412750"/>
            <a:ext cx="10254615" cy="55086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4325" y="80010"/>
            <a:ext cx="6759575" cy="5716905"/>
          </a:xfrm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18.(8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快递连接千城百业、千家万户，快递业的发展彰显中国经济新气象。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镜头一：学习机，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无人</a:t>
            </a:r>
            <a:r>
              <a:rPr lang="en-US" altLang="zh-CN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广东深圳市民李先生下单智能学习机后，商品从某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物流智能仓分拣出库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，经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无人配送车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接驳，最后由快递员送货上门，实现了当日送达。从自动化仓库到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分拣，再到末端无人车，一张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高效智能的物流网络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正在加速织就。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镜头二：旧家具，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速换新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山东临沂市民王女士趁着政策补贴，通过快递服务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送新取旧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一小时就完成了新家具的换装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。快递企业通过新建操作场地、升级中转能力、创新逆向物流模式，有力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支撑了以旧换新等消费需求的释放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镜头三：红苹果，出深山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陕西洛川的某公司仓库里，一箱箱苹果正在快速打包发运。快递服务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下乡进村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、驻点揽收，让农产品得以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高效出村进城，助力农民增收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，也推动了</a:t>
            </a:r>
            <a:r>
              <a:rPr lang="zh-CN" altLang="en-US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中西部地区的消费潜力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释放。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>
                <a:solidFill>
                  <a:schemeClr val="tx1"/>
                </a:solidFill>
                <a:highlight>
                  <a:srgbClr val="00FFFF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结合材料，运用《经济与社会》知识，谈谈快递业如何通过其发展彰显中国经济的新气象。</a:t>
            </a:r>
            <a:endParaRPr lang="zh-CN" altLang="en-US">
              <a:solidFill>
                <a:schemeClr val="tx1"/>
              </a:solidFill>
              <a:highlight>
                <a:srgbClr val="00FF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>
              <a:solidFill>
                <a:schemeClr val="tx1"/>
              </a:solidFill>
              <a:highlight>
                <a:srgbClr val="00FFFF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26605" y="105410"/>
            <a:ext cx="4902835" cy="61855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635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200" b="1">
                <a:solidFill>
                  <a:srgbClr val="0070C0"/>
                </a:solidFill>
                <a:latin typeface="Calibri" panose="020F0502020204030204"/>
                <a:ea typeface="Calibri" panose="020F0502020204030204"/>
              </a:rPr>
              <a:t>18.(8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zh-CN" altLang="en-US" sz="2200" b="1">
                <a:solidFill>
                  <a:srgbClr val="0070C0"/>
                </a:solidFill>
                <a:latin typeface="Calibri" panose="020F0502020204030204"/>
                <a:ea typeface="Calibri" panose="020F0502020204030204"/>
              </a:rPr>
              <a:t>）</a:t>
            </a:r>
            <a:endParaRPr lang="zh-CN" altLang="en-US" sz="2200" b="1">
              <a:solidFill>
                <a:srgbClr val="0070C0"/>
              </a:solidFill>
              <a:latin typeface="Calibri" panose="020F0502020204030204"/>
              <a:ea typeface="Calibri" panose="020F0502020204030204"/>
            </a:endParaRPr>
          </a:p>
          <a:p>
            <a:pPr marL="2032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zh-CN" altLang="en-US" sz="2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智能物流网络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建设彰显</a:t>
            </a:r>
            <a:r>
              <a:rPr lang="zh-CN" altLang="en-US" sz="2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创新驱动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，行业通过</a:t>
            </a:r>
            <a:r>
              <a:rPr lang="zh-CN" altLang="en-US" sz="2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科技创新提升供给效率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，为实体经济注入新活力；</a:t>
            </a:r>
            <a:r>
              <a:rPr lang="zh-CN" altLang="en-US" sz="22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2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22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032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2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032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zh-CN" altLang="en-US" sz="2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支撑“以旧换新”等政策落地，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以精准物流服务</a:t>
            </a:r>
            <a:r>
              <a:rPr lang="zh-CN" altLang="en-US" sz="2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激活消费市场，彰显内需潜力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，为经济增长提供持续功能；</a:t>
            </a:r>
            <a:r>
              <a:rPr lang="zh-CN" altLang="en-US" sz="22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2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22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032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2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032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通过</a:t>
            </a:r>
            <a:r>
              <a:rPr lang="zh-CN" altLang="en-US" sz="2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服务下沉和城乡双向流通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彰显</a:t>
            </a:r>
            <a:r>
              <a:rPr lang="zh-CN" altLang="en-US" sz="2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协调发展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，促进</a:t>
            </a:r>
            <a:r>
              <a:rPr lang="zh-CN" altLang="en-US" sz="2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资源要素顺畅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流动，助力</a:t>
            </a:r>
            <a:r>
              <a:rPr lang="zh-CN" altLang="en-US" sz="2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乡村振兴与区域平衡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发展。</a:t>
            </a:r>
            <a:r>
              <a:rPr lang="zh-CN" altLang="en-US" sz="22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2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22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032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2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032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我国快递业通过自身发展，适配经济</a:t>
            </a:r>
            <a:r>
              <a:rPr lang="zh-CN" altLang="en-US" sz="22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高质量发展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需求，彰显了中国经济新气象。（</a:t>
            </a:r>
            <a:r>
              <a:rPr lang="en-US" altLang="zh-CN" sz="22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2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：高质量发展</a:t>
            </a:r>
            <a:r>
              <a:rPr lang="en-US" altLang="zh-CN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以人民为中心</a:t>
            </a:r>
            <a:r>
              <a:rPr lang="en-US" altLang="zh-CN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共富</a:t>
            </a:r>
            <a:r>
              <a:rPr lang="en-US" altLang="zh-CN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|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共享</a:t>
            </a:r>
            <a:r>
              <a:rPr lang="en-US" altLang="zh-CN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zh-CN" altLang="en-US" sz="22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两个）</a:t>
            </a:r>
            <a:endParaRPr lang="zh-CN" altLang="en-US" sz="22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7054850" y="105410"/>
            <a:ext cx="0" cy="65843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微信图片_20260128144331_2042_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0" y="208915"/>
            <a:ext cx="11480165" cy="63347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8359140" cy="34664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ts val="2725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90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   19.(14</a:t>
            </a:r>
            <a:r>
              <a:rPr lang="zh-CN" altLang="en-US" sz="19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zh-CN" altLang="en-US" sz="190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）</a:t>
            </a:r>
            <a:endParaRPr lang="zh-CN" altLang="en-US" sz="1900">
              <a:solidFill>
                <a:srgbClr val="000000"/>
              </a:solidFill>
              <a:latin typeface="Calibri" panose="020F0502020204030204"/>
              <a:ea typeface="Calibri" panose="020F0502020204030204"/>
            </a:endParaRPr>
          </a:p>
          <a:p>
            <a:pPr marL="0" indent="241300" algn="just" defTabSz="266700">
              <a:lnSpc>
                <a:spcPts val="19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【案件事实】</a:t>
            </a:r>
            <a:endParaRPr lang="zh-CN" altLang="en-US" sz="19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" indent="342900" algn="just" defTabSz="266700">
              <a:lnSpc>
                <a:spcPts val="204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某小区</a:t>
            </a:r>
            <a:r>
              <a:rPr lang="en-US" altLang="zh-CN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号楼</a:t>
            </a:r>
            <a:r>
              <a:rPr lang="en-US" altLang="zh-CN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全体业主一致签字同意增设电梯，并于小区主要出入口张贴意见征集单、公示、承诺及图纸等相关材料，公示期间未收到异议。随后，该项目取得了主管部门的审批手续并正式开工。居住于相邻楼的业主范某认为，电梯安装位置影响其采光，侵犯其合法权益，遂多次在现场阻碍施工，导致项目停工。</a:t>
            </a:r>
            <a:r>
              <a:rPr lang="en-US" altLang="zh-CN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全体业主向人民法院起诉，请求判令范某停止对加装电梯工程的妨害行为。法院经现场勘查，案涉加装电梯采用全玻璃设计，未对相邻楼采光造成影响，遂判决范某停止对电梯加装工程的阻挠行为。同时，法院明确，若电梯投入使用后，确在采光、通风等方面对部分业主造成较大影响，相关权利人可就补偿事宜另行协商或通过法律途径解决。</a:t>
            </a:r>
            <a:endParaRPr lang="zh-CN" altLang="en-US" sz="19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 defTabSz="266700">
              <a:lnSpc>
                <a:spcPts val="1295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3352800"/>
            <a:ext cx="8455660" cy="32708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41300" algn="just" defTabSz="266700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【法律依据】</a:t>
            </a:r>
            <a:endParaRPr lang="zh-CN" altLang="en-US" sz="19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 defTabSz="266700">
              <a:lnSpc>
                <a:spcPts val="1295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endParaRPr lang="en-US" altLang="zh-CN" sz="1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中华人民共和国民法典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（节选）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017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第二百九十二条：不动产权利人因建造、修缮建筑物以及铺设电线、电缆、水管、暖气和燃气管线等必须利用相邻土地、建筑物的，该土地、建筑物的权利人应当提供必要的便利。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017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第二百九十六条：不动产权利人因用水、排水、通行、铺设管线等利用相邻不动产的，应当尽量避免对相邻的不动产权利人造成损害。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 defTabSz="266700">
              <a:lnSpc>
                <a:spcPts val="149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endParaRPr lang="en-US" altLang="zh-CN" sz="19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584200" algn="just" defTabSz="266700">
              <a:lnSpc>
                <a:spcPts val="2805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）结合材料，运用</a:t>
            </a:r>
            <a:r>
              <a:rPr lang="en-US" altLang="zh-CN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lang="zh-CN" altLang="en-US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法律与生活</a:t>
            </a:r>
            <a:r>
              <a:rPr lang="en-US" altLang="zh-CN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r>
              <a:rPr lang="zh-CN" altLang="en-US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知识，分析判决结果并说明理由。（</a:t>
            </a:r>
            <a:r>
              <a:rPr lang="en-US" altLang="zh-CN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9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19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638540" y="249555"/>
            <a:ext cx="3394710" cy="6247130"/>
          </a:xfrm>
          <a:prstGeom prst="rect">
            <a:avLst/>
          </a:prstGeom>
        </p:spPr>
        <p:txBody>
          <a:bodyPr wrap="square">
            <a:spAutoFit/>
          </a:bodyPr>
          <a:p>
            <a:pPr marL="1778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solidFill>
                  <a:srgbClr val="0070C0"/>
                </a:solidFill>
                <a:latin typeface="Calibri" panose="020F0502020204030204"/>
                <a:ea typeface="Calibri" panose="020F0502020204030204"/>
              </a:rPr>
              <a:t>1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）法院判决以事实为根据，以法律为准绳。老旧小区加装电梯属民生工程，已获法定比例业主同意，程序合法。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78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电梯采用玻璃幕墙设计，在提升本楼业主出行便利的同时，能尽量减少对相邻楼业主的影响。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78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78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依据</a:t>
            </a: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中华人民共和国民法典</a:t>
            </a: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规定，不动产的相邻权利人应当按照有利生产、方便生活、团结互助、公平合理的原则，正确处理相邻关系。本案判决维护了相邻业主合法权益，有助于促进邻里和谐，践行友善的社会主义核心价值观。（</a:t>
            </a:r>
            <a:r>
              <a:rPr lang="en-US" altLang="zh-CN" sz="2000" b="1">
                <a:solidFill>
                  <a:srgbClr val="0070C0"/>
                </a:solidFill>
                <a:latin typeface="Calibri" panose="020F0502020204030204"/>
                <a:ea typeface="Calibri" panose="020F0502020204030204"/>
              </a:rPr>
              <a:t>8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8691245" y="75565"/>
            <a:ext cx="0" cy="65957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4800" y="153670"/>
            <a:ext cx="11600180" cy="6341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en-US" altLang="zh-CN" sz="2400" b="1">
                <a:solidFill>
                  <a:srgbClr val="FF0000"/>
                </a:solidFill>
              </a:rPr>
              <a:t>19</a:t>
            </a:r>
            <a:r>
              <a:rPr lang="zh-CN" altLang="en-US" sz="2400" b="1">
                <a:solidFill>
                  <a:srgbClr val="FF0000"/>
                </a:solidFill>
              </a:rPr>
              <a:t>（</a:t>
            </a:r>
            <a:r>
              <a:rPr lang="en-US" altLang="zh-CN" sz="2400" b="1">
                <a:solidFill>
                  <a:srgbClr val="FF0000"/>
                </a:solidFill>
              </a:rPr>
              <a:t>1</a:t>
            </a:r>
            <a:r>
              <a:rPr lang="zh-CN" altLang="en-US" sz="2400" b="1">
                <a:solidFill>
                  <a:srgbClr val="FF0000"/>
                </a:solidFill>
              </a:rPr>
              <a:t>）细则</a:t>
            </a:r>
            <a:endParaRPr lang="zh-CN" altLang="en-US" sz="2400" b="1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2000">
                <a:highlight>
                  <a:srgbClr val="FFFF00"/>
                </a:highlight>
              </a:rPr>
              <a:t>一、法理依据</a:t>
            </a:r>
            <a:r>
              <a:rPr lang="en-US" altLang="zh-CN" sz="2000">
                <a:highlight>
                  <a:srgbClr val="FFFF00"/>
                </a:highlight>
              </a:rPr>
              <a:t>3</a:t>
            </a:r>
            <a:r>
              <a:rPr lang="zh-CN" altLang="en-US" sz="2000">
                <a:highlight>
                  <a:srgbClr val="FFFF00"/>
                </a:highlight>
              </a:rPr>
              <a:t>分</a:t>
            </a:r>
            <a:endParaRPr lang="zh-CN" altLang="en-US" sz="2000"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</a:pPr>
            <a:r>
              <a:rPr lang="zh-CN" altLang="en-US" sz="2000" b="1">
                <a:solidFill>
                  <a:srgbClr val="FF0000"/>
                </a:solidFill>
                <a:sym typeface="+mn-ea"/>
              </a:rPr>
              <a:t>依据《中华人民共和国民法典》规定（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分</a:t>
            </a:r>
            <a:r>
              <a:rPr lang="zh-CN" altLang="en-US" sz="2000">
                <a:sym typeface="+mn-ea"/>
              </a:rPr>
              <a:t>，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写按照法律不给分</a:t>
            </a:r>
            <a:r>
              <a:rPr lang="zh-CN" altLang="en-US" sz="2000">
                <a:sym typeface="+mn-ea"/>
              </a:rPr>
              <a:t>），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不动产的相邻权利人应当按照有利生产、方便生活、团结互助、公平合理的原则，正确处理相邻关系。（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2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分</a:t>
            </a:r>
            <a:r>
              <a:rPr lang="zh-CN" altLang="en-US" sz="2000">
                <a:sym typeface="+mn-ea"/>
              </a:rPr>
              <a:t>，写应当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为相邻方提供便利或不侵害相邻方合法权益给</a:t>
            </a:r>
            <a:r>
              <a:rPr lang="en-US" altLang="zh-CN" sz="2000">
                <a:highlight>
                  <a:srgbClr val="FFFF00"/>
                </a:highlight>
                <a:sym typeface="+mn-ea"/>
              </a:rPr>
              <a:t>1</a:t>
            </a:r>
            <a:r>
              <a:rPr lang="zh-CN" altLang="en-US" sz="2000">
                <a:highlight>
                  <a:srgbClr val="FFFF00"/>
                </a:highlight>
                <a:sym typeface="+mn-ea"/>
              </a:rPr>
              <a:t>分）</a:t>
            </a:r>
            <a:r>
              <a:rPr lang="zh-CN" altLang="en-US" sz="2000">
                <a:sym typeface="+mn-ea"/>
              </a:rPr>
              <a:t>没写出以上内容，写出法院判决</a:t>
            </a:r>
            <a:r>
              <a:rPr lang="zh-CN" altLang="en-US" sz="2000" b="1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sym typeface="+mn-ea"/>
              </a:rPr>
              <a:t>以事实为根据，以法律为准绳</a:t>
            </a:r>
            <a:r>
              <a:rPr lang="zh-CN" altLang="en-US" sz="2000">
                <a:sym typeface="+mn-ea"/>
              </a:rPr>
              <a:t>，给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分，与前面不重复给。</a:t>
            </a:r>
            <a:endParaRPr lang="zh-CN" altLang="en-US" sz="2000"/>
          </a:p>
          <a:p>
            <a:pPr>
              <a:lnSpc>
                <a:spcPct val="100000"/>
              </a:lnSpc>
            </a:pPr>
            <a:endParaRPr lang="zh-CN" altLang="en-US" sz="2000"/>
          </a:p>
          <a:p>
            <a:pPr>
              <a:lnSpc>
                <a:spcPct val="100000"/>
              </a:lnSpc>
            </a:pPr>
            <a:r>
              <a:rPr lang="zh-CN" altLang="en-US" sz="2000">
                <a:highlight>
                  <a:srgbClr val="FFFF00"/>
                </a:highlight>
              </a:rPr>
              <a:t>二、事实分析</a:t>
            </a:r>
            <a:r>
              <a:rPr lang="en-US" altLang="zh-CN" sz="2000">
                <a:highlight>
                  <a:srgbClr val="FFFF00"/>
                </a:highlight>
              </a:rPr>
              <a:t>2</a:t>
            </a:r>
            <a:r>
              <a:rPr lang="zh-CN" altLang="en-US" sz="2000">
                <a:highlight>
                  <a:srgbClr val="FFFF00"/>
                </a:highlight>
              </a:rPr>
              <a:t>分</a:t>
            </a:r>
            <a:endParaRPr lang="zh-CN" altLang="en-US" sz="2000"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业主角度：</a:t>
            </a:r>
            <a:r>
              <a:rPr lang="en-US" altLang="zh-CN" sz="2000">
                <a:solidFill>
                  <a:srgbClr val="FF0000"/>
                </a:solidFill>
              </a:rPr>
              <a:t>2</a:t>
            </a:r>
            <a:r>
              <a:rPr lang="zh-CN" altLang="en-US" sz="2000">
                <a:solidFill>
                  <a:srgbClr val="FF0000"/>
                </a:solidFill>
              </a:rPr>
              <a:t>分</a:t>
            </a:r>
            <a:endParaRPr lang="zh-CN" altLang="en-US" sz="200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2000"/>
              <a:t>范某角度：</a:t>
            </a:r>
            <a:r>
              <a:rPr lang="en-US" altLang="zh-CN" sz="2000"/>
              <a:t>1</a:t>
            </a:r>
            <a:r>
              <a:rPr lang="zh-CN" altLang="en-US" sz="2000"/>
              <a:t>分，但不与业主角度重复给分</a:t>
            </a:r>
            <a:endParaRPr lang="zh-CN" altLang="en-US" sz="2000"/>
          </a:p>
          <a:p>
            <a:pPr>
              <a:lnSpc>
                <a:spcPct val="100000"/>
              </a:lnSpc>
            </a:pPr>
            <a:endParaRPr lang="zh-CN" altLang="en-US" sz="2000"/>
          </a:p>
          <a:p>
            <a:pPr>
              <a:lnSpc>
                <a:spcPct val="100000"/>
              </a:lnSpc>
            </a:pPr>
            <a:r>
              <a:rPr lang="zh-CN" altLang="en-US" sz="2000">
                <a:highlight>
                  <a:srgbClr val="FFFF00"/>
                </a:highlight>
              </a:rPr>
              <a:t>三、判决意义</a:t>
            </a:r>
            <a:r>
              <a:rPr lang="en-US" altLang="zh-CN" sz="2000">
                <a:highlight>
                  <a:srgbClr val="FFFF00"/>
                </a:highlight>
              </a:rPr>
              <a:t>3</a:t>
            </a:r>
            <a:r>
              <a:rPr lang="zh-CN" altLang="en-US" sz="2000">
                <a:highlight>
                  <a:srgbClr val="FFFF00"/>
                </a:highlight>
              </a:rPr>
              <a:t>分</a:t>
            </a:r>
            <a:endParaRPr lang="zh-CN" altLang="en-US" sz="2000"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业主合法权益</a:t>
            </a:r>
            <a:r>
              <a:rPr lang="en-US" altLang="zh-CN" sz="2000">
                <a:solidFill>
                  <a:srgbClr val="FF0000"/>
                </a:solidFill>
              </a:rPr>
              <a:t>1</a:t>
            </a:r>
            <a:r>
              <a:rPr lang="zh-CN" altLang="en-US" sz="2000">
                <a:solidFill>
                  <a:srgbClr val="FF0000"/>
                </a:solidFill>
              </a:rPr>
              <a:t>分，其他共性意义两点</a:t>
            </a:r>
            <a:r>
              <a:rPr lang="en-US" altLang="zh-CN" sz="2000">
                <a:solidFill>
                  <a:srgbClr val="FF0000"/>
                </a:solidFill>
              </a:rPr>
              <a:t>2</a:t>
            </a:r>
            <a:r>
              <a:rPr lang="zh-CN" altLang="en-US" sz="2000">
                <a:solidFill>
                  <a:srgbClr val="FF0000"/>
                </a:solidFill>
              </a:rPr>
              <a:t>分（核心观、和谐邻里关系）</a:t>
            </a:r>
            <a:endParaRPr lang="zh-CN" altLang="en-US" sz="200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endParaRPr lang="zh-CN" altLang="en-US" sz="2000"/>
          </a:p>
          <a:p>
            <a:pPr>
              <a:lnSpc>
                <a:spcPct val="100000"/>
              </a:lnSpc>
            </a:pPr>
            <a:r>
              <a:rPr lang="zh-CN" altLang="en-US" sz="2000">
                <a:highlight>
                  <a:srgbClr val="00FFFF"/>
                </a:highlight>
              </a:rPr>
              <a:t>四、原卷答案：</a:t>
            </a:r>
            <a:endParaRPr lang="zh-CN" altLang="en-US" sz="2000">
              <a:highlight>
                <a:srgbClr val="00FFFF"/>
              </a:highlight>
            </a:endParaRPr>
          </a:p>
          <a:p>
            <a:pPr>
              <a:lnSpc>
                <a:spcPct val="100000"/>
              </a:lnSpc>
            </a:pPr>
            <a:r>
              <a:rPr lang="zh-CN" altLang="en-US" sz="2000"/>
              <a:t>法院判决以事实为根据，以法律为准绳。老旧小区加装电梯属民生工程，已获法定比例业主同意，程序合法。电梯采用玻璃幕墙设计，在提升本楼业主出行便利的同时，能尽量减少对相邻楼业主的影响。依据《中华人民共和国民法典》规定，不动产的相邻权利人应当按照有利生产、方便生活、团结互助、公平合理的原则，正确处理相邻关系。本案判决维护了相邻业主合法权益，有助于促进邻里和谐，践行友善的社会主义核心价值观。</a:t>
            </a:r>
            <a:endParaRPr lang="zh-CN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9070" y="239395"/>
            <a:ext cx="8231505" cy="968375"/>
          </a:xfrm>
          <a:prstGeom prst="rect">
            <a:avLst/>
          </a:prstGeom>
        </p:spPr>
        <p:txBody>
          <a:bodyPr wrap="square">
            <a:spAutoFit/>
          </a:bodyPr>
          <a:p>
            <a:pPr indent="5715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）根据材料，判断推理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的逻辑正误，并结合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逻辑与思维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知识说明理由。（</a:t>
            </a:r>
            <a:r>
              <a:rPr lang="en-US" altLang="zh-CN" sz="280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6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28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1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311785" y="1770380"/>
          <a:ext cx="8098155" cy="4535170"/>
        </p:xfrm>
        <a:graphic>
          <a:graphicData uri="http://schemas.openxmlformats.org/drawingml/2006/table">
            <a:tbl>
              <a:tblPr/>
              <a:tblGrid>
                <a:gridCol w="5496560"/>
                <a:gridCol w="2601595"/>
              </a:tblGrid>
              <a:tr h="1114425">
                <a:tc>
                  <a:txBody>
                    <a:bodyPr/>
                    <a:p>
                      <a:pPr marL="309880" indent="2006600" algn="just" fontAlgn="auto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推理</a:t>
                      </a:r>
                      <a:endParaRPr lang="zh-CN" sz="24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09880" indent="0" algn="ctr" fontAlgn="auto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判断逻辑正误并说明理由</a:t>
                      </a:r>
                      <a:endParaRPr lang="zh-CN" sz="24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96110">
                <a:tc>
                  <a:txBody>
                    <a:bodyPr/>
                    <a:p>
                      <a:pPr marL="309880" indent="114300" algn="just" fontAlgn="auto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</a:t>
                      </a:r>
                      <a:r>
                        <a:rPr lang="zh-CN" altLang="en-US" sz="2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如果阻碍加装电梯，就会侵犯相关业主的合法权益。</a:t>
                      </a:r>
                      <a:endParaRPr lang="zh-CN" altLang="en-US" sz="24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309880" indent="114300" algn="just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范某阻碍加装电梯，所以范某侵犯了相关业主的合法权益。</a:t>
                      </a:r>
                      <a:endParaRPr lang="zh-CN" sz="24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09880"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24635">
                <a:tc>
                  <a:txBody>
                    <a:bodyPr/>
                    <a:p>
                      <a:pPr marL="309880" indent="114300" algn="just" fontAlgn="auto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</a:t>
                      </a:r>
                      <a:r>
                        <a:rPr lang="zh-CN" altLang="en-US" sz="2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只有公示期间未收到异议，加装电梯才符合要求。</a:t>
                      </a:r>
                      <a:endParaRPr lang="zh-CN" altLang="en-US" sz="24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309880" indent="114300" algn="just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公示期内未收到异议，所以加装电梯符合要求。</a:t>
                      </a:r>
                      <a:endParaRPr lang="zh-CN" sz="24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09880" indent="0" algn="ctr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20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410575" y="366395"/>
            <a:ext cx="3687445" cy="5939155"/>
          </a:xfrm>
          <a:prstGeom prst="rect">
            <a:avLst/>
          </a:prstGeom>
        </p:spPr>
        <p:txBody>
          <a:bodyPr wrap="square">
            <a:spAutoFit/>
          </a:bodyPr>
          <a:p>
            <a:pPr marL="1778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solidFill>
                  <a:srgbClr val="0070C0"/>
                </a:solidFill>
                <a:latin typeface="Calibri" panose="020F0502020204030204"/>
                <a:ea typeface="Calibri" panose="020F0502020204030204"/>
              </a:rPr>
              <a:t>2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推理正确。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该推理为充分条件假言推理，遵循“肯定前件，就能肯定后件”的规则。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分）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大前提“如果阻碍加装电梯，就会侵犯相关业主的合法权益”，小前提肯定前件“范某阻碍加装电梯”，结论肯定后件“范某侵犯了相关业主的合法权益”，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分）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推理结构有效。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77800"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推理错误。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分）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该推理属于必要条件假言推理，遵循“否定前件必否定后件”“肯定后件必肯定前件”的规则。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分）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材料中仅肯定前件“公示期内未收到异议”，就得出肯定后件“加装电梯符合要求”的结论，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分）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是错误的推理结构。（</a:t>
            </a:r>
            <a:r>
              <a:rPr lang="en-US" altLang="zh-CN" sz="2000" b="1">
                <a:solidFill>
                  <a:srgbClr val="0070C0"/>
                </a:solidFill>
                <a:latin typeface="Calibri" panose="020F0502020204030204"/>
                <a:ea typeface="Calibri" panose="020F0502020204030204"/>
              </a:rPr>
              <a:t>6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8474710" y="109220"/>
            <a:ext cx="0" cy="6478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06095" y="434975"/>
            <a:ext cx="11022965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第一步该推理正确与否：错误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第二步理由（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分析材料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）写出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充分条件假言推理（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分）或者有效式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：肯定前件式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肯前肯后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如果肯定了假言判断的前件，结论就要肯定假言判断的后件（如果否定了假言判断的后件，就要否定前件不给分，因为与材料的逻辑性质无关）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或者无效式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：否定前件式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否定前件不能否定后件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否定假言判断的前件，而在结论中肯定假言判断的后件（肯定后件式不给分，因为与材料犯的逻辑错误无关）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分析材料（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）写出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必要条件假言推理（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分）或者有效式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：否定前件式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肯定定后件式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否前否后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肯后肯前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如果否定了假言判断的前件，结论就要否定假言判断的后件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如果肯定了假言判断的后件，就要肯定前件（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或者无效式：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肯定前件式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肯定前件不能肯定后件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肯定假言判断的前件，而在结论中肯定假言判断的后件（否定后件式不给分，因为与材料犯的逻辑错误无关）（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分析材料（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2095" y="123825"/>
            <a:ext cx="7866380" cy="101473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20.(8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日，习近平主席主持“上海合作组织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”会议，提出全球治理倡议。</a:t>
            </a:r>
            <a:endParaRPr lang="zh-CN" altLang="en-US" sz="2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52095" y="1138555"/>
          <a:ext cx="7665085" cy="3900805"/>
        </p:xfrm>
        <a:graphic>
          <a:graphicData uri="http://schemas.openxmlformats.org/drawingml/2006/table">
            <a:tbl>
              <a:tblPr/>
              <a:tblGrid>
                <a:gridCol w="7665085"/>
              </a:tblGrid>
              <a:tr h="3329940">
                <a:tc>
                  <a:txBody>
                    <a:bodyPr/>
                    <a:p>
                      <a:pPr marL="368300" indent="0" algn="l" fontAlgn="auto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全球治理倡议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正逢其时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。当前，</a:t>
                      </a:r>
                      <a:r>
                        <a:rPr lang="zh-CN" sz="180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百年变局加速演进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，地区动荡频发、经济发展受阻、逆全球化抬头、规则法治缺位，治理赤字不断加剧。全球治理倡议，顺应了</a:t>
                      </a:r>
                      <a:r>
                        <a:rPr lang="zh-CN" sz="180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各国人民的普遍愿望，符合当今世界的紧迫需求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zh-CN" sz="1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8300" indent="0" algn="l" fontAlgn="auto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全球治理倡议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指引方向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。倡议强调主权平等、国际法治、多边主义、以人为本、行动导向五大原则，</a:t>
                      </a:r>
                      <a:r>
                        <a:rPr lang="zh-CN" sz="180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为完善全球治理提供了系统方案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。倡议的精神内涵</a:t>
                      </a:r>
                      <a:r>
                        <a:rPr lang="zh-CN" sz="180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同联合国宪章宗旨和原则一脉相承，推动各国积极参与全球治理体系改革与建设。</a:t>
                      </a:r>
                      <a:endParaRPr lang="zh-CN" sz="1800" b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68300" indent="0" algn="l" fontAlgn="auto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全球治理倡议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彰显担当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。全球治理倡议是继全球发展倡议、全球安全倡议、全球文明倡议之后，中国</a:t>
                      </a:r>
                      <a:r>
                        <a:rPr lang="zh-CN" sz="180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向世界贡献的又一重要公共产品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。四大全球倡议为动荡不安的</a:t>
                      </a:r>
                      <a:r>
                        <a:rPr lang="zh-CN" sz="180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世界注入稳定性和确定性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，彰显了中国在国际事务中的</a:t>
                      </a:r>
                      <a:r>
                        <a:rPr lang="zh-CN" sz="1800" b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担当作为</a:t>
                      </a:r>
                      <a:r>
                        <a:rPr lang="zh-CN" sz="18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zh-CN" sz="18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0865">
                <a:tc>
                  <a:txBody>
                    <a:bodyPr/>
                    <a:p>
                      <a:pPr marL="309880" indent="812800" algn="l" fontAlgn="auto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ct val="0"/>
                        </a:spcAft>
                      </a:pPr>
                      <a:endParaRPr lang="zh-CN" sz="2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93040" y="4647565"/>
            <a:ext cx="7724140" cy="1014730"/>
          </a:xfrm>
          <a:prstGeom prst="rect">
            <a:avLst/>
          </a:prstGeom>
        </p:spPr>
        <p:txBody>
          <a:bodyPr wrap="square">
            <a:spAutoFit/>
          </a:bodyPr>
          <a:p>
            <a:pPr indent="3175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面对变乱交织的世界，中国将继续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站在历史正确一边，站在人类进步一边，与世界上一切进步力量携手共进，一道落实好全球治理倡议。</a:t>
            </a:r>
            <a:endParaRPr lang="zh-CN" altLang="en-US" sz="20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1935" y="5662295"/>
            <a:ext cx="7421880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254000" indent="3175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结合材料，运用</a:t>
            </a: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当代国际政治与经济</a:t>
            </a: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知识，谈谈你对</a:t>
            </a:r>
            <a:r>
              <a:rPr lang="zh-CN" altLang="en-US" sz="20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“全球治理倡议正逢其时、指引方向、彰显担当”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理解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36560" y="448945"/>
            <a:ext cx="4045585" cy="609219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ts val="17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0070C0"/>
                </a:solidFill>
                <a:latin typeface="Calibri" panose="020F0502020204030204"/>
                <a:ea typeface="Calibri" panose="020F0502020204030204"/>
              </a:rPr>
              <a:t>20.(8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zh-CN" altLang="en-US" sz="2000" b="1">
                <a:solidFill>
                  <a:srgbClr val="0070C0"/>
                </a:solidFill>
                <a:latin typeface="Calibri" panose="020F0502020204030204"/>
                <a:ea typeface="Calibri" panose="020F0502020204030204"/>
              </a:rPr>
              <a:t>）</a:t>
            </a:r>
            <a:endParaRPr lang="zh-CN" altLang="en-US" sz="2000" b="1">
              <a:solidFill>
                <a:srgbClr val="0070C0"/>
              </a:solidFill>
              <a:latin typeface="Calibri" panose="020F0502020204030204"/>
              <a:ea typeface="Calibri" panose="020F0502020204030204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全球治理倡议是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中国提出的关于完善全球治理的系统方案，其核心是秉持共商共建共享的全球治理观，（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分）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与联合国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宪章宗旨和原则一脉相承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分）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该倡议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契合和平与发展的时代主题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直面全球治理赤字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，顺应了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国际社会对有效治理的</a:t>
            </a:r>
            <a:r>
              <a:rPr lang="zh-CN" altLang="en-US" sz="20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普遍期待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分）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以主权平等、国际法治等五大原则为支撑，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提供了系统的治理遵循与实践方案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，为推动建设更加公正合理的全球治理体系</a:t>
            </a:r>
            <a:r>
              <a:rPr lang="zh-CN" altLang="en-US" sz="20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指引方向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分）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作为中国贡献的重要国际公共产品，它与三大全球倡议协同发力，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为世界注入稳定性和确定性，贡献了中国智慧和中国方案，（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分）彰显出中国推动构建人类命运共同体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b="1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主动担当。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sz="2000" b="1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7976870" y="80010"/>
            <a:ext cx="0" cy="6689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285" y="772795"/>
            <a:ext cx="10968990" cy="50374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评分细则：</a:t>
            </a:r>
            <a:endParaRPr lang="en-US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共商共建共享全球治理观（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提到时代主题、经济全球化、顺应各国人民愿望等（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分）基本都给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符合《联合国宪章》（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en-US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推动构建国际新秩序、倡导国际关系民主化、践行多边主义、坚持正确义利观、兼顾利益等（任意一点给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分，共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人类命运共同体（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贡献中国智慧、中国方案、勇于大国担当（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765" y="90805"/>
            <a:ext cx="11675745" cy="6435090"/>
          </a:xfrm>
        </p:spPr>
        <p:txBody>
          <a:bodyPr>
            <a:no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21.(9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十四五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规划圆满收官，为中国式现代化写下浓墨重彩的宏伟篇章。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年间，从实现第一个百年奋斗目标到开启第二个百年奋斗目标新征程，我国经济社会发展取得历史性成就，中国答卷举世瞩目，中国道路更加宽广，中国力量不可阻挡。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年间，以习近平同志为核心的党中央统揽全局、引领航向，精准分析形势，坚持一张蓝图绘到底。提出了一系列新理念新思想新战略，以理论创新引领实践创新。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年间，我国始终把科技自立自强作为国家发展的战略支撑。拥有了自主研发的高性能芯片和操作系统，新能源汽车年产量突破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万辆，成为世界上首个国内有效发明专利数量突破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万件的国家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······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年间，我国坚持以开放促进改革、促发展，坚定不移推进高水平对外开放。举办首届中国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中亚峰会、第三届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一带一路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国际合作高峰论坛、中非合作论坛北京峰会、进博会、服贸会、消博会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······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践行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开放的大门将越开越大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的坚定诺言。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十四五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以来，我国经济社会的发展成果实打实地转化为群众的获得感和幸福感。每年城镇新增就业稳定在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万人以上，城乡收入相对差距进一步缩小，脱贫攻坚成果持续巩固拓展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······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着眼强国建设、民族复兴伟业，展望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十五五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，我国必将继续谱写中国式现代化辉煌篇章。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结合材料，综合运用所学，阐释我国</a:t>
            </a:r>
            <a:r>
              <a:rPr lang="zh-CN" altLang="en-US">
                <a:solidFill>
                  <a:srgbClr val="0070C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是如何为中国式现代化建设谱写宏伟篇章的</a:t>
            </a:r>
            <a:r>
              <a:rPr lang="zh-CN" altLang="en-US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3525" y="164465"/>
            <a:ext cx="4219575" cy="163258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21.(9</a:t>
            </a: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zh-CN" altLang="en-US" sz="240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）</a:t>
            </a:r>
            <a:endParaRPr lang="zh-CN" altLang="en-US" sz="2400">
              <a:solidFill>
                <a:srgbClr val="000000"/>
              </a:solidFill>
              <a:latin typeface="Calibri" panose="020F0502020204030204"/>
              <a:ea typeface="Calibri" panose="020F0502020204030204"/>
            </a:endParaRPr>
          </a:p>
          <a:p>
            <a:pPr indent="177800" algn="just" defTabSz="2667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可从党的领导、以人民为中心、高质量发展、全面的观点、高水平对外开放等角度作答</a:t>
            </a:r>
            <a:r>
              <a:rPr lang="zh-CN" altLang="en-US" sz="8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8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ts val="5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1610" y="1766570"/>
          <a:ext cx="4302125" cy="4787900"/>
        </p:xfrm>
        <a:graphic>
          <a:graphicData uri="http://schemas.openxmlformats.org/drawingml/2006/table">
            <a:tbl>
              <a:tblPr/>
              <a:tblGrid>
                <a:gridCol w="1438910"/>
                <a:gridCol w="2863215"/>
              </a:tblGrid>
              <a:tr h="498475">
                <a:tc>
                  <a:txBody>
                    <a:bodyPr/>
                    <a:p>
                      <a:pPr marL="259080" indent="25400" algn="just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等级水平</a:t>
                      </a:r>
                      <a:endParaRPr 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59080" indent="0" algn="ctr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等级描述</a:t>
                      </a:r>
                      <a:endParaRPr 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2520">
                <a:tc>
                  <a:txBody>
                    <a:bodyPr/>
                    <a:p>
                      <a:pPr marL="259080" indent="0" algn="just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259080" indent="152400" algn="just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水平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38100" indent="0" algn="just" fontAlgn="auto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观点鲜明，能明确表达自己的见解；紧扣问题，综合运用所学知识展开论述；逻辑严密，条理清晰</a:t>
                      </a:r>
                      <a:endParaRPr 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3155">
                <a:tc>
                  <a:txBody>
                    <a:bodyPr/>
                    <a:p>
                      <a:pPr marL="259080" indent="0" algn="just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259080" indent="165100" algn="just" fontAlgn="auto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水平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50800" indent="0" algn="just" fontAlgn="auto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观点比较明确，能表达自己的见解；能扣住问题展开论述，知识运用比较准确；逻辑性较强，有条理</a:t>
                      </a:r>
                      <a:endParaRPr 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11885">
                <a:tc>
                  <a:txBody>
                    <a:bodyPr/>
                    <a:p>
                      <a:pPr marL="259080" indent="0" algn="just" fontAlgn="auto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259080" indent="152400" algn="just" fontAlgn="auto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水平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50800" indent="0" algn="just" fontAlgn="auto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观点不明确；论述不能集中指向问题，罗列知识；知识运用不正确；论述缺乏逻辑，条理性差</a:t>
                      </a:r>
                      <a:endParaRPr 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51865">
                <a:tc>
                  <a:txBody>
                    <a:bodyPr/>
                    <a:p>
                      <a:pPr marL="259080" indent="152400" algn="just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水平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259080" indent="38100" algn="just" fontAlgn="auto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应答与试题无关；或重复试题内容；或没有应答</a:t>
                      </a:r>
                      <a:endParaRPr 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808220" y="118745"/>
            <a:ext cx="7301230" cy="6739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一：（党）坚持党的领导，中国共产党的领导是实现区域协调发展的根本保证／政治保障，为势能转化锚定方向。（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分）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二、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.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坚守人民立场，把高质量发展转化以人民为中心，增进民生福祉，让发展成果惠及全体人民，增强人民参与发展的积极性。（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分）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三：（理念政策角度）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坚持新发展理念，以创新激活转化动力，推动高水平对外开放，推动经济高质量发展。（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分）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四、（对外开放）坚持独立自主，自力更生，把科技自主作为国家发展的战略支撑。（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分）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五：（思维方法角度）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运用系统观念／科学思维／辩证思维／矛盾观／尊重客观规律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（以上任意一点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分）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六：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1.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坚持联系观，国内协同与内外联动，推动中国式现代化进程。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2.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坚持实践观，勇于探索中国式现代化理论、道路。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3.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坚持正确的价值判断，价值选择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（以上任意一点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分）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endParaRPr lang="en-US" altLang="zh-CN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其他言之有理可酌情赋分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注：以上四个大点答出一个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分、两个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5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分、三个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7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分、四个</a:t>
            </a:r>
            <a:r>
              <a:rPr lang="en-US" altLang="zh-CN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9</a:t>
            </a:r>
            <a:r>
              <a:rPr lang="zh-CN" altLang="en-US" b="1">
                <a:solidFill>
                  <a:srgbClr val="0070C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分。</a:t>
            </a:r>
            <a:endParaRPr lang="zh-CN" altLang="en-US" b="1">
              <a:solidFill>
                <a:srgbClr val="0070C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888*270"/>
  <p:tag name="TABLE_ENDDRAG_RECT" val="32*140*888*270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TABLE_ENDDRAG_ORIGIN_RECT" val="837*283"/>
  <p:tag name="TABLE_ENDDRAG_RECT" val="43*172*837*283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TABLE_ENDDRAG_ORIGIN_RECT" val="637*357"/>
  <p:tag name="TABLE_ENDDRAG_RECT" val="24*139*637*357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TABLE_ENDDRAG_ORIGIN_RECT" val="603*361"/>
  <p:tag name="TABLE_ENDDRAG_RECT" val="19*89*603*36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TABLE_ENDDRAG_ORIGIN_RECT" val="338*389"/>
  <p:tag name="TABLE_ENDDRAG_RECT" val="14*170*338*389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6524</Words>
  <Application>WPS 演示</Application>
  <PresentationFormat>宽屏</PresentationFormat>
  <Paragraphs>334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宋体</vt:lpstr>
      <vt:lpstr>Wingdings</vt:lpstr>
      <vt:lpstr>Wingdings</vt:lpstr>
      <vt:lpstr>Calibri</vt:lpstr>
      <vt:lpstr>Arial</vt:lpstr>
      <vt:lpstr>黑体</vt:lpstr>
      <vt:lpstr>Times New Roman</vt:lpstr>
      <vt:lpstr>PingFang SC Semibold</vt:lpstr>
      <vt:lpstr>微软雅黑</vt:lpstr>
      <vt:lpstr>Arial Unicode MS</vt:lpstr>
      <vt:lpstr>苹方-简</vt:lpstr>
      <vt:lpstr>Segoe Print</vt:lpstr>
      <vt:lpstr>Calibri</vt:lpstr>
      <vt:lpstr>PingFang SC Semibold</vt:lpstr>
      <vt:lpstr>Times New Roman</vt:lpstr>
      <vt:lpstr>Crunch SemiBold</vt:lpstr>
      <vt:lpstr>苹方护眼艺术黑体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17.(8分） 以法为脉，守护中轴。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目盼心思</cp:lastModifiedBy>
  <cp:revision>229</cp:revision>
  <dcterms:created xsi:type="dcterms:W3CDTF">2026-01-28T06:39:00Z</dcterms:created>
  <dcterms:modified xsi:type="dcterms:W3CDTF">2026-01-28T14:00:44Z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2A8F6041725932F98F7D7969853BCCB3_41</vt:lpwstr>
  </property>
</Properties>
</file>