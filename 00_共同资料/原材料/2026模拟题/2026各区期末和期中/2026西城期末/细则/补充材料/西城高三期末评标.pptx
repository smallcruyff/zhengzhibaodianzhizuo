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gs/tag6.xml" ContentType="application/vnd.openxmlformats-officedocument.presentationml.tags+xml"/>
  <Override PartName="/ppt/slides/slide10.xml" ContentType="application/vnd.openxmlformats-officedocument.presentationml.slide+xml"/>
  <Override PartName="/ppt/tags/tag7.xml" ContentType="application/vnd.openxmlformats-officedocument.presentationml.tags+xml"/>
  <Override PartName="/ppt/slides/slide11.xml" ContentType="application/vnd.openxmlformats-officedocument.presentationml.slide+xml"/>
  <Override PartName="/ppt/tags/tag8.xml" ContentType="application/vnd.openxmlformats-officedocument.presentationml.tags+xml"/>
  <Override PartName="/ppt/slides/slide12.xml" ContentType="application/vnd.openxmlformats-officedocument.presentationml.slide+xml"/>
  <Override PartName="/ppt/tags/tag9.xml" ContentType="application/vnd.openxmlformats-officedocument.presentationml.tag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type="screen16x9" cy="6858000" cx="12192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p="http://schemas.openxmlformats.org/presentationml/2006/main" xmlns:r="http://schemas.openxmlformats.org/officeDocument/2006/relationships" xmlns:a="http://schemas.openxmlformats.org/drawingml/2006/main">
  <p:cmAuthor id="1" name="duanhengyao@163.com" initials="d" lastIdx="1" clrIdx="0"/>
  <p:cmAuthor id="2" name="未知用户1" initials="未知用户1" lastIdx="7" clrIdx="0"/>
  <p:cmAuthor id="3" name="作者" initials="A" lastIdx="0" clrIdx="1"/>
  <p:cmAuthor id="4" name="cuixuan" initials="c" lastIdx="4" clrIdx="3"/>
  <p:cmAuthor id="5" name="seewo" initials="s" lastIdx="0" clrIdx="42"/>
  <p:cmAuthor id="6" name="jinjuan" initials="j" lastIdx="0" clrIdx="43"/>
  <p:cmAuthor id="7" name="THTF" initials="T" lastIdx="0" clrIdx="44"/>
  <p:cmAuthor id="8" name="纪小欢" initials="纪" lastIdx="0" clrIdx="45"/>
  <p:cmAuthor id="9" name="钱小琳" initials="钱" lastIdx="0" clrIdx="46"/>
  <p:cmAuthor id="10" name="xkb1.com" initials="" lastIdx="0" clrIdx="0"/>
  <p:cmAuthor id="11" name="admin" initials="a" lastIdx="0" clrIdx="0"/>
  <p:cmAuthor id="12" name="86137" initials="8" lastIdx="0" clrIdx="10"/>
  <p:cmAuthor id="13" name="张瑞霞" initials="authorId_524709945" lastIdx="0" clrIdx="0"/>
  <p:cmAuthor id="14" name="Dino._6ZFrB7nA" initials="authorId_1257418890" lastIdx="0" clrIdx="1"/>
  <p:cmAuthor id="15" name="DELL" initials="D" lastIdx="0" clrIdx="25"/>
  <p:cmAuthor id="16" name="nijingen" initials="n" lastIdx="0" clrIdx="27"/>
  <p:cmAuthor id="17" name="未知用户2" initials="未知用户2" lastIdx="0" clrIdx="41"/>
  <p:cmAuthor id="18" name="周 小平" initials="周" lastIdx="0" clrIdx="26"/>
  <p:cmAuthor id="19" name="陈庆" initials="陈" lastIdx="0" clrIdx="31"/>
  <p:cmAuthor id="20" name="User" initials="U" lastIdx="0" clrIdx="32"/>
  <p:cmAuthor id="21" name="NFB" initials="N" lastIdx="0" clrIdx="14"/>
  <p:cmAuthor id="22" name="雨昕" initials="雨" lastIdx="0" clrIdx="26"/>
  <p:cmAuthor id="23" name="lishanghe" initials="l" lastIdx="0" clrIdx="39"/>
  <p:cmAuthor id="24" name="EXX008" initials="E" lastIdx="0" clrIdx="40"/>
  <p:cmAuthor id="25" name="qxgz" initials="q" lastIdx="0" clrIdx="41"/>
  <p:cmAuthor id="26" name="布朗熊" initials="布" lastIdx="1" clrIdx="35"/>
  <p:cmAuthor id="27" name="阿斯蒂芬" initials="阿" lastIdx="0" clrIdx="48"/>
  <p:cmAuthor id="28" name="bzbx" initials="b" lastIdx="0" clrIdx="52"/>
  <p:cmAuthor id="29" name="goodluck" initials="g" lastIdx="0" clrIdx="1"/>
  <p:cmAuthor id="30" name="蕉下客" initials="蕉" lastIdx="0" clrIdx="22"/>
  <p:cmAuthor id="31" name="北语言" initials="北" lastIdx="0" clrIdx="57"/>
  <p:cmAuthor id="32" name="郭景山" initials="郭" lastIdx="0" clrIdx="55"/>
  <p:cmAuthor id="33" name="代超" initials="代" lastIdx="1" clrIdx="48"/>
  <p:cmAuthor id="34" name="梦之蝶" initials="梦" lastIdx="0" clrIdx="47"/>
  <p:cmAuthor id="35" name="王老师" initials="王" lastIdx="0" clrIdx="43"/>
  <p:cmAuthor id="36" name="等等。。" initials="等" lastIdx="2" clrIdx="38"/>
  <p:cmAuthor id="37" name="Lenovo" initials="L" lastIdx="0" clrIdx="47"/>
  <p:cmAuthor id="38" name="子衿" initials="子" lastIdx="1" clrIdx="1"/>
  <p:cmAuthor id="39" name="骆倩怡_Znauj26B" initials="骆" lastIdx="0" clrIdx="0"/>
  <p:cmAuthor id="40" name="左右" initials="左" lastIdx="0" clrIdx="47"/>
  <p:cmAuthor id="41" name="WPS_1679281038" initials="W" lastIdx="1" clrIdx="2"/>
  <p:cmAuthor id="42" name="菜菜" initials="菜" lastIdx="0" clrIdx="52"/>
  <p:cmAuthor id="43" name="大漠萧郎" initials="大" lastIdx="0" clrIdx="53"/>
  <p:cmAuthor id="44" name="。" initials="。" lastIdx="0" clrIdx="39"/>
  <p:cmAuthor id="45" name="晨越乔胸滤" initials="晨" lastIdx="0" clrIdx="42"/>
  <p:cmAuthor id="46" name="齐缘" initials="齐" lastIdx="0" clrIdx="46"/>
  <p:cmAuthor id="47" name="Mia Vida Villanueva" initials="MVV" lastIdx="0" clrIdx="77"/>
  <p:cmAuthor id="48" name="weihua" initials="w" lastIdx="0" clrIdx="79"/>
  <p:cmAuthor id="49" name="宋洁然" initials="宋" lastIdx="0" clrIdx="80"/>
  <p:cmAuthor id="50" name="ming qiu" initials="m" lastIdx="0" clrIdx="81"/>
  <p:cmAuthor id="51" name="1206988966@qq.com" initials="1" lastIdx="0" clrIdx="82"/>
  <p:cmAuthor id="52" name="姜伟光" initials="姜" lastIdx="0" clrIdx="83"/>
  <p:cmAuthor id="53" name="杜永波" initials="杜" lastIdx="0" clrIdx="87"/>
  <p:cmAuthor id="54" name="xj" initials="x" lastIdx="0" clrIdx="88"/>
  <p:cmAuthor id="55" name="yisimin" initials="y" lastIdx="0" clrIdx="89"/>
  <p:cmAuthor id="56" name="李 智" initials="李" lastIdx="0" clrIdx="91"/>
  <p:cmAuthor id="57" name="刘春玲" initials="刘" lastIdx="0" clrIdx="94"/>
  <p:cmAuthor id="58" name="孔艳萍" initials="孔" lastIdx="0" clrIdx="95"/>
  <p:cmAuthor id="59" name="夏 天" initials="夏" lastIdx="0" clrIdx="96"/>
  <p:cmAuthor id="60" name="微软中国" initials="微" lastIdx="0" clrIdx="98"/>
  <p:cmAuthor id="61" name="可飞 孙" initials="可飞" lastIdx="0" clrIdx="103"/>
  <p:cmAuthor id="62" name="潇湘玲子" initials="潇" lastIdx="0" clrIdx="46"/>
  <p:cmAuthor id="63" name="田锦询" initials="田" lastIdx="0" clrIdx="41"/>
  <p:cmAuthor id="64" name="滤渣1" initials="滤" lastIdx="0" clrIdx="55"/>
  <p:cmAuthor id="65" name="乒涟敢突雇" initials="乒" lastIdx="0" clrIdx="53"/>
</p:cmAuthorLst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commentAuthors" Target="commentAuthors.xml"/><Relationship Id="rId1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67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D2A48B96-639E-45A3-A0BA-2464DFDB1FAA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74" name="幻灯片图像占位符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altLang="en-US" lang="zh-CN"/>
          </a:p>
        </p:txBody>
      </p:sp>
      <p:sp>
        <p:nvSpPr>
          <p:cNvPr id="104867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7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67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A6837353-30EB-4A48-80EB-173D804AEFBD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幻灯片图像占位符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8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altLang="en-US" dirty="0" lang="zh-CN"/>
              <a:t>促进国内国际双循环：要立足国内大循环，协同推进强大国内市场和贸易强国建设，形成全球资源要素强大引力场，促进内需和外需、进口和出口、引进外资和对外投资协调发展，加快培育参与国际合作和竞争新优势。</a:t>
            </a:r>
            <a:endParaRPr altLang="en-US" dirty="0" lang="zh-CN"/>
          </a:p>
          <a:p>
            <a:endParaRPr altLang="en-US" dirty="0" lang="zh-CN"/>
          </a:p>
        </p:txBody>
      </p:sp>
      <p:sp>
        <p:nvSpPr>
          <p:cNvPr id="1048599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A6837353-30EB-4A48-80EB-173D804AEFBD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幻灯片图像占位符 1"/>
          <p:cNvSpPr>
            <a:spLocks noChangeAspect="1" noRot="1" noGrp="1"/>
          </p:cNvSpPr>
          <p:nvPr>
            <p:ph type="sldImg" idx="2"/>
          </p:nvPr>
        </p:nvSpPr>
        <p:spPr/>
      </p:sp>
      <p:sp>
        <p:nvSpPr>
          <p:cNvPr id="1048611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altLang="en-US" lang="zh-CN"/>
              <a:t>首先，我们从国民经济循环的起点</a:t>
            </a:r>
            <a:r>
              <a:rPr altLang="zh-CN" lang="en-US"/>
              <a:t>——</a:t>
            </a:r>
            <a:r>
              <a:rPr altLang="en-US" lang="zh-CN"/>
              <a:t>生产来看，</a:t>
            </a:r>
            <a:endParaRPr altLang="en-US"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582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 smtClean="0"/>
              <a:t>单击此处编辑母版副标题样式</a:t>
            </a:r>
            <a:endParaRPr altLang="en-US" lang="zh-CN"/>
          </a:p>
        </p:txBody>
      </p:sp>
      <p:sp>
        <p:nvSpPr>
          <p:cNvPr id="104858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8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587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58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8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48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4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5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5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5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5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5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5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5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59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60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61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62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6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6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6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28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29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0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9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9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67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6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6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7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7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37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  <p:sp>
        <p:nvSpPr>
          <p:cNvPr id="1048638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</p:txBody>
      </p:sp>
      <p:sp>
        <p:nvSpPr>
          <p:cNvPr id="104863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4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4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4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4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垂直排列标题与 文本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632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63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63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3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 smtClean="0"/>
              <a:t>单击此处编辑母版标题样式</a:t>
            </a:r>
            <a:endParaRPr altLang="en-US" lang="zh-CN"/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 smtClean="0"/>
              <a:t>单击此处编辑母版文本样式</a:t>
            </a:r>
            <a:endParaRPr altLang="en-US" lang="zh-CN" smtClean="0"/>
          </a:p>
          <a:p>
            <a:pPr lvl="1"/>
            <a:r>
              <a:rPr altLang="en-US" lang="zh-CN" smtClean="0"/>
              <a:t>第二级</a:t>
            </a:r>
            <a:endParaRPr altLang="en-US" lang="zh-CN" smtClean="0"/>
          </a:p>
          <a:p>
            <a:pPr lvl="2"/>
            <a:r>
              <a:rPr altLang="en-US" lang="zh-CN" smtClean="0"/>
              <a:t>第三级</a:t>
            </a:r>
            <a:endParaRPr altLang="en-US" lang="zh-CN" smtClean="0"/>
          </a:p>
          <a:p>
            <a:pPr lvl="3"/>
            <a:r>
              <a:rPr altLang="en-US" lang="zh-CN" smtClean="0"/>
              <a:t>第四级</a:t>
            </a:r>
            <a:endParaRPr altLang="en-US" lang="zh-CN" smtClean="0"/>
          </a:p>
          <a:p>
            <a:pPr lvl="4"/>
            <a:r>
              <a:rPr altLang="en-US" lang="zh-CN" smtClean="0"/>
              <a:t>第五级</a:t>
            </a:r>
            <a:endParaRPr altLang="en-US" lang="zh-CN"/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altLang="en-US" lang="zh-CN" smtClean="0"/>
            </a:fld>
            <a:endParaRPr altLang="en-US" lang="zh-CN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altLang="en-US" lang="zh-CN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altLang="en-US" lang="zh-CN" smtClean="0"/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tags" Target="../tags/tag5.xml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tags" Target="../tags/tag7.xml"/><Relationship Id="rId3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tags" Target="../tags/tag8.xml"/><Relationship Id="rId3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tags" Target="../tags/tag9.xml"/><Relationship Id="rId3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/>
      </p:grpSpPr>
      <p:pic>
        <p:nvPicPr>
          <p:cNvPr id="2097152" name="图片 -214748262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72795" y="26670"/>
            <a:ext cx="10431145" cy="6667500"/>
          </a:xfrm>
          <a:prstGeom prst="rect"/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graphicFrame>
        <p:nvGraphicFramePr>
          <p:cNvPr id="4194304" name="表格 3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245870" y="1223010"/>
          <a:ext cx="8599170" cy="3651250"/>
        </p:xfrm>
        <a:graphic>
          <a:graphicData uri="http://schemas.openxmlformats.org/drawingml/2006/table">
            <a:tbl>
              <a:tblPr/>
              <a:tblGrid>
                <a:gridCol w="1348105"/>
                <a:gridCol w="7251065"/>
              </a:tblGrid>
              <a:tr h="4603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b="0" sz="2000" lang="en-US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水平</a:t>
                      </a:r>
                      <a:endParaRPr altLang="en-US" b="0" sz="2000" lang="en-US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 anchorCtr="0" vert="horz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algn="ctr" indent="0">
                        <a:buNone/>
                      </a:pPr>
                      <a:r>
                        <a:rPr b="0" sz="2000" lang="en-US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等 级 描述</a:t>
                      </a:r>
                      <a:endParaRPr altLang="en-US" b="0" sz="2000" lang="en-US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 anchorCtr="0" vert="horz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798195">
                <a:tc>
                  <a:txBody>
                    <a:bodyPr/>
                    <a:p>
                      <a:pPr algn="ctr" indent="0">
                        <a:buNone/>
                      </a:pPr>
                      <a:r>
                        <a:rPr b="0" sz="2000" lang="en-US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水平</a:t>
                      </a:r>
                      <a:r>
                        <a:rPr b="0" sz="2000"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4</a:t>
                      </a:r>
                      <a:endParaRPr altLang="en-US" b="0" sz="2000" lang="en-US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 anchorCtr="0" vert="horz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b="0" sz="2000" lang="en-US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观点鲜明，能明确表达自己的见解；紧扣问题，综合运用所学知识展开论述；逻辑严密，条理清晰</a:t>
                      </a:r>
                      <a:endParaRPr altLang="en-US" b="0" sz="2000" lang="en-US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 anchorCtr="0" vert="horz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797560">
                <a:tc>
                  <a:txBody>
                    <a:bodyPr/>
                    <a:p>
                      <a:pPr algn="ctr" indent="0">
                        <a:buNone/>
                      </a:pPr>
                      <a:r>
                        <a:rPr b="0" sz="2000" lang="en-US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水平</a:t>
                      </a:r>
                      <a:r>
                        <a:rPr b="0" sz="2000"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3</a:t>
                      </a:r>
                      <a:endParaRPr altLang="en-US" b="0" sz="2000" lang="en-US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 anchorCtr="0" vert="horz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b="0" sz="2000" lang="en-US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观点比较明确，能表达自己的见解；能扣住问题展开论述，知识运用比较准确；逻辑性较强，有条理</a:t>
                      </a:r>
                      <a:endParaRPr altLang="en-US" b="0" sz="2000" lang="en-US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 anchorCtr="0" vert="horz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797560">
                <a:tc>
                  <a:txBody>
                    <a:bodyPr/>
                    <a:p>
                      <a:pPr algn="ctr" indent="0">
                        <a:buNone/>
                      </a:pPr>
                      <a:r>
                        <a:rPr b="0" sz="2000" lang="en-US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水平</a:t>
                      </a:r>
                      <a:r>
                        <a:rPr b="0" sz="2000"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2</a:t>
                      </a:r>
                      <a:endParaRPr altLang="en-US" b="0" sz="2000" lang="en-US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 anchorCtr="0" vert="horz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b="0" sz="2000" lang="en-US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观点不明确；论述不能集中指向问题，罗列知识；知识运用不正确；论述缺乏逻辑，条理性差</a:t>
                      </a:r>
                      <a:endParaRPr altLang="en-US" b="0" sz="2000" lang="en-US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 anchorCtr="0" vert="horz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797560">
                <a:tc>
                  <a:txBody>
                    <a:bodyPr/>
                    <a:p>
                      <a:pPr algn="ctr" indent="0">
                        <a:buNone/>
                      </a:pPr>
                      <a:r>
                        <a:rPr b="0" sz="2000" lang="en-US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水平</a:t>
                      </a:r>
                      <a:r>
                        <a:rPr b="0" sz="2000" lang="en-US">
                          <a:latin typeface="Times New Roman" panose="02020603050405020304" charset="0"/>
                          <a:cs typeface="Times New Roman" panose="02020603050405020304" charset="0"/>
                        </a:rPr>
                        <a:t>1</a:t>
                      </a:r>
                      <a:endParaRPr altLang="en-US" b="0" sz="2000" lang="en-US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 anchorCtr="0" vert="horz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b="0" sz="2000" lang="en-US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应答与试题无关；或重复试题内容；或没有应答</a:t>
                      </a:r>
                      <a:endParaRPr altLang="en-US" b="0" sz="2000" lang="en-US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 anchorCtr="0" vert="horz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  <a:headEnd type="none" w="med" len="med"/>
                      <a:tailEnd type="none" w="med" len="med"/>
                    </a:lnTlToBr>
                    <a:lnBlToTr>
                      <a:noFill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48591" name="文本框 99"/>
          <p:cNvSpPr txBox="1"/>
          <p:nvPr/>
        </p:nvSpPr>
        <p:spPr>
          <a:xfrm>
            <a:off x="109855" y="246380"/>
            <a:ext cx="12230100" cy="460375"/>
          </a:xfrm>
          <a:prstGeom prst="rect"/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altLang="zh-CN" b="0" sz="2400" lang="en-US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16.</a:t>
            </a:r>
            <a:r>
              <a:rPr b="0" sz="2400" lang="zh-CN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b="0" sz="2400" lang="en-US">
                <a:solidFill>
                  <a:srgbClr val="000000"/>
                </a:solidFill>
                <a:latin typeface="Times New Roman" panose="02020603050405020304" charset="0"/>
              </a:rPr>
              <a:t>2</a:t>
            </a:r>
            <a:r>
              <a:rPr b="0" sz="2400" lang="zh-CN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）</a:t>
            </a:r>
            <a:r>
              <a:rPr b="0" sz="2400" lang="zh-CN">
                <a:ea typeface="宋体" panose="02010600030101010101" pitchFamily="2" charset="-122"/>
              </a:rPr>
              <a:t>可从追求真理、正确对待矛盾、群众观点、正确价值观等角度作答。</a:t>
            </a:r>
            <a:r>
              <a:rPr b="0" sz="2400" lang="zh-CN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b="0" sz="2400" lang="en-US">
                <a:solidFill>
                  <a:srgbClr val="000000"/>
                </a:solidFill>
                <a:latin typeface="Times New Roman" panose="02020603050405020304" charset="0"/>
              </a:rPr>
              <a:t>6</a:t>
            </a:r>
            <a:r>
              <a:rPr b="0" sz="2400" lang="zh-CN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分）</a:t>
            </a:r>
            <a:endParaRPr altLang="en-US" b="0" sz="2400" lang="zh-CN">
              <a:solidFill>
                <a:srgbClr val="00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pic>
        <p:nvPicPr>
          <p:cNvPr id="2097153" name="图片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 l="976" t="410" r="1788"/>
          <a:stretch>
            <a:fillRect/>
          </a:stretch>
        </p:blipFill>
        <p:spPr>
          <a:xfrm>
            <a:off x="441960" y="142875"/>
            <a:ext cx="8949690" cy="6572250"/>
          </a:xfrm>
          <a:prstGeom prst="rect"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pic>
        <p:nvPicPr>
          <p:cNvPr id="2097154" name="图片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13740" y="0"/>
            <a:ext cx="10240010" cy="6560185"/>
          </a:xfrm>
          <a:prstGeom prst="rect"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pic>
        <p:nvPicPr>
          <p:cNvPr id="2097155" name="图片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07975" y="846455"/>
            <a:ext cx="11245850" cy="2606675"/>
          </a:xfrm>
          <a:prstGeom prst="rect"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文本框 15"/>
          <p:cNvSpPr txBox="1"/>
          <p:nvPr>
            <p:custDataLst>
              <p:tags r:id="rId1"/>
            </p:custDataLst>
          </p:nvPr>
        </p:nvSpPr>
        <p:spPr>
          <a:xfrm>
            <a:off x="767874" y="315651"/>
            <a:ext cx="10794365" cy="1076325"/>
          </a:xfrm>
          <a:prstGeom prst="rect"/>
          <a:noFill/>
        </p:spPr>
        <p:txBody>
          <a:bodyPr anchor="t" rtlCol="0" wrap="square">
            <a:spAutoFit/>
          </a:bodyPr>
          <a:p>
            <a:pPr algn="ctr"/>
            <a:r>
              <a:rPr altLang="en-US" b="1" dirty="0" sz="3200"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要加快构建以</a:t>
            </a:r>
            <a:r>
              <a:rPr altLang="en-US" b="1" dirty="0" sz="3200" lang="zh-CN">
                <a:solidFill>
                  <a:srgbClr val="C00000"/>
                </a:solidFill>
                <a:latin typeface="+mj-ea"/>
                <a:ea typeface="+mj-ea"/>
                <a:sym typeface="+mn-ea"/>
              </a:rPr>
              <a:t>国内大循环为主体，</a:t>
            </a:r>
            <a:endParaRPr altLang="en-US" b="1" dirty="0" sz="3200" lang="zh-CN">
              <a:solidFill>
                <a:srgbClr val="C00000"/>
              </a:solidFill>
              <a:latin typeface="+mj-ea"/>
              <a:ea typeface="+mj-ea"/>
              <a:sym typeface="+mn-ea"/>
            </a:endParaRPr>
          </a:p>
          <a:p>
            <a:pPr algn="ctr"/>
            <a:r>
              <a:rPr altLang="en-US" b="1" dirty="0" sz="3200" lang="zh-CN">
                <a:solidFill>
                  <a:srgbClr val="C00000"/>
                </a:solidFill>
                <a:latin typeface="+mj-ea"/>
                <a:ea typeface="+mj-ea"/>
                <a:sym typeface="+mn-ea"/>
              </a:rPr>
              <a:t>国内国际双循环相互促进</a:t>
            </a:r>
            <a:r>
              <a:rPr altLang="en-US" b="1" dirty="0" sz="3200"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altLang="en-US" b="1" dirty="0" sz="3200" lang="zh-CN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新发展格局。</a:t>
            </a:r>
            <a:endParaRPr altLang="en-US" b="1" dirty="0" sz="3200" lang="zh-CN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5" name="组合 2"/>
          <p:cNvGrpSpPr/>
          <p:nvPr/>
        </p:nvGrpSpPr>
        <p:grpSpPr>
          <a:xfrm>
            <a:off x="1007745" y="1914618"/>
            <a:ext cx="10116820" cy="4179570"/>
            <a:chOff x="1934" y="4737"/>
            <a:chExt cx="14038" cy="5313"/>
          </a:xfrm>
        </p:grpSpPr>
        <p:pic>
          <p:nvPicPr>
            <p:cNvPr id="2097156" name="图片 99"/>
            <p:cNvPicPr>
              <a:picLocks/>
            </p:cNvPicPr>
            <p:nvPr/>
          </p:nvPicPr>
          <p:blipFill>
            <a:blip xmlns:r="http://schemas.openxmlformats.org/officeDocument/2006/relationships" r:embed="rId2"/>
            <a:srcRect l="1584" t="38012" r="1780" b="27815"/>
            <a:stretch>
              <a:fillRect/>
            </a:stretch>
          </p:blipFill>
          <p:spPr>
            <a:xfrm>
              <a:off x="1934" y="4737"/>
              <a:ext cx="14038" cy="5313"/>
            </a:xfrm>
            <a:prstGeom prst="rect"/>
            <a:noFill/>
            <a:ln w="9525">
              <a:noFill/>
            </a:ln>
          </p:spPr>
        </p:pic>
        <p:sp>
          <p:nvSpPr>
            <p:cNvPr id="1048596" name="矩形 1"/>
            <p:cNvSpPr/>
            <p:nvPr/>
          </p:nvSpPr>
          <p:spPr>
            <a:xfrm>
              <a:off x="7878" y="6245"/>
              <a:ext cx="2324" cy="513"/>
            </a:xfrm>
            <a:prstGeom prst="rect"/>
            <a:solidFill>
              <a:srgbClr val="F9F7EA"/>
            </a:solidFill>
            <a:ln>
              <a:solidFill>
                <a:srgbClr val="F9F7E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p>
              <a:pPr algn="ctr"/>
              <a:endParaRPr altLang="en-US" lang="zh-CN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10"/>
    </mc:Choice>
    <mc:Fallback>
      <p:transition spd="slow">
        <p:fade/>
      </p:transition>
    </mc:Fallback>
  </mc:AlternateContent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文本框 15"/>
          <p:cNvSpPr txBox="1"/>
          <p:nvPr>
            <p:custDataLst>
              <p:tags r:id="rId1"/>
            </p:custDataLst>
          </p:nvPr>
        </p:nvSpPr>
        <p:spPr>
          <a:xfrm>
            <a:off x="213360" y="215265"/>
            <a:ext cx="12092305" cy="978535"/>
          </a:xfrm>
          <a:prstGeom prst="rect"/>
          <a:noFill/>
        </p:spPr>
        <p:txBody>
          <a:bodyPr anchor="t" rtlCol="0" wrap="square">
            <a:noAutofit/>
          </a:bodyPr>
          <a:p>
            <a:r>
              <a:rPr altLang="en-US" b="1" sz="2800" 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要加快</a:t>
            </a:r>
            <a:r>
              <a:rPr altLang="en-US" b="1" sz="2800"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构建以</a:t>
            </a:r>
            <a:r>
              <a:rPr altLang="en-US" b="1" sz="2800" 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国内大循环为</a:t>
            </a:r>
            <a:r>
              <a:rPr altLang="en-US" b="1" sz="2800" lang="zh-CN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主体</a:t>
            </a:r>
            <a:r>
              <a:rPr altLang="en-US" b="1" sz="2800"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altLang="en-US" b="1" sz="2800" 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国内国际双循环相互促进</a:t>
            </a:r>
            <a:r>
              <a:rPr altLang="en-US" b="1" sz="2800"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的新发展格局。</a:t>
            </a:r>
            <a:endParaRPr altLang="en-US" b="1" sz="2800" 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097157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xmlns:r="http://schemas.openxmlformats.org/officeDocument/2006/relationships"/>
          <a:stretch>
            <a:fillRect/>
          </a:stretch>
        </p:blipFill>
        <p:spPr>
          <a:xfrm flipH="1">
            <a:off x="10706100" y="10820400"/>
            <a:ext cx="0" cy="0"/>
          </a:xfrm>
          <a:prstGeom prst="rect"/>
          <a:ln>
            <a:noFill/>
          </a:ln>
        </p:spPr>
      </p:pic>
      <p:sp>
        <p:nvSpPr>
          <p:cNvPr id="1048601" name="左右箭头 6"/>
          <p:cNvSpPr/>
          <p:nvPr/>
        </p:nvSpPr>
        <p:spPr>
          <a:xfrm>
            <a:off x="6113145" y="3147695"/>
            <a:ext cx="1295400" cy="770890"/>
          </a:xfrm>
          <a:prstGeom prst="leftRightArrow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602" name="文本框 7"/>
          <p:cNvSpPr txBox="1"/>
          <p:nvPr/>
        </p:nvSpPr>
        <p:spPr>
          <a:xfrm>
            <a:off x="7316470" y="1399540"/>
            <a:ext cx="1809115" cy="46037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en-US" b="1" sz="2400" lang="zh-CN">
                <a:latin typeface="微软雅黑" panose="020B0503020204020204" charset="-122"/>
                <a:ea typeface="微软雅黑" panose="020B0503020204020204" charset="-122"/>
              </a:rPr>
              <a:t>跨境物流</a:t>
            </a:r>
            <a:endParaRPr altLang="en-US" b="1" sz="2400"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03" name="文本框 8"/>
          <p:cNvSpPr txBox="1"/>
          <p:nvPr/>
        </p:nvSpPr>
        <p:spPr>
          <a:xfrm>
            <a:off x="9982835" y="1399540"/>
            <a:ext cx="1809115" cy="46037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en-US" b="1" sz="2400" lang="zh-CN">
                <a:latin typeface="微软雅黑" panose="020B0503020204020204" charset="-122"/>
                <a:ea typeface="微软雅黑" panose="020B0503020204020204" charset="-122"/>
              </a:rPr>
              <a:t>跨境消费</a:t>
            </a:r>
            <a:endParaRPr altLang="en-US" b="1" sz="2400"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04" name="文本框 9"/>
          <p:cNvSpPr txBox="1"/>
          <p:nvPr/>
        </p:nvSpPr>
        <p:spPr>
          <a:xfrm>
            <a:off x="10554970" y="4710430"/>
            <a:ext cx="1541780" cy="82994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en-US" b="1" sz="2400" lang="zh-CN">
                <a:latin typeface="微软雅黑" panose="020B0503020204020204" charset="-122"/>
                <a:ea typeface="微软雅黑" panose="020B0503020204020204" charset="-122"/>
              </a:rPr>
              <a:t>两种资源；比较优势</a:t>
            </a:r>
            <a:endParaRPr altLang="en-US" b="1" sz="2400"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05" name="文本框 10"/>
          <p:cNvSpPr txBox="1"/>
          <p:nvPr/>
        </p:nvSpPr>
        <p:spPr>
          <a:xfrm>
            <a:off x="7406640" y="4837430"/>
            <a:ext cx="1541780" cy="82994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en-US" b="1" sz="2400" lang="zh-CN">
                <a:latin typeface="微软雅黑" panose="020B0503020204020204" charset="-122"/>
                <a:ea typeface="微软雅黑" panose="020B0503020204020204" charset="-122"/>
              </a:rPr>
              <a:t>全球资源共享</a:t>
            </a:r>
            <a:endParaRPr altLang="en-US" b="1" sz="2400"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06" name="文本框 11"/>
          <p:cNvSpPr txBox="1"/>
          <p:nvPr/>
        </p:nvSpPr>
        <p:spPr>
          <a:xfrm>
            <a:off x="2391410" y="6067425"/>
            <a:ext cx="2149475" cy="46037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en-US" b="1" sz="2400" lang="zh-CN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国内大循环</a:t>
            </a:r>
            <a:endParaRPr altLang="en-US" b="1" sz="2400" lang="zh-CN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07" name="文本框 13"/>
          <p:cNvSpPr txBox="1"/>
          <p:nvPr/>
        </p:nvSpPr>
        <p:spPr>
          <a:xfrm>
            <a:off x="8769985" y="6067425"/>
            <a:ext cx="2149475" cy="46037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en-US" b="1" sz="2400" lang="zh-CN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国际循环</a:t>
            </a:r>
            <a:endParaRPr altLang="en-US" b="1" sz="2400" lang="zh-CN"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08" name="左右箭头 16"/>
          <p:cNvSpPr/>
          <p:nvPr/>
        </p:nvSpPr>
        <p:spPr>
          <a:xfrm>
            <a:off x="4541520" y="6263005"/>
            <a:ext cx="4573905" cy="113030"/>
          </a:xfrm>
          <a:prstGeom prst="leftRightArrow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609" name="文本框 17"/>
          <p:cNvSpPr txBox="1"/>
          <p:nvPr/>
        </p:nvSpPr>
        <p:spPr>
          <a:xfrm>
            <a:off x="5907405" y="5820410"/>
            <a:ext cx="1840865" cy="460375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en-US" b="1" sz="2400" 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筑基</a:t>
            </a:r>
            <a:endParaRPr altLang="en-US" b="1" sz="2400" 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97158" name="图片 1" descr="国内大循环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93445" y="1157605"/>
            <a:ext cx="5124450" cy="4509770"/>
          </a:xfrm>
          <a:prstGeom prst="rect"/>
        </p:spPr>
      </p:pic>
      <p:pic>
        <p:nvPicPr>
          <p:cNvPr id="2097159" name="图片 4" descr="国际循环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rcRect t="12407" r="8809" b="10320"/>
          <a:stretch>
            <a:fillRect/>
          </a:stretch>
        </p:blipFill>
        <p:spPr>
          <a:xfrm>
            <a:off x="7990205" y="1922145"/>
            <a:ext cx="3267075" cy="2515235"/>
          </a:xfrm>
          <a:prstGeom prst="rect"/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spd="med" advClick="0" advTm="0" p14:dur="699"/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/>
      </p:grpSpPr>
      <p:pic>
        <p:nvPicPr>
          <p:cNvPr id="2097160" name="图片 1" descr="国内大循环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604645" y="0"/>
            <a:ext cx="7695565" cy="6772275"/>
          </a:xfrm>
          <a:prstGeom prst="rect"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/>
      </p:grpSpPr>
      <p:cxnSp>
        <p:nvCxnSpPr>
          <p:cNvPr id="3145728" name="直接箭头连接符 3"/>
          <p:cNvCxnSpPr>
            <a:cxnSpLocks/>
          </p:cNvCxnSpPr>
          <p:nvPr/>
        </p:nvCxnSpPr>
        <p:spPr>
          <a:xfrm flipV="1">
            <a:off x="930910" y="3145155"/>
            <a:ext cx="10907395" cy="20320"/>
          </a:xfrm>
          <a:prstGeom prst="straightConnector1"/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8612" name="下箭头 4"/>
          <p:cNvSpPr/>
          <p:nvPr/>
        </p:nvSpPr>
        <p:spPr>
          <a:xfrm>
            <a:off x="1068070" y="3176270"/>
            <a:ext cx="189230" cy="525780"/>
          </a:xfrm>
          <a:prstGeom prst="downArrow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613" name="文本框 5"/>
          <p:cNvSpPr txBox="1"/>
          <p:nvPr/>
        </p:nvSpPr>
        <p:spPr>
          <a:xfrm>
            <a:off x="342900" y="494030"/>
            <a:ext cx="3018155" cy="2030095"/>
          </a:xfrm>
          <a:prstGeom prst="rect"/>
          <a:solidFill>
            <a:srgbClr val="FFF1C5"/>
          </a:solidFill>
        </p:spPr>
        <p:txBody>
          <a:bodyPr rtlCol="0" wrap="square">
            <a:spAutoFit/>
          </a:bodyPr>
          <a:p>
            <a:r>
              <a:rPr altLang="en-US" lang="zh-CN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企业：</a:t>
            </a:r>
            <a:r>
              <a:rPr altLang="en-US" lang="zh-CN">
                <a:latin typeface="黑体" panose="02010609060101010101" pitchFamily="49" charset="-122"/>
                <a:ea typeface="黑体" panose="02010609060101010101" pitchFamily="49" charset="-122"/>
              </a:rPr>
              <a:t>生产经营、跨国经营；</a:t>
            </a:r>
            <a:endParaRPr altLang="en-US" 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altLang="en-US" lang="zh-CN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产业：</a:t>
            </a:r>
            <a:r>
              <a:rPr altLang="en-US" lang="zh-CN">
                <a:latin typeface="黑体" panose="02010609060101010101" pitchFamily="49" charset="-122"/>
                <a:ea typeface="黑体" panose="02010609060101010101" pitchFamily="49" charset="-122"/>
              </a:rPr>
              <a:t>结构优化升级、区域经济协调发展、高质量发展</a:t>
            </a:r>
            <a:endParaRPr altLang="en-US" 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altLang="en-US" lang="zh-CN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产业政策：</a:t>
            </a:r>
            <a:r>
              <a:rPr altLang="en-US" lang="zh-CN">
                <a:latin typeface="黑体" panose="02010609060101010101" pitchFamily="49" charset="-122"/>
                <a:ea typeface="黑体" panose="02010609060101010101" pitchFamily="49" charset="-122"/>
              </a:rPr>
              <a:t>大力发展新质生产力、技术创新、全产业链、供给侧结构性调整、高质量发展、高水平对外开放</a:t>
            </a:r>
            <a:endParaRPr altLang="en-US" 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614" name="文本框 6"/>
          <p:cNvSpPr txBox="1"/>
          <p:nvPr/>
        </p:nvSpPr>
        <p:spPr>
          <a:xfrm>
            <a:off x="783590" y="2696210"/>
            <a:ext cx="873125" cy="36830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en-US" b="1" 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生产</a:t>
            </a:r>
            <a:endParaRPr altLang="en-US" b="1" 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15" name="文本框 7"/>
          <p:cNvSpPr txBox="1"/>
          <p:nvPr/>
        </p:nvSpPr>
        <p:spPr>
          <a:xfrm>
            <a:off x="320675" y="3863975"/>
            <a:ext cx="2976880" cy="2014855"/>
          </a:xfrm>
          <a:prstGeom prst="rect"/>
          <a:solidFill>
            <a:schemeClr val="bg1">
              <a:lumMod val="95000"/>
            </a:schemeClr>
          </a:solidFill>
        </p:spPr>
        <p:txBody>
          <a:bodyPr rtlCol="0" wrap="square">
            <a:spAutoFit/>
          </a:bodyPr>
          <a:p>
            <a:pPr fontAlgn="auto" indent="0">
              <a:lnSpc>
                <a:spcPct val="125000"/>
              </a:lnSpc>
            </a:pP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①</a:t>
            </a: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</a:rPr>
              <a:t>供给端：推动</a:t>
            </a:r>
            <a:r>
              <a:rPr altLang="en-US" sz="2000" 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供给侧结构性改革，</a:t>
            </a: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</a:rPr>
              <a:t>提升</a:t>
            </a:r>
            <a:r>
              <a:rPr altLang="en-US" sz="2000" 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产品质量和服务水平</a:t>
            </a: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</a:rPr>
              <a:t>，创新消费场景，优化消费供给，</a:t>
            </a:r>
            <a:r>
              <a:rPr altLang="en-US" sz="2000" lang="zh-CN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提升居民消费层级</a:t>
            </a: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altLang="en-US" sz="2000" lang="zh-CN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616" name="文本框 8"/>
          <p:cNvSpPr txBox="1"/>
          <p:nvPr/>
        </p:nvSpPr>
        <p:spPr>
          <a:xfrm>
            <a:off x="3646170" y="557530"/>
            <a:ext cx="3018155" cy="1753235"/>
          </a:xfrm>
          <a:prstGeom prst="rect"/>
          <a:solidFill>
            <a:srgbClr val="FFF1C5"/>
          </a:solidFill>
        </p:spPr>
        <p:txBody>
          <a:bodyPr rtlCol="0" wrap="square">
            <a:spAutoFit/>
          </a:bodyPr>
          <a:p>
            <a:r>
              <a:rPr altLang="en-US" lang="zh-CN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分配政策：</a:t>
            </a:r>
            <a:r>
              <a:rPr altLang="en-US" lang="zh-CN">
                <a:latin typeface="黑体" panose="02010609060101010101" pitchFamily="49" charset="-122"/>
                <a:ea typeface="黑体" panose="02010609060101010101" pitchFamily="49" charset="-122"/>
              </a:rPr>
              <a:t>按劳分配、多种分配方式并存。完善个人收入分配政策</a:t>
            </a:r>
            <a:r>
              <a:rPr altLang="zh-CN" lang="en-US">
                <a:latin typeface="黑体" panose="02010609060101010101" pitchFamily="49" charset="-122"/>
                <a:ea typeface="黑体" panose="02010609060101010101" pitchFamily="49" charset="-122"/>
              </a:rPr>
              <a:t>1234  P47</a:t>
            </a:r>
            <a:endParaRPr altLang="zh-CN" lang="en-US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altLang="en-US" lang="zh-CN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我国的社会保障：</a:t>
            </a:r>
            <a:r>
              <a:rPr altLang="en-US" lang="zh-CN">
                <a:latin typeface="黑体" panose="02010609060101010101" pitchFamily="49" charset="-122"/>
                <a:ea typeface="黑体" panose="02010609060101010101" pitchFamily="49" charset="-122"/>
              </a:rPr>
              <a:t>完善社会保障，随着经济增长提高社会保障水平</a:t>
            </a:r>
            <a:r>
              <a:rPr altLang="zh-CN" lang="en-US">
                <a:latin typeface="黑体" panose="02010609060101010101" pitchFamily="49" charset="-122"/>
                <a:ea typeface="黑体" panose="02010609060101010101" pitchFamily="49" charset="-122"/>
              </a:rPr>
              <a:t>		</a:t>
            </a:r>
            <a:endParaRPr altLang="zh-CN"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617" name="文本框 9"/>
          <p:cNvSpPr txBox="1"/>
          <p:nvPr/>
        </p:nvSpPr>
        <p:spPr>
          <a:xfrm>
            <a:off x="4581525" y="2696210"/>
            <a:ext cx="873125" cy="36830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en-US" b="1" 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分配</a:t>
            </a:r>
            <a:endParaRPr altLang="en-US" b="1" 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18" name="下箭头 10"/>
          <p:cNvSpPr/>
          <p:nvPr/>
        </p:nvSpPr>
        <p:spPr>
          <a:xfrm>
            <a:off x="4831715" y="3165475"/>
            <a:ext cx="220980" cy="494030"/>
          </a:xfrm>
          <a:prstGeom prst="downArrow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619" name="文本框 11"/>
          <p:cNvSpPr txBox="1"/>
          <p:nvPr/>
        </p:nvSpPr>
        <p:spPr>
          <a:xfrm>
            <a:off x="3646170" y="3863975"/>
            <a:ext cx="2976880" cy="2014855"/>
          </a:xfrm>
          <a:prstGeom prst="rect"/>
          <a:solidFill>
            <a:schemeClr val="bg1">
              <a:lumMod val="95000"/>
            </a:schemeClr>
          </a:solidFill>
        </p:spPr>
        <p:txBody>
          <a:bodyPr rtlCol="0" wrap="square">
            <a:spAutoFit/>
          </a:bodyPr>
          <a:p>
            <a:pPr fontAlgn="auto" indent="0">
              <a:lnSpc>
                <a:spcPct val="125000"/>
              </a:lnSpc>
            </a:pP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②</a:t>
            </a: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</a:rPr>
              <a:t>推进</a:t>
            </a:r>
            <a:r>
              <a:rPr altLang="en-US" sz="2000" 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收入分配制度改革</a:t>
            </a: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</a:rPr>
              <a:t>，完善</a:t>
            </a:r>
            <a:r>
              <a:rPr altLang="en-US" sz="2000" 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社会保障</a:t>
            </a: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</a:rPr>
              <a:t>，增加居民可</a:t>
            </a:r>
            <a:r>
              <a:rPr altLang="en-US" sz="2000" 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支配收入</a:t>
            </a: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</a:rPr>
              <a:t>，提升居民消费</a:t>
            </a:r>
            <a:r>
              <a:rPr altLang="en-US" sz="2000" lang="zh-CN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能力</a:t>
            </a: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</a:rPr>
              <a:t>，增加居民</a:t>
            </a:r>
            <a:r>
              <a:rPr altLang="en-US" sz="2000" lang="zh-CN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消费信心和消费</a:t>
            </a:r>
            <a:r>
              <a:rPr altLang="en-US" sz="2000" lang="zh-CN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层级</a:t>
            </a:r>
            <a:endParaRPr altLang="en-US" sz="2000" lang="zh-CN"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620" name="文本框 12"/>
          <p:cNvSpPr txBox="1"/>
          <p:nvPr/>
        </p:nvSpPr>
        <p:spPr>
          <a:xfrm>
            <a:off x="6791325" y="557530"/>
            <a:ext cx="3018155" cy="1753235"/>
          </a:xfrm>
          <a:prstGeom prst="rect"/>
          <a:solidFill>
            <a:srgbClr val="FFF1C5"/>
          </a:solidFill>
        </p:spPr>
        <p:txBody>
          <a:bodyPr rtlCol="0" wrap="square">
            <a:spAutoFit/>
          </a:bodyPr>
          <a:p>
            <a:r>
              <a:rPr altLang="en-US" lang="zh-CN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构建全国统一大市场</a:t>
            </a:r>
            <a:r>
              <a:rPr altLang="en-US" lang="zh-CN">
                <a:latin typeface="黑体" panose="02010609060101010101" pitchFamily="49" charset="-122"/>
                <a:ea typeface="黑体" panose="02010609060101010101" pitchFamily="49" charset="-122"/>
              </a:rPr>
              <a:t>，促进市场机制发挥作用；</a:t>
            </a:r>
            <a:endParaRPr altLang="en-US" lang="zh-CN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altLang="en-US" lang="zh-CN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加强政府的经济职能：</a:t>
            </a:r>
            <a:r>
              <a:rPr altLang="en-US" lang="zh-CN">
                <a:latin typeface="黑体" panose="02010609060101010101" pitchFamily="49" charset="-122"/>
                <a:ea typeface="黑体" panose="02010609060101010101" pitchFamily="49" charset="-122"/>
              </a:rPr>
              <a:t>市场监管、公共服务等，维护市场秩序</a:t>
            </a:r>
            <a:r>
              <a:rPr altLang="zh-CN" lang="en-US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altLang="en-US" lang="zh-CN">
                <a:latin typeface="黑体" panose="02010609060101010101" pitchFamily="49" charset="-122"/>
                <a:ea typeface="黑体" panose="02010609060101010101" pitchFamily="49" charset="-122"/>
              </a:rPr>
              <a:t>反对不正当竞争，惩治侵害消费</a:t>
            </a:r>
            <a:r>
              <a:rPr altLang="en-US" lang="zh-CN">
                <a:latin typeface="黑体" panose="02010609060101010101" pitchFamily="49" charset="-122"/>
                <a:ea typeface="黑体" panose="02010609060101010101" pitchFamily="49" charset="-122"/>
              </a:rPr>
              <a:t>者权益行为</a:t>
            </a:r>
            <a:r>
              <a:rPr altLang="zh-CN" lang="en-US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altLang="zh-CN" 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621" name="文本框 13"/>
          <p:cNvSpPr txBox="1"/>
          <p:nvPr/>
        </p:nvSpPr>
        <p:spPr>
          <a:xfrm>
            <a:off x="10158095" y="673735"/>
            <a:ext cx="1837690" cy="1198880"/>
          </a:xfrm>
          <a:prstGeom prst="rect"/>
          <a:solidFill>
            <a:srgbClr val="FFF1C5"/>
          </a:solidFill>
        </p:spPr>
        <p:txBody>
          <a:bodyPr rtlCol="0" wrap="square">
            <a:spAutoFit/>
          </a:bodyPr>
          <a:p>
            <a:r>
              <a:rPr altLang="en-US" lang="zh-CN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消费政策：</a:t>
            </a:r>
            <a:r>
              <a:rPr altLang="en-US" lang="zh-CN">
                <a:latin typeface="黑体" panose="02010609060101010101" pitchFamily="49" charset="-122"/>
                <a:ea typeface="黑体" panose="02010609060101010101" pitchFamily="49" charset="-122"/>
              </a:rPr>
              <a:t>去掉限制规定，需求侧改革，拉动内需，</a:t>
            </a:r>
            <a:r>
              <a:rPr altLang="en-US" lang="zh-CN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消费</a:t>
            </a:r>
            <a:r>
              <a:rPr altLang="en-US" lang="zh-CN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升级</a:t>
            </a:r>
            <a:endParaRPr altLang="en-US" lang="zh-CN"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8622" name="文本框 14"/>
          <p:cNvSpPr txBox="1"/>
          <p:nvPr/>
        </p:nvSpPr>
        <p:spPr>
          <a:xfrm>
            <a:off x="7780020" y="2696210"/>
            <a:ext cx="873125" cy="36830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en-US" b="1" 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交换</a:t>
            </a:r>
            <a:endParaRPr altLang="en-US" b="1" 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23" name="文本框 15"/>
          <p:cNvSpPr txBox="1"/>
          <p:nvPr/>
        </p:nvSpPr>
        <p:spPr>
          <a:xfrm>
            <a:off x="10536555" y="2696210"/>
            <a:ext cx="873125" cy="368300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en-US" b="1" lang="zh-CN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消费</a:t>
            </a:r>
            <a:endParaRPr altLang="en-US" b="1" lang="zh-CN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8624" name="下箭头 16"/>
          <p:cNvSpPr/>
          <p:nvPr/>
        </p:nvSpPr>
        <p:spPr>
          <a:xfrm>
            <a:off x="8086725" y="3148965"/>
            <a:ext cx="220980" cy="483870"/>
          </a:xfrm>
          <a:prstGeom prst="downArrow"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/>
          </a:p>
        </p:txBody>
      </p:sp>
      <p:sp>
        <p:nvSpPr>
          <p:cNvPr id="1048625" name="文本框 17"/>
          <p:cNvSpPr txBox="1"/>
          <p:nvPr/>
        </p:nvSpPr>
        <p:spPr>
          <a:xfrm>
            <a:off x="6791325" y="3863975"/>
            <a:ext cx="2976880" cy="2014855"/>
          </a:xfrm>
          <a:prstGeom prst="rect"/>
          <a:solidFill>
            <a:schemeClr val="bg1">
              <a:lumMod val="95000"/>
            </a:schemeClr>
          </a:solidFill>
        </p:spPr>
        <p:txBody>
          <a:bodyPr rtlCol="0" wrap="square">
            <a:spAutoFit/>
          </a:bodyPr>
          <a:p>
            <a:pPr fontAlgn="auto" indent="0">
              <a:lnSpc>
                <a:spcPct val="125000"/>
              </a:lnSpc>
            </a:pP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</a:rPr>
              <a:t>③加强</a:t>
            </a:r>
            <a:r>
              <a:rPr altLang="en-US" sz="2000" 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市场监管</a:t>
            </a: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</a:rPr>
              <a:t>，规范</a:t>
            </a:r>
            <a:r>
              <a:rPr altLang="en-US" sz="2000" 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市场秩序</a:t>
            </a: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</a:rPr>
              <a:t>，改善</a:t>
            </a:r>
            <a:r>
              <a:rPr altLang="en-US" sz="2000" 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消费环境</a:t>
            </a: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</a:rPr>
              <a:t>，保障</a:t>
            </a:r>
            <a:r>
              <a:rPr altLang="en-US" sz="2000" lang="zh-CN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公平竞争</a:t>
            </a:r>
            <a:r>
              <a:rPr altLang="en-US" sz="2000" lang="zh-CN">
                <a:latin typeface="黑体" panose="02010609060101010101" pitchFamily="49" charset="-122"/>
                <a:ea typeface="黑体" panose="02010609060101010101" pitchFamily="49" charset="-122"/>
              </a:rPr>
              <a:t>，促进消费市场健康有序发展，提升居民</a:t>
            </a:r>
            <a:r>
              <a:rPr altLang="en-US" sz="2000" lang="zh-CN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消费</a:t>
            </a:r>
            <a:r>
              <a:rPr altLang="en-US" sz="2000" lang="zh-CN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意愿</a:t>
            </a:r>
            <a:endParaRPr altLang="en-US" sz="2000" lang="zh-CN"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/>
      </p:grpSpPr>
      <p:pic>
        <p:nvPicPr>
          <p:cNvPr id="2097161" name="图片 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67640" y="539115"/>
            <a:ext cx="11388725" cy="4410710"/>
          </a:xfrm>
          <a:prstGeom prst="rect"/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/>
      </p:grpSpPr>
      <p:pic>
        <p:nvPicPr>
          <p:cNvPr id="2097162" name="图片 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72415" y="106680"/>
            <a:ext cx="10259695" cy="6252210"/>
          </a:xfrm>
          <a:prstGeom prst="rect"/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/>
      </p:grpSpPr>
      <p:sp>
        <p:nvSpPr>
          <p:cNvPr id="1048626" name="文本框 99"/>
          <p:cNvSpPr txBox="1"/>
          <p:nvPr/>
        </p:nvSpPr>
        <p:spPr>
          <a:xfrm>
            <a:off x="572770" y="251460"/>
            <a:ext cx="10954385" cy="829945"/>
          </a:xfrm>
          <a:prstGeom prst="rect"/>
          <a:noFill/>
          <a:ln w="9525">
            <a:noFill/>
          </a:ln>
        </p:spPr>
        <p:txBody>
          <a:bodyPr wrap="square">
            <a:spAutoFit/>
          </a:bodyPr>
          <a:p>
            <a:pPr indent="-266700" marL="266700"/>
            <a:r>
              <a:rPr b="0" sz="2400" lang="en-US">
                <a:solidFill>
                  <a:srgbClr val="000000"/>
                </a:solidFill>
                <a:latin typeface="Times New Roman" panose="02020603050405020304" charset="0"/>
              </a:rPr>
              <a:t>21.</a:t>
            </a:r>
            <a:r>
              <a:rPr b="0" sz="2400" lang="zh-CN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（</a:t>
            </a:r>
            <a:r>
              <a:rPr b="0" sz="2400" lang="en-US">
                <a:solidFill>
                  <a:srgbClr val="000000"/>
                </a:solidFill>
                <a:latin typeface="Times New Roman" panose="02020603050405020304" charset="0"/>
              </a:rPr>
              <a:t>10</a:t>
            </a:r>
            <a:r>
              <a:rPr b="0" sz="2400" lang="zh-CN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分）</a:t>
            </a:r>
            <a:r>
              <a:rPr b="0" sz="2400" lang="zh-CN">
                <a:ea typeface="宋体" panose="02010600030101010101" pitchFamily="2" charset="-122"/>
              </a:rPr>
              <a:t>
可从坚持党的领导、全过程人民民主、实事求是、发展的观点等角度作答。</a:t>
            </a:r>
            <a:endParaRPr altLang="en-US" b="0" sz="2400" lang="zh-CN">
              <a:ea typeface="宋体" panose="02010600030101010101" pitchFamily="2" charset="-122"/>
            </a:endParaRPr>
          </a:p>
        </p:txBody>
      </p:sp>
      <p:pic>
        <p:nvPicPr>
          <p:cNvPr id="2097163" name="图片 1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44170" y="1453515"/>
            <a:ext cx="10815320" cy="3487420"/>
          </a:xfrm>
          <a:prstGeom prst="rect"/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77*287"/>
  <p:tag name="TABLE_ENDDRAG_RECT" val="91*177*677*287"/>
</p:tagLst>
</file>

<file path=ppt/tags/tag2.xml><?xml version="1.0" encoding="utf-8"?>
<p:tagLst xmlns:p="http://schemas.openxmlformats.org/presentationml/2006/main">
  <p:tag name="AS_UNIQUEID" val="11843"/>
  <p:tag name="KSO_WM_BEAUTIFY_FLAG" val=""/>
</p:tagLst>
</file>

<file path=ppt/tags/tag3.xml><?xml version="1.0" encoding="utf-8"?>
<p:tagLst xmlns:p="http://schemas.openxmlformats.org/presentationml/2006/main">
  <p:tag name="AS_UNIQUEID" val="11843"/>
</p:tagLst>
</file>

<file path=ppt/tags/tag4.xml><?xml version="1.0" encoding="utf-8"?>
<p:tagLst xmlns:p="http://schemas.openxmlformats.org/presentationml/2006/main">
  <p:tag name="AS_UNIQUEID" val="13561"/>
</p:tagLst>
</file>

<file path=ppt/tags/tag5.xml><?xml version="1.0" encoding="utf-8"?>
<p:tagLst xmlns:p="http://schemas.openxmlformats.org/presentationml/2006/main">
  <p:tag name="RESOURCE_RECORD_KEY" val="{&quot;13&quot;:[4364954]}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235894"/>
</p:tagLst>
</file>

<file path=ppt/theme/theme1.xml><?xml version="1.0" encoding="utf-8"?>
<a:theme xmlns:a="http://schemas.openxmlformats.org/drawingml/2006/main" name="WPS">
  <a:themeElements>
    <a:clrScheme name="WPS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algn="ctr" blurRad="101600" dir="5400000" dist="50800" rotWithShape="0">
              <a:schemeClr val="phClr">
                <a:alpha val="60000"/>
              </a:schemeClr>
            </a:outerShdw>
          </a:effectLst>
        </a:effectStyle>
        <a:effectStyle>
          <a:effectLst>
            <a:reflection algn="bl" dir="5400000" dist="25400" endA="300" endPos="40000" rotWithShape="0" stA="50000" sy="-100000"/>
          </a:effectLst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WPS 演示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PKT110</dc:creator>
  <cp:lastModifiedBy>思思</cp:lastModifiedBy>
  <dcterms:created xsi:type="dcterms:W3CDTF">2023-08-08T20:44:00Z</dcterms:created>
  <dcterms:modified xsi:type="dcterms:W3CDTF">2026-01-24T02:55:40Z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401dae01ba8a49bd99ff67c2f169f1c2_23</vt:lpwstr>
  </property>
  <property fmtid="{D5CDD505-2E9C-101B-9397-08002B2CF9AE}" pid="3" name="KSOProductBuildVer">
    <vt:lpwstr>2052-12.1.0.16388</vt:lpwstr>
  </property>
</Properties>
</file>