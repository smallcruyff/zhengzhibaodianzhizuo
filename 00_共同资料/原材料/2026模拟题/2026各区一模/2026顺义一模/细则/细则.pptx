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3"/>
  </p:sldMasterIdLst>
  <p:notesMasterIdLst>
    <p:notesMasterId r:id="rId15"/>
  </p:notesMasterIdLst>
  <p:sldIdLst>
    <p:sldId id="427" r:id="rId4"/>
    <p:sldId id="367" r:id="rId5"/>
    <p:sldId id="373" r:id="rId6"/>
    <p:sldId id="256" r:id="rId7"/>
    <p:sldId id="257" r:id="rId8"/>
    <p:sldId id="387" r:id="rId9"/>
    <p:sldId id="395" r:id="rId10"/>
    <p:sldId id="435" r:id="rId11"/>
    <p:sldId id="414" r:id="rId12"/>
    <p:sldId id="424" r:id="rId13"/>
    <p:sldId id="425" r:id="rId1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幸全" initials="幸全" lastIdx="0" clrIdx="0"/>
  <p:cmAuthor id="2" name="作者" initials="A" lastIdx="0" clrIdx="1"/>
  <p:cmAuthor id="3" name="wen_j" initials="w" lastIdx="0" clrIdx="2"/>
  <p:cmAuthor id="4" name="Mia Vida Villanueva" initials="MVV" lastIdx="0" clrIdx="3"/>
  <p:cmAuthor id="5" name="宋洁然" initials="宋" lastIdx="0" clrIdx="4"/>
  <p:cmAuthor id="6" name="ming qiu" initials="m" lastIdx="0" clrIdx="5"/>
  <p:cmAuthor id="7" name="1206988966@qq.com" initials="1" lastIdx="0" clrIdx="6"/>
  <p:cmAuthor id="8" name="姜伟光" initials="姜" lastIdx="0" clrIdx="7"/>
  <p:cmAuthor id="9" name="dongyu" initials="d" lastIdx="0" clrIdx="8"/>
  <p:cmAuthor id="10" name="86180" initials="8" lastIdx="0" clrIdx="9"/>
  <p:cmAuthor id="11" name="Administrator" initials="A" lastIdx="0" clrIdx="10"/>
  <p:cmAuthor id="12" name="WY" initials="W" lastIdx="0" clrIdx="11"/>
  <p:cmAuthor id="13" name="asus1" initials="a" lastIdx="0" clrIdx="12"/>
  <p:cmAuthor id="14" name="杜永波" initials="杜" lastIdx="0" clrIdx="13"/>
  <p:cmAuthor id="15" name="Vivian Liu" initials="" lastIdx="0" clrIdx="14"/>
  <p:cmAuthor id="16" name="li marry" initials="l" lastIdx="0" clrIdx="15"/>
  <p:cmAuthor id="17" name="孙宇婷" initials="" lastIdx="0" clrIdx="16"/>
  <p:cmAuthor id="18" name="叶 思冰" initials="叶" lastIdx="0" clrIdx="17"/>
  <p:cmAuthor id="19" name="222" initials="" lastIdx="0" clrIdx="18"/>
  <p:cmAuthor id="20" name="Windows 用户" initials="" lastIdx="0" clrIdx="19"/>
  <p:cmAuthor id="21" name="ASUS" initials="" lastIdx="0" clrIdx="20"/>
  <p:cmAuthor id="22" name="xj" initials="" lastIdx="0" clrIdx="21"/>
  <p:cmAuthor id="23" name="古" initials="" lastIdx="0" clrIdx="22"/>
  <p:cmAuthor id="24" name="李彦利" initials="" lastIdx="0" clrIdx="23"/>
  <p:cmAuthor id="25" name="刘刘" initials="" lastIdx="0" clrIdx="24"/>
  <p:cmAuthor id="26" name="刘浩" initials="" lastIdx="0" clrIdx="25"/>
  <p:cmAuthor id="27" name="未知用户1" initials="未" lastIdx="0" clrIdx="26"/>
  <p:cmAuthor id="28" name="张瑞霞" initials="authorId_524709945" lastIdx="0" clrIdx="27"/>
  <p:cmAuthor id="29" name="Dino._6ZFrB7nA" initials="authorId_1257418890" lastIdx="0" clrIdx="28"/>
  <p:cmAuthor id="30" name="DELL" initials="D" lastIdx="0" clrIdx="29"/>
  <p:cmAuthor id="31" name="nijingen" initials="n" lastIdx="0" clrIdx="30"/>
  <p:cmAuthor id="32" name="86151" initials="8" lastIdx="0" clrIdx="31"/>
  <p:cmAuthor id="33" name="86136" initials="8" lastIdx="0" clrIdx="32"/>
  <p:cmAuthor id="34" name="admin" initials="a" lastIdx="0" clrIdx="33"/>
  <p:cmAuthor id="35" name="Echo" initials="" lastIdx="0" clrIdx="34"/>
  <p:cmAuthor id="36" name="zhou ming" initials="zm" lastIdx="0" clrIdx="35"/>
  <p:cmAuthor id="37" name="a'su's" initials="a" lastIdx="0" clrIdx="36"/>
  <p:cmAuthor id="38" name="陈庆" initials="陈" lastIdx="0" clrIdx="37"/>
  <p:cmAuthor id="39" name="陈芳" initials="A" lastIdx="0" clrIdx="38"/>
  <p:cmAuthor id="40" name="User" initials="U" lastIdx="0" clrIdx="39"/>
  <p:cmAuthor id="41" name="NFB" initials="N" lastIdx="0" clrIdx="40"/>
  <p:cmAuthor id="42" name="雨昕" initials="雨" lastIdx="0" clrIdx="41"/>
  <p:cmAuthor id="43" name="EXX008" initials="E" lastIdx="0" clrIdx="42"/>
  <p:cmAuthor id="44" name="win" initials="" lastIdx="0" clrIdx="43"/>
  <p:cmAuthor id="45" name="tf" initials="t" lastIdx="0" clrIdx="44"/>
  <p:cmAuthor id="46" name="1" initials="1" lastIdx="0" clrIdx="45"/>
  <p:cmAuthor id="47" name="lenovo" initials="l" lastIdx="0" clrIdx="46"/>
  <p:cmAuthor id="48" name="lishanghe" initials="l" lastIdx="0" clrIdx="47"/>
  <p:cmAuthor id="49" name="THTF" initials="T" lastIdx="0" clrIdx="48"/>
  <p:cmAuthor id="50" name="纪小欢" initials="纪" lastIdx="0" clrIdx="49"/>
  <p:cmAuthor id="51" name="未知用户2" initials="未知用户2" lastIdx="0" clrIdx="50"/>
  <p:cmAuthor id="52" name="jinjuan" initials="j" lastIdx="0" clrIdx="51"/>
  <p:cmAuthor id="53" name="seewo" initials="s" lastIdx="0" clrIdx="52"/>
  <p:cmAuthor id="54" name="钱小琳" initials="钱" lastIdx="0" clrIdx="53"/>
  <p:cmAuthor id="55" name="阿斯蒂芬" initials="阿" lastIdx="0" clrIdx="54"/>
  <p:cmAuthor id="56" name="946067826@qq.com" initials="" lastIdx="0" clrIdx="55"/>
  <p:cmAuthor id="57" name="bzbx" initials="b" lastIdx="0" clrIdx="56"/>
  <p:cmAuthor id="58" name="goodluck" initials="g" lastIdx="0" clrIdx="57"/>
  <p:cmAuthor id="59" name="王老师" initials="王" lastIdx="0" clrIdx="58"/>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1707E9"/>
    <a:srgbClr val="FF00FF"/>
    <a:srgbClr val="2F12D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0" d="100"/>
          <a:sy n="90" d="100"/>
        </p:scale>
        <p:origin x="632"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slide" Target="slides/slide1.xml"/><Relationship Id="rId3" Type="http://schemas.openxmlformats.org/officeDocument/2006/relationships/slideMaster" Target="slideMasters/slideMaster2.xml"/><Relationship Id="rId2" Type="http://schemas.openxmlformats.org/officeDocument/2006/relationships/theme" Target="theme/theme1.xml"/><Relationship Id="rId19" Type="http://schemas.openxmlformats.org/officeDocument/2006/relationships/commentAuthors" Target="commentAuthors.xml"/><Relationship Id="rId18" Type="http://schemas.openxmlformats.org/officeDocument/2006/relationships/tableStyles" Target="tableStyles.xml"/><Relationship Id="rId17" Type="http://schemas.openxmlformats.org/officeDocument/2006/relationships/viewProps" Target="viewProps.xml"/><Relationship Id="rId16" Type="http://schemas.openxmlformats.org/officeDocument/2006/relationships/presProps" Target="presProps.xml"/><Relationship Id="rId15" Type="http://schemas.openxmlformats.org/officeDocument/2006/relationships/notesMaster" Target="notesMasters/notesMaster1.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8736666-5E59-4CD4-B299-9C0FB5118B66}"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69194C9-618E-4666-8611-B6C7CA6724F1}"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91679903-CAA4-497D-8C43-37FD23C79959}"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15B852D-BFF7-47D3-AC70-6AF106DB4093}"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91679903-CAA4-497D-8C43-37FD23C79959}"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15B852D-BFF7-47D3-AC70-6AF106DB4093}"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91679903-CAA4-497D-8C43-37FD23C79959}"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15B852D-BFF7-47D3-AC70-6AF106DB4093}"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91679903-CAA4-497D-8C43-37FD23C79959}"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15B852D-BFF7-47D3-AC70-6AF106DB4093}"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91679903-CAA4-497D-8C43-37FD23C79959}"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815B852D-BFF7-47D3-AC70-6AF106DB4093}"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91679903-CAA4-497D-8C43-37FD23C79959}"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815B852D-BFF7-47D3-AC70-6AF106DB4093}"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91679903-CAA4-497D-8C43-37FD23C79959}"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815B852D-BFF7-47D3-AC70-6AF106DB4093}"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91679903-CAA4-497D-8C43-37FD23C79959}"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15B852D-BFF7-47D3-AC70-6AF106DB4093}"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91679903-CAA4-497D-8C43-37FD23C79959}"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15B852D-BFF7-47D3-AC70-6AF106DB4093}"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91679903-CAA4-497D-8C43-37FD23C79959}"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15B852D-BFF7-47D3-AC70-6AF106DB4093}"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91679903-CAA4-497D-8C43-37FD23C79959}"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15B852D-BFF7-47D3-AC70-6AF106DB4093}"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4" name="日期占位符 3"/>
          <p:cNvSpPr>
            <a:spLocks noGrp="1"/>
          </p:cNvSpPr>
          <p:nvPr>
            <p:ph type="dt" sz="half" idx="10"/>
          </p:nvPr>
        </p:nvSpPr>
        <p:spPr/>
        <p:txBody>
          <a:bodyPr/>
          <a:lstStyle/>
          <a:p>
            <a:fld id="{B3B1B455-8D17-4AF8-9B70-CE6DC3F4571A}"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87754C9-E7AB-4F29-B221-1AAA40D58A56}" type="slidenum">
              <a:rPr lang="zh-CN" altLang="en-US" smtClean="0"/>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91679903-CAA4-497D-8C43-37FD23C79959}"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15B852D-BFF7-47D3-AC70-6AF106DB4093}"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91679903-CAA4-497D-8C43-37FD23C79959}"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15B852D-BFF7-47D3-AC70-6AF106DB4093}"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91679903-CAA4-497D-8C43-37FD23C79959}"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15B852D-BFF7-47D3-AC70-6AF106DB4093}"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91679903-CAA4-497D-8C43-37FD23C79959}"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15B852D-BFF7-47D3-AC70-6AF106DB4093}"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91679903-CAA4-497D-8C43-37FD23C79959}"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815B852D-BFF7-47D3-AC70-6AF106DB4093}"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91679903-CAA4-497D-8C43-37FD23C79959}"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815B852D-BFF7-47D3-AC70-6AF106DB4093}"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91679903-CAA4-497D-8C43-37FD23C79959}"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815B852D-BFF7-47D3-AC70-6AF106DB4093}"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91679903-CAA4-497D-8C43-37FD23C79959}"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15B852D-BFF7-47D3-AC70-6AF106DB4093}"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91679903-CAA4-497D-8C43-37FD23C79959}"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15B852D-BFF7-47D3-AC70-6AF106DB4093}" type="slidenum">
              <a:rPr lang="zh-CN" altLang="en-US" smtClean="0"/>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91679903-CAA4-497D-8C43-37FD23C79959}"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15B852D-BFF7-47D3-AC70-6AF106DB4093}" type="slidenum">
              <a:rPr lang="zh-CN" altLang="en-US" smtClean="0"/>
            </a:fld>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91679903-CAA4-497D-8C43-37FD23C79959}"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15B852D-BFF7-47D3-AC70-6AF106DB4093}"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1.xml"/><Relationship Id="rId8" Type="http://schemas.openxmlformats.org/officeDocument/2006/relationships/slideLayout" Target="../slideLayouts/slideLayout20.xml"/><Relationship Id="rId7" Type="http://schemas.openxmlformats.org/officeDocument/2006/relationships/slideLayout" Target="../slideLayouts/slideLayout19.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 Id="rId3" Type="http://schemas.openxmlformats.org/officeDocument/2006/relationships/slideLayout" Target="../slideLayouts/slideLayout15.xml"/><Relationship Id="rId2" Type="http://schemas.openxmlformats.org/officeDocument/2006/relationships/slideLayout" Target="../slideLayouts/slideLayout14.xml"/><Relationship Id="rId12" Type="http://schemas.openxmlformats.org/officeDocument/2006/relationships/theme" Target="../theme/theme2.xml"/><Relationship Id="rId11" Type="http://schemas.openxmlformats.org/officeDocument/2006/relationships/slideLayout" Target="../slideLayouts/slideLayout23.xml"/><Relationship Id="rId10" Type="http://schemas.openxmlformats.org/officeDocument/2006/relationships/slideLayout" Target="../slideLayouts/slideLayout22.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1679903-CAA4-497D-8C43-37FD23C79959}"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15B852D-BFF7-47D3-AC70-6AF106DB4093}"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1679903-CAA4-497D-8C43-37FD23C79959}"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15B852D-BFF7-47D3-AC70-6AF106DB4093}"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tags" Target="../tags/tag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3289004" y="637954"/>
            <a:ext cx="5755758" cy="707886"/>
          </a:xfrm>
          <a:prstGeom prst="rect">
            <a:avLst/>
          </a:prstGeom>
          <a:noFill/>
        </p:spPr>
        <p:txBody>
          <a:bodyPr wrap="square" rtlCol="0">
            <a:spAutoFit/>
          </a:bodyPr>
          <a:lstStyle/>
          <a:p>
            <a:pPr algn="ctr"/>
            <a:r>
              <a:rPr lang="en-US" altLang="zh-CN" sz="4000" b="1">
                <a:latin typeface="微软雅黑" panose="020B0503020204020204" pitchFamily="34" charset="-122"/>
                <a:ea typeface="微软雅黑" panose="020B0503020204020204" pitchFamily="34" charset="-122"/>
              </a:rPr>
              <a:t>2026</a:t>
            </a:r>
            <a:r>
              <a:rPr lang="zh-CN" altLang="en-US" sz="4000" b="1">
                <a:latin typeface="微软雅黑" panose="020B0503020204020204" pitchFamily="34" charset="-122"/>
                <a:ea typeface="微软雅黑" panose="020B0503020204020204" pitchFamily="34" charset="-122"/>
              </a:rPr>
              <a:t>年顺义一模考试题</a:t>
            </a:r>
            <a:endParaRPr lang="en-US" altLang="zh-CN" sz="4000" b="1">
              <a:latin typeface="微软雅黑" panose="020B0503020204020204" pitchFamily="34" charset="-122"/>
              <a:ea typeface="微软雅黑" panose="020B0503020204020204" pitchFamily="34" charset="-122"/>
            </a:endParaRPr>
          </a:p>
        </p:txBody>
      </p:sp>
      <p:graphicFrame>
        <p:nvGraphicFramePr>
          <p:cNvPr id="5" name="表格 4"/>
          <p:cNvGraphicFramePr>
            <a:graphicFrameLocks noGrp="1"/>
          </p:cNvGraphicFramePr>
          <p:nvPr/>
        </p:nvGraphicFramePr>
        <p:xfrm>
          <a:off x="1890232" y="1869244"/>
          <a:ext cx="8128000" cy="3108960"/>
        </p:xfrm>
        <a:graphic>
          <a:graphicData uri="http://schemas.openxmlformats.org/drawingml/2006/table">
            <a:tbl>
              <a:tblPr firstRow="1" bandRow="1">
                <a:tableStyleId>{5940675A-B579-460E-94D1-54222C63F5DA}</a:tableStyleId>
              </a:tblPr>
              <a:tblGrid>
                <a:gridCol w="1625600"/>
                <a:gridCol w="1625600"/>
                <a:gridCol w="1625600"/>
                <a:gridCol w="1625600"/>
                <a:gridCol w="1625600"/>
              </a:tblGrid>
              <a:tr h="370840">
                <a:tc>
                  <a:txBody>
                    <a:bodyPr/>
                    <a:lstStyle/>
                    <a:p>
                      <a:pPr algn="ctr"/>
                      <a:r>
                        <a:rPr lang="en-US" altLang="zh-CN" sz="2800" b="1">
                          <a:highlight>
                            <a:srgbClr val="FFFF00"/>
                          </a:highlight>
                          <a:latin typeface="微软雅黑" panose="020B0503020204020204" pitchFamily="34" charset="-122"/>
                          <a:ea typeface="微软雅黑" panose="020B0503020204020204" pitchFamily="34" charset="-122"/>
                        </a:rPr>
                        <a:t>1</a:t>
                      </a:r>
                      <a:endParaRPr lang="zh-CN" altLang="en-US" sz="2800" b="1">
                        <a:highlight>
                          <a:srgbClr val="FFFF00"/>
                        </a:highlight>
                        <a:latin typeface="微软雅黑" panose="020B0503020204020204" pitchFamily="34" charset="-122"/>
                        <a:ea typeface="微软雅黑" panose="020B0503020204020204" pitchFamily="34" charset="-122"/>
                      </a:endParaRPr>
                    </a:p>
                  </a:txBody>
                  <a:tcPr>
                    <a:solidFill>
                      <a:srgbClr val="FFFF00"/>
                    </a:solidFill>
                  </a:tcPr>
                </a:tc>
                <a:tc>
                  <a:txBody>
                    <a:bodyPr/>
                    <a:lstStyle/>
                    <a:p>
                      <a:pPr algn="ctr"/>
                      <a:r>
                        <a:rPr lang="en-US" altLang="zh-CN" sz="2800" b="1">
                          <a:highlight>
                            <a:srgbClr val="FFFF00"/>
                          </a:highlight>
                          <a:latin typeface="微软雅黑" panose="020B0503020204020204" pitchFamily="34" charset="-122"/>
                          <a:ea typeface="微软雅黑" panose="020B0503020204020204" pitchFamily="34" charset="-122"/>
                        </a:rPr>
                        <a:t>2</a:t>
                      </a:r>
                      <a:endParaRPr lang="zh-CN" altLang="en-US" sz="2800" b="1">
                        <a:highlight>
                          <a:srgbClr val="FFFF00"/>
                        </a:highlight>
                        <a:latin typeface="微软雅黑" panose="020B0503020204020204" pitchFamily="34" charset="-122"/>
                        <a:ea typeface="微软雅黑" panose="020B0503020204020204" pitchFamily="34" charset="-122"/>
                      </a:endParaRPr>
                    </a:p>
                  </a:txBody>
                  <a:tcPr>
                    <a:solidFill>
                      <a:srgbClr val="FFFF00"/>
                    </a:solidFill>
                  </a:tcPr>
                </a:tc>
                <a:tc>
                  <a:txBody>
                    <a:bodyPr/>
                    <a:lstStyle/>
                    <a:p>
                      <a:pPr algn="ctr"/>
                      <a:r>
                        <a:rPr lang="en-US" altLang="zh-CN" sz="2800" b="1">
                          <a:highlight>
                            <a:srgbClr val="FFFF00"/>
                          </a:highlight>
                          <a:latin typeface="微软雅黑" panose="020B0503020204020204" pitchFamily="34" charset="-122"/>
                          <a:ea typeface="微软雅黑" panose="020B0503020204020204" pitchFamily="34" charset="-122"/>
                        </a:rPr>
                        <a:t>3</a:t>
                      </a:r>
                      <a:endParaRPr lang="zh-CN" altLang="en-US" sz="2800" b="1">
                        <a:highlight>
                          <a:srgbClr val="FFFF00"/>
                        </a:highlight>
                        <a:latin typeface="微软雅黑" panose="020B0503020204020204" pitchFamily="34" charset="-122"/>
                        <a:ea typeface="微软雅黑" panose="020B0503020204020204" pitchFamily="34" charset="-122"/>
                      </a:endParaRPr>
                    </a:p>
                  </a:txBody>
                  <a:tcPr>
                    <a:solidFill>
                      <a:srgbClr val="FFFF00"/>
                    </a:solidFill>
                  </a:tcPr>
                </a:tc>
                <a:tc>
                  <a:txBody>
                    <a:bodyPr/>
                    <a:lstStyle/>
                    <a:p>
                      <a:pPr algn="ctr"/>
                      <a:r>
                        <a:rPr lang="en-US" altLang="zh-CN" sz="2800" b="1">
                          <a:highlight>
                            <a:srgbClr val="FFFF00"/>
                          </a:highlight>
                          <a:latin typeface="微软雅黑" panose="020B0503020204020204" pitchFamily="34" charset="-122"/>
                          <a:ea typeface="微软雅黑" panose="020B0503020204020204" pitchFamily="34" charset="-122"/>
                        </a:rPr>
                        <a:t>4</a:t>
                      </a:r>
                      <a:endParaRPr lang="zh-CN" altLang="en-US" sz="2800" b="1">
                        <a:highlight>
                          <a:srgbClr val="FFFF00"/>
                        </a:highlight>
                        <a:latin typeface="微软雅黑" panose="020B0503020204020204" pitchFamily="34" charset="-122"/>
                        <a:ea typeface="微软雅黑" panose="020B0503020204020204" pitchFamily="34" charset="-122"/>
                      </a:endParaRPr>
                    </a:p>
                  </a:txBody>
                  <a:tcPr>
                    <a:solidFill>
                      <a:srgbClr val="FFFF00"/>
                    </a:solidFill>
                  </a:tcPr>
                </a:tc>
                <a:tc>
                  <a:txBody>
                    <a:bodyPr/>
                    <a:lstStyle/>
                    <a:p>
                      <a:pPr algn="ctr"/>
                      <a:r>
                        <a:rPr lang="en-US" altLang="zh-CN" sz="2800" b="1">
                          <a:highlight>
                            <a:srgbClr val="FFFF00"/>
                          </a:highlight>
                          <a:latin typeface="微软雅黑" panose="020B0503020204020204" pitchFamily="34" charset="-122"/>
                          <a:ea typeface="微软雅黑" panose="020B0503020204020204" pitchFamily="34" charset="-122"/>
                        </a:rPr>
                        <a:t>5</a:t>
                      </a:r>
                      <a:endParaRPr lang="zh-CN" altLang="en-US" sz="2800" b="1">
                        <a:highlight>
                          <a:srgbClr val="FFFF00"/>
                        </a:highlight>
                        <a:latin typeface="微软雅黑" panose="020B0503020204020204" pitchFamily="34" charset="-122"/>
                        <a:ea typeface="微软雅黑" panose="020B0503020204020204" pitchFamily="34" charset="-122"/>
                      </a:endParaRPr>
                    </a:p>
                  </a:txBody>
                  <a:tcPr>
                    <a:solidFill>
                      <a:srgbClr val="FFFF00"/>
                    </a:solidFill>
                  </a:tcPr>
                </a:tc>
              </a:tr>
              <a:tr h="370840">
                <a:tc>
                  <a:txBody>
                    <a:bodyPr/>
                    <a:lstStyle/>
                    <a:p>
                      <a:pPr algn="ctr"/>
                      <a:r>
                        <a:rPr lang="en-US" altLang="zh-CN" sz="2800" b="1">
                          <a:solidFill>
                            <a:srgbClr val="2F12DE"/>
                          </a:solidFill>
                          <a:latin typeface="微软雅黑" panose="020B0503020204020204" pitchFamily="34" charset="-122"/>
                          <a:ea typeface="微软雅黑" panose="020B0503020204020204" pitchFamily="34" charset="-122"/>
                        </a:rPr>
                        <a:t>B</a:t>
                      </a:r>
                      <a:endParaRPr lang="zh-CN" altLang="en-US" sz="2800" b="1">
                        <a:solidFill>
                          <a:srgbClr val="2F12DE"/>
                        </a:solidFill>
                        <a:latin typeface="微软雅黑" panose="020B0503020204020204" pitchFamily="34" charset="-122"/>
                        <a:ea typeface="微软雅黑" panose="020B0503020204020204" pitchFamily="34" charset="-122"/>
                      </a:endParaRPr>
                    </a:p>
                  </a:txBody>
                  <a:tcPr/>
                </a:tc>
                <a:tc>
                  <a:txBody>
                    <a:bodyPr/>
                    <a:lstStyle/>
                    <a:p>
                      <a:pPr algn="ctr"/>
                      <a:r>
                        <a:rPr lang="en-US" altLang="zh-CN" sz="2800" b="1">
                          <a:solidFill>
                            <a:srgbClr val="2F12DE"/>
                          </a:solidFill>
                          <a:latin typeface="微软雅黑" panose="020B0503020204020204" pitchFamily="34" charset="-122"/>
                          <a:ea typeface="微软雅黑" panose="020B0503020204020204" pitchFamily="34" charset="-122"/>
                        </a:rPr>
                        <a:t>C</a:t>
                      </a:r>
                      <a:endParaRPr lang="zh-CN" altLang="en-US" sz="2800" b="1">
                        <a:solidFill>
                          <a:srgbClr val="2F12DE"/>
                        </a:solidFill>
                        <a:latin typeface="微软雅黑" panose="020B0503020204020204" pitchFamily="34" charset="-122"/>
                        <a:ea typeface="微软雅黑" panose="020B0503020204020204" pitchFamily="34" charset="-122"/>
                      </a:endParaRPr>
                    </a:p>
                  </a:txBody>
                  <a:tcPr/>
                </a:tc>
                <a:tc>
                  <a:txBody>
                    <a:bodyPr/>
                    <a:lstStyle/>
                    <a:p>
                      <a:pPr algn="ctr"/>
                      <a:r>
                        <a:rPr lang="en-US" altLang="zh-CN" sz="2800" b="1">
                          <a:solidFill>
                            <a:srgbClr val="2F12DE"/>
                          </a:solidFill>
                          <a:latin typeface="微软雅黑" panose="020B0503020204020204" pitchFamily="34" charset="-122"/>
                          <a:ea typeface="微软雅黑" panose="020B0503020204020204" pitchFamily="34" charset="-122"/>
                        </a:rPr>
                        <a:t>C</a:t>
                      </a:r>
                      <a:endParaRPr lang="zh-CN" altLang="en-US" sz="2800" b="1">
                        <a:solidFill>
                          <a:srgbClr val="2F12DE"/>
                        </a:solidFill>
                        <a:latin typeface="微软雅黑" panose="020B0503020204020204" pitchFamily="34" charset="-122"/>
                        <a:ea typeface="微软雅黑" panose="020B0503020204020204" pitchFamily="34" charset="-122"/>
                      </a:endParaRPr>
                    </a:p>
                  </a:txBody>
                  <a:tcPr/>
                </a:tc>
                <a:tc>
                  <a:txBody>
                    <a:bodyPr/>
                    <a:lstStyle/>
                    <a:p>
                      <a:pPr algn="ctr"/>
                      <a:r>
                        <a:rPr lang="en-US" altLang="zh-CN" sz="2800" b="1">
                          <a:solidFill>
                            <a:srgbClr val="2F12DE"/>
                          </a:solidFill>
                          <a:latin typeface="微软雅黑" panose="020B0503020204020204" pitchFamily="34" charset="-122"/>
                          <a:ea typeface="微软雅黑" panose="020B0503020204020204" pitchFamily="34" charset="-122"/>
                        </a:rPr>
                        <a:t>A</a:t>
                      </a:r>
                      <a:endParaRPr lang="zh-CN" altLang="en-US" sz="2800" b="1">
                        <a:solidFill>
                          <a:srgbClr val="2F12DE"/>
                        </a:solidFill>
                        <a:latin typeface="微软雅黑" panose="020B0503020204020204" pitchFamily="34" charset="-122"/>
                        <a:ea typeface="微软雅黑" panose="020B0503020204020204" pitchFamily="34" charset="-122"/>
                      </a:endParaRPr>
                    </a:p>
                  </a:txBody>
                  <a:tcPr/>
                </a:tc>
                <a:tc>
                  <a:txBody>
                    <a:bodyPr/>
                    <a:lstStyle/>
                    <a:p>
                      <a:pPr algn="ctr"/>
                      <a:r>
                        <a:rPr lang="en-US" altLang="zh-CN" sz="2800" b="1">
                          <a:solidFill>
                            <a:srgbClr val="2F12DE"/>
                          </a:solidFill>
                          <a:latin typeface="微软雅黑" panose="020B0503020204020204" pitchFamily="34" charset="-122"/>
                          <a:ea typeface="微软雅黑" panose="020B0503020204020204" pitchFamily="34" charset="-122"/>
                        </a:rPr>
                        <a:t>D</a:t>
                      </a:r>
                      <a:endParaRPr lang="zh-CN" altLang="en-US" sz="2800" b="1">
                        <a:solidFill>
                          <a:srgbClr val="2F12DE"/>
                        </a:solidFill>
                        <a:latin typeface="微软雅黑" panose="020B0503020204020204" pitchFamily="34" charset="-122"/>
                        <a:ea typeface="微软雅黑" panose="020B0503020204020204" pitchFamily="34" charset="-122"/>
                      </a:endParaRPr>
                    </a:p>
                  </a:txBody>
                  <a:tcPr/>
                </a:tc>
              </a:tr>
              <a:tr h="370840">
                <a:tc>
                  <a:txBody>
                    <a:bodyPr/>
                    <a:lstStyle/>
                    <a:p>
                      <a:pPr algn="ctr"/>
                      <a:r>
                        <a:rPr lang="en-US" altLang="zh-CN" sz="2800" b="1">
                          <a:latin typeface="微软雅黑" panose="020B0503020204020204" pitchFamily="34" charset="-122"/>
                          <a:ea typeface="微软雅黑" panose="020B0503020204020204" pitchFamily="34" charset="-122"/>
                        </a:rPr>
                        <a:t>6</a:t>
                      </a:r>
                      <a:endParaRPr lang="zh-CN" altLang="en-US" sz="2800" b="1">
                        <a:latin typeface="微软雅黑" panose="020B0503020204020204" pitchFamily="34" charset="-122"/>
                        <a:ea typeface="微软雅黑" panose="020B0503020204020204" pitchFamily="34" charset="-122"/>
                      </a:endParaRPr>
                    </a:p>
                  </a:txBody>
                  <a:tcPr>
                    <a:solidFill>
                      <a:srgbClr val="FFFF00"/>
                    </a:solidFill>
                  </a:tcPr>
                </a:tc>
                <a:tc>
                  <a:txBody>
                    <a:bodyPr/>
                    <a:lstStyle/>
                    <a:p>
                      <a:pPr algn="ctr"/>
                      <a:r>
                        <a:rPr lang="en-US" altLang="zh-CN" sz="2800" b="1">
                          <a:latin typeface="微软雅黑" panose="020B0503020204020204" pitchFamily="34" charset="-122"/>
                          <a:ea typeface="微软雅黑" panose="020B0503020204020204" pitchFamily="34" charset="-122"/>
                        </a:rPr>
                        <a:t>7</a:t>
                      </a:r>
                      <a:endParaRPr lang="zh-CN" altLang="en-US" sz="2800" b="1">
                        <a:latin typeface="微软雅黑" panose="020B0503020204020204" pitchFamily="34" charset="-122"/>
                        <a:ea typeface="微软雅黑" panose="020B0503020204020204" pitchFamily="34" charset="-122"/>
                      </a:endParaRPr>
                    </a:p>
                  </a:txBody>
                  <a:tcPr>
                    <a:solidFill>
                      <a:srgbClr val="FFFF00"/>
                    </a:solidFill>
                  </a:tcPr>
                </a:tc>
                <a:tc>
                  <a:txBody>
                    <a:bodyPr/>
                    <a:lstStyle/>
                    <a:p>
                      <a:pPr algn="ctr"/>
                      <a:r>
                        <a:rPr lang="en-US" altLang="zh-CN" sz="2800" b="1">
                          <a:latin typeface="微软雅黑" panose="020B0503020204020204" pitchFamily="34" charset="-122"/>
                          <a:ea typeface="微软雅黑" panose="020B0503020204020204" pitchFamily="34" charset="-122"/>
                        </a:rPr>
                        <a:t>8</a:t>
                      </a:r>
                      <a:endParaRPr lang="zh-CN" altLang="en-US" sz="2800" b="1">
                        <a:latin typeface="微软雅黑" panose="020B0503020204020204" pitchFamily="34" charset="-122"/>
                        <a:ea typeface="微软雅黑" panose="020B0503020204020204" pitchFamily="34" charset="-122"/>
                      </a:endParaRPr>
                    </a:p>
                  </a:txBody>
                  <a:tcPr>
                    <a:solidFill>
                      <a:srgbClr val="FFFF00"/>
                    </a:solidFill>
                  </a:tcPr>
                </a:tc>
                <a:tc>
                  <a:txBody>
                    <a:bodyPr/>
                    <a:lstStyle/>
                    <a:p>
                      <a:pPr algn="ctr"/>
                      <a:r>
                        <a:rPr lang="en-US" altLang="zh-CN" sz="2800" b="1">
                          <a:latin typeface="微软雅黑" panose="020B0503020204020204" pitchFamily="34" charset="-122"/>
                          <a:ea typeface="微软雅黑" panose="020B0503020204020204" pitchFamily="34" charset="-122"/>
                        </a:rPr>
                        <a:t>9</a:t>
                      </a:r>
                      <a:endParaRPr lang="zh-CN" altLang="en-US" sz="2800" b="1">
                        <a:latin typeface="微软雅黑" panose="020B0503020204020204" pitchFamily="34" charset="-122"/>
                        <a:ea typeface="微软雅黑" panose="020B0503020204020204" pitchFamily="34" charset="-122"/>
                      </a:endParaRPr>
                    </a:p>
                  </a:txBody>
                  <a:tcPr>
                    <a:solidFill>
                      <a:srgbClr val="FFFF00"/>
                    </a:solidFill>
                  </a:tcPr>
                </a:tc>
                <a:tc>
                  <a:txBody>
                    <a:bodyPr/>
                    <a:lstStyle/>
                    <a:p>
                      <a:pPr algn="ctr"/>
                      <a:r>
                        <a:rPr lang="en-US" altLang="zh-CN" sz="2800" b="1">
                          <a:latin typeface="微软雅黑" panose="020B0503020204020204" pitchFamily="34" charset="-122"/>
                          <a:ea typeface="微软雅黑" panose="020B0503020204020204" pitchFamily="34" charset="-122"/>
                        </a:rPr>
                        <a:t>10</a:t>
                      </a:r>
                      <a:endParaRPr lang="zh-CN" altLang="en-US" sz="2800" b="1">
                        <a:latin typeface="微软雅黑" panose="020B0503020204020204" pitchFamily="34" charset="-122"/>
                        <a:ea typeface="微软雅黑" panose="020B0503020204020204" pitchFamily="34" charset="-122"/>
                      </a:endParaRPr>
                    </a:p>
                  </a:txBody>
                  <a:tcPr>
                    <a:solidFill>
                      <a:srgbClr val="FFFF00"/>
                    </a:solidFill>
                  </a:tcPr>
                </a:tc>
              </a:tr>
              <a:tr h="370840">
                <a:tc>
                  <a:txBody>
                    <a:bodyPr/>
                    <a:lstStyle/>
                    <a:p>
                      <a:pPr algn="ctr"/>
                      <a:r>
                        <a:rPr lang="en-US" altLang="zh-CN" sz="2800" b="1">
                          <a:solidFill>
                            <a:srgbClr val="2F12DE"/>
                          </a:solidFill>
                          <a:latin typeface="微软雅黑" panose="020B0503020204020204" pitchFamily="34" charset="-122"/>
                          <a:ea typeface="微软雅黑" panose="020B0503020204020204" pitchFamily="34" charset="-122"/>
                        </a:rPr>
                        <a:t>A</a:t>
                      </a:r>
                      <a:endParaRPr lang="zh-CN" altLang="en-US" sz="2800" b="1">
                        <a:solidFill>
                          <a:srgbClr val="2F12DE"/>
                        </a:solidFill>
                        <a:latin typeface="微软雅黑" panose="020B0503020204020204" pitchFamily="34" charset="-122"/>
                        <a:ea typeface="微软雅黑" panose="020B0503020204020204" pitchFamily="34" charset="-122"/>
                      </a:endParaRPr>
                    </a:p>
                  </a:txBody>
                  <a:tcPr/>
                </a:tc>
                <a:tc>
                  <a:txBody>
                    <a:bodyPr/>
                    <a:lstStyle/>
                    <a:p>
                      <a:pPr algn="ctr"/>
                      <a:r>
                        <a:rPr lang="en-US" altLang="zh-CN" sz="2800" b="1">
                          <a:solidFill>
                            <a:srgbClr val="2F12DE"/>
                          </a:solidFill>
                          <a:latin typeface="微软雅黑" panose="020B0503020204020204" pitchFamily="34" charset="-122"/>
                          <a:ea typeface="微软雅黑" panose="020B0503020204020204" pitchFamily="34" charset="-122"/>
                        </a:rPr>
                        <a:t>D</a:t>
                      </a:r>
                      <a:endParaRPr lang="zh-CN" altLang="en-US" sz="2800" b="1">
                        <a:solidFill>
                          <a:srgbClr val="2F12DE"/>
                        </a:solidFill>
                        <a:latin typeface="微软雅黑" panose="020B0503020204020204" pitchFamily="34" charset="-122"/>
                        <a:ea typeface="微软雅黑" panose="020B0503020204020204" pitchFamily="34" charset="-122"/>
                      </a:endParaRPr>
                    </a:p>
                  </a:txBody>
                  <a:tcPr/>
                </a:tc>
                <a:tc>
                  <a:txBody>
                    <a:bodyPr/>
                    <a:lstStyle/>
                    <a:p>
                      <a:pPr algn="ctr"/>
                      <a:r>
                        <a:rPr lang="en-US" altLang="zh-CN" sz="2800" b="1">
                          <a:solidFill>
                            <a:srgbClr val="2F12DE"/>
                          </a:solidFill>
                          <a:latin typeface="微软雅黑" panose="020B0503020204020204" pitchFamily="34" charset="-122"/>
                          <a:ea typeface="微软雅黑" panose="020B0503020204020204" pitchFamily="34" charset="-122"/>
                        </a:rPr>
                        <a:t>A</a:t>
                      </a:r>
                      <a:endParaRPr lang="zh-CN" altLang="en-US" sz="2800" b="1">
                        <a:solidFill>
                          <a:srgbClr val="2F12DE"/>
                        </a:solidFill>
                        <a:latin typeface="微软雅黑" panose="020B0503020204020204" pitchFamily="34" charset="-122"/>
                        <a:ea typeface="微软雅黑" panose="020B0503020204020204" pitchFamily="34" charset="-122"/>
                      </a:endParaRPr>
                    </a:p>
                  </a:txBody>
                  <a:tcPr/>
                </a:tc>
                <a:tc>
                  <a:txBody>
                    <a:bodyPr/>
                    <a:lstStyle/>
                    <a:p>
                      <a:pPr algn="ctr"/>
                      <a:r>
                        <a:rPr lang="en-US" altLang="zh-CN" sz="2800" b="1">
                          <a:solidFill>
                            <a:srgbClr val="2F12DE"/>
                          </a:solidFill>
                          <a:latin typeface="微软雅黑" panose="020B0503020204020204" pitchFamily="34" charset="-122"/>
                          <a:ea typeface="微软雅黑" panose="020B0503020204020204" pitchFamily="34" charset="-122"/>
                        </a:rPr>
                        <a:t>B</a:t>
                      </a:r>
                      <a:endParaRPr lang="zh-CN" altLang="en-US" sz="2800" b="1">
                        <a:solidFill>
                          <a:srgbClr val="2F12DE"/>
                        </a:solidFill>
                        <a:latin typeface="微软雅黑" panose="020B0503020204020204" pitchFamily="34" charset="-122"/>
                        <a:ea typeface="微软雅黑" panose="020B0503020204020204" pitchFamily="34" charset="-122"/>
                      </a:endParaRPr>
                    </a:p>
                  </a:txBody>
                  <a:tcPr/>
                </a:tc>
                <a:tc>
                  <a:txBody>
                    <a:bodyPr/>
                    <a:lstStyle/>
                    <a:p>
                      <a:pPr algn="ctr"/>
                      <a:r>
                        <a:rPr lang="en-US" altLang="zh-CN" sz="2800" b="1">
                          <a:solidFill>
                            <a:srgbClr val="2F12DE"/>
                          </a:solidFill>
                          <a:latin typeface="微软雅黑" panose="020B0503020204020204" pitchFamily="34" charset="-122"/>
                          <a:ea typeface="微软雅黑" panose="020B0503020204020204" pitchFamily="34" charset="-122"/>
                        </a:rPr>
                        <a:t>B</a:t>
                      </a:r>
                      <a:endParaRPr lang="zh-CN" altLang="en-US" sz="2800" b="1">
                        <a:solidFill>
                          <a:srgbClr val="2F12DE"/>
                        </a:solidFill>
                        <a:latin typeface="微软雅黑" panose="020B0503020204020204" pitchFamily="34" charset="-122"/>
                        <a:ea typeface="微软雅黑" panose="020B0503020204020204" pitchFamily="34" charset="-122"/>
                      </a:endParaRPr>
                    </a:p>
                  </a:txBody>
                  <a:tcPr/>
                </a:tc>
              </a:tr>
              <a:tr h="370840">
                <a:tc>
                  <a:txBody>
                    <a:bodyPr/>
                    <a:lstStyle/>
                    <a:p>
                      <a:pPr algn="ctr"/>
                      <a:r>
                        <a:rPr lang="en-US" altLang="zh-CN" sz="2800" b="1">
                          <a:latin typeface="微软雅黑" panose="020B0503020204020204" pitchFamily="34" charset="-122"/>
                          <a:ea typeface="微软雅黑" panose="020B0503020204020204" pitchFamily="34" charset="-122"/>
                        </a:rPr>
                        <a:t>11</a:t>
                      </a:r>
                      <a:endParaRPr lang="zh-CN" altLang="en-US" sz="2800" b="1">
                        <a:latin typeface="微软雅黑" panose="020B0503020204020204" pitchFamily="34" charset="-122"/>
                        <a:ea typeface="微软雅黑" panose="020B0503020204020204" pitchFamily="34" charset="-122"/>
                      </a:endParaRPr>
                    </a:p>
                  </a:txBody>
                  <a:tcPr>
                    <a:solidFill>
                      <a:srgbClr val="FFFF00"/>
                    </a:solidFill>
                  </a:tcPr>
                </a:tc>
                <a:tc>
                  <a:txBody>
                    <a:bodyPr/>
                    <a:lstStyle/>
                    <a:p>
                      <a:pPr algn="ctr"/>
                      <a:r>
                        <a:rPr lang="en-US" altLang="zh-CN" sz="2800" b="1">
                          <a:latin typeface="微软雅黑" panose="020B0503020204020204" pitchFamily="34" charset="-122"/>
                          <a:ea typeface="微软雅黑" panose="020B0503020204020204" pitchFamily="34" charset="-122"/>
                        </a:rPr>
                        <a:t>12</a:t>
                      </a:r>
                      <a:endParaRPr lang="zh-CN" altLang="en-US" sz="2800" b="1">
                        <a:latin typeface="微软雅黑" panose="020B0503020204020204" pitchFamily="34" charset="-122"/>
                        <a:ea typeface="微软雅黑" panose="020B0503020204020204" pitchFamily="34" charset="-122"/>
                      </a:endParaRPr>
                    </a:p>
                  </a:txBody>
                  <a:tcPr>
                    <a:solidFill>
                      <a:srgbClr val="FFFF00"/>
                    </a:solidFill>
                  </a:tcPr>
                </a:tc>
                <a:tc>
                  <a:txBody>
                    <a:bodyPr/>
                    <a:lstStyle/>
                    <a:p>
                      <a:pPr algn="ctr"/>
                      <a:r>
                        <a:rPr lang="en-US" altLang="zh-CN" sz="2800" b="1">
                          <a:latin typeface="微软雅黑" panose="020B0503020204020204" pitchFamily="34" charset="-122"/>
                          <a:ea typeface="微软雅黑" panose="020B0503020204020204" pitchFamily="34" charset="-122"/>
                        </a:rPr>
                        <a:t>13</a:t>
                      </a:r>
                      <a:endParaRPr lang="zh-CN" altLang="en-US" sz="2800" b="1">
                        <a:latin typeface="微软雅黑" panose="020B0503020204020204" pitchFamily="34" charset="-122"/>
                        <a:ea typeface="微软雅黑" panose="020B0503020204020204" pitchFamily="34" charset="-122"/>
                      </a:endParaRPr>
                    </a:p>
                  </a:txBody>
                  <a:tcPr>
                    <a:solidFill>
                      <a:srgbClr val="FFFF00"/>
                    </a:solidFill>
                  </a:tcPr>
                </a:tc>
                <a:tc>
                  <a:txBody>
                    <a:bodyPr/>
                    <a:lstStyle/>
                    <a:p>
                      <a:pPr algn="ctr"/>
                      <a:r>
                        <a:rPr lang="en-US" altLang="zh-CN" sz="2800" b="1">
                          <a:latin typeface="微软雅黑" panose="020B0503020204020204" pitchFamily="34" charset="-122"/>
                          <a:ea typeface="微软雅黑" panose="020B0503020204020204" pitchFamily="34" charset="-122"/>
                        </a:rPr>
                        <a:t>14</a:t>
                      </a:r>
                      <a:endParaRPr lang="zh-CN" altLang="en-US" sz="2800" b="1">
                        <a:latin typeface="微软雅黑" panose="020B0503020204020204" pitchFamily="34" charset="-122"/>
                        <a:ea typeface="微软雅黑" panose="020B0503020204020204" pitchFamily="34" charset="-122"/>
                      </a:endParaRPr>
                    </a:p>
                  </a:txBody>
                  <a:tcPr>
                    <a:solidFill>
                      <a:srgbClr val="FFFF00"/>
                    </a:solidFill>
                  </a:tcPr>
                </a:tc>
                <a:tc>
                  <a:txBody>
                    <a:bodyPr/>
                    <a:lstStyle/>
                    <a:p>
                      <a:pPr algn="ctr"/>
                      <a:r>
                        <a:rPr lang="en-US" altLang="zh-CN" sz="2800" b="1">
                          <a:latin typeface="微软雅黑" panose="020B0503020204020204" pitchFamily="34" charset="-122"/>
                          <a:ea typeface="微软雅黑" panose="020B0503020204020204" pitchFamily="34" charset="-122"/>
                        </a:rPr>
                        <a:t>15</a:t>
                      </a:r>
                      <a:endParaRPr lang="zh-CN" altLang="en-US" sz="2800" b="1">
                        <a:latin typeface="微软雅黑" panose="020B0503020204020204" pitchFamily="34" charset="-122"/>
                        <a:ea typeface="微软雅黑" panose="020B0503020204020204" pitchFamily="34" charset="-122"/>
                      </a:endParaRPr>
                    </a:p>
                  </a:txBody>
                  <a:tcPr>
                    <a:solidFill>
                      <a:srgbClr val="FFFF00"/>
                    </a:solidFill>
                  </a:tcPr>
                </a:tc>
              </a:tr>
              <a:tr h="370840">
                <a:tc>
                  <a:txBody>
                    <a:bodyPr/>
                    <a:lstStyle/>
                    <a:p>
                      <a:pPr algn="ctr"/>
                      <a:r>
                        <a:rPr lang="en-US" altLang="zh-CN" sz="2800" b="1">
                          <a:solidFill>
                            <a:srgbClr val="2F12DE"/>
                          </a:solidFill>
                          <a:latin typeface="微软雅黑" panose="020B0503020204020204" pitchFamily="34" charset="-122"/>
                          <a:ea typeface="微软雅黑" panose="020B0503020204020204" pitchFamily="34" charset="-122"/>
                        </a:rPr>
                        <a:t>D</a:t>
                      </a:r>
                      <a:endParaRPr lang="zh-CN" altLang="en-US" sz="2800" b="1">
                        <a:solidFill>
                          <a:srgbClr val="2F12DE"/>
                        </a:solidFill>
                        <a:latin typeface="微软雅黑" panose="020B0503020204020204" pitchFamily="34" charset="-122"/>
                        <a:ea typeface="微软雅黑" panose="020B0503020204020204" pitchFamily="34" charset="-122"/>
                      </a:endParaRPr>
                    </a:p>
                  </a:txBody>
                  <a:tcPr/>
                </a:tc>
                <a:tc>
                  <a:txBody>
                    <a:bodyPr/>
                    <a:lstStyle/>
                    <a:p>
                      <a:pPr algn="ctr"/>
                      <a:r>
                        <a:rPr lang="en-US" altLang="zh-CN" sz="2800" b="1">
                          <a:solidFill>
                            <a:srgbClr val="2F12DE"/>
                          </a:solidFill>
                          <a:latin typeface="微软雅黑" panose="020B0503020204020204" pitchFamily="34" charset="-122"/>
                          <a:ea typeface="微软雅黑" panose="020B0503020204020204" pitchFamily="34" charset="-122"/>
                        </a:rPr>
                        <a:t>B</a:t>
                      </a:r>
                      <a:endParaRPr lang="zh-CN" altLang="en-US" sz="2800" b="1">
                        <a:solidFill>
                          <a:srgbClr val="2F12DE"/>
                        </a:solidFill>
                        <a:latin typeface="微软雅黑" panose="020B0503020204020204" pitchFamily="34" charset="-122"/>
                        <a:ea typeface="微软雅黑" panose="020B0503020204020204" pitchFamily="34" charset="-122"/>
                      </a:endParaRPr>
                    </a:p>
                  </a:txBody>
                  <a:tcPr/>
                </a:tc>
                <a:tc>
                  <a:txBody>
                    <a:bodyPr/>
                    <a:lstStyle/>
                    <a:p>
                      <a:pPr algn="ctr"/>
                      <a:r>
                        <a:rPr lang="en-US" altLang="zh-CN" sz="2800" b="1">
                          <a:solidFill>
                            <a:srgbClr val="2F12DE"/>
                          </a:solidFill>
                          <a:latin typeface="微软雅黑" panose="020B0503020204020204" pitchFamily="34" charset="-122"/>
                          <a:ea typeface="微软雅黑" panose="020B0503020204020204" pitchFamily="34" charset="-122"/>
                        </a:rPr>
                        <a:t>C</a:t>
                      </a:r>
                      <a:endParaRPr lang="zh-CN" altLang="en-US" sz="2800" b="1">
                        <a:solidFill>
                          <a:srgbClr val="2F12DE"/>
                        </a:solidFill>
                        <a:latin typeface="微软雅黑" panose="020B0503020204020204" pitchFamily="34" charset="-122"/>
                        <a:ea typeface="微软雅黑" panose="020B0503020204020204" pitchFamily="34" charset="-122"/>
                      </a:endParaRPr>
                    </a:p>
                  </a:txBody>
                  <a:tcPr/>
                </a:tc>
                <a:tc>
                  <a:txBody>
                    <a:bodyPr/>
                    <a:lstStyle/>
                    <a:p>
                      <a:pPr algn="ctr"/>
                      <a:r>
                        <a:rPr lang="en-US" altLang="zh-CN" sz="2800" b="1">
                          <a:solidFill>
                            <a:srgbClr val="2F12DE"/>
                          </a:solidFill>
                          <a:latin typeface="微软雅黑" panose="020B0503020204020204" pitchFamily="34" charset="-122"/>
                          <a:ea typeface="微软雅黑" panose="020B0503020204020204" pitchFamily="34" charset="-122"/>
                        </a:rPr>
                        <a:t>D</a:t>
                      </a:r>
                      <a:endParaRPr lang="zh-CN" altLang="en-US" sz="2800" b="1">
                        <a:solidFill>
                          <a:srgbClr val="2F12DE"/>
                        </a:solidFill>
                        <a:latin typeface="微软雅黑" panose="020B0503020204020204" pitchFamily="34" charset="-122"/>
                        <a:ea typeface="微软雅黑" panose="020B0503020204020204" pitchFamily="34" charset="-122"/>
                      </a:endParaRPr>
                    </a:p>
                  </a:txBody>
                  <a:tcPr/>
                </a:tc>
                <a:tc>
                  <a:txBody>
                    <a:bodyPr/>
                    <a:lstStyle/>
                    <a:p>
                      <a:pPr algn="ctr"/>
                      <a:r>
                        <a:rPr lang="en-US" altLang="zh-CN" sz="2800" b="1">
                          <a:solidFill>
                            <a:srgbClr val="2F12DE"/>
                          </a:solidFill>
                          <a:latin typeface="微软雅黑" panose="020B0503020204020204" pitchFamily="34" charset="-122"/>
                          <a:ea typeface="微软雅黑" panose="020B0503020204020204" pitchFamily="34" charset="-122"/>
                        </a:rPr>
                        <a:t>C</a:t>
                      </a:r>
                      <a:endParaRPr lang="zh-CN" altLang="en-US" sz="2800" b="1">
                        <a:solidFill>
                          <a:srgbClr val="2F12DE"/>
                        </a:solidFill>
                        <a:latin typeface="微软雅黑" panose="020B0503020204020204" pitchFamily="34" charset="-122"/>
                        <a:ea typeface="微软雅黑" panose="020B0503020204020204" pitchFamily="34" charset="-122"/>
                      </a:endParaRPr>
                    </a:p>
                  </a:txBody>
                  <a:tcPr/>
                </a:tc>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内容占位符 3"/>
          <p:cNvGraphicFramePr>
            <a:graphicFrameLocks noGrp="1"/>
          </p:cNvGraphicFramePr>
          <p:nvPr>
            <p:ph idx="4294967295"/>
            <p:custDataLst>
              <p:tags r:id="rId1"/>
            </p:custDataLst>
          </p:nvPr>
        </p:nvGraphicFramePr>
        <p:xfrm>
          <a:off x="241300" y="556895"/>
          <a:ext cx="11317605" cy="6148070"/>
        </p:xfrm>
        <a:graphic>
          <a:graphicData uri="http://schemas.openxmlformats.org/drawingml/2006/table">
            <a:tbl>
              <a:tblPr firstRow="1" bandRow="1">
                <a:tableStyleId>{5940675A-B579-460E-94D1-54222C63F5DA}</a:tableStyleId>
              </a:tblPr>
              <a:tblGrid>
                <a:gridCol w="506095"/>
                <a:gridCol w="720090"/>
                <a:gridCol w="5490210"/>
                <a:gridCol w="4601210"/>
              </a:tblGrid>
              <a:tr h="944880">
                <a:tc>
                  <a:txBody>
                    <a:bodyPr/>
                    <a:lstStyle/>
                    <a:p>
                      <a:pPr algn="ctr"/>
                      <a:r>
                        <a:rPr lang="zh-CN" altLang="en-US" sz="2800" b="1" dirty="0">
                          <a:latin typeface="+mn-ea"/>
                          <a:ea typeface="+mn-ea"/>
                        </a:rPr>
                        <a:t>分值</a:t>
                      </a:r>
                      <a:endParaRPr lang="zh-CN" altLang="en-US" sz="2800" b="1" dirty="0">
                        <a:latin typeface="+mn-ea"/>
                        <a:ea typeface="+mn-ea"/>
                      </a:endParaRPr>
                    </a:p>
                  </a:txBody>
                  <a:tcPr anchor="ctr"/>
                </a:tc>
                <a:tc>
                  <a:txBody>
                    <a:bodyPr/>
                    <a:lstStyle/>
                    <a:p>
                      <a:pPr algn="ctr"/>
                      <a:r>
                        <a:rPr lang="zh-CN" altLang="en-US" sz="2800" b="1" dirty="0">
                          <a:latin typeface="+mn-ea"/>
                          <a:ea typeface="+mn-ea"/>
                        </a:rPr>
                        <a:t>标准</a:t>
                      </a:r>
                      <a:endParaRPr lang="zh-CN" altLang="en-US" sz="2800" b="1" dirty="0">
                        <a:latin typeface="+mn-ea"/>
                        <a:ea typeface="+mn-ea"/>
                      </a:endParaRPr>
                    </a:p>
                  </a:txBody>
                  <a:tcPr anchor="ctr"/>
                </a:tc>
                <a:tc>
                  <a:txBody>
                    <a:bodyPr/>
                    <a:lstStyle/>
                    <a:p>
                      <a:pPr algn="ctr"/>
                      <a:r>
                        <a:rPr lang="zh-CN" altLang="en-US" sz="2800" b="1" dirty="0">
                          <a:latin typeface="+mn-ea"/>
                          <a:ea typeface="+mn-ea"/>
                        </a:rPr>
                        <a:t>层次</a:t>
                      </a:r>
                      <a:endParaRPr lang="zh-CN" altLang="en-US" sz="2800" b="1" dirty="0">
                        <a:latin typeface="+mn-ea"/>
                        <a:ea typeface="+mn-ea"/>
                      </a:endParaRPr>
                    </a:p>
                  </a:txBody>
                  <a:tcPr anchor="ctr"/>
                </a:tc>
                <a:tc>
                  <a:txBody>
                    <a:bodyPr/>
                    <a:lstStyle/>
                    <a:p>
                      <a:pPr algn="ctr">
                        <a:buNone/>
                      </a:pPr>
                      <a:r>
                        <a:rPr lang="zh-CN" altLang="en-US" sz="2800" b="1" dirty="0">
                          <a:latin typeface="+mn-ea"/>
                          <a:ea typeface="+mn-ea"/>
                        </a:rPr>
                        <a:t>可选知识</a:t>
                      </a:r>
                      <a:endParaRPr lang="zh-CN" altLang="en-US" sz="2800" b="1" dirty="0">
                        <a:latin typeface="+mn-ea"/>
                        <a:ea typeface="+mn-ea"/>
                      </a:endParaRPr>
                    </a:p>
                  </a:txBody>
                  <a:tcPr anchor="ctr"/>
                </a:tc>
              </a:tr>
              <a:tr h="1095375">
                <a:tc rowSpan="3" gridSpan="2">
                  <a:txBody>
                    <a:bodyPr/>
                    <a:lstStyle/>
                    <a:p>
                      <a:pPr algn="ctr"/>
                      <a:r>
                        <a:rPr lang="en-US" altLang="zh-CN" sz="2000" b="1" dirty="0">
                          <a:latin typeface="+mn-ea"/>
                          <a:ea typeface="+mn-ea"/>
                        </a:rPr>
                        <a:t>5-6</a:t>
                      </a:r>
                      <a:r>
                        <a:rPr lang="zh-CN" altLang="en-US" sz="2000" b="1" dirty="0">
                          <a:latin typeface="+mn-ea"/>
                          <a:ea typeface="+mn-ea"/>
                        </a:rPr>
                        <a:t>分</a:t>
                      </a:r>
                      <a:endParaRPr lang="en-US" altLang="zh-CN" sz="2000" b="1" dirty="0">
                        <a:latin typeface="+mn-ea"/>
                        <a:ea typeface="+mn-ea"/>
                      </a:endParaRPr>
                    </a:p>
                    <a:p>
                      <a:pPr algn="ctr"/>
                      <a:r>
                        <a:rPr lang="zh-CN" altLang="en-US" sz="2000" b="1" dirty="0">
                          <a:latin typeface="+mn-ea"/>
                          <a:ea typeface="+mn-ea"/>
                        </a:rPr>
                        <a:t>（</a:t>
                      </a:r>
                      <a:r>
                        <a:rPr lang="en-US" altLang="zh-CN" sz="1600" b="1" dirty="0">
                          <a:latin typeface="+mn-ea"/>
                          <a:ea typeface="+mn-ea"/>
                          <a:cs typeface="仿宋" panose="02010609060101010101" charset="-122"/>
                        </a:rPr>
                        <a:t>2</a:t>
                      </a:r>
                      <a:r>
                        <a:rPr lang="zh-CN" altLang="en-US" sz="1600" b="1" dirty="0">
                          <a:latin typeface="+mn-ea"/>
                          <a:ea typeface="+mn-ea"/>
                          <a:cs typeface="仿宋" panose="02010609060101010101" charset="-122"/>
                        </a:rPr>
                        <a:t>×</a:t>
                      </a:r>
                      <a:r>
                        <a:rPr lang="en-US" altLang="zh-CN" sz="1600" b="1" dirty="0">
                          <a:latin typeface="+mn-ea"/>
                          <a:ea typeface="+mn-ea"/>
                          <a:cs typeface="仿宋" panose="02010609060101010101" charset="-122"/>
                        </a:rPr>
                        <a:t>3</a:t>
                      </a:r>
                      <a:r>
                        <a:rPr lang="zh-CN" altLang="en-US" sz="2000" b="1" dirty="0">
                          <a:latin typeface="+mn-ea"/>
                          <a:ea typeface="+mn-ea"/>
                        </a:rPr>
                        <a:t>）</a:t>
                      </a:r>
                      <a:endParaRPr lang="en-US" altLang="zh-CN" sz="2000" b="1" dirty="0">
                        <a:latin typeface="+mn-ea"/>
                        <a:ea typeface="+mn-ea"/>
                      </a:endParaRPr>
                    </a:p>
                    <a:p>
                      <a:pPr algn="ctr"/>
                      <a:endParaRPr lang="zh-CN" altLang="en-US" sz="1800" b="1" dirty="0">
                        <a:latin typeface="+mn-ea"/>
                        <a:ea typeface="+mn-ea"/>
                      </a:endParaRPr>
                    </a:p>
                    <a:p>
                      <a:pPr algn="ctr"/>
                      <a:r>
                        <a:rPr lang="zh-CN" altLang="en-US" b="1" dirty="0">
                          <a:latin typeface="+mn-ea"/>
                          <a:ea typeface="+mn-ea"/>
                        </a:rPr>
                        <a:t>观点清晰</a:t>
                      </a:r>
                      <a:endParaRPr lang="zh-CN" altLang="en-US" b="1" dirty="0">
                        <a:latin typeface="+mn-ea"/>
                        <a:ea typeface="+mn-ea"/>
                      </a:endParaRPr>
                    </a:p>
                    <a:p>
                      <a:pPr algn="ctr"/>
                      <a:r>
                        <a:rPr lang="zh-CN" altLang="en-US" b="1" dirty="0">
                          <a:latin typeface="+mn-ea"/>
                          <a:ea typeface="+mn-ea"/>
                        </a:rPr>
                        <a:t>知行合一</a:t>
                      </a:r>
                      <a:endParaRPr lang="zh-CN" altLang="en-US" sz="1800" b="1" dirty="0">
                        <a:latin typeface="+mn-ea"/>
                        <a:ea typeface="+mn-ea"/>
                      </a:endParaRPr>
                    </a:p>
                  </a:txBody>
                  <a:tcPr anchor="ctr"/>
                </a:tc>
                <a:tc rowSpan="3" hMerge="1">
                  <a:tcPr anchor="ctr"/>
                </a:tc>
                <a:tc>
                  <a:txBody>
                    <a:bodyPr/>
                    <a:lstStyle/>
                    <a:p>
                      <a:pPr algn="l"/>
                      <a:r>
                        <a:rPr lang="en-US" altLang="zh-CN" sz="2000" b="1" dirty="0">
                          <a:solidFill>
                            <a:srgbClr val="00B050"/>
                          </a:solidFill>
                          <a:latin typeface="+mn-ea"/>
                          <a:ea typeface="+mn-ea"/>
                          <a:sym typeface="+mn-ea"/>
                        </a:rPr>
                        <a:t>       </a:t>
                      </a:r>
                      <a:r>
                        <a:rPr lang="zh-CN" sz="2000" b="1" dirty="0">
                          <a:solidFill>
                            <a:srgbClr val="00B050"/>
                          </a:solidFill>
                          <a:latin typeface="+mn-ea"/>
                          <a:ea typeface="+mn-ea"/>
                          <a:sym typeface="+mn-ea"/>
                        </a:rPr>
                        <a:t>及时发现—从客观事实层面—源头防范</a:t>
                      </a:r>
                      <a:endParaRPr lang="zh-CN" altLang="en-US" sz="2000" b="1" dirty="0">
                        <a:solidFill>
                          <a:srgbClr val="00B050"/>
                        </a:solidFill>
                        <a:latin typeface="+mn-ea"/>
                        <a:ea typeface="+mn-ea"/>
                      </a:endParaRPr>
                    </a:p>
                  </a:txBody>
                  <a:tcPr anchor="ctr"/>
                </a:tc>
                <a:tc>
                  <a:txBody>
                    <a:bodyPr/>
                    <a:lstStyle/>
                    <a:p>
                      <a:pPr algn="ctr">
                        <a:buNone/>
                      </a:pPr>
                      <a:r>
                        <a:rPr lang="zh-CN" sz="2400" b="1" dirty="0">
                          <a:solidFill>
                            <a:srgbClr val="FF0000"/>
                          </a:solidFill>
                          <a:latin typeface="+mn-ea"/>
                          <a:ea typeface="+mn-ea"/>
                          <a:sym typeface="+mn-ea"/>
                        </a:rPr>
                        <a:t>量质变、适度原则、矛盾转化等</a:t>
                      </a:r>
                      <a:endParaRPr lang="zh-CN" sz="2800" b="1" dirty="0">
                        <a:solidFill>
                          <a:srgbClr val="FF0000"/>
                        </a:solidFill>
                        <a:latin typeface="+mn-ea"/>
                        <a:ea typeface="+mn-ea"/>
                        <a:sym typeface="+mn-ea"/>
                      </a:endParaRPr>
                    </a:p>
                    <a:p>
                      <a:pPr algn="ctr">
                        <a:buNone/>
                      </a:pPr>
                      <a:endParaRPr lang="zh-CN" altLang="en-US" sz="2800" b="1" dirty="0">
                        <a:solidFill>
                          <a:srgbClr val="FF0000"/>
                        </a:solidFill>
                        <a:latin typeface="+mn-ea"/>
                        <a:ea typeface="+mn-ea"/>
                        <a:sym typeface="+mn-ea"/>
                      </a:endParaRPr>
                    </a:p>
                  </a:txBody>
                  <a:tcPr anchor="ctr"/>
                </a:tc>
              </a:tr>
              <a:tr h="1321435">
                <a:tc vMerge="1" gridSpan="2">
                  <a:tcPr/>
                </a:tc>
                <a:tc vMerge="1" hMerge="1">
                  <a:tcPr anchor="ctr"/>
                </a:tc>
                <a:tc>
                  <a:txBody>
                    <a:bodyPr/>
                    <a:lstStyle/>
                    <a:p>
                      <a:pPr algn="l">
                        <a:buClrTx/>
                        <a:buSzTx/>
                        <a:buFontTx/>
                        <a:buNone/>
                      </a:pPr>
                      <a:r>
                        <a:rPr lang="en-US" altLang="zh-CN" sz="2000" b="1" dirty="0">
                          <a:solidFill>
                            <a:srgbClr val="00B050"/>
                          </a:solidFill>
                          <a:latin typeface="+mn-ea"/>
                          <a:ea typeface="+mn-ea"/>
                          <a:sym typeface="+mn-ea"/>
                        </a:rPr>
                        <a:t>        </a:t>
                      </a:r>
                      <a:r>
                        <a:rPr lang="zh-CN" sz="2000" b="1" dirty="0">
                          <a:solidFill>
                            <a:srgbClr val="00B050"/>
                          </a:solidFill>
                          <a:latin typeface="+mn-ea"/>
                          <a:ea typeface="+mn-ea"/>
                          <a:sym typeface="+mn-ea"/>
                        </a:rPr>
                        <a:t>防止扩散（硬约束、他律）—从行为/实</a:t>
                      </a:r>
                      <a:r>
                        <a:rPr lang="en-US" altLang="zh-CN" sz="2000" b="1" dirty="0">
                          <a:solidFill>
                            <a:srgbClr val="00B050"/>
                          </a:solidFill>
                          <a:latin typeface="+mn-ea"/>
                          <a:ea typeface="+mn-ea"/>
                          <a:sym typeface="+mn-ea"/>
                        </a:rPr>
                        <a:t> </a:t>
                      </a:r>
                      <a:endParaRPr lang="en-US" altLang="zh-CN" sz="2000" b="1" dirty="0">
                        <a:solidFill>
                          <a:srgbClr val="00B050"/>
                        </a:solidFill>
                        <a:latin typeface="+mn-ea"/>
                        <a:ea typeface="+mn-ea"/>
                        <a:sym typeface="+mn-ea"/>
                      </a:endParaRPr>
                    </a:p>
                    <a:p>
                      <a:pPr algn="l">
                        <a:buClrTx/>
                        <a:buSzTx/>
                        <a:buFontTx/>
                        <a:buNone/>
                      </a:pPr>
                      <a:r>
                        <a:rPr lang="en-US" altLang="zh-CN" sz="2000" b="1" dirty="0">
                          <a:solidFill>
                            <a:srgbClr val="00B050"/>
                          </a:solidFill>
                          <a:latin typeface="+mn-ea"/>
                          <a:ea typeface="+mn-ea"/>
                          <a:sym typeface="+mn-ea"/>
                        </a:rPr>
                        <a:t>        </a:t>
                      </a:r>
                      <a:r>
                        <a:rPr lang="zh-CN" sz="2000" b="1" dirty="0">
                          <a:solidFill>
                            <a:srgbClr val="00B050"/>
                          </a:solidFill>
                          <a:latin typeface="+mn-ea"/>
                          <a:ea typeface="+mn-ea"/>
                          <a:sym typeface="+mn-ea"/>
                        </a:rPr>
                        <a:t>践层面防范</a:t>
                      </a:r>
                      <a:r>
                        <a:rPr lang="en-US" altLang="zh-CN" sz="2000" b="1" dirty="0">
                          <a:solidFill>
                            <a:srgbClr val="00B050"/>
                          </a:solidFill>
                          <a:latin typeface="+mn-ea"/>
                          <a:ea typeface="+mn-ea"/>
                          <a:sym typeface="+mn-ea"/>
                        </a:rPr>
                        <a:t> </a:t>
                      </a:r>
                      <a:r>
                        <a:rPr lang="zh-CN" sz="2000" b="1" dirty="0">
                          <a:solidFill>
                            <a:srgbClr val="00B050"/>
                          </a:solidFill>
                          <a:latin typeface="+mn-ea"/>
                          <a:ea typeface="+mn-ea"/>
                          <a:sym typeface="+mn-ea"/>
                        </a:rPr>
                        <a:t>—</a:t>
                      </a:r>
                      <a:r>
                        <a:rPr lang="en-US" altLang="zh-CN" sz="2000" b="1" dirty="0">
                          <a:solidFill>
                            <a:srgbClr val="00B050"/>
                          </a:solidFill>
                          <a:latin typeface="+mn-ea"/>
                          <a:ea typeface="+mn-ea"/>
                          <a:sym typeface="+mn-ea"/>
                        </a:rPr>
                        <a:t> </a:t>
                      </a:r>
                      <a:r>
                        <a:rPr lang="zh-CN" sz="2000" b="1" dirty="0">
                          <a:solidFill>
                            <a:srgbClr val="00B050"/>
                          </a:solidFill>
                          <a:latin typeface="+mn-ea"/>
                          <a:ea typeface="+mn-ea"/>
                          <a:sym typeface="+mn-ea"/>
                        </a:rPr>
                        <a:t>制度、治理</a:t>
                      </a:r>
                      <a:endParaRPr lang="zh-CN" sz="2000" b="1" dirty="0">
                        <a:solidFill>
                          <a:srgbClr val="00B050"/>
                        </a:solidFill>
                        <a:latin typeface="+mn-ea"/>
                        <a:ea typeface="+mn-ea"/>
                      </a:endParaRPr>
                    </a:p>
                  </a:txBody>
                  <a:tcPr anchor="ctr"/>
                </a:tc>
                <a:tc>
                  <a:txBody>
                    <a:bodyPr/>
                    <a:lstStyle/>
                    <a:p>
                      <a:pPr algn="ctr">
                        <a:buNone/>
                      </a:pPr>
                      <a:r>
                        <a:rPr lang="zh-CN" sz="2400" b="1" dirty="0">
                          <a:solidFill>
                            <a:srgbClr val="FF0000"/>
                          </a:solidFill>
                          <a:latin typeface="+mn-ea"/>
                          <a:ea typeface="+mn-ea"/>
                          <a:sym typeface="+mn-ea"/>
                        </a:rPr>
                        <a:t>联系观、系统优化等</a:t>
                      </a:r>
                      <a:endParaRPr lang="zh-CN" sz="2400" b="1" dirty="0">
                        <a:solidFill>
                          <a:srgbClr val="FF0000"/>
                        </a:solidFill>
                        <a:latin typeface="+mn-ea"/>
                        <a:ea typeface="+mn-ea"/>
                        <a:sym typeface="+mn-ea"/>
                      </a:endParaRPr>
                    </a:p>
                    <a:p>
                      <a:pPr algn="ctr">
                        <a:buNone/>
                      </a:pPr>
                      <a:endParaRPr lang="zh-CN" altLang="en-US" sz="2400" b="1" dirty="0">
                        <a:solidFill>
                          <a:srgbClr val="FF0000"/>
                        </a:solidFill>
                        <a:latin typeface="+mn-ea"/>
                        <a:ea typeface="+mn-ea"/>
                        <a:sym typeface="+mn-ea"/>
                      </a:endParaRPr>
                    </a:p>
                  </a:txBody>
                  <a:tcPr anchor="ctr"/>
                </a:tc>
              </a:tr>
              <a:tr h="1339850">
                <a:tc vMerge="1" gridSpan="2">
                  <a:tcPr anchor="ctr"/>
                </a:tc>
                <a:tc vMerge="1" hMerge="1">
                  <a:tcPr anchor="ctr"/>
                </a:tc>
                <a:tc>
                  <a:txBody>
                    <a:bodyPr/>
                    <a:lstStyle/>
                    <a:p>
                      <a:pPr algn="ctr">
                        <a:buClrTx/>
                        <a:buSzTx/>
                        <a:buFontTx/>
                        <a:buNone/>
                      </a:pPr>
                      <a:r>
                        <a:rPr lang="en-US" altLang="zh-CN" sz="2000" b="1" dirty="0">
                          <a:solidFill>
                            <a:srgbClr val="00B050"/>
                          </a:solidFill>
                          <a:latin typeface="+mn-ea"/>
                          <a:ea typeface="+mn-ea"/>
                          <a:sym typeface="+mn-ea"/>
                        </a:rPr>
                        <a:t>       </a:t>
                      </a:r>
                      <a:r>
                        <a:rPr lang="zh-CN" sz="2000" b="1" dirty="0">
                          <a:solidFill>
                            <a:srgbClr val="00B050"/>
                          </a:solidFill>
                          <a:latin typeface="+mn-ea"/>
                          <a:ea typeface="+mn-ea"/>
                          <a:sym typeface="+mn-ea"/>
                        </a:rPr>
                        <a:t>防止扩散（软约束、自律）—思想道德素养提升—认识层面防止从众加剧破坏</a:t>
                      </a:r>
                      <a:endParaRPr lang="zh-CN" sz="2000" b="1" dirty="0">
                        <a:solidFill>
                          <a:srgbClr val="00B050"/>
                        </a:solidFill>
                        <a:latin typeface="+mn-ea"/>
                        <a:ea typeface="+mn-ea"/>
                      </a:endParaRPr>
                    </a:p>
                  </a:txBody>
                  <a:tcPr anchor="ctr"/>
                </a:tc>
                <a:tc>
                  <a:txBody>
                    <a:bodyPr/>
                    <a:lstStyle/>
                    <a:p>
                      <a:pPr algn="ctr">
                        <a:buClrTx/>
                        <a:buSzTx/>
                        <a:buFontTx/>
                        <a:buNone/>
                      </a:pPr>
                      <a:r>
                        <a:rPr lang="zh-CN" sz="2400" b="1" dirty="0">
                          <a:solidFill>
                            <a:srgbClr val="FF0000"/>
                          </a:solidFill>
                          <a:latin typeface="+mn-ea"/>
                          <a:ea typeface="+mn-ea"/>
                          <a:sym typeface="+mn-ea"/>
                        </a:rPr>
                        <a:t>文化功能、价值观的导向作用等</a:t>
                      </a:r>
                      <a:endParaRPr lang="zh-CN" sz="2400" b="1" dirty="0">
                        <a:solidFill>
                          <a:srgbClr val="FF0000"/>
                        </a:solidFill>
                        <a:latin typeface="+mn-ea"/>
                        <a:ea typeface="+mn-ea"/>
                      </a:endParaRPr>
                    </a:p>
                    <a:p>
                      <a:pPr algn="ctr">
                        <a:buClrTx/>
                        <a:buSzTx/>
                        <a:buFontTx/>
                        <a:buNone/>
                      </a:pPr>
                      <a:endParaRPr lang="zh-CN" altLang="en-US" sz="2400" b="1" dirty="0">
                        <a:solidFill>
                          <a:srgbClr val="FF0000"/>
                        </a:solidFill>
                        <a:latin typeface="+mn-ea"/>
                        <a:ea typeface="+mn-ea"/>
                      </a:endParaRPr>
                    </a:p>
                  </a:txBody>
                  <a:tcPr anchor="ctr"/>
                </a:tc>
              </a:tr>
              <a:tr h="1446530">
                <a:tc gridSpan="2">
                  <a:txBody>
                    <a:bodyPr/>
                    <a:lstStyle/>
                    <a:p>
                      <a:pPr algn="ctr"/>
                      <a:r>
                        <a:rPr lang="en-US" altLang="zh-CN" sz="2000" b="1" dirty="0">
                          <a:latin typeface="+mn-ea"/>
                          <a:ea typeface="+mn-ea"/>
                        </a:rPr>
                        <a:t>7-8</a:t>
                      </a:r>
                      <a:r>
                        <a:rPr lang="zh-CN" altLang="en-US" sz="2000" b="1" dirty="0">
                          <a:latin typeface="+mn-ea"/>
                          <a:ea typeface="+mn-ea"/>
                        </a:rPr>
                        <a:t>分</a:t>
                      </a:r>
                      <a:endParaRPr lang="zh-CN" altLang="en-US" sz="2000" b="1" dirty="0">
                        <a:latin typeface="+mn-ea"/>
                        <a:ea typeface="+mn-ea"/>
                      </a:endParaRPr>
                    </a:p>
                    <a:p>
                      <a:pPr algn="ctr"/>
                      <a:r>
                        <a:rPr lang="zh-CN" altLang="en-US" sz="2000" b="1" dirty="0">
                          <a:latin typeface="+mn-ea"/>
                          <a:ea typeface="+mn-ea"/>
                        </a:rPr>
                        <a:t>逻辑清晰</a:t>
                      </a:r>
                      <a:endParaRPr lang="zh-CN" altLang="en-US" sz="2000" b="1" dirty="0">
                        <a:latin typeface="+mn-ea"/>
                        <a:ea typeface="+mn-ea"/>
                      </a:endParaRPr>
                    </a:p>
                  </a:txBody>
                  <a:tcPr anchor="ctr"/>
                </a:tc>
                <a:tc hMerge="1">
                  <a:tcPr anchor="ctr"/>
                </a:tc>
                <a:tc gridSpan="2">
                  <a:txBody>
                    <a:bodyPr/>
                    <a:lstStyle/>
                    <a:p>
                      <a:pPr marL="0" algn="l" defTabSz="914400" rtl="0" eaLnBrk="1" latinLnBrk="0" hangingPunct="1"/>
                      <a:r>
                        <a:rPr lang="zh-CN" altLang="en-US" sz="2400" b="1" dirty="0">
                          <a:latin typeface="+mn-ea"/>
                          <a:ea typeface="+mn-ea"/>
                          <a:cs typeface="黑体" panose="02010609060101010101" pitchFamily="49" charset="-122"/>
                          <a:sym typeface="+mn-ea"/>
                        </a:rPr>
                        <a:t>能看出防范</a:t>
                      </a:r>
                      <a:r>
                        <a:rPr lang="en-US" altLang="zh-CN" sz="2400" b="1" dirty="0">
                          <a:latin typeface="+mn-ea"/>
                          <a:ea typeface="+mn-ea"/>
                          <a:cs typeface="黑体" panose="02010609060101010101" pitchFamily="49" charset="-122"/>
                          <a:sym typeface="+mn-ea"/>
                        </a:rPr>
                        <a:t>-</a:t>
                      </a:r>
                      <a:r>
                        <a:rPr lang="zh-CN" altLang="en-US" sz="2400" b="1" dirty="0">
                          <a:latin typeface="+mn-ea"/>
                          <a:ea typeface="+mn-ea"/>
                          <a:cs typeface="黑体" panose="02010609060101010101" pitchFamily="49" charset="-122"/>
                          <a:sym typeface="+mn-ea"/>
                        </a:rPr>
                        <a:t>治理，软约束和硬治理，如果能看出各段之间有衔接最优。</a:t>
                      </a:r>
                      <a:endParaRPr lang="zh-CN" altLang="en-US" sz="2400" b="1" dirty="0">
                        <a:latin typeface="+mn-ea"/>
                        <a:ea typeface="+mn-ea"/>
                        <a:cs typeface="黑体" panose="02010609060101010101" pitchFamily="49" charset="-122"/>
                        <a:sym typeface="+mn-ea"/>
                      </a:endParaRPr>
                    </a:p>
                    <a:p>
                      <a:pPr marL="0" algn="l" defTabSz="914400" rtl="0" eaLnBrk="1" latinLnBrk="0" hangingPunct="1"/>
                      <a:r>
                        <a:rPr lang="zh-CN" altLang="en-US" sz="2400" b="1" dirty="0">
                          <a:highlight>
                            <a:srgbClr val="FFFF00"/>
                          </a:highlight>
                          <a:latin typeface="+mn-ea"/>
                          <a:ea typeface="+mn-ea"/>
                          <a:cs typeface="黑体" panose="02010609060101010101" pitchFamily="49" charset="-122"/>
                          <a:sym typeface="+mn-ea"/>
                        </a:rPr>
                        <a:t>补充：强调方法论；不抠知识，重视学生的思维品质。</a:t>
                      </a:r>
                      <a:endParaRPr lang="zh-CN" altLang="en-US" sz="2400" b="1" kern="1200" dirty="0">
                        <a:solidFill>
                          <a:schemeClr val="tx1"/>
                        </a:solidFill>
                        <a:highlight>
                          <a:srgbClr val="FFFF00"/>
                        </a:highlight>
                        <a:latin typeface="+mn-ea"/>
                        <a:ea typeface="+mn-ea"/>
                        <a:cs typeface="黑体" panose="02010609060101010101" pitchFamily="49" charset="-122"/>
                      </a:endParaRPr>
                    </a:p>
                    <a:p>
                      <a:pPr marL="0" algn="l" defTabSz="914400" rtl="0" eaLnBrk="1" latinLnBrk="0" hangingPunct="1"/>
                      <a:endParaRPr lang="zh-CN" altLang="en-US" sz="2400" b="1" kern="1200" dirty="0">
                        <a:solidFill>
                          <a:schemeClr val="tx1"/>
                        </a:solidFill>
                        <a:highlight>
                          <a:srgbClr val="FFFF00"/>
                        </a:highlight>
                        <a:latin typeface="+mn-ea"/>
                        <a:ea typeface="+mn-ea"/>
                        <a:cs typeface="黑体" panose="02010609060101010101" pitchFamily="49" charset="-122"/>
                      </a:endParaRPr>
                    </a:p>
                  </a:txBody>
                  <a:tcPr anchor="ctr"/>
                </a:tc>
                <a:tc hMerge="1">
                  <a:tcPr anchor="ctr"/>
                </a:tc>
              </a:tr>
            </a:tbl>
          </a:graphicData>
        </a:graphic>
      </p:graphicFrame>
      <p:sp>
        <p:nvSpPr>
          <p:cNvPr id="2" name="文本框 1"/>
          <p:cNvSpPr txBox="1"/>
          <p:nvPr/>
        </p:nvSpPr>
        <p:spPr>
          <a:xfrm>
            <a:off x="183515" y="0"/>
            <a:ext cx="6096000" cy="521970"/>
          </a:xfrm>
          <a:prstGeom prst="rect">
            <a:avLst/>
          </a:prstGeom>
          <a:noFill/>
        </p:spPr>
        <p:txBody>
          <a:bodyPr wrap="square" rtlCol="0" anchor="t">
            <a:spAutoFit/>
          </a:bodyPr>
          <a:p>
            <a:pPr marL="0" marR="0" lvl="0" indent="0" algn="l" defTabSz="914400" rtl="0" eaLnBrk="1" fontAlgn="auto" latinLnBrk="0" hangingPunct="1">
              <a:lnSpc>
                <a:spcPct val="100000"/>
              </a:lnSpc>
              <a:spcBef>
                <a:spcPts val="0"/>
              </a:spcBef>
              <a:spcAft>
                <a:spcPts val="0"/>
              </a:spcAft>
              <a:buClrTx/>
              <a:buSzTx/>
              <a:buFontTx/>
              <a:buNone/>
              <a:defRPr/>
            </a:pPr>
            <a:r>
              <a:rPr lang="en-US" sz="2800" noProof="0" dirty="0">
                <a:ln>
                  <a:noFill/>
                </a:ln>
                <a:solidFill>
                  <a:prstClr val="black"/>
                </a:solidFill>
                <a:effectLst/>
                <a:uLnTx/>
                <a:uFillTx/>
                <a:latin typeface="Calibri" panose="020F0502020204030204"/>
                <a:ea typeface="黑体" panose="02010609060101010101" pitchFamily="49" charset="-122"/>
                <a:sym typeface="+mn-ea"/>
              </a:rPr>
              <a:t>16</a:t>
            </a:r>
            <a:r>
              <a:rPr lang="zh-CN" altLang="en-US" sz="2800" noProof="0" dirty="0">
                <a:ln>
                  <a:noFill/>
                </a:ln>
                <a:solidFill>
                  <a:prstClr val="black"/>
                </a:solidFill>
                <a:effectLst/>
                <a:uLnTx/>
                <a:uFillTx/>
                <a:latin typeface="Calibri" panose="020F0502020204030204"/>
                <a:ea typeface="黑体" panose="02010609060101010101" pitchFamily="49" charset="-122"/>
                <a:sym typeface="+mn-ea"/>
              </a:rPr>
              <a:t>题</a:t>
            </a:r>
            <a:endParaRPr lang="zh-CN" altLang="en-US" sz="2800" noProof="0" dirty="0">
              <a:ln>
                <a:noFill/>
              </a:ln>
              <a:solidFill>
                <a:prstClr val="black"/>
              </a:solidFill>
              <a:effectLst/>
              <a:uLnTx/>
              <a:uFillTx/>
              <a:latin typeface="Calibri" panose="020F0502020204030204"/>
              <a:ea typeface="黑体" panose="02010609060101010101" pitchFamily="49" charset="-122"/>
              <a:sym typeface="+mn-e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0" y="162967"/>
            <a:ext cx="12192635" cy="6892925"/>
          </a:xfrm>
          <a:prstGeom prst="rect">
            <a:avLst/>
          </a:prstGeom>
          <a:noFill/>
        </p:spPr>
        <p:txBody>
          <a:bodyPr wrap="square" rtlCol="0" anchor="t">
            <a:spAutoFit/>
          </a:bodyPr>
          <a:lstStyle/>
          <a:p>
            <a:pPr marL="0" marR="0" lvl="0" indent="0" algn="l" defTabSz="914400" rtl="0" eaLnBrk="1" fontAlgn="auto" latinLnBrk="0" hangingPunct="1">
              <a:lnSpc>
                <a:spcPts val="3480"/>
              </a:lnSpc>
              <a:spcBef>
                <a:spcPts val="0"/>
              </a:spcBef>
              <a:spcAft>
                <a:spcPts val="0"/>
              </a:spcAft>
              <a:buClrTx/>
              <a:buSzTx/>
              <a:buFontTx/>
              <a:buNone/>
              <a:defRPr/>
            </a:pPr>
            <a:r>
              <a:rPr lang="en-US" altLang="zh-CN" sz="2400" b="1" dirty="0">
                <a:solidFill>
                  <a:srgbClr val="FF0000"/>
                </a:solidFill>
                <a:latin typeface="Arial" panose="020B0604020202020204"/>
                <a:ea typeface="微软雅黑" panose="020B0503020204020204" pitchFamily="34" charset="-122"/>
              </a:rPr>
              <a:t>17</a:t>
            </a:r>
            <a:r>
              <a:rPr lang="zh-CN" altLang="en-US" sz="2400" b="1" dirty="0">
                <a:solidFill>
                  <a:srgbClr val="FF0000"/>
                </a:solidFill>
                <a:latin typeface="Arial" panose="020B0604020202020204"/>
                <a:ea typeface="微软雅黑" panose="020B0503020204020204" pitchFamily="34" charset="-122"/>
              </a:rPr>
              <a:t>、阅卷细则：</a:t>
            </a:r>
            <a:endParaRPr lang="en-US" altLang="zh-CN" sz="2400" b="1" dirty="0">
              <a:solidFill>
                <a:srgbClr val="FF0000"/>
              </a:solidFill>
              <a:latin typeface="Arial" panose="020B0604020202020204"/>
              <a:ea typeface="微软雅黑" panose="020B0503020204020204" pitchFamily="34" charset="-122"/>
            </a:endParaRPr>
          </a:p>
          <a:p>
            <a:pPr marL="0" marR="0" lvl="0" indent="0" algn="l" defTabSz="914400" rtl="0" eaLnBrk="1" fontAlgn="auto" latinLnBrk="0" hangingPunct="1">
              <a:lnSpc>
                <a:spcPts val="3480"/>
              </a:lnSpc>
              <a:spcBef>
                <a:spcPts val="0"/>
              </a:spcBef>
              <a:spcAft>
                <a:spcPts val="0"/>
              </a:spcAft>
              <a:buClrTx/>
              <a:buSzTx/>
              <a:buFontTx/>
              <a:buNone/>
              <a:defRPr/>
            </a:pPr>
            <a:endParaRPr lang="en-US" altLang="zh-CN" sz="2400" dirty="0">
              <a:solidFill>
                <a:prstClr val="black"/>
              </a:solidFill>
              <a:latin typeface="Arial" panose="020B0604020202020204"/>
              <a:ea typeface="微软雅黑" panose="020B0503020204020204" pitchFamily="34" charset="-122"/>
            </a:endParaRPr>
          </a:p>
          <a:p>
            <a:pPr marL="0" marR="0" lvl="0" indent="0" algn="l" defTabSz="914400" rtl="0" eaLnBrk="1" fontAlgn="auto" latinLnBrk="0" hangingPunct="1">
              <a:spcBef>
                <a:spcPts val="0"/>
              </a:spcBef>
              <a:spcAft>
                <a:spcPts val="0"/>
              </a:spcAft>
              <a:buClrTx/>
              <a:buSzTx/>
              <a:buFontTx/>
              <a:buNone/>
              <a:defRPr/>
            </a:pPr>
            <a:r>
              <a:rPr kumimoji="0" lang="zh-CN" altLang="en-US" sz="2400" b="0" i="0" u="none" strike="noStrike" kern="1200" cap="none" spc="0" normalizeH="0" baseline="0" noProof="0" dirty="0">
                <a:ln>
                  <a:noFill/>
                </a:ln>
                <a:solidFill>
                  <a:prstClr val="black"/>
                </a:solidFill>
                <a:effectLst/>
                <a:uLnTx/>
                <a:uFillTx/>
                <a:latin typeface="Arial" panose="020B0604020202020204"/>
                <a:ea typeface="微软雅黑" panose="020B0503020204020204" pitchFamily="34" charset="-122"/>
                <a:cs typeface="+mn-cs"/>
              </a:rPr>
              <a:t>（总）</a:t>
            </a:r>
            <a:r>
              <a:rPr kumimoji="0" lang="zh-CN" altLang="en-US" sz="2400" b="1"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黑体" panose="02010609060101010101" pitchFamily="49" charset="-122"/>
                <a:sym typeface="+mn-ea"/>
              </a:rPr>
              <a:t>首都都市圈建设从编制规划到实施，彰显了我国</a:t>
            </a:r>
            <a:r>
              <a:rPr kumimoji="0" lang="zh-CN" altLang="en-US" sz="2400" b="1" i="0" u="none" strike="noStrike" kern="1200" cap="none" spc="0" normalizeH="0" baseline="0" noProof="0" dirty="0">
                <a:ln>
                  <a:noFill/>
                </a:ln>
                <a:solidFill>
                  <a:srgbClr val="FF0000"/>
                </a:solidFill>
                <a:effectLst/>
                <a:highlight>
                  <a:srgbClr val="FFFF00"/>
                </a:highlight>
                <a:uLnTx/>
                <a:uFillTx/>
                <a:latin typeface="黑体" panose="02010609060101010101" pitchFamily="49" charset="-122"/>
                <a:ea typeface="黑体" panose="02010609060101010101" pitchFamily="49" charset="-122"/>
                <a:cs typeface="黑体" panose="02010609060101010101" pitchFamily="49" charset="-122"/>
                <a:sym typeface="+mn-ea"/>
              </a:rPr>
              <a:t>中国特色社会主义制度</a:t>
            </a:r>
            <a:r>
              <a:rPr kumimoji="0" lang="zh-CN" altLang="en-US" sz="2400" b="1"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黑体" panose="02010609060101010101" pitchFamily="49" charset="-122"/>
                <a:sym typeface="+mn-ea"/>
              </a:rPr>
              <a:t>的显著优势。</a:t>
            </a:r>
            <a:endParaRPr kumimoji="0" lang="zh-CN" altLang="en-US" sz="2400" b="1"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黑体" panose="02010609060101010101" pitchFamily="49" charset="-122"/>
            </a:endParaRPr>
          </a:p>
          <a:p>
            <a:pPr marL="0" marR="0" lvl="0" indent="0" algn="l" defTabSz="914400" rtl="0" eaLnBrk="1" fontAlgn="auto" latinLnBrk="0" hangingPunct="1">
              <a:spcBef>
                <a:spcPts val="0"/>
              </a:spcBef>
              <a:spcAft>
                <a:spcPts val="0"/>
              </a:spcAft>
              <a:buClrTx/>
              <a:buSzTx/>
              <a:buFontTx/>
              <a:buNone/>
              <a:defRPr/>
            </a:pPr>
            <a:r>
              <a:rPr kumimoji="0" lang="zh-CN" altLang="en-US" sz="2400" b="1" i="0" u="none" strike="noStrike" kern="1200" cap="none" spc="0" normalizeH="0" baseline="0" noProof="0" dirty="0">
                <a:ln>
                  <a:noFill/>
                </a:ln>
                <a:solidFill>
                  <a:srgbClr val="FF0000"/>
                </a:solidFill>
                <a:effectLst/>
                <a:highlight>
                  <a:srgbClr val="FFFF00"/>
                </a:highlight>
                <a:uLnTx/>
                <a:uFillTx/>
                <a:latin typeface="黑体" panose="02010609060101010101" pitchFamily="49" charset="-122"/>
                <a:ea typeface="黑体" panose="02010609060101010101" pitchFamily="49" charset="-122"/>
                <a:cs typeface="黑体" panose="02010609060101010101" pitchFamily="49" charset="-122"/>
              </a:rPr>
              <a:t>党的领导（</a:t>
            </a:r>
            <a:r>
              <a:rPr kumimoji="0" lang="zh-CN" altLang="en-US" sz="2400" b="1" i="0" u="none" strike="noStrike" kern="1200" cap="none" spc="0" normalizeH="0" baseline="0" noProof="0" dirty="0">
                <a:ln>
                  <a:noFill/>
                </a:ln>
                <a:solidFill>
                  <a:srgbClr val="FF0000"/>
                </a:solidFill>
                <a:effectLst/>
                <a:uLnTx/>
                <a:uFillTx/>
                <a:latin typeface="华文楷体" panose="02010600040101010101" charset="-122"/>
                <a:ea typeface="华文楷体" panose="02010600040101010101" charset="-122"/>
                <a:cs typeface="+mn-cs"/>
                <a:sym typeface="+mn-ea"/>
              </a:rPr>
              <a:t>总揽全局、协调各方</a:t>
            </a:r>
            <a:r>
              <a:rPr kumimoji="0" lang="zh-CN" altLang="en-US" sz="2400" b="1" i="0" u="none" strike="noStrike" kern="1200" cap="none" spc="0" normalizeH="0" baseline="0" noProof="0" dirty="0">
                <a:ln>
                  <a:noFill/>
                </a:ln>
                <a:solidFill>
                  <a:srgbClr val="FF0000"/>
                </a:solidFill>
                <a:effectLst/>
                <a:highlight>
                  <a:srgbClr val="FFFF00"/>
                </a:highlight>
                <a:uLnTx/>
                <a:uFillTx/>
                <a:latin typeface="黑体" panose="02010609060101010101" pitchFamily="49" charset="-122"/>
                <a:ea typeface="黑体" panose="02010609060101010101" pitchFamily="49" charset="-122"/>
                <a:cs typeface="黑体" panose="02010609060101010101" pitchFamily="49" charset="-122"/>
              </a:rPr>
              <a:t>）</a:t>
            </a:r>
            <a:r>
              <a:rPr kumimoji="0" lang="en-US" altLang="zh-CN" sz="2400" b="1" i="0" u="none" strike="noStrike" kern="1200" cap="none" spc="0" normalizeH="0" baseline="0" noProof="0" dirty="0">
                <a:ln>
                  <a:noFill/>
                </a:ln>
                <a:solidFill>
                  <a:srgbClr val="FF0000"/>
                </a:solidFill>
                <a:effectLst/>
                <a:uLnTx/>
                <a:uFillTx/>
                <a:latin typeface="楷体" panose="02010609060101010101" charset="-122"/>
                <a:ea typeface="楷体" panose="02010609060101010101" charset="-122"/>
                <a:cs typeface="楷体" panose="02010609060101010101" charset="-122"/>
                <a:sym typeface="+mn-ea"/>
              </a:rPr>
              <a:t>——</a:t>
            </a:r>
            <a:r>
              <a:rPr kumimoji="0" lang="zh-CN" altLang="en-US" sz="2400" b="1" i="0" u="none" strike="noStrike" kern="1200" cap="none" spc="0" normalizeH="0" baseline="0" noProof="0" dirty="0">
                <a:ln>
                  <a:noFill/>
                </a:ln>
                <a:solidFill>
                  <a:srgbClr val="FF0000"/>
                </a:solidFill>
                <a:effectLst/>
                <a:uLnTx/>
                <a:uFillTx/>
                <a:latin typeface="楷体" panose="02010609060101010101" charset="-122"/>
                <a:ea typeface="楷体" panose="02010609060101010101" charset="-122"/>
                <a:cs typeface="楷体" panose="02010609060101010101" charset="-122"/>
                <a:sym typeface="+mn-ea"/>
              </a:rPr>
              <a:t> </a:t>
            </a:r>
            <a:r>
              <a:rPr kumimoji="0" lang="en-US" sz="2400" b="1" i="0" u="none" strike="noStrike" kern="1200" cap="none" spc="0" normalizeH="0" baseline="0" noProof="0" dirty="0">
                <a:ln>
                  <a:noFill/>
                </a:ln>
                <a:solidFill>
                  <a:srgbClr val="FF0000"/>
                </a:solidFill>
                <a:effectLst/>
                <a:uLnTx/>
                <a:uFillTx/>
                <a:latin typeface="楷体" panose="02010609060101010101" charset="-122"/>
                <a:ea typeface="楷体" panose="02010609060101010101" charset="-122"/>
                <a:cs typeface="楷体" panose="02010609060101010101" charset="-122"/>
                <a:sym typeface="+mn-ea"/>
              </a:rPr>
              <a:t>2</a:t>
            </a:r>
            <a:r>
              <a:rPr kumimoji="0" lang="zh-CN" altLang="en-US" sz="2400" b="1" i="0" u="none" strike="noStrike" kern="1200" cap="none" spc="0" normalizeH="0" baseline="0" noProof="0" dirty="0">
                <a:ln>
                  <a:noFill/>
                </a:ln>
                <a:solidFill>
                  <a:srgbClr val="FF0000"/>
                </a:solidFill>
                <a:effectLst/>
                <a:uLnTx/>
                <a:uFillTx/>
                <a:latin typeface="Arial" panose="020B0604020202020204"/>
                <a:ea typeface="微软雅黑" panose="020B0503020204020204" pitchFamily="34" charset="-122"/>
                <a:cs typeface="+mn-cs"/>
                <a:sym typeface="+mn-ea"/>
              </a:rPr>
              <a:t>分</a:t>
            </a:r>
            <a:r>
              <a:rPr kumimoji="0" lang="en-US" altLang="zh-CN" sz="2400" b="0" i="0" u="none" strike="noStrike" kern="1200" cap="none" spc="0" normalizeH="0" baseline="0" noProof="0" dirty="0">
                <a:ln>
                  <a:noFill/>
                </a:ln>
                <a:solidFill>
                  <a:prstClr val="black"/>
                </a:solidFill>
                <a:effectLst/>
                <a:uLnTx/>
                <a:uFillTx/>
                <a:latin typeface="Arial" panose="020B0604020202020204"/>
                <a:ea typeface="微软雅黑" panose="020B0503020204020204" pitchFamily="34" charset="-122"/>
                <a:cs typeface="+mn-cs"/>
              </a:rPr>
              <a:t>---</a:t>
            </a:r>
            <a:r>
              <a:rPr kumimoji="0" lang="zh-CN" altLang="en-US" sz="2400" b="1" i="0" u="none" strike="noStrike" kern="1200" cap="none" spc="0" normalizeH="0" baseline="0" noProof="0" dirty="0">
                <a:ln>
                  <a:noFill/>
                </a:ln>
                <a:solidFill>
                  <a:srgbClr val="2747BE"/>
                </a:solidFill>
                <a:effectLst/>
                <a:uLnTx/>
                <a:uFillTx/>
                <a:latin typeface="楷体" panose="02010609060101010101" charset="-122"/>
                <a:ea typeface="楷体" panose="02010609060101010101" charset="-122"/>
                <a:cs typeface="楷体" panose="02010609060101010101" charset="-122"/>
              </a:rPr>
              <a:t>根本政治保证/中国共产党领导是最大优势、最本质特征</a:t>
            </a:r>
            <a:endParaRPr kumimoji="0" lang="zh-CN" altLang="en-US" sz="2400" b="1" i="0" u="none" strike="noStrike" kern="1200" cap="none" spc="0" normalizeH="0" baseline="0" noProof="0" dirty="0">
              <a:ln>
                <a:noFill/>
              </a:ln>
              <a:solidFill>
                <a:srgbClr val="2747BE"/>
              </a:solidFill>
              <a:effectLst/>
              <a:uLnTx/>
              <a:uFillTx/>
              <a:latin typeface="楷体" panose="02010609060101010101" charset="-122"/>
              <a:ea typeface="楷体" panose="02010609060101010101" charset="-122"/>
              <a:cs typeface="楷体" panose="02010609060101010101" charset="-122"/>
            </a:endParaRPr>
          </a:p>
          <a:p>
            <a:pPr marL="0" marR="0" lvl="0" indent="0" algn="l" defTabSz="914400" rtl="0" eaLnBrk="1" fontAlgn="auto" latinLnBrk="0" hangingPunct="1">
              <a:spcBef>
                <a:spcPts val="0"/>
              </a:spcBef>
              <a:spcAft>
                <a:spcPts val="0"/>
              </a:spcAft>
              <a:buClrTx/>
              <a:buSzTx/>
              <a:buFontTx/>
              <a:buNone/>
              <a:defRPr/>
            </a:pPr>
            <a:r>
              <a:rPr kumimoji="0" lang="zh-CN" altLang="en-US" sz="2400" b="1" i="0" u="none" strike="noStrike" kern="1200" cap="none" spc="0" normalizeH="0" baseline="0" noProof="0" dirty="0">
                <a:ln>
                  <a:noFill/>
                </a:ln>
                <a:solidFill>
                  <a:srgbClr val="FF0000"/>
                </a:solidFill>
                <a:effectLst/>
                <a:highlight>
                  <a:srgbClr val="FFFF00"/>
                </a:highlight>
                <a:uLnTx/>
                <a:uFillTx/>
                <a:latin typeface="黑体" panose="02010609060101010101" pitchFamily="49" charset="-122"/>
                <a:ea typeface="黑体" panose="02010609060101010101" pitchFamily="49" charset="-122"/>
                <a:cs typeface="黑体" panose="02010609060101010101" pitchFamily="49" charset="-122"/>
              </a:rPr>
              <a:t>民主集中制</a:t>
            </a:r>
            <a:r>
              <a:rPr kumimoji="0" lang="en-US" altLang="zh-CN" sz="2400" b="0" i="0" u="none" strike="noStrike" kern="1200" cap="none" spc="0" normalizeH="0" baseline="0" noProof="0" dirty="0">
                <a:ln>
                  <a:noFill/>
                </a:ln>
                <a:solidFill>
                  <a:prstClr val="black"/>
                </a:solidFill>
                <a:effectLst/>
                <a:uLnTx/>
                <a:uFillTx/>
                <a:latin typeface="Arial" panose="020B0604020202020204"/>
                <a:ea typeface="微软雅黑" panose="020B0503020204020204" pitchFamily="34" charset="-122"/>
                <a:cs typeface="+mn-cs"/>
              </a:rPr>
              <a:t> </a:t>
            </a:r>
            <a:r>
              <a:rPr kumimoji="0" lang="en-US" altLang="zh-CN" sz="2400" b="1" i="0" u="none" strike="noStrike" kern="1200" cap="none" spc="0" normalizeH="0" baseline="0" noProof="0" dirty="0">
                <a:ln>
                  <a:noFill/>
                </a:ln>
                <a:solidFill>
                  <a:srgbClr val="FF0000"/>
                </a:solidFill>
                <a:effectLst/>
                <a:uLnTx/>
                <a:uFillTx/>
                <a:latin typeface="楷体" panose="02010609060101010101" charset="-122"/>
                <a:ea typeface="楷体" panose="02010609060101010101" charset="-122"/>
                <a:cs typeface="楷体" panose="02010609060101010101" charset="-122"/>
                <a:sym typeface="+mn-ea"/>
              </a:rPr>
              <a:t>——</a:t>
            </a:r>
            <a:r>
              <a:rPr kumimoji="0" lang="zh-CN" altLang="en-US" sz="2400" b="1" i="0" u="none" strike="noStrike" kern="1200" cap="none" spc="0" normalizeH="0" baseline="0" noProof="0" dirty="0">
                <a:ln>
                  <a:noFill/>
                </a:ln>
                <a:solidFill>
                  <a:srgbClr val="FF0000"/>
                </a:solidFill>
                <a:effectLst/>
                <a:uLnTx/>
                <a:uFillTx/>
                <a:latin typeface="楷体" panose="02010609060101010101" charset="-122"/>
                <a:ea typeface="楷体" panose="02010609060101010101" charset="-122"/>
                <a:cs typeface="楷体" panose="02010609060101010101" charset="-122"/>
                <a:sym typeface="+mn-ea"/>
              </a:rPr>
              <a:t> </a:t>
            </a:r>
            <a:r>
              <a:rPr kumimoji="0" lang="en-US" sz="2400" b="1" i="0" u="none" strike="noStrike" kern="1200" cap="none" spc="0" normalizeH="0" baseline="0" noProof="0" dirty="0">
                <a:ln>
                  <a:noFill/>
                </a:ln>
                <a:solidFill>
                  <a:srgbClr val="FF0000"/>
                </a:solidFill>
                <a:effectLst/>
                <a:uLnTx/>
                <a:uFillTx/>
                <a:latin typeface="楷体" panose="02010609060101010101" charset="-122"/>
                <a:ea typeface="楷体" panose="02010609060101010101" charset="-122"/>
                <a:cs typeface="楷体" panose="02010609060101010101" charset="-122"/>
                <a:sym typeface="+mn-ea"/>
              </a:rPr>
              <a:t>2</a:t>
            </a:r>
            <a:r>
              <a:rPr kumimoji="0" lang="zh-CN" altLang="en-US" sz="2400" b="1" i="0" u="none" strike="noStrike" kern="1200" cap="none" spc="0" normalizeH="0" baseline="0" noProof="0" dirty="0">
                <a:ln>
                  <a:noFill/>
                </a:ln>
                <a:solidFill>
                  <a:srgbClr val="FF0000"/>
                </a:solidFill>
                <a:effectLst/>
                <a:uLnTx/>
                <a:uFillTx/>
                <a:latin typeface="Arial" panose="020B0604020202020204"/>
                <a:ea typeface="微软雅黑" panose="020B0503020204020204" pitchFamily="34" charset="-122"/>
                <a:cs typeface="+mn-cs"/>
                <a:sym typeface="+mn-ea"/>
              </a:rPr>
              <a:t>分</a:t>
            </a:r>
            <a:r>
              <a:rPr kumimoji="0" lang="zh-CN" altLang="en-US" sz="2400" b="0" i="0" u="none" strike="noStrike" kern="1200" cap="none" spc="0" normalizeH="0" baseline="0" noProof="0" dirty="0">
                <a:ln>
                  <a:noFill/>
                </a:ln>
                <a:solidFill>
                  <a:prstClr val="black"/>
                </a:solidFill>
                <a:effectLst/>
                <a:uLnTx/>
                <a:uFillTx/>
                <a:latin typeface="Arial" panose="020B0604020202020204"/>
                <a:ea typeface="微软雅黑" panose="020B0503020204020204" pitchFamily="34" charset="-122"/>
                <a:cs typeface="+mn-cs"/>
                <a:sym typeface="+mn-ea"/>
              </a:rPr>
              <a:t>（</a:t>
            </a:r>
            <a:r>
              <a:rPr kumimoji="0" lang="zh-CN" altLang="en-US" sz="2400" b="1" i="0" u="none" strike="noStrike" kern="1200" cap="none" spc="0" normalizeH="0" baseline="0" noProof="0" dirty="0">
                <a:ln>
                  <a:noFill/>
                </a:ln>
                <a:solidFill>
                  <a:srgbClr val="000000"/>
                </a:solidFill>
                <a:effectLst/>
                <a:uLnTx/>
                <a:uFillTx/>
                <a:latin typeface="华文楷体" panose="02010600040101010101" charset="-122"/>
                <a:ea typeface="华文楷体" panose="02010600040101010101" charset="-122"/>
                <a:cs typeface="黑体" panose="02010609060101010101" pitchFamily="49" charset="-122"/>
                <a:sym typeface="+mn-ea"/>
              </a:rPr>
              <a:t>党中央、国务院从全国发展大局出发批复规划，中央和地方按民主集中制原则划分职权，既保证了中央的集中统一领导，又充分发挥了地方政府的积极性和创造性）</a:t>
            </a:r>
            <a:endParaRPr kumimoji="0" lang="zh-CN" altLang="en-US" sz="2400" b="1" i="0" u="none" strike="noStrike" kern="1200" cap="none" spc="0" normalizeH="0" baseline="0" noProof="0" dirty="0">
              <a:ln>
                <a:noFill/>
              </a:ln>
              <a:solidFill>
                <a:srgbClr val="FF0000"/>
              </a:solidFill>
              <a:effectLst/>
              <a:uLnTx/>
              <a:uFillTx/>
              <a:latin typeface="楷体" panose="02010609060101010101" charset="-122"/>
              <a:ea typeface="楷体" panose="02010609060101010101" charset="-122"/>
              <a:cs typeface="楷体" panose="02010609060101010101" charset="-122"/>
            </a:endParaRPr>
          </a:p>
          <a:p>
            <a:pPr marL="0" marR="0" lvl="0" indent="0" algn="l" defTabSz="914400" rtl="0" eaLnBrk="1" fontAlgn="auto" latinLnBrk="0" hangingPunct="1">
              <a:spcBef>
                <a:spcPts val="0"/>
              </a:spcBef>
              <a:spcAft>
                <a:spcPts val="0"/>
              </a:spcAft>
              <a:buClrTx/>
              <a:buSzTx/>
              <a:buFontTx/>
              <a:buNone/>
              <a:defRPr/>
            </a:pPr>
            <a:r>
              <a:rPr kumimoji="0" lang="zh-CN" altLang="en-US" sz="2400" b="1" i="0" u="none" strike="noStrike" kern="1200" cap="none" spc="0" normalizeH="0" baseline="0" noProof="0" dirty="0">
                <a:ln>
                  <a:noFill/>
                </a:ln>
                <a:solidFill>
                  <a:srgbClr val="FF0000"/>
                </a:solidFill>
                <a:effectLst/>
                <a:highlight>
                  <a:srgbClr val="FFFF00"/>
                </a:highlight>
                <a:uLnTx/>
                <a:uFillTx/>
                <a:latin typeface="黑体" panose="02010609060101010101" pitchFamily="49" charset="-122"/>
                <a:ea typeface="黑体" panose="02010609060101010101" pitchFamily="49" charset="-122"/>
                <a:cs typeface="黑体" panose="02010609060101010101" pitchFamily="49" charset="-122"/>
              </a:rPr>
              <a:t>制度优势</a:t>
            </a:r>
            <a:r>
              <a:rPr kumimoji="0" lang="en-US" altLang="zh-CN" sz="2400" b="0" i="0" u="none" strike="noStrike" kern="1200" cap="none" spc="0" normalizeH="0" baseline="0" noProof="0" dirty="0">
                <a:ln>
                  <a:noFill/>
                </a:ln>
                <a:solidFill>
                  <a:prstClr val="black"/>
                </a:solidFill>
                <a:effectLst/>
                <a:uLnTx/>
                <a:uFillTx/>
                <a:latin typeface="Arial" panose="020B0604020202020204"/>
                <a:ea typeface="微软雅黑" panose="020B0503020204020204" pitchFamily="34" charset="-122"/>
                <a:cs typeface="+mn-cs"/>
              </a:rPr>
              <a:t>--</a:t>
            </a:r>
            <a:r>
              <a:rPr kumimoji="0" lang="zh-CN" altLang="en-US" sz="2400" b="0" i="0" u="none" strike="noStrike" kern="1200" cap="none" spc="0" normalizeH="0" baseline="0" noProof="0" dirty="0">
                <a:ln>
                  <a:noFill/>
                </a:ln>
                <a:solidFill>
                  <a:prstClr val="black"/>
                </a:solidFill>
                <a:effectLst/>
                <a:uLnTx/>
                <a:uFillTx/>
                <a:latin typeface="Arial" panose="020B0604020202020204"/>
                <a:ea typeface="微软雅黑" panose="020B0503020204020204" pitchFamily="34" charset="-122"/>
                <a:cs typeface="+mn-cs"/>
              </a:rPr>
              <a:t>集中力量办大事</a:t>
            </a:r>
            <a:r>
              <a:rPr kumimoji="0" lang="en-US" altLang="zh-CN" sz="2400" b="1" i="0" u="none" strike="noStrike" kern="1200" cap="none" spc="0" normalizeH="0" baseline="0" noProof="0" dirty="0">
                <a:ln>
                  <a:noFill/>
                </a:ln>
                <a:solidFill>
                  <a:srgbClr val="FF0000"/>
                </a:solidFill>
                <a:effectLst/>
                <a:uLnTx/>
                <a:uFillTx/>
                <a:latin typeface="楷体" panose="02010609060101010101" charset="-122"/>
                <a:ea typeface="楷体" panose="02010609060101010101" charset="-122"/>
                <a:cs typeface="楷体" panose="02010609060101010101" charset="-122"/>
                <a:sym typeface="+mn-ea"/>
              </a:rPr>
              <a:t>——</a:t>
            </a:r>
            <a:r>
              <a:rPr kumimoji="0" lang="zh-CN" altLang="en-US" sz="2400" b="1" i="0" u="none" strike="noStrike" kern="1200" cap="none" spc="0" normalizeH="0" baseline="0" noProof="0" dirty="0">
                <a:ln>
                  <a:noFill/>
                </a:ln>
                <a:solidFill>
                  <a:srgbClr val="FF0000"/>
                </a:solidFill>
                <a:effectLst/>
                <a:uLnTx/>
                <a:uFillTx/>
                <a:latin typeface="楷体" panose="02010609060101010101" charset="-122"/>
                <a:ea typeface="楷体" panose="02010609060101010101" charset="-122"/>
                <a:cs typeface="楷体" panose="02010609060101010101" charset="-122"/>
                <a:sym typeface="+mn-ea"/>
              </a:rPr>
              <a:t> </a:t>
            </a:r>
            <a:r>
              <a:rPr kumimoji="0" lang="en-US" sz="2400" b="1" i="0" u="none" strike="noStrike" kern="1200" cap="none" spc="0" normalizeH="0" baseline="0" noProof="0" dirty="0">
                <a:ln>
                  <a:noFill/>
                </a:ln>
                <a:solidFill>
                  <a:srgbClr val="FF0000"/>
                </a:solidFill>
                <a:effectLst/>
                <a:uLnTx/>
                <a:uFillTx/>
                <a:latin typeface="楷体" panose="02010609060101010101" charset="-122"/>
                <a:ea typeface="楷体" panose="02010609060101010101" charset="-122"/>
                <a:cs typeface="楷体" panose="02010609060101010101" charset="-122"/>
                <a:sym typeface="+mn-ea"/>
              </a:rPr>
              <a:t>2</a:t>
            </a:r>
            <a:r>
              <a:rPr kumimoji="0" lang="zh-CN" altLang="en-US" sz="2400" b="1" i="0" u="none" strike="noStrike" kern="1200" cap="none" spc="0" normalizeH="0" baseline="0" noProof="0" dirty="0">
                <a:ln>
                  <a:noFill/>
                </a:ln>
                <a:solidFill>
                  <a:srgbClr val="FF0000"/>
                </a:solidFill>
                <a:effectLst/>
                <a:uLnTx/>
                <a:uFillTx/>
                <a:latin typeface="Arial" panose="020B0604020202020204"/>
                <a:ea typeface="微软雅黑" panose="020B0503020204020204" pitchFamily="34" charset="-122"/>
                <a:cs typeface="+mn-cs"/>
                <a:sym typeface="+mn-ea"/>
              </a:rPr>
              <a:t>分（</a:t>
            </a:r>
            <a:r>
              <a:rPr kumimoji="0" lang="zh-CN" altLang="en-US" sz="2400" b="1" i="0" u="none" strike="noStrike" kern="1200" cap="none" spc="0" normalizeH="0" baseline="0" noProof="0" dirty="0">
                <a:ln>
                  <a:noFill/>
                </a:ln>
                <a:solidFill>
                  <a:srgbClr val="000000"/>
                </a:solidFill>
                <a:effectLst/>
                <a:uLnTx/>
                <a:uFillTx/>
                <a:latin typeface="华文楷体" panose="02010600040101010101" charset="-122"/>
                <a:ea typeface="华文楷体" panose="02010600040101010101" charset="-122"/>
                <a:cs typeface="华文楷体" panose="02010600040101010101" charset="-122"/>
                <a:sym typeface="+mn-ea"/>
              </a:rPr>
              <a:t>京津冀三地打破行政区划壁垒，推动“多规合一”落地，使规划从蓝图变为实景，体现了社会主义制度集中力量办大事的优势）</a:t>
            </a:r>
            <a:endParaRPr kumimoji="0" lang="zh-CN" altLang="en-US" sz="2400" b="0" i="0" u="none" strike="noStrike" kern="1200" cap="none" spc="0" normalizeH="0" baseline="0" noProof="0" dirty="0">
              <a:ln>
                <a:noFill/>
              </a:ln>
              <a:solidFill>
                <a:prstClr val="black"/>
              </a:solidFill>
              <a:effectLst/>
              <a:uLnTx/>
              <a:uFillTx/>
              <a:latin typeface="Arial" panose="020B0604020202020204"/>
              <a:ea typeface="微软雅黑" panose="020B0503020204020204" pitchFamily="34" charset="-122"/>
              <a:cs typeface="+mn-cs"/>
            </a:endParaRPr>
          </a:p>
          <a:p>
            <a:pPr marL="0" marR="0" lvl="0" indent="0" algn="l" defTabSz="914400" rtl="0" eaLnBrk="1" fontAlgn="auto" latinLnBrk="0" hangingPunct="1">
              <a:spcBef>
                <a:spcPts val="0"/>
              </a:spcBef>
              <a:spcAft>
                <a:spcPts val="0"/>
              </a:spcAft>
              <a:buClrTx/>
              <a:buSzTx/>
              <a:buFontTx/>
              <a:buNone/>
              <a:defRPr/>
            </a:pPr>
            <a:r>
              <a:rPr kumimoji="0" lang="zh-CN" altLang="en-US" sz="2400" b="0" i="0" u="none" strike="noStrike" kern="1200" cap="none" spc="0" normalizeH="0" baseline="0" noProof="0" dirty="0">
                <a:ln>
                  <a:noFill/>
                </a:ln>
                <a:solidFill>
                  <a:prstClr val="black"/>
                </a:solidFill>
                <a:effectLst/>
                <a:highlight>
                  <a:srgbClr val="00FFFF"/>
                </a:highlight>
                <a:uLnTx/>
                <a:uFillTx/>
                <a:latin typeface="Arial" panose="020B0604020202020204"/>
                <a:ea typeface="微软雅黑" panose="020B0503020204020204" pitchFamily="34" charset="-122"/>
                <a:cs typeface="+mn-cs"/>
              </a:rPr>
              <a:t>（</a:t>
            </a:r>
            <a:r>
              <a:rPr kumimoji="0" lang="zh-CN" altLang="en-US" sz="2400" b="1" i="0" u="none" strike="noStrike" kern="1200" cap="none" spc="0" normalizeH="0" baseline="0" noProof="0" dirty="0">
                <a:ln>
                  <a:noFill/>
                </a:ln>
                <a:solidFill>
                  <a:srgbClr val="FF0000"/>
                </a:solidFill>
                <a:effectLst/>
                <a:highlight>
                  <a:srgbClr val="00FFFF"/>
                </a:highlight>
                <a:uLnTx/>
                <a:uFillTx/>
                <a:latin typeface="华文楷体" panose="02010600040101010101" charset="-122"/>
                <a:ea typeface="华文楷体" panose="02010600040101010101" charset="-122"/>
                <a:cs typeface="+mn-cs"/>
              </a:rPr>
              <a:t>以</a:t>
            </a:r>
            <a:r>
              <a:rPr kumimoji="0" lang="zh-CN" altLang="en-US" sz="2400" b="0" i="0" u="none" strike="noStrike" kern="1200" cap="none" spc="0" normalizeH="0" baseline="0" noProof="0" dirty="0">
                <a:ln>
                  <a:noFill/>
                </a:ln>
                <a:solidFill>
                  <a:srgbClr val="2747BE"/>
                </a:solidFill>
                <a:effectLst/>
                <a:highlight>
                  <a:srgbClr val="00FFFF"/>
                </a:highlight>
                <a:uLnTx/>
                <a:uFillTx/>
                <a:latin typeface="Arial" panose="020B0604020202020204"/>
                <a:ea typeface="微软雅黑" panose="020B0503020204020204" pitchFamily="34" charset="-122"/>
                <a:cs typeface="+mn-cs"/>
              </a:rPr>
              <a:t>上</a:t>
            </a:r>
            <a:r>
              <a:rPr kumimoji="0" lang="zh-CN" altLang="en-US" sz="2400" b="1" i="0" u="none" strike="noStrike" kern="1200" cap="none" spc="0" normalizeH="0" baseline="0" noProof="0" dirty="0">
                <a:ln>
                  <a:noFill/>
                </a:ln>
                <a:solidFill>
                  <a:srgbClr val="FF0000"/>
                </a:solidFill>
                <a:effectLst/>
                <a:highlight>
                  <a:srgbClr val="00FFFF"/>
                </a:highlight>
                <a:uLnTx/>
                <a:uFillTx/>
                <a:latin typeface="华文楷体" panose="02010600040101010101" charset="-122"/>
                <a:ea typeface="华文楷体" panose="02010600040101010101" charset="-122"/>
                <a:cs typeface="+mn-cs"/>
              </a:rPr>
              <a:t>三选二</a:t>
            </a:r>
            <a:r>
              <a:rPr kumimoji="0" lang="en-US" altLang="zh-CN" sz="2400" b="1" i="0" u="none" strike="noStrike" kern="1200" cap="none" spc="0" normalizeH="0" baseline="0" noProof="0" dirty="0">
                <a:ln>
                  <a:noFill/>
                </a:ln>
                <a:solidFill>
                  <a:srgbClr val="FF0000"/>
                </a:solidFill>
                <a:effectLst/>
                <a:highlight>
                  <a:srgbClr val="00FFFF"/>
                </a:highlight>
                <a:uLnTx/>
                <a:uFillTx/>
                <a:latin typeface="华文楷体" panose="02010600040101010101" charset="-122"/>
                <a:ea typeface="华文楷体" panose="02010600040101010101" charset="-122"/>
                <a:cs typeface="+mn-cs"/>
              </a:rPr>
              <a:t>——</a:t>
            </a:r>
            <a:r>
              <a:rPr kumimoji="0" lang="en-US" altLang="zh-CN" sz="2400" b="1" i="0" u="none" strike="noStrike" kern="1200" cap="none" spc="0" normalizeH="0" baseline="0" noProof="0" dirty="0">
                <a:ln>
                  <a:noFill/>
                </a:ln>
                <a:solidFill>
                  <a:srgbClr val="FF0000"/>
                </a:solidFill>
                <a:effectLst/>
                <a:highlight>
                  <a:srgbClr val="00FFFF"/>
                </a:highlight>
                <a:uLnTx/>
                <a:uFillTx/>
                <a:latin typeface="Arial" panose="020B0604020202020204"/>
                <a:ea typeface="微软雅黑" panose="020B0503020204020204" pitchFamily="34" charset="-122"/>
                <a:cs typeface="+mn-cs"/>
              </a:rPr>
              <a:t>4</a:t>
            </a:r>
            <a:r>
              <a:rPr kumimoji="0" lang="zh-CN" altLang="en-US" sz="2400" b="1" i="0" u="none" strike="noStrike" kern="1200" cap="none" spc="0" normalizeH="0" baseline="0" noProof="0" dirty="0">
                <a:ln>
                  <a:noFill/>
                </a:ln>
                <a:solidFill>
                  <a:srgbClr val="FF0000"/>
                </a:solidFill>
                <a:effectLst/>
                <a:highlight>
                  <a:srgbClr val="00FFFF"/>
                </a:highlight>
                <a:uLnTx/>
                <a:uFillTx/>
                <a:latin typeface="Arial" panose="020B0604020202020204"/>
                <a:ea typeface="微软雅黑" panose="020B0503020204020204" pitchFamily="34" charset="-122"/>
                <a:cs typeface="+mn-cs"/>
              </a:rPr>
              <a:t>分</a:t>
            </a:r>
            <a:r>
              <a:rPr kumimoji="0" lang="zh-CN" altLang="en-US" sz="2400" b="0" i="0" u="none" strike="noStrike" kern="1200" cap="none" spc="0" normalizeH="0" baseline="0" noProof="0" dirty="0">
                <a:ln>
                  <a:noFill/>
                </a:ln>
                <a:solidFill>
                  <a:prstClr val="black"/>
                </a:solidFill>
                <a:effectLst/>
                <a:highlight>
                  <a:srgbClr val="00FFFF"/>
                </a:highlight>
                <a:uLnTx/>
                <a:uFillTx/>
                <a:latin typeface="Arial" panose="020B0604020202020204"/>
                <a:ea typeface="微软雅黑" panose="020B0503020204020204" pitchFamily="34" charset="-122"/>
                <a:cs typeface="+mn-cs"/>
              </a:rPr>
              <a:t>）</a:t>
            </a:r>
            <a:endParaRPr kumimoji="0" lang="zh-CN" altLang="en-US" sz="2400" b="0" i="0" u="none" strike="noStrike" kern="1200" cap="none" spc="0" normalizeH="0" baseline="0" noProof="0" dirty="0">
              <a:ln>
                <a:noFill/>
              </a:ln>
              <a:solidFill>
                <a:prstClr val="black"/>
              </a:solidFill>
              <a:effectLst/>
              <a:highlight>
                <a:srgbClr val="00FFFF"/>
              </a:highlight>
              <a:uLnTx/>
              <a:uFillTx/>
              <a:latin typeface="Arial" panose="020B0604020202020204"/>
              <a:ea typeface="微软雅黑" panose="020B0503020204020204" pitchFamily="34" charset="-122"/>
              <a:cs typeface="+mn-cs"/>
            </a:endParaRPr>
          </a:p>
          <a:p>
            <a:pPr marL="0" marR="0" lvl="0" indent="0" algn="l" defTabSz="914400" rtl="0" eaLnBrk="1" fontAlgn="auto" latinLnBrk="0" hangingPunct="1">
              <a:spcBef>
                <a:spcPts val="0"/>
              </a:spcBef>
              <a:spcAft>
                <a:spcPts val="0"/>
              </a:spcAft>
              <a:buClrTx/>
              <a:buSzTx/>
              <a:buFontTx/>
              <a:buNone/>
              <a:defRPr/>
            </a:pPr>
            <a:r>
              <a:rPr kumimoji="0" lang="zh-CN" altLang="en-US" sz="2400" b="1" i="0" u="none" strike="noStrike" kern="1200" cap="none" spc="0" normalizeH="0" baseline="0" noProof="0" dirty="0">
                <a:ln>
                  <a:noFill/>
                </a:ln>
                <a:solidFill>
                  <a:srgbClr val="FF0000"/>
                </a:solidFill>
                <a:effectLst/>
                <a:highlight>
                  <a:srgbClr val="00FF00"/>
                </a:highlight>
                <a:uLnTx/>
                <a:uFillTx/>
                <a:latin typeface="华文楷体" panose="02010600040101010101" charset="-122"/>
                <a:ea typeface="华文楷体" panose="02010600040101010101" charset="-122"/>
                <a:cs typeface="+mn-cs"/>
                <a:sym typeface="+mn-ea"/>
              </a:rPr>
              <a:t>（以</a:t>
            </a:r>
            <a:r>
              <a:rPr kumimoji="0" lang="zh-CN" altLang="en-US" sz="2400" b="0" i="0" u="none" strike="noStrike" kern="1200" cap="none" spc="0" normalizeH="0" baseline="0" noProof="0" dirty="0">
                <a:ln>
                  <a:noFill/>
                </a:ln>
                <a:solidFill>
                  <a:srgbClr val="2747BE"/>
                </a:solidFill>
                <a:effectLst/>
                <a:highlight>
                  <a:srgbClr val="00FF00"/>
                </a:highlight>
                <a:uLnTx/>
                <a:uFillTx/>
                <a:latin typeface="Arial" panose="020B0604020202020204"/>
                <a:ea typeface="微软雅黑" panose="020B0503020204020204" pitchFamily="34" charset="-122"/>
                <a:cs typeface="+mn-cs"/>
                <a:sym typeface="+mn-ea"/>
              </a:rPr>
              <a:t>下</a:t>
            </a:r>
            <a:r>
              <a:rPr kumimoji="0" lang="zh-CN" altLang="en-US" sz="2400" b="1" i="0" u="none" strike="noStrike" kern="1200" cap="none" spc="0" normalizeH="0" baseline="0" noProof="0" dirty="0">
                <a:ln>
                  <a:noFill/>
                </a:ln>
                <a:solidFill>
                  <a:srgbClr val="FF0000"/>
                </a:solidFill>
                <a:effectLst/>
                <a:highlight>
                  <a:srgbClr val="00FF00"/>
                </a:highlight>
                <a:uLnTx/>
                <a:uFillTx/>
                <a:latin typeface="华文楷体" panose="02010600040101010101" charset="-122"/>
                <a:ea typeface="华文楷体" panose="02010600040101010101" charset="-122"/>
                <a:cs typeface="+mn-cs"/>
                <a:sym typeface="+mn-ea"/>
              </a:rPr>
              <a:t>这几个任意二个可</a:t>
            </a:r>
            <a:r>
              <a:rPr kumimoji="0" lang="en-US" altLang="zh-CN" sz="2400" b="1" i="0" u="none" strike="noStrike" kern="1200" cap="none" spc="0" normalizeH="0" baseline="0" noProof="0" dirty="0">
                <a:ln>
                  <a:noFill/>
                </a:ln>
                <a:solidFill>
                  <a:srgbClr val="FF0000"/>
                </a:solidFill>
                <a:effectLst/>
                <a:highlight>
                  <a:srgbClr val="00FF00"/>
                </a:highlight>
                <a:uLnTx/>
                <a:uFillTx/>
                <a:latin typeface="华文楷体" panose="02010600040101010101" charset="-122"/>
                <a:ea typeface="华文楷体" panose="02010600040101010101" charset="-122"/>
                <a:cs typeface="+mn-cs"/>
                <a:sym typeface="+mn-ea"/>
              </a:rPr>
              <a:t>——</a:t>
            </a:r>
            <a:r>
              <a:rPr kumimoji="0" lang="en-US" altLang="zh-CN" sz="2400" b="1" i="0" u="none" strike="noStrike" kern="1200" cap="none" spc="0" normalizeH="0" baseline="0" noProof="0" dirty="0">
                <a:ln>
                  <a:noFill/>
                </a:ln>
                <a:solidFill>
                  <a:srgbClr val="FF0000"/>
                </a:solidFill>
                <a:effectLst/>
                <a:highlight>
                  <a:srgbClr val="00FF00"/>
                </a:highlight>
                <a:uLnTx/>
                <a:uFillTx/>
                <a:latin typeface="Arial" panose="020B0604020202020204"/>
                <a:ea typeface="微软雅黑" panose="020B0503020204020204" pitchFamily="34" charset="-122"/>
                <a:cs typeface="+mn-cs"/>
                <a:sym typeface="+mn-ea"/>
              </a:rPr>
              <a:t>3分</a:t>
            </a:r>
            <a:r>
              <a:rPr kumimoji="0" lang="zh-CN" altLang="en-US" sz="2400" b="1" i="0" u="none" strike="noStrike" kern="1200" cap="none" spc="0" normalizeH="0" baseline="0" noProof="0" dirty="0">
                <a:ln>
                  <a:noFill/>
                </a:ln>
                <a:solidFill>
                  <a:srgbClr val="FF0000"/>
                </a:solidFill>
                <a:effectLst/>
                <a:highlight>
                  <a:srgbClr val="00FF00"/>
                </a:highlight>
                <a:uLnTx/>
                <a:uFillTx/>
                <a:latin typeface="华文楷体" panose="02010600040101010101" charset="-122"/>
                <a:ea typeface="华文楷体" panose="02010600040101010101" charset="-122"/>
                <a:cs typeface="+mn-cs"/>
                <a:sym typeface="+mn-ea"/>
              </a:rPr>
              <a:t>）</a:t>
            </a:r>
            <a:endParaRPr kumimoji="0" lang="zh-CN" altLang="en-US" sz="2400" b="0" i="0" u="none" strike="noStrike" kern="1200" cap="none" spc="0" normalizeH="0" baseline="0" noProof="0" dirty="0">
              <a:ln>
                <a:noFill/>
              </a:ln>
              <a:solidFill>
                <a:prstClr val="black"/>
              </a:solidFill>
              <a:effectLst/>
              <a:highlight>
                <a:srgbClr val="00FF00"/>
              </a:highlight>
              <a:uLnTx/>
              <a:uFillTx/>
              <a:latin typeface="Arial" panose="020B0604020202020204"/>
              <a:ea typeface="微软雅黑" panose="020B0503020204020204" pitchFamily="34" charset="-122"/>
              <a:cs typeface="+mn-cs"/>
            </a:endParaRPr>
          </a:p>
          <a:p>
            <a:pPr marL="0" marR="0" lvl="0" indent="0" algn="l" defTabSz="914400" rtl="0" eaLnBrk="1" fontAlgn="auto" latinLnBrk="0" hangingPunct="1">
              <a:spcBef>
                <a:spcPts val="0"/>
              </a:spcBef>
              <a:spcAft>
                <a:spcPts val="0"/>
              </a:spcAft>
              <a:buClrTx/>
              <a:buSzTx/>
              <a:buFontTx/>
              <a:buNone/>
              <a:defRPr/>
            </a:pPr>
            <a:r>
              <a:rPr kumimoji="0" lang="zh-CN" altLang="en-US" sz="2400" b="1" i="0" u="none" strike="noStrike" kern="1200" cap="none" spc="0" normalizeH="0" baseline="0" noProof="0" dirty="0">
                <a:ln>
                  <a:noFill/>
                </a:ln>
                <a:solidFill>
                  <a:srgbClr val="FF0000"/>
                </a:solidFill>
                <a:effectLst/>
                <a:highlight>
                  <a:srgbClr val="FFFF00"/>
                </a:highlight>
                <a:uLnTx/>
                <a:uFillTx/>
                <a:latin typeface="黑体" panose="02010609060101010101" pitchFamily="49" charset="-122"/>
                <a:ea typeface="黑体" panose="02010609060101010101" pitchFamily="49" charset="-122"/>
                <a:cs typeface="黑体" panose="02010609060101010101" pitchFamily="49" charset="-122"/>
              </a:rPr>
              <a:t>人民角度：</a:t>
            </a:r>
            <a:r>
              <a:rPr kumimoji="0" lang="zh-CN" altLang="en-US" sz="2400" b="0" i="0" u="none" strike="noStrike" kern="1200" cap="none" spc="0" normalizeH="0" baseline="0" noProof="0" dirty="0">
                <a:ln>
                  <a:noFill/>
                </a:ln>
                <a:solidFill>
                  <a:prstClr val="black"/>
                </a:solidFill>
                <a:effectLst/>
                <a:uLnTx/>
                <a:uFillTx/>
                <a:latin typeface="Arial" panose="020B0604020202020204"/>
                <a:ea typeface="微软雅黑" panose="020B0503020204020204" pitchFamily="34" charset="-122"/>
                <a:cs typeface="+mn-cs"/>
              </a:rPr>
              <a:t>（</a:t>
            </a:r>
            <a:r>
              <a:rPr kumimoji="0" lang="zh-CN" altLang="en-US" sz="2400" b="1" i="0" u="none" strike="noStrike" kern="1200" cap="none" spc="0" normalizeH="0" baseline="0" noProof="0" dirty="0">
                <a:ln>
                  <a:noFill/>
                </a:ln>
                <a:solidFill>
                  <a:srgbClr val="FF0000"/>
                </a:solidFill>
                <a:effectLst/>
                <a:uLnTx/>
                <a:uFillTx/>
                <a:latin typeface="华文楷体" panose="02010600040101010101" charset="-122"/>
                <a:ea typeface="华文楷体" panose="02010600040101010101" charset="-122"/>
                <a:cs typeface="+mn-cs"/>
              </a:rPr>
              <a:t>全过程人民民主</a:t>
            </a:r>
            <a:r>
              <a:rPr kumimoji="0" lang="en-US" altLang="zh-CN" sz="2400" b="0" i="0" u="none" strike="noStrike" kern="1200" cap="none" spc="0" normalizeH="0" baseline="0" noProof="0" dirty="0">
                <a:ln>
                  <a:noFill/>
                </a:ln>
                <a:solidFill>
                  <a:prstClr val="black"/>
                </a:solidFill>
                <a:effectLst/>
                <a:uLnTx/>
                <a:uFillTx/>
                <a:latin typeface="Arial" panose="020B0604020202020204"/>
                <a:ea typeface="微软雅黑" panose="020B0503020204020204" pitchFamily="34" charset="-122"/>
                <a:cs typeface="+mn-cs"/>
              </a:rPr>
              <a:t>/</a:t>
            </a:r>
            <a:r>
              <a:rPr kumimoji="0" lang="zh-CN" altLang="en-US" sz="2400" b="1" i="0" u="none" strike="noStrike" kern="1200" cap="none" spc="0" normalizeH="0" baseline="0" noProof="0" dirty="0">
                <a:ln>
                  <a:noFill/>
                </a:ln>
                <a:solidFill>
                  <a:srgbClr val="FF0000"/>
                </a:solidFill>
                <a:effectLst/>
                <a:uLnTx/>
                <a:uFillTx/>
                <a:latin typeface="华文楷体" panose="02010600040101010101" charset="-122"/>
                <a:ea typeface="华文楷体" panose="02010600040101010101" charset="-122"/>
                <a:cs typeface="+mn-cs"/>
              </a:rPr>
              <a:t>协商民主</a:t>
            </a:r>
            <a:r>
              <a:rPr kumimoji="0" lang="en-US" altLang="zh-CN" sz="2400" b="0" i="0" u="none" strike="noStrike" kern="1200" cap="none" spc="0" normalizeH="0" baseline="0" noProof="0" dirty="0">
                <a:ln>
                  <a:noFill/>
                </a:ln>
                <a:solidFill>
                  <a:prstClr val="black"/>
                </a:solidFill>
                <a:effectLst/>
                <a:uLnTx/>
                <a:uFillTx/>
                <a:latin typeface="Arial" panose="020B0604020202020204"/>
                <a:ea typeface="微软雅黑" panose="020B0503020204020204" pitchFamily="34" charset="-122"/>
                <a:cs typeface="+mn-cs"/>
              </a:rPr>
              <a:t>/</a:t>
            </a:r>
            <a:r>
              <a:rPr kumimoji="0" lang="zh-CN" altLang="en-US" sz="2400" b="1" i="0" u="none" strike="noStrike" kern="1200" cap="none" spc="0" normalizeH="0" baseline="0" noProof="0" dirty="0">
                <a:ln>
                  <a:noFill/>
                </a:ln>
                <a:solidFill>
                  <a:srgbClr val="FF0000"/>
                </a:solidFill>
                <a:effectLst/>
                <a:uLnTx/>
                <a:uFillTx/>
                <a:latin typeface="华文楷体" panose="02010600040101010101" charset="-122"/>
                <a:ea typeface="华文楷体" panose="02010600040101010101" charset="-122"/>
                <a:cs typeface="+mn-cs"/>
              </a:rPr>
              <a:t>以人民为中心</a:t>
            </a:r>
            <a:r>
              <a:rPr kumimoji="0" lang="en-US" altLang="zh-CN" sz="2400" b="0" i="0" u="none" strike="noStrike" kern="1200" cap="none" spc="0" normalizeH="0" baseline="0" noProof="0" dirty="0">
                <a:ln>
                  <a:noFill/>
                </a:ln>
                <a:solidFill>
                  <a:prstClr val="black"/>
                </a:solidFill>
                <a:effectLst/>
                <a:uLnTx/>
                <a:uFillTx/>
                <a:latin typeface="Arial" panose="020B0604020202020204"/>
                <a:ea typeface="微软雅黑" panose="020B0503020204020204" pitchFamily="34" charset="-122"/>
                <a:cs typeface="+mn-cs"/>
              </a:rPr>
              <a:t>/</a:t>
            </a:r>
            <a:r>
              <a:rPr kumimoji="0" lang="zh-CN" altLang="en-US" sz="2400" b="1" i="0" u="none" strike="noStrike" kern="1200" cap="none" spc="0" normalizeH="0" baseline="0" noProof="0" dirty="0">
                <a:ln>
                  <a:noFill/>
                </a:ln>
                <a:solidFill>
                  <a:srgbClr val="FF0000"/>
                </a:solidFill>
                <a:effectLst/>
                <a:uLnTx/>
                <a:uFillTx/>
                <a:latin typeface="华文楷体" panose="02010600040101010101" charset="-122"/>
                <a:ea typeface="华文楷体" panose="02010600040101010101" charset="-122"/>
                <a:cs typeface="+mn-cs"/>
              </a:rPr>
              <a:t>公民知参表监</a:t>
            </a:r>
            <a:r>
              <a:rPr kumimoji="0" lang="en-US" altLang="zh-CN" sz="2400" b="0" i="0" u="none" strike="noStrike" kern="1200" cap="none" spc="0" normalizeH="0" baseline="0" noProof="0" dirty="0">
                <a:ln>
                  <a:noFill/>
                </a:ln>
                <a:solidFill>
                  <a:prstClr val="black"/>
                </a:solidFill>
                <a:effectLst/>
                <a:uLnTx/>
                <a:uFillTx/>
                <a:latin typeface="Arial" panose="020B0604020202020204"/>
                <a:ea typeface="微软雅黑" panose="020B0503020204020204" pitchFamily="34" charset="-122"/>
                <a:cs typeface="+mn-cs"/>
              </a:rPr>
              <a:t>/</a:t>
            </a:r>
            <a:r>
              <a:rPr kumimoji="0" lang="zh-CN" altLang="en-US" sz="2400" b="1" i="0" u="none" strike="noStrike" kern="1200" cap="none" spc="0" normalizeH="0" baseline="0" noProof="0" dirty="0">
                <a:ln>
                  <a:noFill/>
                </a:ln>
                <a:solidFill>
                  <a:srgbClr val="FF0000"/>
                </a:solidFill>
                <a:effectLst/>
                <a:uLnTx/>
                <a:uFillTx/>
                <a:latin typeface="华文楷体" panose="02010600040101010101" charset="-122"/>
                <a:ea typeface="华文楷体" panose="02010600040101010101" charset="-122"/>
                <a:cs typeface="+mn-cs"/>
              </a:rPr>
              <a:t>人民当家作主</a:t>
            </a:r>
            <a:r>
              <a:rPr kumimoji="0" lang="zh-CN" altLang="en-US" sz="2400" b="0" i="0" u="none" strike="noStrike" kern="1200" cap="none" spc="0" normalizeH="0" baseline="0" noProof="0" dirty="0">
                <a:ln>
                  <a:noFill/>
                </a:ln>
                <a:solidFill>
                  <a:prstClr val="black"/>
                </a:solidFill>
                <a:effectLst/>
                <a:uLnTx/>
                <a:uFillTx/>
                <a:latin typeface="Arial" panose="020B0604020202020204"/>
                <a:ea typeface="微软雅黑" panose="020B0503020204020204" pitchFamily="34" charset="-122"/>
                <a:cs typeface="+mn-cs"/>
              </a:rPr>
              <a:t>）</a:t>
            </a:r>
            <a:endParaRPr kumimoji="0" lang="zh-CN" altLang="en-US" sz="2400" b="0" i="0" u="none" strike="noStrike" kern="1200" cap="none" spc="0" normalizeH="0" baseline="0" noProof="0" dirty="0">
              <a:ln>
                <a:noFill/>
              </a:ln>
              <a:solidFill>
                <a:prstClr val="black"/>
              </a:solidFill>
              <a:effectLst/>
              <a:uLnTx/>
              <a:uFillTx/>
              <a:latin typeface="Arial" panose="020B0604020202020204"/>
              <a:ea typeface="微软雅黑" panose="020B0503020204020204" pitchFamily="34" charset="-122"/>
              <a:cs typeface="+mn-cs"/>
            </a:endParaRPr>
          </a:p>
          <a:p>
            <a:pPr marL="0" marR="0" lvl="0" indent="0" algn="l" defTabSz="914400" rtl="0" eaLnBrk="1" fontAlgn="auto" latinLnBrk="0" hangingPunct="1">
              <a:spcBef>
                <a:spcPts val="0"/>
              </a:spcBef>
              <a:spcAft>
                <a:spcPts val="0"/>
              </a:spcAft>
              <a:buClrTx/>
              <a:buSzTx/>
              <a:buFontTx/>
              <a:buNone/>
              <a:defRPr/>
            </a:pPr>
            <a:r>
              <a:rPr kumimoji="0" lang="zh-CN" altLang="en-US" sz="2400" b="1" i="0" u="none" strike="noStrike" kern="1200" cap="none" spc="0" normalizeH="0" baseline="0" noProof="0" dirty="0">
                <a:ln>
                  <a:noFill/>
                </a:ln>
                <a:solidFill>
                  <a:srgbClr val="FF0000"/>
                </a:solidFill>
                <a:effectLst/>
                <a:highlight>
                  <a:srgbClr val="FFFF00"/>
                </a:highlight>
                <a:uLnTx/>
                <a:uFillTx/>
                <a:latin typeface="黑体" panose="02010609060101010101" pitchFamily="49" charset="-122"/>
                <a:ea typeface="黑体" panose="02010609060101010101" pitchFamily="49" charset="-122"/>
                <a:cs typeface="黑体" panose="02010609060101010101" pitchFamily="49" charset="-122"/>
              </a:rPr>
              <a:t>法治政府：</a:t>
            </a:r>
            <a:r>
              <a:rPr kumimoji="0" lang="zh-CN" altLang="en-US" sz="2400" b="0" i="0" u="none" strike="noStrike" kern="1200" cap="none" spc="0" normalizeH="0" baseline="0" noProof="0" dirty="0">
                <a:ln>
                  <a:noFill/>
                </a:ln>
                <a:solidFill>
                  <a:prstClr val="black"/>
                </a:solidFill>
                <a:effectLst/>
                <a:uLnTx/>
                <a:uFillTx/>
                <a:latin typeface="Arial" panose="020B0604020202020204"/>
                <a:ea typeface="微软雅黑" panose="020B0503020204020204" pitchFamily="34" charset="-122"/>
                <a:cs typeface="+mn-cs"/>
              </a:rPr>
              <a:t>（</a:t>
            </a:r>
            <a:r>
              <a:rPr kumimoji="0" lang="zh-CN" altLang="en-US" sz="2400" b="1" i="0" u="none" strike="noStrike" kern="1200" cap="none" spc="0" normalizeH="0" baseline="0" noProof="0" dirty="0">
                <a:ln>
                  <a:noFill/>
                </a:ln>
                <a:solidFill>
                  <a:srgbClr val="2747BE"/>
                </a:solidFill>
                <a:effectLst/>
                <a:highlight>
                  <a:srgbClr val="FFFF00"/>
                </a:highlight>
                <a:uLnTx/>
                <a:uFillTx/>
                <a:latin typeface="楷体" panose="02010609060101010101" charset="-122"/>
                <a:ea typeface="楷体" panose="02010609060101010101" charset="-122"/>
                <a:cs typeface="楷体" panose="02010609060101010101" charset="-122"/>
                <a:sym typeface="+mn-ea"/>
              </a:rPr>
              <a:t>坚持法定职责必须为</a:t>
            </a:r>
            <a:r>
              <a:rPr kumimoji="0" lang="en-US" altLang="zh-CN" sz="2400" b="1" i="0" u="none" strike="noStrike" kern="1200" cap="none" spc="0" normalizeH="0" baseline="0" noProof="0" dirty="0">
                <a:ln>
                  <a:noFill/>
                </a:ln>
                <a:solidFill>
                  <a:srgbClr val="2747BE"/>
                </a:solidFill>
                <a:effectLst/>
                <a:highlight>
                  <a:srgbClr val="FFFF00"/>
                </a:highlight>
                <a:uLnTx/>
                <a:uFillTx/>
                <a:latin typeface="楷体" panose="02010609060101010101" charset="-122"/>
                <a:ea typeface="楷体" panose="02010609060101010101" charset="-122"/>
                <a:cs typeface="楷体" panose="02010609060101010101" charset="-122"/>
                <a:sym typeface="+mn-ea"/>
              </a:rPr>
              <a:t>/</a:t>
            </a:r>
            <a:r>
              <a:rPr kumimoji="0" lang="zh-CN" altLang="en-US" sz="2400" b="1" i="0" u="none" strike="noStrike" kern="1200" cap="none" spc="0" normalizeH="0" baseline="0" noProof="0" dirty="0">
                <a:ln>
                  <a:noFill/>
                </a:ln>
                <a:solidFill>
                  <a:srgbClr val="2747BE"/>
                </a:solidFill>
                <a:effectLst/>
                <a:uLnTx/>
                <a:uFillTx/>
                <a:latin typeface="楷体" panose="02010609060101010101" charset="-122"/>
                <a:ea typeface="楷体" panose="02010609060101010101" charset="-122"/>
                <a:cs typeface="楷体" panose="02010609060101010101" charset="-122"/>
                <a:sym typeface="+mn-ea"/>
              </a:rPr>
              <a:t>依法</a:t>
            </a:r>
            <a:r>
              <a:rPr kumimoji="0" lang="zh-CN" altLang="en-US" sz="2400" b="1" i="0" u="none" strike="noStrike" kern="1200" cap="none" spc="0" normalizeH="0" baseline="0" noProof="0" dirty="0">
                <a:ln>
                  <a:noFill/>
                </a:ln>
                <a:solidFill>
                  <a:srgbClr val="2747BE"/>
                </a:solidFill>
                <a:effectLst/>
                <a:uLnTx/>
                <a:uFillTx/>
                <a:latin typeface="楷体" panose="02010609060101010101" charset="-122"/>
                <a:ea typeface="楷体" panose="02010609060101010101" charset="-122"/>
                <a:cs typeface="楷体" panose="02010609060101010101" charset="-122"/>
              </a:rPr>
              <a:t>履行职能（社会管理</a:t>
            </a:r>
            <a:r>
              <a:rPr kumimoji="0" lang="en-US" altLang="zh-CN" sz="2400" b="1" i="0" u="none" strike="noStrike" kern="1200" cap="none" spc="0" normalizeH="0" baseline="0" noProof="0" dirty="0">
                <a:ln>
                  <a:noFill/>
                </a:ln>
                <a:solidFill>
                  <a:srgbClr val="2747BE"/>
                </a:solidFill>
                <a:effectLst/>
                <a:uLnTx/>
                <a:uFillTx/>
                <a:latin typeface="楷体" panose="02010609060101010101" charset="-122"/>
                <a:ea typeface="楷体" panose="02010609060101010101" charset="-122"/>
                <a:cs typeface="楷体" panose="02010609060101010101" charset="-122"/>
              </a:rPr>
              <a:t>/</a:t>
            </a:r>
            <a:r>
              <a:rPr kumimoji="0" lang="zh-CN" altLang="en-US" sz="2400" b="1" i="0" u="none" strike="noStrike" kern="1200" cap="none" spc="0" normalizeH="0" baseline="0" noProof="0" dirty="0">
                <a:ln>
                  <a:noFill/>
                </a:ln>
                <a:solidFill>
                  <a:srgbClr val="2747BE"/>
                </a:solidFill>
                <a:effectLst/>
                <a:uLnTx/>
                <a:uFillTx/>
                <a:latin typeface="楷体" panose="02010609060101010101" charset="-122"/>
                <a:ea typeface="楷体" panose="02010609060101010101" charset="-122"/>
                <a:cs typeface="楷体" panose="02010609060101010101" charset="-122"/>
              </a:rPr>
              <a:t>公共服务等）</a:t>
            </a:r>
            <a:r>
              <a:rPr kumimoji="0" lang="en-US" altLang="zh-CN" sz="2400" b="1" i="0" u="none" strike="noStrike" kern="1200" cap="none" spc="0" normalizeH="0" baseline="0" noProof="0" dirty="0">
                <a:ln>
                  <a:noFill/>
                </a:ln>
                <a:solidFill>
                  <a:srgbClr val="2747BE"/>
                </a:solidFill>
                <a:effectLst/>
                <a:uLnTx/>
                <a:uFillTx/>
                <a:latin typeface="楷体" panose="02010609060101010101" charset="-122"/>
                <a:ea typeface="楷体" panose="02010609060101010101" charset="-122"/>
                <a:cs typeface="楷体" panose="02010609060101010101" charset="-122"/>
              </a:rPr>
              <a:t>/</a:t>
            </a:r>
            <a:r>
              <a:rPr kumimoji="0" lang="zh-CN" altLang="en-US" sz="2400" b="1" i="0" u="none" strike="noStrike" kern="1200" cap="none" spc="0" normalizeH="0" baseline="0" noProof="0" dirty="0">
                <a:ln>
                  <a:noFill/>
                </a:ln>
                <a:solidFill>
                  <a:srgbClr val="2747BE"/>
                </a:solidFill>
                <a:effectLst/>
                <a:uLnTx/>
                <a:uFillTx/>
                <a:latin typeface="楷体" panose="02010609060101010101" charset="-122"/>
                <a:ea typeface="楷体" panose="02010609060101010101" charset="-122"/>
                <a:cs typeface="楷体" panose="02010609060101010101" charset="-122"/>
                <a:sym typeface="+mn-ea"/>
              </a:rPr>
              <a:t>依法行政：</a:t>
            </a:r>
            <a:r>
              <a:rPr kumimoji="0" lang="zh-CN" altLang="en-US" sz="2400" b="1" i="0" u="none" strike="noStrike" kern="1200" cap="none" spc="0" normalizeH="0" baseline="0" noProof="0" dirty="0">
                <a:ln>
                  <a:noFill/>
                </a:ln>
                <a:solidFill>
                  <a:srgbClr val="2747BE"/>
                </a:solidFill>
                <a:effectLst/>
                <a:uLnTx/>
                <a:uFillTx/>
                <a:latin typeface="楷体" panose="02010609060101010101" charset="-122"/>
                <a:ea typeface="楷体" panose="02010609060101010101" charset="-122"/>
                <a:cs typeface="楷体" panose="02010609060101010101" charset="-122"/>
              </a:rPr>
              <a:t>规范公正严格文明执法</a:t>
            </a:r>
            <a:r>
              <a:rPr kumimoji="0" lang="zh-CN" altLang="en-US" sz="2400" b="0" i="0" u="none" strike="noStrike" kern="1200" cap="none" spc="0" normalizeH="0" baseline="0" noProof="0" dirty="0">
                <a:ln>
                  <a:noFill/>
                </a:ln>
                <a:solidFill>
                  <a:prstClr val="black"/>
                </a:solidFill>
                <a:effectLst/>
                <a:uLnTx/>
                <a:uFillTx/>
                <a:latin typeface="Arial" panose="020B0604020202020204"/>
                <a:ea typeface="微软雅黑" panose="020B0503020204020204" pitchFamily="34" charset="-122"/>
                <a:cs typeface="+mn-cs"/>
              </a:rPr>
              <a:t>）</a:t>
            </a:r>
            <a:endParaRPr kumimoji="0" lang="zh-CN" altLang="en-US" sz="2400" b="0" i="0" u="none" strike="noStrike" kern="1200" cap="none" spc="0" normalizeH="0" baseline="0" noProof="0" dirty="0">
              <a:ln>
                <a:noFill/>
              </a:ln>
              <a:solidFill>
                <a:prstClr val="black"/>
              </a:solidFill>
              <a:effectLst/>
              <a:uLnTx/>
              <a:uFillTx/>
              <a:latin typeface="Arial" panose="020B0604020202020204"/>
              <a:ea typeface="微软雅黑" panose="020B0503020204020204" pitchFamily="34" charset="-122"/>
              <a:cs typeface="+mn-cs"/>
            </a:endParaRPr>
          </a:p>
          <a:p>
            <a:pPr marL="0" marR="0" lvl="0" indent="0" algn="l" defTabSz="914400" rtl="0" eaLnBrk="1" fontAlgn="auto" latinLnBrk="0" hangingPunct="1">
              <a:spcBef>
                <a:spcPts val="0"/>
              </a:spcBef>
              <a:spcAft>
                <a:spcPts val="0"/>
              </a:spcAft>
              <a:buClrTx/>
              <a:buSzTx/>
              <a:buFontTx/>
              <a:buNone/>
              <a:defRPr/>
            </a:pPr>
            <a:r>
              <a:rPr kumimoji="0" lang="zh-CN" altLang="en-US" sz="2400" b="1" i="0" u="none" strike="noStrike" kern="1200" cap="none" spc="0" normalizeH="0" baseline="0" noProof="0" dirty="0">
                <a:ln>
                  <a:noFill/>
                </a:ln>
                <a:solidFill>
                  <a:srgbClr val="FF0000"/>
                </a:solidFill>
                <a:effectLst/>
                <a:highlight>
                  <a:srgbClr val="FFFF00"/>
                </a:highlight>
                <a:uLnTx/>
                <a:uFillTx/>
                <a:latin typeface="Arial" panose="020B0604020202020204"/>
                <a:ea typeface="微软雅黑" panose="020B0503020204020204" pitchFamily="34" charset="-122"/>
                <a:cs typeface="+mn-cs"/>
              </a:rPr>
              <a:t>协同共治：</a:t>
            </a:r>
            <a:r>
              <a:rPr kumimoji="0" lang="zh-CN" altLang="en-US" sz="2400" b="1" i="0" u="none" strike="noStrike" kern="1200" cap="none" spc="0" normalizeH="0" baseline="0" noProof="0" dirty="0">
                <a:ln>
                  <a:noFill/>
                </a:ln>
                <a:solidFill>
                  <a:prstClr val="black"/>
                </a:solidFill>
                <a:effectLst/>
                <a:uLnTx/>
                <a:uFillTx/>
                <a:latin typeface="华文楷体" panose="02010600040101010101" charset="-122"/>
                <a:ea typeface="华文楷体" panose="02010600040101010101" charset="-122"/>
                <a:cs typeface="+mn-cs"/>
              </a:rPr>
              <a:t>以法治思维、法治方式推进区域协同治理，将制度优势转化为治理效能，推动国家治理体系和治理能力现代化。</a:t>
            </a:r>
            <a:endParaRPr kumimoji="0" lang="zh-CN" altLang="en-US" sz="2400" b="1" i="0" u="none" strike="noStrike" kern="1200" cap="none" spc="0" normalizeH="0" baseline="0" noProof="0" dirty="0">
              <a:ln>
                <a:noFill/>
              </a:ln>
              <a:solidFill>
                <a:prstClr val="black"/>
              </a:solidFill>
              <a:effectLst/>
              <a:uLnTx/>
              <a:uFillTx/>
              <a:latin typeface="华文楷体" panose="02010600040101010101" charset="-122"/>
              <a:ea typeface="华文楷体" panose="02010600040101010101" charset="-122"/>
              <a:cs typeface="+mn-cs"/>
            </a:endParaRPr>
          </a:p>
          <a:p>
            <a:pPr marL="0" marR="0" lvl="0" indent="0" algn="l" defTabSz="914400" rtl="0" eaLnBrk="1" fontAlgn="auto" latinLnBrk="0" hangingPunct="1">
              <a:spcBef>
                <a:spcPts val="0"/>
              </a:spcBef>
              <a:spcAft>
                <a:spcPts val="0"/>
              </a:spcAft>
              <a:buClrTx/>
              <a:buSzTx/>
              <a:buFontTx/>
              <a:buNone/>
              <a:defRPr/>
            </a:pPr>
            <a:endParaRPr kumimoji="0" lang="zh-CN" altLang="en-US" sz="2400" b="1" i="0" u="none" strike="noStrike" kern="1200" cap="none" spc="0" normalizeH="0" baseline="0" noProof="0" dirty="0">
              <a:ln>
                <a:noFill/>
              </a:ln>
              <a:solidFill>
                <a:prstClr val="black"/>
              </a:solidFill>
              <a:effectLst/>
              <a:uLnTx/>
              <a:uFillTx/>
              <a:latin typeface="华文楷体" panose="02010600040101010101" charset="-122"/>
              <a:ea typeface="华文楷体" panose="02010600040101010101" charset="-122"/>
              <a:cs typeface="+mn-cs"/>
            </a:endParaRPr>
          </a:p>
        </p:txBody>
      </p:sp>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408317" y="189781"/>
            <a:ext cx="3502325" cy="523220"/>
          </a:xfrm>
          <a:prstGeom prst="rect">
            <a:avLst/>
          </a:prstGeom>
          <a:noFill/>
        </p:spPr>
        <p:txBody>
          <a:bodyPr wrap="square" rtlCol="0">
            <a:spAutoFit/>
          </a:bodyPr>
          <a:lstStyle/>
          <a:p>
            <a:r>
              <a:rPr lang="en-US" altLang="zh-CN" sz="2800" b="1" dirty="0">
                <a:latin typeface="宋体" panose="02010600030101010101" pitchFamily="2" charset="-122"/>
                <a:ea typeface="宋体" panose="02010600030101010101" pitchFamily="2" charset="-122"/>
              </a:rPr>
              <a:t>18</a:t>
            </a:r>
            <a:r>
              <a:rPr lang="zh-CN" altLang="en-US" sz="2800" b="1" dirty="0">
                <a:latin typeface="宋体" panose="02010600030101010101" pitchFamily="2" charset="-122"/>
                <a:ea typeface="宋体" panose="02010600030101010101" pitchFamily="2" charset="-122"/>
              </a:rPr>
              <a:t>题评分细则</a:t>
            </a:r>
            <a:endParaRPr lang="zh-CN" altLang="en-US" sz="2800" b="1" dirty="0">
              <a:latin typeface="宋体" panose="02010600030101010101" pitchFamily="2" charset="-122"/>
              <a:ea typeface="宋体" panose="02010600030101010101" pitchFamily="2" charset="-122"/>
            </a:endParaRPr>
          </a:p>
        </p:txBody>
      </p:sp>
      <p:sp>
        <p:nvSpPr>
          <p:cNvPr id="8" name="文本框 7"/>
          <p:cNvSpPr txBox="1"/>
          <p:nvPr/>
        </p:nvSpPr>
        <p:spPr>
          <a:xfrm flipH="1">
            <a:off x="302557" y="1051470"/>
            <a:ext cx="2078334" cy="523220"/>
          </a:xfrm>
          <a:prstGeom prst="rect">
            <a:avLst/>
          </a:prstGeom>
          <a:solidFill>
            <a:srgbClr val="FFFF00"/>
          </a:solidFill>
          <a:ln>
            <a:solidFill>
              <a:schemeClr val="tx1"/>
            </a:solidFill>
          </a:ln>
        </p:spPr>
        <p:txBody>
          <a:bodyPr wrap="square" rtlCol="0">
            <a:spAutoFit/>
          </a:bodyPr>
          <a:lstStyle/>
          <a:p>
            <a:pPr>
              <a:defRPr/>
            </a:pPr>
            <a:r>
              <a:rPr kumimoji="0" lang="zh-CN" altLang="en-US"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a:t>
            </a:r>
            <a:r>
              <a:rPr kumimoji="0" lang="zh-CN" altLang="en-US" sz="2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主体</a:t>
            </a:r>
            <a:r>
              <a:rPr lang="en-US" altLang="zh-CN" sz="2800" b="1" dirty="0">
                <a:solidFill>
                  <a:prstClr val="black"/>
                </a:solidFill>
                <a:latin typeface="微软雅黑" panose="020B0503020204020204" pitchFamily="34" charset="-122"/>
                <a:ea typeface="微软雅黑" panose="020B0503020204020204" pitchFamily="34" charset="-122"/>
              </a:rPr>
              <a:t>1</a:t>
            </a:r>
            <a:r>
              <a:rPr lang="zh-CN" altLang="zh-CN" sz="2800" b="1" dirty="0">
                <a:solidFill>
                  <a:prstClr val="black"/>
                </a:solidFill>
                <a:latin typeface="微软雅黑" panose="020B0503020204020204" pitchFamily="34" charset="-122"/>
                <a:ea typeface="微软雅黑" panose="020B0503020204020204" pitchFamily="34" charset="-122"/>
              </a:rPr>
              <a:t>闫某</a:t>
            </a:r>
            <a:endParaRPr lang="zh-CN" altLang="en-US" sz="2400" b="1" dirty="0">
              <a:solidFill>
                <a:prstClr val="black"/>
              </a:solidFill>
              <a:latin typeface="微软雅黑" panose="020B0503020204020204" pitchFamily="34" charset="-122"/>
              <a:ea typeface="微软雅黑" panose="020B0503020204020204" pitchFamily="34" charset="-122"/>
            </a:endParaRPr>
          </a:p>
        </p:txBody>
      </p:sp>
      <p:sp>
        <p:nvSpPr>
          <p:cNvPr id="12" name="文本框 11"/>
          <p:cNvSpPr txBox="1"/>
          <p:nvPr/>
        </p:nvSpPr>
        <p:spPr>
          <a:xfrm>
            <a:off x="2855884" y="1120907"/>
            <a:ext cx="8959970" cy="523220"/>
          </a:xfrm>
          <a:prstGeom prst="rect">
            <a:avLst/>
          </a:prstGeom>
          <a:noFill/>
        </p:spPr>
        <p:txBody>
          <a:bodyPr wrap="square" rtlCol="0">
            <a:spAutoFit/>
          </a:bodyPr>
          <a:lstStyle/>
          <a:p>
            <a:r>
              <a:rPr lang="zh-CN" altLang="en-US" sz="2800" b="1" kern="100" dirty="0">
                <a:solidFill>
                  <a:srgbClr val="000000"/>
                </a:solidFill>
                <a:latin typeface="Calibri" panose="020F0502020204030204" pitchFamily="34" charset="0"/>
                <a:ea typeface="宋体" panose="02010600030101010101" pitchFamily="2" charset="-122"/>
              </a:rPr>
              <a:t>①</a:t>
            </a:r>
            <a:r>
              <a:rPr lang="zh-CN" altLang="en-US" sz="2800" b="1" kern="100" dirty="0">
                <a:solidFill>
                  <a:srgbClr val="000000"/>
                </a:solidFill>
                <a:highlight>
                  <a:srgbClr val="FFFF00"/>
                </a:highlight>
                <a:latin typeface="Calibri" panose="020F0502020204030204" pitchFamily="34" charset="0"/>
                <a:ea typeface="宋体" panose="02010600030101010101" pitchFamily="2" charset="-122"/>
              </a:rPr>
              <a:t>表态</a:t>
            </a:r>
            <a:r>
              <a:rPr lang="zh-CN" altLang="en-US" sz="2800" b="1" kern="100" dirty="0">
                <a:solidFill>
                  <a:srgbClr val="000000"/>
                </a:solidFill>
                <a:latin typeface="Calibri" panose="020F0502020204030204" pitchFamily="34" charset="0"/>
                <a:ea typeface="宋体" panose="02010600030101010101" pitchFamily="2" charset="-122"/>
              </a:rPr>
              <a:t>：</a:t>
            </a:r>
            <a:r>
              <a:rPr lang="zh-CN" altLang="zh-CN" sz="2800" b="1" kern="100" dirty="0">
                <a:solidFill>
                  <a:srgbClr val="000000"/>
                </a:solidFill>
                <a:latin typeface="Calibri" panose="020F0502020204030204" pitchFamily="34" charset="0"/>
                <a:ea typeface="宋体" panose="02010600030101010101" pitchFamily="2" charset="-122"/>
              </a:rPr>
              <a:t>闫某</a:t>
            </a:r>
            <a:r>
              <a:rPr lang="zh-CN" altLang="zh-CN" sz="2800" b="1" kern="100" dirty="0">
                <a:solidFill>
                  <a:srgbClr val="FF0000"/>
                </a:solidFill>
                <a:latin typeface="Calibri" panose="020F0502020204030204" pitchFamily="34" charset="0"/>
                <a:ea typeface="宋体" panose="02010600030101010101" pitchFamily="2" charset="-122"/>
              </a:rPr>
              <a:t>能</a:t>
            </a:r>
            <a:r>
              <a:rPr lang="zh-CN" altLang="zh-CN" sz="2800" b="1" kern="100" dirty="0">
                <a:solidFill>
                  <a:srgbClr val="000000"/>
                </a:solidFill>
                <a:effectLst/>
                <a:latin typeface="Calibri" panose="020F0502020204030204" pitchFamily="34" charset="0"/>
                <a:ea typeface="宋体" panose="02010600030101010101" pitchFamily="2" charset="-122"/>
                <a:cs typeface="宋体" panose="02010600030101010101" pitchFamily="2" charset="-122"/>
              </a:rPr>
              <a:t>获得法院支持。</a:t>
            </a:r>
            <a:r>
              <a:rPr lang="zh-CN" altLang="en-US" sz="28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8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r>
              <a:rPr lang="zh-CN" altLang="en-US" sz="28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分）</a:t>
            </a:r>
            <a:endParaRPr lang="zh-CN" altLang="en-US" sz="3200" b="1"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3" name="文本框 12"/>
          <p:cNvSpPr txBox="1"/>
          <p:nvPr/>
        </p:nvSpPr>
        <p:spPr>
          <a:xfrm>
            <a:off x="2493361" y="1859517"/>
            <a:ext cx="8959970" cy="1814830"/>
          </a:xfrm>
          <a:prstGeom prst="rect">
            <a:avLst/>
          </a:prstGeom>
          <a:noFill/>
        </p:spPr>
        <p:txBody>
          <a:bodyPr wrap="square" rtlCol="0">
            <a:spAutoFit/>
          </a:bodyPr>
          <a:lstStyle/>
          <a:p>
            <a:r>
              <a:rPr lang="zh-CN" altLang="en-US" sz="2800" b="1" kern="100" dirty="0">
                <a:solidFill>
                  <a:srgbClr val="000000"/>
                </a:solidFill>
                <a:latin typeface="Calibri" panose="020F0502020204030204" pitchFamily="34" charset="0"/>
                <a:ea typeface="宋体" panose="02010600030101010101" pitchFamily="2" charset="-122"/>
              </a:rPr>
              <a:t>②</a:t>
            </a:r>
            <a:r>
              <a:rPr lang="zh-CN" altLang="en-US" sz="2800" b="1" kern="100" dirty="0">
                <a:solidFill>
                  <a:srgbClr val="000000"/>
                </a:solidFill>
                <a:highlight>
                  <a:srgbClr val="FFFF00"/>
                </a:highlight>
                <a:latin typeface="Calibri" panose="020F0502020204030204" pitchFamily="34" charset="0"/>
                <a:ea typeface="宋体" panose="02010600030101010101" pitchFamily="2" charset="-122"/>
              </a:rPr>
              <a:t>法律依据</a:t>
            </a:r>
            <a:r>
              <a:rPr lang="zh-CN" altLang="en-US" sz="2800" b="1" kern="100" dirty="0">
                <a:solidFill>
                  <a:srgbClr val="000000"/>
                </a:solidFill>
                <a:latin typeface="Calibri" panose="020F0502020204030204" pitchFamily="34" charset="0"/>
                <a:ea typeface="宋体" panose="02010600030101010101" pitchFamily="2" charset="-122"/>
              </a:rPr>
              <a:t>：根据</a:t>
            </a:r>
            <a:r>
              <a:rPr lang="zh-CN" altLang="zh-CN" sz="2800" b="1" kern="100" dirty="0">
                <a:solidFill>
                  <a:srgbClr val="FF0000"/>
                </a:solidFill>
                <a:latin typeface="Calibri" panose="020F0502020204030204" pitchFamily="34" charset="0"/>
                <a:ea typeface="宋体" panose="02010600030101010101" pitchFamily="2" charset="-122"/>
              </a:rPr>
              <a:t>劳动法</a:t>
            </a:r>
            <a:r>
              <a:rPr lang="zh-CN" altLang="zh-CN" sz="2800" b="1" kern="100" dirty="0">
                <a:solidFill>
                  <a:srgbClr val="000000"/>
                </a:solidFill>
                <a:latin typeface="Calibri" panose="020F0502020204030204" pitchFamily="34" charset="0"/>
                <a:ea typeface="宋体" panose="02010600030101010101" pitchFamily="2" charset="-122"/>
              </a:rPr>
              <a:t>规定</a:t>
            </a:r>
            <a:r>
              <a:rPr lang="zh-CN" altLang="en-US" sz="2800" b="1" kern="100" dirty="0">
                <a:solidFill>
                  <a:srgbClr val="000000"/>
                </a:solidFill>
                <a:latin typeface="Calibri" panose="020F0502020204030204" pitchFamily="34" charset="0"/>
                <a:ea typeface="宋体" panose="02010600030101010101" pitchFamily="2" charset="-122"/>
              </a:rPr>
              <a:t>：“</a:t>
            </a:r>
            <a:r>
              <a:rPr lang="zh-CN" altLang="zh-CN" sz="2800" b="1" kern="100" dirty="0">
                <a:solidFill>
                  <a:srgbClr val="000000"/>
                </a:solidFill>
                <a:latin typeface="Calibri" panose="020F0502020204030204" pitchFamily="34" charset="0"/>
                <a:ea typeface="宋体" panose="02010600030101010101" pitchFamily="2" charset="-122"/>
              </a:rPr>
              <a:t>劳动者享有</a:t>
            </a:r>
            <a:r>
              <a:rPr lang="zh-CN" altLang="zh-CN" sz="2800" b="1" kern="100" dirty="0">
                <a:solidFill>
                  <a:srgbClr val="FF0000"/>
                </a:solidFill>
                <a:latin typeface="Calibri" panose="020F0502020204030204" pitchFamily="34" charset="0"/>
                <a:ea typeface="宋体" panose="02010600030101010101" pitchFamily="2" charset="-122"/>
              </a:rPr>
              <a:t>平等就业和选择职业的权利</a:t>
            </a:r>
            <a:r>
              <a:rPr lang="zh-CN" altLang="zh-CN" sz="2800" b="1" kern="100" dirty="0">
                <a:solidFill>
                  <a:srgbClr val="000000"/>
                </a:solidFill>
                <a:latin typeface="Calibri" panose="020F0502020204030204" pitchFamily="34" charset="0"/>
                <a:ea typeface="宋体" panose="02010600030101010101" pitchFamily="2" charset="-122"/>
              </a:rPr>
              <a:t>，不因民族、种族、性别、宗教信仰等不同而受歧视。</a:t>
            </a:r>
            <a:r>
              <a:rPr lang="zh-CN" altLang="en-US" sz="2800" b="1" kern="100" dirty="0">
                <a:solidFill>
                  <a:srgbClr val="000000"/>
                </a:solidFill>
                <a:latin typeface="Calibri" panose="020F0502020204030204" pitchFamily="34" charset="0"/>
                <a:ea typeface="宋体" panose="02010600030101010101" pitchFamily="2" charset="-122"/>
              </a:rPr>
              <a:t>”</a:t>
            </a:r>
            <a:r>
              <a:rPr lang="zh-CN" altLang="en-US" sz="2800" b="1"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800" b="1"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1</a:t>
            </a:r>
            <a:r>
              <a:rPr lang="zh-CN" altLang="en-US" sz="2800" b="1"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分）（</a:t>
            </a:r>
            <a:r>
              <a:rPr lang="zh-CN" altLang="en-US" sz="2800" b="1" kern="100" dirty="0">
                <a:solidFill>
                  <a:schemeClr val="accent1"/>
                </a:solidFill>
                <a:latin typeface="Times New Roman" panose="02020603050405020304" pitchFamily="18" charset="0"/>
                <a:ea typeface="宋体" panose="02010600030101010101" pitchFamily="2" charset="-122"/>
                <a:cs typeface="Times New Roman" panose="02020603050405020304" pitchFamily="18" charset="0"/>
              </a:rPr>
              <a:t>替代</a:t>
            </a:r>
            <a:r>
              <a:rPr lang="zh-CN" altLang="en-US" sz="2800" b="1"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：违反</a:t>
            </a:r>
            <a:r>
              <a:rPr lang="zh-CN" altLang="en-US" sz="28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劳动法平等竞争的原则、首要原则保护劳动者的合法权益</a:t>
            </a:r>
            <a:r>
              <a:rPr lang="zh-CN" altLang="en-US" sz="2800" b="1"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endParaRPr lang="zh-CN" altLang="en-US" sz="2800" b="1"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4" name="文本框 13"/>
          <p:cNvSpPr txBox="1"/>
          <p:nvPr/>
        </p:nvSpPr>
        <p:spPr>
          <a:xfrm>
            <a:off x="1671955" y="4121785"/>
            <a:ext cx="10150475" cy="1383665"/>
          </a:xfrm>
          <a:prstGeom prst="rect">
            <a:avLst/>
          </a:prstGeom>
          <a:noFill/>
        </p:spPr>
        <p:txBody>
          <a:bodyPr wrap="square" rtlCol="0">
            <a:spAutoFit/>
          </a:bodyPr>
          <a:lstStyle/>
          <a:p>
            <a:r>
              <a:rPr lang="zh-CN" altLang="en-US" sz="2800" b="1" kern="100" dirty="0">
                <a:solidFill>
                  <a:srgbClr val="000000"/>
                </a:solidFill>
                <a:latin typeface="Calibri" panose="020F0502020204030204" pitchFamily="34" charset="0"/>
                <a:ea typeface="宋体" panose="02010600030101010101" pitchFamily="2" charset="-122"/>
              </a:rPr>
              <a:t>③</a:t>
            </a:r>
            <a:r>
              <a:rPr lang="zh-CN" altLang="en-US" sz="2800" b="1" kern="100" dirty="0">
                <a:solidFill>
                  <a:srgbClr val="000000"/>
                </a:solidFill>
                <a:highlight>
                  <a:srgbClr val="FFFF00"/>
                </a:highlight>
                <a:latin typeface="Calibri" panose="020F0502020204030204" pitchFamily="34" charset="0"/>
                <a:ea typeface="宋体" panose="02010600030101010101" pitchFamily="2" charset="-122"/>
              </a:rPr>
              <a:t>事实依据</a:t>
            </a:r>
            <a:r>
              <a:rPr lang="zh-CN" altLang="en-US" sz="2800" b="1" kern="100" dirty="0">
                <a:solidFill>
                  <a:srgbClr val="000000"/>
                </a:solidFill>
                <a:latin typeface="Calibri" panose="020F0502020204030204" pitchFamily="34" charset="0"/>
                <a:ea typeface="宋体" panose="02010600030101010101" pitchFamily="2" charset="-122"/>
              </a:rPr>
              <a:t>：</a:t>
            </a:r>
            <a:r>
              <a:rPr lang="zh-CN" altLang="zh-CN" sz="2800" b="1" kern="100" dirty="0">
                <a:solidFill>
                  <a:srgbClr val="000000"/>
                </a:solidFill>
                <a:latin typeface="Calibri" panose="020F0502020204030204" pitchFamily="34" charset="0"/>
                <a:ea typeface="宋体" panose="02010600030101010101" pitchFamily="2" charset="-122"/>
              </a:rPr>
              <a:t>该公司因性别对求职者进行</a:t>
            </a:r>
            <a:r>
              <a:rPr lang="zh-CN" altLang="zh-CN" sz="2800" b="1" kern="100" dirty="0">
                <a:solidFill>
                  <a:srgbClr val="FF0000"/>
                </a:solidFill>
                <a:latin typeface="Calibri" panose="020F0502020204030204" pitchFamily="34" charset="0"/>
                <a:ea typeface="宋体" panose="02010600030101010101" pitchFamily="2" charset="-122"/>
              </a:rPr>
              <a:t>差别对待</a:t>
            </a:r>
            <a:r>
              <a:rPr lang="zh-CN" altLang="zh-CN" sz="2800" b="1" kern="100" dirty="0">
                <a:solidFill>
                  <a:srgbClr val="000000"/>
                </a:solidFill>
                <a:latin typeface="Calibri" panose="020F0502020204030204" pitchFamily="34" charset="0"/>
                <a:ea typeface="宋体" panose="02010600030101010101" pitchFamily="2" charset="-122"/>
              </a:rPr>
              <a:t>，属于</a:t>
            </a:r>
            <a:r>
              <a:rPr lang="zh-CN" altLang="zh-CN" sz="2800" b="1" kern="100" dirty="0">
                <a:solidFill>
                  <a:srgbClr val="FF0000"/>
                </a:solidFill>
                <a:latin typeface="Calibri" panose="020F0502020204030204" pitchFamily="34" charset="0"/>
                <a:ea typeface="宋体" panose="02010600030101010101" pitchFamily="2" charset="-122"/>
              </a:rPr>
              <a:t>就业歧视</a:t>
            </a:r>
            <a:r>
              <a:rPr lang="zh-CN" altLang="en-US" sz="28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2800" b="1"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（任意一个</a:t>
            </a:r>
            <a:r>
              <a:rPr lang="en-US" altLang="zh-CN" sz="2800" b="1"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1</a:t>
            </a:r>
            <a:r>
              <a:rPr lang="zh-CN" altLang="en-US" sz="2800" b="1"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分）</a:t>
            </a:r>
            <a:r>
              <a:rPr lang="zh-CN" altLang="zh-CN" sz="2800" b="1"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违</a:t>
            </a:r>
            <a:r>
              <a:rPr lang="zh-CN" altLang="zh-CN" sz="2800" b="1" kern="100" dirty="0">
                <a:solidFill>
                  <a:srgbClr val="000000"/>
                </a:solidFill>
                <a:latin typeface="Calibri" panose="020F0502020204030204" pitchFamily="34" charset="0"/>
                <a:ea typeface="宋体" panose="02010600030101010101" pitchFamily="2" charset="-122"/>
              </a:rPr>
              <a:t>反</a:t>
            </a:r>
            <a:r>
              <a:rPr lang="zh-CN" altLang="zh-CN" sz="2800" b="1" kern="100" dirty="0">
                <a:solidFill>
                  <a:srgbClr val="FF0000"/>
                </a:solidFill>
                <a:latin typeface="Calibri" panose="020F0502020204030204" pitchFamily="34" charset="0"/>
                <a:ea typeface="宋体" panose="02010600030101010101" pitchFamily="2" charset="-122"/>
              </a:rPr>
              <a:t>公平、平等</a:t>
            </a:r>
            <a:r>
              <a:rPr lang="zh-CN" altLang="zh-CN" sz="2800" b="1" kern="100" dirty="0">
                <a:solidFill>
                  <a:srgbClr val="000000"/>
                </a:solidFill>
                <a:latin typeface="Calibri" panose="020F0502020204030204" pitchFamily="34" charset="0"/>
                <a:ea typeface="宋体" panose="02010600030101010101" pitchFamily="2" charset="-122"/>
              </a:rPr>
              <a:t>原则，</a:t>
            </a:r>
            <a:r>
              <a:rPr lang="zh-CN" altLang="en-US" sz="2800" b="1"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2800" b="1"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1</a:t>
            </a:r>
            <a:r>
              <a:rPr lang="zh-CN" altLang="en-US" sz="2800" b="1"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分）</a:t>
            </a:r>
            <a:r>
              <a:rPr lang="zh-CN" altLang="zh-CN" sz="2800" b="1" kern="100" dirty="0">
                <a:solidFill>
                  <a:srgbClr val="000000"/>
                </a:solidFill>
                <a:latin typeface="Calibri" panose="020F0502020204030204" pitchFamily="34" charset="0"/>
                <a:ea typeface="宋体" panose="02010600030101010101" pitchFamily="2" charset="-122"/>
              </a:rPr>
              <a:t> 损害了闫某平等地获得就业机会的权益</a:t>
            </a:r>
            <a:r>
              <a:rPr lang="zh-CN" altLang="en-US" sz="2800" b="1" kern="100" dirty="0">
                <a:solidFill>
                  <a:srgbClr val="000000"/>
                </a:solidFill>
                <a:latin typeface="Calibri" panose="020F0502020204030204" pitchFamily="34" charset="0"/>
                <a:ea typeface="宋体" panose="02010600030101010101" pitchFamily="2" charset="-122"/>
              </a:rPr>
              <a:t>。</a:t>
            </a:r>
            <a:r>
              <a:rPr lang="zh-CN" altLang="en-US" sz="2800" b="1"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（任意一个</a:t>
            </a:r>
            <a:r>
              <a:rPr lang="en-US" altLang="zh-CN" sz="2800" b="1"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1</a:t>
            </a:r>
            <a:r>
              <a:rPr lang="zh-CN" altLang="en-US" sz="2800" b="1"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分）</a:t>
            </a:r>
            <a:r>
              <a:rPr lang="zh-CN" altLang="zh-CN" sz="2800" b="1" kern="100" dirty="0">
                <a:solidFill>
                  <a:srgbClr val="000000"/>
                </a:solidFill>
                <a:latin typeface="Calibri" panose="020F0502020204030204" pitchFamily="34" charset="0"/>
                <a:ea typeface="宋体" panose="02010600030101010101" pitchFamily="2" charset="-122"/>
                <a:sym typeface="+mn-ea"/>
              </a:rPr>
              <a:t> </a:t>
            </a:r>
            <a:r>
              <a:rPr lang="zh-CN" altLang="zh-CN" sz="2800" b="1" kern="100" dirty="0">
                <a:solidFill>
                  <a:srgbClr val="000000"/>
                </a:solidFill>
                <a:latin typeface="Calibri" panose="020F0502020204030204" pitchFamily="34" charset="0"/>
                <a:ea typeface="宋体" panose="02010600030101010101" pitchFamily="2" charset="-122"/>
              </a:rPr>
              <a:t> </a:t>
            </a:r>
            <a:r>
              <a:rPr lang="zh-CN" altLang="en-US" sz="2800" b="1"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（共</a:t>
            </a:r>
            <a:r>
              <a:rPr lang="en-US" altLang="zh-CN" sz="2800" b="1"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2</a:t>
            </a:r>
            <a:r>
              <a:rPr lang="zh-CN" altLang="en-US" sz="2800" b="1"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分）</a:t>
            </a:r>
            <a:endParaRPr lang="zh-CN" altLang="en-US" sz="2800" b="1"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2029377" y="317399"/>
            <a:ext cx="10242711" cy="6092825"/>
          </a:xfrm>
          <a:prstGeom prst="rect">
            <a:avLst/>
          </a:prstGeom>
          <a:noFill/>
        </p:spPr>
        <p:txBody>
          <a:bodyPr wrap="square">
            <a:spAutoFit/>
          </a:bodyPr>
          <a:lstStyle/>
          <a:p>
            <a:pPr algn="l">
              <a:lnSpc>
                <a:spcPct val="150000"/>
              </a:lnSpc>
              <a:buNone/>
            </a:pPr>
            <a:endParaRPr lang="zh-CN" altLang="zh-CN" sz="2000" b="1" kern="100" dirty="0">
              <a:effectLst/>
              <a:latin typeface="Calibri" panose="020F0502020204030204" pitchFamily="34" charset="0"/>
              <a:ea typeface="宋体" panose="02010600030101010101" pitchFamily="2" charset="-122"/>
              <a:cs typeface="Times New Roman" panose="02020603050405020304" pitchFamily="18" charset="0"/>
            </a:endParaRPr>
          </a:p>
          <a:p>
            <a:pPr indent="266700">
              <a:lnSpc>
                <a:spcPct val="150000"/>
              </a:lnSpc>
            </a:pPr>
            <a:r>
              <a:rPr lang="zh-CN" altLang="en-US" sz="2400" b="1"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①</a:t>
            </a:r>
            <a:r>
              <a:rPr lang="zh-CN" altLang="en-US" sz="2400" b="1" kern="100" dirty="0">
                <a:solidFill>
                  <a:srgbClr val="000000"/>
                </a:solidFill>
                <a:highlight>
                  <a:srgbClr val="FFFF00"/>
                </a:highlight>
                <a:latin typeface="Times New Roman" panose="02020603050405020304" pitchFamily="18" charset="0"/>
                <a:ea typeface="宋体" panose="02010600030101010101" pitchFamily="2" charset="-122"/>
                <a:cs typeface="Times New Roman" panose="02020603050405020304" pitchFamily="18" charset="0"/>
              </a:rPr>
              <a:t>表态：</a:t>
            </a:r>
            <a:r>
              <a:rPr lang="zh-CN" altLang="zh-CN" sz="2400" b="1"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张某</a:t>
            </a:r>
            <a:r>
              <a:rPr lang="zh-CN" altLang="zh-CN" sz="24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不能</a:t>
            </a:r>
            <a:r>
              <a:rPr lang="zh-CN" altLang="zh-CN" sz="2400" b="1"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获得法院支持。</a:t>
            </a:r>
            <a:r>
              <a:rPr lang="zh-CN" altLang="en-US" sz="2400" b="1"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400" b="1"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1</a:t>
            </a:r>
            <a:r>
              <a:rPr lang="zh-CN" altLang="en-US" sz="2400" b="1"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分）</a:t>
            </a:r>
            <a:endParaRPr lang="zh-CN" altLang="en-US" sz="2400" b="1"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p>
            <a:pPr indent="266700">
              <a:lnSpc>
                <a:spcPct val="150000"/>
              </a:lnSpc>
            </a:pPr>
            <a:r>
              <a:rPr lang="zh-CN" altLang="en-US" sz="2400" b="1"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②</a:t>
            </a:r>
            <a:r>
              <a:rPr lang="zh-CN" altLang="en-US" sz="2400" b="1" kern="100" dirty="0">
                <a:solidFill>
                  <a:srgbClr val="000000"/>
                </a:solidFill>
                <a:highlight>
                  <a:srgbClr val="FFFF00"/>
                </a:highlight>
                <a:latin typeface="Times New Roman" panose="02020603050405020304" pitchFamily="18" charset="0"/>
                <a:ea typeface="宋体" panose="02010600030101010101" pitchFamily="2" charset="-122"/>
                <a:cs typeface="Times New Roman" panose="02020603050405020304" pitchFamily="18" charset="0"/>
              </a:rPr>
              <a:t>法律依据：</a:t>
            </a:r>
            <a:r>
              <a:rPr lang="zh-CN" altLang="en-US" sz="2400" b="1"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根据</a:t>
            </a:r>
            <a:r>
              <a:rPr lang="zh-CN" altLang="zh-CN" sz="24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竞业限制协议</a:t>
            </a:r>
            <a:r>
              <a:rPr lang="zh-CN" altLang="en-US" sz="24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，张某</a:t>
            </a:r>
            <a:r>
              <a:rPr lang="zh-CN" altLang="zh-CN" sz="24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应</a:t>
            </a:r>
            <a:r>
              <a:rPr lang="zh-CN" altLang="zh-CN" sz="24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按照约定履行竞业限制义务</a:t>
            </a:r>
            <a:r>
              <a:rPr lang="zh-CN" altLang="zh-CN" sz="24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altLang="en-US" sz="2400" b="1"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1</a:t>
            </a:r>
            <a:r>
              <a:rPr lang="zh-CN" altLang="en-US" sz="2400" b="1"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分）（</a:t>
            </a:r>
            <a:r>
              <a:rPr lang="zh-CN" altLang="en-US" sz="2400" b="1" kern="100" dirty="0">
                <a:solidFill>
                  <a:schemeClr val="accent1"/>
                </a:solidFill>
                <a:latin typeface="Times New Roman" panose="02020603050405020304" pitchFamily="18" charset="0"/>
                <a:ea typeface="宋体" panose="02010600030101010101" pitchFamily="2" charset="-122"/>
                <a:cs typeface="Times New Roman" panose="02020603050405020304" pitchFamily="18" charset="0"/>
              </a:rPr>
              <a:t>替代：</a:t>
            </a:r>
            <a:r>
              <a:rPr lang="zh-CN" altLang="en-US" sz="2400" b="1"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全面、正确履行协议</a:t>
            </a:r>
            <a:r>
              <a:rPr lang="en-US" altLang="zh-CN" sz="2400" b="1"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2400" b="1"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劳动合同法）</a:t>
            </a:r>
            <a:endParaRPr lang="en-US" altLang="zh-CN" sz="2400" b="1"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p>
            <a:pPr indent="266700">
              <a:lnSpc>
                <a:spcPct val="150000"/>
              </a:lnSpc>
            </a:pPr>
            <a:r>
              <a:rPr lang="zh-CN" altLang="zh-CN" sz="2400" b="1"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③</a:t>
            </a:r>
            <a:r>
              <a:rPr lang="zh-CN" altLang="en-US" sz="2400" b="1" kern="100" dirty="0">
                <a:solidFill>
                  <a:srgbClr val="000000"/>
                </a:solidFill>
                <a:highlight>
                  <a:srgbClr val="FFFF00"/>
                </a:highlight>
                <a:latin typeface="Times New Roman" panose="02020603050405020304" pitchFamily="18" charset="0"/>
                <a:ea typeface="宋体" panose="02010600030101010101" pitchFamily="2" charset="-122"/>
                <a:cs typeface="Times New Roman" panose="02020603050405020304" pitchFamily="18" charset="0"/>
              </a:rPr>
              <a:t>事实依据：</a:t>
            </a:r>
            <a:r>
              <a:rPr lang="zh-CN" altLang="zh-CN" sz="24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张某之妻作为</a:t>
            </a:r>
            <a:r>
              <a:rPr lang="en-US" altLang="zh-CN" sz="24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B</a:t>
            </a:r>
            <a:r>
              <a:rPr lang="zh-CN" altLang="zh-CN" sz="24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公司投资人，</a:t>
            </a:r>
            <a:r>
              <a:rPr lang="zh-CN" altLang="en-US" sz="2400" b="1"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其</a:t>
            </a:r>
            <a:r>
              <a:rPr lang="zh-CN" altLang="zh-CN" sz="2400" b="1"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投资行为发生</a:t>
            </a:r>
            <a:r>
              <a:rPr lang="zh-CN" altLang="en-US" sz="2400" b="1"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在</a:t>
            </a:r>
            <a:r>
              <a:rPr lang="zh-CN" altLang="zh-CN" sz="2400" b="1"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张某从</a:t>
            </a:r>
            <a:r>
              <a:rPr lang="en-US" altLang="zh-CN" sz="2400" b="1"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a:t>
            </a:r>
            <a:r>
              <a:rPr lang="zh-CN" altLang="zh-CN" sz="2400" b="1"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公司离职</a:t>
            </a:r>
            <a:r>
              <a:rPr lang="zh-CN" altLang="en-US" sz="2400" b="1"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后，而且</a:t>
            </a:r>
            <a:r>
              <a:rPr lang="zh-CN" altLang="zh-CN" sz="24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在经营业务上与</a:t>
            </a:r>
            <a:r>
              <a:rPr lang="en-US" altLang="zh-CN" sz="24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a:t>
            </a:r>
            <a:r>
              <a:rPr lang="zh-CN" altLang="zh-CN" sz="24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公司存在</a:t>
            </a:r>
            <a:r>
              <a:rPr lang="zh-CN" altLang="zh-CN" sz="24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竞争关系</a:t>
            </a:r>
            <a:r>
              <a:rPr lang="zh-CN" altLang="zh-CN" sz="24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24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属于竞业限制单位</a:t>
            </a:r>
            <a:r>
              <a:rPr lang="zh-CN" altLang="zh-CN" sz="24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altLang="en-US" sz="2400" b="1"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400" b="1"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1</a:t>
            </a:r>
            <a:r>
              <a:rPr lang="zh-CN" altLang="en-US" sz="2400" b="1"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分）</a:t>
            </a:r>
            <a:r>
              <a:rPr lang="zh-CN" altLang="zh-CN" sz="2400" b="1"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张某与配偶在婚姻关系存续期间的生产、经营所得属于</a:t>
            </a:r>
            <a:r>
              <a:rPr lang="zh-CN" altLang="zh-CN" sz="24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夫妻共同财产</a:t>
            </a:r>
            <a:r>
              <a:rPr lang="zh-CN" altLang="zh-CN" sz="2400" b="1"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zh-CN" sz="24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具有利益一致性</a:t>
            </a:r>
            <a:r>
              <a:rPr lang="zh-CN" altLang="en-US" sz="2400" b="1"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zh-CN" sz="2400" b="1"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2400" b="1" kern="100" dirty="0">
                <a:solidFill>
                  <a:schemeClr val="accent1"/>
                </a:solidFill>
                <a:latin typeface="Times New Roman" panose="02020603050405020304" pitchFamily="18" charset="0"/>
                <a:ea typeface="宋体" panose="02010600030101010101" pitchFamily="2" charset="-122"/>
                <a:cs typeface="Times New Roman" panose="02020603050405020304" pitchFamily="18" charset="0"/>
              </a:rPr>
              <a:t>替代：</a:t>
            </a:r>
            <a:r>
              <a:rPr lang="en-US" altLang="zh-CN" sz="2400" b="1"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B</a:t>
            </a:r>
            <a:r>
              <a:rPr lang="zh-CN" altLang="en-US" sz="2400" b="1"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公司的关联公司为张某缴纳社保，存在利益关系）（共</a:t>
            </a:r>
            <a:r>
              <a:rPr lang="en-US" altLang="zh-CN" sz="2400" b="1"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2</a:t>
            </a:r>
            <a:r>
              <a:rPr lang="zh-CN" altLang="en-US" sz="2400" b="1"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分）</a:t>
            </a:r>
            <a:endParaRPr lang="en-US" altLang="zh-CN" sz="2400" b="1"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p>
            <a:pPr indent="266700">
              <a:lnSpc>
                <a:spcPct val="150000"/>
              </a:lnSpc>
            </a:pPr>
            <a:endParaRPr lang="en-US" altLang="zh-CN" sz="2400" b="1"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p>
            <a:pPr indent="266700">
              <a:lnSpc>
                <a:spcPct val="150000"/>
              </a:lnSpc>
            </a:pPr>
            <a:endParaRPr lang="en-US" altLang="zh-CN" sz="2400" b="1"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6" name="文本框 5"/>
          <p:cNvSpPr txBox="1"/>
          <p:nvPr/>
        </p:nvSpPr>
        <p:spPr>
          <a:xfrm>
            <a:off x="0" y="201655"/>
            <a:ext cx="3502325" cy="523220"/>
          </a:xfrm>
          <a:prstGeom prst="rect">
            <a:avLst/>
          </a:prstGeom>
          <a:noFill/>
        </p:spPr>
        <p:txBody>
          <a:bodyPr wrap="square" rtlCol="0">
            <a:spAutoFit/>
          </a:bodyPr>
          <a:lstStyle/>
          <a:p>
            <a:r>
              <a:rPr lang="en-US" altLang="zh-CN" sz="2800" b="1" dirty="0">
                <a:latin typeface="宋体" panose="02010600030101010101" pitchFamily="2" charset="-122"/>
                <a:ea typeface="宋体" panose="02010600030101010101" pitchFamily="2" charset="-122"/>
              </a:rPr>
              <a:t>18</a:t>
            </a:r>
            <a:r>
              <a:rPr lang="zh-CN" altLang="en-US" sz="2800" b="1" dirty="0">
                <a:latin typeface="宋体" panose="02010600030101010101" pitchFamily="2" charset="-122"/>
                <a:ea typeface="宋体" panose="02010600030101010101" pitchFamily="2" charset="-122"/>
              </a:rPr>
              <a:t>题评分细则</a:t>
            </a:r>
            <a:endParaRPr lang="zh-CN" altLang="en-US" sz="2800" b="1" dirty="0">
              <a:latin typeface="宋体" panose="02010600030101010101" pitchFamily="2" charset="-122"/>
              <a:ea typeface="宋体" panose="02010600030101010101" pitchFamily="2" charset="-122"/>
            </a:endParaRPr>
          </a:p>
        </p:txBody>
      </p:sp>
      <p:sp>
        <p:nvSpPr>
          <p:cNvPr id="9" name="文本框 8"/>
          <p:cNvSpPr txBox="1"/>
          <p:nvPr/>
        </p:nvSpPr>
        <p:spPr>
          <a:xfrm flipH="1">
            <a:off x="68679" y="1002211"/>
            <a:ext cx="1966598" cy="523220"/>
          </a:xfrm>
          <a:prstGeom prst="rect">
            <a:avLst/>
          </a:prstGeom>
          <a:solidFill>
            <a:srgbClr val="FFFF00"/>
          </a:solidFill>
          <a:ln>
            <a:solidFill>
              <a:schemeClr val="tx1"/>
            </a:solidFill>
          </a:ln>
        </p:spPr>
        <p:txBody>
          <a:bodyPr wrap="square" rtlCol="0">
            <a:spAutoFit/>
          </a:bodyPr>
          <a:lstStyle/>
          <a:p>
            <a:pPr lvl="0">
              <a:defRPr/>
            </a:pPr>
            <a:r>
              <a:rPr kumimoji="0" lang="zh-CN" altLang="en-US"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a:t>
            </a:r>
            <a:r>
              <a:rPr lang="zh-CN" altLang="en-US" sz="2800" b="1" dirty="0">
                <a:solidFill>
                  <a:prstClr val="black"/>
                </a:solidFill>
                <a:latin typeface="微软雅黑" panose="020B0503020204020204" pitchFamily="34" charset="-122"/>
                <a:ea typeface="微软雅黑" panose="020B0503020204020204" pitchFamily="34" charset="-122"/>
              </a:rPr>
              <a:t>主体</a:t>
            </a:r>
            <a:r>
              <a:rPr lang="en-US" altLang="zh-CN" sz="2800" b="1" dirty="0">
                <a:solidFill>
                  <a:prstClr val="black"/>
                </a:solidFill>
                <a:latin typeface="微软雅黑" panose="020B0503020204020204" pitchFamily="34" charset="-122"/>
                <a:ea typeface="微软雅黑" panose="020B0503020204020204" pitchFamily="34" charset="-122"/>
              </a:rPr>
              <a:t>2</a:t>
            </a:r>
            <a:r>
              <a:rPr lang="zh-CN" altLang="zh-CN" sz="2800" b="1" dirty="0">
                <a:solidFill>
                  <a:prstClr val="black"/>
                </a:solidFill>
                <a:latin typeface="微软雅黑" panose="020B0503020204020204" pitchFamily="34" charset="-122"/>
                <a:ea typeface="微软雅黑" panose="020B0503020204020204" pitchFamily="34" charset="-122"/>
              </a:rPr>
              <a:t>张某</a:t>
            </a:r>
            <a:endParaRPr lang="zh-CN" altLang="en-US" sz="2800" b="1" dirty="0">
              <a:solidFill>
                <a:prstClr val="black"/>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432452" y="5104611"/>
            <a:ext cx="11566632" cy="1753235"/>
          </a:xfrm>
          <a:prstGeom prst="rect">
            <a:avLst/>
          </a:prstGeom>
          <a:noFill/>
        </p:spPr>
        <p:txBody>
          <a:bodyPr wrap="square" rtlCol="0">
            <a:spAutoFit/>
          </a:bodyPr>
          <a:lstStyle/>
          <a:p>
            <a:pPr>
              <a:lnSpc>
                <a:spcPct val="150000"/>
              </a:lnSpc>
            </a:pPr>
            <a:r>
              <a:rPr lang="zh-CN" altLang="en-US" sz="2400" b="1" kern="100" dirty="0">
                <a:solidFill>
                  <a:srgbClr val="000000"/>
                </a:solidFill>
                <a:highlight>
                  <a:srgbClr val="FFFF00"/>
                </a:highlight>
                <a:latin typeface="Calibri" panose="020F0502020204030204" pitchFamily="34" charset="0"/>
                <a:ea typeface="宋体" panose="02010600030101010101" pitchFamily="2" charset="-122"/>
              </a:rPr>
              <a:t>两个案件共同价值意义</a:t>
            </a:r>
            <a:r>
              <a:rPr lang="zh-CN" altLang="en-US" sz="2400" b="1" kern="100" dirty="0">
                <a:solidFill>
                  <a:srgbClr val="000000"/>
                </a:solidFill>
                <a:latin typeface="Calibri" panose="020F0502020204030204" pitchFamily="34" charset="0"/>
                <a:ea typeface="宋体" panose="02010600030101010101" pitchFamily="2" charset="-122"/>
              </a:rPr>
              <a:t>：有利于引导劳动者坚持</a:t>
            </a:r>
            <a:r>
              <a:rPr lang="zh-CN" altLang="en-US" sz="2400" b="1" kern="100" dirty="0">
                <a:solidFill>
                  <a:srgbClr val="FF0000"/>
                </a:solidFill>
                <a:latin typeface="Calibri" panose="020F0502020204030204" pitchFamily="34" charset="0"/>
                <a:ea typeface="宋体" panose="02010600030101010101" pitchFamily="2" charset="-122"/>
              </a:rPr>
              <a:t>权利义务相统一</a:t>
            </a:r>
            <a:r>
              <a:rPr lang="zh-CN" altLang="en-US" sz="2400" b="1" kern="100" dirty="0">
                <a:solidFill>
                  <a:srgbClr val="000000"/>
                </a:solidFill>
                <a:latin typeface="Calibri" panose="020F0502020204030204" pitchFamily="34" charset="0"/>
                <a:ea typeface="宋体" panose="02010600030101010101" pitchFamily="2" charset="-122"/>
              </a:rPr>
              <a:t>，在维护自身劳动群益的同时，也要承担相应的义务，有利于平衡劳动者和用人单位利益，构建和谐劳动关系（</a:t>
            </a:r>
            <a:r>
              <a:rPr lang="zh-CN" altLang="en-US" sz="2400" b="1"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可加</a:t>
            </a:r>
            <a:r>
              <a:rPr lang="en-US" altLang="zh-CN" sz="2400" b="1"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1</a:t>
            </a:r>
            <a:r>
              <a:rPr lang="zh-CN" altLang="en-US" sz="2400" b="1"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分，满分不超过</a:t>
            </a:r>
            <a:r>
              <a:rPr lang="en-US" altLang="zh-CN" sz="2400" b="1"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8</a:t>
            </a:r>
            <a:r>
              <a:rPr lang="zh-CN" altLang="en-US" sz="2400" b="1"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分）</a:t>
            </a:r>
            <a:endParaRPr lang="zh-CN" altLang="en-US" sz="2400" b="1"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223706" y="53304"/>
            <a:ext cx="11864830" cy="32316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black"/>
                </a:solidFill>
                <a:effectLst/>
                <a:uLnTx/>
                <a:uFillTx/>
                <a:latin typeface="黑体" panose="02010609060101010101" pitchFamily="49" charset="-122"/>
                <a:ea typeface="黑体" panose="02010609060101010101" pitchFamily="49" charset="-122"/>
                <a:cs typeface="+mn-cs"/>
              </a:rPr>
              <a:t>19</a:t>
            </a:r>
            <a:r>
              <a:rPr kumimoji="0" lang="zh-CN" altLang="en-US" sz="2000" b="0" i="0" u="none" strike="noStrike" kern="1200" cap="none" spc="0" normalizeH="0" baseline="0" noProof="0" dirty="0">
                <a:ln>
                  <a:noFill/>
                </a:ln>
                <a:solidFill>
                  <a:prstClr val="black"/>
                </a:solidFill>
                <a:effectLst/>
                <a:uLnTx/>
                <a:uFillTx/>
                <a:latin typeface="黑体" panose="02010609060101010101" pitchFamily="49" charset="-122"/>
                <a:ea typeface="黑体" panose="02010609060101010101" pitchFamily="49" charset="-122"/>
                <a:cs typeface="+mn-cs"/>
              </a:rPr>
              <a:t>（</a:t>
            </a:r>
            <a:r>
              <a:rPr kumimoji="0" lang="en-US" altLang="zh-CN" sz="2000" b="0" i="0" u="none" strike="noStrike" kern="1200" cap="none" spc="0" normalizeH="0" baseline="0" noProof="0" dirty="0">
                <a:ln>
                  <a:noFill/>
                </a:ln>
                <a:solidFill>
                  <a:prstClr val="black"/>
                </a:solidFill>
                <a:effectLst/>
                <a:uLnTx/>
                <a:uFillTx/>
                <a:latin typeface="黑体" panose="02010609060101010101" pitchFamily="49" charset="-122"/>
                <a:ea typeface="黑体" panose="02010609060101010101" pitchFamily="49" charset="-122"/>
                <a:cs typeface="+mn-cs"/>
              </a:rPr>
              <a:t>1</a:t>
            </a:r>
            <a:r>
              <a:rPr kumimoji="0" lang="zh-CN" altLang="en-US" sz="2000" b="0" i="0" u="none" strike="noStrike" kern="1200" cap="none" spc="0" normalizeH="0" baseline="0" noProof="0" dirty="0">
                <a:ln>
                  <a:noFill/>
                </a:ln>
                <a:solidFill>
                  <a:prstClr val="black"/>
                </a:solidFill>
                <a:effectLst/>
                <a:uLnTx/>
                <a:uFillTx/>
                <a:latin typeface="黑体" panose="02010609060101010101" pitchFamily="49" charset="-122"/>
                <a:ea typeface="黑体" panose="02010609060101010101" pitchFamily="49" charset="-122"/>
                <a:cs typeface="+mn-cs"/>
              </a:rPr>
              <a:t>）</a:t>
            </a:r>
            <a:r>
              <a:rPr kumimoji="0" lang="zh-CN" altLang="en-US" sz="2000" b="1" i="0" u="none" strike="noStrike" kern="1200" cap="none" spc="0" normalizeH="0" baseline="0" noProof="0" dirty="0">
                <a:ln>
                  <a:noFill/>
                </a:ln>
                <a:solidFill>
                  <a:prstClr val="black"/>
                </a:solidFill>
                <a:effectLst/>
                <a:uLnTx/>
                <a:uFillTx/>
                <a:latin typeface="楷体" panose="02010609060101010101" charset="-122"/>
                <a:ea typeface="楷体" panose="02010609060101010101" charset="-122"/>
                <a:cs typeface="+mn-cs"/>
              </a:rPr>
              <a:t>“十五五”开局之年，我国将加快培育和发展未来产业，以现代化产业新优势把握未来发展主动权。</a:t>
            </a:r>
            <a:endParaRPr kumimoji="0" lang="en-US" altLang="zh-CN" sz="2000" b="1" i="0" u="none" strike="noStrike" kern="1200" cap="none" spc="0" normalizeH="0" baseline="0" noProof="0" dirty="0">
              <a:ln>
                <a:noFill/>
              </a:ln>
              <a:solidFill>
                <a:prstClr val="black"/>
              </a:solidFill>
              <a:effectLst/>
              <a:uLnTx/>
              <a:uFillTx/>
              <a:latin typeface="楷体" panose="02010609060101010101" charset="-122"/>
              <a:ea typeface="楷体" panose="02010609060101010101"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prstClr val="black"/>
                </a:solidFill>
                <a:effectLst/>
                <a:uLnTx/>
                <a:uFillTx/>
                <a:latin typeface="楷体" panose="02010609060101010101" charset="-122"/>
                <a:ea typeface="楷体" panose="02010609060101010101" charset="-122"/>
                <a:cs typeface="+mn-cs"/>
              </a:rPr>
              <a:t>   </a:t>
            </a:r>
            <a:r>
              <a:rPr kumimoji="0" lang="zh-CN" altLang="en-US" sz="2000" b="1" i="0" u="none" strike="noStrike" kern="1200" cap="none" spc="0" normalizeH="0" baseline="0" noProof="0" dirty="0">
                <a:ln>
                  <a:noFill/>
                </a:ln>
                <a:solidFill>
                  <a:prstClr val="black"/>
                </a:solidFill>
                <a:effectLst/>
                <a:uLnTx/>
                <a:uFillTx/>
                <a:latin typeface="楷体" panose="02010609060101010101" charset="-122"/>
                <a:ea typeface="楷体" panose="02010609060101010101" charset="-122"/>
                <a:cs typeface="+mn-cs"/>
              </a:rPr>
              <a:t> 材料一　未来产业由前沿技术驱动，具有前瞻性、战略性、颠覆性等特点。 “十五五” 规划建议提出，推动量子科技、生物制造、氢能和核聚变能、脑机接口、具身智能、第六代移动通信等成为新的经济增长点，这些领域正是未来产业的典型代表。</a:t>
            </a:r>
            <a:endParaRPr kumimoji="0" lang="en-US" altLang="zh-CN" sz="2000" b="1" i="0" u="none" strike="noStrike" kern="1200" cap="none" spc="0" normalizeH="0" baseline="0" noProof="0" dirty="0">
              <a:ln>
                <a:noFill/>
              </a:ln>
              <a:solidFill>
                <a:prstClr val="black"/>
              </a:solidFill>
              <a:effectLst/>
              <a:uLnTx/>
              <a:uFillTx/>
              <a:latin typeface="楷体" panose="02010609060101010101" charset="-122"/>
              <a:ea typeface="楷体" panose="02010609060101010101"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prstClr val="black"/>
                </a:solidFill>
                <a:effectLst/>
                <a:uLnTx/>
                <a:uFillTx/>
                <a:latin typeface="楷体" panose="02010609060101010101" charset="-122"/>
                <a:ea typeface="楷体" panose="02010609060101010101" charset="-122"/>
                <a:cs typeface="+mn-cs"/>
              </a:rPr>
              <a:t>   </a:t>
            </a:r>
            <a:r>
              <a:rPr kumimoji="0" lang="zh-CN" altLang="en-US" sz="2000" b="1" i="0" u="none" strike="noStrike" kern="1200" cap="none" spc="0" normalizeH="0" baseline="0" noProof="0" dirty="0">
                <a:ln>
                  <a:noFill/>
                </a:ln>
                <a:solidFill>
                  <a:prstClr val="black"/>
                </a:solidFill>
                <a:effectLst/>
                <a:uLnTx/>
                <a:uFillTx/>
                <a:latin typeface="楷体" panose="02010609060101010101" charset="-122"/>
                <a:ea typeface="楷体" panose="02010609060101010101" charset="-122"/>
                <a:cs typeface="+mn-cs"/>
              </a:rPr>
              <a:t> 据此，某同学得出以下推论</a:t>
            </a:r>
            <a:r>
              <a:rPr kumimoji="0" lang="en-US" altLang="zh-CN" sz="2000" b="1" i="0" u="none" strike="noStrike" kern="1200" cap="none" spc="0" normalizeH="0" baseline="0" noProof="0" dirty="0">
                <a:ln>
                  <a:noFill/>
                </a:ln>
                <a:solidFill>
                  <a:prstClr val="black"/>
                </a:solidFill>
                <a:effectLst/>
                <a:uLnTx/>
                <a:uFillTx/>
                <a:latin typeface="楷体" panose="02010609060101010101" charset="-122"/>
                <a:ea typeface="楷体" panose="02010609060101010101" charset="-122"/>
                <a:cs typeface="+mn-cs"/>
              </a:rPr>
              <a:t>: </a:t>
            </a:r>
            <a:endParaRPr kumimoji="0" lang="en-US" altLang="zh-CN" sz="2000" b="1" i="0" u="none" strike="noStrike" kern="1200" cap="none" spc="0" normalizeH="0" baseline="0" noProof="0" dirty="0">
              <a:ln>
                <a:noFill/>
              </a:ln>
              <a:solidFill>
                <a:prstClr val="black"/>
              </a:solidFill>
              <a:effectLst/>
              <a:uLnTx/>
              <a:uFillTx/>
              <a:latin typeface="楷体" panose="02010609060101010101" charset="-122"/>
              <a:ea typeface="楷体" panose="02010609060101010101"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prstClr val="black"/>
                </a:solidFill>
                <a:effectLst/>
                <a:uLnTx/>
                <a:uFillTx/>
                <a:latin typeface="楷体" panose="02010609060101010101" charset="-122"/>
                <a:ea typeface="楷体" panose="02010609060101010101" charset="-122"/>
                <a:cs typeface="+mn-cs"/>
              </a:rPr>
              <a:t>    所有由前沿技术驱动，具有前瞻性、战略性、颠覆性特点的产业都是未来产业。</a:t>
            </a:r>
            <a:endParaRPr kumimoji="0" lang="en-US" altLang="zh-CN" sz="2000" b="1" i="0" u="none" strike="noStrike" kern="1200" cap="none" spc="0" normalizeH="0" baseline="0" noProof="0" dirty="0">
              <a:ln>
                <a:noFill/>
              </a:ln>
              <a:solidFill>
                <a:prstClr val="black"/>
              </a:solidFill>
              <a:effectLst/>
              <a:uLnTx/>
              <a:uFillTx/>
              <a:latin typeface="楷体" panose="02010609060101010101" charset="-122"/>
              <a:ea typeface="楷体" panose="02010609060101010101"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prstClr val="black"/>
                </a:solidFill>
                <a:effectLst/>
                <a:uLnTx/>
                <a:uFillTx/>
                <a:latin typeface="楷体" panose="02010609060101010101" charset="-122"/>
                <a:ea typeface="楷体" panose="02010609060101010101" charset="-122"/>
                <a:cs typeface="+mn-cs"/>
              </a:rPr>
              <a:t>    量子科技是由前沿技术驱动，具有前瞻性、战略性、颠覆性特点的产业。</a:t>
            </a:r>
            <a:endParaRPr kumimoji="0" lang="en-US" altLang="zh-CN" sz="2000" b="1" i="0" u="none" strike="noStrike" kern="1200" cap="none" spc="0" normalizeH="0" baseline="0" noProof="0" dirty="0">
              <a:ln>
                <a:noFill/>
              </a:ln>
              <a:solidFill>
                <a:prstClr val="black"/>
              </a:solidFill>
              <a:effectLst/>
              <a:uLnTx/>
              <a:uFillTx/>
              <a:latin typeface="楷体" panose="02010609060101010101" charset="-122"/>
              <a:ea typeface="楷体" panose="02010609060101010101"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prstClr val="black"/>
                </a:solidFill>
                <a:effectLst/>
                <a:uLnTx/>
                <a:uFillTx/>
                <a:latin typeface="楷体" panose="02010609060101010101" charset="-122"/>
                <a:ea typeface="楷体" panose="02010609060101010101" charset="-122"/>
                <a:cs typeface="+mn-cs"/>
              </a:rPr>
              <a:t>    量子科技是未来产业。</a:t>
            </a:r>
            <a:endParaRPr kumimoji="0" lang="en-US" altLang="zh-CN" sz="2000" b="1" i="0" u="none" strike="noStrike" kern="1200" cap="none" spc="0" normalizeH="0" baseline="0" noProof="0" dirty="0">
              <a:ln>
                <a:noFill/>
              </a:ln>
              <a:solidFill>
                <a:prstClr val="black"/>
              </a:solidFill>
              <a:effectLst/>
              <a:uLnTx/>
              <a:uFillTx/>
              <a:latin typeface="楷体" panose="02010609060101010101" charset="-122"/>
              <a:ea typeface="楷体" panose="02010609060101010101"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black"/>
                </a:solidFill>
                <a:effectLst/>
                <a:uLnTx/>
                <a:uFillTx/>
                <a:latin typeface="黑体" panose="02010609060101010101" pitchFamily="49" charset="-122"/>
                <a:ea typeface="黑体" panose="02010609060101010101" pitchFamily="49" charset="-122"/>
                <a:cs typeface="+mn-cs"/>
              </a:rPr>
              <a:t>    </a:t>
            </a:r>
            <a:r>
              <a:rPr kumimoji="0" lang="zh-CN" altLang="en-US" sz="2400" b="0" i="0" u="none" strike="noStrike" kern="120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cs typeface="+mn-cs"/>
              </a:rPr>
              <a:t>判断</a:t>
            </a:r>
            <a:r>
              <a:rPr kumimoji="0" lang="zh-CN" altLang="en-US" sz="2400" b="0" i="0" u="none" strike="noStrike" kern="1200" cap="none" spc="0" normalizeH="0" baseline="0" noProof="0" dirty="0">
                <a:ln>
                  <a:noFill/>
                </a:ln>
                <a:solidFill>
                  <a:prstClr val="black"/>
                </a:solidFill>
                <a:effectLst/>
                <a:uLnTx/>
                <a:uFillTx/>
                <a:latin typeface="黑体" panose="02010609060101010101" pitchFamily="49" charset="-122"/>
                <a:ea typeface="黑体" panose="02010609060101010101" pitchFamily="49" charset="-122"/>
                <a:cs typeface="+mn-cs"/>
              </a:rPr>
              <a:t>上述推理</a:t>
            </a:r>
            <a:r>
              <a:rPr kumimoji="0" lang="zh-CN" altLang="en-US" sz="2400" b="0" i="0" u="none" strike="noStrike" kern="120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cs typeface="+mn-cs"/>
              </a:rPr>
              <a:t>是否正确</a:t>
            </a:r>
            <a:r>
              <a:rPr kumimoji="0" lang="zh-CN" altLang="en-US" sz="2400" b="0" i="0" u="none" strike="noStrike" kern="1200" cap="none" spc="0" normalizeH="0" baseline="0" noProof="0" dirty="0">
                <a:ln>
                  <a:noFill/>
                </a:ln>
                <a:solidFill>
                  <a:prstClr val="black"/>
                </a:solidFill>
                <a:effectLst/>
                <a:uLnTx/>
                <a:uFillTx/>
                <a:latin typeface="黑体" panose="02010609060101010101" pitchFamily="49" charset="-122"/>
                <a:ea typeface="黑体" panose="02010609060101010101" pitchFamily="49" charset="-122"/>
                <a:cs typeface="+mn-cs"/>
              </a:rPr>
              <a:t>，并</a:t>
            </a:r>
            <a:r>
              <a:rPr kumimoji="0" lang="zh-CN" altLang="en-US" sz="2400" b="0" i="0" u="none" strike="noStrike" kern="120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cs typeface="+mn-cs"/>
              </a:rPr>
              <a:t>说明理由</a:t>
            </a:r>
            <a:r>
              <a:rPr kumimoji="0" lang="zh-CN" altLang="en-US" sz="2400" b="0" i="0" u="none" strike="noStrike" kern="1200" cap="none" spc="0" normalizeH="0" baseline="0" noProof="0" dirty="0">
                <a:ln>
                  <a:noFill/>
                </a:ln>
                <a:solidFill>
                  <a:prstClr val="black"/>
                </a:solidFill>
                <a:effectLst/>
                <a:uLnTx/>
                <a:uFillTx/>
                <a:latin typeface="黑体" panose="02010609060101010101" pitchFamily="49" charset="-122"/>
                <a:ea typeface="黑体" panose="02010609060101010101" pitchFamily="49" charset="-122"/>
                <a:cs typeface="+mn-cs"/>
              </a:rPr>
              <a:t>。</a:t>
            </a:r>
            <a:r>
              <a:rPr kumimoji="0" lang="en-US" altLang="zh-CN" sz="2400" b="0" i="0" u="none" strike="noStrike" kern="1200" cap="none" spc="0" normalizeH="0" baseline="0" noProof="0" dirty="0">
                <a:ln>
                  <a:noFill/>
                </a:ln>
                <a:solidFill>
                  <a:prstClr val="black"/>
                </a:solidFill>
                <a:effectLst/>
                <a:uLnTx/>
                <a:uFillTx/>
                <a:latin typeface="黑体" panose="02010609060101010101" pitchFamily="49" charset="-122"/>
                <a:ea typeface="黑体" panose="02010609060101010101" pitchFamily="49" charset="-122"/>
                <a:cs typeface="+mn-cs"/>
              </a:rPr>
              <a:t>(</a:t>
            </a:r>
            <a:r>
              <a:rPr kumimoji="0" lang="zh-CN" altLang="en-US" sz="2400" b="0" i="0" u="none" strike="noStrike" kern="1200" cap="none" spc="0" normalizeH="0" baseline="0" noProof="0" dirty="0">
                <a:ln>
                  <a:noFill/>
                </a:ln>
                <a:solidFill>
                  <a:prstClr val="black"/>
                </a:solidFill>
                <a:effectLst/>
                <a:uLnTx/>
                <a:uFillTx/>
                <a:latin typeface="黑体" panose="02010609060101010101" pitchFamily="49" charset="-122"/>
                <a:ea typeface="黑体" panose="02010609060101010101" pitchFamily="49" charset="-122"/>
                <a:cs typeface="+mn-cs"/>
              </a:rPr>
              <a:t>３分</a:t>
            </a:r>
            <a:r>
              <a:rPr kumimoji="0" lang="en-US" altLang="zh-CN" sz="2400" b="0" i="0" u="none" strike="noStrike" kern="1200" cap="none" spc="0" normalizeH="0" baseline="0" noProof="0" dirty="0">
                <a:ln>
                  <a:noFill/>
                </a:ln>
                <a:solidFill>
                  <a:prstClr val="black"/>
                </a:solidFill>
                <a:effectLst/>
                <a:uLnTx/>
                <a:uFillTx/>
                <a:latin typeface="黑体" panose="02010609060101010101" pitchFamily="49" charset="-122"/>
                <a:ea typeface="黑体" panose="02010609060101010101" pitchFamily="49" charset="-122"/>
                <a:cs typeface="+mn-cs"/>
              </a:rPr>
              <a:t>)</a:t>
            </a:r>
            <a:endParaRPr kumimoji="0" lang="zh-CN" altLang="en-US" sz="2000" b="0" i="0" u="none" strike="noStrike" kern="1200" cap="none" spc="0" normalizeH="0" baseline="0" noProof="0" dirty="0">
              <a:ln>
                <a:noFill/>
              </a:ln>
              <a:solidFill>
                <a:prstClr val="black"/>
              </a:solidFill>
              <a:effectLst/>
              <a:uLnTx/>
              <a:uFillTx/>
              <a:latin typeface="黑体" panose="02010609060101010101" pitchFamily="49" charset="-122"/>
              <a:ea typeface="黑体" panose="02010609060101010101" pitchFamily="49" charset="-122"/>
              <a:cs typeface="+mn-cs"/>
            </a:endParaRPr>
          </a:p>
        </p:txBody>
      </p:sp>
      <p:sp>
        <p:nvSpPr>
          <p:cNvPr id="5" name="文本框 4"/>
          <p:cNvSpPr txBox="1"/>
          <p:nvPr/>
        </p:nvSpPr>
        <p:spPr>
          <a:xfrm>
            <a:off x="754659" y="3273043"/>
            <a:ext cx="10816905" cy="645160"/>
          </a:xfrm>
          <a:prstGeom prst="rect">
            <a:avLst/>
          </a:prstGeom>
          <a:noFill/>
          <a:effectLst>
            <a:glow rad="101600">
              <a:schemeClr val="accent4">
                <a:satMod val="175000"/>
                <a:alpha val="40000"/>
              </a:schemeClr>
            </a:glow>
          </a:effectLst>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defRPr/>
            </a:pPr>
            <a:r>
              <a:rPr lang="zh-CN" altLang="en-US" sz="2400" b="1" kern="100" noProof="0" dirty="0">
                <a:solidFill>
                  <a:srgbClr val="000000"/>
                </a:solidFill>
                <a:highlight>
                  <a:srgbClr val="FFFF00"/>
                </a:highlight>
                <a:latin typeface="Calibri" panose="020F0502020204030204" pitchFamily="34" charset="0"/>
                <a:ea typeface="宋体" panose="02010600030101010101" pitchFamily="2" charset="-122"/>
                <a:cs typeface="宋体" panose="02010600030101010101" pitchFamily="2" charset="-122"/>
              </a:rPr>
              <a:t>阅卷细则：</a:t>
            </a:r>
            <a:r>
              <a:rPr kumimoji="0" lang="zh-CN" altLang="zh-CN" sz="2400" b="1" i="0" u="none" strike="noStrike" kern="100" cap="none" spc="0" normalizeH="0" baseline="0" noProof="0" dirty="0">
                <a:ln>
                  <a:noFill/>
                </a:ln>
                <a:solidFill>
                  <a:srgbClr val="000000"/>
                </a:solidFill>
                <a:effectLst/>
                <a:highlight>
                  <a:srgbClr val="FFFF00"/>
                </a:highlight>
                <a:uLnTx/>
                <a:uFillTx/>
                <a:latin typeface="Calibri" panose="020F0502020204030204" pitchFamily="34" charset="0"/>
                <a:ea typeface="宋体" panose="02010600030101010101" pitchFamily="2" charset="-122"/>
                <a:cs typeface="宋体" panose="02010600030101010101" pitchFamily="2" charset="-122"/>
              </a:rPr>
              <a:t>判断正误：</a:t>
            </a:r>
            <a:r>
              <a:rPr kumimoji="0" lang="zh-CN" altLang="zh-CN" sz="2400" b="1" i="0" u="none" strike="noStrike" kern="1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宋体" panose="02010600030101010101" pitchFamily="2" charset="-122"/>
              </a:rPr>
              <a:t>该</a:t>
            </a:r>
            <a:r>
              <a:rPr kumimoji="0" lang="zh-CN" altLang="zh-CN" sz="2400" b="1" i="0" u="none" strike="noStrike" kern="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宋体" panose="02010600030101010101" pitchFamily="2" charset="-122"/>
              </a:rPr>
              <a:t>推理是</a:t>
            </a:r>
            <a:r>
              <a:rPr kumimoji="0" lang="zh-CN" altLang="zh-CN" sz="2400" b="1" i="0" u="none" strike="noStrike" kern="0" cap="none" spc="0" normalizeH="0" baseline="0" noProof="0" dirty="0">
                <a:ln>
                  <a:noFill/>
                </a:ln>
                <a:solidFill>
                  <a:srgbClr val="0070C0"/>
                </a:solidFill>
                <a:effectLst/>
                <a:uLnTx/>
                <a:uFillTx/>
                <a:latin typeface="Calibri" panose="020F0502020204030204" pitchFamily="34" charset="0"/>
                <a:ea typeface="宋体" panose="02010600030101010101" pitchFamily="2" charset="-122"/>
                <a:cs typeface="宋体" panose="02010600030101010101" pitchFamily="2" charset="-122"/>
              </a:rPr>
              <a:t>错误</a:t>
            </a:r>
            <a:r>
              <a:rPr kumimoji="0" lang="zh-CN" altLang="zh-CN" sz="2400" b="1" i="0" u="none" strike="noStrike" kern="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宋体" panose="02010600030101010101" pitchFamily="2" charset="-122"/>
              </a:rPr>
              <a:t>的</a:t>
            </a:r>
            <a:r>
              <a:rPr kumimoji="0" lang="zh-CN" altLang="en-US" sz="2400" b="1" i="0" u="none" strike="noStrike" kern="0" cap="none" spc="0" normalizeH="0" baseline="0" noProof="0" dirty="0">
                <a:ln>
                  <a:noFill/>
                </a:ln>
                <a:solidFill>
                  <a:srgbClr val="FF0000"/>
                </a:solidFill>
                <a:effectLst/>
                <a:uLnTx/>
                <a:uFillTx/>
                <a:latin typeface="Calibri" panose="020F0502020204030204" pitchFamily="34" charset="0"/>
                <a:ea typeface="宋体" panose="02010600030101010101" pitchFamily="2" charset="-122"/>
                <a:cs typeface="宋体" panose="02010600030101010101" pitchFamily="2" charset="-122"/>
              </a:rPr>
              <a:t>（</a:t>
            </a:r>
            <a:r>
              <a:rPr kumimoji="0" lang="en-US" altLang="zh-CN" sz="2400" b="1" i="0" u="none" strike="noStrike" kern="0" cap="none" spc="0" normalizeH="0" baseline="0" noProof="0" dirty="0">
                <a:ln>
                  <a:noFill/>
                </a:ln>
                <a:solidFill>
                  <a:srgbClr val="FF0000"/>
                </a:solidFill>
                <a:effectLst/>
                <a:uLnTx/>
                <a:uFillTx/>
                <a:latin typeface="Calibri" panose="020F0502020204030204" pitchFamily="34" charset="0"/>
                <a:ea typeface="宋体" panose="02010600030101010101" pitchFamily="2" charset="-122"/>
                <a:cs typeface="宋体" panose="02010600030101010101" pitchFamily="2" charset="-122"/>
              </a:rPr>
              <a:t>1</a:t>
            </a:r>
            <a:r>
              <a:rPr kumimoji="0" lang="zh-CN" altLang="en-US" sz="2400" b="1" i="0" u="none" strike="noStrike" kern="0" cap="none" spc="0" normalizeH="0" baseline="0" noProof="0" dirty="0">
                <a:ln>
                  <a:noFill/>
                </a:ln>
                <a:solidFill>
                  <a:srgbClr val="FF0000"/>
                </a:solidFill>
                <a:effectLst/>
                <a:uLnTx/>
                <a:uFillTx/>
                <a:latin typeface="Calibri" panose="020F0502020204030204" pitchFamily="34" charset="0"/>
                <a:ea typeface="宋体" panose="02010600030101010101" pitchFamily="2" charset="-122"/>
                <a:cs typeface="宋体" panose="02010600030101010101" pitchFamily="2" charset="-122"/>
              </a:rPr>
              <a:t>分）</a:t>
            </a:r>
            <a:r>
              <a:rPr kumimoji="0" lang="zh-CN" altLang="zh-CN" sz="2400" b="1" i="0" u="none" strike="noStrike" kern="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宋体" panose="02010600030101010101" pitchFamily="2" charset="-122"/>
              </a:rPr>
              <a:t>。</a:t>
            </a:r>
            <a:endParaRPr kumimoji="0" lang="zh-CN" altLang="zh-CN" sz="2400" b="1" i="0" u="none" strike="noStrike" kern="10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Times New Roman" panose="02020603050405020304" pitchFamily="18" charset="0"/>
            </a:endParaRPr>
          </a:p>
        </p:txBody>
      </p:sp>
      <p:sp>
        <p:nvSpPr>
          <p:cNvPr id="7" name="文本框 6"/>
          <p:cNvSpPr txBox="1"/>
          <p:nvPr/>
        </p:nvSpPr>
        <p:spPr>
          <a:xfrm>
            <a:off x="754380" y="4027805"/>
            <a:ext cx="11270615" cy="19380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zh-CN" sz="2400" b="1" i="0" u="none" strike="noStrike" kern="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宋体" panose="02010600030101010101" pitchFamily="2" charset="-122"/>
              </a:rPr>
              <a:t>演绎推理要确保得到真实的结论，必须</a:t>
            </a:r>
            <a:r>
              <a:rPr kumimoji="0" lang="zh-CN" altLang="zh-CN" sz="2400" b="1" i="0" u="none" strike="noStrike" kern="0" cap="none" spc="0" normalizeH="0" baseline="0" noProof="0" dirty="0">
                <a:ln>
                  <a:noFill/>
                </a:ln>
                <a:solidFill>
                  <a:prstClr val="black"/>
                </a:solidFill>
                <a:effectLst/>
                <a:highlight>
                  <a:srgbClr val="FFFF00"/>
                </a:highlight>
                <a:uLnTx/>
                <a:uFillTx/>
                <a:latin typeface="Calibri" panose="020F0502020204030204" pitchFamily="34" charset="0"/>
                <a:ea typeface="宋体" panose="02010600030101010101" pitchFamily="2" charset="-122"/>
                <a:cs typeface="宋体" panose="02010600030101010101" pitchFamily="2" charset="-122"/>
              </a:rPr>
              <a:t>具备两个条件：</a:t>
            </a:r>
            <a:endParaRPr kumimoji="0" lang="zh-CN" altLang="zh-CN" sz="2400" b="1" i="0" u="none" strike="noStrike" kern="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宋体" panose="0201060003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zh-CN" sz="2400" b="1" i="0" u="none" strike="noStrike" kern="0" cap="none" spc="0" normalizeH="0" baseline="0" noProof="0" dirty="0">
                <a:ln>
                  <a:noFill/>
                </a:ln>
                <a:solidFill>
                  <a:prstClr val="black"/>
                </a:solidFill>
                <a:effectLst/>
                <a:highlight>
                  <a:srgbClr val="FFFF00"/>
                </a:highlight>
                <a:uLnTx/>
                <a:uFillTx/>
                <a:latin typeface="Calibri" panose="020F0502020204030204" pitchFamily="34" charset="0"/>
                <a:ea typeface="宋体" panose="02010600030101010101" pitchFamily="2" charset="-122"/>
                <a:cs typeface="宋体" panose="02010600030101010101" pitchFamily="2" charset="-122"/>
              </a:rPr>
              <a:t>一是</a:t>
            </a:r>
            <a:r>
              <a:rPr kumimoji="0" lang="zh-CN" altLang="zh-CN" sz="2400" b="1" i="0" u="none" strike="noStrike" kern="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宋体" panose="02010600030101010101" pitchFamily="2" charset="-122"/>
              </a:rPr>
              <a:t>作为推理根据的</a:t>
            </a:r>
            <a:r>
              <a:rPr kumimoji="0" lang="zh-CN" altLang="zh-CN" sz="2400" b="1" i="0" u="none" strike="noStrike" kern="0" cap="none" spc="0" normalizeH="0" baseline="0" noProof="0" dirty="0">
                <a:ln>
                  <a:noFill/>
                </a:ln>
                <a:solidFill>
                  <a:srgbClr val="FF0000"/>
                </a:solidFill>
                <a:effectLst/>
                <a:uLnTx/>
                <a:uFillTx/>
                <a:latin typeface="Calibri" panose="020F0502020204030204" pitchFamily="34" charset="0"/>
                <a:ea typeface="宋体" panose="02010600030101010101" pitchFamily="2" charset="-122"/>
                <a:cs typeface="宋体" panose="02010600030101010101" pitchFamily="2" charset="-122"/>
              </a:rPr>
              <a:t>前提是真实的判断</a:t>
            </a:r>
            <a:r>
              <a:rPr kumimoji="0" lang="zh-CN" altLang="zh-CN" sz="2400" b="1" i="0" u="none" strike="noStrike" kern="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宋体" panose="02010600030101010101" pitchFamily="2" charset="-122"/>
              </a:rPr>
              <a:t>，</a:t>
            </a:r>
            <a:r>
              <a:rPr kumimoji="0" lang="zh-CN" altLang="en-US" sz="2400" b="1" i="0" u="none" strike="noStrike" kern="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宋体" panose="02010600030101010101" pitchFamily="2" charset="-122"/>
              </a:rPr>
              <a:t>材料中</a:t>
            </a:r>
            <a:r>
              <a:rPr kumimoji="0" lang="en-US" altLang="zh-CN" sz="2400" b="1" i="0" u="none" strike="noStrike" kern="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宋体" panose="02010600030101010101" pitchFamily="2" charset="-122"/>
              </a:rPr>
              <a:t>“</a:t>
            </a:r>
            <a:r>
              <a:rPr kumimoji="0" lang="zh-CN" altLang="en-US" sz="2400" b="1" i="0" u="none" strike="noStrike" kern="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宋体" panose="02010600030101010101" pitchFamily="2" charset="-122"/>
              </a:rPr>
              <a:t>未来产业由前沿技术驱动，具有前瞻性、战略性、颠覆性等特点。</a:t>
            </a:r>
            <a:r>
              <a:rPr kumimoji="0" lang="en-US" altLang="zh-CN" sz="2400" b="1" i="0" u="none" strike="noStrike" kern="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宋体" panose="02010600030101010101" pitchFamily="2" charset="-122"/>
              </a:rPr>
              <a:t>”</a:t>
            </a:r>
            <a:r>
              <a:rPr kumimoji="0" lang="zh-CN" altLang="en-US" sz="2400" b="1" i="0" u="none" strike="noStrike" kern="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宋体" panose="02010600030101010101" pitchFamily="2" charset="-122"/>
              </a:rPr>
              <a:t>不能必然推出</a:t>
            </a:r>
            <a:r>
              <a:rPr kumimoji="0" lang="en-US" altLang="zh-CN" sz="2400" b="1" i="0" u="none" strike="noStrike" kern="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宋体" panose="02010600030101010101" pitchFamily="2" charset="-122"/>
              </a:rPr>
              <a:t>“</a:t>
            </a:r>
            <a:r>
              <a:rPr kumimoji="0" lang="zh-CN" altLang="en-US" sz="2400" b="1" i="0" u="none" strike="noStrike" kern="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宋体" panose="02010600030101010101" pitchFamily="2" charset="-122"/>
              </a:rPr>
              <a:t>所有由前沿技术驱动，具有前瞻性、战略性、颠覆性特点的产业都是未来产业。</a:t>
            </a:r>
            <a:r>
              <a:rPr kumimoji="0" lang="en-US" altLang="zh-CN" sz="2400" b="1" i="0" u="none" strike="noStrike" kern="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宋体" panose="02010600030101010101" pitchFamily="2" charset="-122"/>
              </a:rPr>
              <a:t>”</a:t>
            </a:r>
            <a:r>
              <a:rPr kumimoji="0" lang="zh-CN" altLang="en-US" sz="2400" b="1" i="0" u="none" strike="noStrike" kern="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宋体" panose="02010600030101010101" pitchFamily="2" charset="-122"/>
              </a:rPr>
              <a:t>前提不是真实的判断</a:t>
            </a:r>
            <a:r>
              <a:rPr kumimoji="0" lang="zh-CN" altLang="en-US" sz="2400" b="1" i="0" u="none" strike="noStrike" kern="0" cap="none" spc="0" normalizeH="0" baseline="0" noProof="0" dirty="0">
                <a:ln>
                  <a:noFill/>
                </a:ln>
                <a:solidFill>
                  <a:srgbClr val="FF0000"/>
                </a:solidFill>
                <a:effectLst/>
                <a:uLnTx/>
                <a:uFillTx/>
                <a:latin typeface="Calibri" panose="020F0502020204030204" pitchFamily="34" charset="0"/>
                <a:ea typeface="宋体" panose="02010600030101010101" pitchFamily="2" charset="-122"/>
                <a:cs typeface="宋体" panose="02010600030101010101" pitchFamily="2" charset="-122"/>
                <a:sym typeface="+mn-ea"/>
              </a:rPr>
              <a:t>（</a:t>
            </a:r>
            <a:r>
              <a:rPr kumimoji="0" lang="en-US" altLang="zh-CN" sz="2400" b="1" i="0" u="none" strike="noStrike" kern="0" cap="none" spc="0" normalizeH="0" baseline="0" noProof="0" dirty="0">
                <a:ln>
                  <a:noFill/>
                </a:ln>
                <a:solidFill>
                  <a:srgbClr val="FF0000"/>
                </a:solidFill>
                <a:effectLst/>
                <a:uLnTx/>
                <a:uFillTx/>
                <a:latin typeface="Calibri" panose="020F0502020204030204" pitchFamily="34" charset="0"/>
                <a:ea typeface="宋体" panose="02010600030101010101" pitchFamily="2" charset="-122"/>
                <a:cs typeface="宋体" panose="02010600030101010101" pitchFamily="2" charset="-122"/>
                <a:sym typeface="+mn-ea"/>
              </a:rPr>
              <a:t>1</a:t>
            </a:r>
            <a:r>
              <a:rPr kumimoji="0" lang="zh-CN" altLang="en-US" sz="2400" b="1" i="0" u="none" strike="noStrike" kern="0" cap="none" spc="0" normalizeH="0" baseline="0" noProof="0" dirty="0">
                <a:ln>
                  <a:noFill/>
                </a:ln>
                <a:solidFill>
                  <a:srgbClr val="FF0000"/>
                </a:solidFill>
                <a:effectLst/>
                <a:uLnTx/>
                <a:uFillTx/>
                <a:latin typeface="Calibri" panose="020F0502020204030204" pitchFamily="34" charset="0"/>
                <a:ea typeface="宋体" panose="02010600030101010101" pitchFamily="2" charset="-122"/>
                <a:cs typeface="宋体" panose="02010600030101010101" pitchFamily="2" charset="-122"/>
                <a:sym typeface="+mn-ea"/>
              </a:rPr>
              <a:t>分）</a:t>
            </a:r>
            <a:r>
              <a:rPr kumimoji="0" lang="zh-CN" altLang="zh-CN" sz="2400" b="1" i="0" u="none" strike="noStrike" kern="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宋体" panose="02010600030101010101" pitchFamily="2" charset="-122"/>
                <a:sym typeface="+mn-ea"/>
              </a:rPr>
              <a:t>。</a:t>
            </a:r>
            <a:endParaRPr kumimoji="0" lang="zh-CN" altLang="en-US" sz="2400" b="1" i="0" u="none" strike="noStrike" kern="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宋体" panose="0201060003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zh-CN" sz="2400" b="1" i="0" u="none" strike="noStrike" kern="0" cap="none" spc="0" normalizeH="0" baseline="0" noProof="0" dirty="0">
                <a:ln>
                  <a:noFill/>
                </a:ln>
                <a:solidFill>
                  <a:prstClr val="black"/>
                </a:solidFill>
                <a:effectLst/>
                <a:highlight>
                  <a:srgbClr val="FFFF00"/>
                </a:highlight>
                <a:uLnTx/>
                <a:uFillTx/>
                <a:latin typeface="Calibri" panose="020F0502020204030204" pitchFamily="34" charset="0"/>
                <a:ea typeface="宋体" panose="02010600030101010101" pitchFamily="2" charset="-122"/>
                <a:cs typeface="宋体" panose="02010600030101010101" pitchFamily="2" charset="-122"/>
              </a:rPr>
              <a:t>二是</a:t>
            </a:r>
            <a:r>
              <a:rPr kumimoji="0" lang="zh-CN" altLang="zh-CN" sz="2400" b="1" i="0" u="none" strike="noStrike" kern="0" cap="none" spc="0" normalizeH="0" baseline="0" noProof="0" dirty="0">
                <a:ln>
                  <a:noFill/>
                </a:ln>
                <a:solidFill>
                  <a:srgbClr val="FF0000"/>
                </a:solidFill>
                <a:effectLst/>
                <a:uLnTx/>
                <a:uFillTx/>
                <a:latin typeface="Calibri" panose="020F0502020204030204" pitchFamily="34" charset="0"/>
                <a:ea typeface="宋体" panose="02010600030101010101" pitchFamily="2" charset="-122"/>
                <a:cs typeface="宋体" panose="02010600030101010101" pitchFamily="2" charset="-122"/>
              </a:rPr>
              <a:t>推理结构正确，</a:t>
            </a:r>
            <a:r>
              <a:rPr kumimoji="0" lang="zh-CN" altLang="en-US" sz="2400" b="1" i="0" u="none" strike="noStrike" kern="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宋体" panose="02010600030101010101" pitchFamily="2" charset="-122"/>
              </a:rPr>
              <a:t>上述推理是一个三段论推理，符合三段论推理规则</a:t>
            </a:r>
            <a:r>
              <a:rPr kumimoji="0" lang="zh-CN" altLang="zh-CN" sz="2400" b="1" i="0" u="none" strike="noStrike" kern="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宋体" panose="02010600030101010101" pitchFamily="2" charset="-122"/>
              </a:rPr>
              <a:t>。</a:t>
            </a:r>
            <a:r>
              <a:rPr kumimoji="0" lang="zh-CN" altLang="en-US" sz="2400" b="1" i="0" u="none" strike="noStrike" kern="0" cap="none" spc="0" normalizeH="0" baseline="0" noProof="0" dirty="0">
                <a:ln>
                  <a:noFill/>
                </a:ln>
                <a:solidFill>
                  <a:srgbClr val="FF0000"/>
                </a:solidFill>
                <a:effectLst/>
                <a:uLnTx/>
                <a:uFillTx/>
                <a:latin typeface="Calibri" panose="020F0502020204030204" pitchFamily="34" charset="0"/>
                <a:ea typeface="宋体" panose="02010600030101010101" pitchFamily="2" charset="-122"/>
                <a:cs typeface="宋体" panose="02010600030101010101" pitchFamily="2" charset="-122"/>
                <a:sym typeface="+mn-ea"/>
              </a:rPr>
              <a:t>（</a:t>
            </a:r>
            <a:r>
              <a:rPr kumimoji="0" lang="en-US" altLang="zh-CN" sz="2400" b="1" i="0" u="none" strike="noStrike" kern="0" cap="none" spc="0" normalizeH="0" baseline="0" noProof="0" dirty="0">
                <a:ln>
                  <a:noFill/>
                </a:ln>
                <a:solidFill>
                  <a:srgbClr val="FF0000"/>
                </a:solidFill>
                <a:effectLst/>
                <a:uLnTx/>
                <a:uFillTx/>
                <a:latin typeface="Calibri" panose="020F0502020204030204" pitchFamily="34" charset="0"/>
                <a:ea typeface="宋体" panose="02010600030101010101" pitchFamily="2" charset="-122"/>
                <a:cs typeface="宋体" panose="02010600030101010101" pitchFamily="2" charset="-122"/>
                <a:sym typeface="+mn-ea"/>
              </a:rPr>
              <a:t>1</a:t>
            </a:r>
            <a:r>
              <a:rPr kumimoji="0" lang="zh-CN" altLang="en-US" sz="2400" b="1" i="0" u="none" strike="noStrike" kern="0" cap="none" spc="0" normalizeH="0" baseline="0" noProof="0" dirty="0">
                <a:ln>
                  <a:noFill/>
                </a:ln>
                <a:solidFill>
                  <a:srgbClr val="FF0000"/>
                </a:solidFill>
                <a:effectLst/>
                <a:uLnTx/>
                <a:uFillTx/>
                <a:latin typeface="Calibri" panose="020F0502020204030204" pitchFamily="34" charset="0"/>
                <a:ea typeface="宋体" panose="02010600030101010101" pitchFamily="2" charset="-122"/>
                <a:cs typeface="宋体" panose="02010600030101010101" pitchFamily="2" charset="-122"/>
                <a:sym typeface="+mn-ea"/>
              </a:rPr>
              <a:t>分）</a:t>
            </a:r>
            <a:endParaRPr kumimoji="0" lang="zh-CN" altLang="en-US" sz="2400" b="1"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mn-cs"/>
            </a:endParaRPr>
          </a:p>
        </p:txBody>
      </p:sp>
      <p:sp>
        <p:nvSpPr>
          <p:cNvPr id="9" name="文本框 8"/>
          <p:cNvSpPr txBox="1"/>
          <p:nvPr/>
        </p:nvSpPr>
        <p:spPr>
          <a:xfrm>
            <a:off x="823238" y="5965944"/>
            <a:ext cx="10939595" cy="4603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zh-CN" sz="2400" b="1" i="0" u="none" strike="noStrike" kern="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cs typeface="宋体" panose="02010600030101010101" pitchFamily="2" charset="-122"/>
              </a:rPr>
              <a:t>因此该推理错误。</a:t>
            </a:r>
            <a:endParaRPr kumimoji="0" lang="zh-CN" altLang="en-US" sz="2400" b="1"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70121" y="580602"/>
            <a:ext cx="12192000" cy="4523105"/>
          </a:xfrm>
          <a:prstGeom prst="rect">
            <a:avLst/>
          </a:prstGeom>
          <a:noFill/>
        </p:spPr>
        <p:txBody>
          <a:bodyPr wrap="square" rtlCol="0">
            <a:spAutoFit/>
          </a:bodyPr>
          <a:lstStyle/>
          <a:p>
            <a:pPr>
              <a:lnSpc>
                <a:spcPct val="150000"/>
              </a:lnSpc>
            </a:pPr>
            <a:r>
              <a:rPr lang="en-US" altLang="zh-CN" sz="2400" b="1" dirty="0"/>
              <a:t>19</a:t>
            </a:r>
            <a:r>
              <a:rPr lang="zh-CN" altLang="en-US" sz="2400" b="1" dirty="0"/>
              <a:t>（</a:t>
            </a:r>
            <a:r>
              <a:rPr lang="en-US" altLang="zh-CN" sz="2400" b="1" dirty="0"/>
              <a:t>2</a:t>
            </a:r>
            <a:r>
              <a:rPr lang="zh-CN" altLang="en-US" sz="2400" b="1" dirty="0"/>
              <a:t>）参考答案：</a:t>
            </a:r>
            <a:endParaRPr lang="en-US" altLang="zh-CN" sz="2400" b="1" dirty="0"/>
          </a:p>
          <a:p>
            <a:pPr>
              <a:lnSpc>
                <a:spcPct val="150000"/>
              </a:lnSpc>
            </a:pPr>
            <a:r>
              <a:rPr lang="zh-CN" altLang="en-US" sz="2400" b="1" dirty="0"/>
              <a:t>（</a:t>
            </a:r>
            <a:r>
              <a:rPr lang="en-US" altLang="zh-CN" sz="2400" b="1" dirty="0"/>
              <a:t>1</a:t>
            </a:r>
            <a:r>
              <a:rPr lang="zh-CN" altLang="en-US" sz="2400" b="1" dirty="0"/>
              <a:t>）</a:t>
            </a:r>
            <a:r>
              <a:rPr lang="zh-CN" altLang="en-US" sz="2400" b="1" dirty="0">
                <a:solidFill>
                  <a:srgbClr val="FF0000"/>
                </a:solidFill>
              </a:rPr>
              <a:t>科学思维追求认识的</a:t>
            </a:r>
            <a:r>
              <a:rPr lang="zh-CN" altLang="en-US" sz="2400" b="1">
                <a:solidFill>
                  <a:srgbClr val="FF0000"/>
                </a:solidFill>
              </a:rPr>
              <a:t>客观性，</a:t>
            </a:r>
            <a:endParaRPr lang="en-US" altLang="zh-CN" sz="2400" b="1">
              <a:solidFill>
                <a:srgbClr val="FF0000"/>
              </a:solidFill>
            </a:endParaRPr>
          </a:p>
          <a:p>
            <a:pPr>
              <a:lnSpc>
                <a:spcPct val="150000"/>
              </a:lnSpc>
            </a:pPr>
            <a:r>
              <a:rPr lang="zh-CN" altLang="zh-CN" sz="2400" b="1"/>
              <a:t>该</a:t>
            </a:r>
            <a:r>
              <a:rPr lang="zh-CN" altLang="zh-CN" sz="2400" b="1" dirty="0"/>
              <a:t>企业从老人真实生活场景与实际需求出发，深入调研、蹲点观察，立足实际设计产品功能</a:t>
            </a:r>
            <a:r>
              <a:rPr lang="zh-CN" altLang="en-US" sz="2400" b="1" dirty="0"/>
              <a:t>。</a:t>
            </a:r>
            <a:r>
              <a:rPr lang="en-US" altLang="zh-CN" sz="2400" b="1" dirty="0">
                <a:highlight>
                  <a:srgbClr val="FFFF00"/>
                </a:highlight>
              </a:rPr>
              <a:t>2</a:t>
            </a:r>
            <a:r>
              <a:rPr lang="zh-CN" altLang="en-US" sz="2400" b="1" dirty="0">
                <a:highlight>
                  <a:srgbClr val="FFFF00"/>
                </a:highlight>
              </a:rPr>
              <a:t>（知识</a:t>
            </a:r>
            <a:r>
              <a:rPr lang="en-US" altLang="zh-CN" sz="2400" b="1" dirty="0">
                <a:highlight>
                  <a:srgbClr val="FFFF00"/>
                </a:highlight>
              </a:rPr>
              <a:t>1+</a:t>
            </a:r>
            <a:r>
              <a:rPr lang="zh-CN" altLang="en-US" sz="2400" b="1" dirty="0">
                <a:highlight>
                  <a:srgbClr val="FFFF00"/>
                </a:highlight>
              </a:rPr>
              <a:t>材料</a:t>
            </a:r>
            <a:r>
              <a:rPr lang="en-US" altLang="zh-CN" sz="2400" b="1" dirty="0">
                <a:highlight>
                  <a:srgbClr val="FFFF00"/>
                </a:highlight>
              </a:rPr>
              <a:t>1</a:t>
            </a:r>
            <a:r>
              <a:rPr lang="zh-CN" altLang="en-US" sz="2400" b="1" dirty="0">
                <a:highlight>
                  <a:srgbClr val="FFFF00"/>
                </a:highlight>
              </a:rPr>
              <a:t>）</a:t>
            </a:r>
            <a:endParaRPr lang="en-US" altLang="zh-CN" sz="2400" b="1" dirty="0"/>
          </a:p>
          <a:p>
            <a:pPr>
              <a:lnSpc>
                <a:spcPct val="150000"/>
              </a:lnSpc>
            </a:pPr>
            <a:r>
              <a:rPr lang="zh-CN" altLang="en-US" sz="2400" b="1" dirty="0"/>
              <a:t>（</a:t>
            </a:r>
            <a:r>
              <a:rPr lang="en-US" altLang="zh-CN" sz="2400" b="1" dirty="0"/>
              <a:t>2</a:t>
            </a:r>
            <a:r>
              <a:rPr lang="zh-CN" altLang="en-US" sz="2400" b="1" dirty="0"/>
              <a:t>）</a:t>
            </a:r>
            <a:r>
              <a:rPr lang="zh-CN" altLang="en-US" sz="2400" b="1" dirty="0">
                <a:solidFill>
                  <a:srgbClr val="FF0000"/>
                </a:solidFill>
              </a:rPr>
              <a:t>科学思维</a:t>
            </a:r>
            <a:r>
              <a:rPr lang="zh-CN" altLang="zh-CN" sz="2400" b="1" dirty="0">
                <a:solidFill>
                  <a:srgbClr val="FF0000"/>
                </a:solidFill>
              </a:rPr>
              <a:t>结果具有预见性</a:t>
            </a:r>
            <a:r>
              <a:rPr lang="zh-CN" altLang="en-US" sz="2400" b="1" dirty="0">
                <a:solidFill>
                  <a:srgbClr val="FF0000"/>
                </a:solidFill>
              </a:rPr>
              <a:t>，</a:t>
            </a:r>
            <a:r>
              <a:rPr lang="zh-CN" altLang="en-US" sz="2400" b="1" dirty="0"/>
              <a:t>该企业始终追踪具身智能机器人和人口老龄化发展趋势，预测具身机器人在养老服务中具备广阔的应用空间和持续增长的市场潜力。</a:t>
            </a:r>
            <a:r>
              <a:rPr lang="en-US" altLang="zh-CN" sz="2400" b="1" dirty="0">
                <a:highlight>
                  <a:srgbClr val="FFFF00"/>
                </a:highlight>
              </a:rPr>
              <a:t>2</a:t>
            </a:r>
            <a:endParaRPr lang="zh-CN" altLang="zh-CN" sz="2400" b="1" dirty="0">
              <a:highlight>
                <a:srgbClr val="FFFF00"/>
              </a:highlight>
            </a:endParaRPr>
          </a:p>
          <a:p>
            <a:pPr>
              <a:lnSpc>
                <a:spcPct val="150000"/>
              </a:lnSpc>
            </a:pPr>
            <a:r>
              <a:rPr lang="zh-CN" altLang="en-US" sz="2400" b="1" dirty="0"/>
              <a:t>（</a:t>
            </a:r>
            <a:r>
              <a:rPr lang="en-US" altLang="zh-CN" sz="2400" b="1" dirty="0"/>
              <a:t>3</a:t>
            </a:r>
            <a:r>
              <a:rPr lang="zh-CN" altLang="en-US" sz="2400" b="1" dirty="0"/>
              <a:t>）</a:t>
            </a:r>
            <a:r>
              <a:rPr lang="zh-CN" altLang="en-US" sz="2400" b="1" dirty="0">
                <a:solidFill>
                  <a:srgbClr val="FF0000"/>
                </a:solidFill>
              </a:rPr>
              <a:t>科学思维结果具有</a:t>
            </a:r>
            <a:r>
              <a:rPr lang="zh-CN" altLang="zh-CN" sz="2400" b="1" dirty="0">
                <a:solidFill>
                  <a:srgbClr val="FF0000"/>
                </a:solidFill>
              </a:rPr>
              <a:t>可检验性</a:t>
            </a:r>
            <a:r>
              <a:rPr lang="zh-CN" altLang="en-US" sz="2400" b="1" dirty="0">
                <a:solidFill>
                  <a:srgbClr val="FF0000"/>
                </a:solidFill>
              </a:rPr>
              <a:t>，</a:t>
            </a:r>
            <a:r>
              <a:rPr lang="zh-CN" altLang="en-US" sz="2400" b="1" dirty="0"/>
              <a:t>该企业产品</a:t>
            </a:r>
            <a:r>
              <a:rPr lang="zh-CN" altLang="zh-CN" sz="2400" b="1" dirty="0"/>
              <a:t>反复测试、多轮迭代，以用户试用与实践效果不断不断优化调整、完善设计，确保产品能切实解决老人居家生活的实际问题</a:t>
            </a:r>
            <a:r>
              <a:rPr lang="en-US" altLang="zh-CN" sz="2400" b="1" dirty="0">
                <a:highlight>
                  <a:srgbClr val="FFFF00"/>
                </a:highlight>
              </a:rPr>
              <a:t>2</a:t>
            </a:r>
            <a:endParaRPr lang="en-US" altLang="zh-CN" sz="2400" b="1" dirty="0">
              <a:highlight>
                <a:srgbClr val="FFFF00"/>
              </a:highlight>
            </a:endParaRP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74660" y="1370302"/>
            <a:ext cx="10969200" cy="4759200"/>
          </a:xfrm>
        </p:spPr>
        <p:txBody>
          <a:bodyPr>
            <a:normAutofit lnSpcReduction="20000"/>
          </a:bodyPr>
          <a:lstStyle/>
          <a:p>
            <a:pPr>
              <a:lnSpc>
                <a:spcPct val="100000"/>
              </a:lnSpc>
            </a:pPr>
            <a:r>
              <a:rPr lang="zh-CN" altLang="en-US" sz="2400" dirty="0">
                <a:solidFill>
                  <a:schemeClr val="tx1"/>
                </a:solidFill>
              </a:rPr>
              <a:t>可从研发投入、人才培养、有效市场和有为政府更好结合等角度作答。如从其他角度作答，符合题意，亦可酌情给分。</a:t>
            </a:r>
            <a:endParaRPr lang="zh-CN" altLang="en-US" sz="2400" dirty="0">
              <a:solidFill>
                <a:schemeClr val="tx1"/>
              </a:solidFill>
            </a:endParaRPr>
          </a:p>
          <a:p>
            <a:pPr>
              <a:lnSpc>
                <a:spcPct val="100000"/>
              </a:lnSpc>
            </a:pPr>
            <a:r>
              <a:rPr lang="zh-CN" altLang="en-US" sz="2400" dirty="0">
                <a:solidFill>
                  <a:schemeClr val="tx1"/>
                </a:solidFill>
              </a:rPr>
              <a:t>细则：</a:t>
            </a:r>
            <a:endParaRPr lang="zh-CN" altLang="en-US" sz="2400" dirty="0">
              <a:solidFill>
                <a:schemeClr val="tx1"/>
              </a:solidFill>
            </a:endParaRPr>
          </a:p>
          <a:p>
            <a:pPr>
              <a:lnSpc>
                <a:spcPct val="100000"/>
              </a:lnSpc>
              <a:buFont typeface="Wingdings" panose="05000000000000000000" charset="0"/>
              <a:buChar char="Ø"/>
            </a:pPr>
            <a:r>
              <a:rPr lang="zh-CN" altLang="en-US" sz="2400" b="1" dirty="0">
                <a:solidFill>
                  <a:schemeClr val="tx1"/>
                </a:solidFill>
                <a:latin typeface="+mn-ea"/>
                <a:sym typeface="+mn-ea"/>
              </a:rPr>
              <a:t>一层</a:t>
            </a:r>
            <a:r>
              <a:rPr lang="en-US" altLang="zh-CN" sz="2400" b="1" dirty="0">
                <a:solidFill>
                  <a:schemeClr val="tx1"/>
                </a:solidFill>
                <a:latin typeface="+mn-ea"/>
                <a:sym typeface="+mn-ea"/>
              </a:rPr>
              <a:t>3</a:t>
            </a:r>
            <a:r>
              <a:rPr lang="zh-CN" altLang="en-US" sz="2400" b="1" dirty="0">
                <a:solidFill>
                  <a:schemeClr val="tx1"/>
                </a:solidFill>
                <a:latin typeface="+mn-ea"/>
                <a:sym typeface="+mn-ea"/>
              </a:rPr>
              <a:t>分，两层</a:t>
            </a:r>
            <a:r>
              <a:rPr lang="en-US" altLang="zh-CN" sz="2400" b="1" dirty="0">
                <a:solidFill>
                  <a:schemeClr val="tx1"/>
                </a:solidFill>
                <a:latin typeface="+mn-ea"/>
                <a:sym typeface="+mn-ea"/>
              </a:rPr>
              <a:t>6</a:t>
            </a:r>
            <a:r>
              <a:rPr lang="zh-CN" altLang="en-US" sz="2400" b="1" dirty="0">
                <a:solidFill>
                  <a:schemeClr val="tx1"/>
                </a:solidFill>
                <a:latin typeface="+mn-ea"/>
                <a:sym typeface="+mn-ea"/>
              </a:rPr>
              <a:t>分；每一层，建议</a:t>
            </a:r>
            <a:r>
              <a:rPr lang="en-US" altLang="zh-CN" sz="2400" b="1" dirty="0">
                <a:solidFill>
                  <a:schemeClr val="tx1"/>
                </a:solidFill>
                <a:latin typeface="+mn-ea"/>
                <a:sym typeface="+mn-ea"/>
              </a:rPr>
              <a:t>1</a:t>
            </a:r>
            <a:r>
              <a:rPr lang="zh-CN" altLang="en-US" sz="2400" b="1" dirty="0">
                <a:solidFill>
                  <a:schemeClr val="tx1"/>
                </a:solidFill>
                <a:latin typeface="+mn-ea"/>
                <a:sym typeface="+mn-ea"/>
              </a:rPr>
              <a:t>分，理由</a:t>
            </a:r>
            <a:r>
              <a:rPr lang="en-US" altLang="zh-CN" sz="2400" b="1" dirty="0">
                <a:solidFill>
                  <a:schemeClr val="tx1"/>
                </a:solidFill>
                <a:latin typeface="+mn-ea"/>
                <a:sym typeface="+mn-ea"/>
              </a:rPr>
              <a:t>2</a:t>
            </a:r>
            <a:r>
              <a:rPr lang="zh-CN" altLang="en-US" sz="2400" b="1" dirty="0">
                <a:solidFill>
                  <a:schemeClr val="tx1"/>
                </a:solidFill>
                <a:latin typeface="+mn-ea"/>
                <a:sym typeface="+mn-ea"/>
              </a:rPr>
              <a:t>分。</a:t>
            </a:r>
            <a:endParaRPr lang="zh-CN" altLang="en-US" sz="2400" b="1" dirty="0">
              <a:solidFill>
                <a:schemeClr val="tx1"/>
              </a:solidFill>
              <a:latin typeface="+mn-ea"/>
              <a:sym typeface="+mn-ea"/>
            </a:endParaRPr>
          </a:p>
          <a:p>
            <a:pPr>
              <a:lnSpc>
                <a:spcPct val="100000"/>
              </a:lnSpc>
              <a:buFont typeface="Wingdings" panose="05000000000000000000" charset="0"/>
              <a:buChar char="Ø"/>
            </a:pPr>
            <a:r>
              <a:rPr lang="zh-CN" altLang="en-US" sz="2400" b="1" dirty="0">
                <a:solidFill>
                  <a:schemeClr val="tx1"/>
                </a:solidFill>
                <a:latin typeface="+mn-ea"/>
                <a:sym typeface="+mn-ea"/>
              </a:rPr>
              <a:t>要求建议具体，与材料的</a:t>
            </a:r>
            <a:r>
              <a:rPr lang="en-US" altLang="zh-CN" sz="2400" b="1" dirty="0">
                <a:solidFill>
                  <a:schemeClr val="tx1"/>
                </a:solidFill>
                <a:latin typeface="+mn-ea"/>
                <a:sym typeface="+mn-ea"/>
              </a:rPr>
              <a:t>“</a:t>
            </a:r>
            <a:r>
              <a:rPr lang="zh-CN" altLang="en-US" sz="2400" b="1" dirty="0">
                <a:solidFill>
                  <a:schemeClr val="tx1"/>
                </a:solidFill>
                <a:latin typeface="+mn-ea"/>
                <a:sym typeface="+mn-ea"/>
              </a:rPr>
              <a:t>有利条件</a:t>
            </a:r>
            <a:r>
              <a:rPr lang="en-US" altLang="zh-CN" sz="2400" b="1" dirty="0">
                <a:solidFill>
                  <a:schemeClr val="tx1"/>
                </a:solidFill>
                <a:latin typeface="+mn-ea"/>
                <a:sym typeface="+mn-ea"/>
              </a:rPr>
              <a:t>”</a:t>
            </a:r>
            <a:r>
              <a:rPr lang="zh-CN" altLang="en-US" sz="2400" b="1" dirty="0">
                <a:solidFill>
                  <a:schemeClr val="tx1"/>
                </a:solidFill>
                <a:latin typeface="+mn-ea"/>
                <a:sym typeface="+mn-ea"/>
              </a:rPr>
              <a:t>或</a:t>
            </a:r>
            <a:r>
              <a:rPr lang="en-US" altLang="zh-CN" sz="2400" b="1" dirty="0">
                <a:solidFill>
                  <a:schemeClr val="tx1"/>
                </a:solidFill>
                <a:latin typeface="+mn-ea"/>
                <a:sym typeface="+mn-ea"/>
              </a:rPr>
              <a:t>“</a:t>
            </a:r>
            <a:r>
              <a:rPr lang="zh-CN" altLang="en-US" sz="2400" b="1" dirty="0">
                <a:solidFill>
                  <a:schemeClr val="tx1"/>
                </a:solidFill>
                <a:latin typeface="+mn-ea"/>
                <a:sym typeface="+mn-ea"/>
              </a:rPr>
              <a:t>风险挑战</a:t>
            </a:r>
            <a:r>
              <a:rPr lang="en-US" altLang="zh-CN" sz="2400" b="1" dirty="0">
                <a:solidFill>
                  <a:schemeClr val="tx1"/>
                </a:solidFill>
                <a:latin typeface="+mn-ea"/>
                <a:sym typeface="+mn-ea"/>
              </a:rPr>
              <a:t>”</a:t>
            </a:r>
            <a:r>
              <a:rPr lang="zh-CN" altLang="en-US" sz="2400" b="1" dirty="0">
                <a:solidFill>
                  <a:schemeClr val="tx1"/>
                </a:solidFill>
                <a:latin typeface="+mn-ea"/>
                <a:sym typeface="+mn-ea"/>
              </a:rPr>
              <a:t>相对应，建议笼统或建议与理由不对应，酌情扣分。只答知识点，最高</a:t>
            </a:r>
            <a:r>
              <a:rPr lang="en-US" altLang="zh-CN" sz="2400" b="1" dirty="0">
                <a:solidFill>
                  <a:schemeClr val="tx1"/>
                </a:solidFill>
                <a:latin typeface="+mn-ea"/>
                <a:sym typeface="+mn-ea"/>
              </a:rPr>
              <a:t>3</a:t>
            </a:r>
            <a:r>
              <a:rPr lang="zh-CN" altLang="en-US" sz="2400" b="1" dirty="0">
                <a:solidFill>
                  <a:schemeClr val="tx1"/>
                </a:solidFill>
                <a:latin typeface="+mn-ea"/>
                <a:sym typeface="+mn-ea"/>
              </a:rPr>
              <a:t>分。</a:t>
            </a:r>
            <a:endParaRPr lang="zh-CN" altLang="en-US" sz="2400" b="1" dirty="0">
              <a:solidFill>
                <a:schemeClr val="tx1"/>
              </a:solidFill>
              <a:latin typeface="+mn-ea"/>
              <a:sym typeface="+mn-ea"/>
            </a:endParaRPr>
          </a:p>
          <a:p>
            <a:pPr>
              <a:lnSpc>
                <a:spcPct val="100000"/>
              </a:lnSpc>
              <a:buFont typeface="Wingdings" panose="05000000000000000000" charset="0"/>
              <a:buChar char="Ø"/>
            </a:pPr>
            <a:r>
              <a:rPr lang="zh-CN" altLang="en-US" sz="2400" b="1" dirty="0">
                <a:solidFill>
                  <a:schemeClr val="tx1"/>
                </a:solidFill>
                <a:latin typeface="+mn-ea"/>
                <a:sym typeface="+mn-ea"/>
              </a:rPr>
              <a:t>理由要求从原因和意义两个角度进行分析，</a:t>
            </a:r>
            <a:r>
              <a:rPr lang="en-US" altLang="zh-CN" sz="2400" b="1" dirty="0">
                <a:solidFill>
                  <a:schemeClr val="tx1"/>
                </a:solidFill>
                <a:latin typeface="+mn-ea"/>
                <a:sym typeface="+mn-ea"/>
              </a:rPr>
              <a:t>1+1</a:t>
            </a:r>
            <a:endParaRPr lang="zh-CN" altLang="en-US" sz="2400" b="1" dirty="0">
              <a:solidFill>
                <a:schemeClr val="tx1"/>
              </a:solidFill>
              <a:latin typeface="+mn-ea"/>
              <a:sym typeface="+mn-ea"/>
            </a:endParaRPr>
          </a:p>
          <a:p>
            <a:pPr marL="0" indent="0">
              <a:lnSpc>
                <a:spcPct val="100000"/>
              </a:lnSpc>
              <a:buNone/>
            </a:pPr>
            <a:r>
              <a:rPr lang="zh-CN" altLang="en-US" sz="2400" b="1" dirty="0">
                <a:solidFill>
                  <a:schemeClr val="tx1"/>
                </a:solidFill>
                <a:latin typeface="+mn-ea"/>
                <a:sym typeface="+mn-ea"/>
              </a:rPr>
              <a:t>示例：</a:t>
            </a:r>
            <a:endParaRPr lang="zh-CN" altLang="en-US" sz="2400" b="1" dirty="0">
              <a:solidFill>
                <a:schemeClr val="tx1"/>
              </a:solidFill>
              <a:latin typeface="+mn-ea"/>
              <a:sym typeface="+mn-ea"/>
            </a:endParaRPr>
          </a:p>
          <a:p>
            <a:pPr marL="0" indent="0">
              <a:lnSpc>
                <a:spcPct val="100000"/>
              </a:lnSpc>
              <a:buNone/>
            </a:pPr>
            <a:r>
              <a:rPr lang="zh-CN" altLang="en-US" sz="2400" b="1" dirty="0">
                <a:solidFill>
                  <a:schemeClr val="tx1"/>
                </a:solidFill>
                <a:latin typeface="+mn-ea"/>
                <a:sym typeface="+mn-ea"/>
              </a:rPr>
              <a:t>建议：国家加强人才政策支持，健全人才激励机制</a:t>
            </a:r>
            <a:r>
              <a:rPr lang="en-US" altLang="zh-CN" sz="2400" b="1" dirty="0">
                <a:solidFill>
                  <a:schemeClr val="tx1"/>
                </a:solidFill>
                <a:highlight>
                  <a:srgbClr val="FFFF00"/>
                </a:highlight>
                <a:latin typeface="+mn-ea"/>
                <a:sym typeface="+mn-ea"/>
              </a:rPr>
              <a:t>1</a:t>
            </a:r>
            <a:endParaRPr lang="zh-CN" altLang="en-US" sz="2400" b="1" dirty="0">
              <a:solidFill>
                <a:schemeClr val="tx1"/>
              </a:solidFill>
              <a:latin typeface="+mn-ea"/>
              <a:sym typeface="+mn-ea"/>
            </a:endParaRPr>
          </a:p>
          <a:p>
            <a:pPr marL="0" indent="0">
              <a:lnSpc>
                <a:spcPct val="100000"/>
              </a:lnSpc>
              <a:buNone/>
            </a:pPr>
            <a:r>
              <a:rPr lang="zh-CN" altLang="en-US" sz="2400" b="1" dirty="0">
                <a:solidFill>
                  <a:schemeClr val="tx1"/>
                </a:solidFill>
                <a:latin typeface="+mn-ea"/>
                <a:sym typeface="+mn-ea"/>
              </a:rPr>
              <a:t>理由：人才是第一资源</a:t>
            </a:r>
            <a:r>
              <a:rPr lang="en-US" altLang="zh-CN" sz="2400" b="1" dirty="0">
                <a:solidFill>
                  <a:schemeClr val="tx1"/>
                </a:solidFill>
                <a:highlight>
                  <a:srgbClr val="FFFF00"/>
                </a:highlight>
                <a:latin typeface="+mn-ea"/>
                <a:sym typeface="+mn-ea"/>
              </a:rPr>
              <a:t>1</a:t>
            </a:r>
            <a:r>
              <a:rPr lang="zh-CN" altLang="en-US" sz="2400" b="1" dirty="0">
                <a:solidFill>
                  <a:schemeClr val="tx1"/>
                </a:solidFill>
                <a:latin typeface="+mn-ea"/>
                <a:sym typeface="+mn-ea"/>
              </a:rPr>
              <a:t>，综合国力竞争说到底是人才竞争，人才是衡量一个国家综合国力的重要指标，人才是自主创新的关键。</a:t>
            </a:r>
            <a:r>
              <a:rPr lang="en-US" altLang="zh-CN" sz="2400" b="1" dirty="0">
                <a:solidFill>
                  <a:schemeClr val="tx1"/>
                </a:solidFill>
                <a:highlight>
                  <a:srgbClr val="FFFF00"/>
                </a:highlight>
                <a:latin typeface="+mn-ea"/>
                <a:sym typeface="+mn-ea"/>
              </a:rPr>
              <a:t>1</a:t>
            </a:r>
            <a:endParaRPr lang="en-US" altLang="zh-CN" sz="2400" b="1" dirty="0">
              <a:solidFill>
                <a:schemeClr val="tx1"/>
              </a:solidFill>
              <a:highlight>
                <a:srgbClr val="FFFF00"/>
              </a:highlight>
              <a:latin typeface="+mn-ea"/>
              <a:sym typeface="+mn-ea"/>
            </a:endParaRPr>
          </a:p>
        </p:txBody>
      </p:sp>
      <p:sp>
        <p:nvSpPr>
          <p:cNvPr id="2" name="文本框 1"/>
          <p:cNvSpPr txBox="1"/>
          <p:nvPr/>
        </p:nvSpPr>
        <p:spPr>
          <a:xfrm>
            <a:off x="864870" y="576580"/>
            <a:ext cx="2418715" cy="52197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highlight>
                  <a:srgbClr val="FFFF00"/>
                </a:highlight>
                <a:uLnTx/>
                <a:uFillTx/>
                <a:latin typeface="等线" panose="02010600030101010101" charset="-122"/>
                <a:ea typeface="等线" panose="02010600030101010101" charset="-122"/>
                <a:cs typeface="+mn-cs"/>
              </a:rPr>
              <a:t>19</a:t>
            </a:r>
            <a:r>
              <a:rPr kumimoji="0" lang="zh-CN" altLang="en-US" sz="2800" b="1" i="0" u="none" strike="noStrike" kern="1200" cap="none" spc="0" normalizeH="0" baseline="0" noProof="0" dirty="0">
                <a:ln>
                  <a:noFill/>
                </a:ln>
                <a:solidFill>
                  <a:prstClr val="black"/>
                </a:solidFill>
                <a:effectLst/>
                <a:highlight>
                  <a:srgbClr val="FFFF00"/>
                </a:highlight>
                <a:uLnTx/>
                <a:uFillTx/>
                <a:latin typeface="等线" panose="02010600030101010101" charset="-122"/>
                <a:ea typeface="等线" panose="02010600030101010101" charset="-122"/>
                <a:cs typeface="+mn-cs"/>
              </a:rPr>
              <a:t>（</a:t>
            </a:r>
            <a:r>
              <a:rPr kumimoji="0" lang="en-US" altLang="zh-CN" sz="2800" b="1" i="0" u="none" strike="noStrike" kern="1200" cap="none" spc="0" normalizeH="0" baseline="0" noProof="0" dirty="0">
                <a:ln>
                  <a:noFill/>
                </a:ln>
                <a:solidFill>
                  <a:prstClr val="black"/>
                </a:solidFill>
                <a:effectLst/>
                <a:highlight>
                  <a:srgbClr val="FFFF00"/>
                </a:highlight>
                <a:uLnTx/>
                <a:uFillTx/>
                <a:latin typeface="等线" panose="02010600030101010101" charset="-122"/>
                <a:ea typeface="等线" panose="02010600030101010101" charset="-122"/>
                <a:cs typeface="+mn-cs"/>
              </a:rPr>
              <a:t>3</a:t>
            </a:r>
            <a:r>
              <a:rPr kumimoji="0" lang="zh-CN" altLang="en-US" sz="2800" b="1" i="0" u="none" strike="noStrike" kern="1200" cap="none" spc="0" normalizeH="0" baseline="0" noProof="0" dirty="0">
                <a:ln>
                  <a:noFill/>
                </a:ln>
                <a:solidFill>
                  <a:prstClr val="black"/>
                </a:solidFill>
                <a:effectLst/>
                <a:highlight>
                  <a:srgbClr val="FFFF00"/>
                </a:highlight>
                <a:uLnTx/>
                <a:uFillTx/>
                <a:latin typeface="等线" panose="02010600030101010101" charset="-122"/>
                <a:ea typeface="等线" panose="02010600030101010101" charset="-122"/>
                <a:cs typeface="+mn-cs"/>
              </a:rPr>
              <a:t>）评标：</a:t>
            </a:r>
            <a:endParaRPr kumimoji="0" lang="zh-CN" altLang="en-US" sz="2800" b="1" i="0" u="none" strike="noStrike" kern="1200" cap="none" spc="0" normalizeH="0" baseline="0" noProof="0" dirty="0">
              <a:ln>
                <a:noFill/>
              </a:ln>
              <a:solidFill>
                <a:prstClr val="black"/>
              </a:solidFill>
              <a:effectLst/>
              <a:highlight>
                <a:srgbClr val="FFFF00"/>
              </a:highlight>
              <a:uLnTx/>
              <a:uFillTx/>
              <a:latin typeface="等线" panose="02010600030101010101" charset="-122"/>
              <a:ea typeface="等线" panose="02010600030101010101" charset="-122"/>
              <a:cs typeface="+mn-cs"/>
            </a:endParaRPr>
          </a:p>
        </p:txBody>
      </p:sp>
    </p:spTree>
    <p:custDataLst>
      <p:tags r:id="rId1"/>
    </p:custData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871220" y="3912235"/>
            <a:ext cx="1456690" cy="708660"/>
          </a:xfrm>
          <a:prstGeom prst="rect">
            <a:avLst/>
          </a:prstGeom>
        </p:spPr>
        <p:style>
          <a:lnRef idx="3">
            <a:schemeClr val="accent1"/>
          </a:lnRef>
          <a:fillRef idx="0">
            <a:srgbClr val="FFFFFF"/>
          </a:fillRef>
          <a:effectRef idx="0">
            <a:srgbClr val="FFFFFF"/>
          </a:effectRef>
          <a:fontRef idx="minor">
            <a:schemeClr val="tx1"/>
          </a:fontRef>
        </p:style>
        <p:txBody>
          <a:bodyPr rtlCol="0" anchor="ctr"/>
          <a:lstStyle/>
          <a:p>
            <a:pPr algn="ctr"/>
            <a:r>
              <a:rPr lang="zh-CN" altLang="en-US" sz="2400">
                <a:solidFill>
                  <a:srgbClr val="FF0000"/>
                </a:solidFill>
              </a:rPr>
              <a:t>共同利益</a:t>
            </a:r>
            <a:endParaRPr lang="zh-CN" altLang="en-US" sz="2400">
              <a:solidFill>
                <a:srgbClr val="FF0000"/>
              </a:solidFill>
            </a:endParaRPr>
          </a:p>
          <a:p>
            <a:pPr algn="ctr"/>
            <a:r>
              <a:rPr lang="zh-CN" altLang="en-US" b="1">
                <a:solidFill>
                  <a:srgbClr val="1D41D5"/>
                </a:solidFill>
                <a:latin typeface="黑体" panose="02010609060101010101" pitchFamily="49" charset="-122"/>
                <a:ea typeface="黑体" panose="02010609060101010101" pitchFamily="49" charset="-122"/>
                <a:cs typeface="黑体" panose="02010609060101010101" pitchFamily="49" charset="-122"/>
              </a:rPr>
              <a:t>（</a:t>
            </a:r>
            <a:r>
              <a:rPr lang="en-US" altLang="zh-CN" b="1">
                <a:solidFill>
                  <a:srgbClr val="1D41D5"/>
                </a:solidFill>
                <a:latin typeface="黑体" panose="02010609060101010101" pitchFamily="49" charset="-122"/>
                <a:ea typeface="黑体" panose="02010609060101010101" pitchFamily="49" charset="-122"/>
                <a:cs typeface="黑体" panose="02010609060101010101" pitchFamily="49" charset="-122"/>
              </a:rPr>
              <a:t>1</a:t>
            </a:r>
            <a:r>
              <a:rPr lang="zh-CN" altLang="en-US" b="1">
                <a:solidFill>
                  <a:srgbClr val="1D41D5"/>
                </a:solidFill>
                <a:latin typeface="黑体" panose="02010609060101010101" pitchFamily="49" charset="-122"/>
                <a:ea typeface="黑体" panose="02010609060101010101" pitchFamily="49" charset="-122"/>
                <a:cs typeface="黑体" panose="02010609060101010101" pitchFamily="49" charset="-122"/>
              </a:rPr>
              <a:t>分，必答）</a:t>
            </a:r>
            <a:endParaRPr lang="zh-CN" altLang="en-US" b="1">
              <a:solidFill>
                <a:srgbClr val="1D41D5"/>
              </a:solidFill>
              <a:latin typeface="黑体" panose="02010609060101010101" pitchFamily="49" charset="-122"/>
              <a:ea typeface="黑体" panose="02010609060101010101" pitchFamily="49" charset="-122"/>
              <a:cs typeface="黑体" panose="02010609060101010101" pitchFamily="49" charset="-122"/>
            </a:endParaRPr>
          </a:p>
        </p:txBody>
      </p:sp>
      <p:sp>
        <p:nvSpPr>
          <p:cNvPr id="3" name="文本框 2"/>
          <p:cNvSpPr txBox="1"/>
          <p:nvPr/>
        </p:nvSpPr>
        <p:spPr>
          <a:xfrm>
            <a:off x="441960" y="857250"/>
            <a:ext cx="11365865" cy="398780"/>
          </a:xfrm>
          <a:prstGeom prst="rect">
            <a:avLst/>
          </a:prstGeom>
          <a:noFill/>
          <a:ln>
            <a:solidFill>
              <a:srgbClr val="FF0000"/>
            </a:solidFill>
          </a:ln>
        </p:spPr>
        <p:txBody>
          <a:bodyPr wrap="square" rtlCol="0" anchor="t">
            <a:spAutoFit/>
          </a:bodyPr>
          <a:lstStyle/>
          <a:p>
            <a:r>
              <a:rPr lang="zh-CN" altLang="en-US" sz="2000" dirty="0">
                <a:latin typeface="黑体" panose="02010609060101010101" pitchFamily="49" charset="-122"/>
                <a:ea typeface="黑体" panose="02010609060101010101" pitchFamily="49" charset="-122"/>
              </a:rPr>
              <a:t>结合材料，运用《当代国际政治与经济》知识，阐述科技小院成为</a:t>
            </a:r>
            <a:r>
              <a:rPr lang="zh-CN" altLang="en-US" sz="2000" dirty="0">
                <a:solidFill>
                  <a:srgbClr val="FF0000"/>
                </a:solidFill>
                <a:latin typeface="黑体" panose="02010609060101010101" pitchFamily="49" charset="-122"/>
                <a:ea typeface="黑体" panose="02010609060101010101" pitchFamily="49" charset="-122"/>
              </a:rPr>
              <a:t>南南合作</a:t>
            </a:r>
            <a:r>
              <a:rPr lang="zh-CN" altLang="en-US" sz="2000" dirty="0">
                <a:solidFill>
                  <a:srgbClr val="1D41D5"/>
                </a:solidFill>
                <a:highlight>
                  <a:srgbClr val="FFFF00"/>
                </a:highlight>
                <a:latin typeface="黑体" panose="02010609060101010101" pitchFamily="49" charset="-122"/>
                <a:ea typeface="黑体" panose="02010609060101010101" pitchFamily="49" charset="-122"/>
              </a:rPr>
              <a:t>典范</a:t>
            </a:r>
            <a:r>
              <a:rPr lang="zh-CN" altLang="en-US" sz="2000" dirty="0">
                <a:latin typeface="黑体" panose="02010609060101010101" pitchFamily="49" charset="-122"/>
                <a:ea typeface="黑体" panose="02010609060101010101" pitchFamily="49" charset="-122"/>
              </a:rPr>
              <a:t>的深层逻辑。</a:t>
            </a:r>
            <a:endParaRPr lang="zh-CN" altLang="en-US" sz="2000" dirty="0">
              <a:latin typeface="黑体" panose="02010609060101010101" pitchFamily="49" charset="-122"/>
              <a:ea typeface="黑体" panose="02010609060101010101" pitchFamily="49" charset="-122"/>
            </a:endParaRPr>
          </a:p>
        </p:txBody>
      </p:sp>
      <p:sp>
        <p:nvSpPr>
          <p:cNvPr id="4" name="文本框 3"/>
          <p:cNvSpPr txBox="1"/>
          <p:nvPr/>
        </p:nvSpPr>
        <p:spPr>
          <a:xfrm>
            <a:off x="708660" y="1546860"/>
            <a:ext cx="1781810" cy="398780"/>
          </a:xfrm>
          <a:prstGeom prst="rect">
            <a:avLst/>
          </a:prstGeom>
          <a:noFill/>
          <a:ln w="12700" cmpd="sng">
            <a:solidFill>
              <a:schemeClr val="accent1">
                <a:shade val="50000"/>
              </a:schemeClr>
            </a:solidFill>
            <a:prstDash val="solid"/>
          </a:ln>
        </p:spPr>
        <p:txBody>
          <a:bodyPr wrap="square" rtlCol="0" anchor="t">
            <a:spAutoFit/>
          </a:bodyPr>
          <a:lstStyle/>
          <a:p>
            <a:pPr algn="ctr"/>
            <a:r>
              <a:rPr lang="zh-CN" altLang="en-US" sz="2000">
                <a:solidFill>
                  <a:srgbClr val="FF0000"/>
                </a:solidFill>
                <a:latin typeface="黑体" panose="02010609060101010101" pitchFamily="49" charset="-122"/>
                <a:ea typeface="黑体" panose="02010609060101010101" pitchFamily="49" charset="-122"/>
                <a:sym typeface="+mn-ea"/>
              </a:rPr>
              <a:t>南南合作</a:t>
            </a:r>
            <a:r>
              <a:rPr lang="zh-CN" altLang="en-US" sz="2000">
                <a:solidFill>
                  <a:srgbClr val="1D41D5"/>
                </a:solidFill>
                <a:highlight>
                  <a:srgbClr val="FFFF00"/>
                </a:highlight>
                <a:latin typeface="黑体" panose="02010609060101010101" pitchFamily="49" charset="-122"/>
                <a:ea typeface="黑体" panose="02010609060101010101" pitchFamily="49" charset="-122"/>
                <a:sym typeface="+mn-ea"/>
              </a:rPr>
              <a:t>典范</a:t>
            </a:r>
            <a:endParaRPr lang="zh-CN" altLang="en-US" sz="2000">
              <a:solidFill>
                <a:srgbClr val="1D41D5"/>
              </a:solidFill>
              <a:highlight>
                <a:srgbClr val="FFFF00"/>
              </a:highlight>
              <a:latin typeface="黑体" panose="02010609060101010101" pitchFamily="49" charset="-122"/>
              <a:ea typeface="黑体" panose="02010609060101010101" pitchFamily="49" charset="-122"/>
              <a:sym typeface="+mn-ea"/>
            </a:endParaRPr>
          </a:p>
        </p:txBody>
      </p:sp>
      <p:cxnSp>
        <p:nvCxnSpPr>
          <p:cNvPr id="5" name="直接箭头连接符 4"/>
          <p:cNvCxnSpPr>
            <a:stCxn id="4" idx="2"/>
            <a:endCxn id="2" idx="0"/>
          </p:cNvCxnSpPr>
          <p:nvPr/>
        </p:nvCxnSpPr>
        <p:spPr>
          <a:xfrm>
            <a:off x="1599565" y="1945640"/>
            <a:ext cx="0" cy="196659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6" name="矩形 5"/>
          <p:cNvSpPr/>
          <p:nvPr/>
        </p:nvSpPr>
        <p:spPr>
          <a:xfrm>
            <a:off x="2895600" y="2522220"/>
            <a:ext cx="1456690" cy="706755"/>
          </a:xfrm>
          <a:prstGeom prst="rect">
            <a:avLst/>
          </a:prstGeom>
        </p:spPr>
        <p:style>
          <a:lnRef idx="3">
            <a:schemeClr val="accent1"/>
          </a:lnRef>
          <a:fillRef idx="0">
            <a:srgbClr val="FFFFFF"/>
          </a:fillRef>
          <a:effectRef idx="0">
            <a:srgbClr val="FFFFFF"/>
          </a:effectRef>
          <a:fontRef idx="minor">
            <a:schemeClr val="tx1"/>
          </a:fontRef>
        </p:style>
        <p:txBody>
          <a:bodyPr rtlCol="0" anchor="ctr"/>
          <a:lstStyle/>
          <a:p>
            <a:pPr algn="ctr"/>
            <a:r>
              <a:rPr lang="zh-CN" altLang="en-US" sz="2400" b="1">
                <a:solidFill>
                  <a:srgbClr val="FF0000"/>
                </a:solidFill>
              </a:rPr>
              <a:t>国际政治</a:t>
            </a:r>
            <a:endParaRPr lang="zh-CN" altLang="en-US" sz="2400" b="1">
              <a:solidFill>
                <a:srgbClr val="FF0000"/>
              </a:solidFill>
            </a:endParaRPr>
          </a:p>
          <a:p>
            <a:pPr algn="ctr"/>
            <a:r>
              <a:rPr lang="zh-CN" altLang="en-US" sz="2400" b="1">
                <a:solidFill>
                  <a:srgbClr val="1D41D5"/>
                </a:solidFill>
              </a:rPr>
              <a:t>（</a:t>
            </a:r>
            <a:r>
              <a:rPr lang="en-US" altLang="zh-CN" sz="2400" b="1">
                <a:solidFill>
                  <a:srgbClr val="1D41D5"/>
                </a:solidFill>
              </a:rPr>
              <a:t>3</a:t>
            </a:r>
            <a:r>
              <a:rPr lang="zh-CN" altLang="en-US" sz="2400" b="1">
                <a:solidFill>
                  <a:srgbClr val="1D41D5"/>
                </a:solidFill>
              </a:rPr>
              <a:t>分）</a:t>
            </a:r>
            <a:endParaRPr lang="zh-CN" altLang="en-US" sz="2400" b="1">
              <a:solidFill>
                <a:srgbClr val="1D41D5"/>
              </a:solidFill>
            </a:endParaRPr>
          </a:p>
        </p:txBody>
      </p:sp>
      <p:sp>
        <p:nvSpPr>
          <p:cNvPr id="7" name="矩形 6"/>
          <p:cNvSpPr/>
          <p:nvPr/>
        </p:nvSpPr>
        <p:spPr>
          <a:xfrm>
            <a:off x="2895600" y="5374640"/>
            <a:ext cx="1456690" cy="706755"/>
          </a:xfrm>
          <a:prstGeom prst="rect">
            <a:avLst/>
          </a:prstGeom>
        </p:spPr>
        <p:style>
          <a:lnRef idx="3">
            <a:schemeClr val="accent1"/>
          </a:lnRef>
          <a:fillRef idx="0">
            <a:srgbClr val="FFFFFF"/>
          </a:fillRef>
          <a:effectRef idx="0">
            <a:srgbClr val="FFFFFF"/>
          </a:effectRef>
          <a:fontRef idx="minor">
            <a:schemeClr val="tx1"/>
          </a:fontRef>
        </p:style>
        <p:txBody>
          <a:bodyPr rtlCol="0" anchor="ctr"/>
          <a:lstStyle/>
          <a:p>
            <a:pPr algn="ctr"/>
            <a:r>
              <a:rPr lang="zh-CN" altLang="en-US" sz="2400" b="1">
                <a:solidFill>
                  <a:srgbClr val="FF0000"/>
                </a:solidFill>
              </a:rPr>
              <a:t>国际经济</a:t>
            </a:r>
            <a:endParaRPr lang="zh-CN" altLang="en-US" sz="2400" b="1">
              <a:solidFill>
                <a:srgbClr val="FF0000"/>
              </a:solidFill>
            </a:endParaRPr>
          </a:p>
          <a:p>
            <a:pPr algn="ctr"/>
            <a:r>
              <a:rPr lang="zh-CN" altLang="en-US" sz="2400" b="1">
                <a:solidFill>
                  <a:srgbClr val="1D41D5"/>
                </a:solidFill>
              </a:rPr>
              <a:t>（</a:t>
            </a:r>
            <a:r>
              <a:rPr lang="en-US" altLang="zh-CN" sz="2400" b="1">
                <a:solidFill>
                  <a:srgbClr val="1D41D5"/>
                </a:solidFill>
              </a:rPr>
              <a:t>3</a:t>
            </a:r>
            <a:r>
              <a:rPr lang="zh-CN" altLang="en-US" sz="2400" b="1">
                <a:solidFill>
                  <a:srgbClr val="1D41D5"/>
                </a:solidFill>
              </a:rPr>
              <a:t>分）</a:t>
            </a:r>
            <a:endParaRPr lang="zh-CN" altLang="en-US" sz="2400" b="1">
              <a:solidFill>
                <a:srgbClr val="1D41D5"/>
              </a:solidFill>
            </a:endParaRPr>
          </a:p>
        </p:txBody>
      </p:sp>
      <p:grpSp>
        <p:nvGrpSpPr>
          <p:cNvPr id="11" name="组合 10"/>
          <p:cNvGrpSpPr/>
          <p:nvPr/>
        </p:nvGrpSpPr>
        <p:grpSpPr>
          <a:xfrm>
            <a:off x="2327910" y="2875915"/>
            <a:ext cx="567690" cy="2852420"/>
            <a:chOff x="3666" y="4017"/>
            <a:chExt cx="894" cy="4492"/>
          </a:xfrm>
        </p:grpSpPr>
        <p:cxnSp>
          <p:nvCxnSpPr>
            <p:cNvPr id="9" name="直接连接符 8"/>
            <p:cNvCxnSpPr>
              <a:stCxn id="2" idx="3"/>
              <a:endCxn id="6" idx="1"/>
            </p:cNvCxnSpPr>
            <p:nvPr/>
          </p:nvCxnSpPr>
          <p:spPr>
            <a:xfrm flipV="1">
              <a:off x="3666" y="4017"/>
              <a:ext cx="894" cy="2190"/>
            </a:xfrm>
            <a:prstGeom prst="line">
              <a:avLst/>
            </a:prstGeom>
          </p:spPr>
          <p:style>
            <a:lnRef idx="2">
              <a:schemeClr val="accent1"/>
            </a:lnRef>
            <a:fillRef idx="0">
              <a:srgbClr val="FFFFFF"/>
            </a:fillRef>
            <a:effectRef idx="0">
              <a:srgbClr val="FFFFFF"/>
            </a:effectRef>
            <a:fontRef idx="minor">
              <a:schemeClr val="tx1"/>
            </a:fontRef>
          </p:style>
        </p:cxnSp>
        <p:cxnSp>
          <p:nvCxnSpPr>
            <p:cNvPr id="10" name="直接连接符 9"/>
            <p:cNvCxnSpPr>
              <a:stCxn id="2" idx="3"/>
              <a:endCxn id="7" idx="1"/>
            </p:cNvCxnSpPr>
            <p:nvPr/>
          </p:nvCxnSpPr>
          <p:spPr>
            <a:xfrm>
              <a:off x="3666" y="6207"/>
              <a:ext cx="894" cy="2302"/>
            </a:xfrm>
            <a:prstGeom prst="line">
              <a:avLst/>
            </a:prstGeom>
          </p:spPr>
          <p:style>
            <a:lnRef idx="2">
              <a:schemeClr val="accent1"/>
            </a:lnRef>
            <a:fillRef idx="0">
              <a:srgbClr val="FFFFFF"/>
            </a:fillRef>
            <a:effectRef idx="0">
              <a:srgbClr val="FFFFFF"/>
            </a:effectRef>
            <a:fontRef idx="minor">
              <a:schemeClr val="tx1"/>
            </a:fontRef>
          </p:style>
        </p:cxnSp>
      </p:grpSp>
      <p:sp>
        <p:nvSpPr>
          <p:cNvPr id="8" name="矩形 7"/>
          <p:cNvSpPr/>
          <p:nvPr/>
        </p:nvSpPr>
        <p:spPr>
          <a:xfrm>
            <a:off x="4806315" y="1278255"/>
            <a:ext cx="7002780" cy="536575"/>
          </a:xfrm>
          <a:prstGeom prst="rect">
            <a:avLst/>
          </a:prstGeom>
        </p:spPr>
        <p:style>
          <a:lnRef idx="2">
            <a:schemeClr val="accent1"/>
          </a:lnRef>
          <a:fillRef idx="0">
            <a:srgbClr val="FFFFFF"/>
          </a:fillRef>
          <a:effectRef idx="0">
            <a:srgbClr val="FFFFFF"/>
          </a:effectRef>
          <a:fontRef idx="minor">
            <a:schemeClr val="tx1"/>
          </a:fontRef>
        </p:style>
        <p:txBody>
          <a:bodyPr rtlCol="0" anchor="ctr"/>
          <a:lstStyle/>
          <a:p>
            <a:pPr algn="l"/>
            <a:r>
              <a:rPr lang="zh-CN" altLang="en-US" sz="2400">
                <a:solidFill>
                  <a:schemeClr val="tx1"/>
                </a:solidFill>
                <a:latin typeface="黑体" panose="02010609060101010101" pitchFamily="49" charset="-122"/>
                <a:ea typeface="黑体" panose="02010609060101010101" pitchFamily="49" charset="-122"/>
              </a:rPr>
              <a:t>时代主题：和平和发展（世界大势）</a:t>
            </a:r>
            <a:endParaRPr lang="zh-CN" altLang="en-US" sz="2400">
              <a:solidFill>
                <a:schemeClr val="tx1"/>
              </a:solidFill>
              <a:latin typeface="黑体" panose="02010609060101010101" pitchFamily="49" charset="-122"/>
              <a:ea typeface="黑体" panose="02010609060101010101" pitchFamily="49" charset="-122"/>
            </a:endParaRPr>
          </a:p>
        </p:txBody>
      </p:sp>
      <p:sp>
        <p:nvSpPr>
          <p:cNvPr id="12" name="矩形 11"/>
          <p:cNvSpPr/>
          <p:nvPr/>
        </p:nvSpPr>
        <p:spPr>
          <a:xfrm>
            <a:off x="4806315" y="2152650"/>
            <a:ext cx="7002780" cy="1430020"/>
          </a:xfrm>
          <a:prstGeom prst="rect">
            <a:avLst/>
          </a:prstGeom>
        </p:spPr>
        <p:style>
          <a:lnRef idx="2">
            <a:schemeClr val="accent1"/>
          </a:lnRef>
          <a:fillRef idx="0">
            <a:srgbClr val="FFFFFF"/>
          </a:fillRef>
          <a:effectRef idx="0">
            <a:srgbClr val="FFFFFF"/>
          </a:effectRef>
          <a:fontRef idx="minor">
            <a:schemeClr val="tx1"/>
          </a:fontRef>
        </p:style>
        <p:txBody>
          <a:bodyPr rtlCol="0" anchor="ctr"/>
          <a:lstStyle/>
          <a:p>
            <a:pPr algn="l"/>
            <a:r>
              <a:rPr lang="zh-CN" altLang="en-US" sz="2400">
                <a:solidFill>
                  <a:schemeClr val="tx1"/>
                </a:solidFill>
                <a:latin typeface="黑体" panose="02010609060101010101" pitchFamily="49" charset="-122"/>
                <a:ea typeface="黑体" panose="02010609060101010101" pitchFamily="49" charset="-122"/>
              </a:rPr>
              <a:t>外交思想：构建人类命运共同体</a:t>
            </a:r>
            <a:r>
              <a:rPr lang="zh-CN" altLang="en-US" sz="2400">
                <a:solidFill>
                  <a:srgbClr val="FF0000"/>
                </a:solidFill>
                <a:latin typeface="黑体" panose="02010609060101010101" pitchFamily="49" charset="-122"/>
                <a:ea typeface="黑体" panose="02010609060101010101" pitchFamily="49" charset="-122"/>
              </a:rPr>
              <a:t>（习近平外交思想的核心理念）</a:t>
            </a:r>
            <a:endParaRPr lang="zh-CN" altLang="en-US" sz="2400">
              <a:solidFill>
                <a:srgbClr val="FF0000"/>
              </a:solidFill>
              <a:latin typeface="黑体" panose="02010609060101010101" pitchFamily="49" charset="-122"/>
              <a:ea typeface="黑体" panose="02010609060101010101" pitchFamily="49" charset="-122"/>
            </a:endParaRPr>
          </a:p>
          <a:p>
            <a:pPr algn="l"/>
            <a:r>
              <a:rPr lang="zh-CN" altLang="en-US" sz="2400" b="1">
                <a:solidFill>
                  <a:schemeClr val="tx1"/>
                </a:solidFill>
                <a:highlight>
                  <a:srgbClr val="00FFFF"/>
                </a:highlight>
                <a:latin typeface="楷体" panose="02010609060101010101" charset="-122"/>
                <a:ea typeface="楷体" panose="02010609060101010101" charset="-122"/>
                <a:cs typeface="楷体" panose="02010609060101010101" charset="-122"/>
              </a:rPr>
              <a:t>替换：</a:t>
            </a:r>
            <a:r>
              <a:rPr lang="zh-CN" altLang="en-US" sz="2400" b="1">
                <a:solidFill>
                  <a:schemeClr val="tx1"/>
                </a:solidFill>
                <a:latin typeface="楷体" panose="02010609060101010101" charset="-122"/>
                <a:ea typeface="楷体" panose="02010609060101010101" charset="-122"/>
                <a:cs typeface="楷体" panose="02010609060101010101" charset="-122"/>
              </a:rPr>
              <a:t>独立自主的和平外交政策</a:t>
            </a:r>
            <a:r>
              <a:rPr lang="en-US" altLang="zh-CN" sz="2400" b="1">
                <a:solidFill>
                  <a:schemeClr val="tx1"/>
                </a:solidFill>
                <a:latin typeface="楷体" panose="02010609060101010101" charset="-122"/>
                <a:ea typeface="楷体" panose="02010609060101010101" charset="-122"/>
                <a:cs typeface="楷体" panose="02010609060101010101" charset="-122"/>
              </a:rPr>
              <a:t>/</a:t>
            </a:r>
            <a:r>
              <a:rPr lang="zh-CN" altLang="en-US" sz="2400" b="1">
                <a:solidFill>
                  <a:schemeClr val="tx1"/>
                </a:solidFill>
                <a:latin typeface="楷体" panose="02010609060101010101" charset="-122"/>
                <a:ea typeface="楷体" panose="02010609060101010101" charset="-122"/>
                <a:cs typeface="楷体" panose="02010609060101010101" charset="-122"/>
              </a:rPr>
              <a:t>外交政策的宗旨（维护世界和平、促进共同发展）</a:t>
            </a:r>
            <a:r>
              <a:rPr lang="en-US" altLang="zh-CN" sz="2400" b="1">
                <a:solidFill>
                  <a:schemeClr val="tx1"/>
                </a:solidFill>
                <a:latin typeface="楷体" panose="02010609060101010101" charset="-122"/>
                <a:ea typeface="楷体" panose="02010609060101010101" charset="-122"/>
                <a:cs typeface="楷体" panose="02010609060101010101" charset="-122"/>
              </a:rPr>
              <a:t>/</a:t>
            </a:r>
            <a:r>
              <a:rPr lang="zh-CN" altLang="en-US" sz="2400" b="1">
                <a:solidFill>
                  <a:schemeClr val="tx1"/>
                </a:solidFill>
                <a:latin typeface="楷体" panose="02010609060101010101" charset="-122"/>
                <a:ea typeface="楷体" panose="02010609060101010101" charset="-122"/>
                <a:cs typeface="楷体" panose="02010609060101010101" charset="-122"/>
              </a:rPr>
              <a:t>义利观</a:t>
            </a:r>
            <a:endParaRPr lang="zh-CN" altLang="en-US" sz="2400" b="1">
              <a:solidFill>
                <a:schemeClr val="tx1"/>
              </a:solidFill>
              <a:latin typeface="楷体" panose="02010609060101010101" charset="-122"/>
              <a:ea typeface="楷体" panose="02010609060101010101" charset="-122"/>
              <a:cs typeface="楷体" panose="02010609060101010101" charset="-122"/>
            </a:endParaRPr>
          </a:p>
        </p:txBody>
      </p:sp>
      <p:sp>
        <p:nvSpPr>
          <p:cNvPr id="13" name="矩形 12"/>
          <p:cNvSpPr/>
          <p:nvPr/>
        </p:nvSpPr>
        <p:spPr>
          <a:xfrm>
            <a:off x="4806315" y="3920490"/>
            <a:ext cx="7002780" cy="772160"/>
          </a:xfrm>
          <a:prstGeom prst="rect">
            <a:avLst/>
          </a:prstGeom>
        </p:spPr>
        <p:style>
          <a:lnRef idx="2">
            <a:schemeClr val="accent1"/>
          </a:lnRef>
          <a:fillRef idx="0">
            <a:srgbClr val="FFFFFF"/>
          </a:fillRef>
          <a:effectRef idx="0">
            <a:srgbClr val="FFFFFF"/>
          </a:effectRef>
          <a:fontRef idx="minor">
            <a:schemeClr val="tx1"/>
          </a:fontRef>
        </p:style>
        <p:txBody>
          <a:bodyPr rtlCol="0" anchor="ctr"/>
          <a:lstStyle/>
          <a:p>
            <a:pPr algn="l"/>
            <a:r>
              <a:rPr lang="zh-CN" altLang="en-US" sz="2400">
                <a:solidFill>
                  <a:schemeClr val="tx1"/>
                </a:solidFill>
                <a:latin typeface="黑体" panose="02010609060101010101" pitchFamily="49" charset="-122"/>
                <a:ea typeface="黑体" panose="02010609060101010101" pitchFamily="49" charset="-122"/>
              </a:rPr>
              <a:t>新型国际关系：合作共赢</a:t>
            </a:r>
            <a:r>
              <a:rPr lang="en-US" altLang="zh-CN" sz="2400">
                <a:solidFill>
                  <a:schemeClr val="tx1"/>
                </a:solidFill>
                <a:latin typeface="黑体" panose="02010609060101010101" pitchFamily="49" charset="-122"/>
                <a:ea typeface="黑体" panose="02010609060101010101" pitchFamily="49" charset="-122"/>
              </a:rPr>
              <a:t>/</a:t>
            </a:r>
            <a:r>
              <a:rPr lang="zh-CN" altLang="en-US" sz="2400">
                <a:solidFill>
                  <a:schemeClr val="tx1"/>
                </a:solidFill>
                <a:latin typeface="黑体" panose="02010609060101010101" pitchFamily="49" charset="-122"/>
                <a:ea typeface="黑体" panose="02010609060101010101" pitchFamily="49" charset="-122"/>
              </a:rPr>
              <a:t>互利共赢</a:t>
            </a:r>
            <a:r>
              <a:rPr lang="en-US" altLang="zh-CN" sz="2400">
                <a:solidFill>
                  <a:schemeClr val="tx1"/>
                </a:solidFill>
                <a:latin typeface="黑体" panose="02010609060101010101" pitchFamily="49" charset="-122"/>
                <a:ea typeface="黑体" panose="02010609060101010101" pitchFamily="49" charset="-122"/>
              </a:rPr>
              <a:t>/</a:t>
            </a:r>
            <a:r>
              <a:rPr lang="zh-CN" altLang="en-US" sz="2400">
                <a:solidFill>
                  <a:schemeClr val="tx1"/>
                </a:solidFill>
                <a:latin typeface="黑体" panose="02010609060101010101" pitchFamily="49" charset="-122"/>
                <a:ea typeface="黑体" panose="02010609060101010101" pitchFamily="49" charset="-122"/>
              </a:rPr>
              <a:t>共享发展成果</a:t>
            </a:r>
            <a:endParaRPr lang="zh-CN" altLang="en-US" sz="2400">
              <a:solidFill>
                <a:schemeClr val="tx1"/>
              </a:solidFill>
              <a:latin typeface="黑体" panose="02010609060101010101" pitchFamily="49" charset="-122"/>
              <a:ea typeface="黑体" panose="02010609060101010101" pitchFamily="49" charset="-122"/>
            </a:endParaRPr>
          </a:p>
          <a:p>
            <a:pPr algn="ctr"/>
            <a:r>
              <a:rPr lang="zh-CN" altLang="en-US" sz="2400">
                <a:solidFill>
                  <a:schemeClr val="tx1"/>
                </a:solidFill>
                <a:highlight>
                  <a:srgbClr val="FFFF00"/>
                </a:highlight>
                <a:latin typeface="黑体" panose="02010609060101010101" pitchFamily="49" charset="-122"/>
                <a:ea typeface="黑体" panose="02010609060101010101" pitchFamily="49" charset="-122"/>
              </a:rPr>
              <a:t>（典范）</a:t>
            </a:r>
            <a:endParaRPr lang="zh-CN" altLang="en-US" sz="2400">
              <a:solidFill>
                <a:schemeClr val="tx1"/>
              </a:solidFill>
              <a:highlight>
                <a:srgbClr val="FFFF00"/>
              </a:highlight>
              <a:latin typeface="黑体" panose="02010609060101010101" pitchFamily="49" charset="-122"/>
              <a:ea typeface="黑体" panose="02010609060101010101" pitchFamily="49" charset="-122"/>
            </a:endParaRPr>
          </a:p>
        </p:txBody>
      </p:sp>
      <p:grpSp>
        <p:nvGrpSpPr>
          <p:cNvPr id="21" name="组合 20"/>
          <p:cNvGrpSpPr/>
          <p:nvPr/>
        </p:nvGrpSpPr>
        <p:grpSpPr>
          <a:xfrm>
            <a:off x="4352290" y="1546860"/>
            <a:ext cx="453390" cy="2759075"/>
            <a:chOff x="6854" y="2436"/>
            <a:chExt cx="714" cy="4345"/>
          </a:xfrm>
        </p:grpSpPr>
        <p:cxnSp>
          <p:nvCxnSpPr>
            <p:cNvPr id="14" name="直接连接符 13"/>
            <p:cNvCxnSpPr>
              <a:stCxn id="6" idx="3"/>
              <a:endCxn id="8" idx="1"/>
            </p:cNvCxnSpPr>
            <p:nvPr/>
          </p:nvCxnSpPr>
          <p:spPr>
            <a:xfrm flipV="1">
              <a:off x="6854" y="2436"/>
              <a:ext cx="715" cy="2093"/>
            </a:xfrm>
            <a:prstGeom prst="line">
              <a:avLst/>
            </a:prstGeom>
          </p:spPr>
          <p:style>
            <a:lnRef idx="2">
              <a:schemeClr val="accent1"/>
            </a:lnRef>
            <a:fillRef idx="0">
              <a:srgbClr val="FFFFFF"/>
            </a:fillRef>
            <a:effectRef idx="0">
              <a:srgbClr val="FFFFFF"/>
            </a:effectRef>
            <a:fontRef idx="minor">
              <a:schemeClr val="tx1"/>
            </a:fontRef>
          </p:style>
        </p:cxnSp>
        <p:cxnSp>
          <p:nvCxnSpPr>
            <p:cNvPr id="15" name="直接连接符 14"/>
            <p:cNvCxnSpPr>
              <a:stCxn id="6" idx="3"/>
              <a:endCxn id="12" idx="1"/>
            </p:cNvCxnSpPr>
            <p:nvPr/>
          </p:nvCxnSpPr>
          <p:spPr>
            <a:xfrm flipV="1">
              <a:off x="6854" y="4516"/>
              <a:ext cx="715" cy="13"/>
            </a:xfrm>
            <a:prstGeom prst="line">
              <a:avLst/>
            </a:prstGeom>
          </p:spPr>
          <p:style>
            <a:lnRef idx="2">
              <a:schemeClr val="accent1"/>
            </a:lnRef>
            <a:fillRef idx="0">
              <a:srgbClr val="FFFFFF"/>
            </a:fillRef>
            <a:effectRef idx="0">
              <a:srgbClr val="FFFFFF"/>
            </a:effectRef>
            <a:fontRef idx="minor">
              <a:schemeClr val="tx1"/>
            </a:fontRef>
          </p:style>
        </p:cxnSp>
        <p:cxnSp>
          <p:nvCxnSpPr>
            <p:cNvPr id="16" name="直接连接符 15"/>
            <p:cNvCxnSpPr>
              <a:stCxn id="6" idx="3"/>
              <a:endCxn id="13" idx="1"/>
            </p:cNvCxnSpPr>
            <p:nvPr/>
          </p:nvCxnSpPr>
          <p:spPr>
            <a:xfrm>
              <a:off x="6854" y="4529"/>
              <a:ext cx="715" cy="2253"/>
            </a:xfrm>
            <a:prstGeom prst="line">
              <a:avLst/>
            </a:prstGeom>
          </p:spPr>
          <p:style>
            <a:lnRef idx="2">
              <a:schemeClr val="accent1"/>
            </a:lnRef>
            <a:fillRef idx="0">
              <a:srgbClr val="FFFFFF"/>
            </a:fillRef>
            <a:effectRef idx="0">
              <a:srgbClr val="FFFFFF"/>
            </a:effectRef>
            <a:fontRef idx="minor">
              <a:schemeClr val="tx1"/>
            </a:fontRef>
          </p:style>
        </p:cxnSp>
      </p:grpSp>
      <p:sp>
        <p:nvSpPr>
          <p:cNvPr id="17" name="矩形 16"/>
          <p:cNvSpPr/>
          <p:nvPr/>
        </p:nvSpPr>
        <p:spPr>
          <a:xfrm>
            <a:off x="4653280" y="4904740"/>
            <a:ext cx="1442085" cy="536575"/>
          </a:xfrm>
          <a:prstGeom prst="rect">
            <a:avLst/>
          </a:prstGeom>
        </p:spPr>
        <p:style>
          <a:lnRef idx="2">
            <a:schemeClr val="accent1"/>
          </a:lnRef>
          <a:fillRef idx="0">
            <a:srgbClr val="FFFFFF"/>
          </a:fillRef>
          <a:effectRef idx="0">
            <a:srgbClr val="FFFFFF"/>
          </a:effectRef>
          <a:fontRef idx="minor">
            <a:schemeClr val="tx1"/>
          </a:fontRef>
        </p:style>
        <p:txBody>
          <a:bodyPr rtlCol="0" anchor="ctr"/>
          <a:lstStyle/>
          <a:p>
            <a:pPr algn="ctr"/>
            <a:r>
              <a:rPr lang="zh-CN" altLang="en-US" sz="2400">
                <a:solidFill>
                  <a:schemeClr val="tx1"/>
                </a:solidFill>
                <a:latin typeface="黑体" panose="02010609060101010101" pitchFamily="49" charset="-122"/>
                <a:ea typeface="黑体" panose="02010609060101010101" pitchFamily="49" charset="-122"/>
              </a:rPr>
              <a:t>农业技术</a:t>
            </a:r>
            <a:endParaRPr lang="zh-CN" altLang="en-US" sz="2400">
              <a:solidFill>
                <a:schemeClr val="tx1"/>
              </a:solidFill>
              <a:latin typeface="黑体" panose="02010609060101010101" pitchFamily="49" charset="-122"/>
              <a:ea typeface="黑体" panose="02010609060101010101" pitchFamily="49" charset="-122"/>
            </a:endParaRPr>
          </a:p>
        </p:txBody>
      </p:sp>
      <p:sp>
        <p:nvSpPr>
          <p:cNvPr id="18" name="矩形 17"/>
          <p:cNvSpPr/>
          <p:nvPr/>
        </p:nvSpPr>
        <p:spPr>
          <a:xfrm>
            <a:off x="6565900" y="4904740"/>
            <a:ext cx="1442085" cy="536575"/>
          </a:xfrm>
          <a:prstGeom prst="rect">
            <a:avLst/>
          </a:prstGeom>
        </p:spPr>
        <p:style>
          <a:lnRef idx="2">
            <a:schemeClr val="accent1"/>
          </a:lnRef>
          <a:fillRef idx="0">
            <a:srgbClr val="FFFFFF"/>
          </a:fillRef>
          <a:effectRef idx="0">
            <a:srgbClr val="FFFFFF"/>
          </a:effectRef>
          <a:fontRef idx="minor">
            <a:schemeClr val="tx1"/>
          </a:fontRef>
        </p:style>
        <p:txBody>
          <a:bodyPr rtlCol="0" anchor="ctr"/>
          <a:lstStyle/>
          <a:p>
            <a:pPr algn="ctr"/>
            <a:r>
              <a:rPr lang="zh-CN" altLang="en-US" sz="2400">
                <a:solidFill>
                  <a:schemeClr val="tx1"/>
                </a:solidFill>
                <a:latin typeface="黑体" panose="02010609060101010101" pitchFamily="49" charset="-122"/>
                <a:ea typeface="黑体" panose="02010609060101010101" pitchFamily="49" charset="-122"/>
              </a:rPr>
              <a:t>生产率</a:t>
            </a:r>
            <a:r>
              <a:rPr lang="zh-CN" altLang="en-US" sz="2400">
                <a:solidFill>
                  <a:schemeClr val="tx1"/>
                </a:solidFill>
                <a:latin typeface="Arial" panose="020B0604020202020204" pitchFamily="34" charset="0"/>
                <a:ea typeface="黑体" panose="02010609060101010101" pitchFamily="49" charset="-122"/>
                <a:cs typeface="Arial" panose="020B0604020202020204" pitchFamily="34" charset="0"/>
              </a:rPr>
              <a:t>↑</a:t>
            </a:r>
            <a:endParaRPr lang="zh-CN" altLang="en-US" sz="2400">
              <a:solidFill>
                <a:schemeClr val="tx1"/>
              </a:solidFill>
              <a:latin typeface="Arial" panose="020B0604020202020204" pitchFamily="34" charset="0"/>
              <a:ea typeface="黑体" panose="02010609060101010101" pitchFamily="49" charset="-122"/>
              <a:cs typeface="Arial" panose="020B0604020202020204" pitchFamily="34" charset="0"/>
            </a:endParaRPr>
          </a:p>
        </p:txBody>
      </p:sp>
      <p:sp>
        <p:nvSpPr>
          <p:cNvPr id="19" name="矩形 18"/>
          <p:cNvSpPr/>
          <p:nvPr/>
        </p:nvSpPr>
        <p:spPr>
          <a:xfrm>
            <a:off x="8478520" y="4904740"/>
            <a:ext cx="1442085" cy="536575"/>
          </a:xfrm>
          <a:prstGeom prst="rect">
            <a:avLst/>
          </a:prstGeom>
        </p:spPr>
        <p:style>
          <a:lnRef idx="2">
            <a:schemeClr val="accent1"/>
          </a:lnRef>
          <a:fillRef idx="0">
            <a:srgbClr val="FFFFFF"/>
          </a:fillRef>
          <a:effectRef idx="0">
            <a:srgbClr val="FFFFFF"/>
          </a:effectRef>
          <a:fontRef idx="minor">
            <a:schemeClr val="tx1"/>
          </a:fontRef>
        </p:style>
        <p:txBody>
          <a:bodyPr rtlCol="0" anchor="ctr"/>
          <a:lstStyle/>
          <a:p>
            <a:pPr algn="ctr"/>
            <a:r>
              <a:rPr lang="zh-CN" altLang="en-US" sz="2400">
                <a:solidFill>
                  <a:schemeClr val="tx1"/>
                </a:solidFill>
                <a:latin typeface="黑体" panose="02010609060101010101" pitchFamily="49" charset="-122"/>
                <a:ea typeface="黑体" panose="02010609060101010101" pitchFamily="49" charset="-122"/>
              </a:rPr>
              <a:t>成本</a:t>
            </a:r>
            <a:r>
              <a:rPr lang="zh-CN" altLang="en-US" sz="2400">
                <a:solidFill>
                  <a:schemeClr val="tx1"/>
                </a:solidFill>
                <a:latin typeface="Arial" panose="020B0604020202020204" pitchFamily="34" charset="0"/>
                <a:ea typeface="黑体" panose="02010609060101010101" pitchFamily="49" charset="-122"/>
                <a:cs typeface="Arial" panose="020B0604020202020204" pitchFamily="34" charset="0"/>
              </a:rPr>
              <a:t>↓</a:t>
            </a:r>
            <a:endParaRPr lang="zh-CN" altLang="en-US" sz="2400">
              <a:solidFill>
                <a:schemeClr val="tx1"/>
              </a:solidFill>
              <a:latin typeface="Arial" panose="020B0604020202020204" pitchFamily="34" charset="0"/>
              <a:ea typeface="黑体" panose="02010609060101010101" pitchFamily="49" charset="-122"/>
              <a:cs typeface="Arial" panose="020B0604020202020204" pitchFamily="34" charset="0"/>
            </a:endParaRPr>
          </a:p>
        </p:txBody>
      </p:sp>
      <p:sp>
        <p:nvSpPr>
          <p:cNvPr id="20" name="矩形 19"/>
          <p:cNvSpPr/>
          <p:nvPr/>
        </p:nvSpPr>
        <p:spPr>
          <a:xfrm>
            <a:off x="10391140" y="4904740"/>
            <a:ext cx="1442085" cy="536575"/>
          </a:xfrm>
          <a:prstGeom prst="rect">
            <a:avLst/>
          </a:prstGeom>
        </p:spPr>
        <p:style>
          <a:lnRef idx="2">
            <a:schemeClr val="accent1"/>
          </a:lnRef>
          <a:fillRef idx="0">
            <a:srgbClr val="FFFFFF"/>
          </a:fillRef>
          <a:effectRef idx="0">
            <a:srgbClr val="FFFFFF"/>
          </a:effectRef>
          <a:fontRef idx="minor">
            <a:schemeClr val="tx1"/>
          </a:fontRef>
        </p:style>
        <p:txBody>
          <a:bodyPr rtlCol="0" anchor="ctr"/>
          <a:lstStyle/>
          <a:p>
            <a:pPr algn="ctr"/>
            <a:r>
              <a:rPr lang="zh-CN" altLang="en-US" sz="2400">
                <a:solidFill>
                  <a:schemeClr val="tx1"/>
                </a:solidFill>
                <a:latin typeface="Arial" panose="020B0604020202020204" pitchFamily="34" charset="0"/>
                <a:ea typeface="黑体" panose="02010609060101010101" pitchFamily="49" charset="-122"/>
                <a:cs typeface="Arial" panose="020B0604020202020204" pitchFamily="34" charset="0"/>
              </a:rPr>
              <a:t>发展动力</a:t>
            </a:r>
            <a:endParaRPr lang="zh-CN" altLang="en-US" sz="2400">
              <a:solidFill>
                <a:schemeClr val="tx1"/>
              </a:solidFill>
              <a:latin typeface="Arial" panose="020B0604020202020204" pitchFamily="34" charset="0"/>
              <a:ea typeface="黑体" panose="02010609060101010101" pitchFamily="49" charset="-122"/>
              <a:cs typeface="Arial" panose="020B0604020202020204" pitchFamily="34" charset="0"/>
            </a:endParaRPr>
          </a:p>
        </p:txBody>
      </p:sp>
      <p:cxnSp>
        <p:nvCxnSpPr>
          <p:cNvPr id="22" name="直接箭头连接符 21"/>
          <p:cNvCxnSpPr>
            <a:stCxn id="17" idx="3"/>
            <a:endCxn id="18" idx="1"/>
          </p:cNvCxnSpPr>
          <p:nvPr/>
        </p:nvCxnSpPr>
        <p:spPr>
          <a:xfrm>
            <a:off x="6095365" y="5173345"/>
            <a:ext cx="470535" cy="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23" name="直接箭头连接符 22"/>
          <p:cNvCxnSpPr>
            <a:stCxn id="18" idx="3"/>
            <a:endCxn id="19" idx="1"/>
          </p:cNvCxnSpPr>
          <p:nvPr/>
        </p:nvCxnSpPr>
        <p:spPr>
          <a:xfrm>
            <a:off x="8007985" y="5173345"/>
            <a:ext cx="470535" cy="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24" name="直接箭头连接符 23"/>
          <p:cNvCxnSpPr>
            <a:stCxn id="19" idx="3"/>
            <a:endCxn id="20" idx="1"/>
          </p:cNvCxnSpPr>
          <p:nvPr/>
        </p:nvCxnSpPr>
        <p:spPr>
          <a:xfrm>
            <a:off x="9920605" y="5173345"/>
            <a:ext cx="470535" cy="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25" name="矩形 24"/>
          <p:cNvSpPr/>
          <p:nvPr/>
        </p:nvSpPr>
        <p:spPr>
          <a:xfrm>
            <a:off x="4653280" y="5745480"/>
            <a:ext cx="1442085" cy="536575"/>
          </a:xfrm>
          <a:prstGeom prst="rect">
            <a:avLst/>
          </a:prstGeom>
        </p:spPr>
        <p:style>
          <a:lnRef idx="2">
            <a:schemeClr val="accent1"/>
          </a:lnRef>
          <a:fillRef idx="0">
            <a:srgbClr val="FFFFFF"/>
          </a:fillRef>
          <a:effectRef idx="0">
            <a:srgbClr val="FFFFFF"/>
          </a:effectRef>
          <a:fontRef idx="minor">
            <a:schemeClr val="tx1"/>
          </a:fontRef>
        </p:style>
        <p:txBody>
          <a:bodyPr rtlCol="0" anchor="ctr"/>
          <a:lstStyle/>
          <a:p>
            <a:pPr algn="ctr"/>
            <a:r>
              <a:rPr lang="zh-CN" altLang="en-US" sz="2400">
                <a:solidFill>
                  <a:schemeClr val="tx1"/>
                </a:solidFill>
                <a:latin typeface="黑体" panose="02010609060101010101" pitchFamily="49" charset="-122"/>
                <a:ea typeface="黑体" panose="02010609060101010101" pitchFamily="49" charset="-122"/>
              </a:rPr>
              <a:t>培养人才</a:t>
            </a:r>
            <a:endParaRPr lang="zh-CN" altLang="en-US" sz="2400">
              <a:solidFill>
                <a:schemeClr val="tx1"/>
              </a:solidFill>
              <a:latin typeface="黑体" panose="02010609060101010101" pitchFamily="49" charset="-122"/>
              <a:ea typeface="黑体" panose="02010609060101010101" pitchFamily="49" charset="-122"/>
            </a:endParaRPr>
          </a:p>
        </p:txBody>
      </p:sp>
      <p:sp>
        <p:nvSpPr>
          <p:cNvPr id="26" name="矩形 25"/>
          <p:cNvSpPr/>
          <p:nvPr/>
        </p:nvSpPr>
        <p:spPr>
          <a:xfrm>
            <a:off x="6565900" y="5745480"/>
            <a:ext cx="1442085" cy="536575"/>
          </a:xfrm>
          <a:prstGeom prst="rect">
            <a:avLst/>
          </a:prstGeom>
        </p:spPr>
        <p:style>
          <a:lnRef idx="2">
            <a:schemeClr val="accent1"/>
          </a:lnRef>
          <a:fillRef idx="0">
            <a:srgbClr val="FFFFFF"/>
          </a:fillRef>
          <a:effectRef idx="0">
            <a:srgbClr val="FFFFFF"/>
          </a:effectRef>
          <a:fontRef idx="minor">
            <a:schemeClr val="tx1"/>
          </a:fontRef>
        </p:style>
        <p:txBody>
          <a:bodyPr rtlCol="0" anchor="ctr"/>
          <a:lstStyle/>
          <a:p>
            <a:pPr algn="ctr"/>
            <a:r>
              <a:rPr lang="zh-CN" altLang="en-US" sz="2400">
                <a:solidFill>
                  <a:schemeClr val="tx1"/>
                </a:solidFill>
                <a:latin typeface="黑体" panose="02010609060101010101" pitchFamily="49" charset="-122"/>
                <a:ea typeface="黑体" panose="02010609060101010101" pitchFamily="49" charset="-122"/>
              </a:rPr>
              <a:t>内生动力</a:t>
            </a:r>
            <a:endParaRPr lang="zh-CN" altLang="en-US" sz="2400">
              <a:solidFill>
                <a:schemeClr val="tx1"/>
              </a:solidFill>
              <a:latin typeface="黑体" panose="02010609060101010101" pitchFamily="49" charset="-122"/>
              <a:ea typeface="黑体" panose="02010609060101010101" pitchFamily="49" charset="-122"/>
            </a:endParaRPr>
          </a:p>
        </p:txBody>
      </p:sp>
      <p:sp>
        <p:nvSpPr>
          <p:cNvPr id="27" name="矩形 26"/>
          <p:cNvSpPr/>
          <p:nvPr/>
        </p:nvSpPr>
        <p:spPr>
          <a:xfrm>
            <a:off x="8478520" y="5745480"/>
            <a:ext cx="1882775" cy="536575"/>
          </a:xfrm>
          <a:prstGeom prst="rect">
            <a:avLst/>
          </a:prstGeom>
        </p:spPr>
        <p:style>
          <a:lnRef idx="2">
            <a:schemeClr val="accent1"/>
          </a:lnRef>
          <a:fillRef idx="0">
            <a:srgbClr val="FFFFFF"/>
          </a:fillRef>
          <a:effectRef idx="0">
            <a:srgbClr val="FFFFFF"/>
          </a:effectRef>
          <a:fontRef idx="minor">
            <a:schemeClr val="tx1"/>
          </a:fontRef>
        </p:style>
        <p:txBody>
          <a:bodyPr rtlCol="0" anchor="ctr"/>
          <a:lstStyle/>
          <a:p>
            <a:pPr algn="ctr"/>
            <a:r>
              <a:rPr lang="zh-CN" altLang="en-US" sz="2400">
                <a:solidFill>
                  <a:schemeClr val="tx1"/>
                </a:solidFill>
                <a:latin typeface="黑体" panose="02010609060101010101" pitchFamily="49" charset="-122"/>
                <a:ea typeface="黑体" panose="02010609060101010101" pitchFamily="49" charset="-122"/>
              </a:rPr>
              <a:t>可持续发展</a:t>
            </a:r>
            <a:endParaRPr lang="zh-CN" altLang="en-US" sz="2400">
              <a:solidFill>
                <a:schemeClr val="tx1"/>
              </a:solidFill>
              <a:latin typeface="黑体" panose="02010609060101010101" pitchFamily="49" charset="-122"/>
              <a:ea typeface="黑体" panose="02010609060101010101" pitchFamily="49" charset="-122"/>
            </a:endParaRPr>
          </a:p>
        </p:txBody>
      </p:sp>
      <p:cxnSp>
        <p:nvCxnSpPr>
          <p:cNvPr id="32" name="直接箭头连接符 31"/>
          <p:cNvCxnSpPr>
            <a:stCxn id="25" idx="3"/>
            <a:endCxn id="26" idx="1"/>
          </p:cNvCxnSpPr>
          <p:nvPr/>
        </p:nvCxnSpPr>
        <p:spPr>
          <a:xfrm>
            <a:off x="6095365" y="6014085"/>
            <a:ext cx="470535" cy="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33" name="直接箭头连接符 32"/>
          <p:cNvCxnSpPr>
            <a:stCxn id="26" idx="3"/>
            <a:endCxn id="27" idx="1"/>
          </p:cNvCxnSpPr>
          <p:nvPr/>
        </p:nvCxnSpPr>
        <p:spPr>
          <a:xfrm>
            <a:off x="8007985" y="6014085"/>
            <a:ext cx="470535" cy="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39" name="文本框 38"/>
          <p:cNvSpPr txBox="1"/>
          <p:nvPr/>
        </p:nvSpPr>
        <p:spPr>
          <a:xfrm>
            <a:off x="372745" y="73660"/>
            <a:ext cx="11435715" cy="829945"/>
          </a:xfrm>
          <a:prstGeom prst="rect">
            <a:avLst/>
          </a:prstGeom>
          <a:noFill/>
        </p:spPr>
        <p:txBody>
          <a:bodyPr wrap="square" rtlCol="0" anchor="t">
            <a:spAutoFit/>
          </a:bodyPr>
          <a:lstStyle/>
          <a:p>
            <a:pPr indent="0" fontAlgn="auto">
              <a:lnSpc>
                <a:spcPct val="120000"/>
              </a:lnSpc>
            </a:pPr>
            <a:r>
              <a:rPr lang="en-US" altLang="zh-CN" sz="2000" b="1" dirty="0">
                <a:latin typeface="楷体" panose="02010609060101010101" charset="-122"/>
                <a:ea typeface="楷体" panose="02010609060101010101" charset="-122"/>
                <a:cs typeface="楷体" panose="02010609060101010101" charset="-122"/>
              </a:rPr>
              <a:t>20</a:t>
            </a:r>
            <a:r>
              <a:rPr lang="zh-CN" altLang="en-US" sz="2000" b="1" dirty="0">
                <a:latin typeface="楷体" panose="02010609060101010101" charset="-122"/>
                <a:ea typeface="楷体" panose="02010609060101010101" charset="-122"/>
                <a:cs typeface="楷体" panose="02010609060101010101" charset="-122"/>
              </a:rPr>
              <a:t>、中国智慧、中国方案下的南南合作正结出硕果。</a:t>
            </a:r>
            <a:r>
              <a:rPr lang="en-US" altLang="zh-CN" sz="2000" b="1" dirty="0">
                <a:latin typeface="楷体" panose="02010609060101010101" charset="-122"/>
                <a:ea typeface="楷体" panose="02010609060101010101" charset="-122"/>
                <a:cs typeface="楷体" panose="02010609060101010101" charset="-122"/>
              </a:rPr>
              <a:t>“</a:t>
            </a:r>
            <a:r>
              <a:rPr lang="zh-CN" altLang="en-US" sz="2000" b="1" dirty="0">
                <a:latin typeface="楷体" panose="02010609060101010101" charset="-122"/>
                <a:ea typeface="楷体" panose="02010609060101010101" charset="-122"/>
                <a:cs typeface="楷体" panose="02010609060101010101" charset="-122"/>
              </a:rPr>
              <a:t>科技小院</a:t>
            </a:r>
            <a:r>
              <a:rPr lang="en-US" altLang="zh-CN" sz="2000" b="1" dirty="0">
                <a:latin typeface="楷体" panose="02010609060101010101" charset="-122"/>
                <a:ea typeface="楷体" panose="02010609060101010101" charset="-122"/>
                <a:cs typeface="楷体" panose="02010609060101010101" charset="-122"/>
              </a:rPr>
              <a:t>”</a:t>
            </a:r>
            <a:r>
              <a:rPr lang="zh-CN" altLang="en-US" sz="2000" b="1" dirty="0">
                <a:latin typeface="楷体" panose="02010609060101010101" charset="-122"/>
                <a:ea typeface="楷体" panose="02010609060101010101" charset="-122"/>
                <a:cs typeface="楷体" panose="02010609060101010101" charset="-122"/>
              </a:rPr>
              <a:t>正从中国乡村走向世界，成为全球南方国家农业合作的</a:t>
            </a:r>
            <a:r>
              <a:rPr lang="zh-CN" altLang="en-US" sz="2000" b="1" dirty="0">
                <a:highlight>
                  <a:srgbClr val="FFFF00"/>
                </a:highlight>
                <a:latin typeface="楷体" panose="02010609060101010101" charset="-122"/>
                <a:ea typeface="楷体" panose="02010609060101010101" charset="-122"/>
                <a:cs typeface="楷体" panose="02010609060101010101" charset="-122"/>
              </a:rPr>
              <a:t>创新范式。</a:t>
            </a:r>
            <a:endParaRPr lang="zh-CN" altLang="en-US" sz="2000" b="1" dirty="0">
              <a:highlight>
                <a:srgbClr val="FFFF00"/>
              </a:highlight>
              <a:latin typeface="楷体" panose="02010609060101010101" charset="-122"/>
              <a:ea typeface="楷体" panose="02010609060101010101" charset="-122"/>
              <a:cs typeface="楷体" panose="02010609060101010101" charset="-122"/>
            </a:endParaRPr>
          </a:p>
        </p:txBody>
      </p:sp>
      <p:sp>
        <p:nvSpPr>
          <p:cNvPr id="40" name="矩形 39"/>
          <p:cNvSpPr/>
          <p:nvPr/>
        </p:nvSpPr>
        <p:spPr>
          <a:xfrm>
            <a:off x="4653280" y="6428105"/>
            <a:ext cx="6212205" cy="351790"/>
          </a:xfrm>
          <a:prstGeom prst="rect">
            <a:avLst/>
          </a:prstGeom>
        </p:spPr>
        <p:style>
          <a:lnRef idx="2">
            <a:schemeClr val="accent1"/>
          </a:lnRef>
          <a:fillRef idx="0">
            <a:srgbClr val="FFFFFF"/>
          </a:fillRef>
          <a:effectRef idx="0">
            <a:srgbClr val="FFFFFF"/>
          </a:effectRef>
          <a:fontRef idx="minor">
            <a:schemeClr val="tx1"/>
          </a:fontRef>
        </p:style>
        <p:txBody>
          <a:bodyPr rtlCol="0" anchor="ctr"/>
          <a:lstStyle/>
          <a:p>
            <a:pPr algn="l"/>
            <a:r>
              <a:rPr lang="zh-CN" altLang="en-US" sz="2400">
                <a:solidFill>
                  <a:schemeClr val="tx1"/>
                </a:solidFill>
                <a:highlight>
                  <a:srgbClr val="FFFF00"/>
                </a:highlight>
                <a:latin typeface="黑体" panose="02010609060101010101" pitchFamily="49" charset="-122"/>
                <a:ea typeface="黑体" panose="02010609060101010101" pitchFamily="49" charset="-122"/>
              </a:rPr>
              <a:t>经济全球化方向：普惠、平衡、共赢（典范）</a:t>
            </a:r>
            <a:endParaRPr lang="zh-CN" altLang="en-US" sz="2400">
              <a:solidFill>
                <a:schemeClr val="tx1"/>
              </a:solidFill>
              <a:highlight>
                <a:srgbClr val="FFFF00"/>
              </a:highlight>
              <a:latin typeface="黑体" panose="02010609060101010101" pitchFamily="49" charset="-122"/>
              <a:ea typeface="黑体" panose="02010609060101010101" pitchFamily="49" charset="-122"/>
            </a:endParaRPr>
          </a:p>
        </p:txBody>
      </p:sp>
      <p:grpSp>
        <p:nvGrpSpPr>
          <p:cNvPr id="28" name="组合 27"/>
          <p:cNvGrpSpPr/>
          <p:nvPr/>
        </p:nvGrpSpPr>
        <p:grpSpPr>
          <a:xfrm>
            <a:off x="4352290" y="5173345"/>
            <a:ext cx="300990" cy="840740"/>
            <a:chOff x="6854" y="8147"/>
            <a:chExt cx="474" cy="1324"/>
          </a:xfrm>
        </p:grpSpPr>
        <p:cxnSp>
          <p:nvCxnSpPr>
            <p:cNvPr id="34" name="直接连接符 33"/>
            <p:cNvCxnSpPr>
              <a:stCxn id="7" idx="3"/>
              <a:endCxn id="17" idx="1"/>
            </p:cNvCxnSpPr>
            <p:nvPr/>
          </p:nvCxnSpPr>
          <p:spPr>
            <a:xfrm flipV="1">
              <a:off x="6854" y="8147"/>
              <a:ext cx="474" cy="874"/>
            </a:xfrm>
            <a:prstGeom prst="line">
              <a:avLst/>
            </a:prstGeom>
          </p:spPr>
          <p:style>
            <a:lnRef idx="2">
              <a:schemeClr val="accent1"/>
            </a:lnRef>
            <a:fillRef idx="0">
              <a:srgbClr val="FFFFFF"/>
            </a:fillRef>
            <a:effectRef idx="0">
              <a:srgbClr val="FFFFFF"/>
            </a:effectRef>
            <a:fontRef idx="minor">
              <a:schemeClr val="tx1"/>
            </a:fontRef>
          </p:style>
        </p:cxnSp>
        <p:cxnSp>
          <p:nvCxnSpPr>
            <p:cNvPr id="42" name="直接连接符 41"/>
            <p:cNvCxnSpPr>
              <a:stCxn id="7" idx="3"/>
              <a:endCxn id="25" idx="1"/>
            </p:cNvCxnSpPr>
            <p:nvPr/>
          </p:nvCxnSpPr>
          <p:spPr>
            <a:xfrm>
              <a:off x="6854" y="9021"/>
              <a:ext cx="474" cy="450"/>
            </a:xfrm>
            <a:prstGeom prst="line">
              <a:avLst/>
            </a:prstGeom>
          </p:spPr>
          <p:style>
            <a:lnRef idx="2">
              <a:schemeClr val="accent1"/>
            </a:lnRef>
            <a:fillRef idx="0">
              <a:srgbClr val="FFFFFF"/>
            </a:fillRef>
            <a:effectRef idx="0">
              <a:srgbClr val="FFFFFF"/>
            </a:effectRef>
            <a:fontRef idx="minor">
              <a:schemeClr val="tx1"/>
            </a:fontRef>
          </p:style>
        </p:cxn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down)">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down)">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wipe(left)">
                                      <p:cBhvr>
                                        <p:cTn id="22" dur="5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wipe(down)">
                                      <p:cBhvr>
                                        <p:cTn id="27" dur="50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wipe(down)">
                                      <p:cBhvr>
                                        <p:cTn id="32" dur="500"/>
                                        <p:tgtEl>
                                          <p:spTgt spid="7"/>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21"/>
                                        </p:tgtEl>
                                        <p:attrNameLst>
                                          <p:attrName>style.visibility</p:attrName>
                                        </p:attrNameLst>
                                      </p:cBhvr>
                                      <p:to>
                                        <p:strVal val="visible"/>
                                      </p:to>
                                    </p:set>
                                    <p:animEffect transition="in" filter="wipe(down)">
                                      <p:cBhvr>
                                        <p:cTn id="37" dur="500"/>
                                        <p:tgtEl>
                                          <p:spTgt spid="21"/>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8"/>
                                        </p:tgtEl>
                                        <p:attrNameLst>
                                          <p:attrName>style.visibility</p:attrName>
                                        </p:attrNameLst>
                                      </p:cBhvr>
                                      <p:to>
                                        <p:strVal val="visible"/>
                                      </p:to>
                                    </p:set>
                                    <p:animEffect transition="in" filter="wipe(down)">
                                      <p:cBhvr>
                                        <p:cTn id="42" dur="500"/>
                                        <p:tgtEl>
                                          <p:spTgt spid="8"/>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grpId="0" nodeType="clickEffect">
                                  <p:stCondLst>
                                    <p:cond delay="0"/>
                                  </p:stCondLst>
                                  <p:childTnLst>
                                    <p:set>
                                      <p:cBhvr>
                                        <p:cTn id="46" dur="1" fill="hold">
                                          <p:stCondLst>
                                            <p:cond delay="0"/>
                                          </p:stCondLst>
                                        </p:cTn>
                                        <p:tgtEl>
                                          <p:spTgt spid="12"/>
                                        </p:tgtEl>
                                        <p:attrNameLst>
                                          <p:attrName>style.visibility</p:attrName>
                                        </p:attrNameLst>
                                      </p:cBhvr>
                                      <p:to>
                                        <p:strVal val="visible"/>
                                      </p:to>
                                    </p:set>
                                    <p:animEffect transition="in" filter="wipe(down)">
                                      <p:cBhvr>
                                        <p:cTn id="47" dur="500"/>
                                        <p:tgtEl>
                                          <p:spTgt spid="12"/>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grpId="0" nodeType="clickEffect">
                                  <p:stCondLst>
                                    <p:cond delay="0"/>
                                  </p:stCondLst>
                                  <p:childTnLst>
                                    <p:set>
                                      <p:cBhvr>
                                        <p:cTn id="51" dur="1" fill="hold">
                                          <p:stCondLst>
                                            <p:cond delay="0"/>
                                          </p:stCondLst>
                                        </p:cTn>
                                        <p:tgtEl>
                                          <p:spTgt spid="13"/>
                                        </p:tgtEl>
                                        <p:attrNameLst>
                                          <p:attrName>style.visibility</p:attrName>
                                        </p:attrNameLst>
                                      </p:cBhvr>
                                      <p:to>
                                        <p:strVal val="visible"/>
                                      </p:to>
                                    </p:set>
                                    <p:animEffect transition="in" filter="wipe(down)">
                                      <p:cBhvr>
                                        <p:cTn id="52" dur="500"/>
                                        <p:tgtEl>
                                          <p:spTgt spid="13"/>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4" fill="hold" nodeType="clickEffect">
                                  <p:stCondLst>
                                    <p:cond delay="0"/>
                                  </p:stCondLst>
                                  <p:childTnLst>
                                    <p:set>
                                      <p:cBhvr>
                                        <p:cTn id="56" dur="1" fill="hold">
                                          <p:stCondLst>
                                            <p:cond delay="0"/>
                                          </p:stCondLst>
                                        </p:cTn>
                                        <p:tgtEl>
                                          <p:spTgt spid="28"/>
                                        </p:tgtEl>
                                        <p:attrNameLst>
                                          <p:attrName>style.visibility</p:attrName>
                                        </p:attrNameLst>
                                      </p:cBhvr>
                                      <p:to>
                                        <p:strVal val="visible"/>
                                      </p:to>
                                    </p:set>
                                    <p:animEffect transition="in" filter="wipe(down)">
                                      <p:cBhvr>
                                        <p:cTn id="57" dur="500"/>
                                        <p:tgtEl>
                                          <p:spTgt spid="28"/>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4" fill="hold" grpId="0" nodeType="clickEffect">
                                  <p:stCondLst>
                                    <p:cond delay="0"/>
                                  </p:stCondLst>
                                  <p:childTnLst>
                                    <p:set>
                                      <p:cBhvr>
                                        <p:cTn id="61" dur="1" fill="hold">
                                          <p:stCondLst>
                                            <p:cond delay="0"/>
                                          </p:stCondLst>
                                        </p:cTn>
                                        <p:tgtEl>
                                          <p:spTgt spid="17"/>
                                        </p:tgtEl>
                                        <p:attrNameLst>
                                          <p:attrName>style.visibility</p:attrName>
                                        </p:attrNameLst>
                                      </p:cBhvr>
                                      <p:to>
                                        <p:strVal val="visible"/>
                                      </p:to>
                                    </p:set>
                                    <p:animEffect transition="in" filter="wipe(down)">
                                      <p:cBhvr>
                                        <p:cTn id="62" dur="500"/>
                                        <p:tgtEl>
                                          <p:spTgt spid="17"/>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4" fill="hold" nodeType="clickEffect">
                                  <p:stCondLst>
                                    <p:cond delay="0"/>
                                  </p:stCondLst>
                                  <p:childTnLst>
                                    <p:set>
                                      <p:cBhvr>
                                        <p:cTn id="66" dur="1" fill="hold">
                                          <p:stCondLst>
                                            <p:cond delay="0"/>
                                          </p:stCondLst>
                                        </p:cTn>
                                        <p:tgtEl>
                                          <p:spTgt spid="22"/>
                                        </p:tgtEl>
                                        <p:attrNameLst>
                                          <p:attrName>style.visibility</p:attrName>
                                        </p:attrNameLst>
                                      </p:cBhvr>
                                      <p:to>
                                        <p:strVal val="visible"/>
                                      </p:to>
                                    </p:set>
                                    <p:animEffect transition="in" filter="wipe(down)">
                                      <p:cBhvr>
                                        <p:cTn id="67" dur="500"/>
                                        <p:tgtEl>
                                          <p:spTgt spid="22"/>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4" fill="hold" grpId="0" nodeType="clickEffect">
                                  <p:stCondLst>
                                    <p:cond delay="0"/>
                                  </p:stCondLst>
                                  <p:childTnLst>
                                    <p:set>
                                      <p:cBhvr>
                                        <p:cTn id="71" dur="1" fill="hold">
                                          <p:stCondLst>
                                            <p:cond delay="0"/>
                                          </p:stCondLst>
                                        </p:cTn>
                                        <p:tgtEl>
                                          <p:spTgt spid="18"/>
                                        </p:tgtEl>
                                        <p:attrNameLst>
                                          <p:attrName>style.visibility</p:attrName>
                                        </p:attrNameLst>
                                      </p:cBhvr>
                                      <p:to>
                                        <p:strVal val="visible"/>
                                      </p:to>
                                    </p:set>
                                    <p:animEffect transition="in" filter="wipe(down)">
                                      <p:cBhvr>
                                        <p:cTn id="72" dur="500"/>
                                        <p:tgtEl>
                                          <p:spTgt spid="18"/>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4" fill="hold" nodeType="clickEffect">
                                  <p:stCondLst>
                                    <p:cond delay="0"/>
                                  </p:stCondLst>
                                  <p:childTnLst>
                                    <p:set>
                                      <p:cBhvr>
                                        <p:cTn id="76" dur="1" fill="hold">
                                          <p:stCondLst>
                                            <p:cond delay="0"/>
                                          </p:stCondLst>
                                        </p:cTn>
                                        <p:tgtEl>
                                          <p:spTgt spid="23"/>
                                        </p:tgtEl>
                                        <p:attrNameLst>
                                          <p:attrName>style.visibility</p:attrName>
                                        </p:attrNameLst>
                                      </p:cBhvr>
                                      <p:to>
                                        <p:strVal val="visible"/>
                                      </p:to>
                                    </p:set>
                                    <p:animEffect transition="in" filter="wipe(down)">
                                      <p:cBhvr>
                                        <p:cTn id="77" dur="500"/>
                                        <p:tgtEl>
                                          <p:spTgt spid="23"/>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4" fill="hold" grpId="0" nodeType="clickEffect">
                                  <p:stCondLst>
                                    <p:cond delay="0"/>
                                  </p:stCondLst>
                                  <p:childTnLst>
                                    <p:set>
                                      <p:cBhvr>
                                        <p:cTn id="81" dur="1" fill="hold">
                                          <p:stCondLst>
                                            <p:cond delay="0"/>
                                          </p:stCondLst>
                                        </p:cTn>
                                        <p:tgtEl>
                                          <p:spTgt spid="19"/>
                                        </p:tgtEl>
                                        <p:attrNameLst>
                                          <p:attrName>style.visibility</p:attrName>
                                        </p:attrNameLst>
                                      </p:cBhvr>
                                      <p:to>
                                        <p:strVal val="visible"/>
                                      </p:to>
                                    </p:set>
                                    <p:animEffect transition="in" filter="wipe(down)">
                                      <p:cBhvr>
                                        <p:cTn id="82" dur="500"/>
                                        <p:tgtEl>
                                          <p:spTgt spid="19"/>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4" fill="hold" nodeType="clickEffect">
                                  <p:stCondLst>
                                    <p:cond delay="0"/>
                                  </p:stCondLst>
                                  <p:childTnLst>
                                    <p:set>
                                      <p:cBhvr>
                                        <p:cTn id="86" dur="1" fill="hold">
                                          <p:stCondLst>
                                            <p:cond delay="0"/>
                                          </p:stCondLst>
                                        </p:cTn>
                                        <p:tgtEl>
                                          <p:spTgt spid="24"/>
                                        </p:tgtEl>
                                        <p:attrNameLst>
                                          <p:attrName>style.visibility</p:attrName>
                                        </p:attrNameLst>
                                      </p:cBhvr>
                                      <p:to>
                                        <p:strVal val="visible"/>
                                      </p:to>
                                    </p:set>
                                    <p:animEffect transition="in" filter="wipe(down)">
                                      <p:cBhvr>
                                        <p:cTn id="87" dur="500"/>
                                        <p:tgtEl>
                                          <p:spTgt spid="24"/>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4" fill="hold" grpId="0" nodeType="clickEffect">
                                  <p:stCondLst>
                                    <p:cond delay="0"/>
                                  </p:stCondLst>
                                  <p:childTnLst>
                                    <p:set>
                                      <p:cBhvr>
                                        <p:cTn id="91" dur="1" fill="hold">
                                          <p:stCondLst>
                                            <p:cond delay="0"/>
                                          </p:stCondLst>
                                        </p:cTn>
                                        <p:tgtEl>
                                          <p:spTgt spid="20"/>
                                        </p:tgtEl>
                                        <p:attrNameLst>
                                          <p:attrName>style.visibility</p:attrName>
                                        </p:attrNameLst>
                                      </p:cBhvr>
                                      <p:to>
                                        <p:strVal val="visible"/>
                                      </p:to>
                                    </p:set>
                                    <p:animEffect transition="in" filter="wipe(down)">
                                      <p:cBhvr>
                                        <p:cTn id="92" dur="500"/>
                                        <p:tgtEl>
                                          <p:spTgt spid="20"/>
                                        </p:tgtEl>
                                      </p:cBhvr>
                                    </p:animEffect>
                                  </p:childTnLst>
                                </p:cTn>
                              </p:par>
                            </p:childTnLst>
                          </p:cTn>
                        </p:par>
                      </p:childTnLst>
                    </p:cTn>
                  </p:par>
                  <p:par>
                    <p:cTn id="93" fill="hold">
                      <p:stCondLst>
                        <p:cond delay="indefinite"/>
                      </p:stCondLst>
                      <p:childTnLst>
                        <p:par>
                          <p:cTn id="94" fill="hold">
                            <p:stCondLst>
                              <p:cond delay="0"/>
                            </p:stCondLst>
                            <p:childTnLst>
                              <p:par>
                                <p:cTn id="95" presetID="22" presetClass="entr" presetSubtype="4" fill="hold" grpId="0" nodeType="clickEffect">
                                  <p:stCondLst>
                                    <p:cond delay="0"/>
                                  </p:stCondLst>
                                  <p:childTnLst>
                                    <p:set>
                                      <p:cBhvr>
                                        <p:cTn id="96" dur="1" fill="hold">
                                          <p:stCondLst>
                                            <p:cond delay="0"/>
                                          </p:stCondLst>
                                        </p:cTn>
                                        <p:tgtEl>
                                          <p:spTgt spid="25"/>
                                        </p:tgtEl>
                                        <p:attrNameLst>
                                          <p:attrName>style.visibility</p:attrName>
                                        </p:attrNameLst>
                                      </p:cBhvr>
                                      <p:to>
                                        <p:strVal val="visible"/>
                                      </p:to>
                                    </p:set>
                                    <p:animEffect transition="in" filter="wipe(down)">
                                      <p:cBhvr>
                                        <p:cTn id="97" dur="500"/>
                                        <p:tgtEl>
                                          <p:spTgt spid="25"/>
                                        </p:tgtEl>
                                      </p:cBhvr>
                                    </p:animEffect>
                                  </p:childTnLst>
                                </p:cTn>
                              </p:par>
                            </p:childTnLst>
                          </p:cTn>
                        </p:par>
                      </p:childTnLst>
                    </p:cTn>
                  </p:par>
                  <p:par>
                    <p:cTn id="98" fill="hold">
                      <p:stCondLst>
                        <p:cond delay="indefinite"/>
                      </p:stCondLst>
                      <p:childTnLst>
                        <p:par>
                          <p:cTn id="99" fill="hold">
                            <p:stCondLst>
                              <p:cond delay="0"/>
                            </p:stCondLst>
                            <p:childTnLst>
                              <p:par>
                                <p:cTn id="100" presetID="22" presetClass="entr" presetSubtype="4" fill="hold" nodeType="clickEffect">
                                  <p:stCondLst>
                                    <p:cond delay="0"/>
                                  </p:stCondLst>
                                  <p:childTnLst>
                                    <p:set>
                                      <p:cBhvr>
                                        <p:cTn id="101" dur="1" fill="hold">
                                          <p:stCondLst>
                                            <p:cond delay="0"/>
                                          </p:stCondLst>
                                        </p:cTn>
                                        <p:tgtEl>
                                          <p:spTgt spid="32"/>
                                        </p:tgtEl>
                                        <p:attrNameLst>
                                          <p:attrName>style.visibility</p:attrName>
                                        </p:attrNameLst>
                                      </p:cBhvr>
                                      <p:to>
                                        <p:strVal val="visible"/>
                                      </p:to>
                                    </p:set>
                                    <p:animEffect transition="in" filter="wipe(down)">
                                      <p:cBhvr>
                                        <p:cTn id="102" dur="500"/>
                                        <p:tgtEl>
                                          <p:spTgt spid="32"/>
                                        </p:tgtEl>
                                      </p:cBhvr>
                                    </p:animEffect>
                                  </p:childTnLst>
                                </p:cTn>
                              </p:par>
                            </p:childTnLst>
                          </p:cTn>
                        </p:par>
                      </p:childTnLst>
                    </p:cTn>
                  </p:par>
                  <p:par>
                    <p:cTn id="103" fill="hold">
                      <p:stCondLst>
                        <p:cond delay="indefinite"/>
                      </p:stCondLst>
                      <p:childTnLst>
                        <p:par>
                          <p:cTn id="104" fill="hold">
                            <p:stCondLst>
                              <p:cond delay="0"/>
                            </p:stCondLst>
                            <p:childTnLst>
                              <p:par>
                                <p:cTn id="105" presetID="22" presetClass="entr" presetSubtype="4" fill="hold" grpId="0" nodeType="clickEffect">
                                  <p:stCondLst>
                                    <p:cond delay="0"/>
                                  </p:stCondLst>
                                  <p:childTnLst>
                                    <p:set>
                                      <p:cBhvr>
                                        <p:cTn id="106" dur="1" fill="hold">
                                          <p:stCondLst>
                                            <p:cond delay="0"/>
                                          </p:stCondLst>
                                        </p:cTn>
                                        <p:tgtEl>
                                          <p:spTgt spid="26"/>
                                        </p:tgtEl>
                                        <p:attrNameLst>
                                          <p:attrName>style.visibility</p:attrName>
                                        </p:attrNameLst>
                                      </p:cBhvr>
                                      <p:to>
                                        <p:strVal val="visible"/>
                                      </p:to>
                                    </p:set>
                                    <p:animEffect transition="in" filter="wipe(down)">
                                      <p:cBhvr>
                                        <p:cTn id="107" dur="500"/>
                                        <p:tgtEl>
                                          <p:spTgt spid="26"/>
                                        </p:tgtEl>
                                      </p:cBhvr>
                                    </p:animEffect>
                                  </p:childTnLst>
                                </p:cTn>
                              </p:par>
                            </p:childTnLst>
                          </p:cTn>
                        </p:par>
                      </p:childTnLst>
                    </p:cTn>
                  </p:par>
                  <p:par>
                    <p:cTn id="108" fill="hold">
                      <p:stCondLst>
                        <p:cond delay="indefinite"/>
                      </p:stCondLst>
                      <p:childTnLst>
                        <p:par>
                          <p:cTn id="109" fill="hold">
                            <p:stCondLst>
                              <p:cond delay="0"/>
                            </p:stCondLst>
                            <p:childTnLst>
                              <p:par>
                                <p:cTn id="110" presetID="22" presetClass="entr" presetSubtype="4" fill="hold" nodeType="clickEffect">
                                  <p:stCondLst>
                                    <p:cond delay="0"/>
                                  </p:stCondLst>
                                  <p:childTnLst>
                                    <p:set>
                                      <p:cBhvr>
                                        <p:cTn id="111" dur="1" fill="hold">
                                          <p:stCondLst>
                                            <p:cond delay="0"/>
                                          </p:stCondLst>
                                        </p:cTn>
                                        <p:tgtEl>
                                          <p:spTgt spid="33"/>
                                        </p:tgtEl>
                                        <p:attrNameLst>
                                          <p:attrName>style.visibility</p:attrName>
                                        </p:attrNameLst>
                                      </p:cBhvr>
                                      <p:to>
                                        <p:strVal val="visible"/>
                                      </p:to>
                                    </p:set>
                                    <p:animEffect transition="in" filter="wipe(down)">
                                      <p:cBhvr>
                                        <p:cTn id="112" dur="500"/>
                                        <p:tgtEl>
                                          <p:spTgt spid="33"/>
                                        </p:tgtEl>
                                      </p:cBhvr>
                                    </p:animEffect>
                                  </p:childTnLst>
                                </p:cTn>
                              </p:par>
                            </p:childTnLst>
                          </p:cTn>
                        </p:par>
                      </p:childTnLst>
                    </p:cTn>
                  </p:par>
                  <p:par>
                    <p:cTn id="113" fill="hold">
                      <p:stCondLst>
                        <p:cond delay="indefinite"/>
                      </p:stCondLst>
                      <p:childTnLst>
                        <p:par>
                          <p:cTn id="114" fill="hold">
                            <p:stCondLst>
                              <p:cond delay="0"/>
                            </p:stCondLst>
                            <p:childTnLst>
                              <p:par>
                                <p:cTn id="115" presetID="22" presetClass="entr" presetSubtype="4" fill="hold" grpId="0" nodeType="clickEffect">
                                  <p:stCondLst>
                                    <p:cond delay="0"/>
                                  </p:stCondLst>
                                  <p:childTnLst>
                                    <p:set>
                                      <p:cBhvr>
                                        <p:cTn id="116" dur="1" fill="hold">
                                          <p:stCondLst>
                                            <p:cond delay="0"/>
                                          </p:stCondLst>
                                        </p:cTn>
                                        <p:tgtEl>
                                          <p:spTgt spid="27"/>
                                        </p:tgtEl>
                                        <p:attrNameLst>
                                          <p:attrName>style.visibility</p:attrName>
                                        </p:attrNameLst>
                                      </p:cBhvr>
                                      <p:to>
                                        <p:strVal val="visible"/>
                                      </p:to>
                                    </p:set>
                                    <p:animEffect transition="in" filter="wipe(down)">
                                      <p:cBhvr>
                                        <p:cTn id="117" dur="500"/>
                                        <p:tgtEl>
                                          <p:spTgt spid="27"/>
                                        </p:tgtEl>
                                      </p:cBhvr>
                                    </p:animEffect>
                                  </p:childTnLst>
                                </p:cTn>
                              </p:par>
                            </p:childTnLst>
                          </p:cTn>
                        </p:par>
                      </p:childTnLst>
                    </p:cTn>
                  </p:par>
                  <p:par>
                    <p:cTn id="118" fill="hold">
                      <p:stCondLst>
                        <p:cond delay="indefinite"/>
                      </p:stCondLst>
                      <p:childTnLst>
                        <p:par>
                          <p:cTn id="119" fill="hold">
                            <p:stCondLst>
                              <p:cond delay="0"/>
                            </p:stCondLst>
                            <p:childTnLst>
                              <p:par>
                                <p:cTn id="120" presetID="22" presetClass="entr" presetSubtype="4" fill="hold" grpId="0" nodeType="clickEffect">
                                  <p:stCondLst>
                                    <p:cond delay="0"/>
                                  </p:stCondLst>
                                  <p:childTnLst>
                                    <p:set>
                                      <p:cBhvr>
                                        <p:cTn id="121" dur="1" fill="hold">
                                          <p:stCondLst>
                                            <p:cond delay="0"/>
                                          </p:stCondLst>
                                        </p:cTn>
                                        <p:tgtEl>
                                          <p:spTgt spid="40"/>
                                        </p:tgtEl>
                                        <p:attrNameLst>
                                          <p:attrName>style.visibility</p:attrName>
                                        </p:attrNameLst>
                                      </p:cBhvr>
                                      <p:to>
                                        <p:strVal val="visible"/>
                                      </p:to>
                                    </p:set>
                                    <p:animEffect transition="in" filter="wipe(down)">
                                      <p:cBhvr>
                                        <p:cTn id="122"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P spid="6" grpId="0" animBg="1"/>
      <p:bldP spid="7" grpId="0" animBg="1"/>
      <p:bldP spid="8" grpId="0" animBg="1"/>
      <p:bldP spid="12" grpId="0" animBg="1"/>
      <p:bldP spid="13" grpId="0" animBg="1"/>
      <p:bldP spid="17" grpId="0" animBg="1"/>
      <p:bldP spid="18" grpId="0" animBg="1"/>
      <p:bldP spid="19" grpId="0" animBg="1"/>
      <p:bldP spid="20" grpId="0" animBg="1"/>
      <p:bldP spid="25" grpId="0" animBg="1"/>
      <p:bldP spid="26" grpId="0" animBg="1"/>
      <p:bldP spid="27" grpId="0" animBg="1"/>
      <p:bldP spid="40"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0" y="395160"/>
            <a:ext cx="2672315" cy="400110"/>
          </a:xfrm>
          <a:prstGeom prst="rect">
            <a:avLst/>
          </a:prstGeom>
          <a:solidFill>
            <a:srgbClr val="FFFF00"/>
          </a:solidFill>
          <a:ln>
            <a:solidFill>
              <a:schemeClr val="tx1"/>
            </a:solidFill>
          </a:ln>
        </p:spPr>
        <p:txBody>
          <a:bodyPr wrap="square">
            <a:spAutoFit/>
          </a:bodyPr>
          <a:lstStyle/>
          <a:p>
            <a:pPr indent="266700"/>
            <a:r>
              <a:rPr lang="zh-CN" altLang="en-US" sz="2000" b="1" kern="100" dirty="0">
                <a:solidFill>
                  <a:srgbClr val="FF0000"/>
                </a:solidFill>
                <a:latin typeface="微软雅黑" panose="020B0503020204020204" pitchFamily="34" charset="-122"/>
                <a:ea typeface="微软雅黑" panose="020B0503020204020204" pitchFamily="34" charset="-122"/>
                <a:cs typeface="宋体" panose="02010600030101010101" pitchFamily="2" charset="-122"/>
              </a:rPr>
              <a:t>一、是什么：（</a:t>
            </a:r>
            <a:r>
              <a:rPr lang="en-US" altLang="zh-CN" sz="2000" b="1" kern="100" dirty="0">
                <a:solidFill>
                  <a:srgbClr val="FF0000"/>
                </a:solidFill>
                <a:latin typeface="微软雅黑" panose="020B0503020204020204" pitchFamily="34" charset="-122"/>
                <a:ea typeface="微软雅黑" panose="020B0503020204020204" pitchFamily="34" charset="-122"/>
                <a:cs typeface="宋体" panose="02010600030101010101" pitchFamily="2" charset="-122"/>
              </a:rPr>
              <a:t>2</a:t>
            </a:r>
            <a:r>
              <a:rPr lang="zh-CN" altLang="en-US" sz="2000" b="1" kern="100" dirty="0">
                <a:solidFill>
                  <a:srgbClr val="FF0000"/>
                </a:solidFill>
                <a:latin typeface="微软雅黑" panose="020B0503020204020204" pitchFamily="34" charset="-122"/>
                <a:ea typeface="微软雅黑" panose="020B0503020204020204" pitchFamily="34" charset="-122"/>
                <a:cs typeface="宋体" panose="02010600030101010101" pitchFamily="2" charset="-122"/>
              </a:rPr>
              <a:t>分）</a:t>
            </a:r>
            <a:endParaRPr lang="zh-CN" altLang="zh-CN" sz="2000" b="1"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8" name="矩形 7"/>
          <p:cNvSpPr/>
          <p:nvPr/>
        </p:nvSpPr>
        <p:spPr>
          <a:xfrm>
            <a:off x="2672315" y="87165"/>
            <a:ext cx="9251437" cy="707886"/>
          </a:xfrm>
          <a:prstGeom prst="rect">
            <a:avLst/>
          </a:prstGeom>
          <a:solidFill>
            <a:srgbClr val="66FFFF"/>
          </a:solidFill>
          <a:ln>
            <a:solidFill>
              <a:schemeClr val="tx1"/>
            </a:solidFill>
          </a:ln>
        </p:spPr>
        <p:txBody>
          <a:bodyPr wrap="square">
            <a:spAutoFit/>
          </a:bodyPr>
          <a:lstStyle/>
          <a:p>
            <a:pPr indent="266700"/>
            <a:r>
              <a:rPr lang="en-US" altLang="zh-CN" sz="2000" b="1" kern="100" dirty="0">
                <a:solidFill>
                  <a:srgbClr val="0000CC"/>
                </a:solidFill>
                <a:latin typeface="微软雅黑" panose="020B0503020204020204" pitchFamily="34" charset="-122"/>
                <a:ea typeface="微软雅黑" panose="020B0503020204020204" pitchFamily="34" charset="-122"/>
                <a:cs typeface="宋体" panose="02010600030101010101" pitchFamily="2" charset="-122"/>
              </a:rPr>
              <a:t>“</a:t>
            </a:r>
            <a:r>
              <a:rPr lang="zh-CN" altLang="zh-CN" sz="2000" b="1" kern="100" dirty="0">
                <a:solidFill>
                  <a:srgbClr val="0000CC"/>
                </a:solidFill>
                <a:latin typeface="微软雅黑" panose="020B0503020204020204" pitchFamily="34" charset="-122"/>
                <a:ea typeface="微软雅黑" panose="020B0503020204020204" pitchFamily="34" charset="-122"/>
                <a:cs typeface="宋体" panose="02010600030101010101" pitchFamily="2" charset="-122"/>
              </a:rPr>
              <a:t>势</a:t>
            </a:r>
            <a:r>
              <a:rPr lang="en-US" altLang="zh-CN" sz="2000" b="1" kern="100" dirty="0">
                <a:solidFill>
                  <a:srgbClr val="0000CC"/>
                </a:solidFill>
                <a:latin typeface="微软雅黑" panose="020B0503020204020204" pitchFamily="34" charset="-122"/>
                <a:ea typeface="微软雅黑" panose="020B0503020204020204" pitchFamily="34" charset="-122"/>
                <a:cs typeface="宋体" panose="02010600030101010101" pitchFamily="2" charset="-122"/>
              </a:rPr>
              <a:t>”</a:t>
            </a:r>
            <a:r>
              <a:rPr lang="zh-CN" altLang="zh-CN" sz="2000" b="1" kern="100" dirty="0">
                <a:solidFill>
                  <a:srgbClr val="0000CC"/>
                </a:solidFill>
                <a:latin typeface="微软雅黑" panose="020B0503020204020204" pitchFamily="34" charset="-122"/>
                <a:ea typeface="微软雅黑" panose="020B0503020204020204" pitchFamily="34" charset="-122"/>
                <a:cs typeface="宋体" panose="02010600030101010101" pitchFamily="2" charset="-122"/>
              </a:rPr>
              <a:t>是事物发展的</a:t>
            </a:r>
            <a:r>
              <a:rPr lang="zh-CN" altLang="en-US" sz="2000" b="1" kern="100" dirty="0">
                <a:solidFill>
                  <a:srgbClr val="0000CC"/>
                </a:solidFill>
                <a:latin typeface="微软雅黑" panose="020B0503020204020204" pitchFamily="34" charset="-122"/>
                <a:ea typeface="微软雅黑" panose="020B0503020204020204" pitchFamily="34" charset="-122"/>
                <a:cs typeface="宋体" panose="02010600030101010101" pitchFamily="2" charset="-122"/>
              </a:rPr>
              <a:t>趋势和方向，具有客观规律性。</a:t>
            </a:r>
            <a:r>
              <a:rPr lang="zh-CN" altLang="zh-CN" sz="2000" b="1" kern="0" dirty="0">
                <a:solidFill>
                  <a:srgbClr val="0000CC"/>
                </a:solidFill>
                <a:latin typeface="微软雅黑" panose="020B0503020204020204" pitchFamily="34" charset="-122"/>
                <a:ea typeface="微软雅黑" panose="020B0503020204020204" pitchFamily="34" charset="-122"/>
                <a:cs typeface="宋体" panose="02010600030101010101" pitchFamily="2" charset="-122"/>
              </a:rPr>
              <a:t>推进中国式现代化建设、实现中华民族伟大复兴进程中的</a:t>
            </a:r>
            <a:r>
              <a:rPr lang="en-US" altLang="zh-CN" sz="2000" b="1" kern="100" dirty="0">
                <a:solidFill>
                  <a:srgbClr val="0000CC"/>
                </a:solidFill>
                <a:latin typeface="微软雅黑" panose="020B0503020204020204" pitchFamily="34" charset="-122"/>
                <a:ea typeface="微软雅黑" panose="020B0503020204020204" pitchFamily="34" charset="-122"/>
                <a:cs typeface="宋体" panose="02010600030101010101" pitchFamily="2" charset="-122"/>
              </a:rPr>
              <a:t>“</a:t>
            </a:r>
            <a:r>
              <a:rPr lang="zh-CN" altLang="zh-CN" sz="2000" b="1" kern="100" dirty="0">
                <a:solidFill>
                  <a:srgbClr val="0000CC"/>
                </a:solidFill>
                <a:latin typeface="微软雅黑" panose="020B0503020204020204" pitchFamily="34" charset="-122"/>
                <a:ea typeface="微软雅黑" panose="020B0503020204020204" pitchFamily="34" charset="-122"/>
                <a:cs typeface="宋体" panose="02010600030101010101" pitchFamily="2" charset="-122"/>
              </a:rPr>
              <a:t>势</a:t>
            </a:r>
            <a:r>
              <a:rPr lang="en-US" altLang="zh-CN" sz="2000" b="1" kern="100" dirty="0">
                <a:solidFill>
                  <a:srgbClr val="0000CC"/>
                </a:solidFill>
                <a:latin typeface="微软雅黑" panose="020B0503020204020204" pitchFamily="34" charset="-122"/>
                <a:ea typeface="微软雅黑" panose="020B0503020204020204" pitchFamily="34" charset="-122"/>
                <a:cs typeface="宋体" panose="02010600030101010101" pitchFamily="2" charset="-122"/>
              </a:rPr>
              <a:t>” </a:t>
            </a:r>
            <a:r>
              <a:rPr lang="zh-CN" altLang="zh-CN" sz="2000" b="1" kern="100" dirty="0">
                <a:solidFill>
                  <a:srgbClr val="0000CC"/>
                </a:solidFill>
                <a:latin typeface="微软雅黑" panose="020B0503020204020204" pitchFamily="34" charset="-122"/>
                <a:ea typeface="微软雅黑" panose="020B0503020204020204" pitchFamily="34" charset="-122"/>
                <a:cs typeface="宋体" panose="02010600030101010101" pitchFamily="2" charset="-122"/>
              </a:rPr>
              <a:t>是历史发展的总趋势、时代前进的大方向</a:t>
            </a:r>
            <a:r>
              <a:rPr lang="zh-CN" altLang="en-US" sz="2000" b="1" kern="100" dirty="0">
                <a:solidFill>
                  <a:srgbClr val="0000CC"/>
                </a:solidFill>
                <a:latin typeface="微软雅黑" panose="020B0503020204020204" pitchFamily="34" charset="-122"/>
                <a:ea typeface="微软雅黑" panose="020B0503020204020204" pitchFamily="34" charset="-122"/>
                <a:cs typeface="宋体" panose="02010600030101010101" pitchFamily="2" charset="-122"/>
              </a:rPr>
              <a:t>。</a:t>
            </a:r>
            <a:endParaRPr lang="zh-CN" altLang="zh-CN" sz="2000" b="1"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2" name="矩形 11"/>
          <p:cNvSpPr/>
          <p:nvPr/>
        </p:nvSpPr>
        <p:spPr>
          <a:xfrm>
            <a:off x="0" y="1226296"/>
            <a:ext cx="11888247" cy="5401479"/>
          </a:xfrm>
          <a:prstGeom prst="rect">
            <a:avLst/>
          </a:prstGeom>
        </p:spPr>
        <p:txBody>
          <a:bodyPr wrap="square">
            <a:spAutoFit/>
          </a:bodyPr>
          <a:lstStyle/>
          <a:p>
            <a:pPr algn="just">
              <a:lnSpc>
                <a:spcPct val="150000"/>
              </a:lnSpc>
              <a:spcAft>
                <a:spcPts val="0"/>
              </a:spcAft>
            </a:pPr>
            <a:r>
              <a:rPr lang="zh-CN" altLang="zh-CN" sz="2000" b="1" kern="100" dirty="0">
                <a:solidFill>
                  <a:srgbClr val="FF0000"/>
                </a:solidFill>
                <a:latin typeface="等线" panose="02010600030101010101" charset="-122"/>
                <a:cs typeface="Times New Roman" panose="02020603050405020304" pitchFamily="18" charset="0"/>
              </a:rPr>
              <a:t>（一）哲学角度：</a:t>
            </a:r>
            <a:endParaRPr lang="zh-CN" altLang="zh-CN" sz="2000" kern="100" dirty="0">
              <a:latin typeface="等线" panose="02010600030101010101" charset="-122"/>
              <a:cs typeface="Times New Roman" panose="02020603050405020304" pitchFamily="18" charset="0"/>
            </a:endParaRPr>
          </a:p>
          <a:p>
            <a:pPr algn="just">
              <a:lnSpc>
                <a:spcPct val="150000"/>
              </a:lnSpc>
              <a:spcAft>
                <a:spcPts val="0"/>
              </a:spcAft>
            </a:pPr>
            <a:r>
              <a:rPr lang="en-US" altLang="zh-CN" b="1" kern="100" dirty="0">
                <a:solidFill>
                  <a:srgbClr val="FF0000"/>
                </a:solidFill>
                <a:latin typeface="等线" panose="02010600030101010101" charset="-122"/>
                <a:cs typeface="Times New Roman" panose="02020603050405020304" pitchFamily="18" charset="0"/>
              </a:rPr>
              <a:t>1. </a:t>
            </a:r>
            <a:r>
              <a:rPr lang="zh-CN" altLang="zh-CN" b="1" kern="100" dirty="0">
                <a:solidFill>
                  <a:srgbClr val="FF0000"/>
                </a:solidFill>
                <a:latin typeface="等线" panose="02010600030101010101" charset="-122"/>
                <a:cs typeface="Times New Roman" panose="02020603050405020304" pitchFamily="18" charset="0"/>
              </a:rPr>
              <a:t>客观性——</a:t>
            </a:r>
            <a:r>
              <a:rPr lang="en-US" altLang="zh-CN" b="1" kern="100" dirty="0">
                <a:solidFill>
                  <a:srgbClr val="FF0000"/>
                </a:solidFill>
                <a:latin typeface="等线" panose="02010600030101010101" charset="-122"/>
                <a:cs typeface="Times New Roman" panose="02020603050405020304" pitchFamily="18" charset="0"/>
              </a:rPr>
              <a:t>2</a:t>
            </a:r>
            <a:r>
              <a:rPr lang="zh-CN" altLang="zh-CN" b="1" kern="100" dirty="0">
                <a:solidFill>
                  <a:srgbClr val="FF0000"/>
                </a:solidFill>
                <a:latin typeface="等线" panose="02010600030101010101" charset="-122"/>
                <a:cs typeface="Times New Roman" panose="02020603050405020304" pitchFamily="18" charset="0"/>
              </a:rPr>
              <a:t>分</a:t>
            </a:r>
            <a:endParaRPr lang="zh-CN" altLang="zh-CN" kern="100" dirty="0">
              <a:latin typeface="等线" panose="02010600030101010101" charset="-122"/>
              <a:cs typeface="Times New Roman" panose="02020603050405020304" pitchFamily="18" charset="0"/>
            </a:endParaRPr>
          </a:p>
          <a:p>
            <a:pPr algn="just">
              <a:spcAft>
                <a:spcPts val="0"/>
              </a:spcAft>
            </a:pPr>
            <a:r>
              <a:rPr lang="zh-CN" altLang="zh-CN" b="1" kern="100" dirty="0">
                <a:solidFill>
                  <a:srgbClr val="FF0000"/>
                </a:solidFill>
                <a:latin typeface="等线" panose="02010600030101010101" charset="-122"/>
                <a:cs typeface="Times New Roman" panose="02020603050405020304" pitchFamily="18" charset="0"/>
              </a:rPr>
              <a:t>（哲学）</a:t>
            </a:r>
            <a:r>
              <a:rPr lang="zh-CN" altLang="zh-CN" b="1" kern="100" dirty="0">
                <a:solidFill>
                  <a:srgbClr val="1707E9"/>
                </a:solidFill>
                <a:latin typeface="等线" panose="02010600030101010101" charset="-122"/>
                <a:cs typeface="Times New Roman" panose="02020603050405020304" pitchFamily="18" charset="0"/>
              </a:rPr>
              <a:t>主观能动性和客观规律相结合</a:t>
            </a:r>
            <a:r>
              <a:rPr lang="en-US" altLang="zh-CN" b="1" dirty="0">
                <a:solidFill>
                  <a:srgbClr val="1707E9"/>
                </a:solidFill>
              </a:rPr>
              <a:t>/</a:t>
            </a:r>
            <a:r>
              <a:rPr lang="zh-CN" altLang="zh-CN" b="1" dirty="0">
                <a:solidFill>
                  <a:srgbClr val="1707E9"/>
                </a:solidFill>
              </a:rPr>
              <a:t>社会存在和社会意识</a:t>
            </a:r>
            <a:r>
              <a:rPr lang="en-US" altLang="zh-CN" b="1" dirty="0">
                <a:solidFill>
                  <a:srgbClr val="1707E9"/>
                </a:solidFill>
              </a:rPr>
              <a:t>/</a:t>
            </a:r>
            <a:r>
              <a:rPr lang="zh-CN" altLang="zh-CN" b="1" dirty="0">
                <a:solidFill>
                  <a:srgbClr val="1707E9"/>
                </a:solidFill>
              </a:rPr>
              <a:t>实践和认识</a:t>
            </a:r>
            <a:r>
              <a:rPr lang="en-US" altLang="zh-CN" b="1" dirty="0">
                <a:solidFill>
                  <a:srgbClr val="1707E9"/>
                </a:solidFill>
              </a:rPr>
              <a:t>/</a:t>
            </a:r>
            <a:r>
              <a:rPr lang="zh-CN" altLang="zh-CN" b="1" dirty="0">
                <a:solidFill>
                  <a:srgbClr val="1707E9"/>
                </a:solidFill>
              </a:rPr>
              <a:t>科学思维的</a:t>
            </a:r>
            <a:r>
              <a:rPr lang="zh-CN" altLang="en-US" b="1" dirty="0">
                <a:solidFill>
                  <a:srgbClr val="1707E9"/>
                </a:solidFill>
              </a:rPr>
              <a:t>特征</a:t>
            </a:r>
            <a:r>
              <a:rPr lang="en-US" altLang="zh-CN" b="1" dirty="0">
                <a:solidFill>
                  <a:srgbClr val="1707E9"/>
                </a:solidFill>
              </a:rPr>
              <a:t>/</a:t>
            </a:r>
            <a:r>
              <a:rPr lang="zh-CN" altLang="en-US" b="1">
                <a:solidFill>
                  <a:srgbClr val="1707E9"/>
                </a:solidFill>
              </a:rPr>
              <a:t>超前思维</a:t>
            </a:r>
            <a:endParaRPr lang="zh-CN" altLang="zh-CN" kern="100" dirty="0">
              <a:solidFill>
                <a:srgbClr val="1707E9"/>
              </a:solidFill>
              <a:latin typeface="等线" panose="02010600030101010101" charset="-122"/>
              <a:cs typeface="Times New Roman" panose="02020603050405020304" pitchFamily="18" charset="0"/>
            </a:endParaRPr>
          </a:p>
          <a:p>
            <a:pPr algn="just">
              <a:spcAft>
                <a:spcPts val="0"/>
              </a:spcAft>
            </a:pPr>
            <a:r>
              <a:rPr lang="zh-CN" altLang="zh-CN" b="1" kern="100" dirty="0">
                <a:latin typeface="等线" panose="02010600030101010101" charset="-122"/>
                <a:cs typeface="Times New Roman" panose="02020603050405020304" pitchFamily="18" charset="0"/>
              </a:rPr>
              <a:t>（话题）充分调查研究，深刻洞察百年变局、民族复兴全局与中国特色社会主义发展大势，了解国情、世情、党情、社情、民情，制定正确的发展战略和规划，为推进中国式现代化建设，实现中华民族伟大复兴提供决策依据和实践遵循。</a:t>
            </a:r>
            <a:endParaRPr lang="zh-CN" altLang="zh-CN" kern="100" dirty="0">
              <a:latin typeface="等线" panose="02010600030101010101" charset="-122"/>
              <a:cs typeface="Times New Roman" panose="02020603050405020304" pitchFamily="18" charset="0"/>
            </a:endParaRPr>
          </a:p>
          <a:p>
            <a:pPr algn="just">
              <a:spcAft>
                <a:spcPts val="0"/>
              </a:spcAft>
            </a:pPr>
            <a:r>
              <a:rPr lang="en-US" altLang="zh-CN" b="1" kern="100" dirty="0">
                <a:solidFill>
                  <a:srgbClr val="FF0000"/>
                </a:solidFill>
                <a:latin typeface="等线" panose="02010600030101010101" charset="-122"/>
                <a:cs typeface="Times New Roman" panose="02020603050405020304" pitchFamily="18" charset="0"/>
              </a:rPr>
              <a:t>2. </a:t>
            </a:r>
            <a:r>
              <a:rPr lang="zh-CN" altLang="zh-CN" b="1" kern="100" dirty="0">
                <a:solidFill>
                  <a:srgbClr val="FF0000"/>
                </a:solidFill>
                <a:latin typeface="等线" panose="02010600030101010101" charset="-122"/>
                <a:cs typeface="Times New Roman" panose="02020603050405020304" pitchFamily="18" charset="0"/>
              </a:rPr>
              <a:t>辩证性——</a:t>
            </a:r>
            <a:r>
              <a:rPr lang="en-US" altLang="zh-CN" b="1" kern="100" dirty="0">
                <a:solidFill>
                  <a:srgbClr val="FF0000"/>
                </a:solidFill>
                <a:latin typeface="等线" panose="02010600030101010101" charset="-122"/>
                <a:cs typeface="Times New Roman" panose="02020603050405020304" pitchFamily="18" charset="0"/>
              </a:rPr>
              <a:t>2</a:t>
            </a:r>
            <a:r>
              <a:rPr lang="zh-CN" altLang="zh-CN" b="1" kern="100" dirty="0">
                <a:solidFill>
                  <a:srgbClr val="FF0000"/>
                </a:solidFill>
                <a:latin typeface="等线" panose="02010600030101010101" charset="-122"/>
                <a:cs typeface="Times New Roman" panose="02020603050405020304" pitchFamily="18" charset="0"/>
              </a:rPr>
              <a:t>分</a:t>
            </a:r>
            <a:endParaRPr lang="zh-CN" altLang="zh-CN" kern="100" dirty="0">
              <a:latin typeface="等线" panose="02010600030101010101" charset="-122"/>
              <a:cs typeface="Times New Roman" panose="02020603050405020304" pitchFamily="18" charset="0"/>
            </a:endParaRPr>
          </a:p>
          <a:p>
            <a:pPr algn="just">
              <a:spcAft>
                <a:spcPts val="0"/>
              </a:spcAft>
            </a:pPr>
            <a:r>
              <a:rPr lang="zh-CN" altLang="zh-CN" b="1" kern="100" dirty="0">
                <a:solidFill>
                  <a:srgbClr val="FF0000"/>
                </a:solidFill>
                <a:latin typeface="等线" panose="02010600030101010101" charset="-122"/>
                <a:cs typeface="Times New Roman" panose="02020603050405020304" pitchFamily="18" charset="0"/>
              </a:rPr>
              <a:t>（哲学）</a:t>
            </a:r>
            <a:r>
              <a:rPr lang="zh-CN" altLang="zh-CN" b="1" kern="100" dirty="0">
                <a:solidFill>
                  <a:srgbClr val="1707E9"/>
                </a:solidFill>
                <a:latin typeface="等线" panose="02010600030101010101" charset="-122"/>
                <a:cs typeface="Times New Roman" panose="02020603050405020304" pitchFamily="18" charset="0"/>
              </a:rPr>
              <a:t>主次矛盾和矛盾主次方面辩关系要坚持两点论和重点论相结合。矛盾对立统一，要全面的、一分为二的看问题。</a:t>
            </a:r>
            <a:r>
              <a:rPr lang="en-US" altLang="zh-CN" b="1" kern="100" dirty="0">
                <a:solidFill>
                  <a:srgbClr val="1707E9"/>
                </a:solidFill>
                <a:latin typeface="等线" panose="02010600030101010101" charset="-122"/>
                <a:cs typeface="Times New Roman" panose="02020603050405020304" pitchFamily="18" charset="0"/>
              </a:rPr>
              <a:t>/</a:t>
            </a:r>
            <a:r>
              <a:rPr lang="zh-CN" altLang="zh-CN" b="1" kern="100" dirty="0">
                <a:solidFill>
                  <a:srgbClr val="1707E9"/>
                </a:solidFill>
                <a:latin typeface="等线" panose="02010600030101010101" charset="-122"/>
                <a:cs typeface="Times New Roman" panose="02020603050405020304" pitchFamily="18" charset="0"/>
              </a:rPr>
              <a:t>整体和部分、系统优化</a:t>
            </a:r>
            <a:r>
              <a:rPr lang="en-US" altLang="zh-CN" b="1" kern="100" dirty="0">
                <a:solidFill>
                  <a:srgbClr val="1707E9"/>
                </a:solidFill>
                <a:latin typeface="等线" panose="02010600030101010101" charset="-122"/>
                <a:cs typeface="Times New Roman" panose="02020603050405020304" pitchFamily="18" charset="0"/>
              </a:rPr>
              <a:t>/</a:t>
            </a:r>
            <a:r>
              <a:rPr lang="zh-CN" altLang="zh-CN" b="1" kern="100" dirty="0">
                <a:solidFill>
                  <a:srgbClr val="1707E9"/>
                </a:solidFill>
                <a:latin typeface="等线" panose="02010600030101010101" charset="-122"/>
                <a:cs typeface="Times New Roman" panose="02020603050405020304" pitchFamily="18" charset="0"/>
              </a:rPr>
              <a:t>前进性和曲折性</a:t>
            </a:r>
            <a:r>
              <a:rPr lang="en-US" altLang="zh-CN" b="1" kern="100" dirty="0">
                <a:solidFill>
                  <a:srgbClr val="1707E9"/>
                </a:solidFill>
                <a:latin typeface="等线" panose="02010600030101010101" charset="-122"/>
                <a:cs typeface="Times New Roman" panose="02020603050405020304" pitchFamily="18" charset="0"/>
              </a:rPr>
              <a:t>/</a:t>
            </a:r>
            <a:r>
              <a:rPr lang="zh-CN" altLang="en-US" b="1" kern="100" dirty="0">
                <a:solidFill>
                  <a:srgbClr val="1707E9"/>
                </a:solidFill>
                <a:latin typeface="等线" panose="02010600030101010101" charset="-122"/>
                <a:cs typeface="Times New Roman" panose="02020603050405020304" pitchFamily="18" charset="0"/>
              </a:rPr>
              <a:t>量变质变</a:t>
            </a:r>
            <a:endParaRPr lang="zh-CN" altLang="zh-CN" kern="100" dirty="0">
              <a:solidFill>
                <a:srgbClr val="1707E9"/>
              </a:solidFill>
              <a:latin typeface="等线" panose="02010600030101010101" charset="-122"/>
              <a:cs typeface="Times New Roman" panose="02020603050405020304" pitchFamily="18" charset="0"/>
            </a:endParaRPr>
          </a:p>
          <a:p>
            <a:pPr algn="just">
              <a:spcAft>
                <a:spcPts val="0"/>
              </a:spcAft>
            </a:pPr>
            <a:r>
              <a:rPr lang="zh-CN" altLang="zh-CN" b="1" kern="100" dirty="0">
                <a:solidFill>
                  <a:srgbClr val="000000"/>
                </a:solidFill>
                <a:latin typeface="等线" panose="02010600030101010101" charset="-122"/>
                <a:cs typeface="Times New Roman" panose="02020603050405020304" pitchFamily="18" charset="0"/>
              </a:rPr>
              <a:t>（话题）</a:t>
            </a:r>
            <a:r>
              <a:rPr lang="zh-CN" altLang="zh-CN" b="1" kern="100" dirty="0">
                <a:latin typeface="等线" panose="02010600030101010101" charset="-122"/>
                <a:cs typeface="Times New Roman" panose="02020603050405020304" pitchFamily="18" charset="0"/>
              </a:rPr>
              <a:t>中国共产党洞察时与势、辨析危与机，统筹中华民族伟大复兴战略全局和世界百年未有之大变局，带领全党全国各族人民迎难而上、沉着应对风险挑战，推动我国经济总量连续跨越新关口。</a:t>
            </a:r>
            <a:endParaRPr lang="zh-CN" altLang="zh-CN" kern="100" dirty="0">
              <a:latin typeface="等线" panose="02010600030101010101" charset="-122"/>
              <a:cs typeface="Times New Roman" panose="02020603050405020304" pitchFamily="18" charset="0"/>
            </a:endParaRPr>
          </a:p>
          <a:p>
            <a:pPr algn="just">
              <a:spcAft>
                <a:spcPts val="0"/>
              </a:spcAft>
            </a:pPr>
            <a:r>
              <a:rPr lang="zh-CN" altLang="zh-CN" b="1" kern="100" dirty="0">
                <a:solidFill>
                  <a:srgbClr val="FF0000"/>
                </a:solidFill>
                <a:latin typeface="等线" panose="02010600030101010101" charset="-122"/>
                <a:cs typeface="Times New Roman" panose="02020603050405020304" pitchFamily="18" charset="0"/>
              </a:rPr>
              <a:t>（哲学）</a:t>
            </a:r>
            <a:r>
              <a:rPr lang="zh-CN" altLang="zh-CN" b="1" kern="100" dirty="0">
                <a:solidFill>
                  <a:srgbClr val="1707E9"/>
                </a:solidFill>
                <a:latin typeface="等线" panose="02010600030101010101" charset="-122"/>
                <a:cs typeface="Times New Roman" panose="02020603050405020304" pitchFamily="18" charset="0"/>
              </a:rPr>
              <a:t>要坚持内外因结合</a:t>
            </a:r>
            <a:r>
              <a:rPr lang="zh-CN" altLang="zh-CN" b="1" kern="100" dirty="0">
                <a:latin typeface="等线" panose="02010600030101010101" charset="-122"/>
                <a:cs typeface="Times New Roman" panose="02020603050405020304" pitchFamily="18" charset="0"/>
              </a:rPr>
              <a:t>。</a:t>
            </a:r>
            <a:endParaRPr lang="zh-CN" altLang="zh-CN" kern="100" dirty="0">
              <a:latin typeface="等线" panose="02010600030101010101" charset="-122"/>
              <a:cs typeface="Times New Roman" panose="02020603050405020304" pitchFamily="18" charset="0"/>
            </a:endParaRPr>
          </a:p>
          <a:p>
            <a:pPr algn="just">
              <a:spcAft>
                <a:spcPts val="0"/>
              </a:spcAft>
            </a:pPr>
            <a:r>
              <a:rPr lang="zh-CN" altLang="zh-CN" b="1" kern="100" dirty="0">
                <a:solidFill>
                  <a:srgbClr val="000000"/>
                </a:solidFill>
                <a:latin typeface="等线" panose="02010600030101010101" charset="-122"/>
                <a:cs typeface="Times New Roman" panose="02020603050405020304" pitchFamily="18" charset="0"/>
              </a:rPr>
              <a:t>（话题）</a:t>
            </a:r>
            <a:r>
              <a:rPr lang="zh-CN" altLang="zh-CN" b="1" kern="100" dirty="0">
                <a:latin typeface="等线" panose="02010600030101010101" charset="-122"/>
                <a:cs typeface="Times New Roman" panose="02020603050405020304" pitchFamily="18" charset="0"/>
              </a:rPr>
              <a:t>充分利用国内外有利条件，克服不利条件，既立足自身发展实际、依靠自身力量和智慧谋求发展，又主动融入世界经济、在开放合作中实现自身发展，以自身发展为世界发展创造机遇。</a:t>
            </a:r>
            <a:endParaRPr lang="zh-CN" altLang="zh-CN" kern="100" dirty="0">
              <a:latin typeface="等线" panose="02010600030101010101" charset="-122"/>
              <a:cs typeface="Times New Roman" panose="02020603050405020304" pitchFamily="18" charset="0"/>
            </a:endParaRPr>
          </a:p>
          <a:p>
            <a:pPr algn="just">
              <a:spcAft>
                <a:spcPts val="0"/>
              </a:spcAft>
            </a:pPr>
            <a:r>
              <a:rPr lang="en-US" altLang="zh-CN" b="1" kern="100" dirty="0">
                <a:solidFill>
                  <a:srgbClr val="FF0000"/>
                </a:solidFill>
                <a:latin typeface="等线" panose="02010600030101010101" charset="-122"/>
                <a:cs typeface="Times New Roman" panose="02020603050405020304" pitchFamily="18" charset="0"/>
              </a:rPr>
              <a:t>3. </a:t>
            </a:r>
            <a:r>
              <a:rPr lang="zh-CN" altLang="zh-CN" b="1" kern="100" dirty="0">
                <a:solidFill>
                  <a:srgbClr val="FF0000"/>
                </a:solidFill>
                <a:latin typeface="等线" panose="02010600030101010101" charset="-122"/>
                <a:cs typeface="Times New Roman" panose="02020603050405020304" pitchFamily="18" charset="0"/>
              </a:rPr>
              <a:t>价值性——</a:t>
            </a:r>
            <a:r>
              <a:rPr lang="en-US" altLang="zh-CN" b="1" kern="100" dirty="0">
                <a:solidFill>
                  <a:srgbClr val="FF0000"/>
                </a:solidFill>
                <a:latin typeface="等线" panose="02010600030101010101" charset="-122"/>
                <a:cs typeface="Times New Roman" panose="02020603050405020304" pitchFamily="18" charset="0"/>
              </a:rPr>
              <a:t>2</a:t>
            </a:r>
            <a:r>
              <a:rPr lang="zh-CN" altLang="zh-CN" b="1" kern="100" dirty="0">
                <a:solidFill>
                  <a:srgbClr val="FF0000"/>
                </a:solidFill>
                <a:latin typeface="等线" panose="02010600030101010101" charset="-122"/>
                <a:cs typeface="Times New Roman" panose="02020603050405020304" pitchFamily="18" charset="0"/>
              </a:rPr>
              <a:t>分</a:t>
            </a:r>
            <a:endParaRPr lang="zh-CN" altLang="zh-CN" kern="100" dirty="0">
              <a:latin typeface="等线" panose="02010600030101010101" charset="-122"/>
              <a:cs typeface="Times New Roman" panose="02020603050405020304" pitchFamily="18" charset="0"/>
            </a:endParaRPr>
          </a:p>
          <a:p>
            <a:pPr algn="just">
              <a:spcAft>
                <a:spcPts val="0"/>
              </a:spcAft>
            </a:pPr>
            <a:r>
              <a:rPr lang="zh-CN" altLang="zh-CN" b="1" kern="100" dirty="0">
                <a:solidFill>
                  <a:srgbClr val="FF0000"/>
                </a:solidFill>
                <a:latin typeface="等线" panose="02010600030101010101" charset="-122"/>
                <a:cs typeface="Times New Roman" panose="02020603050405020304" pitchFamily="18" charset="0"/>
              </a:rPr>
              <a:t>（哲学）</a:t>
            </a:r>
            <a:r>
              <a:rPr lang="zh-CN" altLang="zh-CN" b="1" kern="100" dirty="0">
                <a:solidFill>
                  <a:srgbClr val="1707E9"/>
                </a:solidFill>
                <a:latin typeface="等线" panose="02010600030101010101" charset="-122"/>
                <a:cs typeface="Times New Roman" panose="02020603050405020304" pitchFamily="18" charset="0"/>
              </a:rPr>
              <a:t>人民群众是历史的创造者，要树立群众观点和群众路线</a:t>
            </a:r>
            <a:r>
              <a:rPr lang="en-US" altLang="zh-CN" b="1" kern="100" dirty="0">
                <a:solidFill>
                  <a:srgbClr val="1707E9"/>
                </a:solidFill>
                <a:latin typeface="等线" panose="02010600030101010101" charset="-122"/>
                <a:cs typeface="Times New Roman" panose="02020603050405020304" pitchFamily="18" charset="0"/>
              </a:rPr>
              <a:t>/</a:t>
            </a:r>
            <a:r>
              <a:rPr lang="zh-CN" altLang="zh-CN" b="1" kern="100" dirty="0">
                <a:solidFill>
                  <a:srgbClr val="1707E9"/>
                </a:solidFill>
                <a:latin typeface="等线" panose="02010600030101010101" charset="-122"/>
                <a:cs typeface="Times New Roman" panose="02020603050405020304" pitchFamily="18" charset="0"/>
              </a:rPr>
              <a:t>价值判断和价值选择要遵循社会发展规律，站在最广大人民的立场上。</a:t>
            </a:r>
            <a:endParaRPr lang="en-US" altLang="zh-CN" b="1" kern="100" dirty="0">
              <a:solidFill>
                <a:srgbClr val="1707E9"/>
              </a:solidFill>
              <a:latin typeface="等线" panose="02010600030101010101" charset="-122"/>
              <a:cs typeface="Times New Roman" panose="02020603050405020304" pitchFamily="18" charset="0"/>
            </a:endParaRPr>
          </a:p>
          <a:p>
            <a:pPr algn="just"/>
            <a:r>
              <a:rPr lang="zh-CN" altLang="zh-CN" b="1" dirty="0"/>
              <a:t>（话题）促进全体人民共同富裕，满足人民美好生活需要，人民群众获得感、幸福感、安全感不断增强</a:t>
            </a:r>
            <a:endParaRPr lang="zh-CN" altLang="zh-CN" dirty="0"/>
          </a:p>
        </p:txBody>
      </p:sp>
      <p:sp>
        <p:nvSpPr>
          <p:cNvPr id="13" name="矩形 12"/>
          <p:cNvSpPr/>
          <p:nvPr/>
        </p:nvSpPr>
        <p:spPr>
          <a:xfrm>
            <a:off x="0" y="795051"/>
            <a:ext cx="6740948" cy="553998"/>
          </a:xfrm>
          <a:prstGeom prst="rect">
            <a:avLst/>
          </a:prstGeom>
          <a:solidFill>
            <a:srgbClr val="FFFF00"/>
          </a:solidFill>
          <a:ln>
            <a:solidFill>
              <a:schemeClr val="tx1"/>
            </a:solidFill>
          </a:ln>
        </p:spPr>
        <p:txBody>
          <a:bodyPr wrap="none">
            <a:spAutoFit/>
          </a:bodyPr>
          <a:lstStyle/>
          <a:p>
            <a:pPr algn="just">
              <a:lnSpc>
                <a:spcPct val="150000"/>
              </a:lnSpc>
              <a:spcAft>
                <a:spcPts val="0"/>
              </a:spcAft>
            </a:pPr>
            <a:r>
              <a:rPr lang="zh-CN" altLang="zh-CN" sz="2000" b="1"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二、怎么做：审势、乘势、驭势——</a:t>
            </a:r>
            <a:r>
              <a:rPr lang="en-US" altLang="zh-CN" sz="2000" b="1"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8</a:t>
            </a:r>
            <a:r>
              <a:rPr lang="zh-CN" altLang="zh-CN" sz="2000" b="1"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分——任意</a:t>
            </a:r>
            <a:r>
              <a:rPr lang="en-US" altLang="zh-CN" sz="2000" b="1"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4</a:t>
            </a:r>
            <a:r>
              <a:rPr lang="zh-CN" altLang="zh-CN" sz="2000" b="1"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个角度</a:t>
            </a:r>
            <a:endParaRPr lang="zh-CN" altLang="zh-CN" sz="2000"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 name="文本框 1"/>
          <p:cNvSpPr txBox="1"/>
          <p:nvPr/>
        </p:nvSpPr>
        <p:spPr>
          <a:xfrm>
            <a:off x="74930" y="0"/>
            <a:ext cx="6096000" cy="398780"/>
          </a:xfrm>
          <a:prstGeom prst="rect">
            <a:avLst/>
          </a:prstGeom>
          <a:noFill/>
        </p:spPr>
        <p:txBody>
          <a:bodyPr wrap="square" rtlCol="0" anchor="t">
            <a:spAutoFit/>
          </a:bodyPr>
          <a:p>
            <a:r>
              <a:rPr lang="en-US" altLang="zh-CN" sz="2000" b="1" dirty="0">
                <a:latin typeface="楷体" panose="02010609060101010101" charset="-122"/>
                <a:ea typeface="楷体" panose="02010609060101010101" charset="-122"/>
                <a:cs typeface="楷体" panose="02010609060101010101" charset="-122"/>
                <a:sym typeface="+mn-ea"/>
              </a:rPr>
              <a:t>21</a:t>
            </a:r>
            <a:r>
              <a:rPr lang="zh-CN" altLang="en-US" sz="2000" b="1" dirty="0">
                <a:latin typeface="楷体" panose="02010609060101010101" charset="-122"/>
                <a:ea typeface="楷体" panose="02010609060101010101" charset="-122"/>
                <a:cs typeface="楷体" panose="02010609060101010101" charset="-122"/>
                <a:sym typeface="+mn-ea"/>
              </a:rPr>
              <a:t>、</a:t>
            </a:r>
            <a:endParaRPr lang="zh-CN" altLang="en-US" sz="2000" b="1" dirty="0">
              <a:latin typeface="楷体" panose="02010609060101010101" charset="-122"/>
              <a:ea typeface="楷体" panose="02010609060101010101" charset="-122"/>
              <a:cs typeface="楷体" panose="02010609060101010101"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ppt_x"/>
                                          </p:val>
                                        </p:tav>
                                        <p:tav tm="100000">
                                          <p:val>
                                            <p:strVal val="#ppt_x"/>
                                          </p:val>
                                        </p:tav>
                                      </p:tavLst>
                                    </p:anim>
                                    <p:anim calcmode="lin" valueType="num">
                                      <p:cBhvr additive="base">
                                        <p:cTn id="12"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 calcmode="lin" valueType="num">
                                      <p:cBhvr additive="base">
                                        <p:cTn id="17" dur="500" fill="hold"/>
                                        <p:tgtEl>
                                          <p:spTgt spid="13"/>
                                        </p:tgtEl>
                                        <p:attrNameLst>
                                          <p:attrName>ppt_x</p:attrName>
                                        </p:attrNameLst>
                                      </p:cBhvr>
                                      <p:tavLst>
                                        <p:tav tm="0">
                                          <p:val>
                                            <p:strVal val="#ppt_x"/>
                                          </p:val>
                                        </p:tav>
                                        <p:tav tm="100000">
                                          <p:val>
                                            <p:strVal val="#ppt_x"/>
                                          </p:val>
                                        </p:tav>
                                      </p:tavLst>
                                    </p:anim>
                                    <p:anim calcmode="lin" valueType="num">
                                      <p:cBhvr additive="base">
                                        <p:cTn id="1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P spid="8" grpId="0" animBg="1"/>
      <p:bldP spid="13"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61713"/>
            <a:ext cx="12108873" cy="6555641"/>
          </a:xfrm>
          <a:prstGeom prst="rect">
            <a:avLst/>
          </a:prstGeom>
        </p:spPr>
        <p:txBody>
          <a:bodyPr wrap="square">
            <a:spAutoFit/>
          </a:bodyPr>
          <a:lstStyle/>
          <a:p>
            <a:pPr algn="just">
              <a:lnSpc>
                <a:spcPts val="2100"/>
              </a:lnSpc>
              <a:spcAft>
                <a:spcPts val="0"/>
              </a:spcAft>
            </a:pPr>
            <a:r>
              <a:rPr lang="zh-CN" altLang="zh-CN" sz="2000" b="1"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（二）政治角度：</a:t>
            </a:r>
            <a:r>
              <a:rPr lang="en-US" altLang="zh-CN" sz="2000" b="1"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2</a:t>
            </a:r>
            <a:r>
              <a:rPr lang="zh-CN" altLang="zh-CN" sz="2000" b="1"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分</a:t>
            </a:r>
            <a:endParaRPr lang="zh-CN" altLang="zh-CN" sz="2000" kern="100" dirty="0">
              <a:latin typeface="微软雅黑" panose="020B0503020204020204" pitchFamily="34" charset="-122"/>
              <a:ea typeface="微软雅黑" panose="020B0503020204020204" pitchFamily="34" charset="-122"/>
              <a:cs typeface="Times New Roman" panose="02020603050405020304" pitchFamily="18" charset="0"/>
            </a:endParaRPr>
          </a:p>
          <a:p>
            <a:pPr algn="just">
              <a:lnSpc>
                <a:spcPts val="2100"/>
              </a:lnSpc>
              <a:spcAft>
                <a:spcPts val="0"/>
              </a:spcAft>
            </a:pPr>
            <a:r>
              <a:rPr lang="zh-CN" altLang="zh-CN" sz="2000" b="1"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（政治）</a:t>
            </a:r>
            <a:r>
              <a:rPr lang="zh-CN" altLang="zh-CN" sz="2000" b="1" kern="100" dirty="0">
                <a:latin typeface="微软雅黑" panose="020B0503020204020204" pitchFamily="34" charset="-122"/>
                <a:ea typeface="微软雅黑" panose="020B0503020204020204" pitchFamily="34" charset="-122"/>
                <a:cs typeface="Times New Roman" panose="02020603050405020304" pitchFamily="18" charset="0"/>
              </a:rPr>
              <a:t>中国共产党坚持科学执政，要全面深刻把握和遵循人类社会发展规律，社会主义建设规律、共产党执政规律</a:t>
            </a:r>
            <a:r>
              <a:rPr lang="zh-CN" altLang="en-US" sz="2000" b="1" kern="100"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000" b="1" kern="10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2000" b="1" kern="100" dirty="0">
                <a:latin typeface="微软雅黑" panose="020B0503020204020204" pitchFamily="34" charset="-122"/>
                <a:ea typeface="微软雅黑" panose="020B0503020204020204" pitchFamily="34" charset="-122"/>
                <a:cs typeface="Times New Roman" panose="02020603050405020304" pitchFamily="18" charset="0"/>
              </a:rPr>
              <a:t>坚持党的领导，发挥党总览全局、协调各方的作用，为中国式现代化提供根本政治保障</a:t>
            </a:r>
            <a:endParaRPr lang="zh-CN" altLang="zh-CN" sz="2000" kern="100" dirty="0">
              <a:latin typeface="微软雅黑" panose="020B0503020204020204" pitchFamily="34" charset="-122"/>
              <a:ea typeface="微软雅黑" panose="020B0503020204020204" pitchFamily="34" charset="-122"/>
              <a:cs typeface="Times New Roman" panose="02020603050405020304" pitchFamily="18" charset="0"/>
            </a:endParaRPr>
          </a:p>
          <a:p>
            <a:pPr algn="just">
              <a:lnSpc>
                <a:spcPts val="2100"/>
              </a:lnSpc>
              <a:spcAft>
                <a:spcPts val="0"/>
              </a:spcAft>
            </a:pPr>
            <a:r>
              <a:rPr lang="zh-CN" altLang="zh-CN" sz="2000" b="1" kern="100" dirty="0">
                <a:latin typeface="微软雅黑" panose="020B0503020204020204" pitchFamily="34" charset="-122"/>
                <a:ea typeface="微软雅黑" panose="020B0503020204020204" pitchFamily="34" charset="-122"/>
                <a:cs typeface="Times New Roman" panose="02020603050405020304" pitchFamily="18" charset="0"/>
              </a:rPr>
              <a:t>（话题）充分调查研究，深刻洞察百年变局、民族复兴全局与中国特色社会主义发展大势，了解国情、世情、党情、社情、民情，制定正确的发展战略和规划，为推进中国式现代化建设，实现中华民族伟大复兴提供决策依据和实践遵循。</a:t>
            </a:r>
            <a:endParaRPr lang="en-US" altLang="zh-CN" sz="2000" b="1"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a:p>
            <a:pPr lvl="0" algn="just">
              <a:lnSpc>
                <a:spcPts val="2100"/>
              </a:lnSpc>
            </a:pPr>
            <a:r>
              <a:rPr lang="zh-CN" altLang="zh-CN" sz="2000" b="1"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2000" b="1"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三</a:t>
            </a:r>
            <a:r>
              <a:rPr lang="zh-CN" altLang="zh-CN" sz="2000" b="1"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）经济角度：</a:t>
            </a:r>
            <a:r>
              <a:rPr lang="en-US" altLang="zh-CN" sz="2000" b="1"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2</a:t>
            </a:r>
            <a:r>
              <a:rPr lang="zh-CN" altLang="zh-CN" sz="2000" b="1"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分</a:t>
            </a:r>
            <a:endParaRPr lang="zh-CN" altLang="zh-CN" sz="2000" kern="1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a:p>
            <a:pPr lvl="0" algn="just">
              <a:lnSpc>
                <a:spcPts val="2100"/>
              </a:lnSpc>
            </a:pPr>
            <a:r>
              <a:rPr lang="en-US" altLang="zh-CN" sz="2000" b="1" kern="1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1.</a:t>
            </a:r>
            <a:r>
              <a:rPr lang="zh-CN" altLang="zh-CN" sz="2000" b="1" kern="1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坚持协调共享发展</a:t>
            </a:r>
            <a:r>
              <a:rPr lang="en-US" altLang="zh-CN" sz="2000" b="1" kern="1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000" b="1" kern="1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坚持以人民为中心</a:t>
            </a:r>
            <a:r>
              <a:rPr lang="en-US" altLang="zh-CN" sz="2000" b="1" kern="1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000" b="1" kern="1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依靠人民、为了人民，促进全体人民共同富裕，满足人民美好生活需要。</a:t>
            </a:r>
            <a:endParaRPr lang="zh-CN" altLang="zh-CN" sz="2000" kern="1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a:p>
            <a:pPr lvl="0" algn="just">
              <a:lnSpc>
                <a:spcPts val="2100"/>
              </a:lnSpc>
            </a:pPr>
            <a:r>
              <a:rPr lang="en-US" altLang="zh-CN" sz="2000" b="1" kern="1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2.</a:t>
            </a:r>
            <a:r>
              <a:rPr lang="zh-CN" altLang="zh-CN" sz="2000" b="1" kern="1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坚持绿色发展理念，保护环境、节约资源，促进人与资源和谐共生。</a:t>
            </a:r>
            <a:endParaRPr lang="zh-CN" altLang="zh-CN" sz="2000" kern="1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a:p>
            <a:pPr lvl="0" algn="just">
              <a:lnSpc>
                <a:spcPts val="2100"/>
              </a:lnSpc>
            </a:pPr>
            <a:r>
              <a:rPr lang="zh-CN" altLang="en-US" sz="2000" b="1"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（四）</a:t>
            </a:r>
            <a:r>
              <a:rPr lang="zh-CN" altLang="zh-CN" sz="2000" b="1"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文化角度：</a:t>
            </a:r>
            <a:r>
              <a:rPr lang="en-US" altLang="zh-CN" sz="2000" b="1"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2</a:t>
            </a:r>
            <a:r>
              <a:rPr lang="zh-CN" altLang="zh-CN" sz="2000" b="1"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分</a:t>
            </a:r>
            <a:endParaRPr lang="zh-CN" altLang="zh-CN" sz="2000" kern="1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a:p>
            <a:pPr lvl="0" algn="just">
              <a:lnSpc>
                <a:spcPts val="2100"/>
              </a:lnSpc>
            </a:pPr>
            <a:r>
              <a:rPr lang="zh-CN" altLang="zh-CN" sz="2000" b="1"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（文化）</a:t>
            </a:r>
            <a:r>
              <a:rPr lang="zh-CN" altLang="zh-CN" sz="2000" b="1" kern="1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传承发展中华优秀传统文化，促进中华优秀传统文化推动其创造性转化和创新性发展。</a:t>
            </a:r>
            <a:endParaRPr lang="zh-CN" altLang="zh-CN" sz="2000" kern="1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a:p>
            <a:pPr lvl="0" algn="just">
              <a:lnSpc>
                <a:spcPts val="2100"/>
              </a:lnSpc>
            </a:pPr>
            <a:r>
              <a:rPr lang="zh-CN" altLang="zh-CN" sz="2000" b="1" kern="1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话题）要充分汲取中华优秀传统文化中的治国理政智慧，坚持创新思维、底线思维、系统观念，主动识变应变求变，深化改革、积极主动参与全球治理，在复杂多变的外部环境和各类不确定性中育先机、开新局，以战略定力和科学谋划夯实国家发展的确定性根基，增强国家发展主动性，推动中国式现代化事业行稳致远。</a:t>
            </a:r>
            <a:endParaRPr lang="zh-CN" altLang="zh-CN" sz="2000" kern="1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a:p>
            <a:pPr lvl="0" algn="just">
              <a:lnSpc>
                <a:spcPts val="2100"/>
              </a:lnSpc>
            </a:pPr>
            <a:r>
              <a:rPr lang="en-US" altLang="zh-CN" sz="2000" b="1"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5.</a:t>
            </a:r>
            <a:r>
              <a:rPr lang="zh-CN" altLang="zh-CN" sz="2000" b="1"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国政经角度：</a:t>
            </a:r>
            <a:r>
              <a:rPr lang="en-US" altLang="zh-CN" sz="2000" b="1"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2</a:t>
            </a:r>
            <a:r>
              <a:rPr lang="zh-CN" altLang="zh-CN" sz="2000" b="1"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分</a:t>
            </a:r>
            <a:endParaRPr lang="zh-CN" altLang="zh-CN" sz="2000" kern="1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a:p>
            <a:pPr lvl="0" algn="just">
              <a:lnSpc>
                <a:spcPts val="2100"/>
              </a:lnSpc>
            </a:pPr>
            <a:r>
              <a:rPr lang="zh-CN" altLang="zh-CN" sz="2000" b="1"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（国政经）</a:t>
            </a:r>
            <a:r>
              <a:rPr lang="zh-CN" altLang="zh-CN" sz="2000" b="1" kern="1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和平与发展是当今时代主题，中国式现代化是走和平发展道路的现代化，坚持多边主义，坚持互利共赢，倡导人类命运共同体，为世界的和平与发展提供中国智慧和中国方案。</a:t>
            </a:r>
            <a:endParaRPr lang="zh-CN" altLang="zh-CN" sz="2000" kern="1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a:p>
            <a:pPr lvl="0" algn="just">
              <a:lnSpc>
                <a:spcPts val="2100"/>
              </a:lnSpc>
            </a:pPr>
            <a:r>
              <a:rPr lang="zh-CN" altLang="zh-CN" sz="2000" b="1" kern="1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（话题）中国以自身的发展为世界提供机遇，拓展了人类文明形态，彰显了“和而不同”“美美与共”的文明生态观。</a:t>
            </a:r>
            <a:r>
              <a:rPr lang="en-US" altLang="zh-CN" sz="2000" b="1" kern="1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2000" kern="1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a:p>
            <a:pPr lvl="0" algn="just">
              <a:lnSpc>
                <a:spcPts val="2100"/>
              </a:lnSpc>
            </a:pPr>
            <a:r>
              <a:rPr lang="zh-CN" altLang="zh-CN" sz="2000" b="1"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（总说）</a:t>
            </a:r>
            <a:r>
              <a:rPr lang="zh-CN" altLang="zh-CN" sz="2000" b="1" kern="1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新时代运用“审势、乘势、驭势”的智慧，既是对中华优秀传统文化的传承发展，也是对习近平新时代中国特色社会主义思想的重要方法论的贯彻，三者统一于以中国式现代化全面推进中华民族伟大复兴的实践。</a:t>
            </a:r>
            <a:endParaRPr lang="zh-CN" altLang="zh-CN" sz="2000" kern="1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p:sld>
</file>

<file path=ppt/tags/tag1.xml><?xml version="1.0" encoding="utf-8"?>
<p:tagLst xmlns:p="http://schemas.openxmlformats.org/presentationml/2006/main">
  <p:tag name="TABLE_ENDDRAG_ORIGIN_RECT" val="891*478"/>
  <p:tag name="TABLE_ENDDRAG_RECT" val="22*16*891*478"/>
</p:tagLst>
</file>

<file path=ppt/tags/tag2.xml><?xml version="1.0" encoding="utf-8"?>
<p:tagLst xmlns:p="http://schemas.openxmlformats.org/presentationml/2006/main">
  <p:tag name="KSO_WM_BEAUTIFY_FLAG" val="#wm#"/>
  <p:tag name="KSO_WM_TEMPLATE_CATEGORY" val="custom"/>
  <p:tag name="KSO_WM_TEMPLATE_INDEX" val="20205081"/>
</p:tagLst>
</file>

<file path=ppt/tags/tag3.xml><?xml version="1.0" encoding="utf-8"?>
<p:tagLst xmlns:p="http://schemas.openxmlformats.org/presentationml/2006/main">
  <p:tag name="KSO_WM_BEAUTIFY_FLAG" val="#wm#"/>
  <p:tag name="KSO_WM_TEMPLATE_CATEGORY" val="custom"/>
  <p:tag name="KSO_WM_TEMPLATE_INDEX" val="20205081"/>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4065</Words>
  <Application>WPS 演示</Application>
  <PresentationFormat>宽屏</PresentationFormat>
  <Paragraphs>280</Paragraphs>
  <Slides>11</Slides>
  <Notes>3</Notes>
  <HiddenSlides>55</HiddenSlides>
  <MMClips>0</MMClips>
  <ScaleCrop>false</ScaleCrop>
  <HeadingPairs>
    <vt:vector size="6" baseType="variant">
      <vt:variant>
        <vt:lpstr>已用的字体</vt:lpstr>
      </vt:variant>
      <vt:variant>
        <vt:i4>31</vt:i4>
      </vt:variant>
      <vt:variant>
        <vt:lpstr>主题</vt:lpstr>
      </vt:variant>
      <vt:variant>
        <vt:i4>2</vt:i4>
      </vt:variant>
      <vt:variant>
        <vt:lpstr>幻灯片标题</vt:lpstr>
      </vt:variant>
      <vt:variant>
        <vt:i4>11</vt:i4>
      </vt:variant>
    </vt:vector>
  </HeadingPairs>
  <TitlesOfParts>
    <vt:vector size="44" baseType="lpstr">
      <vt:lpstr>Arial</vt:lpstr>
      <vt:lpstr>宋体</vt:lpstr>
      <vt:lpstr>Wingdings</vt:lpstr>
      <vt:lpstr>微软雅黑</vt:lpstr>
      <vt:lpstr>仿宋</vt:lpstr>
      <vt:lpstr>黑体</vt:lpstr>
      <vt:lpstr>Calibri</vt:lpstr>
      <vt:lpstr>华文楷体</vt:lpstr>
      <vt:lpstr>Arial Unicode MS</vt:lpstr>
      <vt:lpstr>等线 Light</vt:lpstr>
      <vt:lpstr>等线</vt:lpstr>
      <vt:lpstr>Times New Roman</vt:lpstr>
      <vt:lpstr>Arial</vt:lpstr>
      <vt:lpstr>楷体</vt:lpstr>
      <vt:lpstr>国标宋体</vt:lpstr>
      <vt:lpstr>Times New Roman</vt:lpstr>
      <vt:lpstr>Calibri</vt:lpstr>
      <vt:lpstr>国标黑体</vt:lpstr>
      <vt:lpstr>思源宋体</vt:lpstr>
      <vt:lpstr>Wingdings</vt:lpstr>
      <vt:lpstr>Segoe UI Symbol</vt:lpstr>
      <vt:lpstr>隶书</vt:lpstr>
      <vt:lpstr>PingFang SC</vt:lpstr>
      <vt:lpstr>Segoe Print</vt:lpstr>
      <vt:lpstr>PingFang SC</vt:lpstr>
      <vt:lpstr>国标宋体</vt:lpstr>
      <vt:lpstr>国标黑体</vt:lpstr>
      <vt:lpstr>思源宋体</vt:lpstr>
      <vt:lpstr>兰米宋体</vt:lpstr>
      <vt:lpstr>方正大黑体_GBK</vt:lpstr>
      <vt:lpstr>锦绣宋体</vt:lpstr>
      <vt:lpstr>Office 主题​​</vt:lpstr>
      <vt:lpstr>1_Office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仁虹 吴</dc:creator>
  <cp:lastModifiedBy>感恩的四叶草</cp:lastModifiedBy>
  <cp:revision>38</cp:revision>
  <dcterms:created xsi:type="dcterms:W3CDTF">2026-04-01T06:38:00Z</dcterms:created>
  <dcterms:modified xsi:type="dcterms:W3CDTF">2026-04-10T12:56:12Z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44B92FFDDB9949F38D1D09873C1B6434_12</vt:lpwstr>
  </property>
  <property fmtid="{D5CDD505-2E9C-101B-9397-08002B2CF9AE}" pid="3" name="KSOProductBuildVer">
    <vt:lpwstr>2052-12.1.0.25225</vt:lpwstr>
  </property>
</Properties>
</file>