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74"/>
  </p:handoutMasterIdLst>
  <p:sldIdLst>
    <p:sldId id="342" r:id="rId3"/>
    <p:sldId id="263" r:id="rId4"/>
    <p:sldId id="258" r:id="rId6"/>
    <p:sldId id="264" r:id="rId7"/>
    <p:sldId id="270" r:id="rId8"/>
    <p:sldId id="271" r:id="rId9"/>
    <p:sldId id="276" r:id="rId10"/>
    <p:sldId id="262" r:id="rId11"/>
    <p:sldId id="275" r:id="rId12"/>
    <p:sldId id="272" r:id="rId13"/>
    <p:sldId id="278" r:id="rId14"/>
    <p:sldId id="279" r:id="rId15"/>
    <p:sldId id="282" r:id="rId16"/>
    <p:sldId id="283" r:id="rId17"/>
    <p:sldId id="284" r:id="rId18"/>
    <p:sldId id="285" r:id="rId19"/>
    <p:sldId id="286" r:id="rId20"/>
    <p:sldId id="287" r:id="rId21"/>
    <p:sldId id="288" r:id="rId22"/>
    <p:sldId id="289" r:id="rId23"/>
    <p:sldId id="290" r:id="rId24"/>
    <p:sldId id="291" r:id="rId25"/>
    <p:sldId id="292" r:id="rId26"/>
    <p:sldId id="293" r:id="rId27"/>
    <p:sldId id="294" r:id="rId28"/>
    <p:sldId id="295" r:id="rId29"/>
    <p:sldId id="296" r:id="rId30"/>
    <p:sldId id="297" r:id="rId31"/>
    <p:sldId id="299" r:id="rId32"/>
    <p:sldId id="300" r:id="rId33"/>
    <p:sldId id="302" r:id="rId34"/>
    <p:sldId id="303" r:id="rId35"/>
    <p:sldId id="301" r:id="rId36"/>
    <p:sldId id="304" r:id="rId37"/>
    <p:sldId id="305" r:id="rId38"/>
    <p:sldId id="306" r:id="rId39"/>
    <p:sldId id="307" r:id="rId40"/>
    <p:sldId id="308" r:id="rId41"/>
    <p:sldId id="309" r:id="rId42"/>
    <p:sldId id="310" r:id="rId43"/>
    <p:sldId id="311" r:id="rId44"/>
    <p:sldId id="312" r:id="rId45"/>
    <p:sldId id="313" r:id="rId46"/>
    <p:sldId id="314" r:id="rId47"/>
    <p:sldId id="315" r:id="rId48"/>
    <p:sldId id="316" r:id="rId49"/>
    <p:sldId id="317" r:id="rId50"/>
    <p:sldId id="318" r:id="rId51"/>
    <p:sldId id="319" r:id="rId52"/>
    <p:sldId id="320" r:id="rId53"/>
    <p:sldId id="321" r:id="rId54"/>
    <p:sldId id="322" r:id="rId55"/>
    <p:sldId id="323" r:id="rId56"/>
    <p:sldId id="325" r:id="rId57"/>
    <p:sldId id="326" r:id="rId58"/>
    <p:sldId id="327" r:id="rId59"/>
    <p:sldId id="328" r:id="rId60"/>
    <p:sldId id="329" r:id="rId61"/>
    <p:sldId id="330" r:id="rId62"/>
    <p:sldId id="331" r:id="rId63"/>
    <p:sldId id="332" r:id="rId64"/>
    <p:sldId id="345" r:id="rId65"/>
    <p:sldId id="346" r:id="rId66"/>
    <p:sldId id="333" r:id="rId67"/>
    <p:sldId id="343" r:id="rId68"/>
    <p:sldId id="344" r:id="rId69"/>
    <p:sldId id="338" r:id="rId70"/>
    <p:sldId id="339" r:id="rId71"/>
    <p:sldId id="340" r:id="rId72"/>
    <p:sldId id="341" r:id="rId73"/>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39"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微软用户" initials="微软用户" lastIdx="0" clrIdx="0"/>
  <p:cmAuthor id="2" name="1206988966@qq.com" initials="1" lastIdx="0" clrIdx="1"/>
  <p:cmAuthor id="3" name="王常胜" initials="王" lastIdx="0" clrIdx="2"/>
  <p:cmAuthor id="4" name="姜伟光" initials="姜" lastIdx="0" clrIdx="3"/>
  <p:cmAuthor id="5" name="Pueschner, Franziska {FA~Shanghai}" initials="P" lastIdx="0" clrIdx="4"/>
  <p:cmAuthor id="6" name="dongyu" initials="" lastIdx="0" clrIdx="5"/>
  <p:cmAuthor id="7" name="翟宏帅" initials="翟" lastIdx="0" clrIdx="6"/>
  <p:cmAuthor id="8" name="yinweixia" initials="y" lastIdx="0" clrIdx="7"/>
  <p:cmAuthor id="9" name="作者" initials="A" lastIdx="0" clrIdx="8"/>
  <p:cmAuthor id="10" name="lenovo" initials="l" lastIdx="0" clrIdx="9"/>
  <p:cmAuthor id="11" name="宋洁然" initials="宋" lastIdx="0" clrIdx="10"/>
  <p:cmAuthor id="12" name="ming qiu" initials="m" lastIdx="0" clrIdx="11"/>
  <p:cmAuthor id="13" name="骆倩怡_Znauj26B" initials="authorId_382814100" lastIdx="0" clrIdx="12"/>
  <p:cmAuthor id="14" name="未知用户1" initials="未" lastIdx="0" clrIdx="13"/>
  <p:cmAuthor id="15" name="Administrator" initials="" lastIdx="0" clrIdx="14"/>
  <p:cmAuthor id="16" name="HP" initials="" lastIdx="0" clrIdx="15"/>
  <p:cmAuthor id="17" name="113" initials="" lastIdx="0" clrIdx="16"/>
  <p:cmAuthor id="18" name="杜永波" initials="杜" lastIdx="0" clrIdx="17"/>
  <p:cmAuthor id="19" name="li marry" initials="l" lastIdx="0" clrIdx="18"/>
  <p:cmAuthor id="20" name="admin" initials="a" lastIdx="0" clrIdx="19"/>
  <p:cmAuthor id="21" name="叶 思冰" initials="叶" lastIdx="0" clrIdx="20"/>
  <p:cmAuthor id="22" name="Vivian Liu" initials="V" lastIdx="0" clrIdx="21"/>
  <p:cmAuthor id="23" name="孙宇婷" initials="孙" lastIdx="0" clrIdx="22"/>
  <p:cmAuthor id="24" name="Windows 用户" initials="W" lastIdx="0" clrIdx="23"/>
  <p:cmAuthor id="25" name="ASUS" initials="A" lastIdx="0" clrIdx="24"/>
  <p:cmAuthor id="26" name="222" initials="2" lastIdx="0" clrIdx="25"/>
  <p:cmAuthor id="27" name="xj" initials="x" lastIdx="0" clrIdx="26"/>
  <p:cmAuthor id="28" name="古" initials="古" lastIdx="0" clrIdx="27"/>
  <p:cmAuthor id="29" name="李彦利" initials="李" lastIdx="0" clrIdx="28"/>
  <p:cmAuthor id="30" name="刘刘" initials="刘" lastIdx="0" clrIdx="29"/>
  <p:cmAuthor id="31" name="刘浩" initials="刘" lastIdx="0" clrIdx="30"/>
  <p:cmAuthor id="32" name="kongluzhong" initials="k" lastIdx="0" clrIdx="31"/>
  <p:cmAuthor id="33" name="孙红亮" initials="孙" lastIdx="0" clrIdx="32"/>
  <p:cmAuthor id="34" name="李 智" initials="李" lastIdx="0" clrIdx="33"/>
  <p:cmAuthor id="35" name="CHINESE-BC06F90" initials="" lastIdx="0" clrIdx="34"/>
  <p:cmAuthor id="36" name="自由精灵" initials="自" lastIdx="0" clrIdx="35"/>
  <p:cmAuthor id="37" name="na" initials="n" lastIdx="0" clrIdx="36"/>
  <p:cmAuthor id="38" name="101" initials="1" lastIdx="0" clrIdx="37"/>
  <p:cmAuthor id="39" name="NFB" initials="N" lastIdx="0" clrIdx="38"/>
  <p:cmAuthor id="40" name="nijingen" initials="n" lastIdx="0" clrIdx="39"/>
  <p:cmAuthor id="41" name="yisimin" initials="y" lastIdx="0" clrIdx="40"/>
  <p:cmAuthor id="42" name="雨昕" initials="雨" lastIdx="0" clrIdx="41"/>
  <p:cmAuthor id="43" name="86138" initials="8" lastIdx="0" clrIdx="42"/>
  <p:cmAuthor id="44" name="DELL" initials="D" lastIdx="0" clrIdx="43"/>
  <p:cmAuthor id="45" name="Echo" initials="E" lastIdx="0" clrIdx="44"/>
  <p:cmAuthor id="46" name="张瑞霞" initials="authorId_524709945" lastIdx="0" clrIdx="45"/>
  <p:cmAuthor id="47" name="陈庆" initials="陈" lastIdx="0" clrIdx="46"/>
  <p:cmAuthor id="48" name="Dino._6ZFrB7nA" initials="authorId_1257418890" lastIdx="0" clrIdx="47"/>
  <p:cmAuthor id="49" name="a'su's" initials="a" lastIdx="0" clrIdx="48"/>
  <p:cmAuthor id="50" name="陈芳" initials="A" lastIdx="0" clrIdx="49"/>
  <p:cmAuthor id="51" name="EXX008" initials="E" lastIdx="0" clrIdx="50"/>
  <p:cmAuthor id="52" name="1" initials="1" lastIdx="0" clrIdx="51"/>
  <p:cmAuthor id="53" name="邹 嘉豪" initials="" lastIdx="0" clrIdx="52"/>
  <p:cmAuthor id="54" name="longyaohua" initials="l" lastIdx="0" clrIdx="53"/>
  <p:cmAuthor id="55" name="韩琳晶" initials="韩" lastIdx="0" clrIdx="54"/>
  <p:cmAuthor id="563860366" name="梦之蝶" initials="梦" lastIdx="0" clrIdx="47"/>
  <p:cmAuthor id="730507000" name="齐缘" initials="齐" lastIdx="0" clrIdx="46"/>
  <p:cmAuthor id="631466528" name="左右" initials="左" lastIdx="0" clrIdx="47"/>
  <p:cmAuthor id="260684473" name="田锦询" initials="田" lastIdx="0" clrIdx="41"/>
  <p:cmAuthor id="1138884792" name="失焦" initials="失" lastIdx="0" clrIdx="49"/>
  <p:cmAuthor id="2002" name="夏 天" initials="天夏" lastIdx="0" clrIdx="41"/>
  <p:cmAuthor id="412227983" name="。" initials="。" lastIdx="0" clrIdx="39"/>
  <p:cmAuthor id="257975172" name="北语言" initials="北" lastIdx="0" clrIdx="57"/>
  <p:cmAuthor id="770251275" name="花花公主" initials="花" lastIdx="0" clrIdx="58"/>
  <p:cmAuthor id="838943890" name="蕉下客" initials="蕉" lastIdx="0" clrIdx="22"/>
  <p:cmAuthor id="368339614" name="菜菜" initials="菜" lastIdx="0" clrIdx="52"/>
  <p:cmAuthor id="452781568" name="郭景山" initials="郭" lastIdx="0" clrIdx="55"/>
  <p:cmAuthor id="49837070" name="峰 武" initials="峰武" lastIdx="0" clrIdx="47"/>
  <p:cmAuthor id="71" name="uos" initials="u" lastIdx="1" clrIdx="70"/>
  <p:cmAuthor id="209535715" name="代超" initials="代" lastIdx="1" clrIdx="48"/>
  <p:cmAuthor id="462438723" name="王老师" initials="王" lastIdx="0" clrIdx="43"/>
  <p:cmAuthor id="476406771" name="等等。。" initials="等" lastIdx="2" clrIdx="38"/>
  <p:cmAuthor id="264508205" name="子衿" initials="子" lastIdx="1" clrIdx="1"/>
  <p:cmAuthor id="373757048" name="Deffy" initials="D" lastIdx="0" clrIdx="55"/>
  <p:cmAuthor id="1589851653" name="8226982991" initials="8" lastIdx="0" clrIdx="0"/>
  <p:cmAuthor id="1483810881" name="WPS_1679281038" initials="W" lastIdx="1" clrIdx="2"/>
  <p:cmAuthor id="1300618747" name="大漠萧郎" initials="大" lastIdx="0" clrIdx="53"/>
  <p:cmAuthor id="1582988307" name="晨越乔胸滤" initials="晨" lastIdx="0" clrIdx="42"/>
  <p:cmAuthor id="451505135" name="熊仔" initials="熊" lastIdx="2" clrIdx="75"/>
  <p:cmAuthor id="59" name="11" initials="1" lastIdx="0" clrIdx="58"/>
  <p:cmAuthor id="61" name="幸全" initials="幸全" lastIdx="0" clrIdx="60"/>
  <p:cmAuthor id="62" name="wz" initials="w" lastIdx="0" clrIdx="61"/>
  <p:cmAuthor id="63" name="A407" initials="A" lastIdx="0" clrIdx="62"/>
  <p:cmAuthor id="66" name="User" initials="U" lastIdx="0" clrIdx="65"/>
  <p:cmAuthor id="85" name="张薇" initials="张" lastIdx="0" clrIdx="8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CEF9FCF-87E9-4ECF-B4E5-923A9386F572}" styleName="表样式 1 25">
    <a:wholeTbl>
      <a:tcTxStyle>
        <a:fontRef idx="none">
          <a:schemeClr val="tx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bg1">
              <a:alpha val="0"/>
            </a:schemeClr>
          </a:solidFill>
        </a:fill>
      </a:tcStyle>
    </a:wholeTbl>
    <a:band2H>
      <a:tcStyle>
        <a:tcBdr/>
        <a:fill>
          <a:solidFill>
            <a:schemeClr val="accent1">
              <a:alpha val="25000"/>
              <a:lumMod val="40000"/>
              <a:lumOff val="60000"/>
            </a:schemeClr>
          </a:solidFill>
        </a:fill>
      </a:tcStyle>
    </a:band2H>
    <a:band1V>
      <a:tcStyle>
        <a:tcBdr/>
        <a:fill>
          <a:solidFill>
            <a:schemeClr val="accent1">
              <a:alpha val="25000"/>
              <a:lumMod val="40000"/>
              <a:lumOff val="60000"/>
            </a:schemeClr>
          </a:solidFill>
        </a:fill>
      </a:tcStyle>
    </a:band1V>
    <a:band2V>
      <a:tcStyle>
        <a:tcBdr/>
        <a:fill>
          <a:solidFill>
            <a:schemeClr val="bg1">
              <a:alpha val="0"/>
            </a:schemeClr>
          </a:solidFill>
        </a:fill>
      </a:tcStyle>
    </a:band2V>
    <a:lastCol>
      <a:tcTxStyle b="on">
        <a:fontRef idx="none">
          <a:schemeClr val="tx1"/>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lastCol>
    <a:firstCol>
      <a:tcTxStyle b="on">
        <a:fontRef idx="none">
          <a:schemeClr val="tx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lastRow>
    <a:seCell>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eCell>
    <a:swCell>
      <a:tcTxStyle b="on">
        <a:fontRef idx="none">
          <a:schemeClr val="accent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neCell>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lumMod val="40000"/>
                  <a:lumOff val="60000"/>
                </a:schemeClr>
              </a:solidFill>
              <a:prstDash val="solid"/>
            </a:ln>
          </a:bottom>
          <a:insideH>
            <a:ln>
              <a:noFill/>
            </a:ln>
          </a:insideH>
          <a:insideV>
            <a:ln>
              <a:noFill/>
            </a:ln>
          </a:insideV>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239"/>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8" Type="http://schemas.openxmlformats.org/officeDocument/2006/relationships/commentAuthors" Target="commentAuthors.xml"/><Relationship Id="rId77" Type="http://schemas.openxmlformats.org/officeDocument/2006/relationships/tableStyles" Target="tableStyles.xml"/><Relationship Id="rId76" Type="http://schemas.openxmlformats.org/officeDocument/2006/relationships/viewProps" Target="viewProps.xml"/><Relationship Id="rId75" Type="http://schemas.openxmlformats.org/officeDocument/2006/relationships/presProps" Target="presProps.xml"/><Relationship Id="rId74" Type="http://schemas.openxmlformats.org/officeDocument/2006/relationships/handoutMaster" Target="handoutMasters/handoutMaster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https://www.peopleapp.com/column/30051949663-500007453266?mag_externallink=info_114706</a:t>
            </a:r>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https://www.peopleapp.com/column/30051949663-500007453266?mag_externallink=info_114706</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jpeg"/><Relationship Id="rId2" Type="http://schemas.openxmlformats.org/officeDocument/2006/relationships/image" Target="../media/image5.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2" Type="http://schemas.openxmlformats.org/officeDocument/2006/relationships/notesSlide" Target="../notesSlides/notesSlide4.xml"/><Relationship Id="rId11" Type="http://schemas.openxmlformats.org/officeDocument/2006/relationships/slideLayout" Target="../slideLayouts/slideLayout2.xml"/><Relationship Id="rId10" Type="http://schemas.openxmlformats.org/officeDocument/2006/relationships/tags" Target="../tags/tag11.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1" Type="http://schemas.openxmlformats.org/officeDocument/2006/relationships/slideLayout" Target="../slideLayouts/slideLayout2.xml"/><Relationship Id="rId10" Type="http://schemas.openxmlformats.org/officeDocument/2006/relationships/tags" Target="../tags/tag20.xml"/><Relationship Id="rId1"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tags" Target="../tags/tag2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jpe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jpe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4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tags" Target="../tags/tag2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5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3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image" Target="../media/image40.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58.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image" Target="../media/image45.png"/></Relationships>
</file>

<file path=ppt/slides/_rels/slide59.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25.png"/><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s>
</file>

<file path=ppt/slides/_rels/slide6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35.xml"/><Relationship Id="rId4" Type="http://schemas.openxmlformats.org/officeDocument/2006/relationships/image" Target="../media/image25.png"/><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tags" Target="../tags/tag32.xml"/></Relationships>
</file>

<file path=ppt/slides/_rels/slide6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5.png"/><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s>
</file>

<file path=ppt/slides/_rels/slide6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5.png"/><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tags" Target="../tags/tag39.xml"/></Relationships>
</file>

<file path=ppt/slides/_rels/slide6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5.png"/><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tags" Target="../tags/tag42.xml"/></Relationships>
</file>

<file path=ppt/slides/_rels/slide6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5.png"/><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tags" Target="../tags/tag45.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jpe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1.png"/><Relationship Id="rId1" Type="http://schemas.openxmlformats.org/officeDocument/2006/relationships/tags" Target="../tags/tag4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4.jpeg"/><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tags" Target="../tags/tag49.xml"/></Relationships>
</file>

<file path=ppt/slides/_rels/slide7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53.xml"/><Relationship Id="rId4" Type="http://schemas.openxmlformats.org/officeDocument/2006/relationships/image" Target="../media/image25.png"/><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369060" y="1322705"/>
            <a:ext cx="9831070" cy="2186940"/>
          </a:xfrm>
        </p:spPr>
        <p:txBody>
          <a:bodyPr>
            <a:normAutofit fontScale="90000"/>
          </a:bodyPr>
          <a:p>
            <a:r>
              <a:rPr lang="en-US" altLang="zh-CN">
                <a:effectLst/>
                <a:latin typeface="黑体" panose="02010609060101010101" charset="-122"/>
                <a:ea typeface="黑体" panose="02010609060101010101" charset="-122"/>
                <a:cs typeface="黑体" panose="02010609060101010101" charset="-122"/>
              </a:rPr>
              <a:t>2026</a:t>
            </a:r>
            <a:r>
              <a:rPr lang="zh-CN" altLang="en-US">
                <a:effectLst/>
                <a:latin typeface="黑体" panose="02010609060101010101" charset="-122"/>
                <a:ea typeface="黑体" panose="02010609060101010101" charset="-122"/>
                <a:cs typeface="黑体" panose="02010609060101010101" charset="-122"/>
              </a:rPr>
              <a:t>丰台区二模主观题阅卷说明</a:t>
            </a:r>
            <a:endParaRPr lang="zh-CN" altLang="en-US">
              <a:effectLst/>
              <a:latin typeface="黑体" panose="02010609060101010101" charset="-122"/>
              <a:ea typeface="黑体" panose="02010609060101010101" charset="-122"/>
              <a:cs typeface="黑体" panose="02010609060101010101" charset="-122"/>
            </a:endParaRPr>
          </a:p>
        </p:txBody>
      </p:sp>
      <p:sp>
        <p:nvSpPr>
          <p:cNvPr id="3" name="副标题 2"/>
          <p:cNvSpPr>
            <a:spLocks noGrp="1"/>
          </p:cNvSpPr>
          <p:nvPr>
            <p:ph type="subTitle" idx="1"/>
          </p:nvPr>
        </p:nvSpPr>
        <p:spPr/>
        <p:txBody>
          <a:bodyPr/>
          <a:p>
            <a:r>
              <a:rPr lang="en-US" altLang="zh-CN" sz="2800">
                <a:solidFill>
                  <a:schemeClr val="tx1"/>
                </a:solidFill>
                <a:latin typeface="黑体" panose="02010609060101010101" charset="-122"/>
                <a:ea typeface="黑体" panose="02010609060101010101" charset="-122"/>
                <a:cs typeface="黑体" panose="02010609060101010101" charset="-122"/>
              </a:rPr>
              <a:t>——</a:t>
            </a:r>
            <a:r>
              <a:rPr lang="zh-CN" altLang="en-US" sz="2800">
                <a:solidFill>
                  <a:schemeClr val="tx1"/>
                </a:solidFill>
                <a:latin typeface="黑体" panose="02010609060101010101" charset="-122"/>
                <a:ea typeface="黑体" panose="02010609060101010101" charset="-122"/>
                <a:cs typeface="黑体" panose="02010609060101010101" charset="-122"/>
              </a:rPr>
              <a:t>思想政治</a:t>
            </a:r>
            <a:endParaRPr lang="zh-CN" altLang="en-US" sz="2800">
              <a:solidFill>
                <a:schemeClr val="tx1"/>
              </a:solidFill>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 name="文本框 25"/>
          <p:cNvSpPr txBox="1"/>
          <p:nvPr/>
        </p:nvSpPr>
        <p:spPr>
          <a:xfrm>
            <a:off x="8437880" y="693420"/>
            <a:ext cx="3102610" cy="1198880"/>
          </a:xfrm>
          <a:prstGeom prst="rect">
            <a:avLst/>
          </a:prstGeom>
          <a:noFill/>
        </p:spPr>
        <p:txBody>
          <a:bodyPr wrap="square" rtlCol="0">
            <a:spAutoFit/>
          </a:bodyPr>
          <a:p>
            <a:r>
              <a:rPr lang="zh-CN" altLang="en-US" b="1">
                <a:solidFill>
                  <a:schemeClr val="accent5">
                    <a:lumMod val="75000"/>
                  </a:schemeClr>
                </a:solidFill>
                <a:latin typeface="黑体" panose="02010609060101010101" charset="-122"/>
                <a:ea typeface="黑体" panose="02010609060101010101" charset="-122"/>
                <a:cs typeface="黑体" panose="02010609060101010101" charset="-122"/>
                <a:sym typeface="+mn-ea"/>
              </a:rPr>
              <a:t>文化角度：</a:t>
            </a:r>
            <a:endParaRPr lang="zh-CN" altLang="en-US" b="1">
              <a:solidFill>
                <a:schemeClr val="accent5">
                  <a:lumMod val="75000"/>
                </a:schemeClr>
              </a:solidFill>
              <a:latin typeface="黑体" panose="02010609060101010101" charset="-122"/>
              <a:ea typeface="黑体" panose="02010609060101010101" charset="-122"/>
              <a:cs typeface="黑体" panose="02010609060101010101" charset="-122"/>
              <a:sym typeface="+mn-ea"/>
            </a:endParaRPr>
          </a:p>
          <a:p>
            <a:r>
              <a:rPr lang="en-US" altLang="zh-CN" b="1">
                <a:solidFill>
                  <a:schemeClr val="accent5">
                    <a:lumMod val="75000"/>
                  </a:schemeClr>
                </a:solidFill>
                <a:latin typeface="黑体" panose="02010609060101010101" charset="-122"/>
                <a:ea typeface="黑体" panose="02010609060101010101" charset="-122"/>
                <a:cs typeface="黑体" panose="02010609060101010101" charset="-122"/>
                <a:sym typeface="+mn-ea"/>
              </a:rPr>
              <a:t>1</a:t>
            </a:r>
            <a:r>
              <a:rPr lang="zh-CN" altLang="en-US" b="1">
                <a:solidFill>
                  <a:schemeClr val="accent5">
                    <a:lumMod val="75000"/>
                  </a:schemeClr>
                </a:solidFill>
                <a:latin typeface="黑体" panose="02010609060101010101" charset="-122"/>
                <a:ea typeface="黑体" panose="02010609060101010101" charset="-122"/>
                <a:cs typeface="黑体" panose="02010609060101010101" charset="-122"/>
                <a:sym typeface="+mn-ea"/>
              </a:rPr>
              <a:t>、审美意蕴</a:t>
            </a:r>
            <a:endParaRPr lang="zh-CN" altLang="en-US" b="1">
              <a:solidFill>
                <a:schemeClr val="accent5">
                  <a:lumMod val="75000"/>
                </a:schemeClr>
              </a:solidFill>
              <a:latin typeface="黑体" panose="02010609060101010101" charset="-122"/>
              <a:ea typeface="黑体" panose="02010609060101010101" charset="-122"/>
              <a:cs typeface="黑体" panose="02010609060101010101" charset="-122"/>
              <a:sym typeface="+mn-ea"/>
            </a:endParaRPr>
          </a:p>
          <a:p>
            <a:r>
              <a:rPr lang="en-US" altLang="zh-CN" b="1">
                <a:solidFill>
                  <a:schemeClr val="accent5">
                    <a:lumMod val="75000"/>
                  </a:schemeClr>
                </a:solidFill>
                <a:latin typeface="黑体" panose="02010609060101010101" charset="-122"/>
                <a:ea typeface="黑体" panose="02010609060101010101" charset="-122"/>
                <a:cs typeface="黑体" panose="02010609060101010101" charset="-122"/>
                <a:sym typeface="+mn-ea"/>
              </a:rPr>
              <a:t>2</a:t>
            </a:r>
            <a:r>
              <a:rPr lang="zh-CN" altLang="en-US" b="1">
                <a:solidFill>
                  <a:schemeClr val="accent5">
                    <a:lumMod val="75000"/>
                  </a:schemeClr>
                </a:solidFill>
                <a:latin typeface="黑体" panose="02010609060101010101" charset="-122"/>
                <a:ea typeface="黑体" panose="02010609060101010101" charset="-122"/>
                <a:cs typeface="黑体" panose="02010609060101010101" charset="-122"/>
                <a:sym typeface="+mn-ea"/>
              </a:rPr>
              <a:t>、和合共生、天人合一等传统的生态智慧</a:t>
            </a:r>
            <a:endParaRPr lang="zh-CN" altLang="en-US" b="1">
              <a:solidFill>
                <a:schemeClr val="accent5">
                  <a:lumMod val="75000"/>
                </a:schemeClr>
              </a:solidFill>
              <a:latin typeface="黑体" panose="02010609060101010101" charset="-122"/>
              <a:ea typeface="黑体" panose="02010609060101010101" charset="-122"/>
              <a:cs typeface="黑体" panose="02010609060101010101" charset="-122"/>
              <a:sym typeface="+mn-ea"/>
            </a:endParaRPr>
          </a:p>
        </p:txBody>
      </p:sp>
      <p:pic>
        <p:nvPicPr>
          <p:cNvPr id="4" name="图片 3"/>
          <p:cNvPicPr>
            <a:picLocks noChangeAspect="1"/>
          </p:cNvPicPr>
          <p:nvPr/>
        </p:nvPicPr>
        <p:blipFill>
          <a:blip r:embed="rId1"/>
          <a:stretch>
            <a:fillRect/>
          </a:stretch>
        </p:blipFill>
        <p:spPr>
          <a:xfrm>
            <a:off x="69850" y="176530"/>
            <a:ext cx="8308975" cy="4805680"/>
          </a:xfrm>
          <a:prstGeom prst="rect">
            <a:avLst/>
          </a:prstGeom>
        </p:spPr>
      </p:pic>
      <p:sp>
        <p:nvSpPr>
          <p:cNvPr id="10" name="矩形 9"/>
          <p:cNvSpPr/>
          <p:nvPr/>
        </p:nvSpPr>
        <p:spPr>
          <a:xfrm>
            <a:off x="7171690" y="4296410"/>
            <a:ext cx="1136015" cy="367030"/>
          </a:xfrm>
          <a:prstGeom prst="rect">
            <a:avLst/>
          </a:prstGeom>
          <a:noFill/>
          <a:ln w="28575">
            <a:solidFill>
              <a:schemeClr val="accent1">
                <a:lumMod val="75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黑体" panose="02010609060101010101" charset="-122"/>
              <a:ea typeface="黑体" panose="02010609060101010101" charset="-122"/>
            </a:endParaRPr>
          </a:p>
        </p:txBody>
      </p:sp>
      <p:sp>
        <p:nvSpPr>
          <p:cNvPr id="13" name="矩形 12"/>
          <p:cNvSpPr/>
          <p:nvPr/>
        </p:nvSpPr>
        <p:spPr>
          <a:xfrm>
            <a:off x="879475" y="4663440"/>
            <a:ext cx="956945" cy="367030"/>
          </a:xfrm>
          <a:prstGeom prst="rect">
            <a:avLst/>
          </a:prstGeom>
          <a:noFill/>
          <a:ln w="28575">
            <a:solidFill>
              <a:schemeClr val="accent1">
                <a:lumMod val="75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黑体" panose="02010609060101010101" charset="-122"/>
              <a:ea typeface="黑体" panose="02010609060101010101" charset="-122"/>
            </a:endParaRPr>
          </a:p>
        </p:txBody>
      </p:sp>
      <p:sp>
        <p:nvSpPr>
          <p:cNvPr id="14" name="矩形 13"/>
          <p:cNvSpPr/>
          <p:nvPr/>
        </p:nvSpPr>
        <p:spPr>
          <a:xfrm>
            <a:off x="2409190" y="4253230"/>
            <a:ext cx="1520825" cy="367030"/>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黑体" panose="02010609060101010101" charset="-122"/>
              <a:ea typeface="黑体" panose="02010609060101010101" charset="-122"/>
            </a:endParaRPr>
          </a:p>
        </p:txBody>
      </p:sp>
      <p:cxnSp>
        <p:nvCxnSpPr>
          <p:cNvPr id="21" name="直接连接符 20"/>
          <p:cNvCxnSpPr/>
          <p:nvPr/>
        </p:nvCxnSpPr>
        <p:spPr>
          <a:xfrm flipV="1">
            <a:off x="7335520" y="1624965"/>
            <a:ext cx="972820" cy="27305"/>
          </a:xfrm>
          <a:prstGeom prst="line">
            <a:avLst/>
          </a:prstGeom>
        </p:spPr>
        <p:style>
          <a:lnRef idx="3">
            <a:schemeClr val="accent2"/>
          </a:lnRef>
          <a:fillRef idx="0">
            <a:schemeClr val="accent2"/>
          </a:fillRef>
          <a:effectRef idx="2">
            <a:schemeClr val="accent2"/>
          </a:effectRef>
          <a:fontRef idx="minor">
            <a:schemeClr val="tx1"/>
          </a:fontRef>
        </p:style>
      </p:cxnSp>
      <p:cxnSp>
        <p:nvCxnSpPr>
          <p:cNvPr id="23" name="直接连接符 22"/>
          <p:cNvCxnSpPr/>
          <p:nvPr/>
        </p:nvCxnSpPr>
        <p:spPr>
          <a:xfrm flipV="1">
            <a:off x="1259205" y="2012315"/>
            <a:ext cx="972820" cy="27305"/>
          </a:xfrm>
          <a:prstGeom prst="line">
            <a:avLst/>
          </a:prstGeom>
        </p:spPr>
        <p:style>
          <a:lnRef idx="3">
            <a:schemeClr val="accent2"/>
          </a:lnRef>
          <a:fillRef idx="0">
            <a:schemeClr val="accent2"/>
          </a:fillRef>
          <a:effectRef idx="2">
            <a:schemeClr val="accent2"/>
          </a:effectRef>
          <a:fontRef idx="minor">
            <a:schemeClr val="tx1"/>
          </a:fontRef>
        </p:style>
      </p:cxnSp>
      <p:cxnSp>
        <p:nvCxnSpPr>
          <p:cNvPr id="25" name="直接连接符 24"/>
          <p:cNvCxnSpPr/>
          <p:nvPr/>
        </p:nvCxnSpPr>
        <p:spPr>
          <a:xfrm flipV="1">
            <a:off x="3216275" y="1990725"/>
            <a:ext cx="3355975" cy="48260"/>
          </a:xfrm>
          <a:prstGeom prst="line">
            <a:avLst/>
          </a:prstGeom>
        </p:spPr>
        <p:style>
          <a:lnRef idx="3">
            <a:schemeClr val="accent2"/>
          </a:lnRef>
          <a:fillRef idx="0">
            <a:schemeClr val="accent2"/>
          </a:fillRef>
          <a:effectRef idx="2">
            <a:schemeClr val="accent2"/>
          </a:effectRef>
          <a:fontRef idx="minor">
            <a:schemeClr val="tx1"/>
          </a:fontRef>
        </p:style>
      </p:cxnSp>
      <p:cxnSp>
        <p:nvCxnSpPr>
          <p:cNvPr id="27" name="直接连接符 26"/>
          <p:cNvCxnSpPr/>
          <p:nvPr/>
        </p:nvCxnSpPr>
        <p:spPr>
          <a:xfrm flipV="1">
            <a:off x="5996305" y="1276985"/>
            <a:ext cx="508000" cy="8255"/>
          </a:xfrm>
          <a:prstGeom prst="line">
            <a:avLst/>
          </a:prstGeom>
        </p:spPr>
        <p:style>
          <a:lnRef idx="3">
            <a:schemeClr val="accent2"/>
          </a:lnRef>
          <a:fillRef idx="0">
            <a:schemeClr val="accent2"/>
          </a:fillRef>
          <a:effectRef idx="2">
            <a:schemeClr val="accent2"/>
          </a:effectRef>
          <a:fontRef idx="minor">
            <a:schemeClr val="tx1"/>
          </a:fontRef>
        </p:style>
      </p:cxnSp>
      <p:cxnSp>
        <p:nvCxnSpPr>
          <p:cNvPr id="28" name="直接连接符 27"/>
          <p:cNvCxnSpPr/>
          <p:nvPr/>
        </p:nvCxnSpPr>
        <p:spPr>
          <a:xfrm flipV="1">
            <a:off x="7666355" y="1268730"/>
            <a:ext cx="508000" cy="8255"/>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直接连接符 28"/>
          <p:cNvCxnSpPr/>
          <p:nvPr/>
        </p:nvCxnSpPr>
        <p:spPr>
          <a:xfrm flipV="1">
            <a:off x="5862320" y="1649095"/>
            <a:ext cx="508000" cy="8255"/>
          </a:xfrm>
          <a:prstGeom prst="line">
            <a:avLst/>
          </a:prstGeom>
        </p:spPr>
        <p:style>
          <a:lnRef idx="3">
            <a:schemeClr val="accent2"/>
          </a:lnRef>
          <a:fillRef idx="0">
            <a:schemeClr val="accent2"/>
          </a:fillRef>
          <a:effectRef idx="2">
            <a:schemeClr val="accent2"/>
          </a:effectRef>
          <a:fontRef idx="minor">
            <a:schemeClr val="tx1"/>
          </a:fontRef>
        </p:style>
      </p:cxnSp>
      <p:cxnSp>
        <p:nvCxnSpPr>
          <p:cNvPr id="31" name="直接连接符 30"/>
          <p:cNvCxnSpPr/>
          <p:nvPr/>
        </p:nvCxnSpPr>
        <p:spPr>
          <a:xfrm flipV="1">
            <a:off x="7666355" y="2371725"/>
            <a:ext cx="620395" cy="10160"/>
          </a:xfrm>
          <a:prstGeom prst="line">
            <a:avLst/>
          </a:prstGeom>
        </p:spPr>
        <p:style>
          <a:lnRef idx="3">
            <a:schemeClr val="accent2"/>
          </a:lnRef>
          <a:fillRef idx="0">
            <a:schemeClr val="accent2"/>
          </a:fillRef>
          <a:effectRef idx="2">
            <a:schemeClr val="accent2"/>
          </a:effectRef>
          <a:fontRef idx="minor">
            <a:schemeClr val="tx1"/>
          </a:fontRef>
        </p:style>
      </p:cxnSp>
      <p:cxnSp>
        <p:nvCxnSpPr>
          <p:cNvPr id="32" name="直接连接符 31"/>
          <p:cNvCxnSpPr/>
          <p:nvPr/>
        </p:nvCxnSpPr>
        <p:spPr>
          <a:xfrm flipV="1">
            <a:off x="456565" y="2785745"/>
            <a:ext cx="903605" cy="15875"/>
          </a:xfrm>
          <a:prstGeom prst="line">
            <a:avLst/>
          </a:prstGeom>
        </p:spPr>
        <p:style>
          <a:lnRef idx="3">
            <a:schemeClr val="accent2"/>
          </a:lnRef>
          <a:fillRef idx="0">
            <a:schemeClr val="accent2"/>
          </a:fillRef>
          <a:effectRef idx="2">
            <a:schemeClr val="accent2"/>
          </a:effectRef>
          <a:fontRef idx="minor">
            <a:schemeClr val="tx1"/>
          </a:fontRef>
        </p:style>
      </p:cxnSp>
      <p:cxnSp>
        <p:nvCxnSpPr>
          <p:cNvPr id="33" name="直接连接符 32"/>
          <p:cNvCxnSpPr/>
          <p:nvPr/>
        </p:nvCxnSpPr>
        <p:spPr>
          <a:xfrm flipV="1">
            <a:off x="1505585" y="2745740"/>
            <a:ext cx="1856105" cy="9525"/>
          </a:xfrm>
          <a:prstGeom prst="line">
            <a:avLst/>
          </a:prstGeom>
        </p:spPr>
        <p:style>
          <a:lnRef idx="3">
            <a:schemeClr val="accent2"/>
          </a:lnRef>
          <a:fillRef idx="0">
            <a:schemeClr val="accent2"/>
          </a:fillRef>
          <a:effectRef idx="2">
            <a:schemeClr val="accent2"/>
          </a:effectRef>
          <a:fontRef idx="minor">
            <a:schemeClr val="tx1"/>
          </a:fontRef>
        </p:style>
      </p:cxnSp>
      <p:cxnSp>
        <p:nvCxnSpPr>
          <p:cNvPr id="39" name="直接连接符 38"/>
          <p:cNvCxnSpPr/>
          <p:nvPr/>
        </p:nvCxnSpPr>
        <p:spPr>
          <a:xfrm flipV="1">
            <a:off x="2486025" y="3834765"/>
            <a:ext cx="779145" cy="16510"/>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sp>
        <p:nvSpPr>
          <p:cNvPr id="41" name="矩形 40"/>
          <p:cNvSpPr/>
          <p:nvPr/>
        </p:nvSpPr>
        <p:spPr>
          <a:xfrm>
            <a:off x="6783070" y="2082165"/>
            <a:ext cx="690880" cy="373380"/>
          </a:xfrm>
          <a:prstGeom prst="rect">
            <a:avLst/>
          </a:prstGeom>
          <a:noFill/>
          <a:ln w="28575">
            <a:solidFill>
              <a:srgbClr val="FFC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黑体" panose="02010609060101010101" charset="-122"/>
              <a:ea typeface="黑体" panose="02010609060101010101" charset="-122"/>
            </a:endParaRPr>
          </a:p>
        </p:txBody>
      </p:sp>
      <p:sp>
        <p:nvSpPr>
          <p:cNvPr id="42" name="矩形 41"/>
          <p:cNvSpPr/>
          <p:nvPr/>
        </p:nvSpPr>
        <p:spPr>
          <a:xfrm>
            <a:off x="1110615" y="2801620"/>
            <a:ext cx="690880" cy="373380"/>
          </a:xfrm>
          <a:prstGeom prst="rect">
            <a:avLst/>
          </a:prstGeom>
          <a:noFill/>
          <a:ln w="28575">
            <a:solidFill>
              <a:srgbClr val="FFC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黑体" panose="02010609060101010101" charset="-122"/>
              <a:ea typeface="黑体" panose="02010609060101010101" charset="-122"/>
            </a:endParaRPr>
          </a:p>
        </p:txBody>
      </p:sp>
      <p:sp>
        <p:nvSpPr>
          <p:cNvPr id="43" name="矩形 42"/>
          <p:cNvSpPr/>
          <p:nvPr/>
        </p:nvSpPr>
        <p:spPr>
          <a:xfrm>
            <a:off x="5678805" y="3175000"/>
            <a:ext cx="825500" cy="373380"/>
          </a:xfrm>
          <a:prstGeom prst="rect">
            <a:avLst/>
          </a:prstGeom>
          <a:noFill/>
          <a:ln w="28575">
            <a:solidFill>
              <a:srgbClr val="FFC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黑体" panose="02010609060101010101" charset="-122"/>
              <a:ea typeface="黑体" panose="02010609060101010101" charset="-122"/>
            </a:endParaRPr>
          </a:p>
        </p:txBody>
      </p:sp>
      <p:sp>
        <p:nvSpPr>
          <p:cNvPr id="46" name="文本框 45"/>
          <p:cNvSpPr txBox="1"/>
          <p:nvPr/>
        </p:nvSpPr>
        <p:spPr>
          <a:xfrm>
            <a:off x="8479155" y="2039620"/>
            <a:ext cx="3754755" cy="922020"/>
          </a:xfrm>
          <a:prstGeom prst="rect">
            <a:avLst/>
          </a:prstGeom>
          <a:noFill/>
        </p:spPr>
        <p:txBody>
          <a:bodyPr wrap="square" rtlCol="0" anchor="t">
            <a:spAutoFit/>
          </a:bodyPr>
          <a:p>
            <a:r>
              <a:rPr lang="zh-CN" altLang="en-US" b="1">
                <a:solidFill>
                  <a:srgbClr val="7030A0"/>
                </a:solidFill>
                <a:latin typeface="黑体" panose="02010609060101010101" charset="-122"/>
                <a:ea typeface="黑体" panose="02010609060101010101" charset="-122"/>
                <a:cs typeface="黑体" panose="02010609060101010101" charset="-122"/>
                <a:sym typeface="+mn-ea"/>
              </a:rPr>
              <a:t>哲学角度：</a:t>
            </a:r>
            <a:endParaRPr lang="zh-CN" altLang="en-US" b="1">
              <a:solidFill>
                <a:srgbClr val="7030A0"/>
              </a:solidFill>
              <a:latin typeface="黑体" panose="02010609060101010101" charset="-122"/>
              <a:ea typeface="黑体" panose="02010609060101010101" charset="-122"/>
              <a:cs typeface="黑体" panose="02010609060101010101" charset="-122"/>
              <a:sym typeface="+mn-ea"/>
            </a:endParaRPr>
          </a:p>
          <a:p>
            <a:r>
              <a:rPr lang="en-US" altLang="zh-CN" b="1">
                <a:solidFill>
                  <a:srgbClr val="7030A0"/>
                </a:solidFill>
                <a:latin typeface="黑体" panose="02010609060101010101" charset="-122"/>
                <a:ea typeface="黑体" panose="02010609060101010101" charset="-122"/>
                <a:cs typeface="黑体" panose="02010609060101010101" charset="-122"/>
                <a:sym typeface="+mn-ea"/>
              </a:rPr>
              <a:t>1</a:t>
            </a:r>
            <a:r>
              <a:rPr lang="zh-CN" altLang="en-US" b="1">
                <a:solidFill>
                  <a:srgbClr val="7030A0"/>
                </a:solidFill>
                <a:latin typeface="黑体" panose="02010609060101010101" charset="-122"/>
                <a:ea typeface="黑体" panose="02010609060101010101" charset="-122"/>
                <a:cs typeface="黑体" panose="02010609060101010101" charset="-122"/>
                <a:sym typeface="+mn-ea"/>
              </a:rPr>
              <a:t>、矛盾特殊性</a:t>
            </a:r>
            <a:r>
              <a:rPr lang="en-US" altLang="zh-CN" b="1">
                <a:solidFill>
                  <a:srgbClr val="7030A0"/>
                </a:solidFill>
                <a:latin typeface="黑体" panose="02010609060101010101" charset="-122"/>
                <a:ea typeface="黑体" panose="02010609060101010101" charset="-122"/>
                <a:cs typeface="黑体" panose="02010609060101010101" charset="-122"/>
                <a:sym typeface="+mn-ea"/>
              </a:rPr>
              <a:t>/</a:t>
            </a:r>
            <a:r>
              <a:rPr lang="zh-CN" b="1">
                <a:solidFill>
                  <a:srgbClr val="7030A0"/>
                </a:solidFill>
                <a:latin typeface="黑体" panose="02010609060101010101" charset="-122"/>
                <a:ea typeface="黑体" panose="02010609060101010101" charset="-122"/>
                <a:cs typeface="黑体" panose="02010609060101010101" charset="-122"/>
                <a:sym typeface="+mn-ea"/>
              </a:rPr>
              <a:t>具体问题具体分析</a:t>
            </a:r>
            <a:endParaRPr lang="zh-CN" b="1">
              <a:solidFill>
                <a:srgbClr val="7030A0"/>
              </a:solidFill>
              <a:latin typeface="黑体" panose="02010609060101010101" charset="-122"/>
              <a:ea typeface="黑体" panose="02010609060101010101" charset="-122"/>
              <a:cs typeface="黑体" panose="02010609060101010101" charset="-122"/>
              <a:sym typeface="+mn-ea"/>
            </a:endParaRPr>
          </a:p>
          <a:p>
            <a:endParaRPr lang="en-US" altLang="zh-CN">
              <a:latin typeface="黑体" panose="02010609060101010101" charset="-122"/>
              <a:ea typeface="黑体" panose="02010609060101010101" charset="-122"/>
              <a:cs typeface="黑体" panose="02010609060101010101" charset="-122"/>
            </a:endParaRPr>
          </a:p>
        </p:txBody>
      </p:sp>
      <p:sp>
        <p:nvSpPr>
          <p:cNvPr id="2" name="矩形 1"/>
          <p:cNvSpPr/>
          <p:nvPr/>
        </p:nvSpPr>
        <p:spPr>
          <a:xfrm>
            <a:off x="5682615" y="4253230"/>
            <a:ext cx="889635" cy="367030"/>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黑体" panose="02010609060101010101" charset="-122"/>
              <a:ea typeface="黑体" panose="02010609060101010101" charset="-122"/>
            </a:endParaRPr>
          </a:p>
        </p:txBody>
      </p:sp>
      <p:sp>
        <p:nvSpPr>
          <p:cNvPr id="3" name="文本框 2"/>
          <p:cNvSpPr txBox="1"/>
          <p:nvPr/>
        </p:nvSpPr>
        <p:spPr>
          <a:xfrm>
            <a:off x="577850" y="5120005"/>
            <a:ext cx="1560195" cy="1014730"/>
          </a:xfrm>
          <a:prstGeom prst="rect">
            <a:avLst/>
          </a:prstGeom>
          <a:noFill/>
        </p:spPr>
        <p:txBody>
          <a:bodyPr wrap="square" rtlCol="0">
            <a:spAutoFit/>
          </a:bodyPr>
          <a:p>
            <a:r>
              <a:rPr lang="zh-CN" altLang="en-US" sz="2000" b="1">
                <a:solidFill>
                  <a:srgbClr val="FF0000"/>
                </a:solidFill>
                <a:latin typeface="黑体" panose="02010609060101010101" charset="-122"/>
                <a:ea typeface="黑体" panose="02010609060101010101" charset="-122"/>
              </a:rPr>
              <a:t>传承好湿地保护的中国传统智慧</a:t>
            </a:r>
            <a:endParaRPr lang="zh-CN" altLang="en-US" sz="2000" b="1">
              <a:solidFill>
                <a:srgbClr val="FF0000"/>
              </a:solidFill>
              <a:latin typeface="黑体" panose="02010609060101010101" charset="-122"/>
              <a:ea typeface="黑体" panose="02010609060101010101" charset="-122"/>
            </a:endParaRPr>
          </a:p>
        </p:txBody>
      </p:sp>
      <p:sp>
        <p:nvSpPr>
          <p:cNvPr id="5" name="文本框 4"/>
          <p:cNvSpPr txBox="1"/>
          <p:nvPr/>
        </p:nvSpPr>
        <p:spPr>
          <a:xfrm>
            <a:off x="6959600" y="4752975"/>
            <a:ext cx="2139950" cy="706755"/>
          </a:xfrm>
          <a:prstGeom prst="rect">
            <a:avLst/>
          </a:prstGeom>
          <a:noFill/>
        </p:spPr>
        <p:txBody>
          <a:bodyPr wrap="square" rtlCol="0">
            <a:spAutoFit/>
          </a:bodyPr>
          <a:p>
            <a:r>
              <a:rPr lang="zh-CN" sz="2000" b="1">
                <a:solidFill>
                  <a:srgbClr val="FF0000"/>
                </a:solidFill>
                <a:latin typeface="黑体" panose="02010609060101010101" charset="-122"/>
                <a:ea typeface="黑体" panose="02010609060101010101" charset="-122"/>
              </a:rPr>
              <a:t>维持</a:t>
            </a:r>
            <a:r>
              <a:rPr lang="zh-CN" altLang="en-US" sz="2000" b="1">
                <a:solidFill>
                  <a:srgbClr val="FF0000"/>
                </a:solidFill>
                <a:latin typeface="黑体" panose="02010609060101010101" charset="-122"/>
                <a:ea typeface="黑体" panose="02010609060101010101" charset="-122"/>
                <a:cs typeface="华文中宋" panose="02010600040101010101" charset="-122"/>
                <a:sym typeface="+mn-ea"/>
              </a:rPr>
              <a:t>生态系统的稳定和平衡</a:t>
            </a:r>
            <a:endParaRPr lang="zh-CN" sz="2000" b="1">
              <a:solidFill>
                <a:srgbClr val="FF0000"/>
              </a:solidFill>
              <a:latin typeface="黑体" panose="02010609060101010101" charset="-122"/>
              <a:ea typeface="黑体" panose="02010609060101010101" charset="-122"/>
            </a:endParaRPr>
          </a:p>
        </p:txBody>
      </p:sp>
      <p:sp>
        <p:nvSpPr>
          <p:cNvPr id="6" name="文本框 5"/>
          <p:cNvSpPr txBox="1"/>
          <p:nvPr/>
        </p:nvSpPr>
        <p:spPr>
          <a:xfrm>
            <a:off x="5472430" y="4684395"/>
            <a:ext cx="1555750" cy="706755"/>
          </a:xfrm>
          <a:prstGeom prst="rect">
            <a:avLst/>
          </a:prstGeom>
          <a:noFill/>
        </p:spPr>
        <p:txBody>
          <a:bodyPr wrap="square" rtlCol="0">
            <a:spAutoFit/>
          </a:bodyPr>
          <a:p>
            <a:r>
              <a:rPr lang="zh-CN" sz="2000" b="1">
                <a:solidFill>
                  <a:srgbClr val="0070C0"/>
                </a:solidFill>
                <a:latin typeface="黑体" panose="02010609060101010101" charset="-122"/>
                <a:ea typeface="黑体" panose="02010609060101010101" charset="-122"/>
              </a:rPr>
              <a:t>怎么想和</a:t>
            </a:r>
            <a:endParaRPr lang="zh-CN" sz="2000" b="1">
              <a:solidFill>
                <a:srgbClr val="0070C0"/>
              </a:solidFill>
              <a:latin typeface="黑体" panose="02010609060101010101" charset="-122"/>
              <a:ea typeface="黑体" panose="02010609060101010101" charset="-122"/>
            </a:endParaRPr>
          </a:p>
          <a:p>
            <a:r>
              <a:rPr lang="zh-CN" sz="2000" b="1">
                <a:solidFill>
                  <a:srgbClr val="0070C0"/>
                </a:solidFill>
                <a:latin typeface="黑体" panose="02010609060101010101" charset="-122"/>
                <a:ea typeface="黑体" panose="02010609060101010101" charset="-122"/>
              </a:rPr>
              <a:t>怎么做层次</a:t>
            </a:r>
            <a:endParaRPr lang="zh-CN" sz="2000" b="1">
              <a:solidFill>
                <a:srgbClr val="0070C0"/>
              </a:solidFill>
              <a:latin typeface="黑体" panose="02010609060101010101" charset="-122"/>
              <a:ea typeface="黑体" panose="02010609060101010101" charset="-122"/>
            </a:endParaRPr>
          </a:p>
        </p:txBody>
      </p:sp>
      <p:sp>
        <p:nvSpPr>
          <p:cNvPr id="7" name="文本框 6"/>
          <p:cNvSpPr txBox="1"/>
          <p:nvPr/>
        </p:nvSpPr>
        <p:spPr>
          <a:xfrm>
            <a:off x="8479155" y="3656965"/>
            <a:ext cx="3754755" cy="645160"/>
          </a:xfrm>
          <a:prstGeom prst="rect">
            <a:avLst/>
          </a:prstGeom>
          <a:noFill/>
        </p:spPr>
        <p:txBody>
          <a:bodyPr wrap="square" rtlCol="0" anchor="t">
            <a:spAutoFit/>
          </a:bodyPr>
          <a:p>
            <a:r>
              <a:rPr lang="en-US" altLang="zh-CN" b="1">
                <a:solidFill>
                  <a:srgbClr val="7030A0"/>
                </a:solidFill>
                <a:latin typeface="黑体" panose="02010609060101010101" charset="-122"/>
                <a:ea typeface="黑体" panose="02010609060101010101" charset="-122"/>
                <a:cs typeface="黑体" panose="02010609060101010101" charset="-122"/>
                <a:sym typeface="+mn-ea"/>
              </a:rPr>
              <a:t>4</a:t>
            </a:r>
            <a:r>
              <a:rPr lang="zh-CN" altLang="en-US" b="1">
                <a:solidFill>
                  <a:srgbClr val="7030A0"/>
                </a:solidFill>
                <a:latin typeface="黑体" panose="02010609060101010101" charset="-122"/>
                <a:ea typeface="黑体" panose="02010609060101010101" charset="-122"/>
                <a:cs typeface="黑体" panose="02010609060101010101" charset="-122"/>
                <a:sym typeface="+mn-ea"/>
              </a:rPr>
              <a:t>、正确价值观的</a:t>
            </a:r>
            <a:r>
              <a:rPr lang="zh-CN" b="1">
                <a:solidFill>
                  <a:srgbClr val="7030A0"/>
                </a:solidFill>
                <a:latin typeface="黑体" panose="02010609060101010101" charset="-122"/>
                <a:ea typeface="黑体" panose="02010609060101010101" charset="-122"/>
                <a:cs typeface="黑体" panose="02010609060101010101" charset="-122"/>
                <a:sym typeface="+mn-ea"/>
              </a:rPr>
              <a:t>导向作用（侧重生态价值观）</a:t>
            </a:r>
            <a:endParaRPr lang="en-US" altLang="zh-CN">
              <a:latin typeface="黑体" panose="02010609060101010101" charset="-122"/>
              <a:ea typeface="黑体" panose="02010609060101010101" charset="-122"/>
              <a:cs typeface="黑体" panose="02010609060101010101" charset="-122"/>
            </a:endParaRPr>
          </a:p>
        </p:txBody>
      </p:sp>
      <p:sp>
        <p:nvSpPr>
          <p:cNvPr id="8" name="文本框 7"/>
          <p:cNvSpPr txBox="1"/>
          <p:nvPr/>
        </p:nvSpPr>
        <p:spPr>
          <a:xfrm>
            <a:off x="8479155" y="2745740"/>
            <a:ext cx="3534410" cy="368300"/>
          </a:xfrm>
          <a:prstGeom prst="rect">
            <a:avLst/>
          </a:prstGeom>
          <a:noFill/>
        </p:spPr>
        <p:txBody>
          <a:bodyPr wrap="none" rtlCol="0" anchor="t">
            <a:spAutoFit/>
          </a:bodyPr>
          <a:p>
            <a:r>
              <a:rPr lang="en-US" altLang="zh-CN" b="1">
                <a:solidFill>
                  <a:srgbClr val="7030A0"/>
                </a:solidFill>
                <a:latin typeface="黑体" panose="02010609060101010101" charset="-122"/>
                <a:ea typeface="黑体" panose="02010609060101010101" charset="-122"/>
                <a:cs typeface="黑体" panose="02010609060101010101" charset="-122"/>
                <a:sym typeface="+mn-ea"/>
              </a:rPr>
              <a:t>2</a:t>
            </a:r>
            <a:r>
              <a:rPr lang="zh-CN" altLang="en-US" b="1">
                <a:solidFill>
                  <a:srgbClr val="7030A0"/>
                </a:solidFill>
                <a:latin typeface="黑体" panose="02010609060101010101" charset="-122"/>
                <a:ea typeface="黑体" panose="02010609060101010101" charset="-122"/>
                <a:cs typeface="黑体" panose="02010609060101010101" charset="-122"/>
                <a:sym typeface="+mn-ea"/>
              </a:rPr>
              <a:t>、尊重规律与</a:t>
            </a:r>
            <a:r>
              <a:rPr lang="zh-CN" b="1">
                <a:solidFill>
                  <a:srgbClr val="7030A0"/>
                </a:solidFill>
                <a:latin typeface="黑体" panose="02010609060101010101" charset="-122"/>
                <a:ea typeface="黑体" panose="02010609060101010101" charset="-122"/>
                <a:cs typeface="黑体" panose="02010609060101010101" charset="-122"/>
                <a:sym typeface="+mn-ea"/>
              </a:rPr>
              <a:t>主观能动性相结合</a:t>
            </a:r>
            <a:endParaRPr lang="zh-CN" altLang="en-US">
              <a:latin typeface="黑体" panose="02010609060101010101" charset="-122"/>
              <a:ea typeface="黑体" panose="02010609060101010101" charset="-122"/>
              <a:cs typeface="黑体" panose="02010609060101010101" charset="-122"/>
            </a:endParaRPr>
          </a:p>
        </p:txBody>
      </p:sp>
      <p:sp>
        <p:nvSpPr>
          <p:cNvPr id="9" name="文本框 8"/>
          <p:cNvSpPr txBox="1"/>
          <p:nvPr/>
        </p:nvSpPr>
        <p:spPr>
          <a:xfrm>
            <a:off x="8479155" y="3180080"/>
            <a:ext cx="2526030" cy="368300"/>
          </a:xfrm>
          <a:prstGeom prst="rect">
            <a:avLst/>
          </a:prstGeom>
          <a:noFill/>
        </p:spPr>
        <p:txBody>
          <a:bodyPr wrap="none" rtlCol="0" anchor="t">
            <a:spAutoFit/>
          </a:bodyPr>
          <a:p>
            <a:pPr algn="l"/>
            <a:r>
              <a:rPr lang="en-US" altLang="zh-CN" b="1">
                <a:solidFill>
                  <a:srgbClr val="7030A0"/>
                </a:solidFill>
                <a:latin typeface="黑体" panose="02010609060101010101" charset="-122"/>
                <a:ea typeface="黑体" panose="02010609060101010101" charset="-122"/>
                <a:cs typeface="黑体" panose="02010609060101010101" charset="-122"/>
                <a:sym typeface="+mn-ea"/>
              </a:rPr>
              <a:t>3</a:t>
            </a:r>
            <a:r>
              <a:rPr lang="zh-CN" altLang="en-US" b="1">
                <a:solidFill>
                  <a:srgbClr val="7030A0"/>
                </a:solidFill>
                <a:latin typeface="黑体" panose="02010609060101010101" charset="-122"/>
                <a:ea typeface="黑体" panose="02010609060101010101" charset="-122"/>
                <a:cs typeface="黑体" panose="02010609060101010101" charset="-122"/>
                <a:sym typeface="+mn-ea"/>
              </a:rPr>
              <a:t>、联系观点</a:t>
            </a:r>
            <a:r>
              <a:rPr lang="en-US" altLang="zh-CN" b="1">
                <a:solidFill>
                  <a:srgbClr val="7030A0"/>
                </a:solidFill>
                <a:latin typeface="黑体" panose="02010609060101010101" charset="-122"/>
                <a:ea typeface="黑体" panose="02010609060101010101" charset="-122"/>
                <a:cs typeface="黑体" panose="02010609060101010101" charset="-122"/>
                <a:sym typeface="+mn-ea"/>
              </a:rPr>
              <a:t>/</a:t>
            </a:r>
            <a:r>
              <a:rPr lang="zh-CN" b="1">
                <a:solidFill>
                  <a:srgbClr val="7030A0"/>
                </a:solidFill>
                <a:latin typeface="黑体" panose="02010609060101010101" charset="-122"/>
                <a:ea typeface="黑体" panose="02010609060101010101" charset="-122"/>
                <a:cs typeface="黑体" panose="02010609060101010101" charset="-122"/>
                <a:sym typeface="+mn-ea"/>
              </a:rPr>
              <a:t>系统优化</a:t>
            </a:r>
            <a:endParaRPr lang="zh-CN" altLang="en-US">
              <a:latin typeface="黑体" panose="02010609060101010101" charset="-122"/>
              <a:ea typeface="黑体" panose="02010609060101010101" charset="-122"/>
              <a:cs typeface="黑体" panose="02010609060101010101" charset="-122"/>
            </a:endParaRPr>
          </a:p>
        </p:txBody>
      </p:sp>
      <p:sp>
        <p:nvSpPr>
          <p:cNvPr id="11" name="文本框 10"/>
          <p:cNvSpPr txBox="1"/>
          <p:nvPr/>
        </p:nvSpPr>
        <p:spPr>
          <a:xfrm>
            <a:off x="2580640" y="5857240"/>
            <a:ext cx="7254875" cy="706755"/>
          </a:xfrm>
          <a:prstGeom prst="rect">
            <a:avLst/>
          </a:prstGeom>
          <a:noFill/>
          <a:ln>
            <a:solidFill>
              <a:srgbClr val="FF0000"/>
            </a:solidFill>
          </a:ln>
        </p:spPr>
        <p:txBody>
          <a:bodyPr wrap="square" rtlCol="0" anchor="t">
            <a:spAutoFit/>
          </a:bodyPr>
          <a:p>
            <a:pPr indent="0" algn="l" fontAlgn="ctr">
              <a:lnSpc>
                <a:spcPct val="100000"/>
              </a:lnSpc>
              <a:buClrTx/>
              <a:buSzTx/>
              <a:buFont typeface="Wingdings" panose="05000000000000000000" charset="0"/>
              <a:buNone/>
            </a:pPr>
            <a:r>
              <a:rPr lang="zh-CN" altLang="en-US" sz="2000" b="1">
                <a:solidFill>
                  <a:srgbClr val="000000"/>
                </a:solidFill>
                <a:latin typeface="黑体" panose="02010609060101010101" charset="-122"/>
                <a:ea typeface="黑体" panose="02010609060101010101" charset="-122"/>
                <a:cs typeface="黑体" panose="02010609060101010101" charset="-122"/>
                <a:sym typeface="+mn-ea"/>
              </a:rPr>
              <a:t>回应路径：</a:t>
            </a:r>
            <a:endParaRPr lang="zh-CN" altLang="en-US" sz="2000" b="1" i="0">
              <a:solidFill>
                <a:srgbClr val="000000"/>
              </a:solidFill>
              <a:latin typeface="黑体" panose="02010609060101010101" charset="-122"/>
              <a:ea typeface="黑体" panose="02010609060101010101" charset="-122"/>
              <a:cs typeface="黑体" panose="02010609060101010101" charset="-122"/>
            </a:endParaRPr>
          </a:p>
          <a:p>
            <a:pPr indent="0" algn="l" fontAlgn="ctr">
              <a:lnSpc>
                <a:spcPct val="100000"/>
              </a:lnSpc>
              <a:buClrTx/>
              <a:buSzTx/>
              <a:buFont typeface="Wingdings" panose="05000000000000000000" charset="0"/>
              <a:buNone/>
            </a:pPr>
            <a:r>
              <a:rPr lang="zh-CN" altLang="en-US" sz="2000" b="1">
                <a:solidFill>
                  <a:srgbClr val="000000"/>
                </a:solidFill>
                <a:latin typeface="黑体" panose="02010609060101010101" charset="-122"/>
                <a:ea typeface="黑体" panose="02010609060101010101" charset="-122"/>
                <a:cs typeface="黑体" panose="02010609060101010101" charset="-122"/>
                <a:sym typeface="+mn-ea"/>
              </a:rPr>
              <a:t>治理思路和实践路径</a:t>
            </a:r>
            <a:r>
              <a:rPr lang="en-US" altLang="zh-CN" sz="2000" b="1">
                <a:solidFill>
                  <a:srgbClr val="000000"/>
                </a:solidFill>
                <a:latin typeface="黑体" panose="02010609060101010101" charset="-122"/>
                <a:ea typeface="黑体" panose="02010609060101010101" charset="-122"/>
                <a:cs typeface="黑体" panose="02010609060101010101" charset="-122"/>
                <a:sym typeface="+mn-ea"/>
              </a:rPr>
              <a:t>    </a:t>
            </a:r>
            <a:r>
              <a:rPr lang="zh-CN" altLang="en-US" sz="2000" b="1">
                <a:solidFill>
                  <a:srgbClr val="000000"/>
                </a:solidFill>
                <a:latin typeface="黑体" panose="02010609060101010101" charset="-122"/>
                <a:ea typeface="黑体" panose="02010609060101010101" charset="-122"/>
                <a:cs typeface="黑体" panose="02010609060101010101" charset="-122"/>
                <a:sym typeface="+mn-ea"/>
              </a:rPr>
              <a:t>对守护生态和守护文化根脉的作用</a:t>
            </a:r>
            <a:endParaRPr lang="zh-CN" altLang="en-US" sz="2000">
              <a:latin typeface="黑体" panose="02010609060101010101" charset="-122"/>
              <a:ea typeface="黑体" panose="02010609060101010101" charset="-122"/>
              <a:cs typeface="黑体" panose="02010609060101010101" charset="-122"/>
            </a:endParaRPr>
          </a:p>
        </p:txBody>
      </p:sp>
      <p:sp>
        <p:nvSpPr>
          <p:cNvPr id="12" name="右箭头 11"/>
          <p:cNvSpPr/>
          <p:nvPr/>
        </p:nvSpPr>
        <p:spPr>
          <a:xfrm>
            <a:off x="4993005" y="6317615"/>
            <a:ext cx="326390" cy="144780"/>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黑体" panose="02010609060101010101" charset="-122"/>
              <a:ea typeface="黑体" panose="02010609060101010101" charset="-122"/>
            </a:endParaRPr>
          </a:p>
        </p:txBody>
      </p:sp>
      <p:sp>
        <p:nvSpPr>
          <p:cNvPr id="15" name="矩形 14"/>
          <p:cNvSpPr/>
          <p:nvPr/>
        </p:nvSpPr>
        <p:spPr>
          <a:xfrm>
            <a:off x="2138045" y="4670425"/>
            <a:ext cx="623570" cy="367030"/>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黑体" panose="02010609060101010101" charset="-122"/>
              <a:ea typeface="黑体" panose="02010609060101010101" charset="-122"/>
            </a:endParaRPr>
          </a:p>
        </p:txBody>
      </p:sp>
      <p:cxnSp>
        <p:nvCxnSpPr>
          <p:cNvPr id="17" name="直接连接符 16"/>
          <p:cNvCxnSpPr/>
          <p:nvPr/>
        </p:nvCxnSpPr>
        <p:spPr>
          <a:xfrm flipV="1">
            <a:off x="456565" y="3535680"/>
            <a:ext cx="920750" cy="12700"/>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8" name="直接连接符 17"/>
          <p:cNvCxnSpPr/>
          <p:nvPr/>
        </p:nvCxnSpPr>
        <p:spPr>
          <a:xfrm flipV="1">
            <a:off x="3589655" y="2744470"/>
            <a:ext cx="555625" cy="10160"/>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sp>
        <p:nvSpPr>
          <p:cNvPr id="16" name="标题 3"/>
          <p:cNvSpPr txBox="1"/>
          <p:nvPr/>
        </p:nvSpPr>
        <p:spPr>
          <a:xfrm>
            <a:off x="1360172" y="-317"/>
            <a:ext cx="3070225" cy="750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一、试题分析</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3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33"/>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8"/>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17"/>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8"/>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39"/>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9"/>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P spid="15" grpId="0" animBg="1"/>
      <p:bldP spid="15" grpId="1" animBg="1"/>
      <p:bldP spid="2" grpId="0" animBg="1"/>
      <p:bldP spid="10" grpId="0" animBg="1"/>
      <p:bldP spid="2" grpId="1" animBg="1"/>
      <p:bldP spid="10" grpId="1" animBg="1"/>
      <p:bldP spid="13" grpId="0" animBg="1"/>
      <p:bldP spid="13" grpId="1" animBg="1"/>
      <p:bldP spid="5" grpId="0"/>
      <p:bldP spid="5" grpId="1"/>
      <p:bldP spid="3" grpId="0"/>
      <p:bldP spid="3" grpId="1"/>
      <p:bldP spid="6" grpId="0"/>
      <p:bldP spid="6" grpId="1"/>
      <p:bldP spid="11" grpId="0" bldLvl="0" animBg="1"/>
      <p:bldP spid="12" grpId="0" animBg="1"/>
      <p:bldP spid="11" grpId="1" animBg="1"/>
      <p:bldP spid="12" grpId="1" animBg="1"/>
      <p:bldP spid="26" grpId="0"/>
      <p:bldP spid="26" grpId="1"/>
      <p:bldP spid="41" grpId="0" animBg="1"/>
      <p:bldP spid="42" grpId="0" animBg="1"/>
      <p:bldP spid="43" grpId="0" animBg="1"/>
      <p:bldP spid="41" grpId="1" animBg="1"/>
      <p:bldP spid="42" grpId="1" animBg="1"/>
      <p:bldP spid="43" grpId="1" animBg="1"/>
      <p:bldP spid="46" grpId="0"/>
      <p:bldP spid="46" grpId="1"/>
      <p:bldP spid="8" grpId="0"/>
      <p:bldP spid="8" grpId="1"/>
      <p:bldP spid="9" grpId="0"/>
      <p:bldP spid="9" grpId="1"/>
      <p:bldP spid="7" grpId="0"/>
      <p:bldP spid="7"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表格 4"/>
          <p:cNvGraphicFramePr/>
          <p:nvPr>
            <p:custDataLst>
              <p:tags r:id="rId1"/>
            </p:custDataLst>
          </p:nvPr>
        </p:nvGraphicFramePr>
        <p:xfrm>
          <a:off x="126365" y="739775"/>
          <a:ext cx="11938635" cy="5400675"/>
        </p:xfrm>
        <a:graphic>
          <a:graphicData uri="http://schemas.openxmlformats.org/drawingml/2006/table">
            <a:tbl>
              <a:tblPr/>
              <a:tblGrid>
                <a:gridCol w="651510"/>
                <a:gridCol w="5210175"/>
                <a:gridCol w="687070"/>
                <a:gridCol w="5389880"/>
              </a:tblGrid>
              <a:tr h="358775">
                <a:tc>
                  <a:txBody>
                    <a:bodyPr/>
                    <a:p>
                      <a:pPr algn="ctr" fontAlgn="ctr">
                        <a:lnSpc>
                          <a:spcPct val="100000"/>
                        </a:lnSpc>
                      </a:pPr>
                      <a:r>
                        <a:rPr lang="zh-CN" altLang="en-US" sz="2200" b="1" i="0">
                          <a:solidFill>
                            <a:srgbClr val="000000"/>
                          </a:solidFill>
                          <a:latin typeface="黑体" panose="02010609060101010101" charset="-122"/>
                          <a:ea typeface="黑体" panose="02010609060101010101" charset="-122"/>
                        </a:rPr>
                        <a:t>角度</a:t>
                      </a:r>
                      <a:endParaRPr lang="zh-CN" altLang="en-US" sz="2200" b="1" i="0">
                        <a:solidFill>
                          <a:srgbClr val="000000"/>
                        </a:solidFill>
                        <a:latin typeface="黑体" panose="02010609060101010101" charset="-122"/>
                        <a:ea typeface="黑体" panose="02010609060101010101"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60000"/>
                        <a:lumOff val="40000"/>
                      </a:schemeClr>
                    </a:solidFill>
                  </a:tcPr>
                </a:tc>
                <a:tc>
                  <a:txBody>
                    <a:bodyPr/>
                    <a:p>
                      <a:pPr algn="ctr" fontAlgn="ctr">
                        <a:lnSpc>
                          <a:spcPct val="100000"/>
                        </a:lnSpc>
                      </a:pPr>
                      <a:r>
                        <a:rPr lang="zh-CN" altLang="en-US" sz="2200" b="1" i="0">
                          <a:solidFill>
                            <a:srgbClr val="FF0000"/>
                          </a:solidFill>
                          <a:latin typeface="黑体" panose="02010609060101010101" charset="-122"/>
                          <a:ea typeface="黑体" panose="02010609060101010101" charset="-122"/>
                          <a:cs typeface="黑体" panose="02010609060101010101" charset="-122"/>
                        </a:rPr>
                        <a:t>每点</a:t>
                      </a:r>
                      <a:r>
                        <a:rPr lang="en-US" altLang="zh-CN" sz="2200" b="1" i="0">
                          <a:solidFill>
                            <a:srgbClr val="FF0000"/>
                          </a:solidFill>
                          <a:latin typeface="黑体" panose="02010609060101010101" charset="-122"/>
                          <a:ea typeface="黑体" panose="02010609060101010101" charset="-122"/>
                          <a:cs typeface="黑体" panose="02010609060101010101" charset="-122"/>
                        </a:rPr>
                        <a:t>3</a:t>
                      </a:r>
                      <a:r>
                        <a:rPr lang="zh-CN" altLang="en-US" sz="2200" b="1" i="0">
                          <a:solidFill>
                            <a:srgbClr val="FF0000"/>
                          </a:solidFill>
                          <a:latin typeface="黑体" panose="02010609060101010101" charset="-122"/>
                          <a:ea typeface="黑体" panose="02010609060101010101" charset="-122"/>
                          <a:cs typeface="黑体" panose="02010609060101010101" charset="-122"/>
                        </a:rPr>
                        <a:t>分（知识</a:t>
                      </a:r>
                      <a:r>
                        <a:rPr lang="en-US" altLang="zh-CN" sz="2200" b="1" i="0">
                          <a:solidFill>
                            <a:srgbClr val="FF0000"/>
                          </a:solidFill>
                          <a:latin typeface="黑体" panose="02010609060101010101" charset="-122"/>
                          <a:ea typeface="黑体" panose="02010609060101010101" charset="-122"/>
                          <a:cs typeface="黑体" panose="02010609060101010101" charset="-122"/>
                        </a:rPr>
                        <a:t>+</a:t>
                      </a:r>
                      <a:r>
                        <a:rPr lang="zh-CN" altLang="en-US" sz="2200" b="1" i="0">
                          <a:solidFill>
                            <a:srgbClr val="FF0000"/>
                          </a:solidFill>
                          <a:latin typeface="黑体" panose="02010609060101010101" charset="-122"/>
                          <a:ea typeface="黑体" panose="02010609060101010101" charset="-122"/>
                          <a:cs typeface="黑体" panose="02010609060101010101" charset="-122"/>
                        </a:rPr>
                        <a:t>材料论述</a:t>
                      </a:r>
                      <a:r>
                        <a:rPr lang="en-US" altLang="zh-CN" sz="2200" b="1" i="0">
                          <a:solidFill>
                            <a:srgbClr val="FF0000"/>
                          </a:solidFill>
                          <a:latin typeface="黑体" panose="02010609060101010101" charset="-122"/>
                          <a:ea typeface="黑体" panose="02010609060101010101" charset="-122"/>
                          <a:cs typeface="黑体" panose="02010609060101010101" charset="-122"/>
                        </a:rPr>
                        <a:t>+</a:t>
                      </a:r>
                      <a:r>
                        <a:rPr lang="zh-CN" altLang="en-US" sz="2200" b="1" i="0">
                          <a:solidFill>
                            <a:srgbClr val="FF0000"/>
                          </a:solidFill>
                          <a:latin typeface="黑体" panose="02010609060101010101" charset="-122"/>
                          <a:ea typeface="黑体" panose="02010609060101010101" charset="-122"/>
                          <a:cs typeface="黑体" panose="02010609060101010101" charset="-122"/>
                        </a:rPr>
                        <a:t>回扣设问）</a:t>
                      </a:r>
                      <a:endParaRPr lang="en-US" altLang="zh-CN" sz="2200" b="1" i="0">
                        <a:solidFill>
                          <a:srgbClr val="FF0000"/>
                        </a:solidFill>
                        <a:latin typeface="黑体" panose="02010609060101010101" charset="-122"/>
                        <a:ea typeface="黑体" panose="02010609060101010101" charset="-122"/>
                        <a:cs typeface="黑体" panose="02010609060101010101"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60000"/>
                        <a:lumOff val="40000"/>
                      </a:schemeClr>
                    </a:solidFill>
                  </a:tcPr>
                </a:tc>
                <a:tc>
                  <a:txBody>
                    <a:bodyPr/>
                    <a:p>
                      <a:pPr algn="l" fontAlgn="ctr">
                        <a:lnSpc>
                          <a:spcPct val="100000"/>
                        </a:lnSpc>
                      </a:pPr>
                      <a:r>
                        <a:rPr lang="zh-CN" altLang="en-US" sz="2200" b="1" i="0">
                          <a:solidFill>
                            <a:srgbClr val="000000"/>
                          </a:solidFill>
                          <a:latin typeface="黑体" panose="02010609060101010101" charset="-122"/>
                          <a:ea typeface="黑体" panose="02010609060101010101" charset="-122"/>
                        </a:rPr>
                        <a:t>角度</a:t>
                      </a:r>
                      <a:endParaRPr lang="zh-CN" altLang="en-US" sz="2200" b="1" i="0">
                        <a:solidFill>
                          <a:srgbClr val="000000"/>
                        </a:solidFill>
                        <a:latin typeface="黑体" panose="02010609060101010101" charset="-122"/>
                        <a:ea typeface="黑体" panose="02010609060101010101"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60000"/>
                        <a:lumOff val="40000"/>
                      </a:schemeClr>
                    </a:solidFill>
                  </a:tcPr>
                </a:tc>
                <a:tc>
                  <a:txBody>
                    <a:bodyPr/>
                    <a:p>
                      <a:pPr algn="ctr" fontAlgn="ctr">
                        <a:lnSpc>
                          <a:spcPct val="100000"/>
                        </a:lnSpc>
                      </a:pPr>
                      <a:r>
                        <a:rPr lang="zh-CN" altLang="en-US" sz="2200" b="1" i="0">
                          <a:solidFill>
                            <a:srgbClr val="FF0000"/>
                          </a:solidFill>
                          <a:latin typeface="黑体" panose="02010609060101010101" charset="-122"/>
                          <a:ea typeface="黑体" panose="02010609060101010101" charset="-122"/>
                          <a:cs typeface="黑体" panose="02010609060101010101" charset="-122"/>
                        </a:rPr>
                        <a:t>每点</a:t>
                      </a:r>
                      <a:r>
                        <a:rPr lang="en-US" altLang="zh-CN" sz="2200" b="1" i="0">
                          <a:solidFill>
                            <a:srgbClr val="FF0000"/>
                          </a:solidFill>
                          <a:latin typeface="黑体" panose="02010609060101010101" charset="-122"/>
                          <a:ea typeface="黑体" panose="02010609060101010101" charset="-122"/>
                          <a:cs typeface="黑体" panose="02010609060101010101" charset="-122"/>
                        </a:rPr>
                        <a:t>3</a:t>
                      </a:r>
                      <a:r>
                        <a:rPr lang="zh-CN" altLang="en-US" sz="2200" b="1" i="0">
                          <a:solidFill>
                            <a:srgbClr val="FF0000"/>
                          </a:solidFill>
                          <a:latin typeface="黑体" panose="02010609060101010101" charset="-122"/>
                          <a:ea typeface="黑体" panose="02010609060101010101" charset="-122"/>
                          <a:cs typeface="黑体" panose="02010609060101010101" charset="-122"/>
                        </a:rPr>
                        <a:t>分</a:t>
                      </a:r>
                      <a:r>
                        <a:rPr lang="zh-CN" altLang="en-US" sz="2200" b="1">
                          <a:solidFill>
                            <a:srgbClr val="FF0000"/>
                          </a:solidFill>
                          <a:latin typeface="黑体" panose="02010609060101010101" charset="-122"/>
                          <a:ea typeface="黑体" panose="02010609060101010101" charset="-122"/>
                          <a:cs typeface="黑体" panose="02010609060101010101" charset="-122"/>
                          <a:sym typeface="+mn-ea"/>
                        </a:rPr>
                        <a:t>（知识</a:t>
                      </a:r>
                      <a:r>
                        <a:rPr lang="en-US" altLang="zh-CN" sz="2200" b="1">
                          <a:solidFill>
                            <a:srgbClr val="FF0000"/>
                          </a:solidFill>
                          <a:latin typeface="黑体" panose="02010609060101010101" charset="-122"/>
                          <a:ea typeface="黑体" panose="02010609060101010101" charset="-122"/>
                          <a:cs typeface="黑体" panose="02010609060101010101" charset="-122"/>
                          <a:sym typeface="+mn-ea"/>
                        </a:rPr>
                        <a:t>+</a:t>
                      </a:r>
                      <a:r>
                        <a:rPr lang="zh-CN" altLang="en-US" sz="2200" b="1">
                          <a:solidFill>
                            <a:srgbClr val="FF0000"/>
                          </a:solidFill>
                          <a:latin typeface="黑体" panose="02010609060101010101" charset="-122"/>
                          <a:ea typeface="黑体" panose="02010609060101010101" charset="-122"/>
                          <a:cs typeface="黑体" panose="02010609060101010101" charset="-122"/>
                          <a:sym typeface="+mn-ea"/>
                        </a:rPr>
                        <a:t>材料论述</a:t>
                      </a:r>
                      <a:r>
                        <a:rPr lang="en-US" altLang="zh-CN" sz="2200" b="1">
                          <a:solidFill>
                            <a:srgbClr val="FF0000"/>
                          </a:solidFill>
                          <a:latin typeface="黑体" panose="02010609060101010101" charset="-122"/>
                          <a:ea typeface="黑体" panose="02010609060101010101" charset="-122"/>
                          <a:cs typeface="黑体" panose="02010609060101010101" charset="-122"/>
                          <a:sym typeface="+mn-ea"/>
                        </a:rPr>
                        <a:t>+</a:t>
                      </a:r>
                      <a:r>
                        <a:rPr lang="zh-CN" altLang="en-US" sz="2200" b="1">
                          <a:solidFill>
                            <a:srgbClr val="FF0000"/>
                          </a:solidFill>
                          <a:latin typeface="黑体" panose="02010609060101010101" charset="-122"/>
                          <a:ea typeface="黑体" panose="02010609060101010101" charset="-122"/>
                          <a:cs typeface="黑体" panose="02010609060101010101" charset="-122"/>
                          <a:sym typeface="+mn-ea"/>
                        </a:rPr>
                        <a:t>回扣设问）</a:t>
                      </a:r>
                      <a:endParaRPr lang="en-US" altLang="zh-CN" sz="2200" b="1" i="0">
                        <a:solidFill>
                          <a:srgbClr val="FF0000"/>
                        </a:solidFill>
                        <a:latin typeface="黑体" panose="02010609060101010101" charset="-122"/>
                        <a:ea typeface="黑体" panose="02010609060101010101" charset="-122"/>
                        <a:cs typeface="黑体" panose="02010609060101010101"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60000"/>
                        <a:lumOff val="40000"/>
                      </a:schemeClr>
                    </a:solidFill>
                  </a:tcPr>
                </a:tc>
              </a:tr>
              <a:tr h="3512185">
                <a:tc>
                  <a:txBody>
                    <a:bodyPr/>
                    <a:p>
                      <a:pPr algn="ctr" fontAlgn="ctr">
                        <a:lnSpc>
                          <a:spcPts val="3100"/>
                        </a:lnSpc>
                      </a:pPr>
                      <a:r>
                        <a:rPr lang="zh-CN" altLang="en-US" sz="2200" b="1" i="0">
                          <a:solidFill>
                            <a:srgbClr val="000000"/>
                          </a:solidFill>
                          <a:latin typeface="黑体" panose="02010609060101010101" charset="-122"/>
                          <a:ea typeface="黑体" panose="02010609060101010101" charset="-122"/>
                        </a:rPr>
                        <a:t>哲学</a:t>
                      </a:r>
                      <a:endParaRPr lang="zh-CN" altLang="en-US" sz="2200" b="1" i="0">
                        <a:solidFill>
                          <a:srgbClr val="000000"/>
                        </a:solidFill>
                        <a:latin typeface="黑体" panose="02010609060101010101" charset="-122"/>
                        <a:ea typeface="黑体" panose="02010609060101010101"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342900" indent="-342900" algn="l" fontAlgn="ctr">
                        <a:lnSpc>
                          <a:spcPts val="3100"/>
                        </a:lnSpc>
                        <a:buClrTx/>
                        <a:buSzTx/>
                        <a:buFont typeface="Wingdings" panose="05000000000000000000" charset="0"/>
                        <a:buChar char="Ø"/>
                      </a:pPr>
                      <a:r>
                        <a:rPr lang="zh-CN" altLang="en-US" sz="2200" b="1">
                          <a:solidFill>
                            <a:srgbClr val="000000"/>
                          </a:solidFill>
                          <a:latin typeface="黑体" panose="02010609060101010101" charset="-122"/>
                          <a:ea typeface="黑体" panose="02010609060101010101" charset="-122"/>
                          <a:cs typeface="黑体" panose="02010609060101010101" charset="-122"/>
                          <a:sym typeface="+mn-ea"/>
                        </a:rPr>
                        <a:t>价值观的导向作用</a:t>
                      </a:r>
                      <a:r>
                        <a:rPr lang="en-US" altLang="zh-CN" sz="2200" b="1">
                          <a:solidFill>
                            <a:srgbClr val="000000"/>
                          </a:solidFill>
                          <a:latin typeface="黑体" panose="02010609060101010101" charset="-122"/>
                          <a:ea typeface="黑体" panose="02010609060101010101" charset="-122"/>
                          <a:cs typeface="黑体" panose="02010609060101010101" charset="-122"/>
                          <a:sym typeface="+mn-ea"/>
                        </a:rPr>
                        <a:t>/</a:t>
                      </a:r>
                      <a:r>
                        <a:rPr lang="zh-CN" altLang="en-US" sz="2200" b="1">
                          <a:solidFill>
                            <a:srgbClr val="000000"/>
                          </a:solidFill>
                          <a:latin typeface="黑体" panose="02010609060101010101" charset="-122"/>
                          <a:ea typeface="黑体" panose="02010609060101010101" charset="-122"/>
                          <a:cs typeface="黑体" panose="02010609060101010101" charset="-122"/>
                          <a:sym typeface="+mn-ea"/>
                        </a:rPr>
                        <a:t>价值判断与价值选择（天人合一、顺应自然、人与自然和谐共生的思想观念等）</a:t>
                      </a:r>
                      <a:endParaRPr lang="zh-CN" altLang="en-US" sz="2200" b="1">
                        <a:solidFill>
                          <a:srgbClr val="000000"/>
                        </a:solidFill>
                        <a:latin typeface="黑体" panose="02010609060101010101" charset="-122"/>
                        <a:ea typeface="黑体" panose="02010609060101010101" charset="-122"/>
                        <a:cs typeface="黑体" panose="02010609060101010101" charset="-122"/>
                        <a:sym typeface="+mn-ea"/>
                      </a:endParaRPr>
                    </a:p>
                    <a:p>
                      <a:pPr marL="342900" indent="-342900" algn="l" fontAlgn="ctr">
                        <a:lnSpc>
                          <a:spcPts val="3100"/>
                        </a:lnSpc>
                        <a:buClrTx/>
                        <a:buSzTx/>
                        <a:buFont typeface="Wingdings" panose="05000000000000000000" charset="0"/>
                        <a:buChar char="Ø"/>
                      </a:pPr>
                      <a:r>
                        <a:rPr lang="zh-CN" altLang="en-US" sz="2200" b="1">
                          <a:solidFill>
                            <a:srgbClr val="000000"/>
                          </a:solidFill>
                          <a:latin typeface="黑体" panose="02010609060101010101" charset="-122"/>
                          <a:ea typeface="黑体" panose="02010609060101010101" charset="-122"/>
                          <a:cs typeface="黑体" panose="02010609060101010101" charset="-122"/>
                          <a:sym typeface="+mn-ea"/>
                        </a:rPr>
                        <a:t>客观规律与发挥主观能动性相结合</a:t>
                      </a:r>
                      <a:endParaRPr lang="zh-CN" altLang="en-US" sz="2200" b="1">
                        <a:solidFill>
                          <a:srgbClr val="000000"/>
                        </a:solidFill>
                        <a:latin typeface="黑体" panose="02010609060101010101" charset="-122"/>
                        <a:ea typeface="黑体" panose="02010609060101010101" charset="-122"/>
                        <a:cs typeface="黑体" panose="02010609060101010101" charset="-122"/>
                        <a:sym typeface="+mn-ea"/>
                      </a:endParaRPr>
                    </a:p>
                    <a:p>
                      <a:pPr marL="342900" indent="-342900" algn="l" fontAlgn="ctr">
                        <a:lnSpc>
                          <a:spcPts val="3100"/>
                        </a:lnSpc>
                        <a:buClrTx/>
                        <a:buSzTx/>
                        <a:buFont typeface="Wingdings" panose="05000000000000000000" charset="0"/>
                        <a:buChar char="Ø"/>
                      </a:pPr>
                      <a:r>
                        <a:rPr lang="zh-CN" altLang="en-US" sz="2200" b="1">
                          <a:solidFill>
                            <a:srgbClr val="000000"/>
                          </a:solidFill>
                          <a:latin typeface="黑体" panose="02010609060101010101" charset="-122"/>
                          <a:ea typeface="黑体" panose="02010609060101010101" charset="-122"/>
                          <a:cs typeface="黑体" panose="02010609060101010101" charset="-122"/>
                          <a:sym typeface="+mn-ea"/>
                        </a:rPr>
                        <a:t>联系的观点看问题/系统优化</a:t>
                      </a:r>
                      <a:r>
                        <a:rPr lang="en-US" altLang="zh-CN" sz="2200" b="1">
                          <a:solidFill>
                            <a:srgbClr val="000000"/>
                          </a:solidFill>
                          <a:latin typeface="黑体" panose="02010609060101010101" charset="-122"/>
                          <a:ea typeface="黑体" panose="02010609060101010101" charset="-122"/>
                          <a:cs typeface="黑体" panose="02010609060101010101" charset="-122"/>
                          <a:sym typeface="+mn-ea"/>
                        </a:rPr>
                        <a:t>/</a:t>
                      </a:r>
                      <a:r>
                        <a:rPr lang="zh-CN" altLang="en-US" sz="2200" b="1">
                          <a:solidFill>
                            <a:srgbClr val="000000"/>
                          </a:solidFill>
                          <a:latin typeface="黑体" panose="02010609060101010101" charset="-122"/>
                          <a:ea typeface="黑体" panose="02010609060101010101" charset="-122"/>
                          <a:cs typeface="黑体" panose="02010609060101010101" charset="-122"/>
                          <a:sym typeface="+mn-ea"/>
                        </a:rPr>
                        <a:t>联系特征</a:t>
                      </a:r>
                      <a:endParaRPr lang="zh-CN" altLang="en-US" sz="2200" b="1">
                        <a:solidFill>
                          <a:srgbClr val="000000"/>
                        </a:solidFill>
                        <a:latin typeface="黑体" panose="02010609060101010101" charset="-122"/>
                        <a:ea typeface="黑体" panose="02010609060101010101" charset="-122"/>
                        <a:cs typeface="黑体" panose="02010609060101010101" charset="-122"/>
                        <a:sym typeface="+mn-ea"/>
                      </a:endParaRPr>
                    </a:p>
                    <a:p>
                      <a:pPr marL="342900" indent="-342900" algn="l" fontAlgn="ctr">
                        <a:lnSpc>
                          <a:spcPts val="3100"/>
                        </a:lnSpc>
                        <a:buClrTx/>
                        <a:buSzTx/>
                        <a:buFont typeface="Wingdings" panose="05000000000000000000" charset="0"/>
                        <a:buChar char="Ø"/>
                      </a:pPr>
                      <a:r>
                        <a:rPr lang="zh-CN" altLang="en-US" sz="2200" b="1">
                          <a:solidFill>
                            <a:srgbClr val="000000"/>
                          </a:solidFill>
                          <a:latin typeface="黑体" panose="02010609060101010101" charset="-122"/>
                          <a:ea typeface="黑体" panose="02010609060101010101" charset="-122"/>
                          <a:cs typeface="黑体" panose="02010609060101010101" charset="-122"/>
                          <a:sym typeface="+mn-ea"/>
                        </a:rPr>
                        <a:t>发展的观点看问题（突出动态把握）</a:t>
                      </a:r>
                      <a:endParaRPr lang="zh-CN" altLang="en-US" sz="2200" b="1">
                        <a:solidFill>
                          <a:srgbClr val="000000"/>
                        </a:solidFill>
                        <a:latin typeface="黑体" panose="02010609060101010101" charset="-122"/>
                        <a:ea typeface="黑体" panose="02010609060101010101" charset="-122"/>
                        <a:cs typeface="黑体" panose="02010609060101010101" charset="-122"/>
                        <a:sym typeface="+mn-ea"/>
                      </a:endParaRPr>
                    </a:p>
                    <a:p>
                      <a:pPr marL="342900" indent="-342900" algn="l" fontAlgn="ctr">
                        <a:lnSpc>
                          <a:spcPts val="3100"/>
                        </a:lnSpc>
                        <a:buClrTx/>
                        <a:buSzTx/>
                        <a:buFont typeface="Wingdings" panose="05000000000000000000" charset="0"/>
                        <a:buChar char="Ø"/>
                      </a:pPr>
                      <a:r>
                        <a:rPr lang="zh-CN" altLang="en-US" sz="2200" b="1">
                          <a:solidFill>
                            <a:srgbClr val="000000"/>
                          </a:solidFill>
                          <a:latin typeface="黑体" panose="02010609060101010101" charset="-122"/>
                          <a:ea typeface="黑体" panose="02010609060101010101" charset="-122"/>
                          <a:cs typeface="黑体" panose="02010609060101010101" charset="-122"/>
                          <a:sym typeface="+mn-ea"/>
                        </a:rPr>
                        <a:t>对立统一观点看问题</a:t>
                      </a:r>
                      <a:r>
                        <a:rPr lang="en-US" altLang="zh-CN" sz="2200" b="1">
                          <a:solidFill>
                            <a:srgbClr val="000000"/>
                          </a:solidFill>
                          <a:latin typeface="黑体" panose="02010609060101010101" charset="-122"/>
                          <a:ea typeface="黑体" panose="02010609060101010101" charset="-122"/>
                          <a:cs typeface="黑体" panose="02010609060101010101" charset="-122"/>
                          <a:sym typeface="+mn-ea"/>
                        </a:rPr>
                        <a:t>/</a:t>
                      </a:r>
                      <a:r>
                        <a:rPr lang="zh-CN" altLang="en-US" sz="2200" b="1">
                          <a:solidFill>
                            <a:srgbClr val="000000"/>
                          </a:solidFill>
                          <a:latin typeface="黑体" panose="02010609060101010101" charset="-122"/>
                          <a:ea typeface="黑体" panose="02010609060101010101" charset="-122"/>
                          <a:cs typeface="黑体" panose="02010609060101010101" charset="-122"/>
                          <a:sym typeface="+mn-ea"/>
                        </a:rPr>
                        <a:t>具体问题具体分析</a:t>
                      </a:r>
                      <a:endParaRPr lang="zh-CN" altLang="en-US" sz="2200" b="1">
                        <a:solidFill>
                          <a:srgbClr val="000000"/>
                        </a:solidFill>
                        <a:latin typeface="黑体" panose="02010609060101010101" charset="-122"/>
                        <a:ea typeface="黑体" panose="02010609060101010101" charset="-122"/>
                        <a:cs typeface="黑体" panose="02010609060101010101" charset="-122"/>
                        <a:sym typeface="+mn-ea"/>
                      </a:endParaRPr>
                    </a:p>
                    <a:p>
                      <a:pPr indent="0" algn="l" fontAlgn="ctr">
                        <a:lnSpc>
                          <a:spcPts val="3100"/>
                        </a:lnSpc>
                        <a:buClrTx/>
                        <a:buSzTx/>
                        <a:buFont typeface="Wingdings" panose="05000000000000000000" charset="0"/>
                        <a:buNone/>
                      </a:pPr>
                      <a:r>
                        <a:rPr lang="zh-CN" altLang="en-US" sz="2200" b="1" i="0">
                          <a:solidFill>
                            <a:srgbClr val="000000"/>
                          </a:solidFill>
                          <a:latin typeface="黑体" panose="02010609060101010101" charset="-122"/>
                          <a:ea typeface="黑体" panose="02010609060101010101" charset="-122"/>
                          <a:cs typeface="黑体" panose="02010609060101010101" charset="-122"/>
                        </a:rPr>
                        <a:t>替代：若从认识与实践的关系、两点论与重点论相统一等角度阐释清晰到位，也可得分</a:t>
                      </a:r>
                      <a:endParaRPr lang="en-US" altLang="zh-CN" sz="2200" b="1" i="0">
                        <a:solidFill>
                          <a:srgbClr val="000000"/>
                        </a:solidFill>
                        <a:latin typeface="黑体" panose="02010609060101010101" charset="-122"/>
                        <a:ea typeface="黑体" panose="02010609060101010101" charset="-122"/>
                        <a:cs typeface="黑体" panose="02010609060101010101" charset="-122"/>
                      </a:endParaRPr>
                    </a:p>
                  </a:txBody>
                  <a:tcPr marL="6667" marR="6667" marT="6667" marB="0"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lnSpc>
                          <a:spcPts val="3100"/>
                        </a:lnSpc>
                        <a:buClrTx/>
                        <a:buSzTx/>
                        <a:buFontTx/>
                      </a:pPr>
                      <a:r>
                        <a:rPr lang="zh-CN" altLang="en-US" sz="2200" b="1" i="0">
                          <a:solidFill>
                            <a:srgbClr val="000000"/>
                          </a:solidFill>
                          <a:latin typeface="黑体" panose="02010609060101010101" charset="-122"/>
                          <a:ea typeface="黑体" panose="02010609060101010101" charset="-122"/>
                        </a:rPr>
                        <a:t>文化</a:t>
                      </a:r>
                      <a:endParaRPr lang="zh-CN" altLang="en-US" sz="2200" b="1" i="0">
                        <a:solidFill>
                          <a:srgbClr val="000000"/>
                        </a:solidFill>
                        <a:latin typeface="黑体" panose="02010609060101010101" charset="-122"/>
                        <a:ea typeface="黑体" panose="02010609060101010101"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342900" indent="-342900" algn="l" fontAlgn="ctr">
                        <a:lnSpc>
                          <a:spcPts val="3100"/>
                        </a:lnSpc>
                        <a:buClrTx/>
                        <a:buSzTx/>
                        <a:buFont typeface="Wingdings" panose="05000000000000000000" charset="0"/>
                        <a:buChar char="Ø"/>
                      </a:pPr>
                      <a:r>
                        <a:rPr lang="zh-CN" altLang="en-US" sz="2200" b="1">
                          <a:solidFill>
                            <a:srgbClr val="000000"/>
                          </a:solidFill>
                          <a:latin typeface="黑体" panose="02010609060101010101" charset="-122"/>
                          <a:ea typeface="黑体" panose="02010609060101010101" charset="-122"/>
                          <a:cs typeface="华文楷体" panose="02010600040101010101" charset="-122"/>
                          <a:sym typeface="+mn-ea"/>
                        </a:rPr>
                        <a:t>传统生态智慧（和合共生、天人合一等</a:t>
                      </a:r>
                      <a:r>
                        <a:rPr lang="zh-CN" altLang="en-US" sz="2200" b="1">
                          <a:solidFill>
                            <a:srgbClr val="000000"/>
                          </a:solidFill>
                          <a:latin typeface="黑体" panose="02010609060101010101" charset="-122"/>
                          <a:ea typeface="黑体" panose="02010609060101010101" charset="-122"/>
                          <a:cs typeface="华文楷体" panose="02010600040101010101" charset="-122"/>
                          <a:sym typeface="+mn-ea"/>
                        </a:rPr>
                        <a:t>）</a:t>
                      </a:r>
                      <a:endParaRPr lang="zh-CN" altLang="en-US" sz="2200" b="1">
                        <a:solidFill>
                          <a:srgbClr val="000000"/>
                        </a:solidFill>
                        <a:latin typeface="黑体" panose="02010609060101010101" charset="-122"/>
                        <a:ea typeface="黑体" panose="02010609060101010101" charset="-122"/>
                        <a:cs typeface="华文楷体" panose="02010600040101010101" charset="-122"/>
                        <a:sym typeface="+mn-ea"/>
                      </a:endParaRPr>
                    </a:p>
                    <a:p>
                      <a:pPr marL="342900" indent="-342900" algn="l" fontAlgn="ctr">
                        <a:lnSpc>
                          <a:spcPts val="3100"/>
                        </a:lnSpc>
                        <a:buClrTx/>
                        <a:buSzTx/>
                        <a:buFont typeface="Wingdings" panose="05000000000000000000" charset="0"/>
                        <a:buChar char="Ø"/>
                      </a:pPr>
                      <a:r>
                        <a:rPr lang="zh-CN" altLang="en-US" sz="2200" b="1">
                          <a:solidFill>
                            <a:srgbClr val="000000"/>
                          </a:solidFill>
                          <a:latin typeface="黑体" panose="02010609060101010101" charset="-122"/>
                          <a:ea typeface="黑体" panose="02010609060101010101" charset="-122"/>
                          <a:cs typeface="华文楷体" panose="02010600040101010101" charset="-122"/>
                          <a:sym typeface="+mn-ea"/>
                        </a:rPr>
                        <a:t>传承和弘扬中华优秀传统文化，挖掘时代价值</a:t>
                      </a:r>
                      <a:endParaRPr lang="zh-CN" altLang="en-US" sz="2200" b="1">
                        <a:solidFill>
                          <a:srgbClr val="000000"/>
                        </a:solidFill>
                        <a:latin typeface="黑体" panose="02010609060101010101" charset="-122"/>
                        <a:ea typeface="黑体" panose="02010609060101010101" charset="-122"/>
                        <a:cs typeface="华文楷体" panose="02010600040101010101" charset="-122"/>
                        <a:sym typeface="+mn-ea"/>
                      </a:endParaRPr>
                    </a:p>
                    <a:p>
                      <a:pPr marL="342900" indent="-342900" algn="l" fontAlgn="ctr">
                        <a:lnSpc>
                          <a:spcPts val="3100"/>
                        </a:lnSpc>
                        <a:buClrTx/>
                        <a:buSzTx/>
                        <a:buFont typeface="Wingdings" panose="05000000000000000000" charset="0"/>
                        <a:buChar char="Ø"/>
                      </a:pPr>
                      <a:r>
                        <a:rPr lang="zh-CN" altLang="en-US" sz="2200" b="1">
                          <a:solidFill>
                            <a:srgbClr val="000000"/>
                          </a:solidFill>
                          <a:latin typeface="黑体" panose="02010609060101010101" charset="-122"/>
                          <a:ea typeface="黑体" panose="02010609060101010101" charset="-122"/>
                          <a:cs typeface="华文楷体" panose="02010600040101010101" charset="-122"/>
                          <a:sym typeface="+mn-ea"/>
                        </a:rPr>
                        <a:t>创造性转化和创新性发展（突出新的时代内涵层面）</a:t>
                      </a:r>
                      <a:endParaRPr lang="zh-CN" altLang="en-US" sz="2200" b="1">
                        <a:solidFill>
                          <a:srgbClr val="000000"/>
                        </a:solidFill>
                        <a:latin typeface="黑体" panose="02010609060101010101" charset="-122"/>
                        <a:ea typeface="黑体" panose="02010609060101010101" charset="-122"/>
                        <a:cs typeface="华文楷体" panose="02010600040101010101" charset="-122"/>
                        <a:sym typeface="+mn-ea"/>
                      </a:endParaRPr>
                    </a:p>
                    <a:p>
                      <a:pPr indent="0" algn="l" fontAlgn="ctr">
                        <a:lnSpc>
                          <a:spcPts val="3100"/>
                        </a:lnSpc>
                        <a:buClrTx/>
                        <a:buSzTx/>
                        <a:buFont typeface="Wingdings" panose="05000000000000000000" charset="0"/>
                        <a:buNone/>
                      </a:pPr>
                      <a:r>
                        <a:rPr lang="zh-CN" altLang="en-US" sz="2200" b="1">
                          <a:solidFill>
                            <a:srgbClr val="000000"/>
                          </a:solidFill>
                          <a:latin typeface="黑体" panose="02010609060101010101" charset="-122"/>
                          <a:ea typeface="黑体" panose="02010609060101010101" charset="-122"/>
                          <a:cs typeface="华文楷体" panose="02010600040101010101" charset="-122"/>
                          <a:sym typeface="+mn-ea"/>
                        </a:rPr>
                        <a:t>替代：文化功能层面</a:t>
                      </a:r>
                      <a:endParaRPr lang="zh-CN" altLang="en-US" sz="2200" b="1">
                        <a:solidFill>
                          <a:srgbClr val="000000"/>
                        </a:solidFill>
                        <a:latin typeface="黑体" panose="02010609060101010101" charset="-122"/>
                        <a:ea typeface="黑体" panose="02010609060101010101" charset="-122"/>
                        <a:cs typeface="华文楷体" panose="02010600040101010101" charset="-122"/>
                        <a:sym typeface="+mn-ea"/>
                      </a:endParaRPr>
                    </a:p>
                    <a:p>
                      <a:pPr indent="0" algn="l" fontAlgn="ctr">
                        <a:lnSpc>
                          <a:spcPts val="3100"/>
                        </a:lnSpc>
                        <a:buClrTx/>
                        <a:buSzTx/>
                        <a:buFont typeface="Wingdings" panose="05000000000000000000" charset="0"/>
                        <a:buNone/>
                      </a:pPr>
                      <a:r>
                        <a:rPr lang="zh-CN" altLang="en-US" sz="2200" b="1">
                          <a:solidFill>
                            <a:srgbClr val="000000"/>
                          </a:solidFill>
                          <a:latin typeface="黑体" panose="02010609060101010101" charset="-122"/>
                          <a:ea typeface="黑体" panose="02010609060101010101" charset="-122"/>
                          <a:cs typeface="华文楷体" panose="02010600040101010101" charset="-122"/>
                          <a:sym typeface="+mn-ea"/>
                        </a:rPr>
                        <a:t>如：</a:t>
                      </a:r>
                      <a:endParaRPr lang="zh-CN" altLang="en-US" sz="2200" b="1">
                        <a:solidFill>
                          <a:srgbClr val="000000"/>
                        </a:solidFill>
                        <a:latin typeface="黑体" panose="02010609060101010101" charset="-122"/>
                        <a:ea typeface="黑体" panose="02010609060101010101" charset="-122"/>
                        <a:cs typeface="华文楷体" panose="02010600040101010101" charset="-122"/>
                        <a:sym typeface="+mn-ea"/>
                      </a:endParaRPr>
                    </a:p>
                    <a:p>
                      <a:pPr indent="0" algn="l" fontAlgn="ctr">
                        <a:lnSpc>
                          <a:spcPts val="3100"/>
                        </a:lnSpc>
                        <a:buClrTx/>
                        <a:buSzTx/>
                        <a:buFont typeface="Wingdings" panose="05000000000000000000" charset="0"/>
                        <a:buNone/>
                      </a:pPr>
                      <a:r>
                        <a:rPr lang="zh-CN" altLang="en-US" sz="2200" b="1">
                          <a:solidFill>
                            <a:srgbClr val="000000"/>
                          </a:solidFill>
                          <a:latin typeface="黑体" panose="02010609060101010101" charset="-122"/>
                          <a:ea typeface="黑体" panose="02010609060101010101" charset="-122"/>
                          <a:sym typeface="宋体" panose="02010600030101010101" pitchFamily="2" charset="-122"/>
                        </a:rPr>
                        <a:t>若仅写：湿地文化体现博大精深、源远流长的中华文化，对人或对社会的作用，不能给满分，必须要突出承载的</a:t>
                      </a:r>
                      <a:r>
                        <a:rPr lang="zh-CN" altLang="en-US" sz="2200" b="1">
                          <a:solidFill>
                            <a:srgbClr val="FF0000"/>
                          </a:solidFill>
                          <a:latin typeface="黑体" panose="02010609060101010101" charset="-122"/>
                          <a:ea typeface="黑体" panose="02010609060101010101" charset="-122"/>
                          <a:sym typeface="宋体" panose="02010600030101010101" pitchFamily="2" charset="-122"/>
                        </a:rPr>
                        <a:t>文化内容</a:t>
                      </a:r>
                      <a:r>
                        <a:rPr lang="zh-CN" altLang="en-US" sz="2200" b="1">
                          <a:solidFill>
                            <a:srgbClr val="000000"/>
                          </a:solidFill>
                          <a:latin typeface="黑体" panose="02010609060101010101" charset="-122"/>
                          <a:ea typeface="黑体" panose="02010609060101010101" charset="-122"/>
                          <a:sym typeface="宋体" panose="02010600030101010101" pitchFamily="2" charset="-122"/>
                        </a:rPr>
                        <a:t>。</a:t>
                      </a:r>
                      <a:endParaRPr lang="zh-CN" altLang="en-US" sz="2200" b="1">
                        <a:solidFill>
                          <a:srgbClr val="FF0000"/>
                        </a:solidFill>
                        <a:latin typeface="黑体" panose="02010609060101010101" charset="-122"/>
                        <a:ea typeface="黑体" panose="02010609060101010101" charset="-122"/>
                        <a:cs typeface="华文楷体" panose="02010600040101010101" charset="-122"/>
                        <a:sym typeface="+mn-ea"/>
                      </a:endParaRPr>
                    </a:p>
                  </a:txBody>
                  <a:tcPr marL="6667" marR="6667" marT="6667" marB="0"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012190">
                <a:tc>
                  <a:txBody>
                    <a:bodyPr/>
                    <a:p>
                      <a:pPr algn="ctr" fontAlgn="ctr">
                        <a:lnSpc>
                          <a:spcPts val="3100"/>
                        </a:lnSpc>
                        <a:buNone/>
                      </a:pPr>
                      <a:r>
                        <a:rPr lang="zh-CN" altLang="en-US" sz="2200" b="1" i="0">
                          <a:solidFill>
                            <a:srgbClr val="000000"/>
                          </a:solidFill>
                          <a:latin typeface="黑体" panose="02010609060101010101" charset="-122"/>
                          <a:ea typeface="黑体" panose="02010609060101010101" charset="-122"/>
                        </a:rPr>
                        <a:t>提示</a:t>
                      </a:r>
                      <a:endParaRPr lang="zh-CN" altLang="en-US" sz="2200" b="1" i="0">
                        <a:solidFill>
                          <a:srgbClr val="000000"/>
                        </a:solidFill>
                        <a:latin typeface="黑体" panose="02010609060101010101" charset="-122"/>
                        <a:ea typeface="黑体" panose="02010609060101010101"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gridSpan="3">
                  <a:txBody>
                    <a:bodyPr/>
                    <a:p>
                      <a:pPr indent="0" algn="l" fontAlgn="ctr">
                        <a:lnSpc>
                          <a:spcPts val="3100"/>
                        </a:lnSpc>
                        <a:buClrTx/>
                        <a:buSzTx/>
                        <a:buFont typeface="Wingdings" panose="05000000000000000000" charset="0"/>
                        <a:buNone/>
                      </a:pPr>
                      <a:r>
                        <a:rPr lang="zh-CN" altLang="en-US" sz="2200" b="1" i="0">
                          <a:solidFill>
                            <a:srgbClr val="000000"/>
                          </a:solidFill>
                          <a:latin typeface="黑体" panose="02010609060101010101" charset="-122"/>
                          <a:ea typeface="黑体" panose="02010609060101010101" charset="-122"/>
                          <a:cs typeface="黑体" panose="02010609060101010101" charset="-122"/>
                        </a:rPr>
                        <a:t>守护湿地侧重的是“怎么想</a:t>
                      </a:r>
                      <a:r>
                        <a:rPr lang="en-US" altLang="zh-CN" sz="2200" b="1" i="0">
                          <a:solidFill>
                            <a:srgbClr val="000000"/>
                          </a:solidFill>
                          <a:latin typeface="黑体" panose="02010609060101010101" charset="-122"/>
                          <a:ea typeface="黑体" panose="02010609060101010101" charset="-122"/>
                          <a:cs typeface="黑体" panose="02010609060101010101" charset="-122"/>
                        </a:rPr>
                        <a:t>+</a:t>
                      </a:r>
                      <a:r>
                        <a:rPr lang="zh-CN" altLang="en-US" sz="2200" b="1" i="0">
                          <a:solidFill>
                            <a:srgbClr val="000000"/>
                          </a:solidFill>
                          <a:latin typeface="黑体" panose="02010609060101010101" charset="-122"/>
                          <a:ea typeface="黑体" panose="02010609060101010101" charset="-122"/>
                          <a:cs typeface="黑体" panose="02010609060101010101" charset="-122"/>
                        </a:rPr>
                        <a:t>怎么做”</a:t>
                      </a:r>
                      <a:endParaRPr lang="zh-CN" altLang="en-US" sz="2200" b="1" i="0">
                        <a:solidFill>
                          <a:srgbClr val="000000"/>
                        </a:solidFill>
                        <a:latin typeface="黑体" panose="02010609060101010101" charset="-122"/>
                        <a:ea typeface="黑体" panose="02010609060101010101" charset="-122"/>
                        <a:cs typeface="黑体" panose="02010609060101010101" charset="-122"/>
                      </a:endParaRPr>
                    </a:p>
                    <a:p>
                      <a:pPr indent="0" algn="l" fontAlgn="ctr">
                        <a:lnSpc>
                          <a:spcPts val="3100"/>
                        </a:lnSpc>
                        <a:buClrTx/>
                        <a:buSzTx/>
                        <a:buFont typeface="Wingdings" panose="05000000000000000000" charset="0"/>
                        <a:buNone/>
                      </a:pPr>
                      <a:r>
                        <a:rPr lang="zh-CN" altLang="en-US" sz="2200" b="1" i="0">
                          <a:solidFill>
                            <a:srgbClr val="000000"/>
                          </a:solidFill>
                          <a:latin typeface="黑体" panose="02010609060101010101" charset="-122"/>
                          <a:ea typeface="黑体" panose="02010609060101010101" charset="-122"/>
                          <a:cs typeface="黑体" panose="02010609060101010101" charset="-122"/>
                        </a:rPr>
                        <a:t>回应路径：</a:t>
                      </a:r>
                      <a:endParaRPr lang="zh-CN" altLang="en-US" sz="2200" b="1" i="0">
                        <a:solidFill>
                          <a:srgbClr val="000000"/>
                        </a:solidFill>
                        <a:latin typeface="黑体" panose="02010609060101010101" charset="-122"/>
                        <a:ea typeface="黑体" panose="02010609060101010101" charset="-122"/>
                        <a:cs typeface="黑体" panose="02010609060101010101" charset="-122"/>
                      </a:endParaRPr>
                    </a:p>
                    <a:p>
                      <a:pPr indent="0" algn="l" fontAlgn="ctr">
                        <a:lnSpc>
                          <a:spcPts val="3100"/>
                        </a:lnSpc>
                        <a:buClrTx/>
                        <a:buSzTx/>
                        <a:buFont typeface="Wingdings" panose="05000000000000000000" charset="0"/>
                        <a:buNone/>
                      </a:pPr>
                      <a:r>
                        <a:rPr lang="zh-CN" altLang="en-US" sz="2200" b="1" i="0">
                          <a:solidFill>
                            <a:srgbClr val="000000"/>
                          </a:solidFill>
                          <a:latin typeface="黑体" panose="02010609060101010101" charset="-122"/>
                          <a:ea typeface="黑体" panose="02010609060101010101" charset="-122"/>
                          <a:cs typeface="黑体" panose="02010609060101010101" charset="-122"/>
                        </a:rPr>
                        <a:t>治理思路和实践路径</a:t>
                      </a:r>
                      <a:r>
                        <a:rPr lang="en-US" altLang="zh-CN" sz="2200" b="1" i="0">
                          <a:solidFill>
                            <a:srgbClr val="000000"/>
                          </a:solidFill>
                          <a:latin typeface="黑体" panose="02010609060101010101" charset="-122"/>
                          <a:ea typeface="黑体" panose="02010609060101010101" charset="-122"/>
                          <a:cs typeface="黑体" panose="02010609060101010101" charset="-122"/>
                        </a:rPr>
                        <a:t>       </a:t>
                      </a:r>
                      <a:r>
                        <a:rPr lang="zh-CN" altLang="en-US" sz="2200" b="1" i="0">
                          <a:solidFill>
                            <a:srgbClr val="000000"/>
                          </a:solidFill>
                          <a:latin typeface="黑体" panose="02010609060101010101" charset="-122"/>
                          <a:ea typeface="黑体" panose="02010609060101010101" charset="-122"/>
                          <a:cs typeface="黑体" panose="02010609060101010101" charset="-122"/>
                        </a:rPr>
                        <a:t>对守护生态和守护文化根脉的作用</a:t>
                      </a:r>
                      <a:endParaRPr lang="zh-CN" altLang="en-US" sz="2200" b="1">
                        <a:solidFill>
                          <a:srgbClr val="000000"/>
                        </a:solidFill>
                        <a:latin typeface="黑体" panose="02010609060101010101" charset="-122"/>
                        <a:ea typeface="黑体" panose="02010609060101010101" charset="-122"/>
                        <a:cs typeface="黑体" panose="02010609060101010101" charset="-122"/>
                        <a:sym typeface="+mn-ea"/>
                      </a:endParaRPr>
                    </a:p>
                  </a:txBody>
                  <a:tcPr marL="6667" marR="6667" marT="6667" marB="0"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marL="6667" marR="6667" marT="6667" marB="0"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
        <p:nvSpPr>
          <p:cNvPr id="2" name="右箭头 1"/>
          <p:cNvSpPr/>
          <p:nvPr/>
        </p:nvSpPr>
        <p:spPr>
          <a:xfrm>
            <a:off x="3382010" y="6389370"/>
            <a:ext cx="326390" cy="144780"/>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9" name="标题 3"/>
          <p:cNvSpPr txBox="1"/>
          <p:nvPr/>
        </p:nvSpPr>
        <p:spPr>
          <a:xfrm>
            <a:off x="320674" y="164864"/>
            <a:ext cx="3070225" cy="750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二、变通答案</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Tree>
    <p:custDataLst>
      <p:tags r:id="rId2"/>
    </p:custData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表格 3"/>
          <p:cNvGraphicFramePr/>
          <p:nvPr/>
        </p:nvGraphicFramePr>
        <p:xfrm>
          <a:off x="156210" y="549910"/>
          <a:ext cx="11880215" cy="3756660"/>
        </p:xfrm>
        <a:graphic>
          <a:graphicData uri="http://schemas.openxmlformats.org/drawingml/2006/table">
            <a:tbl>
              <a:tblPr/>
              <a:tblGrid>
                <a:gridCol w="1811655"/>
                <a:gridCol w="10068560"/>
              </a:tblGrid>
              <a:tr h="437515">
                <a:tc>
                  <a:txBody>
                    <a:bodyPr/>
                    <a:p>
                      <a:pPr indent="0" algn="ctr" fontAlgn="auto">
                        <a:lnSpc>
                          <a:spcPct val="100000"/>
                        </a:lnSpc>
                        <a:buNone/>
                      </a:pPr>
                      <a:r>
                        <a:rPr lang="en-US" sz="2400" b="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等级水平</a:t>
                      </a:r>
                      <a:endParaRPr lang="en-US" altLang="en-US" sz="2400" b="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accent5">
                        <a:lumMod val="60000"/>
                        <a:lumOff val="40000"/>
                      </a:schemeClr>
                    </a:solidFill>
                  </a:tcPr>
                </a:tc>
                <a:tc>
                  <a:txBody>
                    <a:bodyPr/>
                    <a:p>
                      <a:pPr indent="0" algn="ctr" fontAlgn="auto">
                        <a:lnSpc>
                          <a:spcPct val="100000"/>
                        </a:lnSpc>
                        <a:buNone/>
                      </a:pPr>
                      <a:r>
                        <a:rPr lang="en-US" sz="2400" b="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等 级 描 述</a:t>
                      </a:r>
                      <a:endParaRPr lang="en-US" altLang="en-US" sz="2400" b="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accent5">
                        <a:lumMod val="60000"/>
                        <a:lumOff val="40000"/>
                      </a:schemeClr>
                    </a:solidFill>
                  </a:tcPr>
                </a:tc>
              </a:tr>
              <a:tr h="886460">
                <a:tc>
                  <a:txBody>
                    <a:bodyPr/>
                    <a:p>
                      <a:pPr indent="0" algn="ctr" fontAlgn="auto">
                        <a:lnSpc>
                          <a:spcPct val="100000"/>
                        </a:lnSpc>
                        <a:buNone/>
                      </a:pPr>
                      <a:r>
                        <a:rPr lang="en-US" sz="2200" b="0">
                          <a:solidFill>
                            <a:schemeClr val="tx1"/>
                          </a:solidFill>
                          <a:latin typeface="宋体" panose="02010600030101010101" pitchFamily="2" charset="-122"/>
                          <a:ea typeface="宋体" panose="02010600030101010101" pitchFamily="2" charset="-122"/>
                          <a:cs typeface="宋体" panose="02010600030101010101" pitchFamily="2" charset="-122"/>
                        </a:rPr>
                        <a:t>水平4</a:t>
                      </a:r>
                      <a:endParaRPr lang="en-US" sz="2200" b="0">
                        <a:solidFill>
                          <a:schemeClr val="tx1"/>
                        </a:solidFill>
                        <a:latin typeface="宋体" panose="02010600030101010101" pitchFamily="2" charset="-122"/>
                        <a:ea typeface="宋体" panose="02010600030101010101" pitchFamily="2" charset="-122"/>
                        <a:cs typeface="宋体" panose="02010600030101010101" pitchFamily="2" charset="-122"/>
                      </a:endParaRPr>
                    </a:p>
                    <a:p>
                      <a:pPr indent="0" algn="ctr" fontAlgn="auto">
                        <a:lnSpc>
                          <a:spcPct val="100000"/>
                        </a:lnSpc>
                        <a:buNone/>
                      </a:pPr>
                      <a:r>
                        <a:rPr lang="en-US" sz="2200" b="0">
                          <a:solidFill>
                            <a:srgbClr val="FF0000"/>
                          </a:solidFill>
                          <a:latin typeface="宋体" panose="02010600030101010101" pitchFamily="2" charset="-122"/>
                          <a:ea typeface="宋体" panose="02010600030101010101" pitchFamily="2" charset="-122"/>
                          <a:cs typeface="宋体" panose="02010600030101010101" pitchFamily="2" charset="-122"/>
                        </a:rPr>
                        <a:t>（7-8）</a:t>
                      </a:r>
                      <a:endParaRPr lang="en-US" altLang="en-US" sz="2200" b="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fontAlgn="auto">
                        <a:lnSpc>
                          <a:spcPct val="100000"/>
                        </a:lnSpc>
                        <a:buNone/>
                      </a:pPr>
                      <a:r>
                        <a:rPr lang="en-US" sz="2200" b="0">
                          <a:solidFill>
                            <a:schemeClr val="tx1"/>
                          </a:solidFill>
                          <a:latin typeface="宋体" panose="02010600030101010101" pitchFamily="2" charset="-122"/>
                          <a:ea typeface="宋体" panose="02010600030101010101" pitchFamily="2" charset="-122"/>
                          <a:cs typeface="华文中宋" panose="02010600040101010101" charset="-122"/>
                        </a:rPr>
                        <a:t>观点鲜明，能明确表达自己的见解；紧扣问题，综合运用所学知识展开论述；逻辑严密，条理清晰</a:t>
                      </a:r>
                      <a:endParaRPr lang="en-US" altLang="en-US" sz="2200" b="0">
                        <a:solidFill>
                          <a:schemeClr val="tx1"/>
                        </a:solidFill>
                        <a:highlight>
                          <a:srgbClr val="FFFF00"/>
                        </a:highlight>
                        <a:uFill>
                          <a:solidFill>
                            <a:srgbClr val="000000"/>
                          </a:solidFill>
                        </a:uFill>
                        <a:latin typeface="宋体" panose="02010600030101010101" pitchFamily="2" charset="-122"/>
                        <a:ea typeface="宋体" panose="02010600030101010101" pitchFamily="2" charset="-122"/>
                        <a:cs typeface="华文中宋" panose="02010600040101010101"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886460">
                <a:tc>
                  <a:txBody>
                    <a:bodyPr/>
                    <a:p>
                      <a:pPr indent="0" algn="ctr" fontAlgn="auto">
                        <a:lnSpc>
                          <a:spcPct val="100000"/>
                        </a:lnSpc>
                        <a:buNone/>
                      </a:pPr>
                      <a:r>
                        <a:rPr lang="en-US" sz="2200" b="0">
                          <a:solidFill>
                            <a:schemeClr val="tx1"/>
                          </a:solidFill>
                          <a:latin typeface="宋体" panose="02010600030101010101" pitchFamily="2" charset="-122"/>
                          <a:ea typeface="宋体" panose="02010600030101010101" pitchFamily="2" charset="-122"/>
                          <a:cs typeface="宋体" panose="02010600030101010101" pitchFamily="2" charset="-122"/>
                        </a:rPr>
                        <a:t>水平3</a:t>
                      </a:r>
                      <a:endParaRPr lang="en-US" sz="2200" b="0">
                        <a:solidFill>
                          <a:schemeClr val="tx1"/>
                        </a:solidFill>
                        <a:latin typeface="宋体" panose="02010600030101010101" pitchFamily="2" charset="-122"/>
                        <a:ea typeface="宋体" panose="02010600030101010101" pitchFamily="2" charset="-122"/>
                        <a:cs typeface="宋体" panose="02010600030101010101" pitchFamily="2" charset="-122"/>
                      </a:endParaRPr>
                    </a:p>
                    <a:p>
                      <a:pPr indent="0" algn="ctr" fontAlgn="auto">
                        <a:lnSpc>
                          <a:spcPct val="100000"/>
                        </a:lnSpc>
                        <a:buNone/>
                      </a:pPr>
                      <a:r>
                        <a:rPr lang="en-US" sz="2200" b="0">
                          <a:solidFill>
                            <a:srgbClr val="FF0000"/>
                          </a:solidFill>
                          <a:latin typeface="宋体" panose="02010600030101010101" pitchFamily="2" charset="-122"/>
                          <a:ea typeface="宋体" panose="02010600030101010101" pitchFamily="2" charset="-122"/>
                          <a:cs typeface="宋体" panose="02010600030101010101" pitchFamily="2" charset="-122"/>
                        </a:rPr>
                        <a:t>（4-6）</a:t>
                      </a:r>
                      <a:endParaRPr lang="en-US" altLang="en-US" sz="2200" b="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fontAlgn="auto">
                        <a:lnSpc>
                          <a:spcPct val="100000"/>
                        </a:lnSpc>
                        <a:buNone/>
                      </a:pPr>
                      <a:r>
                        <a:rPr lang="en-US" sz="2200" b="0">
                          <a:solidFill>
                            <a:schemeClr val="tx1"/>
                          </a:solidFill>
                          <a:latin typeface="宋体" panose="02010600030101010101" pitchFamily="2" charset="-122"/>
                          <a:ea typeface="宋体" panose="02010600030101010101" pitchFamily="2" charset="-122"/>
                          <a:cs typeface="华文中宋" panose="02010600040101010101" charset="-122"/>
                        </a:rPr>
                        <a:t>观点比较明确，能表达自己的见解；能扣住问题展开论述，知识运用比较准确；逻辑性较强，有条理</a:t>
                      </a:r>
                      <a:endParaRPr lang="en-US" altLang="en-US" sz="2200" b="0">
                        <a:solidFill>
                          <a:schemeClr val="tx1"/>
                        </a:solidFill>
                        <a:highlight>
                          <a:srgbClr val="FFFF00"/>
                        </a:highlight>
                        <a:uFill>
                          <a:solidFill>
                            <a:srgbClr val="000000"/>
                          </a:solidFill>
                        </a:uFill>
                        <a:latin typeface="宋体" panose="02010600030101010101" pitchFamily="2" charset="-122"/>
                        <a:ea typeface="宋体" panose="02010600030101010101" pitchFamily="2" charset="-122"/>
                        <a:cs typeface="华文中宋" panose="02010600040101010101"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936625">
                <a:tc>
                  <a:txBody>
                    <a:bodyPr/>
                    <a:p>
                      <a:pPr indent="0" algn="ctr" fontAlgn="auto">
                        <a:lnSpc>
                          <a:spcPct val="100000"/>
                        </a:lnSpc>
                        <a:buNone/>
                      </a:pPr>
                      <a:r>
                        <a:rPr lang="en-US" sz="2200" b="0">
                          <a:solidFill>
                            <a:schemeClr val="tx1"/>
                          </a:solidFill>
                          <a:latin typeface="宋体" panose="02010600030101010101" pitchFamily="2" charset="-122"/>
                          <a:ea typeface="宋体" panose="02010600030101010101" pitchFamily="2" charset="-122"/>
                          <a:cs typeface="宋体" panose="02010600030101010101" pitchFamily="2" charset="-122"/>
                        </a:rPr>
                        <a:t>水平2</a:t>
                      </a:r>
                      <a:endParaRPr lang="en-US" sz="2200" b="0">
                        <a:solidFill>
                          <a:schemeClr val="tx1"/>
                        </a:solidFill>
                        <a:latin typeface="宋体" panose="02010600030101010101" pitchFamily="2" charset="-122"/>
                        <a:ea typeface="宋体" panose="02010600030101010101" pitchFamily="2" charset="-122"/>
                        <a:cs typeface="宋体" panose="02010600030101010101" pitchFamily="2" charset="-122"/>
                      </a:endParaRPr>
                    </a:p>
                    <a:p>
                      <a:pPr indent="0" algn="ctr" fontAlgn="auto">
                        <a:lnSpc>
                          <a:spcPct val="100000"/>
                        </a:lnSpc>
                        <a:buNone/>
                      </a:pPr>
                      <a:r>
                        <a:rPr lang="en-US" sz="2200" b="0">
                          <a:solidFill>
                            <a:srgbClr val="FF0000"/>
                          </a:solidFill>
                          <a:latin typeface="宋体" panose="02010600030101010101" pitchFamily="2" charset="-122"/>
                          <a:ea typeface="宋体" panose="02010600030101010101" pitchFamily="2" charset="-122"/>
                          <a:cs typeface="宋体" panose="02010600030101010101" pitchFamily="2" charset="-122"/>
                        </a:rPr>
                        <a:t>（1-3）</a:t>
                      </a:r>
                      <a:endParaRPr lang="en-US" altLang="en-US" sz="2200" b="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fontAlgn="auto">
                        <a:lnSpc>
                          <a:spcPct val="100000"/>
                        </a:lnSpc>
                        <a:buNone/>
                      </a:pPr>
                      <a:r>
                        <a:rPr lang="en-US" sz="2200" b="0">
                          <a:solidFill>
                            <a:schemeClr val="tx1"/>
                          </a:solidFill>
                          <a:latin typeface="宋体" panose="02010600030101010101" pitchFamily="2" charset="-122"/>
                          <a:ea typeface="宋体" panose="02010600030101010101" pitchFamily="2" charset="-122"/>
                          <a:cs typeface="华文中宋" panose="02010600040101010101" charset="-122"/>
                        </a:rPr>
                        <a:t>观点不明确；论述不能集中指向问题，罗列知识；知识运用不正确；论述缺乏逻辑，条理性差</a:t>
                      </a:r>
                      <a:endParaRPr lang="en-US" altLang="en-US" sz="2200" b="0">
                        <a:solidFill>
                          <a:schemeClr val="tx1"/>
                        </a:solidFill>
                        <a:highlight>
                          <a:srgbClr val="FFFF00"/>
                        </a:highlight>
                        <a:uFill>
                          <a:solidFill>
                            <a:srgbClr val="000000"/>
                          </a:solidFill>
                        </a:uFill>
                        <a:latin typeface="宋体" panose="02010600030101010101" pitchFamily="2" charset="-122"/>
                        <a:ea typeface="宋体" panose="02010600030101010101" pitchFamily="2" charset="-122"/>
                        <a:cs typeface="华文中宋" panose="02010600040101010101"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09600">
                <a:tc>
                  <a:txBody>
                    <a:bodyPr/>
                    <a:p>
                      <a:pPr indent="0" algn="ctr" fontAlgn="auto">
                        <a:lnSpc>
                          <a:spcPct val="100000"/>
                        </a:lnSpc>
                        <a:buNone/>
                      </a:pPr>
                      <a:r>
                        <a:rPr lang="en-US" sz="2200" b="0">
                          <a:solidFill>
                            <a:schemeClr val="tx1"/>
                          </a:solidFill>
                          <a:latin typeface="宋体" panose="02010600030101010101" pitchFamily="2" charset="-122"/>
                          <a:ea typeface="宋体" panose="02010600030101010101" pitchFamily="2" charset="-122"/>
                          <a:cs typeface="宋体" panose="02010600030101010101" pitchFamily="2" charset="-122"/>
                        </a:rPr>
                        <a:t>水平1</a:t>
                      </a:r>
                      <a:r>
                        <a:rPr lang="en-US" sz="2200" b="0">
                          <a:solidFill>
                            <a:srgbClr val="FF0000"/>
                          </a:solidFill>
                          <a:latin typeface="宋体" panose="02010600030101010101" pitchFamily="2" charset="-122"/>
                          <a:ea typeface="宋体" panose="02010600030101010101" pitchFamily="2" charset="-122"/>
                          <a:cs typeface="宋体" panose="02010600030101010101" pitchFamily="2" charset="-122"/>
                        </a:rPr>
                        <a:t>（0）</a:t>
                      </a:r>
                      <a:endParaRPr lang="en-US" altLang="en-US" sz="2200" b="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fontAlgn="auto">
                        <a:lnSpc>
                          <a:spcPct val="100000"/>
                        </a:lnSpc>
                        <a:buNone/>
                      </a:pPr>
                      <a:r>
                        <a:rPr lang="en-US" sz="2200" b="0">
                          <a:solidFill>
                            <a:schemeClr val="tx1"/>
                          </a:solidFill>
                          <a:latin typeface="宋体" panose="02010600030101010101" pitchFamily="2" charset="-122"/>
                          <a:ea typeface="宋体" panose="02010600030101010101" pitchFamily="2" charset="-122"/>
                          <a:cs typeface="宋体" panose="02010600030101010101" pitchFamily="2" charset="-122"/>
                        </a:rPr>
                        <a:t>应答与试题无关；或重复试题内容；或没有应答</a:t>
                      </a:r>
                      <a:endParaRPr lang="en-US" altLang="en-US" sz="2200" b="0">
                        <a:solidFill>
                          <a:schemeClr val="tx1"/>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5" name="文本框 4"/>
          <p:cNvSpPr txBox="1"/>
          <p:nvPr/>
        </p:nvSpPr>
        <p:spPr>
          <a:xfrm>
            <a:off x="147320" y="4348480"/>
            <a:ext cx="11880850" cy="2461260"/>
          </a:xfrm>
          <a:prstGeom prst="rect">
            <a:avLst/>
          </a:prstGeom>
          <a:noFill/>
        </p:spPr>
        <p:txBody>
          <a:bodyPr wrap="square" rtlCol="0">
            <a:spAutoFit/>
          </a:bodyPr>
          <a:p>
            <a:pPr algn="l" fontAlgn="ctr">
              <a:lnSpc>
                <a:spcPct val="100000"/>
              </a:lnSpc>
              <a:buNone/>
            </a:pPr>
            <a:r>
              <a:rPr lang="zh-CN" altLang="en-US" sz="2200" b="1">
                <a:solidFill>
                  <a:srgbClr val="000000"/>
                </a:solidFill>
                <a:latin typeface="黑体" panose="02010609060101010101" charset="-122"/>
                <a:ea typeface="黑体" panose="02010609060101010101" charset="-122"/>
                <a:cs typeface="黑体" panose="02010609060101010101" charset="-122"/>
                <a:sym typeface="+mn-ea"/>
              </a:rPr>
              <a:t>紧扣“守护湿地”展开。回应两个层次，一是对应“生态之美”；二是对应“文化根脉”。</a:t>
            </a:r>
            <a:endParaRPr lang="zh-CN" altLang="en-US" sz="2200" b="1" i="0">
              <a:solidFill>
                <a:srgbClr val="000000"/>
              </a:solidFill>
              <a:latin typeface="黑体" panose="02010609060101010101" charset="-122"/>
              <a:ea typeface="黑体" panose="02010609060101010101" charset="-122"/>
              <a:cs typeface="黑体" panose="02010609060101010101" charset="-122"/>
            </a:endParaRPr>
          </a:p>
          <a:p>
            <a:pPr algn="l" fontAlgn="ctr">
              <a:lnSpc>
                <a:spcPct val="100000"/>
              </a:lnSpc>
              <a:buNone/>
            </a:pPr>
            <a:r>
              <a:rPr lang="zh-CN" altLang="en-US" sz="2200" b="1">
                <a:solidFill>
                  <a:srgbClr val="000000"/>
                </a:solidFill>
                <a:latin typeface="黑体" panose="02010609060101010101" charset="-122"/>
                <a:ea typeface="黑体" panose="02010609060101010101" charset="-122"/>
                <a:cs typeface="黑体" panose="02010609060101010101" charset="-122"/>
                <a:sym typeface="+mn-ea"/>
              </a:rPr>
              <a:t>1、一共采3个点。3个点8分，2个点6分，1个点3分。上升到7-8分的水平4，需要</a:t>
            </a:r>
            <a:r>
              <a:rPr lang="zh-CN" altLang="en-US" sz="2200" b="1">
                <a:solidFill>
                  <a:srgbClr val="FF0000"/>
                </a:solidFill>
                <a:latin typeface="黑体" panose="02010609060101010101" charset="-122"/>
                <a:ea typeface="黑体" panose="02010609060101010101" charset="-122"/>
                <a:cs typeface="黑体" panose="02010609060101010101" charset="-122"/>
                <a:sym typeface="+mn-ea"/>
              </a:rPr>
              <a:t>哲学与文化双模块</a:t>
            </a:r>
            <a:r>
              <a:rPr lang="zh-CN" altLang="en-US" sz="2200" b="1">
                <a:solidFill>
                  <a:srgbClr val="000000"/>
                </a:solidFill>
                <a:latin typeface="黑体" panose="02010609060101010101" charset="-122"/>
                <a:ea typeface="黑体" panose="02010609060101010101" charset="-122"/>
                <a:cs typeface="黑体" panose="02010609060101010101" charset="-122"/>
                <a:sym typeface="+mn-ea"/>
              </a:rPr>
              <a:t>回应，要求逻辑清晰，理论与材料要匹配</a:t>
            </a:r>
            <a:br>
              <a:rPr lang="zh-CN" altLang="en-US" sz="2200" b="1">
                <a:solidFill>
                  <a:srgbClr val="000000"/>
                </a:solidFill>
                <a:latin typeface="黑体" panose="02010609060101010101" charset="-122"/>
                <a:ea typeface="黑体" panose="02010609060101010101" charset="-122"/>
                <a:cs typeface="黑体" panose="02010609060101010101" charset="-122"/>
                <a:sym typeface="+mn-ea"/>
              </a:rPr>
            </a:br>
            <a:r>
              <a:rPr lang="en-US" altLang="zh-CN" sz="2200" b="1">
                <a:solidFill>
                  <a:srgbClr val="000000"/>
                </a:solidFill>
                <a:latin typeface="黑体" panose="02010609060101010101" charset="-122"/>
                <a:ea typeface="黑体" panose="02010609060101010101" charset="-122"/>
                <a:cs typeface="黑体" panose="02010609060101010101" charset="-122"/>
                <a:sym typeface="+mn-ea"/>
              </a:rPr>
              <a:t>2</a:t>
            </a:r>
            <a:r>
              <a:rPr lang="zh-CN" altLang="en-US" sz="2200" b="1">
                <a:solidFill>
                  <a:srgbClr val="000000"/>
                </a:solidFill>
                <a:latin typeface="黑体" panose="02010609060101010101" charset="-122"/>
                <a:ea typeface="黑体" panose="02010609060101010101" charset="-122"/>
                <a:cs typeface="黑体" panose="02010609060101010101" charset="-122"/>
                <a:sym typeface="+mn-ea"/>
              </a:rPr>
              <a:t>、原理不准确该条不给原理分，材料结合不具体不充分，酌情扣1分</a:t>
            </a:r>
            <a:br>
              <a:rPr lang="zh-CN" altLang="en-US" sz="2200" b="1">
                <a:solidFill>
                  <a:srgbClr val="000000"/>
                </a:solidFill>
                <a:latin typeface="黑体" panose="02010609060101010101" charset="-122"/>
                <a:ea typeface="黑体" panose="02010609060101010101" charset="-122"/>
                <a:cs typeface="黑体" panose="02010609060101010101" charset="-122"/>
                <a:sym typeface="+mn-ea"/>
              </a:rPr>
            </a:br>
            <a:r>
              <a:rPr lang="zh-CN" altLang="en-US" sz="2200" b="1">
                <a:solidFill>
                  <a:srgbClr val="000000"/>
                </a:solidFill>
                <a:latin typeface="黑体" panose="02010609060101010101" charset="-122"/>
                <a:ea typeface="黑体" panose="02010609060101010101" charset="-122"/>
                <a:cs typeface="黑体" panose="02010609060101010101" charset="-122"/>
                <a:sym typeface="+mn-ea"/>
              </a:rPr>
              <a:t>3、通篇罗列知识没有结合材料，每个原理给1分，最多不超过3分</a:t>
            </a:r>
            <a:br>
              <a:rPr lang="zh-CN" altLang="en-US" sz="2200" b="1">
                <a:solidFill>
                  <a:srgbClr val="000000"/>
                </a:solidFill>
                <a:latin typeface="黑体" panose="02010609060101010101" charset="-122"/>
                <a:ea typeface="黑体" panose="02010609060101010101" charset="-122"/>
                <a:cs typeface="黑体" panose="02010609060101010101" charset="-122"/>
                <a:sym typeface="+mn-ea"/>
              </a:rPr>
            </a:br>
            <a:r>
              <a:rPr lang="zh-CN" altLang="en-US" sz="2200" b="1">
                <a:solidFill>
                  <a:srgbClr val="000000"/>
                </a:solidFill>
                <a:latin typeface="黑体" panose="02010609060101010101" charset="-122"/>
                <a:ea typeface="黑体" panose="02010609060101010101" charset="-122"/>
                <a:cs typeface="黑体" panose="02010609060101010101" charset="-122"/>
                <a:sym typeface="+mn-ea"/>
              </a:rPr>
              <a:t>4、抄材料0-2分</a:t>
            </a:r>
            <a:endParaRPr lang="zh-CN" altLang="en-US" sz="2200" b="1" i="0">
              <a:solidFill>
                <a:srgbClr val="000000"/>
              </a:solidFill>
              <a:latin typeface="黑体" panose="02010609060101010101" charset="-122"/>
              <a:ea typeface="黑体" panose="02010609060101010101" charset="-122"/>
              <a:cs typeface="黑体" panose="02010609060101010101" charset="-122"/>
            </a:endParaRPr>
          </a:p>
          <a:p>
            <a:pPr algn="l" fontAlgn="ctr"/>
            <a:r>
              <a:rPr lang="zh-CN" altLang="en-US" sz="2200" b="1">
                <a:solidFill>
                  <a:srgbClr val="000000"/>
                </a:solidFill>
                <a:latin typeface="黑体" panose="02010609060101010101" charset="-122"/>
                <a:ea typeface="黑体" panose="02010609060101010101" charset="-122"/>
                <a:cs typeface="黑体" panose="02010609060101010101" charset="-122"/>
                <a:sym typeface="+mn-ea"/>
              </a:rPr>
              <a:t>5、典型的不给分的答案：选必3</a:t>
            </a:r>
            <a:r>
              <a:rPr lang="zh-CN" altLang="en-US" sz="2200" b="1">
                <a:solidFill>
                  <a:srgbClr val="000000"/>
                </a:solidFill>
                <a:highlight>
                  <a:srgbClr val="FFFF00"/>
                </a:highlight>
                <a:latin typeface="黑体" panose="02010609060101010101" charset="-122"/>
                <a:ea typeface="黑体" panose="02010609060101010101" charset="-122"/>
                <a:cs typeface="黑体" panose="02010609060101010101" charset="-122"/>
                <a:sym typeface="+mn-ea"/>
              </a:rPr>
              <a:t>（科学、辩证、创新思维等）</a:t>
            </a:r>
            <a:endParaRPr lang="zh-CN" altLang="en-US" sz="2200" b="1">
              <a:solidFill>
                <a:srgbClr val="000000"/>
              </a:solidFill>
              <a:highlight>
                <a:srgbClr val="FFFF00"/>
              </a:highlight>
              <a:latin typeface="黑体" panose="02010609060101010101" charset="-122"/>
              <a:ea typeface="黑体" panose="02010609060101010101" charset="-122"/>
              <a:cs typeface="黑体" panose="02010609060101010101" charset="-122"/>
              <a:sym typeface="+mn-ea"/>
            </a:endParaRPr>
          </a:p>
        </p:txBody>
      </p:sp>
      <p:sp>
        <p:nvSpPr>
          <p:cNvPr id="39" name="标题 3"/>
          <p:cNvSpPr txBox="1"/>
          <p:nvPr/>
        </p:nvSpPr>
        <p:spPr>
          <a:xfrm>
            <a:off x="320674" y="-236"/>
            <a:ext cx="3070225" cy="750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二、变通答案</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387985" y="1009015"/>
            <a:ext cx="5535295" cy="460375"/>
          </a:xfrm>
          <a:prstGeom prst="rect">
            <a:avLst/>
          </a:prstGeom>
          <a:noFill/>
        </p:spPr>
        <p:txBody>
          <a:bodyPr wrap="square" rtlCol="0">
            <a:spAutoFit/>
          </a:bodyPr>
          <a:p>
            <a:r>
              <a:rPr lang="zh-CN" altLang="en-US" sz="2400" b="1">
                <a:solidFill>
                  <a:srgbClr val="FF0000"/>
                </a:solidFill>
                <a:latin typeface="黑体" panose="02010609060101010101" charset="-122"/>
                <a:ea typeface="黑体" panose="02010609060101010101" charset="-122"/>
              </a:rPr>
              <a:t>学生结合论述的区别度（哲学）：</a:t>
            </a:r>
            <a:endParaRPr lang="zh-CN" altLang="en-US" sz="2400" b="1">
              <a:solidFill>
                <a:srgbClr val="FF0000"/>
              </a:solidFill>
              <a:latin typeface="黑体" panose="02010609060101010101" charset="-122"/>
              <a:ea typeface="黑体" panose="02010609060101010101" charset="-122"/>
            </a:endParaRPr>
          </a:p>
        </p:txBody>
      </p:sp>
      <p:pic>
        <p:nvPicPr>
          <p:cNvPr id="7" name="图片 6"/>
          <p:cNvPicPr>
            <a:picLocks noChangeAspect="1"/>
          </p:cNvPicPr>
          <p:nvPr/>
        </p:nvPicPr>
        <p:blipFill>
          <a:blip r:embed="rId1"/>
          <a:srcRect t="30414" b="46478"/>
          <a:stretch>
            <a:fillRect/>
          </a:stretch>
        </p:blipFill>
        <p:spPr>
          <a:xfrm>
            <a:off x="342265" y="1884045"/>
            <a:ext cx="11308715" cy="1249680"/>
          </a:xfrm>
          <a:prstGeom prst="rect">
            <a:avLst/>
          </a:prstGeom>
        </p:spPr>
      </p:pic>
      <p:sp>
        <p:nvSpPr>
          <p:cNvPr id="8" name="矩形 7"/>
          <p:cNvSpPr/>
          <p:nvPr/>
        </p:nvSpPr>
        <p:spPr>
          <a:xfrm>
            <a:off x="245110" y="1835785"/>
            <a:ext cx="3870325" cy="686435"/>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p>
            <a:pPr algn="ctr"/>
            <a:endParaRPr lang="zh-CN" altLang="en-US"/>
          </a:p>
        </p:txBody>
      </p:sp>
      <p:sp>
        <p:nvSpPr>
          <p:cNvPr id="10" name="文本框 9"/>
          <p:cNvSpPr txBox="1"/>
          <p:nvPr/>
        </p:nvSpPr>
        <p:spPr>
          <a:xfrm>
            <a:off x="387985" y="1692275"/>
            <a:ext cx="3773170" cy="829945"/>
          </a:xfrm>
          <a:prstGeom prst="rect">
            <a:avLst/>
          </a:prstGeom>
          <a:noFill/>
        </p:spPr>
        <p:txBody>
          <a:bodyPr wrap="square" rtlCol="0">
            <a:spAutoFit/>
          </a:bodyPr>
          <a:p>
            <a:r>
              <a:rPr lang="en-US" altLang="zh-CN" sz="2400" b="1">
                <a:solidFill>
                  <a:srgbClr val="FF0000"/>
                </a:solidFill>
                <a:latin typeface="黑体" panose="02010609060101010101" charset="-122"/>
                <a:ea typeface="黑体" panose="02010609060101010101" charset="-122"/>
                <a:cs typeface="黑体" panose="02010609060101010101" charset="-122"/>
              </a:rPr>
              <a:t>1</a:t>
            </a:r>
            <a:r>
              <a:rPr lang="zh-CN" altLang="en-US" sz="2400" b="1">
                <a:solidFill>
                  <a:srgbClr val="FF0000"/>
                </a:solidFill>
                <a:latin typeface="黑体" panose="02010609060101010101" charset="-122"/>
                <a:ea typeface="黑体" panose="02010609060101010101" charset="-122"/>
                <a:cs typeface="黑体" panose="02010609060101010101" charset="-122"/>
              </a:rPr>
              <a:t>分，仅知识表达，无材料结合论述</a:t>
            </a:r>
            <a:endParaRPr lang="zh-CN" altLang="en-US" sz="2400" b="1">
              <a:solidFill>
                <a:srgbClr val="FF0000"/>
              </a:solidFill>
              <a:latin typeface="黑体" panose="02010609060101010101" charset="-122"/>
              <a:ea typeface="黑体" panose="02010609060101010101" charset="-122"/>
              <a:cs typeface="黑体" panose="02010609060101010101" charset="-122"/>
            </a:endParaRPr>
          </a:p>
        </p:txBody>
      </p:sp>
      <p:pic>
        <p:nvPicPr>
          <p:cNvPr id="2" name="图片 1"/>
          <p:cNvPicPr>
            <a:picLocks noChangeAspect="1"/>
          </p:cNvPicPr>
          <p:nvPr/>
        </p:nvPicPr>
        <p:blipFill>
          <a:blip r:embed="rId2"/>
          <a:stretch>
            <a:fillRect/>
          </a:stretch>
        </p:blipFill>
        <p:spPr>
          <a:xfrm>
            <a:off x="342265" y="4158615"/>
            <a:ext cx="11189970" cy="2092325"/>
          </a:xfrm>
          <a:prstGeom prst="rect">
            <a:avLst/>
          </a:prstGeom>
        </p:spPr>
      </p:pic>
      <p:cxnSp>
        <p:nvCxnSpPr>
          <p:cNvPr id="3" name="直接连接符 2"/>
          <p:cNvCxnSpPr/>
          <p:nvPr/>
        </p:nvCxnSpPr>
        <p:spPr>
          <a:xfrm>
            <a:off x="8448675" y="5544185"/>
            <a:ext cx="2985135" cy="2730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1436370" y="5571490"/>
            <a:ext cx="3284220" cy="2730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V="1">
            <a:off x="610870" y="6188075"/>
            <a:ext cx="6622415" cy="3556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7041515" y="4302125"/>
            <a:ext cx="3348990" cy="635000"/>
          </a:xfrm>
          <a:prstGeom prst="rect">
            <a:avLst/>
          </a:prstGeom>
          <a:noFill/>
          <a:ln w="38100">
            <a:solidFill>
              <a:schemeClr val="accent5">
                <a:lumMod val="7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矩形 10"/>
          <p:cNvSpPr/>
          <p:nvPr/>
        </p:nvSpPr>
        <p:spPr>
          <a:xfrm>
            <a:off x="5980430" y="4963795"/>
            <a:ext cx="2468880" cy="635000"/>
          </a:xfrm>
          <a:prstGeom prst="rect">
            <a:avLst/>
          </a:prstGeom>
          <a:noFill/>
          <a:ln w="38100">
            <a:solidFill>
              <a:schemeClr val="accent5">
                <a:lumMod val="7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文本框 11"/>
          <p:cNvSpPr txBox="1"/>
          <p:nvPr/>
        </p:nvSpPr>
        <p:spPr>
          <a:xfrm>
            <a:off x="387985" y="3386455"/>
            <a:ext cx="3773170" cy="460375"/>
          </a:xfrm>
          <a:prstGeom prst="rect">
            <a:avLst/>
          </a:prstGeom>
          <a:noFill/>
        </p:spPr>
        <p:txBody>
          <a:bodyPr wrap="square" rtlCol="0">
            <a:spAutoFit/>
          </a:bodyPr>
          <a:p>
            <a:r>
              <a:rPr lang="en-US" altLang="zh-CN" sz="2400" b="1">
                <a:solidFill>
                  <a:srgbClr val="FF0000"/>
                </a:solidFill>
                <a:latin typeface="黑体" panose="02010609060101010101" charset="-122"/>
                <a:ea typeface="黑体" panose="02010609060101010101" charset="-122"/>
                <a:cs typeface="黑体" panose="02010609060101010101" charset="-122"/>
              </a:rPr>
              <a:t>3</a:t>
            </a:r>
            <a:r>
              <a:rPr lang="zh-CN" altLang="en-US" sz="2400" b="1">
                <a:solidFill>
                  <a:srgbClr val="FF0000"/>
                </a:solidFill>
                <a:latin typeface="黑体" panose="02010609060101010101" charset="-122"/>
                <a:ea typeface="黑体" panose="02010609060101010101" charset="-122"/>
                <a:cs typeface="黑体" panose="02010609060101010101" charset="-122"/>
              </a:rPr>
              <a:t>分，知识准确，论证有效</a:t>
            </a:r>
            <a:endParaRPr lang="zh-CN" altLang="en-US" sz="2400" b="1">
              <a:solidFill>
                <a:srgbClr val="FF0000"/>
              </a:solidFill>
              <a:latin typeface="黑体" panose="02010609060101010101" charset="-122"/>
              <a:ea typeface="黑体" panose="02010609060101010101" charset="-122"/>
              <a:cs typeface="黑体" panose="02010609060101010101" charset="-122"/>
            </a:endParaRPr>
          </a:p>
        </p:txBody>
      </p:sp>
      <p:sp>
        <p:nvSpPr>
          <p:cNvPr id="13" name="标题 3"/>
          <p:cNvSpPr txBox="1"/>
          <p:nvPr/>
        </p:nvSpPr>
        <p:spPr>
          <a:xfrm>
            <a:off x="299720" y="117475"/>
            <a:ext cx="3070225" cy="750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三、典型示例</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l="6488" t="17492" r="2548" b="36116"/>
          <a:stretch>
            <a:fillRect/>
          </a:stretch>
        </p:blipFill>
        <p:spPr>
          <a:xfrm>
            <a:off x="294640" y="1245235"/>
            <a:ext cx="10042525" cy="2551430"/>
          </a:xfrm>
          <a:prstGeom prst="rect">
            <a:avLst/>
          </a:prstGeom>
        </p:spPr>
      </p:pic>
      <p:sp>
        <p:nvSpPr>
          <p:cNvPr id="4" name="文本框 3"/>
          <p:cNvSpPr txBox="1"/>
          <p:nvPr/>
        </p:nvSpPr>
        <p:spPr>
          <a:xfrm>
            <a:off x="147320" y="784860"/>
            <a:ext cx="9544050" cy="460375"/>
          </a:xfrm>
          <a:prstGeom prst="rect">
            <a:avLst/>
          </a:prstGeom>
          <a:noFill/>
        </p:spPr>
        <p:txBody>
          <a:bodyPr wrap="square" rtlCol="0">
            <a:spAutoFit/>
          </a:bodyPr>
          <a:p>
            <a:r>
              <a:rPr lang="zh-CN" altLang="en-US" sz="2400" b="1">
                <a:solidFill>
                  <a:srgbClr val="FF0000"/>
                </a:solidFill>
                <a:latin typeface="华文中宋" panose="02010600040101010101" charset="-122"/>
                <a:ea typeface="华文中宋" panose="02010600040101010101" charset="-122"/>
              </a:rPr>
              <a:t>学生结合论述的区别度（文化）：</a:t>
            </a:r>
            <a:r>
              <a:rPr lang="en-US" altLang="zh-CN" sz="2400" b="1">
                <a:solidFill>
                  <a:srgbClr val="FF0000"/>
                </a:solidFill>
                <a:latin typeface="华文中宋" panose="02010600040101010101" charset="-122"/>
                <a:ea typeface="华文中宋" panose="02010600040101010101" charset="-122"/>
              </a:rPr>
              <a:t>3</a:t>
            </a:r>
            <a:r>
              <a:rPr lang="zh-CN" altLang="en-US" sz="2400" b="1">
                <a:solidFill>
                  <a:srgbClr val="FF0000"/>
                </a:solidFill>
                <a:latin typeface="华文中宋" panose="02010600040101010101" charset="-122"/>
                <a:ea typeface="华文中宋" panose="02010600040101010101" charset="-122"/>
              </a:rPr>
              <a:t>分</a:t>
            </a:r>
            <a:endParaRPr lang="zh-CN" altLang="en-US" sz="2400" b="1">
              <a:solidFill>
                <a:srgbClr val="FF0000"/>
              </a:solidFill>
              <a:latin typeface="华文中宋" panose="02010600040101010101" charset="-122"/>
              <a:ea typeface="华文中宋" panose="02010600040101010101" charset="-122"/>
            </a:endParaRPr>
          </a:p>
        </p:txBody>
      </p:sp>
      <p:pic>
        <p:nvPicPr>
          <p:cNvPr id="3" name="图片 2"/>
          <p:cNvPicPr>
            <a:picLocks noChangeAspect="1"/>
          </p:cNvPicPr>
          <p:nvPr/>
        </p:nvPicPr>
        <p:blipFill>
          <a:blip r:embed="rId2"/>
          <a:stretch>
            <a:fillRect/>
          </a:stretch>
        </p:blipFill>
        <p:spPr>
          <a:xfrm>
            <a:off x="6036945" y="3507105"/>
            <a:ext cx="4300220" cy="1570355"/>
          </a:xfrm>
          <a:prstGeom prst="rect">
            <a:avLst/>
          </a:prstGeom>
        </p:spPr>
      </p:pic>
      <p:sp>
        <p:nvSpPr>
          <p:cNvPr id="10" name="文本框 9"/>
          <p:cNvSpPr txBox="1"/>
          <p:nvPr/>
        </p:nvSpPr>
        <p:spPr>
          <a:xfrm>
            <a:off x="6122035" y="3632835"/>
            <a:ext cx="5496560" cy="460375"/>
          </a:xfrm>
          <a:prstGeom prst="rect">
            <a:avLst/>
          </a:prstGeom>
          <a:noFill/>
        </p:spPr>
        <p:txBody>
          <a:bodyPr wrap="square" rtlCol="0">
            <a:spAutoFit/>
          </a:bodyPr>
          <a:p>
            <a:r>
              <a:rPr lang="zh-CN" altLang="en-US" sz="2400" b="1">
                <a:solidFill>
                  <a:srgbClr val="FF0000"/>
                </a:solidFill>
                <a:latin typeface="华文中宋" panose="02010600040101010101" charset="-122"/>
                <a:ea typeface="华文中宋" panose="02010600040101010101" charset="-122"/>
                <a:cs typeface="华文中宋" panose="02010600040101010101" charset="-122"/>
              </a:rPr>
              <a:t>文化层次论证清晰，表达有效</a:t>
            </a:r>
            <a:endParaRPr lang="zh-CN" altLang="en-US" sz="2400" b="1">
              <a:solidFill>
                <a:srgbClr val="FF0000"/>
              </a:solidFill>
              <a:latin typeface="华文中宋" panose="02010600040101010101" charset="-122"/>
              <a:ea typeface="华文中宋" panose="02010600040101010101" charset="-122"/>
              <a:cs typeface="华文中宋" panose="02010600040101010101" charset="-122"/>
            </a:endParaRPr>
          </a:p>
        </p:txBody>
      </p:sp>
      <p:pic>
        <p:nvPicPr>
          <p:cNvPr id="5" name="图片 4"/>
          <p:cNvPicPr>
            <a:picLocks noChangeAspect="1"/>
          </p:cNvPicPr>
          <p:nvPr/>
        </p:nvPicPr>
        <p:blipFill>
          <a:blip r:embed="rId3"/>
          <a:srcRect b="56863"/>
          <a:stretch>
            <a:fillRect/>
          </a:stretch>
        </p:blipFill>
        <p:spPr>
          <a:xfrm>
            <a:off x="294640" y="4322445"/>
            <a:ext cx="10111740" cy="192278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l="6488" t="17492" r="2548" b="36116"/>
          <a:stretch>
            <a:fillRect/>
          </a:stretch>
        </p:blipFill>
        <p:spPr>
          <a:xfrm>
            <a:off x="294640" y="1245235"/>
            <a:ext cx="10042525" cy="2551430"/>
          </a:xfrm>
          <a:prstGeom prst="rect">
            <a:avLst/>
          </a:prstGeom>
        </p:spPr>
      </p:pic>
      <p:sp>
        <p:nvSpPr>
          <p:cNvPr id="4" name="文本框 3"/>
          <p:cNvSpPr txBox="1"/>
          <p:nvPr/>
        </p:nvSpPr>
        <p:spPr>
          <a:xfrm>
            <a:off x="147320" y="784860"/>
            <a:ext cx="9544050" cy="460375"/>
          </a:xfrm>
          <a:prstGeom prst="rect">
            <a:avLst/>
          </a:prstGeom>
          <a:noFill/>
        </p:spPr>
        <p:txBody>
          <a:bodyPr wrap="square" rtlCol="0">
            <a:spAutoFit/>
          </a:bodyPr>
          <a:p>
            <a:r>
              <a:rPr lang="zh-CN" altLang="en-US" sz="2400" b="1">
                <a:solidFill>
                  <a:srgbClr val="FF0000"/>
                </a:solidFill>
                <a:latin typeface="华文中宋" panose="02010600040101010101" charset="-122"/>
                <a:ea typeface="华文中宋" panose="02010600040101010101" charset="-122"/>
              </a:rPr>
              <a:t>学生结合论述的区别度（文化）：</a:t>
            </a:r>
            <a:endParaRPr lang="zh-CN" altLang="en-US" sz="2400" b="1">
              <a:solidFill>
                <a:srgbClr val="FF0000"/>
              </a:solidFill>
              <a:latin typeface="华文中宋" panose="02010600040101010101" charset="-122"/>
              <a:ea typeface="华文中宋" panose="02010600040101010101" charset="-122"/>
            </a:endParaRPr>
          </a:p>
        </p:txBody>
      </p:sp>
      <p:pic>
        <p:nvPicPr>
          <p:cNvPr id="3" name="图片 2"/>
          <p:cNvPicPr>
            <a:picLocks noChangeAspect="1"/>
          </p:cNvPicPr>
          <p:nvPr/>
        </p:nvPicPr>
        <p:blipFill>
          <a:blip r:embed="rId2"/>
          <a:stretch>
            <a:fillRect/>
          </a:stretch>
        </p:blipFill>
        <p:spPr>
          <a:xfrm>
            <a:off x="6036945" y="3507105"/>
            <a:ext cx="4300220" cy="1570355"/>
          </a:xfrm>
          <a:prstGeom prst="rect">
            <a:avLst/>
          </a:prstGeom>
        </p:spPr>
      </p:pic>
      <p:sp>
        <p:nvSpPr>
          <p:cNvPr id="10" name="文本框 9"/>
          <p:cNvSpPr txBox="1"/>
          <p:nvPr/>
        </p:nvSpPr>
        <p:spPr>
          <a:xfrm>
            <a:off x="6122035" y="3632835"/>
            <a:ext cx="5496560" cy="460375"/>
          </a:xfrm>
          <a:prstGeom prst="rect">
            <a:avLst/>
          </a:prstGeom>
          <a:noFill/>
        </p:spPr>
        <p:txBody>
          <a:bodyPr wrap="square" rtlCol="0">
            <a:spAutoFit/>
          </a:bodyPr>
          <a:p>
            <a:r>
              <a:rPr lang="en-US" altLang="zh-CN" sz="2400" b="1">
                <a:solidFill>
                  <a:srgbClr val="FF0000"/>
                </a:solidFill>
                <a:latin typeface="华文中宋" panose="02010600040101010101" charset="-122"/>
                <a:ea typeface="华文中宋" panose="02010600040101010101" charset="-122"/>
                <a:sym typeface="+mn-ea"/>
              </a:rPr>
              <a:t>3</a:t>
            </a:r>
            <a:r>
              <a:rPr lang="zh-CN" altLang="en-US" sz="2400" b="1">
                <a:solidFill>
                  <a:srgbClr val="FF0000"/>
                </a:solidFill>
                <a:latin typeface="华文中宋" panose="02010600040101010101" charset="-122"/>
                <a:ea typeface="华文中宋" panose="02010600040101010101" charset="-122"/>
                <a:sym typeface="+mn-ea"/>
              </a:rPr>
              <a:t>分，</a:t>
            </a:r>
            <a:r>
              <a:rPr lang="zh-CN" altLang="en-US" sz="2400" b="1">
                <a:solidFill>
                  <a:srgbClr val="FF0000"/>
                </a:solidFill>
                <a:latin typeface="华文中宋" panose="02010600040101010101" charset="-122"/>
                <a:ea typeface="华文中宋" panose="02010600040101010101" charset="-122"/>
                <a:cs typeface="华文中宋" panose="02010600040101010101" charset="-122"/>
              </a:rPr>
              <a:t>文化层次论证清晰，表达有效</a:t>
            </a:r>
            <a:endParaRPr lang="zh-CN" altLang="en-US" sz="2400" b="1">
              <a:solidFill>
                <a:srgbClr val="FF0000"/>
              </a:solidFill>
              <a:latin typeface="华文中宋" panose="02010600040101010101" charset="-122"/>
              <a:ea typeface="华文中宋" panose="02010600040101010101" charset="-122"/>
              <a:cs typeface="华文中宋" panose="02010600040101010101" charset="-122"/>
            </a:endParaRPr>
          </a:p>
        </p:txBody>
      </p:sp>
      <p:pic>
        <p:nvPicPr>
          <p:cNvPr id="6" name="图片 5" descr="26110106103381"/>
          <p:cNvPicPr>
            <a:picLocks noChangeAspect="1"/>
          </p:cNvPicPr>
          <p:nvPr/>
        </p:nvPicPr>
        <p:blipFill>
          <a:blip r:embed="rId3"/>
          <a:srcRect t="64755" b="4406"/>
          <a:stretch>
            <a:fillRect/>
          </a:stretch>
        </p:blipFill>
        <p:spPr>
          <a:xfrm>
            <a:off x="0" y="4181475"/>
            <a:ext cx="12192000" cy="1840230"/>
          </a:xfrm>
          <a:prstGeom prst="rect">
            <a:avLst/>
          </a:prstGeom>
        </p:spPr>
      </p:pic>
      <p:sp>
        <p:nvSpPr>
          <p:cNvPr id="7" name="文本框 6"/>
          <p:cNvSpPr txBox="1"/>
          <p:nvPr/>
        </p:nvSpPr>
        <p:spPr>
          <a:xfrm>
            <a:off x="294640" y="6163945"/>
            <a:ext cx="7936230" cy="460375"/>
          </a:xfrm>
          <a:prstGeom prst="rect">
            <a:avLst/>
          </a:prstGeom>
          <a:noFill/>
        </p:spPr>
        <p:txBody>
          <a:bodyPr wrap="square" rtlCol="0">
            <a:spAutoFit/>
          </a:bodyPr>
          <a:p>
            <a:r>
              <a:rPr lang="en-US" altLang="zh-CN" sz="2400" b="1">
                <a:solidFill>
                  <a:srgbClr val="FF0000"/>
                </a:solidFill>
                <a:latin typeface="华文中宋" panose="02010600040101010101" charset="-122"/>
                <a:ea typeface="华文中宋" panose="02010600040101010101" charset="-122"/>
                <a:sym typeface="+mn-ea"/>
              </a:rPr>
              <a:t>2</a:t>
            </a:r>
            <a:r>
              <a:rPr lang="zh-CN" altLang="en-US" sz="2400" b="1">
                <a:solidFill>
                  <a:srgbClr val="FF0000"/>
                </a:solidFill>
                <a:latin typeface="华文中宋" panose="02010600040101010101" charset="-122"/>
                <a:ea typeface="华文中宋" panose="02010600040101010101" charset="-122"/>
                <a:sym typeface="+mn-ea"/>
              </a:rPr>
              <a:t>分，未具体阐明清楚湿地背后承载的生态智慧</a:t>
            </a:r>
            <a:endParaRPr lang="zh-CN" altLang="en-US" sz="2400" b="1">
              <a:solidFill>
                <a:srgbClr val="FF0000"/>
              </a:solidFill>
              <a:latin typeface="华文中宋" panose="02010600040101010101" charset="-122"/>
              <a:ea typeface="华文中宋" panose="02010600040101010101" charset="-122"/>
              <a:cs typeface="华文中宋" panose="02010600040101010101"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99060" y="6329680"/>
            <a:ext cx="5967730" cy="460375"/>
          </a:xfrm>
          <a:prstGeom prst="rect">
            <a:avLst/>
          </a:prstGeom>
          <a:noFill/>
        </p:spPr>
        <p:txBody>
          <a:bodyPr wrap="none" rtlCol="0" anchor="t">
            <a:spAutoFit/>
          </a:bodyPr>
          <a:p>
            <a:r>
              <a:rPr lang="zh-CN" altLang="en-US" sz="2400" b="1">
                <a:solidFill>
                  <a:srgbClr val="FF0000"/>
                </a:solidFill>
                <a:latin typeface="华文楷体" panose="02010600040101010101" charset="-122"/>
                <a:ea typeface="华文楷体" panose="02010600040101010101" charset="-122"/>
                <a:cs typeface="华文楷体" panose="02010600040101010101" charset="-122"/>
                <a:sym typeface="+mn-ea"/>
              </a:rPr>
              <a:t>通篇罗列知识为主，材料结合仅</a:t>
            </a:r>
            <a:r>
              <a:rPr lang="en-US" altLang="zh-CN" sz="2400" b="1">
                <a:solidFill>
                  <a:srgbClr val="FF0000"/>
                </a:solidFill>
                <a:latin typeface="华文楷体" panose="02010600040101010101" charset="-122"/>
                <a:ea typeface="华文楷体" panose="02010600040101010101" charset="-122"/>
                <a:cs typeface="华文楷体" panose="02010600040101010101" charset="-122"/>
                <a:sym typeface="+mn-ea"/>
              </a:rPr>
              <a:t>1</a:t>
            </a:r>
            <a:r>
              <a:rPr lang="zh-CN" altLang="en-US" sz="2400" b="1">
                <a:solidFill>
                  <a:srgbClr val="FF0000"/>
                </a:solidFill>
                <a:latin typeface="华文楷体" panose="02010600040101010101" charset="-122"/>
                <a:ea typeface="华文楷体" panose="02010600040101010101" charset="-122"/>
                <a:cs typeface="华文楷体" panose="02010600040101010101" charset="-122"/>
                <a:sym typeface="+mn-ea"/>
              </a:rPr>
              <a:t>、</a:t>
            </a:r>
            <a:r>
              <a:rPr lang="en-US" altLang="zh-CN" sz="2400" b="1">
                <a:solidFill>
                  <a:srgbClr val="FF0000"/>
                </a:solidFill>
                <a:latin typeface="华文楷体" panose="02010600040101010101" charset="-122"/>
                <a:ea typeface="华文楷体" panose="02010600040101010101" charset="-122"/>
                <a:cs typeface="华文楷体" panose="02010600040101010101" charset="-122"/>
                <a:sym typeface="+mn-ea"/>
              </a:rPr>
              <a:t>2</a:t>
            </a:r>
            <a:r>
              <a:rPr lang="zh-CN" altLang="en-US" sz="2400" b="1">
                <a:solidFill>
                  <a:srgbClr val="FF0000"/>
                </a:solidFill>
                <a:latin typeface="华文楷体" panose="02010600040101010101" charset="-122"/>
                <a:ea typeface="华文楷体" panose="02010600040101010101" charset="-122"/>
                <a:cs typeface="华文楷体" panose="02010600040101010101" charset="-122"/>
                <a:sym typeface="+mn-ea"/>
              </a:rPr>
              <a:t>句带过</a:t>
            </a:r>
            <a:endParaRPr lang="zh-CN" altLang="en-US" sz="2400"/>
          </a:p>
        </p:txBody>
      </p:sp>
      <p:pic>
        <p:nvPicPr>
          <p:cNvPr id="2" name="图片 1" descr="26110106101820"/>
          <p:cNvPicPr>
            <a:picLocks noChangeAspect="1"/>
          </p:cNvPicPr>
          <p:nvPr/>
        </p:nvPicPr>
        <p:blipFill>
          <a:blip r:embed="rId1"/>
          <a:srcRect t="4754"/>
          <a:stretch>
            <a:fillRect/>
          </a:stretch>
        </p:blipFill>
        <p:spPr>
          <a:xfrm>
            <a:off x="99060" y="1087755"/>
            <a:ext cx="11231245" cy="5241925"/>
          </a:xfrm>
          <a:prstGeom prst="rect">
            <a:avLst/>
          </a:prstGeom>
        </p:spPr>
      </p:pic>
      <p:sp>
        <p:nvSpPr>
          <p:cNvPr id="3" name="矩形 2"/>
          <p:cNvSpPr/>
          <p:nvPr/>
        </p:nvSpPr>
        <p:spPr>
          <a:xfrm>
            <a:off x="3319145" y="1818640"/>
            <a:ext cx="4899025" cy="635000"/>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矩形 5"/>
          <p:cNvSpPr/>
          <p:nvPr/>
        </p:nvSpPr>
        <p:spPr>
          <a:xfrm>
            <a:off x="1313815" y="2453640"/>
            <a:ext cx="9715500" cy="635000"/>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矩形 6"/>
          <p:cNvSpPr/>
          <p:nvPr/>
        </p:nvSpPr>
        <p:spPr>
          <a:xfrm>
            <a:off x="796925" y="3088640"/>
            <a:ext cx="7647940" cy="635000"/>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矩形 7"/>
          <p:cNvSpPr/>
          <p:nvPr/>
        </p:nvSpPr>
        <p:spPr>
          <a:xfrm>
            <a:off x="3934460" y="3692525"/>
            <a:ext cx="7150100" cy="635000"/>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矩形 8"/>
          <p:cNvSpPr/>
          <p:nvPr/>
        </p:nvSpPr>
        <p:spPr>
          <a:xfrm>
            <a:off x="6175375" y="4358640"/>
            <a:ext cx="4909820" cy="635000"/>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矩形 9"/>
          <p:cNvSpPr/>
          <p:nvPr/>
        </p:nvSpPr>
        <p:spPr>
          <a:xfrm>
            <a:off x="342265" y="4993640"/>
            <a:ext cx="10742930" cy="635000"/>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文本框 19"/>
          <p:cNvSpPr txBox="1"/>
          <p:nvPr/>
        </p:nvSpPr>
        <p:spPr>
          <a:xfrm>
            <a:off x="272415" y="246380"/>
            <a:ext cx="3950970" cy="462280"/>
          </a:xfrm>
          <a:prstGeom prst="rect">
            <a:avLst/>
          </a:prstGeom>
          <a:solidFill>
            <a:schemeClr val="accent1">
              <a:lumMod val="20000"/>
              <a:lumOff val="80000"/>
            </a:schemeClr>
          </a:solidFill>
          <a:ln>
            <a:solidFill>
              <a:srgbClr val="FF0000"/>
            </a:solidFill>
          </a:ln>
        </p:spPr>
        <p:txBody>
          <a:bodyPr wrap="square" rtlCol="0">
            <a:noAutofit/>
          </a:bodyPr>
          <a:p>
            <a:pPr algn="l">
              <a:lnSpc>
                <a:spcPct val="100000"/>
              </a:lnSpc>
            </a:pPr>
            <a:r>
              <a:rPr lang="zh-CN" altLang="en-US" sz="2400">
                <a:latin typeface="华文中宋" panose="02010600040101010101" charset="-122"/>
                <a:ea typeface="华文中宋" panose="02010600040101010101" charset="-122"/>
                <a:cs typeface="黑体" panose="02010609060101010101" charset="-122"/>
              </a:rPr>
              <a:t>典型错误</a:t>
            </a:r>
            <a:r>
              <a:rPr lang="en-US" altLang="zh-CN" sz="2400">
                <a:latin typeface="华文中宋" panose="02010600040101010101" charset="-122"/>
                <a:ea typeface="华文中宋" panose="02010600040101010101" charset="-122"/>
                <a:cs typeface="黑体" panose="02010609060101010101" charset="-122"/>
              </a:rPr>
              <a:t>1</a:t>
            </a:r>
            <a:endParaRPr lang="en-US" altLang="zh-CN" sz="2400">
              <a:latin typeface="华文中宋" panose="02010600040101010101" charset="-122"/>
              <a:ea typeface="华文中宋" panose="02010600040101010101" charset="-122"/>
              <a:cs typeface="黑体" panose="02010609060101010101"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353695" y="6047740"/>
            <a:ext cx="2626360" cy="460375"/>
          </a:xfrm>
          <a:prstGeom prst="rect">
            <a:avLst/>
          </a:prstGeom>
          <a:noFill/>
        </p:spPr>
        <p:txBody>
          <a:bodyPr wrap="none" rtlCol="0" anchor="t">
            <a:spAutoFit/>
          </a:bodyPr>
          <a:p>
            <a:r>
              <a:rPr lang="zh-CN" altLang="en-US" sz="2400" b="1">
                <a:solidFill>
                  <a:srgbClr val="FF0000"/>
                </a:solidFill>
                <a:latin typeface="华文楷体" panose="02010600040101010101" charset="-122"/>
                <a:ea typeface="华文楷体" panose="02010600040101010101" charset="-122"/>
                <a:cs typeface="华文楷体" panose="02010600040101010101" charset="-122"/>
              </a:rPr>
              <a:t>理例结合分析不够</a:t>
            </a:r>
            <a:endParaRPr lang="zh-CN" altLang="en-US" sz="2400" b="1">
              <a:solidFill>
                <a:srgbClr val="FF0000"/>
              </a:solidFill>
              <a:latin typeface="华文楷体" panose="02010600040101010101" charset="-122"/>
              <a:ea typeface="华文楷体" panose="02010600040101010101" charset="-122"/>
              <a:cs typeface="华文楷体" panose="02010600040101010101" charset="-122"/>
            </a:endParaRPr>
          </a:p>
        </p:txBody>
      </p:sp>
      <p:sp>
        <p:nvSpPr>
          <p:cNvPr id="20" name="文本框 19"/>
          <p:cNvSpPr txBox="1"/>
          <p:nvPr/>
        </p:nvSpPr>
        <p:spPr>
          <a:xfrm>
            <a:off x="272415" y="246380"/>
            <a:ext cx="3950970" cy="462280"/>
          </a:xfrm>
          <a:prstGeom prst="rect">
            <a:avLst/>
          </a:prstGeom>
          <a:solidFill>
            <a:schemeClr val="accent1">
              <a:lumMod val="20000"/>
              <a:lumOff val="80000"/>
            </a:schemeClr>
          </a:solidFill>
          <a:ln>
            <a:solidFill>
              <a:srgbClr val="FF0000"/>
            </a:solidFill>
          </a:ln>
        </p:spPr>
        <p:txBody>
          <a:bodyPr wrap="square" rtlCol="0">
            <a:noAutofit/>
          </a:bodyPr>
          <a:p>
            <a:pPr algn="l">
              <a:lnSpc>
                <a:spcPct val="100000"/>
              </a:lnSpc>
            </a:pPr>
            <a:r>
              <a:rPr lang="zh-CN" altLang="en-US" sz="2400">
                <a:latin typeface="华文中宋" panose="02010600040101010101" charset="-122"/>
                <a:ea typeface="华文中宋" panose="02010600040101010101" charset="-122"/>
                <a:cs typeface="黑体" panose="02010609060101010101" charset="-122"/>
              </a:rPr>
              <a:t>典型错误</a:t>
            </a:r>
            <a:r>
              <a:rPr lang="en-US" altLang="zh-CN" sz="2400">
                <a:latin typeface="华文中宋" panose="02010600040101010101" charset="-122"/>
                <a:ea typeface="华文中宋" panose="02010600040101010101" charset="-122"/>
                <a:cs typeface="黑体" panose="02010609060101010101" charset="-122"/>
              </a:rPr>
              <a:t>2</a:t>
            </a:r>
            <a:endParaRPr lang="en-US" altLang="zh-CN" sz="2400">
              <a:latin typeface="华文中宋" panose="02010600040101010101" charset="-122"/>
              <a:ea typeface="华文中宋" panose="02010600040101010101" charset="-122"/>
              <a:cs typeface="黑体" panose="02010609060101010101" charset="-122"/>
            </a:endParaRPr>
          </a:p>
        </p:txBody>
      </p:sp>
      <p:pic>
        <p:nvPicPr>
          <p:cNvPr id="4" name="图片 3"/>
          <p:cNvPicPr>
            <a:picLocks noChangeAspect="1"/>
          </p:cNvPicPr>
          <p:nvPr/>
        </p:nvPicPr>
        <p:blipFill>
          <a:blip r:embed="rId1"/>
          <a:srcRect l="-627" t="6216" b="12134"/>
          <a:stretch>
            <a:fillRect/>
          </a:stretch>
        </p:blipFill>
        <p:spPr>
          <a:xfrm>
            <a:off x="176530" y="1282065"/>
            <a:ext cx="11726545" cy="4695825"/>
          </a:xfrm>
          <a:prstGeom prst="rect">
            <a:avLst/>
          </a:prstGeom>
        </p:spPr>
      </p:pic>
      <p:sp>
        <p:nvSpPr>
          <p:cNvPr id="11" name="文本框 10"/>
          <p:cNvSpPr txBox="1"/>
          <p:nvPr/>
        </p:nvSpPr>
        <p:spPr>
          <a:xfrm>
            <a:off x="10496550" y="1007745"/>
            <a:ext cx="1406525" cy="460375"/>
          </a:xfrm>
          <a:prstGeom prst="rect">
            <a:avLst/>
          </a:prstGeom>
          <a:noFill/>
        </p:spPr>
        <p:txBody>
          <a:bodyPr wrap="square" rtlCol="0">
            <a:spAutoFit/>
          </a:bodyPr>
          <a:p>
            <a:r>
              <a:rPr lang="en-US" altLang="zh-CN" sz="2400" b="1">
                <a:solidFill>
                  <a:srgbClr val="FF0000"/>
                </a:solidFill>
                <a:latin typeface="华文中宋" panose="02010600040101010101" charset="-122"/>
                <a:ea typeface="华文中宋" panose="02010600040101010101" charset="-122"/>
                <a:cs typeface="华文中宋" panose="02010600040101010101" charset="-122"/>
              </a:rPr>
              <a:t>4</a:t>
            </a:r>
            <a:r>
              <a:rPr lang="zh-CN" altLang="en-US" sz="2400" b="1">
                <a:solidFill>
                  <a:srgbClr val="FF0000"/>
                </a:solidFill>
                <a:latin typeface="华文中宋" panose="02010600040101010101" charset="-122"/>
                <a:ea typeface="华文中宋" panose="02010600040101010101" charset="-122"/>
                <a:cs typeface="华文中宋" panose="02010600040101010101" charset="-122"/>
              </a:rPr>
              <a:t>分</a:t>
            </a:r>
            <a:endParaRPr lang="zh-CN" altLang="en-US" sz="2400" b="1">
              <a:solidFill>
                <a:srgbClr val="FF0000"/>
              </a:solidFill>
              <a:latin typeface="华文中宋" panose="02010600040101010101" charset="-122"/>
              <a:ea typeface="华文中宋" panose="02010600040101010101" charset="-122"/>
              <a:cs typeface="华文中宋" panose="02010600040101010101"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descr="26110106100444"/>
          <p:cNvPicPr>
            <a:picLocks noChangeAspect="1"/>
          </p:cNvPicPr>
          <p:nvPr/>
        </p:nvPicPr>
        <p:blipFill>
          <a:blip r:embed="rId1"/>
          <a:srcRect t="6030" b="3338"/>
          <a:stretch>
            <a:fillRect/>
          </a:stretch>
        </p:blipFill>
        <p:spPr>
          <a:xfrm>
            <a:off x="0" y="1282065"/>
            <a:ext cx="11784965" cy="5430520"/>
          </a:xfrm>
          <a:prstGeom prst="rect">
            <a:avLst/>
          </a:prstGeom>
        </p:spPr>
      </p:pic>
      <p:sp>
        <p:nvSpPr>
          <p:cNvPr id="20" name="文本框 19"/>
          <p:cNvSpPr txBox="1"/>
          <p:nvPr/>
        </p:nvSpPr>
        <p:spPr>
          <a:xfrm>
            <a:off x="264795" y="182245"/>
            <a:ext cx="2355850" cy="462280"/>
          </a:xfrm>
          <a:prstGeom prst="rect">
            <a:avLst/>
          </a:prstGeom>
          <a:solidFill>
            <a:schemeClr val="accent1">
              <a:lumMod val="20000"/>
              <a:lumOff val="80000"/>
            </a:schemeClr>
          </a:solidFill>
          <a:ln>
            <a:solidFill>
              <a:srgbClr val="FF0000"/>
            </a:solidFill>
          </a:ln>
        </p:spPr>
        <p:txBody>
          <a:bodyPr wrap="square" rtlCol="0">
            <a:noAutofit/>
          </a:bodyPr>
          <a:p>
            <a:pPr algn="l">
              <a:lnSpc>
                <a:spcPct val="100000"/>
              </a:lnSpc>
            </a:pPr>
            <a:r>
              <a:rPr lang="zh-CN" altLang="en-US" sz="2400">
                <a:latin typeface="华文中宋" panose="02010600040101010101" charset="-122"/>
                <a:ea typeface="华文中宋" panose="02010600040101010101" charset="-122"/>
                <a:cs typeface="黑体" panose="02010609060101010101" charset="-122"/>
              </a:rPr>
              <a:t>优秀作答</a:t>
            </a:r>
            <a:endParaRPr lang="zh-CN" altLang="en-US" sz="2400">
              <a:latin typeface="华文中宋" panose="02010600040101010101" charset="-122"/>
              <a:ea typeface="华文中宋" panose="02010600040101010101" charset="-122"/>
              <a:cs typeface="黑体" panose="02010609060101010101" charset="-122"/>
            </a:endParaRPr>
          </a:p>
        </p:txBody>
      </p:sp>
      <p:sp>
        <p:nvSpPr>
          <p:cNvPr id="10" name="文本框 9"/>
          <p:cNvSpPr txBox="1"/>
          <p:nvPr/>
        </p:nvSpPr>
        <p:spPr>
          <a:xfrm>
            <a:off x="1042035" y="6109335"/>
            <a:ext cx="5496560" cy="460375"/>
          </a:xfrm>
          <a:prstGeom prst="rect">
            <a:avLst/>
          </a:prstGeom>
          <a:noFill/>
        </p:spPr>
        <p:txBody>
          <a:bodyPr wrap="square" rtlCol="0">
            <a:spAutoFit/>
          </a:bodyPr>
          <a:p>
            <a:r>
              <a:rPr lang="zh-CN" altLang="en-US" sz="2400" b="1">
                <a:solidFill>
                  <a:srgbClr val="FF0000"/>
                </a:solidFill>
                <a:latin typeface="华文中宋" panose="02010600040101010101" charset="-122"/>
                <a:ea typeface="华文中宋" panose="02010600040101010101" charset="-122"/>
                <a:cs typeface="华文中宋" panose="02010600040101010101" charset="-122"/>
              </a:rPr>
              <a:t>逻辑完整，路径清晰</a:t>
            </a:r>
            <a:endParaRPr lang="zh-CN" altLang="en-US" sz="2400" b="1">
              <a:solidFill>
                <a:srgbClr val="FF0000"/>
              </a:solidFill>
              <a:latin typeface="华文中宋" panose="02010600040101010101" charset="-122"/>
              <a:ea typeface="华文中宋" panose="02010600040101010101" charset="-122"/>
              <a:cs typeface="华文中宋" panose="02010600040101010101"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rcRect t="4560"/>
          <a:stretch>
            <a:fillRect/>
          </a:stretch>
        </p:blipFill>
        <p:spPr>
          <a:xfrm>
            <a:off x="264795" y="1243330"/>
            <a:ext cx="10957560" cy="5143500"/>
          </a:xfrm>
          <a:prstGeom prst="rect">
            <a:avLst/>
          </a:prstGeom>
        </p:spPr>
      </p:pic>
      <p:sp>
        <p:nvSpPr>
          <p:cNvPr id="20" name="文本框 19"/>
          <p:cNvSpPr txBox="1"/>
          <p:nvPr/>
        </p:nvSpPr>
        <p:spPr>
          <a:xfrm>
            <a:off x="264795" y="182245"/>
            <a:ext cx="2355850" cy="462280"/>
          </a:xfrm>
          <a:prstGeom prst="rect">
            <a:avLst/>
          </a:prstGeom>
          <a:solidFill>
            <a:schemeClr val="accent1">
              <a:lumMod val="20000"/>
              <a:lumOff val="80000"/>
            </a:schemeClr>
          </a:solidFill>
          <a:ln>
            <a:solidFill>
              <a:srgbClr val="FF0000"/>
            </a:solidFill>
          </a:ln>
        </p:spPr>
        <p:txBody>
          <a:bodyPr wrap="square" rtlCol="0">
            <a:noAutofit/>
          </a:bodyPr>
          <a:p>
            <a:pPr algn="l">
              <a:lnSpc>
                <a:spcPct val="100000"/>
              </a:lnSpc>
            </a:pPr>
            <a:r>
              <a:rPr lang="zh-CN" altLang="en-US" sz="2400">
                <a:latin typeface="华文中宋" panose="02010600040101010101" charset="-122"/>
                <a:ea typeface="华文中宋" panose="02010600040101010101" charset="-122"/>
                <a:cs typeface="黑体" panose="02010609060101010101" charset="-122"/>
              </a:rPr>
              <a:t>优秀作答</a:t>
            </a:r>
            <a:endParaRPr lang="zh-CN" altLang="en-US" sz="2400">
              <a:latin typeface="华文中宋" panose="02010600040101010101" charset="-122"/>
              <a:ea typeface="华文中宋" panose="02010600040101010101" charset="-122"/>
              <a:cs typeface="黑体" panose="02010609060101010101" charset="-122"/>
            </a:endParaRPr>
          </a:p>
        </p:txBody>
      </p:sp>
      <p:sp>
        <p:nvSpPr>
          <p:cNvPr id="6" name="文本框 5"/>
          <p:cNvSpPr txBox="1"/>
          <p:nvPr/>
        </p:nvSpPr>
        <p:spPr>
          <a:xfrm>
            <a:off x="10196195" y="902970"/>
            <a:ext cx="1406525" cy="460375"/>
          </a:xfrm>
          <a:prstGeom prst="rect">
            <a:avLst/>
          </a:prstGeom>
          <a:noFill/>
        </p:spPr>
        <p:txBody>
          <a:bodyPr wrap="square" rtlCol="0">
            <a:spAutoFit/>
          </a:bodyPr>
          <a:p>
            <a:r>
              <a:rPr lang="en-US" altLang="zh-CN" sz="2400" b="1">
                <a:solidFill>
                  <a:srgbClr val="FF0000"/>
                </a:solidFill>
                <a:latin typeface="华文中宋" panose="02010600040101010101" charset="-122"/>
                <a:ea typeface="华文中宋" panose="02010600040101010101" charset="-122"/>
                <a:cs typeface="华文中宋" panose="02010600040101010101" charset="-122"/>
              </a:rPr>
              <a:t>8</a:t>
            </a:r>
            <a:r>
              <a:rPr lang="zh-CN" altLang="en-US" sz="2400" b="1">
                <a:solidFill>
                  <a:srgbClr val="FF0000"/>
                </a:solidFill>
                <a:latin typeface="华文中宋" panose="02010600040101010101" charset="-122"/>
                <a:ea typeface="华文中宋" panose="02010600040101010101" charset="-122"/>
                <a:cs typeface="华文中宋" panose="02010600040101010101" charset="-122"/>
              </a:rPr>
              <a:t>分</a:t>
            </a:r>
            <a:endParaRPr lang="zh-CN" altLang="en-US" sz="2400" b="1">
              <a:solidFill>
                <a:srgbClr val="FF0000"/>
              </a:solidFill>
              <a:latin typeface="华文中宋" panose="02010600040101010101" charset="-122"/>
              <a:ea typeface="华文中宋" panose="02010600040101010101" charset="-122"/>
              <a:cs typeface="华文中宋" panose="02010600040101010101"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507365" y="1129030"/>
            <a:ext cx="11130915" cy="2306955"/>
          </a:xfrm>
          <a:prstGeom prst="rect">
            <a:avLst/>
          </a:prstGeom>
          <a:noFill/>
          <a:ln>
            <a:solidFill>
              <a:srgbClr val="C00000"/>
            </a:solidFill>
            <a:prstDash val="dashDot"/>
          </a:ln>
        </p:spPr>
        <p:txBody>
          <a:bodyPr wrap="square" rtlCol="0">
            <a:spAutoFit/>
          </a:bodyPr>
          <a:p>
            <a:pPr fontAlgn="auto">
              <a:lnSpc>
                <a:spcPct val="200000"/>
              </a:lnSpc>
            </a:pPr>
            <a:r>
              <a:rPr lang="zh-CN" altLang="en-US" sz="2400">
                <a:latin typeface="黑体" panose="02010609060101010101" charset="-122"/>
                <a:ea typeface="黑体" panose="02010609060101010101" charset="-122"/>
                <a:cs typeface="黑体" panose="02010609060101010101" charset="-122"/>
              </a:rPr>
              <a:t>1、引导学生审读设问和材料逻辑，紧扣问题回应。</a:t>
            </a:r>
            <a:endParaRPr lang="zh-CN" altLang="en-US" sz="2400">
              <a:latin typeface="黑体" panose="02010609060101010101" charset="-122"/>
              <a:ea typeface="黑体" panose="02010609060101010101" charset="-122"/>
              <a:cs typeface="黑体" panose="02010609060101010101" charset="-122"/>
            </a:endParaRPr>
          </a:p>
          <a:p>
            <a:pPr fontAlgn="auto">
              <a:lnSpc>
                <a:spcPct val="200000"/>
              </a:lnSpc>
            </a:pPr>
            <a:r>
              <a:rPr lang="en-US" altLang="zh-CN" sz="2400">
                <a:latin typeface="黑体" panose="02010609060101010101" charset="-122"/>
                <a:ea typeface="黑体" panose="02010609060101010101" charset="-122"/>
                <a:cs typeface="黑体" panose="02010609060101010101" charset="-122"/>
              </a:rPr>
              <a:t>2</a:t>
            </a:r>
            <a:r>
              <a:rPr lang="zh-CN" altLang="en-US" sz="2400">
                <a:latin typeface="黑体" panose="02010609060101010101" charset="-122"/>
                <a:ea typeface="黑体" panose="02010609060101010101" charset="-122"/>
                <a:cs typeface="黑体" panose="02010609060101010101" charset="-122"/>
              </a:rPr>
              <a:t>、</a:t>
            </a:r>
            <a:r>
              <a:rPr lang="zh-CN" altLang="en-US" sz="2400">
                <a:latin typeface="黑体" panose="02010609060101010101" charset="-122"/>
                <a:ea typeface="黑体" panose="02010609060101010101" charset="-122"/>
                <a:cs typeface="黑体" panose="02010609060101010101" charset="-122"/>
                <a:sym typeface="+mn-ea"/>
              </a:rPr>
              <a:t>训练</a:t>
            </a:r>
            <a:r>
              <a:rPr lang="zh-CN" altLang="en-US" sz="2400">
                <a:latin typeface="黑体" panose="02010609060101010101" charset="-122"/>
                <a:ea typeface="黑体" panose="02010609060101010101" charset="-122"/>
                <a:cs typeface="黑体" panose="02010609060101010101" charset="-122"/>
              </a:rPr>
              <a:t>哲学原理的精准化表达，理论结合分析，</a:t>
            </a:r>
            <a:r>
              <a:rPr lang="zh-CN" altLang="en-US" sz="2400">
                <a:latin typeface="黑体" panose="02010609060101010101" charset="-122"/>
                <a:ea typeface="黑体" panose="02010609060101010101" charset="-122"/>
                <a:cs typeface="黑体" panose="02010609060101010101" charset="-122"/>
                <a:sym typeface="+mn-ea"/>
              </a:rPr>
              <a:t>加强材料关键信息的提取能力。</a:t>
            </a:r>
            <a:endParaRPr lang="zh-CN" altLang="en-US" sz="2400">
              <a:latin typeface="黑体" panose="02010609060101010101" charset="-122"/>
              <a:ea typeface="黑体" panose="02010609060101010101" charset="-122"/>
              <a:cs typeface="黑体" panose="02010609060101010101" charset="-122"/>
              <a:sym typeface="+mn-ea"/>
            </a:endParaRPr>
          </a:p>
          <a:p>
            <a:pPr fontAlgn="auto">
              <a:lnSpc>
                <a:spcPct val="200000"/>
              </a:lnSpc>
            </a:pPr>
            <a:r>
              <a:rPr lang="en-US" altLang="zh-CN" sz="2400">
                <a:latin typeface="黑体" panose="02010609060101010101" charset="-122"/>
                <a:ea typeface="黑体" panose="02010609060101010101" charset="-122"/>
                <a:cs typeface="黑体" panose="02010609060101010101" charset="-122"/>
              </a:rPr>
              <a:t>3</a:t>
            </a:r>
            <a:r>
              <a:rPr lang="zh-CN" altLang="en-US" sz="2400">
                <a:latin typeface="黑体" panose="02010609060101010101" charset="-122"/>
                <a:ea typeface="黑体" panose="02010609060101010101" charset="-122"/>
                <a:cs typeface="黑体" panose="02010609060101010101" charset="-122"/>
              </a:rPr>
              <a:t>、提醒</a:t>
            </a:r>
            <a:r>
              <a:rPr lang="zh-CN" altLang="en-US" sz="2400">
                <a:latin typeface="黑体" panose="02010609060101010101" charset="-122"/>
                <a:ea typeface="黑体" panose="02010609060101010101" charset="-122"/>
                <a:cs typeface="黑体" panose="02010609060101010101" charset="-122"/>
                <a:sym typeface="+mn-ea"/>
              </a:rPr>
              <a:t>区分</a:t>
            </a:r>
            <a:r>
              <a:rPr lang="zh-CN" altLang="en-US" sz="2400">
                <a:latin typeface="黑体" panose="02010609060101010101" charset="-122"/>
                <a:ea typeface="黑体" panose="02010609060101010101" charset="-122"/>
                <a:cs typeface="黑体" panose="02010609060101010101" charset="-122"/>
              </a:rPr>
              <a:t>哲学方法论与选必</a:t>
            </a:r>
            <a:r>
              <a:rPr lang="en-US" altLang="zh-CN" sz="2400">
                <a:latin typeface="黑体" panose="02010609060101010101" charset="-122"/>
                <a:ea typeface="黑体" panose="02010609060101010101" charset="-122"/>
                <a:cs typeface="黑体" panose="02010609060101010101" charset="-122"/>
              </a:rPr>
              <a:t>3</a:t>
            </a:r>
            <a:r>
              <a:rPr lang="zh-CN" altLang="en-US" sz="2400">
                <a:latin typeface="黑体" panose="02010609060101010101" charset="-122"/>
                <a:ea typeface="黑体" panose="02010609060101010101" charset="-122"/>
                <a:cs typeface="黑体" panose="02010609060101010101" charset="-122"/>
              </a:rPr>
              <a:t>模块思维方法的表达。</a:t>
            </a:r>
            <a:endParaRPr lang="zh-CN" altLang="en-US" sz="2400">
              <a:latin typeface="黑体" panose="02010609060101010101" charset="-122"/>
              <a:ea typeface="黑体" panose="02010609060101010101" charset="-122"/>
              <a:cs typeface="黑体" panose="02010609060101010101" charset="-122"/>
            </a:endParaRPr>
          </a:p>
        </p:txBody>
      </p:sp>
      <p:sp>
        <p:nvSpPr>
          <p:cNvPr id="8" name="标题 3"/>
          <p:cNvSpPr txBox="1"/>
          <p:nvPr/>
        </p:nvSpPr>
        <p:spPr>
          <a:xfrm>
            <a:off x="288925" y="0"/>
            <a:ext cx="4175760" cy="750570"/>
          </a:xfrm>
          <a:prstGeom prst="rect">
            <a:avLst/>
          </a:prstGeom>
        </p:spPr>
        <p:txBody>
          <a:bodyPr vert="horz" lIns="91440" tIns="45720" rIns="91440" bIns="4572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四、学生问题及建议</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615315" y="1117918"/>
            <a:ext cx="5080000" cy="460375"/>
          </a:xfrm>
          <a:prstGeom prst="rect">
            <a:avLst/>
          </a:prstGeom>
          <a:noFill/>
          <a:ln w="9525">
            <a:noFill/>
          </a:ln>
        </p:spPr>
        <p:txBody>
          <a:bodyPr>
            <a:spAutoFit/>
          </a:bodyPr>
          <a:p>
            <a:pPr indent="0"/>
            <a:r>
              <a:rPr lang="zh-CN" sz="2400" b="1">
                <a:solidFill>
                  <a:schemeClr val="tx1"/>
                </a:solidFill>
                <a:latin typeface="黑体" panose="02010609060101010101" charset="-122"/>
                <a:ea typeface="黑体" panose="02010609060101010101" charset="-122"/>
                <a:cs typeface="黑体" panose="02010609060101010101" charset="-122"/>
              </a:rPr>
              <a:t>（202</a:t>
            </a:r>
            <a:r>
              <a:rPr lang="en-US" altLang="zh-CN" sz="2400" b="1">
                <a:solidFill>
                  <a:schemeClr val="tx1"/>
                </a:solidFill>
                <a:latin typeface="黑体" panose="02010609060101010101" charset="-122"/>
                <a:ea typeface="黑体" panose="02010609060101010101" charset="-122"/>
                <a:cs typeface="黑体" panose="02010609060101010101" charset="-122"/>
              </a:rPr>
              <a:t>2</a:t>
            </a:r>
            <a:r>
              <a:rPr lang="zh-CN" sz="2400" b="1">
                <a:solidFill>
                  <a:schemeClr val="tx1"/>
                </a:solidFill>
                <a:latin typeface="黑体" panose="02010609060101010101" charset="-122"/>
                <a:ea typeface="黑体" panose="02010609060101010101" charset="-122"/>
                <a:cs typeface="黑体" panose="02010609060101010101" charset="-122"/>
              </a:rPr>
              <a:t>·北京·高考真题）</a:t>
            </a:r>
            <a:endParaRPr lang="zh-CN" altLang="en-US" sz="2400" b="1">
              <a:solidFill>
                <a:schemeClr val="tx1"/>
              </a:solidFill>
              <a:latin typeface="黑体" panose="02010609060101010101" charset="-122"/>
              <a:ea typeface="黑体" panose="02010609060101010101" charset="-122"/>
              <a:cs typeface="黑体" panose="02010609060101010101" charset="-122"/>
            </a:endParaRPr>
          </a:p>
        </p:txBody>
      </p:sp>
      <p:sp>
        <p:nvSpPr>
          <p:cNvPr id="101" name="文本框 100"/>
          <p:cNvSpPr txBox="1"/>
          <p:nvPr/>
        </p:nvSpPr>
        <p:spPr>
          <a:xfrm>
            <a:off x="295275" y="1578610"/>
            <a:ext cx="8573770" cy="3415030"/>
          </a:xfrm>
          <a:prstGeom prst="rect">
            <a:avLst/>
          </a:prstGeom>
          <a:noFill/>
          <a:ln w="9525">
            <a:noFill/>
          </a:ln>
        </p:spPr>
        <p:txBody>
          <a:bodyPr wrap="square">
            <a:spAutoFit/>
          </a:bodyPr>
          <a:p>
            <a:pPr marL="0" indent="266700" algn="just" fontAlgn="auto">
              <a:lnSpc>
                <a:spcPct val="150000"/>
              </a:lnSpc>
            </a:pPr>
            <a:r>
              <a:rPr lang="en-US" altLang="zh-CN" sz="2400" b="1">
                <a:latin typeface="楷体" panose="02010609060101010101" charset="-122"/>
                <a:ea typeface="楷体" panose="02010609060101010101" charset="-122"/>
                <a:cs typeface="楷体" panose="02010609060101010101" charset="-122"/>
              </a:rPr>
              <a:t>  16. </a:t>
            </a:r>
            <a:r>
              <a:rPr lang="zh-CN" altLang="en-US" sz="2400" b="1">
                <a:latin typeface="楷体" panose="02010609060101010101" charset="-122"/>
                <a:ea typeface="楷体" panose="02010609060101010101" charset="-122"/>
                <a:cs typeface="楷体" panose="02010609060101010101" charset="-122"/>
              </a:rPr>
              <a:t>（</a:t>
            </a:r>
            <a:r>
              <a:rPr lang="en-US" altLang="zh-CN" sz="2400" b="1">
                <a:latin typeface="楷体" panose="02010609060101010101" charset="-122"/>
                <a:ea typeface="楷体" panose="02010609060101010101" charset="-122"/>
                <a:cs typeface="楷体" panose="02010609060101010101" charset="-122"/>
              </a:rPr>
              <a:t>6</a:t>
            </a:r>
            <a:r>
              <a:rPr lang="zh-CN" altLang="en-US" sz="2400" b="1">
                <a:latin typeface="楷体" panose="02010609060101010101" charset="-122"/>
                <a:ea typeface="楷体" panose="02010609060101010101" charset="-122"/>
                <a:cs typeface="楷体" panose="02010609060101010101" charset="-122"/>
              </a:rPr>
              <a:t>分）</a:t>
            </a:r>
            <a:r>
              <a:rPr lang="zh-CN" sz="2400" b="1">
                <a:latin typeface="楷体" panose="02010609060101010101" charset="-122"/>
                <a:ea typeface="楷体" panose="02010609060101010101" charset="-122"/>
                <a:cs typeface="楷体" panose="02010609060101010101" charset="-122"/>
              </a:rPr>
              <a:t>今天，很多创作已不在纸上进行。然而，打印出来的文字，很难像手稿那样展现作者的笔底波澜。手稿是时间的证物，也是文化的传递，一些手稿还兼具学术价值和收藏价值。即使在数字时代，手稿依然有生命力。</a:t>
            </a:r>
            <a:endParaRPr lang="zh-CN" sz="2400" b="1">
              <a:latin typeface="楷体" panose="02010609060101010101" charset="-122"/>
              <a:ea typeface="楷体" panose="02010609060101010101" charset="-122"/>
              <a:cs typeface="楷体" panose="02010609060101010101" charset="-122"/>
            </a:endParaRPr>
          </a:p>
          <a:p>
            <a:pPr marL="0" indent="266700" algn="just" fontAlgn="auto">
              <a:lnSpc>
                <a:spcPct val="150000"/>
              </a:lnSpc>
            </a:pPr>
            <a:r>
              <a:rPr lang="en-US" altLang="zh-CN" sz="2400" b="1"/>
              <a:t>    </a:t>
            </a:r>
            <a:r>
              <a:rPr lang="zh-CN" sz="2400" b="1"/>
              <a:t>运用《哲学与文化》知识，谈谈你对“手稿依然有生命力”的理解。</a:t>
            </a:r>
            <a:endParaRPr lang="zh-CN" sz="2400" b="1"/>
          </a:p>
        </p:txBody>
      </p:sp>
      <p:pic>
        <p:nvPicPr>
          <p:cNvPr id="5" name="图片 4"/>
          <p:cNvPicPr>
            <a:picLocks noChangeAspect="1"/>
          </p:cNvPicPr>
          <p:nvPr/>
        </p:nvPicPr>
        <p:blipFill>
          <a:blip r:embed="rId1"/>
          <a:stretch>
            <a:fillRect/>
          </a:stretch>
        </p:blipFill>
        <p:spPr>
          <a:xfrm>
            <a:off x="8869045" y="1295400"/>
            <a:ext cx="2671445" cy="3757930"/>
          </a:xfrm>
          <a:prstGeom prst="rect">
            <a:avLst/>
          </a:prstGeom>
        </p:spPr>
      </p:pic>
      <p:sp>
        <p:nvSpPr>
          <p:cNvPr id="8" name="标题 3"/>
          <p:cNvSpPr txBox="1"/>
          <p:nvPr/>
        </p:nvSpPr>
        <p:spPr>
          <a:xfrm>
            <a:off x="288925" y="0"/>
            <a:ext cx="4175760" cy="750570"/>
          </a:xfrm>
          <a:prstGeom prst="rect">
            <a:avLst/>
          </a:prstGeom>
        </p:spPr>
        <p:txBody>
          <a:bodyPr vert="horz" lIns="91440" tIns="45720" rIns="91440" bIns="4572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五、复练试题</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3"/>
          <p:cNvSpPr txBox="1"/>
          <p:nvPr/>
        </p:nvSpPr>
        <p:spPr>
          <a:xfrm>
            <a:off x="40642" y="261303"/>
            <a:ext cx="3070225" cy="750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一、试题分析</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pic>
        <p:nvPicPr>
          <p:cNvPr id="6" name="图片 5"/>
          <p:cNvPicPr>
            <a:picLocks noChangeAspect="1"/>
          </p:cNvPicPr>
          <p:nvPr/>
        </p:nvPicPr>
        <p:blipFill>
          <a:blip r:embed="rId1"/>
          <a:stretch>
            <a:fillRect/>
          </a:stretch>
        </p:blipFill>
        <p:spPr>
          <a:xfrm>
            <a:off x="320675" y="1404620"/>
            <a:ext cx="6640830" cy="4451985"/>
          </a:xfrm>
          <a:prstGeom prst="rect">
            <a:avLst/>
          </a:prstGeom>
        </p:spPr>
      </p:pic>
      <p:grpSp>
        <p:nvGrpSpPr>
          <p:cNvPr id="7" name="组合 6"/>
          <p:cNvGrpSpPr/>
          <p:nvPr>
            <p:custDataLst>
              <p:tags r:id="rId2"/>
            </p:custDataLst>
          </p:nvPr>
        </p:nvGrpSpPr>
        <p:grpSpPr>
          <a:xfrm>
            <a:off x="7466330" y="2272665"/>
            <a:ext cx="4533265" cy="821690"/>
            <a:chOff x="11803" y="3189"/>
            <a:chExt cx="7139" cy="1294"/>
          </a:xfrm>
        </p:grpSpPr>
        <p:sp>
          <p:nvSpPr>
            <p:cNvPr id="9" name="左箭头 12"/>
            <p:cNvSpPr/>
            <p:nvPr>
              <p:custDataLst>
                <p:tags r:id="rId3"/>
              </p:custDataLst>
            </p:nvPr>
          </p:nvSpPr>
          <p:spPr>
            <a:xfrm flipH="1">
              <a:off x="11803" y="3629"/>
              <a:ext cx="837" cy="41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9060101010101" charset="-122"/>
                <a:ea typeface="黑体" panose="02010609060101010101" charset="-122"/>
              </a:endParaRPr>
            </a:p>
          </p:txBody>
        </p:sp>
        <p:sp>
          <p:nvSpPr>
            <p:cNvPr id="10" name="矩形 9"/>
            <p:cNvSpPr/>
            <p:nvPr>
              <p:custDataLst>
                <p:tags r:id="rId4"/>
              </p:custDataLst>
            </p:nvPr>
          </p:nvSpPr>
          <p:spPr>
            <a:xfrm>
              <a:off x="13074" y="3189"/>
              <a:ext cx="5869" cy="129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a:effectLst>
                    <a:outerShdw blurRad="38100" dist="38100" dir="2700000" algn="tl">
                      <a:srgbClr val="000000">
                        <a:alpha val="43137"/>
                      </a:srgbClr>
                    </a:outerShdw>
                  </a:effectLst>
                  <a:latin typeface="黑体" panose="02010609060101010101" charset="-122"/>
                  <a:ea typeface="黑体" panose="02010609060101010101" charset="-122"/>
                </a:rPr>
                <a:t>坚持以人为本，</a:t>
              </a:r>
              <a:endParaRPr lang="zh-CN" altLang="en-US" sz="2400" b="1">
                <a:effectLst>
                  <a:outerShdw blurRad="38100" dist="38100" dir="2700000" algn="tl">
                    <a:srgbClr val="000000">
                      <a:alpha val="43137"/>
                    </a:srgbClr>
                  </a:outerShdw>
                </a:effectLst>
                <a:latin typeface="黑体" panose="02010609060101010101" charset="-122"/>
                <a:ea typeface="黑体" panose="02010609060101010101" charset="-122"/>
              </a:endParaRPr>
            </a:p>
            <a:p>
              <a:pPr algn="ctr"/>
              <a:r>
                <a:rPr lang="zh-CN" altLang="en-US" sz="2400" b="1">
                  <a:effectLst>
                    <a:outerShdw blurRad="38100" dist="38100" dir="2700000" algn="tl">
                      <a:srgbClr val="000000">
                        <a:alpha val="43137"/>
                      </a:srgbClr>
                    </a:outerShdw>
                  </a:effectLst>
                  <a:latin typeface="黑体" panose="02010609060101010101" charset="-122"/>
                  <a:ea typeface="黑体" panose="02010609060101010101" charset="-122"/>
                </a:rPr>
                <a:t>明确城市治理的根本立场</a:t>
              </a:r>
              <a:endParaRPr lang="en-US" altLang="zh-CN" sz="2400" b="1">
                <a:effectLst>
                  <a:outerShdw blurRad="38100" dist="38100" dir="2700000" algn="tl">
                    <a:srgbClr val="000000">
                      <a:alpha val="43137"/>
                    </a:srgbClr>
                  </a:outerShdw>
                </a:effectLst>
                <a:latin typeface="黑体" panose="02010609060101010101" charset="-122"/>
                <a:ea typeface="黑体" panose="02010609060101010101" charset="-122"/>
              </a:endParaRPr>
            </a:p>
          </p:txBody>
        </p:sp>
      </p:grpSp>
      <p:grpSp>
        <p:nvGrpSpPr>
          <p:cNvPr id="11" name="组合 10"/>
          <p:cNvGrpSpPr/>
          <p:nvPr>
            <p:custDataLst>
              <p:tags r:id="rId5"/>
            </p:custDataLst>
          </p:nvPr>
        </p:nvGrpSpPr>
        <p:grpSpPr>
          <a:xfrm>
            <a:off x="7466330" y="3314700"/>
            <a:ext cx="4533265" cy="821690"/>
            <a:chOff x="11803" y="4610"/>
            <a:chExt cx="7139" cy="1294"/>
          </a:xfrm>
        </p:grpSpPr>
        <p:sp>
          <p:nvSpPr>
            <p:cNvPr id="13" name="左箭头 2"/>
            <p:cNvSpPr/>
            <p:nvPr>
              <p:custDataLst>
                <p:tags r:id="rId6"/>
              </p:custDataLst>
            </p:nvPr>
          </p:nvSpPr>
          <p:spPr>
            <a:xfrm flipH="1">
              <a:off x="11803" y="5050"/>
              <a:ext cx="837" cy="41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9060101010101" charset="-122"/>
                <a:ea typeface="黑体" panose="02010609060101010101" charset="-122"/>
              </a:endParaRPr>
            </a:p>
          </p:txBody>
        </p:sp>
        <p:sp>
          <p:nvSpPr>
            <p:cNvPr id="14" name="矩形 13"/>
            <p:cNvSpPr/>
            <p:nvPr>
              <p:custDataLst>
                <p:tags r:id="rId7"/>
              </p:custDataLst>
            </p:nvPr>
          </p:nvSpPr>
          <p:spPr>
            <a:xfrm>
              <a:off x="13074" y="4610"/>
              <a:ext cx="5869" cy="129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a:effectLst>
                    <a:outerShdw blurRad="38100" dist="38100" dir="2700000" algn="tl">
                      <a:srgbClr val="000000">
                        <a:alpha val="43137"/>
                      </a:srgbClr>
                    </a:outerShdw>
                  </a:effectLst>
                  <a:latin typeface="黑体" panose="02010609060101010101" charset="-122"/>
                  <a:ea typeface="黑体" panose="02010609060101010101" charset="-122"/>
                </a:rPr>
                <a:t>运用法治思维，</a:t>
              </a:r>
              <a:endParaRPr lang="zh-CN" altLang="en-US" sz="2400" b="1">
                <a:effectLst>
                  <a:outerShdw blurRad="38100" dist="38100" dir="2700000" algn="tl">
                    <a:srgbClr val="000000">
                      <a:alpha val="43137"/>
                    </a:srgbClr>
                  </a:outerShdw>
                </a:effectLst>
                <a:latin typeface="黑体" panose="02010609060101010101" charset="-122"/>
                <a:ea typeface="黑体" panose="02010609060101010101" charset="-122"/>
              </a:endParaRPr>
            </a:p>
            <a:p>
              <a:pPr algn="ctr"/>
              <a:r>
                <a:rPr lang="zh-CN" altLang="en-US" sz="2400" b="1">
                  <a:effectLst>
                    <a:outerShdw blurRad="38100" dist="38100" dir="2700000" algn="tl">
                      <a:srgbClr val="000000">
                        <a:alpha val="43137"/>
                      </a:srgbClr>
                    </a:outerShdw>
                  </a:effectLst>
                  <a:latin typeface="黑体" panose="02010609060101010101" charset="-122"/>
                  <a:ea typeface="黑体" panose="02010609060101010101" charset="-122"/>
                </a:rPr>
                <a:t>提升城市治理的效能</a:t>
              </a:r>
              <a:endParaRPr lang="zh-CN" altLang="en-US" sz="2400" b="1">
                <a:effectLst>
                  <a:outerShdw blurRad="38100" dist="38100" dir="2700000" algn="tl">
                    <a:srgbClr val="000000">
                      <a:alpha val="43137"/>
                    </a:srgbClr>
                  </a:outerShdw>
                </a:effectLst>
                <a:latin typeface="黑体" panose="02010609060101010101" charset="-122"/>
                <a:ea typeface="黑体" panose="02010609060101010101" charset="-122"/>
              </a:endParaRPr>
            </a:p>
          </p:txBody>
        </p:sp>
      </p:grpSp>
      <p:grpSp>
        <p:nvGrpSpPr>
          <p:cNvPr id="15" name="组合 14"/>
          <p:cNvGrpSpPr/>
          <p:nvPr>
            <p:custDataLst>
              <p:tags r:id="rId8"/>
            </p:custDataLst>
          </p:nvPr>
        </p:nvGrpSpPr>
        <p:grpSpPr>
          <a:xfrm>
            <a:off x="7466330" y="4356735"/>
            <a:ext cx="4533265" cy="821690"/>
            <a:chOff x="11803" y="6471"/>
            <a:chExt cx="7139" cy="1294"/>
          </a:xfrm>
        </p:grpSpPr>
        <p:sp>
          <p:nvSpPr>
            <p:cNvPr id="16" name="左箭头 4"/>
            <p:cNvSpPr/>
            <p:nvPr>
              <p:custDataLst>
                <p:tags r:id="rId9"/>
              </p:custDataLst>
            </p:nvPr>
          </p:nvSpPr>
          <p:spPr>
            <a:xfrm flipH="1">
              <a:off x="11803" y="6911"/>
              <a:ext cx="837" cy="41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9060101010101" charset="-122"/>
                <a:ea typeface="黑体" panose="02010609060101010101" charset="-122"/>
              </a:endParaRPr>
            </a:p>
          </p:txBody>
        </p:sp>
        <p:sp>
          <p:nvSpPr>
            <p:cNvPr id="17" name="矩形 16"/>
            <p:cNvSpPr/>
            <p:nvPr>
              <p:custDataLst>
                <p:tags r:id="rId10"/>
              </p:custDataLst>
            </p:nvPr>
          </p:nvSpPr>
          <p:spPr>
            <a:xfrm>
              <a:off x="13074" y="6471"/>
              <a:ext cx="5869" cy="129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a:effectLst>
                    <a:outerShdw blurRad="38100" dist="38100" dir="2700000" algn="tl">
                      <a:srgbClr val="000000">
                        <a:alpha val="43137"/>
                      </a:srgbClr>
                    </a:outerShdw>
                  </a:effectLst>
                  <a:latin typeface="黑体" panose="02010609060101010101" charset="-122"/>
                  <a:ea typeface="黑体" panose="02010609060101010101" charset="-122"/>
                </a:rPr>
                <a:t>善用绣花功夫，</a:t>
              </a:r>
              <a:endParaRPr lang="zh-CN" altLang="en-US" sz="2400" b="1">
                <a:effectLst>
                  <a:outerShdw blurRad="38100" dist="38100" dir="2700000" algn="tl">
                    <a:srgbClr val="000000">
                      <a:alpha val="43137"/>
                    </a:srgbClr>
                  </a:outerShdw>
                </a:effectLst>
                <a:latin typeface="黑体" panose="02010609060101010101" charset="-122"/>
                <a:ea typeface="黑体" panose="02010609060101010101" charset="-122"/>
              </a:endParaRPr>
            </a:p>
            <a:p>
              <a:pPr algn="ctr"/>
              <a:r>
                <a:rPr lang="zh-CN" altLang="en-US" sz="2400" b="1">
                  <a:effectLst>
                    <a:outerShdw blurRad="38100" dist="38100" dir="2700000" algn="tl">
                      <a:srgbClr val="000000">
                        <a:alpha val="43137"/>
                      </a:srgbClr>
                    </a:outerShdw>
                  </a:effectLst>
                  <a:latin typeface="黑体" panose="02010609060101010101" charset="-122"/>
                  <a:ea typeface="黑体" panose="02010609060101010101" charset="-122"/>
                </a:rPr>
                <a:t>提升城市治理的效能</a:t>
              </a:r>
              <a:endParaRPr lang="zh-CN" altLang="en-US" sz="2400" b="1">
                <a:effectLst>
                  <a:outerShdw blurRad="38100" dist="38100" dir="2700000" algn="tl">
                    <a:srgbClr val="000000">
                      <a:alpha val="43137"/>
                    </a:srgbClr>
                  </a:outerShdw>
                </a:effectLst>
                <a:latin typeface="黑体" panose="02010609060101010101" charset="-122"/>
                <a:ea typeface="黑体" panose="02010609060101010101" charset="-122"/>
              </a:endParaRPr>
            </a:p>
          </p:txBody>
        </p:sp>
      </p:grpSp>
      <p:sp>
        <p:nvSpPr>
          <p:cNvPr id="18" name="矩形 17"/>
          <p:cNvSpPr/>
          <p:nvPr/>
        </p:nvSpPr>
        <p:spPr>
          <a:xfrm>
            <a:off x="2515235" y="5685155"/>
            <a:ext cx="1588135" cy="56007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effectLst>
                  <a:outerShdw blurRad="38100" dist="38100" dir="2700000" algn="tl">
                    <a:srgbClr val="000000">
                      <a:alpha val="43137"/>
                    </a:srgbClr>
                  </a:outerShdw>
                </a:effectLst>
                <a:latin typeface="黑体" panose="02010609060101010101" charset="-122"/>
                <a:ea typeface="黑体" panose="02010609060101010101" charset="-122"/>
              </a:rPr>
              <a:t>设问逻辑</a:t>
            </a:r>
            <a:endParaRPr lang="zh-CN" altLang="en-US" sz="2400" b="1" dirty="0">
              <a:effectLst>
                <a:outerShdw blurRad="38100" dist="38100" dir="2700000" algn="tl">
                  <a:srgbClr val="000000">
                    <a:alpha val="43137"/>
                  </a:srgbClr>
                </a:outerShdw>
              </a:effectLst>
              <a:latin typeface="黑体" panose="02010609060101010101" charset="-122"/>
              <a:ea typeface="黑体" panose="02010609060101010101" charset="-122"/>
            </a:endParaRPr>
          </a:p>
        </p:txBody>
      </p:sp>
      <p:sp>
        <p:nvSpPr>
          <p:cNvPr id="19" name="矩形 18"/>
          <p:cNvSpPr/>
          <p:nvPr/>
        </p:nvSpPr>
        <p:spPr>
          <a:xfrm>
            <a:off x="4103370" y="5296535"/>
            <a:ext cx="497205" cy="247015"/>
          </a:xfrm>
          <a:prstGeom prst="rect">
            <a:avLst/>
          </a:prstGeom>
          <a:noFill/>
          <a:ln w="28575">
            <a:solidFill>
              <a:schemeClr val="accent1">
                <a:lumMod val="75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黑体" panose="02010609060101010101" charset="-122"/>
              <a:ea typeface="黑体" panose="02010609060101010101" charset="-122"/>
            </a:endParaRPr>
          </a:p>
        </p:txBody>
      </p:sp>
      <p:sp>
        <p:nvSpPr>
          <p:cNvPr id="20" name="矩形 19"/>
          <p:cNvSpPr/>
          <p:nvPr/>
        </p:nvSpPr>
        <p:spPr>
          <a:xfrm>
            <a:off x="4517708" y="5270182"/>
            <a:ext cx="670560" cy="299720"/>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黑体" panose="02010609060101010101" charset="-122"/>
              <a:ea typeface="黑体" panose="02010609060101010101" charset="-122"/>
            </a:endParaRPr>
          </a:p>
        </p:txBody>
      </p:sp>
      <p:sp>
        <p:nvSpPr>
          <p:cNvPr id="21" name="矩形 20"/>
          <p:cNvSpPr/>
          <p:nvPr/>
        </p:nvSpPr>
        <p:spPr>
          <a:xfrm>
            <a:off x="5940267" y="5270182"/>
            <a:ext cx="1063468" cy="273368"/>
          </a:xfrm>
          <a:prstGeom prst="rect">
            <a:avLst/>
          </a:prstGeom>
          <a:noFill/>
          <a:ln w="28575">
            <a:solidFill>
              <a:schemeClr val="accent4">
                <a:lumMod val="75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黑体" panose="02010609060101010101" charset="-122"/>
              <a:ea typeface="黑体" panose="02010609060101010101" charset="-122"/>
            </a:endParaRPr>
          </a:p>
        </p:txBody>
      </p:sp>
      <p:sp>
        <p:nvSpPr>
          <p:cNvPr id="22" name="矩形 21"/>
          <p:cNvSpPr/>
          <p:nvPr/>
        </p:nvSpPr>
        <p:spPr>
          <a:xfrm>
            <a:off x="646588" y="5535295"/>
            <a:ext cx="1116648" cy="299720"/>
          </a:xfrm>
          <a:prstGeom prst="rect">
            <a:avLst/>
          </a:prstGeom>
          <a:noFill/>
          <a:ln w="28575">
            <a:solidFill>
              <a:schemeClr val="accent4">
                <a:lumMod val="75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黑体" panose="02010609060101010101" charset="-122"/>
              <a:ea typeface="黑体" panose="02010609060101010101" charset="-122"/>
            </a:endParaRPr>
          </a:p>
        </p:txBody>
      </p:sp>
      <p:sp>
        <p:nvSpPr>
          <p:cNvPr id="23" name="文本框 22"/>
          <p:cNvSpPr txBox="1"/>
          <p:nvPr/>
        </p:nvSpPr>
        <p:spPr>
          <a:xfrm>
            <a:off x="4415789" y="5965190"/>
            <a:ext cx="7061835" cy="369332"/>
          </a:xfrm>
          <a:prstGeom prst="rect">
            <a:avLst/>
          </a:prstGeom>
          <a:noFill/>
        </p:spPr>
        <p:txBody>
          <a:bodyPr wrap="square" rtlCol="0">
            <a:spAutoFit/>
          </a:bodyPr>
          <a:lstStyle/>
          <a:p>
            <a:r>
              <a:rPr lang="zh-CN" altLang="en-US" dirty="0">
                <a:solidFill>
                  <a:srgbClr val="FF0000"/>
                </a:solidFill>
                <a:latin typeface="黑体" panose="02010609060101010101" charset="-122"/>
                <a:ea typeface="黑体" panose="02010609060101010101" charset="-122"/>
                <a:cs typeface="黑体" panose="02010609060101010101" charset="-122"/>
              </a:rPr>
              <a:t>谁（主体）</a:t>
            </a:r>
            <a:r>
              <a:rPr lang="en-US" altLang="zh-CN" dirty="0">
                <a:solidFill>
                  <a:srgbClr val="FF0000"/>
                </a:solidFill>
                <a:latin typeface="黑体" panose="02010609060101010101" charset="-122"/>
                <a:ea typeface="黑体" panose="02010609060101010101" charset="-122"/>
                <a:cs typeface="黑体" panose="02010609060101010101" charset="-122"/>
              </a:rPr>
              <a:t>+</a:t>
            </a:r>
            <a:r>
              <a:rPr lang="zh-CN" altLang="en-US" dirty="0">
                <a:solidFill>
                  <a:srgbClr val="FF0000"/>
                </a:solidFill>
                <a:latin typeface="黑体" panose="02010609060101010101" charset="-122"/>
                <a:ea typeface="黑体" panose="02010609060101010101" charset="-122"/>
                <a:cs typeface="黑体" panose="02010609060101010101" charset="-122"/>
              </a:rPr>
              <a:t>做了什么（做法）</a:t>
            </a:r>
            <a:r>
              <a:rPr lang="en-US" altLang="zh-CN" dirty="0">
                <a:solidFill>
                  <a:srgbClr val="FF0000"/>
                </a:solidFill>
                <a:latin typeface="黑体" panose="02010609060101010101" charset="-122"/>
                <a:ea typeface="黑体" panose="02010609060101010101" charset="-122"/>
                <a:cs typeface="黑体" panose="02010609060101010101" charset="-122"/>
              </a:rPr>
              <a:t>+</a:t>
            </a:r>
            <a:r>
              <a:rPr lang="zh-CN" altLang="en-US" dirty="0">
                <a:solidFill>
                  <a:srgbClr val="FF0000"/>
                </a:solidFill>
                <a:latin typeface="黑体" panose="02010609060101010101" charset="-122"/>
                <a:ea typeface="黑体" panose="02010609060101010101" charset="-122"/>
                <a:cs typeface="黑体" panose="02010609060101010101" charset="-122"/>
              </a:rPr>
              <a:t>效果（破解超大城市治理难题）</a:t>
            </a:r>
            <a:endParaRPr lang="zh-CN" altLang="en-US" dirty="0">
              <a:solidFill>
                <a:srgbClr val="FF0000"/>
              </a:solidFill>
              <a:latin typeface="黑体" panose="02010609060101010101" charset="-122"/>
              <a:ea typeface="黑体" panose="02010609060101010101" charset="-122"/>
              <a:cs typeface="黑体" panose="02010609060101010101" charset="-122"/>
            </a:endParaRPr>
          </a:p>
        </p:txBody>
      </p:sp>
      <p:cxnSp>
        <p:nvCxnSpPr>
          <p:cNvPr id="4" name="直接连接符 3"/>
          <p:cNvCxnSpPr/>
          <p:nvPr/>
        </p:nvCxnSpPr>
        <p:spPr>
          <a:xfrm>
            <a:off x="5831205" y="2010251"/>
            <a:ext cx="931545"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2459355" y="2815590"/>
            <a:ext cx="931545"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4256723" y="3094990"/>
            <a:ext cx="931545"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5831204" y="3429476"/>
            <a:ext cx="931545"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2709545" y="3726338"/>
            <a:ext cx="931545"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4852988" y="3715702"/>
            <a:ext cx="1619013" cy="1016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5831203" y="4018915"/>
            <a:ext cx="931545"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2515235" y="4636135"/>
            <a:ext cx="931545"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2925127" y="4899660"/>
            <a:ext cx="931545"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9" grpId="0" bldLvl="0" animBg="1"/>
      <p:bldP spid="20" grpId="0" bldLvl="0" animBg="1"/>
      <p:bldP spid="21" grpId="0" bldLvl="0" animBg="1"/>
      <p:bldP spid="22" grpId="0" bldLvl="0" animBg="1"/>
      <p:bldP spid="2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91490" y="906780"/>
            <a:ext cx="11209655" cy="5240655"/>
          </a:xfrm>
          <a:ln>
            <a:solidFill>
              <a:srgbClr val="FF0000"/>
            </a:solidFill>
          </a:ln>
        </p:spPr>
        <p:txBody>
          <a:bodyPr>
            <a:normAutofit/>
          </a:bodyPr>
          <a:lstStyle/>
          <a:p>
            <a:pPr marL="0" indent="0">
              <a:lnSpc>
                <a:spcPct val="150000"/>
              </a:lnSpc>
              <a:buNone/>
            </a:pPr>
            <a:r>
              <a:rPr lang="zh-CN" altLang="en-US" sz="2400" b="1" dirty="0">
                <a:solidFill>
                  <a:schemeClr val="tx1"/>
                </a:solidFill>
                <a:highlight>
                  <a:srgbClr val="FFFF00"/>
                </a:highlight>
                <a:latin typeface="宋体" panose="02010600030101010101" pitchFamily="2" charset="-122"/>
                <a:ea typeface="宋体" panose="02010600030101010101" pitchFamily="2" charset="-122"/>
                <a:cs typeface="宋体" panose="02010600030101010101" pitchFamily="2" charset="-122"/>
              </a:rPr>
              <a:t>参考答案：</a:t>
            </a:r>
            <a:endParaRPr lang="zh-CN" altLang="en-US" sz="2400" b="1" dirty="0">
              <a:solidFill>
                <a:schemeClr val="tx1"/>
              </a:solidFill>
              <a:highlight>
                <a:srgbClr val="FFFF00"/>
              </a:highlight>
              <a:latin typeface="宋体" panose="02010600030101010101" pitchFamily="2" charset="-122"/>
              <a:ea typeface="宋体" panose="02010600030101010101" pitchFamily="2" charset="-122"/>
              <a:cs typeface="宋体" panose="02010600030101010101" pitchFamily="2" charset="-122"/>
            </a:endParaRPr>
          </a:p>
          <a:p>
            <a:pPr marL="0" indent="0">
              <a:lnSpc>
                <a:spcPct val="150000"/>
              </a:lnSpc>
              <a:buNone/>
            </a:pPr>
            <a:r>
              <a:rPr lang="en-US" altLang="zh-CN" sz="2400" b="1" dirty="0">
                <a:solidFill>
                  <a:schemeClr val="tx1"/>
                </a:solidFill>
                <a:latin typeface="宋体" panose="02010600030101010101" pitchFamily="2" charset="-122"/>
                <a:ea typeface="宋体" panose="02010600030101010101" pitchFamily="2" charset="-122"/>
                <a:cs typeface="宋体" panose="02010600030101010101" pitchFamily="2" charset="-122"/>
              </a:rPr>
              <a:t>17.</a:t>
            </a:r>
            <a:r>
              <a:rPr lang="zh-CN" altLang="en-US" sz="2400" b="1" dirty="0">
                <a:solidFill>
                  <a:schemeClr val="tx1"/>
                </a:solidFill>
                <a:latin typeface="宋体" panose="02010600030101010101" pitchFamily="2" charset="-122"/>
                <a:ea typeface="宋体" panose="02010600030101010101" pitchFamily="2" charset="-122"/>
                <a:cs typeface="宋体" panose="02010600030101010101" pitchFamily="2" charset="-122"/>
              </a:rPr>
              <a:t>（</a:t>
            </a:r>
            <a:r>
              <a:rPr lang="en-US" altLang="zh-CN" sz="2400" b="1" dirty="0">
                <a:solidFill>
                  <a:schemeClr val="tx1"/>
                </a:solidFill>
                <a:latin typeface="宋体" panose="02010600030101010101" pitchFamily="2" charset="-122"/>
                <a:ea typeface="宋体" panose="02010600030101010101" pitchFamily="2" charset="-122"/>
                <a:cs typeface="宋体" panose="02010600030101010101" pitchFamily="2" charset="-122"/>
              </a:rPr>
              <a:t>8 </a:t>
            </a:r>
            <a:r>
              <a:rPr lang="zh-CN" altLang="en-US" sz="2400" b="1" dirty="0">
                <a:solidFill>
                  <a:schemeClr val="tx1"/>
                </a:solidFill>
                <a:latin typeface="宋体" panose="02010600030101010101" pitchFamily="2" charset="-122"/>
                <a:ea typeface="宋体" panose="02010600030101010101" pitchFamily="2" charset="-122"/>
                <a:cs typeface="宋体" panose="02010600030101010101" pitchFamily="2" charset="-122"/>
              </a:rPr>
              <a:t>分）</a:t>
            </a:r>
            <a:endParaRPr lang="zh-CN" altLang="en-US" sz="2400" b="1"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0" marR="0" lvl="0" indent="266700" algn="just" defTabSz="266700" rtl="0" eaLnBrk="1" fontAlgn="auto" latinLnBrk="0" hangingPunct="1">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北京在坚持多措并举破解超大城市治理难题的过程中，坚持党的领导、人民当家作主和依法治国的有机统一。发挥党总揽全局、协调各方的领导核心作用，为北京城市治理提供根本政治保证。坚持以人民为中心，依托</a:t>
            </a:r>
            <a:r>
              <a:rPr kumimoji="0" lang="en-US" altLang="zh-CN"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12345</a:t>
            </a:r>
            <a:r>
              <a:rPr kumimoji="0"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热线和“每月一题”机制，回应民生诉求。坚持以法治思维和法治方式推进城市治理，完善法律体系，严格规范执法，促进全民守法。善用绣花功夫，通过精准施策和智能科技，建设职能科学、权责法定、执法严明、公开公正、智能高效、人民满意的法治政府，提升城市治理效能</a:t>
            </a:r>
            <a:endParaRPr kumimoji="0"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320675" y="1404620"/>
            <a:ext cx="6640830" cy="4451985"/>
          </a:xfrm>
          <a:prstGeom prst="rect">
            <a:avLst/>
          </a:prstGeom>
        </p:spPr>
      </p:pic>
      <p:sp>
        <p:nvSpPr>
          <p:cNvPr id="19" name="矩形 18"/>
          <p:cNvSpPr/>
          <p:nvPr/>
        </p:nvSpPr>
        <p:spPr>
          <a:xfrm>
            <a:off x="4103370" y="5296535"/>
            <a:ext cx="497205" cy="247015"/>
          </a:xfrm>
          <a:prstGeom prst="rect">
            <a:avLst/>
          </a:prstGeom>
          <a:noFill/>
          <a:ln w="28575">
            <a:solidFill>
              <a:schemeClr val="accent1">
                <a:lumMod val="75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楷体" panose="02010609060101010101" charset="-122"/>
              <a:ea typeface="楷体" panose="02010609060101010101" charset="-122"/>
            </a:endParaRPr>
          </a:p>
        </p:txBody>
      </p:sp>
      <p:sp>
        <p:nvSpPr>
          <p:cNvPr id="20" name="矩形 19"/>
          <p:cNvSpPr/>
          <p:nvPr/>
        </p:nvSpPr>
        <p:spPr>
          <a:xfrm>
            <a:off x="4517708" y="5270182"/>
            <a:ext cx="670560" cy="299720"/>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楷体" panose="02010609060101010101" charset="-122"/>
              <a:ea typeface="楷体" panose="02010609060101010101" charset="-122"/>
            </a:endParaRPr>
          </a:p>
        </p:txBody>
      </p:sp>
      <p:sp>
        <p:nvSpPr>
          <p:cNvPr id="21" name="矩形 20"/>
          <p:cNvSpPr/>
          <p:nvPr/>
        </p:nvSpPr>
        <p:spPr>
          <a:xfrm>
            <a:off x="5940267" y="5270182"/>
            <a:ext cx="1063468" cy="273368"/>
          </a:xfrm>
          <a:prstGeom prst="rect">
            <a:avLst/>
          </a:prstGeom>
          <a:noFill/>
          <a:ln w="28575">
            <a:solidFill>
              <a:schemeClr val="accent4">
                <a:lumMod val="75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楷体" panose="02010609060101010101" charset="-122"/>
              <a:ea typeface="楷体" panose="02010609060101010101" charset="-122"/>
            </a:endParaRPr>
          </a:p>
        </p:txBody>
      </p:sp>
      <p:sp>
        <p:nvSpPr>
          <p:cNvPr id="22" name="矩形 21"/>
          <p:cNvSpPr/>
          <p:nvPr/>
        </p:nvSpPr>
        <p:spPr>
          <a:xfrm>
            <a:off x="646588" y="5535295"/>
            <a:ext cx="1116648" cy="299720"/>
          </a:xfrm>
          <a:prstGeom prst="rect">
            <a:avLst/>
          </a:prstGeom>
          <a:noFill/>
          <a:ln w="28575">
            <a:solidFill>
              <a:schemeClr val="accent4">
                <a:lumMod val="75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楷体" panose="02010609060101010101" charset="-122"/>
              <a:ea typeface="楷体" panose="02010609060101010101" charset="-122"/>
            </a:endParaRPr>
          </a:p>
        </p:txBody>
      </p:sp>
      <p:sp>
        <p:nvSpPr>
          <p:cNvPr id="23" name="文本框 22"/>
          <p:cNvSpPr txBox="1"/>
          <p:nvPr/>
        </p:nvSpPr>
        <p:spPr>
          <a:xfrm>
            <a:off x="325754" y="5935463"/>
            <a:ext cx="7061835" cy="369332"/>
          </a:xfrm>
          <a:prstGeom prst="rect">
            <a:avLst/>
          </a:prstGeom>
          <a:noFill/>
        </p:spPr>
        <p:txBody>
          <a:bodyPr wrap="square" rtlCol="0">
            <a:spAutoFit/>
          </a:bodyPr>
          <a:lstStyle/>
          <a:p>
            <a:r>
              <a:rPr lang="zh-CN" altLang="en-US" dirty="0">
                <a:solidFill>
                  <a:srgbClr val="FF0000"/>
                </a:solidFill>
              </a:rPr>
              <a:t>谁（主体）</a:t>
            </a:r>
            <a:r>
              <a:rPr lang="en-US" altLang="zh-CN" dirty="0">
                <a:solidFill>
                  <a:srgbClr val="FF0000"/>
                </a:solidFill>
              </a:rPr>
              <a:t>+</a:t>
            </a:r>
            <a:r>
              <a:rPr lang="zh-CN" altLang="en-US" dirty="0">
                <a:solidFill>
                  <a:srgbClr val="FF0000"/>
                </a:solidFill>
              </a:rPr>
              <a:t>做了什么（做法）</a:t>
            </a:r>
            <a:r>
              <a:rPr lang="en-US" altLang="zh-CN" dirty="0">
                <a:solidFill>
                  <a:srgbClr val="FF0000"/>
                </a:solidFill>
              </a:rPr>
              <a:t>+</a:t>
            </a:r>
            <a:r>
              <a:rPr lang="zh-CN" altLang="en-US" dirty="0">
                <a:solidFill>
                  <a:srgbClr val="FF0000"/>
                </a:solidFill>
              </a:rPr>
              <a:t>效果（破解超大城市治理难题）</a:t>
            </a:r>
            <a:endParaRPr lang="zh-CN" altLang="en-US" dirty="0">
              <a:solidFill>
                <a:srgbClr val="FF0000"/>
              </a:solidFill>
            </a:endParaRPr>
          </a:p>
        </p:txBody>
      </p:sp>
      <p:cxnSp>
        <p:nvCxnSpPr>
          <p:cNvPr id="4" name="直接连接符 3"/>
          <p:cNvCxnSpPr/>
          <p:nvPr/>
        </p:nvCxnSpPr>
        <p:spPr>
          <a:xfrm>
            <a:off x="5831205" y="2010251"/>
            <a:ext cx="931545"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2459355" y="2815590"/>
            <a:ext cx="931545"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4256723" y="3094990"/>
            <a:ext cx="931545"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5831204" y="3429476"/>
            <a:ext cx="931545"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2709545" y="3726338"/>
            <a:ext cx="931545"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4852988" y="3715702"/>
            <a:ext cx="1619013" cy="1016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5831203" y="4018915"/>
            <a:ext cx="931545"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2515235" y="4636135"/>
            <a:ext cx="931545"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2925127" y="4899660"/>
            <a:ext cx="931545"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5831205" y="460139"/>
            <a:ext cx="6096000" cy="646331"/>
          </a:xfrm>
          <a:prstGeom prst="rect">
            <a:avLst/>
          </a:prstGeom>
          <a:noFill/>
        </p:spPr>
        <p:txBody>
          <a:bodyPr wrap="square">
            <a:spAutoFit/>
          </a:bodyPr>
          <a:lstStyle/>
          <a:p>
            <a:pPr algn="just">
              <a:buNone/>
            </a:pPr>
            <a:r>
              <a:rPr lang="zh-CN" altLang="zh-CN" sz="1800" b="1" kern="100" dirty="0">
                <a:effectLst/>
                <a:latin typeface="楷体" panose="02010609060101010101" charset="-122"/>
                <a:ea typeface="楷体" panose="02010609060101010101" charset="-122"/>
                <a:cs typeface="楷体" panose="02010609060101010101" charset="-122"/>
              </a:rPr>
              <a:t>北京在坚持多措并举破解超大城市治理难题的过程中，坚持党的领导、人民当家作主和依法治国的有机统一。</a:t>
            </a:r>
            <a:r>
              <a:rPr lang="en-US" altLang="zh-CN" sz="1800" b="1" kern="100" dirty="0">
                <a:effectLst/>
                <a:highlight>
                  <a:srgbClr val="FFFF00"/>
                </a:highlight>
                <a:latin typeface="楷体" panose="02010609060101010101" charset="-122"/>
                <a:ea typeface="楷体" panose="02010609060101010101" charset="-122"/>
                <a:cs typeface="楷体" panose="02010609060101010101" charset="-122"/>
              </a:rPr>
              <a:t>(1</a:t>
            </a:r>
            <a:r>
              <a:rPr lang="zh-CN" altLang="zh-CN" sz="1800" b="1" kern="100" dirty="0">
                <a:effectLst/>
                <a:highlight>
                  <a:srgbClr val="FFFF00"/>
                </a:highlight>
                <a:latin typeface="楷体" panose="02010609060101010101" charset="-122"/>
                <a:ea typeface="楷体" panose="02010609060101010101" charset="-122"/>
                <a:cs typeface="楷体" panose="02010609060101010101" charset="-122"/>
              </a:rPr>
              <a:t>分</a:t>
            </a:r>
            <a:r>
              <a:rPr lang="en-US" altLang="zh-CN" sz="1800" b="1" kern="100" dirty="0">
                <a:effectLst/>
                <a:highlight>
                  <a:srgbClr val="FFFF00"/>
                </a:highlight>
                <a:latin typeface="楷体" panose="02010609060101010101" charset="-122"/>
                <a:ea typeface="楷体" panose="02010609060101010101" charset="-122"/>
                <a:cs typeface="楷体" panose="02010609060101010101" charset="-122"/>
              </a:rPr>
              <a:t>)</a:t>
            </a:r>
            <a:endParaRPr lang="zh-CN" altLang="zh-CN" sz="1800" b="1" kern="100" dirty="0">
              <a:effectLst/>
              <a:latin typeface="楷体" panose="02010609060101010101" charset="-122"/>
              <a:ea typeface="楷体" panose="02010609060101010101" charset="-122"/>
              <a:cs typeface="楷体" panose="02010609060101010101" charset="-122"/>
            </a:endParaRPr>
          </a:p>
        </p:txBody>
      </p:sp>
      <p:sp>
        <p:nvSpPr>
          <p:cNvPr id="32" name="文本框 31"/>
          <p:cNvSpPr txBox="1"/>
          <p:nvPr/>
        </p:nvSpPr>
        <p:spPr>
          <a:xfrm>
            <a:off x="6961505" y="1188007"/>
            <a:ext cx="5045390" cy="646331"/>
          </a:xfrm>
          <a:prstGeom prst="rect">
            <a:avLst/>
          </a:prstGeom>
          <a:noFill/>
        </p:spPr>
        <p:txBody>
          <a:bodyPr wrap="square">
            <a:spAutoFit/>
          </a:bodyPr>
          <a:lstStyle/>
          <a:p>
            <a:pPr algn="just">
              <a:buNone/>
            </a:pPr>
            <a:r>
              <a:rPr lang="zh-CN" altLang="zh-CN" sz="1800" b="1" kern="100" dirty="0">
                <a:effectLst/>
                <a:latin typeface="楷体" panose="02010609060101010101" charset="-122"/>
                <a:ea typeface="楷体" panose="02010609060101010101" charset="-122"/>
                <a:cs typeface="楷体" panose="02010609060101010101" charset="-122"/>
              </a:rPr>
              <a:t>北京市委发挥党总揽全局、协调各方的领导核心作用，为北京城市治理提供根本政治保证。</a:t>
            </a:r>
            <a:r>
              <a:rPr lang="en-US" altLang="zh-CN" sz="1800" b="1" kern="100" dirty="0">
                <a:effectLst/>
                <a:highlight>
                  <a:srgbClr val="FFFF00"/>
                </a:highlight>
                <a:latin typeface="楷体" panose="02010609060101010101" charset="-122"/>
                <a:ea typeface="楷体" panose="02010609060101010101" charset="-122"/>
                <a:cs typeface="楷体" panose="02010609060101010101" charset="-122"/>
              </a:rPr>
              <a:t>(1</a:t>
            </a:r>
            <a:r>
              <a:rPr lang="zh-CN" altLang="zh-CN" sz="1800" b="1" kern="100" dirty="0">
                <a:effectLst/>
                <a:highlight>
                  <a:srgbClr val="FFFF00"/>
                </a:highlight>
                <a:latin typeface="楷体" panose="02010609060101010101" charset="-122"/>
                <a:ea typeface="楷体" panose="02010609060101010101" charset="-122"/>
                <a:cs typeface="楷体" panose="02010609060101010101" charset="-122"/>
              </a:rPr>
              <a:t>分</a:t>
            </a:r>
            <a:r>
              <a:rPr lang="en-US" altLang="zh-CN" sz="1800" b="1" kern="100" dirty="0">
                <a:effectLst/>
                <a:highlight>
                  <a:srgbClr val="FFFF00"/>
                </a:highlight>
                <a:latin typeface="楷体" panose="02010609060101010101" charset="-122"/>
                <a:ea typeface="楷体" panose="02010609060101010101" charset="-122"/>
                <a:cs typeface="楷体" panose="02010609060101010101" charset="-122"/>
              </a:rPr>
              <a:t>)</a:t>
            </a:r>
            <a:endParaRPr lang="zh-CN" altLang="zh-CN" sz="1800" b="1" kern="100" dirty="0">
              <a:effectLst/>
              <a:latin typeface="楷体" panose="02010609060101010101" charset="-122"/>
              <a:ea typeface="楷体" panose="02010609060101010101" charset="-122"/>
              <a:cs typeface="楷体" panose="02010609060101010101" charset="-122"/>
            </a:endParaRPr>
          </a:p>
        </p:txBody>
      </p:sp>
      <p:sp>
        <p:nvSpPr>
          <p:cNvPr id="34" name="文本框 33"/>
          <p:cNvSpPr txBox="1"/>
          <p:nvPr/>
        </p:nvSpPr>
        <p:spPr>
          <a:xfrm>
            <a:off x="7003734" y="1915616"/>
            <a:ext cx="5188266" cy="1200329"/>
          </a:xfrm>
          <a:prstGeom prst="rect">
            <a:avLst/>
          </a:prstGeom>
          <a:noFill/>
        </p:spPr>
        <p:txBody>
          <a:bodyPr wrap="square">
            <a:spAutoFit/>
          </a:bodyPr>
          <a:lstStyle/>
          <a:p>
            <a:pPr algn="just">
              <a:buNone/>
            </a:pPr>
            <a:r>
              <a:rPr lang="zh-CN" altLang="zh-CN" sz="1800" b="1" kern="100" dirty="0">
                <a:effectLst/>
                <a:latin typeface="楷体" panose="02010609060101010101" charset="-122"/>
                <a:ea typeface="楷体" panose="02010609060101010101" charset="-122"/>
                <a:cs typeface="楷体" panose="02010609060101010101" charset="-122"/>
              </a:rPr>
              <a:t>北京市坚持以人民为中心，依托</a:t>
            </a:r>
            <a:r>
              <a:rPr lang="en-US" altLang="zh-CN" sz="1800" b="1" kern="100" dirty="0">
                <a:effectLst/>
                <a:latin typeface="楷体" panose="02010609060101010101" charset="-122"/>
                <a:ea typeface="楷体" panose="02010609060101010101" charset="-122"/>
                <a:cs typeface="楷体" panose="02010609060101010101" charset="-122"/>
              </a:rPr>
              <a:t>12345</a:t>
            </a:r>
            <a:r>
              <a:rPr lang="zh-CN" altLang="zh-CN" sz="1800" b="1" kern="100" dirty="0">
                <a:effectLst/>
                <a:latin typeface="楷体" panose="02010609060101010101" charset="-122"/>
                <a:ea typeface="楷体" panose="02010609060101010101" charset="-122"/>
                <a:cs typeface="楷体" panose="02010609060101010101" charset="-122"/>
              </a:rPr>
              <a:t>热线和“每月一题”机制，回应民生诉求，保障人民的知情权、参与权、表达权、监督权。</a:t>
            </a:r>
            <a:r>
              <a:rPr lang="en-US" altLang="zh-CN" sz="1800" b="1" kern="100" dirty="0">
                <a:effectLst/>
                <a:highlight>
                  <a:srgbClr val="FFFF00"/>
                </a:highlight>
                <a:latin typeface="楷体" panose="02010609060101010101" charset="-122"/>
                <a:ea typeface="楷体" panose="02010609060101010101" charset="-122"/>
                <a:cs typeface="楷体" panose="02010609060101010101" charset="-122"/>
              </a:rPr>
              <a:t>(</a:t>
            </a:r>
            <a:r>
              <a:rPr lang="zh-CN" altLang="zh-CN" sz="1800" b="1" kern="100" dirty="0">
                <a:effectLst/>
                <a:highlight>
                  <a:srgbClr val="FFFF00"/>
                </a:highlight>
                <a:latin typeface="楷体" panose="02010609060101010101" charset="-122"/>
                <a:ea typeface="楷体" panose="02010609060101010101" charset="-122"/>
                <a:cs typeface="楷体" panose="02010609060101010101" charset="-122"/>
              </a:rPr>
              <a:t>机制</a:t>
            </a:r>
            <a:r>
              <a:rPr lang="en-US" altLang="zh-CN" sz="1800" b="1" kern="100" dirty="0">
                <a:effectLst/>
                <a:highlight>
                  <a:srgbClr val="FFFF00"/>
                </a:highlight>
                <a:latin typeface="楷体" panose="02010609060101010101" charset="-122"/>
                <a:ea typeface="楷体" panose="02010609060101010101" charset="-122"/>
                <a:cs typeface="楷体" panose="02010609060101010101" charset="-122"/>
              </a:rPr>
              <a:t>/</a:t>
            </a:r>
            <a:r>
              <a:rPr lang="zh-CN" altLang="zh-CN" sz="1800" b="1" kern="100" dirty="0">
                <a:effectLst/>
                <a:highlight>
                  <a:srgbClr val="FFFF00"/>
                </a:highlight>
                <a:latin typeface="楷体" panose="02010609060101010101" charset="-122"/>
                <a:ea typeface="楷体" panose="02010609060101010101" charset="-122"/>
                <a:cs typeface="楷体" panose="02010609060101010101" charset="-122"/>
              </a:rPr>
              <a:t>权利</a:t>
            </a:r>
            <a:r>
              <a:rPr lang="en-US" altLang="zh-CN" sz="1800" b="1" kern="100" dirty="0">
                <a:effectLst/>
                <a:highlight>
                  <a:srgbClr val="FFFF00"/>
                </a:highlight>
                <a:latin typeface="楷体" panose="02010609060101010101" charset="-122"/>
                <a:ea typeface="楷体" panose="02010609060101010101" charset="-122"/>
                <a:cs typeface="楷体" panose="02010609060101010101" charset="-122"/>
              </a:rPr>
              <a:t>+</a:t>
            </a:r>
            <a:r>
              <a:rPr lang="zh-CN" altLang="zh-CN" sz="1800" b="1" kern="100" dirty="0">
                <a:effectLst/>
                <a:highlight>
                  <a:srgbClr val="FFFF00"/>
                </a:highlight>
                <a:latin typeface="楷体" panose="02010609060101010101" charset="-122"/>
                <a:ea typeface="楷体" panose="02010609060101010101" charset="-122"/>
                <a:cs typeface="楷体" panose="02010609060101010101" charset="-122"/>
              </a:rPr>
              <a:t>材料</a:t>
            </a:r>
            <a:r>
              <a:rPr lang="en-US" altLang="zh-CN" sz="1800" b="1" kern="100" dirty="0">
                <a:effectLst/>
                <a:highlight>
                  <a:srgbClr val="FFFF00"/>
                </a:highlight>
                <a:latin typeface="楷体" panose="02010609060101010101" charset="-122"/>
                <a:ea typeface="楷体" panose="02010609060101010101" charset="-122"/>
                <a:cs typeface="楷体" panose="02010609060101010101" charset="-122"/>
              </a:rPr>
              <a:t>2</a:t>
            </a:r>
            <a:r>
              <a:rPr lang="zh-CN" altLang="zh-CN" sz="1800" b="1" kern="100" dirty="0">
                <a:effectLst/>
                <a:highlight>
                  <a:srgbClr val="FFFF00"/>
                </a:highlight>
                <a:latin typeface="楷体" panose="02010609060101010101" charset="-122"/>
                <a:ea typeface="楷体" panose="02010609060101010101" charset="-122"/>
                <a:cs typeface="楷体" panose="02010609060101010101" charset="-122"/>
              </a:rPr>
              <a:t>分</a:t>
            </a:r>
            <a:r>
              <a:rPr lang="en-US" altLang="zh-CN" sz="1800" b="1" kern="100" dirty="0">
                <a:effectLst/>
                <a:highlight>
                  <a:srgbClr val="FFFF00"/>
                </a:highlight>
                <a:latin typeface="楷体" panose="02010609060101010101" charset="-122"/>
                <a:ea typeface="楷体" panose="02010609060101010101" charset="-122"/>
                <a:cs typeface="楷体" panose="02010609060101010101" charset="-122"/>
              </a:rPr>
              <a:t>)</a:t>
            </a:r>
            <a:endParaRPr lang="zh-CN" altLang="zh-CN" sz="1800" b="1" kern="100" dirty="0">
              <a:effectLst/>
              <a:latin typeface="楷体" panose="02010609060101010101" charset="-122"/>
              <a:ea typeface="楷体" panose="02010609060101010101" charset="-122"/>
              <a:cs typeface="楷体" panose="02010609060101010101" charset="-122"/>
            </a:endParaRPr>
          </a:p>
        </p:txBody>
      </p:sp>
      <p:sp>
        <p:nvSpPr>
          <p:cNvPr id="36" name="文本框 35"/>
          <p:cNvSpPr txBox="1"/>
          <p:nvPr/>
        </p:nvSpPr>
        <p:spPr>
          <a:xfrm>
            <a:off x="7003734" y="3094990"/>
            <a:ext cx="5045390" cy="1754326"/>
          </a:xfrm>
          <a:prstGeom prst="rect">
            <a:avLst/>
          </a:prstGeom>
          <a:noFill/>
        </p:spPr>
        <p:txBody>
          <a:bodyPr wrap="square">
            <a:spAutoFit/>
          </a:bodyPr>
          <a:lstStyle/>
          <a:p>
            <a:pPr algn="just">
              <a:buNone/>
            </a:pPr>
            <a:r>
              <a:rPr lang="zh-CN" altLang="zh-CN" sz="1800" b="1" kern="100" dirty="0">
                <a:effectLst/>
                <a:latin typeface="楷体" panose="02010609060101010101" charset="-122"/>
                <a:ea typeface="楷体" panose="02010609060101010101" charset="-122"/>
                <a:cs typeface="楷体" panose="02010609060101010101" charset="-122"/>
              </a:rPr>
              <a:t>北京市以法治思维和法治方式推进城市治理，北京市人大</a:t>
            </a:r>
            <a:r>
              <a:rPr lang="en-US" altLang="zh-CN" sz="1800" b="1" kern="100" dirty="0">
                <a:effectLst/>
                <a:latin typeface="楷体" panose="02010609060101010101" charset="-122"/>
                <a:ea typeface="楷体" panose="02010609060101010101" charset="-122"/>
                <a:cs typeface="楷体" panose="02010609060101010101" charset="-122"/>
              </a:rPr>
              <a:t>(</a:t>
            </a:r>
            <a:r>
              <a:rPr lang="zh-CN" altLang="zh-CN" sz="1800" b="1" kern="100" dirty="0">
                <a:effectLst/>
                <a:latin typeface="楷体" panose="02010609060101010101" charset="-122"/>
                <a:ea typeface="楷体" panose="02010609060101010101" charset="-122"/>
                <a:cs typeface="楷体" panose="02010609060101010101" charset="-122"/>
              </a:rPr>
              <a:t>作为地方权力机关</a:t>
            </a:r>
            <a:r>
              <a:rPr lang="en-US" altLang="zh-CN" sz="1800" b="1" kern="100" dirty="0">
                <a:effectLst/>
                <a:latin typeface="楷体" panose="02010609060101010101" charset="-122"/>
                <a:ea typeface="楷体" panose="02010609060101010101" charset="-122"/>
                <a:cs typeface="楷体" panose="02010609060101010101" charset="-122"/>
              </a:rPr>
              <a:t>)</a:t>
            </a:r>
            <a:r>
              <a:rPr lang="zh-CN" altLang="zh-CN" sz="1800" b="1" kern="100" dirty="0">
                <a:effectLst/>
                <a:latin typeface="楷体" panose="02010609060101010101" charset="-122"/>
                <a:ea typeface="楷体" panose="02010609060101010101" charset="-122"/>
                <a:cs typeface="楷体" panose="02010609060101010101" charset="-122"/>
              </a:rPr>
              <a:t>行使地方立法权，为破解难题提供</a:t>
            </a:r>
            <a:r>
              <a:rPr lang="zh-CN" altLang="zh-CN" sz="1800" b="1" kern="100" dirty="0">
                <a:solidFill>
                  <a:srgbClr val="EE0000"/>
                </a:solidFill>
                <a:effectLst/>
                <a:latin typeface="楷体" panose="02010609060101010101" charset="-122"/>
                <a:ea typeface="楷体" panose="02010609060101010101" charset="-122"/>
                <a:cs typeface="楷体" panose="02010609060101010101" charset="-122"/>
              </a:rPr>
              <a:t>法律保障</a:t>
            </a:r>
            <a:r>
              <a:rPr lang="en-US" altLang="zh-CN" sz="1800" b="1" kern="100" dirty="0">
                <a:solidFill>
                  <a:srgbClr val="EE0000"/>
                </a:solidFill>
                <a:effectLst/>
                <a:latin typeface="楷体" panose="02010609060101010101" charset="-122"/>
                <a:ea typeface="楷体" panose="02010609060101010101" charset="-122"/>
                <a:cs typeface="楷体" panose="02010609060101010101" charset="-122"/>
              </a:rPr>
              <a:t>(</a:t>
            </a:r>
            <a:r>
              <a:rPr lang="zh-CN" altLang="zh-CN" sz="1800" b="1" kern="100" dirty="0">
                <a:solidFill>
                  <a:srgbClr val="EE0000"/>
                </a:solidFill>
                <a:effectLst/>
                <a:latin typeface="楷体" panose="02010609060101010101" charset="-122"/>
                <a:ea typeface="楷体" panose="02010609060101010101" charset="-122"/>
                <a:cs typeface="楷体" panose="02010609060101010101" charset="-122"/>
              </a:rPr>
              <a:t>或有法可依</a:t>
            </a:r>
            <a:r>
              <a:rPr lang="en-US" altLang="zh-CN" sz="1800" b="1" kern="100" dirty="0">
                <a:solidFill>
                  <a:srgbClr val="EE0000"/>
                </a:solidFill>
                <a:effectLst/>
                <a:latin typeface="楷体" panose="02010609060101010101" charset="-122"/>
                <a:ea typeface="楷体" panose="02010609060101010101" charset="-122"/>
                <a:cs typeface="楷体" panose="02010609060101010101" charset="-122"/>
              </a:rPr>
              <a:t>)</a:t>
            </a:r>
            <a:r>
              <a:rPr lang="zh-CN" altLang="zh-CN" sz="1800" b="1" kern="100" dirty="0">
                <a:solidFill>
                  <a:srgbClr val="EE0000"/>
                </a:solidFill>
                <a:effectLst/>
                <a:latin typeface="楷体" panose="02010609060101010101" charset="-122"/>
                <a:ea typeface="楷体" panose="02010609060101010101" charset="-122"/>
                <a:cs typeface="楷体" panose="02010609060101010101" charset="-122"/>
              </a:rPr>
              <a:t>。完善法律体系，严格规范执法，促进全民守法</a:t>
            </a:r>
            <a:r>
              <a:rPr lang="zh-CN" altLang="zh-CN" sz="1800" b="1" kern="100" dirty="0">
                <a:effectLst/>
                <a:latin typeface="楷体" panose="02010609060101010101" charset="-122"/>
                <a:ea typeface="楷体" panose="02010609060101010101" charset="-122"/>
                <a:cs typeface="楷体" panose="02010609060101010101" charset="-122"/>
              </a:rPr>
              <a:t>。【学法尊法守法用法、法治社会、</a:t>
            </a:r>
            <a:r>
              <a:rPr lang="zh-CN" altLang="zh-CN" sz="1800" b="1" kern="100" dirty="0">
                <a:effectLst/>
                <a:highlight>
                  <a:srgbClr val="00FFFF"/>
                </a:highlight>
                <a:latin typeface="楷体" panose="02010609060101010101" charset="-122"/>
                <a:ea typeface="楷体" panose="02010609060101010101" charset="-122"/>
                <a:cs typeface="楷体" panose="02010609060101010101" charset="-122"/>
              </a:rPr>
              <a:t>法治观念</a:t>
            </a:r>
            <a:r>
              <a:rPr lang="zh-CN" altLang="zh-CN" sz="1800" b="1" kern="100" dirty="0">
                <a:effectLst/>
                <a:latin typeface="楷体" panose="02010609060101010101" charset="-122"/>
                <a:ea typeface="楷体" panose="02010609060101010101" charset="-122"/>
                <a:cs typeface="楷体" panose="02010609060101010101" charset="-122"/>
              </a:rPr>
              <a:t>】</a:t>
            </a:r>
            <a:r>
              <a:rPr lang="en-US" altLang="zh-CN" sz="1800" b="1" kern="100" dirty="0">
                <a:effectLst/>
                <a:highlight>
                  <a:srgbClr val="FFFF00"/>
                </a:highlight>
                <a:latin typeface="楷体" panose="02010609060101010101" charset="-122"/>
                <a:ea typeface="楷体" panose="02010609060101010101" charset="-122"/>
                <a:cs typeface="楷体" panose="02010609060101010101" charset="-122"/>
              </a:rPr>
              <a:t>(2</a:t>
            </a:r>
            <a:r>
              <a:rPr lang="zh-CN" altLang="zh-CN" sz="1800" b="1" kern="100" dirty="0">
                <a:effectLst/>
                <a:highlight>
                  <a:srgbClr val="FFFF00"/>
                </a:highlight>
                <a:latin typeface="楷体" panose="02010609060101010101" charset="-122"/>
                <a:ea typeface="楷体" panose="02010609060101010101" charset="-122"/>
                <a:cs typeface="楷体" panose="02010609060101010101" charset="-122"/>
              </a:rPr>
              <a:t>分</a:t>
            </a:r>
            <a:r>
              <a:rPr lang="en-US" altLang="zh-CN" sz="1800" b="1" kern="100" dirty="0">
                <a:effectLst/>
                <a:highlight>
                  <a:srgbClr val="FFFF00"/>
                </a:highlight>
                <a:latin typeface="楷体" panose="02010609060101010101" charset="-122"/>
                <a:ea typeface="楷体" panose="02010609060101010101" charset="-122"/>
                <a:cs typeface="楷体" panose="02010609060101010101" charset="-122"/>
              </a:rPr>
              <a:t>)</a:t>
            </a:r>
            <a:r>
              <a:rPr lang="zh-CN" altLang="zh-CN" sz="1800" b="1" kern="100" dirty="0">
                <a:effectLst/>
                <a:highlight>
                  <a:srgbClr val="FFFF00"/>
                </a:highlight>
                <a:latin typeface="楷体" panose="02010609060101010101" charset="-122"/>
                <a:ea typeface="楷体" panose="02010609060101010101" charset="-122"/>
                <a:cs typeface="楷体" panose="02010609060101010101" charset="-122"/>
              </a:rPr>
              <a:t>从宏观、微观论述都可</a:t>
            </a:r>
            <a:r>
              <a:rPr kumimoji="0" lang="zh-CN" altLang="en-US" sz="1800" b="1" i="0" u="none" strike="noStrike" kern="1200" cap="none" spc="0" normalizeH="0" baseline="0" noProof="0" dirty="0">
                <a:ln>
                  <a:noFill/>
                </a:ln>
                <a:solidFill>
                  <a:srgbClr val="FF0000"/>
                </a:solidFill>
                <a:effectLst/>
                <a:highlight>
                  <a:srgbClr val="FFFF00"/>
                </a:highlight>
                <a:uLnTx/>
                <a:uFillTx/>
                <a:latin typeface="楷体" panose="02010609060101010101" charset="-122"/>
                <a:ea typeface="楷体" panose="02010609060101010101" charset="-122"/>
                <a:cs typeface="楷体" panose="02010609060101010101" charset="-122"/>
              </a:rPr>
              <a:t>三选二</a:t>
            </a:r>
            <a:endParaRPr lang="zh-CN" altLang="zh-CN" sz="1800" b="1" kern="100" dirty="0">
              <a:effectLst/>
              <a:latin typeface="楷体" panose="02010609060101010101" charset="-122"/>
              <a:ea typeface="楷体" panose="02010609060101010101" charset="-122"/>
              <a:cs typeface="楷体" panose="02010609060101010101" charset="-122"/>
            </a:endParaRPr>
          </a:p>
        </p:txBody>
      </p:sp>
      <p:sp>
        <p:nvSpPr>
          <p:cNvPr id="38" name="文本框 37"/>
          <p:cNvSpPr txBox="1"/>
          <p:nvPr/>
        </p:nvSpPr>
        <p:spPr>
          <a:xfrm>
            <a:off x="7003734" y="4899660"/>
            <a:ext cx="5003161" cy="1477328"/>
          </a:xfrm>
          <a:prstGeom prst="rect">
            <a:avLst/>
          </a:prstGeom>
          <a:noFill/>
        </p:spPr>
        <p:txBody>
          <a:bodyPr wrap="square">
            <a:spAutoFit/>
          </a:bodyPr>
          <a:lstStyle/>
          <a:p>
            <a:r>
              <a:rPr lang="zh-CN" altLang="zh-CN" sz="1800" b="1" kern="100" dirty="0">
                <a:effectLst/>
                <a:latin typeface="楷体" panose="02010609060101010101" charset="-122"/>
                <a:ea typeface="楷体" panose="02010609060101010101" charset="-122"/>
                <a:cs typeface="楷体" panose="02010609060101010101" charset="-122"/>
              </a:rPr>
              <a:t>政府善用绣花功夫，通过精准施策和智能科技，建设职能科学、权责法定、执法严明、公开公正、智能高效、人民满意的法治政府，提升城市治理效能。【人民满意、政府效能、多措并举、治理体系与治理能力现代化】</a:t>
            </a:r>
            <a:r>
              <a:rPr lang="en-US" altLang="zh-CN" sz="1800" b="1" kern="100" dirty="0">
                <a:effectLst/>
                <a:highlight>
                  <a:srgbClr val="FFFF00"/>
                </a:highlight>
                <a:latin typeface="楷体" panose="02010609060101010101" charset="-122"/>
                <a:ea typeface="楷体" panose="02010609060101010101" charset="-122"/>
                <a:cs typeface="楷体" panose="02010609060101010101" charset="-122"/>
              </a:rPr>
              <a:t>(2</a:t>
            </a:r>
            <a:r>
              <a:rPr lang="zh-CN" altLang="zh-CN" sz="1800" b="1" kern="100" dirty="0">
                <a:effectLst/>
                <a:highlight>
                  <a:srgbClr val="FFFF00"/>
                </a:highlight>
                <a:latin typeface="楷体" panose="02010609060101010101" charset="-122"/>
                <a:ea typeface="楷体" panose="02010609060101010101" charset="-122"/>
                <a:cs typeface="楷体" panose="02010609060101010101" charset="-122"/>
              </a:rPr>
              <a:t>分</a:t>
            </a:r>
            <a:r>
              <a:rPr lang="en-US" altLang="zh-CN" sz="1800" b="1" kern="100" dirty="0">
                <a:effectLst/>
                <a:highlight>
                  <a:srgbClr val="FFFF00"/>
                </a:highlight>
                <a:latin typeface="楷体" panose="02010609060101010101" charset="-122"/>
                <a:ea typeface="楷体" panose="02010609060101010101" charset="-122"/>
                <a:cs typeface="楷体" panose="02010609060101010101" charset="-122"/>
              </a:rPr>
              <a:t>)</a:t>
            </a:r>
            <a:endParaRPr lang="zh-CN" altLang="en-US" dirty="0">
              <a:latin typeface="楷体" panose="02010609060101010101" charset="-122"/>
              <a:ea typeface="楷体" panose="02010609060101010101" charset="-122"/>
              <a:cs typeface="楷体" panose="02010609060101010101" charset="-122"/>
            </a:endParaRPr>
          </a:p>
        </p:txBody>
      </p:sp>
      <p:sp>
        <p:nvSpPr>
          <p:cNvPr id="39" name="标题 3"/>
          <p:cNvSpPr txBox="1"/>
          <p:nvPr/>
        </p:nvSpPr>
        <p:spPr>
          <a:xfrm>
            <a:off x="320674" y="164864"/>
            <a:ext cx="3070225" cy="750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二、变通答案</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2" grpId="0"/>
      <p:bldP spid="34" grpId="0"/>
      <p:bldP spid="36" grpId="0"/>
      <p:bldP spid="3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58140" y="549910"/>
            <a:ext cx="11248390" cy="5904230"/>
          </a:xfrm>
          <a:prstGeom prst="rect">
            <a:avLst/>
          </a:prstGeom>
          <a:noFill/>
          <a:ln>
            <a:solidFill>
              <a:schemeClr val="tx1"/>
            </a:solidFill>
          </a:ln>
        </p:spPr>
        <p:txBody>
          <a:bodyPr wrap="square">
            <a:noAutofit/>
          </a:bodyPr>
          <a:lstStyle/>
          <a:p>
            <a:pPr algn="just">
              <a:buNone/>
            </a:pPr>
            <a:r>
              <a:rPr lang="zh-CN" altLang="zh-CN" sz="2400" b="1" kern="100" dirty="0">
                <a:effectLst/>
                <a:latin typeface="宋体" panose="02010600030101010101" pitchFamily="2" charset="-122"/>
                <a:ea typeface="宋体" panose="02010600030101010101" pitchFamily="2" charset="-122"/>
                <a:cs typeface="宋体" panose="02010600030101010101" pitchFamily="2" charset="-122"/>
              </a:rPr>
              <a:t>（</a:t>
            </a:r>
            <a:r>
              <a:rPr lang="en-US" altLang="zh-CN" sz="2400" b="1" kern="100" dirty="0">
                <a:effectLst/>
                <a:latin typeface="宋体" panose="02010600030101010101" pitchFamily="2" charset="-122"/>
                <a:ea typeface="宋体" panose="02010600030101010101" pitchFamily="2" charset="-122"/>
                <a:cs typeface="宋体" panose="02010600030101010101" pitchFamily="2" charset="-122"/>
              </a:rPr>
              <a:t>8</a:t>
            </a:r>
            <a:r>
              <a:rPr lang="zh-CN" altLang="zh-CN" sz="2400" b="1" kern="100" dirty="0">
                <a:effectLst/>
                <a:latin typeface="宋体" panose="02010600030101010101" pitchFamily="2" charset="-122"/>
                <a:ea typeface="宋体" panose="02010600030101010101" pitchFamily="2" charset="-122"/>
                <a:cs typeface="宋体" panose="02010600030101010101" pitchFamily="2" charset="-122"/>
              </a:rPr>
              <a:t>分）</a:t>
            </a:r>
            <a:endParaRPr lang="zh-CN" altLang="zh-CN" sz="2400" b="1" kern="100" dirty="0">
              <a:effectLst/>
              <a:latin typeface="宋体" panose="02010600030101010101" pitchFamily="2" charset="-122"/>
              <a:ea typeface="宋体" panose="02010600030101010101" pitchFamily="2" charset="-122"/>
              <a:cs typeface="宋体" panose="02010600030101010101" pitchFamily="2" charset="-122"/>
            </a:endParaRPr>
          </a:p>
          <a:p>
            <a:pPr algn="just">
              <a:buNone/>
            </a:pPr>
            <a:r>
              <a:rPr lang="en-US" altLang="zh-CN" sz="2400" b="1" kern="100" dirty="0">
                <a:effectLst/>
                <a:latin typeface="宋体" panose="02010600030101010101" pitchFamily="2" charset="-122"/>
                <a:ea typeface="宋体" panose="02010600030101010101" pitchFamily="2" charset="-122"/>
                <a:cs typeface="宋体" panose="02010600030101010101" pitchFamily="2" charset="-122"/>
              </a:rPr>
              <a:t>    </a:t>
            </a:r>
            <a:r>
              <a:rPr lang="zh-CN" altLang="zh-CN" sz="2400" b="1" kern="100" dirty="0">
                <a:effectLst/>
                <a:latin typeface="宋体" panose="02010600030101010101" pitchFamily="2" charset="-122"/>
                <a:ea typeface="宋体" panose="02010600030101010101" pitchFamily="2" charset="-122"/>
                <a:cs typeface="宋体" panose="02010600030101010101" pitchFamily="2" charset="-122"/>
              </a:rPr>
              <a:t>北京在坚持多措并举破解超大城市治理难题的过程中，坚持党的领导、人民当家作主和依法治国的有机统一。</a:t>
            </a:r>
            <a:r>
              <a:rPr lang="en-US" altLang="zh-CN" sz="2400" b="1" kern="100" dirty="0">
                <a:effectLst/>
                <a:highlight>
                  <a:srgbClr val="FFFF00"/>
                </a:highlight>
                <a:latin typeface="宋体" panose="02010600030101010101" pitchFamily="2" charset="-122"/>
                <a:ea typeface="宋体" panose="02010600030101010101" pitchFamily="2" charset="-122"/>
                <a:cs typeface="宋体" panose="02010600030101010101" pitchFamily="2" charset="-122"/>
              </a:rPr>
              <a:t>(1</a:t>
            </a:r>
            <a:r>
              <a:rPr lang="zh-CN" altLang="zh-CN" sz="2400" b="1" kern="100" dirty="0">
                <a:effectLst/>
                <a:highlight>
                  <a:srgbClr val="FFFF00"/>
                </a:highlight>
                <a:latin typeface="宋体" panose="02010600030101010101" pitchFamily="2" charset="-122"/>
                <a:ea typeface="宋体" panose="02010600030101010101" pitchFamily="2" charset="-122"/>
                <a:cs typeface="宋体" panose="02010600030101010101" pitchFamily="2" charset="-122"/>
              </a:rPr>
              <a:t>分</a:t>
            </a:r>
            <a:r>
              <a:rPr lang="en-US" altLang="zh-CN" sz="2400" b="1" kern="100" dirty="0">
                <a:effectLst/>
                <a:highlight>
                  <a:srgbClr val="FFFF00"/>
                </a:highlight>
                <a:latin typeface="宋体" panose="02010600030101010101" pitchFamily="2" charset="-122"/>
                <a:ea typeface="宋体" panose="02010600030101010101" pitchFamily="2" charset="-122"/>
                <a:cs typeface="宋体" panose="02010600030101010101" pitchFamily="2" charset="-122"/>
              </a:rPr>
              <a:t>)</a:t>
            </a:r>
            <a:endParaRPr lang="zh-CN" altLang="zh-CN" sz="2400" b="1" kern="100" dirty="0">
              <a:effectLst/>
              <a:latin typeface="宋体" panose="02010600030101010101" pitchFamily="2" charset="-122"/>
              <a:ea typeface="宋体" panose="02010600030101010101" pitchFamily="2" charset="-122"/>
              <a:cs typeface="宋体" panose="02010600030101010101" pitchFamily="2" charset="-122"/>
            </a:endParaRPr>
          </a:p>
          <a:p>
            <a:pPr algn="just">
              <a:buNone/>
            </a:pPr>
            <a:r>
              <a:rPr lang="en-US" altLang="zh-CN" sz="2400" b="1" kern="100" dirty="0">
                <a:effectLst/>
                <a:latin typeface="宋体" panose="02010600030101010101" pitchFamily="2" charset="-122"/>
                <a:ea typeface="宋体" panose="02010600030101010101" pitchFamily="2" charset="-122"/>
                <a:cs typeface="宋体" panose="02010600030101010101" pitchFamily="2" charset="-122"/>
              </a:rPr>
              <a:t>    </a:t>
            </a:r>
            <a:r>
              <a:rPr lang="zh-CN" altLang="zh-CN" sz="2400" b="1" kern="100" dirty="0">
                <a:effectLst/>
                <a:latin typeface="宋体" panose="02010600030101010101" pitchFamily="2" charset="-122"/>
                <a:ea typeface="宋体" panose="02010600030101010101" pitchFamily="2" charset="-122"/>
                <a:cs typeface="宋体" panose="02010600030101010101" pitchFamily="2" charset="-122"/>
              </a:rPr>
              <a:t>北京市委发挥党总揽全局、协调各方的领导核心作用，为北京城市治理提供根本政治保证。</a:t>
            </a:r>
            <a:r>
              <a:rPr lang="en-US" altLang="zh-CN" sz="2400" b="1" kern="100" dirty="0">
                <a:effectLst/>
                <a:highlight>
                  <a:srgbClr val="FFFF00"/>
                </a:highlight>
                <a:latin typeface="宋体" panose="02010600030101010101" pitchFamily="2" charset="-122"/>
                <a:ea typeface="宋体" panose="02010600030101010101" pitchFamily="2" charset="-122"/>
                <a:cs typeface="宋体" panose="02010600030101010101" pitchFamily="2" charset="-122"/>
              </a:rPr>
              <a:t>(1</a:t>
            </a:r>
            <a:r>
              <a:rPr lang="zh-CN" altLang="zh-CN" sz="2400" b="1" kern="100" dirty="0">
                <a:effectLst/>
                <a:highlight>
                  <a:srgbClr val="FFFF00"/>
                </a:highlight>
                <a:latin typeface="宋体" panose="02010600030101010101" pitchFamily="2" charset="-122"/>
                <a:ea typeface="宋体" panose="02010600030101010101" pitchFamily="2" charset="-122"/>
                <a:cs typeface="宋体" panose="02010600030101010101" pitchFamily="2" charset="-122"/>
              </a:rPr>
              <a:t>分</a:t>
            </a:r>
            <a:r>
              <a:rPr lang="en-US" altLang="zh-CN" sz="2400" b="1" kern="100" dirty="0">
                <a:effectLst/>
                <a:highlight>
                  <a:srgbClr val="FFFF00"/>
                </a:highlight>
                <a:latin typeface="宋体" panose="02010600030101010101" pitchFamily="2" charset="-122"/>
                <a:ea typeface="宋体" panose="02010600030101010101" pitchFamily="2" charset="-122"/>
                <a:cs typeface="宋体" panose="02010600030101010101" pitchFamily="2" charset="-122"/>
              </a:rPr>
              <a:t>)</a:t>
            </a:r>
            <a:endParaRPr lang="zh-CN" altLang="zh-CN" sz="2400" b="1" kern="100" dirty="0">
              <a:effectLst/>
              <a:latin typeface="宋体" panose="02010600030101010101" pitchFamily="2" charset="-122"/>
              <a:ea typeface="宋体" panose="02010600030101010101" pitchFamily="2" charset="-122"/>
              <a:cs typeface="宋体" panose="02010600030101010101" pitchFamily="2" charset="-122"/>
            </a:endParaRPr>
          </a:p>
          <a:p>
            <a:pPr algn="just">
              <a:buNone/>
            </a:pPr>
            <a:r>
              <a:rPr lang="en-US" altLang="zh-CN" sz="2400" b="1" kern="100" dirty="0">
                <a:effectLst/>
                <a:latin typeface="宋体" panose="02010600030101010101" pitchFamily="2" charset="-122"/>
                <a:ea typeface="宋体" panose="02010600030101010101" pitchFamily="2" charset="-122"/>
                <a:cs typeface="宋体" panose="02010600030101010101" pitchFamily="2" charset="-122"/>
              </a:rPr>
              <a:t>    </a:t>
            </a:r>
            <a:r>
              <a:rPr lang="zh-CN" altLang="zh-CN" sz="2400" b="1" kern="100" dirty="0">
                <a:effectLst/>
                <a:latin typeface="宋体" panose="02010600030101010101" pitchFamily="2" charset="-122"/>
                <a:ea typeface="宋体" panose="02010600030101010101" pitchFamily="2" charset="-122"/>
                <a:cs typeface="宋体" panose="02010600030101010101" pitchFamily="2" charset="-122"/>
              </a:rPr>
              <a:t>北京市坚持以人民为中心，依托</a:t>
            </a:r>
            <a:r>
              <a:rPr lang="en-US" altLang="zh-CN" sz="2400" b="1" kern="100" dirty="0">
                <a:effectLst/>
                <a:latin typeface="宋体" panose="02010600030101010101" pitchFamily="2" charset="-122"/>
                <a:ea typeface="宋体" panose="02010600030101010101" pitchFamily="2" charset="-122"/>
                <a:cs typeface="宋体" panose="02010600030101010101" pitchFamily="2" charset="-122"/>
              </a:rPr>
              <a:t>12345</a:t>
            </a:r>
            <a:r>
              <a:rPr lang="zh-CN" altLang="zh-CN" sz="2400" b="1" kern="100" dirty="0">
                <a:effectLst/>
                <a:latin typeface="宋体" panose="02010600030101010101" pitchFamily="2" charset="-122"/>
                <a:ea typeface="宋体" panose="02010600030101010101" pitchFamily="2" charset="-122"/>
                <a:cs typeface="宋体" panose="02010600030101010101" pitchFamily="2" charset="-122"/>
              </a:rPr>
              <a:t>热线和“每月一题”机制，回应民生诉求，保障人民的知情权、参与权、表达权、监督权。</a:t>
            </a:r>
            <a:r>
              <a:rPr lang="en-US" altLang="zh-CN" sz="2400" b="1" kern="100" dirty="0">
                <a:effectLst/>
                <a:highlight>
                  <a:srgbClr val="FFFF00"/>
                </a:highlight>
                <a:latin typeface="宋体" panose="02010600030101010101" pitchFamily="2" charset="-122"/>
                <a:ea typeface="宋体" panose="02010600030101010101" pitchFamily="2" charset="-122"/>
                <a:cs typeface="宋体" panose="02010600030101010101" pitchFamily="2" charset="-122"/>
              </a:rPr>
              <a:t>(</a:t>
            </a:r>
            <a:r>
              <a:rPr lang="zh-CN" altLang="zh-CN" sz="2400" b="1" kern="100" dirty="0">
                <a:effectLst/>
                <a:highlight>
                  <a:srgbClr val="FFFF00"/>
                </a:highlight>
                <a:latin typeface="宋体" panose="02010600030101010101" pitchFamily="2" charset="-122"/>
                <a:ea typeface="宋体" panose="02010600030101010101" pitchFamily="2" charset="-122"/>
                <a:cs typeface="宋体" panose="02010600030101010101" pitchFamily="2" charset="-122"/>
              </a:rPr>
              <a:t>机制</a:t>
            </a:r>
            <a:r>
              <a:rPr lang="en-US" altLang="zh-CN" sz="2400" b="1" kern="100" dirty="0">
                <a:effectLst/>
                <a:highlight>
                  <a:srgbClr val="FFFF00"/>
                </a:highlight>
                <a:latin typeface="宋体" panose="02010600030101010101" pitchFamily="2" charset="-122"/>
                <a:ea typeface="宋体" panose="02010600030101010101" pitchFamily="2" charset="-122"/>
                <a:cs typeface="宋体" panose="02010600030101010101" pitchFamily="2" charset="-122"/>
              </a:rPr>
              <a:t>/</a:t>
            </a:r>
            <a:r>
              <a:rPr lang="zh-CN" altLang="zh-CN" sz="2400" b="1" kern="100" dirty="0">
                <a:effectLst/>
                <a:highlight>
                  <a:srgbClr val="FFFF00"/>
                </a:highlight>
                <a:latin typeface="宋体" panose="02010600030101010101" pitchFamily="2" charset="-122"/>
                <a:ea typeface="宋体" panose="02010600030101010101" pitchFamily="2" charset="-122"/>
                <a:cs typeface="宋体" panose="02010600030101010101" pitchFamily="2" charset="-122"/>
              </a:rPr>
              <a:t>权利</a:t>
            </a:r>
            <a:r>
              <a:rPr lang="en-US" altLang="zh-CN" sz="2400" b="1" kern="100" dirty="0">
                <a:effectLst/>
                <a:highlight>
                  <a:srgbClr val="FFFF00"/>
                </a:highlight>
                <a:latin typeface="宋体" panose="02010600030101010101" pitchFamily="2" charset="-122"/>
                <a:ea typeface="宋体" panose="02010600030101010101" pitchFamily="2" charset="-122"/>
                <a:cs typeface="宋体" panose="02010600030101010101" pitchFamily="2" charset="-122"/>
              </a:rPr>
              <a:t>+</a:t>
            </a:r>
            <a:r>
              <a:rPr lang="zh-CN" altLang="zh-CN" sz="2400" b="1" kern="100" dirty="0">
                <a:effectLst/>
                <a:highlight>
                  <a:srgbClr val="FFFF00"/>
                </a:highlight>
                <a:latin typeface="宋体" panose="02010600030101010101" pitchFamily="2" charset="-122"/>
                <a:ea typeface="宋体" panose="02010600030101010101" pitchFamily="2" charset="-122"/>
                <a:cs typeface="宋体" panose="02010600030101010101" pitchFamily="2" charset="-122"/>
              </a:rPr>
              <a:t>材料</a:t>
            </a:r>
            <a:r>
              <a:rPr lang="en-US" altLang="zh-CN" sz="2400" b="1" kern="100" dirty="0">
                <a:effectLst/>
                <a:highlight>
                  <a:srgbClr val="FFFF00"/>
                </a:highlight>
                <a:latin typeface="宋体" panose="02010600030101010101" pitchFamily="2" charset="-122"/>
                <a:ea typeface="宋体" panose="02010600030101010101" pitchFamily="2" charset="-122"/>
                <a:cs typeface="宋体" panose="02010600030101010101" pitchFamily="2" charset="-122"/>
              </a:rPr>
              <a:t>2</a:t>
            </a:r>
            <a:r>
              <a:rPr lang="zh-CN" altLang="zh-CN" sz="2400" b="1" kern="100" dirty="0">
                <a:effectLst/>
                <a:highlight>
                  <a:srgbClr val="FFFF00"/>
                </a:highlight>
                <a:latin typeface="宋体" panose="02010600030101010101" pitchFamily="2" charset="-122"/>
                <a:ea typeface="宋体" panose="02010600030101010101" pitchFamily="2" charset="-122"/>
                <a:cs typeface="宋体" panose="02010600030101010101" pitchFamily="2" charset="-122"/>
              </a:rPr>
              <a:t>分</a:t>
            </a:r>
            <a:r>
              <a:rPr lang="en-US" altLang="zh-CN" sz="2400" b="1" kern="100" dirty="0">
                <a:effectLst/>
                <a:highlight>
                  <a:srgbClr val="FFFF00"/>
                </a:highlight>
                <a:latin typeface="宋体" panose="02010600030101010101" pitchFamily="2" charset="-122"/>
                <a:ea typeface="宋体" panose="02010600030101010101" pitchFamily="2" charset="-122"/>
                <a:cs typeface="宋体" panose="02010600030101010101" pitchFamily="2" charset="-122"/>
              </a:rPr>
              <a:t>)   </a:t>
            </a:r>
            <a:r>
              <a:rPr lang="en-US" altLang="zh-CN" sz="2400" b="1" kern="100" dirty="0">
                <a:effectLst/>
                <a:latin typeface="宋体" panose="02010600030101010101" pitchFamily="2" charset="-122"/>
                <a:ea typeface="宋体" panose="02010600030101010101" pitchFamily="2" charset="-122"/>
                <a:cs typeface="宋体" panose="02010600030101010101" pitchFamily="2" charset="-122"/>
              </a:rPr>
              <a:t>        </a:t>
            </a:r>
            <a:endParaRPr lang="en-US" altLang="zh-CN" sz="2400" b="1" kern="100" dirty="0">
              <a:effectLst/>
              <a:latin typeface="宋体" panose="02010600030101010101" pitchFamily="2" charset="-122"/>
              <a:ea typeface="宋体" panose="02010600030101010101" pitchFamily="2" charset="-122"/>
              <a:cs typeface="宋体" panose="02010600030101010101" pitchFamily="2" charset="-122"/>
            </a:endParaRPr>
          </a:p>
          <a:p>
            <a:pPr algn="just">
              <a:buNone/>
            </a:pPr>
            <a:r>
              <a:rPr lang="en-US" altLang="zh-CN" sz="2400" b="1" kern="100" dirty="0">
                <a:effectLst/>
                <a:latin typeface="宋体" panose="02010600030101010101" pitchFamily="2" charset="-122"/>
                <a:ea typeface="宋体" panose="02010600030101010101" pitchFamily="2" charset="-122"/>
                <a:cs typeface="宋体" panose="02010600030101010101" pitchFamily="2" charset="-122"/>
              </a:rPr>
              <a:t>    </a:t>
            </a:r>
            <a:r>
              <a:rPr lang="zh-CN" altLang="zh-CN" sz="2400" b="1" kern="100" dirty="0">
                <a:effectLst/>
                <a:latin typeface="宋体" panose="02010600030101010101" pitchFamily="2" charset="-122"/>
                <a:ea typeface="宋体" panose="02010600030101010101" pitchFamily="2" charset="-122"/>
                <a:cs typeface="宋体" panose="02010600030101010101" pitchFamily="2" charset="-122"/>
              </a:rPr>
              <a:t>北京市以法治思维和法治方式推进城市治理，北京市人大</a:t>
            </a:r>
            <a:r>
              <a:rPr lang="en-US" altLang="zh-CN" sz="2400" b="1" kern="100" dirty="0">
                <a:effectLst/>
                <a:latin typeface="宋体" panose="02010600030101010101" pitchFamily="2" charset="-122"/>
                <a:ea typeface="宋体" panose="02010600030101010101" pitchFamily="2" charset="-122"/>
                <a:cs typeface="宋体" panose="02010600030101010101" pitchFamily="2" charset="-122"/>
              </a:rPr>
              <a:t>(</a:t>
            </a:r>
            <a:r>
              <a:rPr lang="zh-CN" altLang="zh-CN" sz="2400" b="1" kern="100" dirty="0">
                <a:effectLst/>
                <a:latin typeface="宋体" panose="02010600030101010101" pitchFamily="2" charset="-122"/>
                <a:ea typeface="宋体" panose="02010600030101010101" pitchFamily="2" charset="-122"/>
                <a:cs typeface="宋体" panose="02010600030101010101" pitchFamily="2" charset="-122"/>
              </a:rPr>
              <a:t>作为地方权力机关</a:t>
            </a:r>
            <a:r>
              <a:rPr lang="en-US" altLang="zh-CN" sz="2400" b="1" kern="100" dirty="0">
                <a:effectLst/>
                <a:latin typeface="宋体" panose="02010600030101010101" pitchFamily="2" charset="-122"/>
                <a:ea typeface="宋体" panose="02010600030101010101" pitchFamily="2" charset="-122"/>
                <a:cs typeface="宋体" panose="02010600030101010101" pitchFamily="2" charset="-122"/>
              </a:rPr>
              <a:t>)</a:t>
            </a:r>
            <a:r>
              <a:rPr lang="zh-CN" altLang="zh-CN" sz="2400" b="1" kern="100" dirty="0">
                <a:effectLst/>
                <a:latin typeface="宋体" panose="02010600030101010101" pitchFamily="2" charset="-122"/>
                <a:ea typeface="宋体" panose="02010600030101010101" pitchFamily="2" charset="-122"/>
                <a:cs typeface="宋体" panose="02010600030101010101" pitchFamily="2" charset="-122"/>
              </a:rPr>
              <a:t>行使地方立法权，为破解难题提供</a:t>
            </a:r>
            <a:r>
              <a:rPr lang="zh-CN" altLang="zh-CN" sz="2400" b="1" kern="100" dirty="0">
                <a:solidFill>
                  <a:srgbClr val="EE0000"/>
                </a:solidFill>
                <a:effectLst/>
                <a:latin typeface="宋体" panose="02010600030101010101" pitchFamily="2" charset="-122"/>
                <a:ea typeface="宋体" panose="02010600030101010101" pitchFamily="2" charset="-122"/>
                <a:cs typeface="宋体" panose="02010600030101010101" pitchFamily="2" charset="-122"/>
              </a:rPr>
              <a:t>法律保障</a:t>
            </a:r>
            <a:r>
              <a:rPr lang="en-US" altLang="zh-CN" sz="2400" b="1" kern="100" dirty="0">
                <a:solidFill>
                  <a:srgbClr val="EE0000"/>
                </a:solidFill>
                <a:effectLst/>
                <a:latin typeface="宋体" panose="02010600030101010101" pitchFamily="2" charset="-122"/>
                <a:ea typeface="宋体" panose="02010600030101010101" pitchFamily="2" charset="-122"/>
                <a:cs typeface="宋体" panose="02010600030101010101" pitchFamily="2" charset="-122"/>
              </a:rPr>
              <a:t>(</a:t>
            </a:r>
            <a:r>
              <a:rPr lang="zh-CN" altLang="zh-CN" sz="2400" b="1" kern="100" dirty="0">
                <a:solidFill>
                  <a:srgbClr val="EE0000"/>
                </a:solidFill>
                <a:effectLst/>
                <a:latin typeface="宋体" panose="02010600030101010101" pitchFamily="2" charset="-122"/>
                <a:ea typeface="宋体" panose="02010600030101010101" pitchFamily="2" charset="-122"/>
                <a:cs typeface="宋体" panose="02010600030101010101" pitchFamily="2" charset="-122"/>
              </a:rPr>
              <a:t>或有法可依</a:t>
            </a:r>
            <a:r>
              <a:rPr lang="en-US" altLang="zh-CN" sz="2400" b="1" kern="100" dirty="0">
                <a:solidFill>
                  <a:srgbClr val="EE0000"/>
                </a:solidFill>
                <a:effectLst/>
                <a:latin typeface="宋体" panose="02010600030101010101" pitchFamily="2" charset="-122"/>
                <a:ea typeface="宋体" panose="02010600030101010101" pitchFamily="2" charset="-122"/>
                <a:cs typeface="宋体" panose="02010600030101010101" pitchFamily="2" charset="-122"/>
              </a:rPr>
              <a:t>)</a:t>
            </a:r>
            <a:r>
              <a:rPr lang="zh-CN" altLang="zh-CN" sz="2400" b="1" kern="100" dirty="0">
                <a:solidFill>
                  <a:srgbClr val="EE0000"/>
                </a:solidFill>
                <a:effectLst/>
                <a:latin typeface="宋体" panose="02010600030101010101" pitchFamily="2" charset="-122"/>
                <a:ea typeface="宋体" panose="02010600030101010101" pitchFamily="2" charset="-122"/>
                <a:cs typeface="宋体" panose="02010600030101010101" pitchFamily="2" charset="-122"/>
              </a:rPr>
              <a:t>。完善法律体系，严格规范执法，促进全民守法</a:t>
            </a:r>
            <a:r>
              <a:rPr lang="zh-CN" altLang="zh-CN" sz="2400" b="1" kern="100" dirty="0">
                <a:effectLst/>
                <a:latin typeface="宋体" panose="02010600030101010101" pitchFamily="2" charset="-122"/>
                <a:ea typeface="宋体" panose="02010600030101010101" pitchFamily="2" charset="-122"/>
                <a:cs typeface="宋体" panose="02010600030101010101" pitchFamily="2" charset="-122"/>
              </a:rPr>
              <a:t>。【学法尊法守法用法、法治社会、</a:t>
            </a:r>
            <a:r>
              <a:rPr lang="zh-CN" altLang="zh-CN" sz="2400" b="1" kern="100" dirty="0">
                <a:effectLst/>
                <a:highlight>
                  <a:srgbClr val="00FFFF"/>
                </a:highlight>
                <a:latin typeface="宋体" panose="02010600030101010101" pitchFamily="2" charset="-122"/>
                <a:ea typeface="宋体" panose="02010600030101010101" pitchFamily="2" charset="-122"/>
                <a:cs typeface="宋体" panose="02010600030101010101" pitchFamily="2" charset="-122"/>
              </a:rPr>
              <a:t>法治观念</a:t>
            </a:r>
            <a:r>
              <a:rPr lang="zh-CN" altLang="zh-CN" sz="2400" b="1" kern="100" dirty="0">
                <a:effectLst/>
                <a:latin typeface="宋体" panose="02010600030101010101" pitchFamily="2" charset="-122"/>
                <a:ea typeface="宋体" panose="02010600030101010101" pitchFamily="2" charset="-122"/>
                <a:cs typeface="宋体" panose="02010600030101010101" pitchFamily="2" charset="-122"/>
              </a:rPr>
              <a:t>】</a:t>
            </a:r>
            <a:r>
              <a:rPr lang="en-US" altLang="zh-CN" sz="2400" b="1" kern="100" dirty="0">
                <a:effectLst/>
                <a:highlight>
                  <a:srgbClr val="FFFF00"/>
                </a:highlight>
                <a:latin typeface="宋体" panose="02010600030101010101" pitchFamily="2" charset="-122"/>
                <a:ea typeface="宋体" panose="02010600030101010101" pitchFamily="2" charset="-122"/>
                <a:cs typeface="宋体" panose="02010600030101010101" pitchFamily="2" charset="-122"/>
              </a:rPr>
              <a:t>(2</a:t>
            </a:r>
            <a:r>
              <a:rPr lang="zh-CN" altLang="zh-CN" sz="2400" b="1" kern="100" dirty="0">
                <a:effectLst/>
                <a:highlight>
                  <a:srgbClr val="FFFF00"/>
                </a:highlight>
                <a:latin typeface="宋体" panose="02010600030101010101" pitchFamily="2" charset="-122"/>
                <a:ea typeface="宋体" panose="02010600030101010101" pitchFamily="2" charset="-122"/>
                <a:cs typeface="宋体" panose="02010600030101010101" pitchFamily="2" charset="-122"/>
              </a:rPr>
              <a:t>分</a:t>
            </a:r>
            <a:r>
              <a:rPr lang="en-US" altLang="zh-CN" sz="2400" b="1" kern="100" dirty="0">
                <a:effectLst/>
                <a:highlight>
                  <a:srgbClr val="FFFF00"/>
                </a:highlight>
                <a:latin typeface="宋体" panose="02010600030101010101" pitchFamily="2" charset="-122"/>
                <a:ea typeface="宋体" panose="02010600030101010101" pitchFamily="2" charset="-122"/>
                <a:cs typeface="宋体" panose="02010600030101010101" pitchFamily="2" charset="-122"/>
              </a:rPr>
              <a:t>)</a:t>
            </a:r>
            <a:r>
              <a:rPr lang="zh-CN" altLang="zh-CN" sz="2400" b="1" kern="100" dirty="0">
                <a:effectLst/>
                <a:highlight>
                  <a:srgbClr val="FFFF00"/>
                </a:highlight>
                <a:latin typeface="宋体" panose="02010600030101010101" pitchFamily="2" charset="-122"/>
                <a:ea typeface="宋体" panose="02010600030101010101" pitchFamily="2" charset="-122"/>
                <a:cs typeface="宋体" panose="02010600030101010101" pitchFamily="2" charset="-122"/>
              </a:rPr>
              <a:t>从宏观、微观论述都可</a:t>
            </a:r>
            <a:r>
              <a:rPr kumimoji="0" lang="zh-CN" altLang="en-US" sz="2400" b="1" i="0" u="none" strike="noStrike" kern="1200" cap="none" spc="0" normalizeH="0" baseline="0" noProof="0" dirty="0">
                <a:ln>
                  <a:noFill/>
                </a:ln>
                <a:solidFill>
                  <a:srgbClr val="FF0000"/>
                </a:solidFill>
                <a:effectLst/>
                <a:highlight>
                  <a:srgbClr val="FFFF00"/>
                </a:highlight>
                <a:uLnTx/>
                <a:uFillTx/>
                <a:latin typeface="宋体" panose="02010600030101010101" pitchFamily="2" charset="-122"/>
                <a:ea typeface="宋体" panose="02010600030101010101" pitchFamily="2" charset="-122"/>
                <a:cs typeface="宋体" panose="02010600030101010101" pitchFamily="2" charset="-122"/>
              </a:rPr>
              <a:t>三选二</a:t>
            </a:r>
            <a:endParaRPr lang="zh-CN" altLang="zh-CN" sz="2400" b="1" kern="100" dirty="0">
              <a:effectLst/>
              <a:latin typeface="宋体" panose="02010600030101010101" pitchFamily="2" charset="-122"/>
              <a:ea typeface="宋体" panose="02010600030101010101" pitchFamily="2" charset="-122"/>
              <a:cs typeface="宋体" panose="02010600030101010101" pitchFamily="2" charset="-122"/>
            </a:endParaRPr>
          </a:p>
          <a:p>
            <a:pPr algn="just">
              <a:buNone/>
            </a:pPr>
            <a:r>
              <a:rPr lang="en-US" altLang="zh-CN" sz="2400" b="1" kern="100" dirty="0">
                <a:effectLst/>
                <a:latin typeface="宋体" panose="02010600030101010101" pitchFamily="2" charset="-122"/>
                <a:ea typeface="宋体" panose="02010600030101010101" pitchFamily="2" charset="-122"/>
                <a:cs typeface="宋体" panose="02010600030101010101" pitchFamily="2" charset="-122"/>
              </a:rPr>
              <a:t>    </a:t>
            </a:r>
            <a:r>
              <a:rPr lang="zh-CN" altLang="zh-CN" sz="2400" b="1" kern="100" dirty="0">
                <a:effectLst/>
                <a:latin typeface="宋体" panose="02010600030101010101" pitchFamily="2" charset="-122"/>
                <a:ea typeface="宋体" panose="02010600030101010101" pitchFamily="2" charset="-122"/>
                <a:cs typeface="宋体" panose="02010600030101010101" pitchFamily="2" charset="-122"/>
              </a:rPr>
              <a:t>政府善用绣花功夫，通过精准施策和智能科技，建设职能科学、权责法定、执法严明、公开公正、智能高效、人民满意的法治政府，提升城市治理效能。【人民满意、政府效能、多措并举、治理体系与治理能力现代化】</a:t>
            </a:r>
            <a:r>
              <a:rPr lang="en-US" altLang="zh-CN" sz="2400" b="1" kern="100" dirty="0">
                <a:effectLst/>
                <a:highlight>
                  <a:srgbClr val="FFFF00"/>
                </a:highlight>
                <a:latin typeface="宋体" panose="02010600030101010101" pitchFamily="2" charset="-122"/>
                <a:ea typeface="宋体" panose="02010600030101010101" pitchFamily="2" charset="-122"/>
                <a:cs typeface="宋体" panose="02010600030101010101" pitchFamily="2" charset="-122"/>
              </a:rPr>
              <a:t>(2</a:t>
            </a:r>
            <a:r>
              <a:rPr lang="zh-CN" altLang="zh-CN" sz="2400" b="1" kern="100" dirty="0">
                <a:effectLst/>
                <a:highlight>
                  <a:srgbClr val="FFFF00"/>
                </a:highlight>
                <a:latin typeface="宋体" panose="02010600030101010101" pitchFamily="2" charset="-122"/>
                <a:ea typeface="宋体" panose="02010600030101010101" pitchFamily="2" charset="-122"/>
                <a:cs typeface="宋体" panose="02010600030101010101" pitchFamily="2" charset="-122"/>
              </a:rPr>
              <a:t>分</a:t>
            </a:r>
            <a:r>
              <a:rPr lang="en-US" altLang="zh-CN" sz="2400" b="1" kern="100" dirty="0">
                <a:effectLst/>
                <a:highlight>
                  <a:srgbClr val="FFFF00"/>
                </a:highlight>
                <a:latin typeface="宋体" panose="02010600030101010101" pitchFamily="2" charset="-122"/>
                <a:ea typeface="宋体" panose="02010600030101010101" pitchFamily="2" charset="-122"/>
                <a:cs typeface="宋体" panose="02010600030101010101" pitchFamily="2" charset="-122"/>
              </a:rPr>
              <a:t>)</a:t>
            </a:r>
            <a:endParaRPr lang="zh-CN" altLang="zh-CN" sz="2400" b="1" kern="100" dirty="0">
              <a:effectLst/>
              <a:latin typeface="宋体" panose="02010600030101010101" pitchFamily="2" charset="-122"/>
              <a:ea typeface="宋体" panose="02010600030101010101" pitchFamily="2" charset="-122"/>
              <a:cs typeface="宋体" panose="02010600030101010101" pitchFamily="2" charset="-122"/>
            </a:endParaRPr>
          </a:p>
          <a:p>
            <a:pPr algn="just">
              <a:buNone/>
            </a:pPr>
            <a:r>
              <a:rPr lang="zh-CN" altLang="zh-CN" sz="2400" b="1" kern="100" dirty="0">
                <a:effectLst/>
                <a:highlight>
                  <a:srgbClr val="00FF00"/>
                </a:highlight>
                <a:latin typeface="宋体" panose="02010600030101010101" pitchFamily="2" charset="-122"/>
                <a:ea typeface="宋体" panose="02010600030101010101" pitchFamily="2" charset="-122"/>
                <a:cs typeface="宋体" panose="02010600030101010101" pitchFamily="2" charset="-122"/>
              </a:rPr>
              <a:t>必答智能高效、治理效能</a:t>
            </a:r>
            <a:endParaRPr lang="zh-CN" altLang="zh-CN" sz="2400" b="1" kern="100" dirty="0">
              <a:effectLst/>
              <a:highlight>
                <a:srgbClr val="00FF00"/>
              </a:highlight>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3"/>
          <p:cNvSpPr txBox="1"/>
          <p:nvPr/>
        </p:nvSpPr>
        <p:spPr>
          <a:xfrm>
            <a:off x="299720" y="117475"/>
            <a:ext cx="3070225" cy="750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三、典型示例</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
        <p:nvSpPr>
          <p:cNvPr id="2" name="TextBox 1"/>
          <p:cNvSpPr txBox="1"/>
          <p:nvPr/>
        </p:nvSpPr>
        <p:spPr>
          <a:xfrm>
            <a:off x="299720" y="2365695"/>
            <a:ext cx="1596192" cy="830997"/>
          </a:xfrm>
          <a:prstGeom prst="rect">
            <a:avLst/>
          </a:prstGeom>
          <a:noFill/>
        </p:spPr>
        <p:txBody>
          <a:bodyPr wrap="square" rtlCol="0">
            <a:spAutoFit/>
          </a:bodyPr>
          <a:lstStyle/>
          <a:p>
            <a:r>
              <a:rPr lang="zh-CN" altLang="en-US" sz="2400" b="1" dirty="0">
                <a:solidFill>
                  <a:srgbClr val="FF0000"/>
                </a:solidFill>
                <a:latin typeface="华文楷体" panose="02010600040101010101" charset="-122"/>
                <a:ea typeface="华文楷体" panose="02010600040101010101" charset="-122"/>
              </a:rPr>
              <a:t>优秀作答</a:t>
            </a:r>
            <a:endParaRPr lang="en-US" altLang="zh-CN" sz="2400" b="1" dirty="0">
              <a:solidFill>
                <a:srgbClr val="FF0000"/>
              </a:solidFill>
              <a:latin typeface="华文楷体" panose="02010600040101010101" charset="-122"/>
              <a:ea typeface="华文楷体" panose="02010600040101010101" charset="-122"/>
            </a:endParaRPr>
          </a:p>
          <a:p>
            <a:pPr algn="ctr"/>
            <a:r>
              <a:rPr lang="en-US" altLang="zh-CN" sz="2400" b="1" dirty="0">
                <a:solidFill>
                  <a:srgbClr val="FF0000"/>
                </a:solidFill>
                <a:latin typeface="华文楷体" panose="02010600040101010101" charset="-122"/>
                <a:ea typeface="华文楷体" panose="02010600040101010101" charset="-122"/>
              </a:rPr>
              <a:t>8</a:t>
            </a:r>
            <a:r>
              <a:rPr lang="zh-CN" altLang="en-US" sz="2400" b="1" dirty="0">
                <a:solidFill>
                  <a:srgbClr val="FF0000"/>
                </a:solidFill>
                <a:latin typeface="华文楷体" panose="02010600040101010101" charset="-122"/>
                <a:ea typeface="华文楷体" panose="02010600040101010101" charset="-122"/>
              </a:rPr>
              <a:t>分</a:t>
            </a:r>
            <a:endParaRPr lang="zh-CN" altLang="en-US" sz="2400" b="1" dirty="0">
              <a:solidFill>
                <a:srgbClr val="FF0000"/>
              </a:solidFill>
              <a:latin typeface="华文楷体" panose="02010600040101010101" charset="-122"/>
              <a:ea typeface="华文楷体" panose="02010600040101010101" charset="-122"/>
            </a:endParaRPr>
          </a:p>
        </p:txBody>
      </p:sp>
      <p:sp>
        <p:nvSpPr>
          <p:cNvPr id="3" name="AutoShape 2" descr="http://yjgz.zone.ftedu.cn/testmate/json/GetImageFromBuffer.ashx?token=56037t1958027&amp;ImageBufferID=103963534524"/>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 name="AutoShape 4" descr="http://yjgz.zone.ftedu.cn/testmate/json/GetImageFromBuffer.ashx?token=56037t1958027&amp;ImageBufferID=103963534524"/>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895912" y="868045"/>
            <a:ext cx="10143688" cy="592734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162174" y="771525"/>
            <a:ext cx="10410825" cy="5657856"/>
          </a:xfrm>
          <a:prstGeom prst="rect">
            <a:avLst/>
          </a:prstGeom>
        </p:spPr>
      </p:pic>
      <p:sp>
        <p:nvSpPr>
          <p:cNvPr id="2" name="TextBox 1"/>
          <p:cNvSpPr txBox="1"/>
          <p:nvPr/>
        </p:nvSpPr>
        <p:spPr>
          <a:xfrm>
            <a:off x="0" y="2598003"/>
            <a:ext cx="3224530" cy="830997"/>
          </a:xfrm>
          <a:prstGeom prst="rect">
            <a:avLst/>
          </a:prstGeom>
          <a:noFill/>
        </p:spPr>
        <p:txBody>
          <a:bodyPr wrap="square" rtlCol="0">
            <a:spAutoFit/>
          </a:bodyPr>
          <a:lstStyle/>
          <a:p>
            <a:r>
              <a:rPr lang="zh-CN" altLang="en-US" sz="2400" b="1" dirty="0">
                <a:solidFill>
                  <a:srgbClr val="FF0000"/>
                </a:solidFill>
                <a:latin typeface="华文楷体" panose="02010600040101010101" charset="-122"/>
                <a:ea typeface="华文楷体" panose="02010600040101010101" charset="-122"/>
              </a:rPr>
              <a:t>优秀作答</a:t>
            </a:r>
            <a:endParaRPr lang="en-US" altLang="zh-CN" sz="2400" b="1" dirty="0">
              <a:solidFill>
                <a:srgbClr val="FF0000"/>
              </a:solidFill>
              <a:latin typeface="华文楷体" panose="02010600040101010101" charset="-122"/>
              <a:ea typeface="华文楷体" panose="02010600040101010101" charset="-122"/>
            </a:endParaRPr>
          </a:p>
          <a:p>
            <a:r>
              <a:rPr lang="zh-CN" altLang="en-US" sz="2400" b="1" dirty="0">
                <a:solidFill>
                  <a:srgbClr val="FF0000"/>
                </a:solidFill>
                <a:latin typeface="华文楷体" panose="02010600040101010101" charset="-122"/>
                <a:ea typeface="华文楷体" panose="02010600040101010101" charset="-122"/>
              </a:rPr>
              <a:t>思路清晰、分层可见</a:t>
            </a:r>
            <a:endParaRPr lang="zh-CN" altLang="en-US" sz="2400" b="1" dirty="0">
              <a:solidFill>
                <a:srgbClr val="FF0000"/>
              </a:solidFill>
              <a:latin typeface="华文楷体" panose="02010600040101010101" charset="-122"/>
              <a:ea typeface="华文楷体" panose="02010600040101010101"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23974" y="1054153"/>
            <a:ext cx="9953625" cy="548869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1337" y="2357305"/>
            <a:ext cx="1778465" cy="1200329"/>
          </a:xfrm>
          <a:prstGeom prst="rect">
            <a:avLst/>
          </a:prstGeom>
          <a:noFill/>
        </p:spPr>
        <p:txBody>
          <a:bodyPr wrap="square" rtlCol="0">
            <a:spAutoFit/>
          </a:bodyPr>
          <a:lstStyle/>
          <a:p>
            <a:pPr algn="just"/>
            <a:r>
              <a:rPr lang="en-US" altLang="zh-CN" sz="2400" b="1" dirty="0">
                <a:solidFill>
                  <a:srgbClr val="FF0000"/>
                </a:solidFill>
                <a:latin typeface="华文楷体" panose="02010600040101010101" charset="-122"/>
                <a:ea typeface="华文楷体" panose="02010600040101010101" charset="-122"/>
              </a:rPr>
              <a:t>3-4</a:t>
            </a:r>
            <a:r>
              <a:rPr lang="zh-CN" altLang="en-US" sz="2400" b="1" dirty="0">
                <a:solidFill>
                  <a:srgbClr val="FF0000"/>
                </a:solidFill>
                <a:latin typeface="华文楷体" panose="02010600040101010101" charset="-122"/>
                <a:ea typeface="华文楷体" panose="02010600040101010101" charset="-122"/>
              </a:rPr>
              <a:t>分层次学生的普遍问题</a:t>
            </a:r>
            <a:endParaRPr lang="zh-CN" altLang="en-US" sz="2400" b="1" dirty="0">
              <a:solidFill>
                <a:srgbClr val="FF0000"/>
              </a:solidFill>
              <a:latin typeface="华文楷体" panose="02010600040101010101" charset="-122"/>
              <a:ea typeface="华文楷体" panose="02010600040101010101" charset="-122"/>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26964" y="971550"/>
            <a:ext cx="10165036" cy="559178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1176863" y="1001819"/>
            <a:ext cx="10481737" cy="527515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1337" y="2357305"/>
            <a:ext cx="1778465" cy="1200329"/>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华文楷体" panose="02010600040101010101" charset="-122"/>
                <a:ea typeface="华文楷体" panose="02010600040101010101" charset="-122"/>
                <a:cs typeface="+mn-cs"/>
              </a:rPr>
              <a:t>1-2</a:t>
            </a:r>
            <a:r>
              <a:rPr kumimoji="0" lang="zh-CN" altLang="en-US" sz="2400" b="1" i="0" u="none" strike="noStrike" kern="1200" cap="none" spc="0" normalizeH="0" baseline="0" noProof="0" dirty="0">
                <a:ln>
                  <a:noFill/>
                </a:ln>
                <a:solidFill>
                  <a:srgbClr val="FF0000"/>
                </a:solidFill>
                <a:effectLst/>
                <a:uLnTx/>
                <a:uFillTx/>
                <a:latin typeface="华文楷体" panose="02010600040101010101" charset="-122"/>
                <a:ea typeface="华文楷体" panose="02010600040101010101" charset="-122"/>
                <a:cs typeface="+mn-cs"/>
              </a:rPr>
              <a:t>分层次学生的普遍问题</a:t>
            </a:r>
            <a:endParaRPr kumimoji="0" lang="zh-CN" altLang="en-US" sz="2400" b="1" i="0" u="none" strike="noStrike" kern="1200" cap="none" spc="0" normalizeH="0" baseline="0" noProof="0" dirty="0">
              <a:ln>
                <a:noFill/>
              </a:ln>
              <a:solidFill>
                <a:srgbClr val="FF0000"/>
              </a:solidFill>
              <a:effectLst/>
              <a:uLnTx/>
              <a:uFillTx/>
              <a:latin typeface="华文楷体" panose="02010600040101010101" charset="-122"/>
              <a:ea typeface="华文楷体" panose="02010600040101010101" charset="-122"/>
              <a:cs typeface="+mn-cs"/>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79802" y="1038225"/>
            <a:ext cx="9921477" cy="545943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3"/>
          <p:cNvSpPr txBox="1"/>
          <p:nvPr/>
        </p:nvSpPr>
        <p:spPr>
          <a:xfrm>
            <a:off x="288925" y="0"/>
            <a:ext cx="4175760" cy="750570"/>
          </a:xfrm>
          <a:prstGeom prst="rect">
            <a:avLst/>
          </a:prstGeom>
        </p:spPr>
        <p:txBody>
          <a:bodyPr vert="horz" lIns="91440" tIns="45720" rIns="91440" bIns="4572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四、学生问题及建议</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
        <p:nvSpPr>
          <p:cNvPr id="4" name="文本框 3"/>
          <p:cNvSpPr txBox="1"/>
          <p:nvPr/>
        </p:nvSpPr>
        <p:spPr>
          <a:xfrm>
            <a:off x="477518" y="959817"/>
            <a:ext cx="10965063" cy="4746625"/>
          </a:xfrm>
          <a:prstGeom prst="rect">
            <a:avLst/>
          </a:prstGeom>
          <a:noFill/>
        </p:spPr>
        <p:txBody>
          <a:bodyPr wrap="square" rtlCol="0">
            <a:spAutoFit/>
          </a:bodyPr>
          <a:lstStyle/>
          <a:p>
            <a:pPr algn="just">
              <a:lnSpc>
                <a:spcPts val="3300"/>
              </a:lnSpc>
            </a:pPr>
            <a:r>
              <a:rPr lang="en-US" altLang="zh-CN" sz="2400" b="1" dirty="0">
                <a:solidFill>
                  <a:srgbClr val="FF0000"/>
                </a:solidFill>
                <a:latin typeface="黑体" panose="02010609060101010101" charset="-122"/>
                <a:ea typeface="黑体" panose="02010609060101010101" charset="-122"/>
                <a:cs typeface="黑体" panose="02010609060101010101" charset="-122"/>
              </a:rPr>
              <a:t>1</a:t>
            </a:r>
            <a:r>
              <a:rPr lang="zh-CN" altLang="en-US" sz="2400" b="1" dirty="0">
                <a:solidFill>
                  <a:srgbClr val="FF0000"/>
                </a:solidFill>
                <a:latin typeface="黑体" panose="02010609060101010101" charset="-122"/>
                <a:ea typeface="黑体" panose="02010609060101010101" charset="-122"/>
                <a:cs typeface="黑体" panose="02010609060101010101" charset="-122"/>
              </a:rPr>
              <a:t>、作答逻辑方面：</a:t>
            </a:r>
            <a:endParaRPr lang="en-US" altLang="zh-CN" sz="2400" b="1" dirty="0">
              <a:solidFill>
                <a:srgbClr val="FF0000"/>
              </a:solidFill>
              <a:latin typeface="黑体" panose="02010609060101010101" charset="-122"/>
              <a:ea typeface="黑体" panose="02010609060101010101" charset="-122"/>
              <a:cs typeface="黑体" panose="02010609060101010101" charset="-122"/>
            </a:endParaRPr>
          </a:p>
          <a:p>
            <a:pPr indent="457200" algn="just">
              <a:lnSpc>
                <a:spcPts val="3300"/>
              </a:lnSpc>
            </a:pPr>
            <a:r>
              <a:rPr lang="zh-CN" altLang="en-US" sz="2400" b="1" dirty="0">
                <a:latin typeface="黑体" panose="02010609060101010101" charset="-122"/>
                <a:ea typeface="黑体" panose="02010609060101010101" charset="-122"/>
                <a:cs typeface="黑体" panose="02010609060101010101" charset="-122"/>
              </a:rPr>
              <a:t>一是学科知识语言表述不精准。典型问题，党、人、法相统一缩写语言；法制与法治不区分，部分学生在描述法治保障和法制保障混淆，中国特色社会主义法治体系合法制体系混淆。二是逻辑混乱无法形成完整的逻辑链条，想到什么知识堆什么。</a:t>
            </a:r>
            <a:endParaRPr lang="en-US" altLang="zh-CN" sz="2400" b="1" dirty="0">
              <a:latin typeface="黑体" panose="02010609060101010101" charset="-122"/>
              <a:ea typeface="黑体" panose="02010609060101010101" charset="-122"/>
              <a:cs typeface="黑体" panose="02010609060101010101" charset="-122"/>
            </a:endParaRPr>
          </a:p>
          <a:p>
            <a:pPr algn="just">
              <a:lnSpc>
                <a:spcPts val="3300"/>
              </a:lnSpc>
            </a:pPr>
            <a:r>
              <a:rPr lang="en-US" altLang="zh-CN" sz="2400" b="1" dirty="0">
                <a:solidFill>
                  <a:srgbClr val="FF0000"/>
                </a:solidFill>
                <a:latin typeface="黑体" panose="02010609060101010101" charset="-122"/>
                <a:ea typeface="黑体" panose="02010609060101010101" charset="-122"/>
                <a:cs typeface="黑体" panose="02010609060101010101" charset="-122"/>
              </a:rPr>
              <a:t>2</a:t>
            </a:r>
            <a:r>
              <a:rPr lang="zh-CN" altLang="en-US" sz="2400" b="1" dirty="0">
                <a:solidFill>
                  <a:srgbClr val="FF0000"/>
                </a:solidFill>
                <a:latin typeface="黑体" panose="02010609060101010101" charset="-122"/>
                <a:ea typeface="黑体" panose="02010609060101010101" charset="-122"/>
                <a:cs typeface="黑体" panose="02010609060101010101" charset="-122"/>
              </a:rPr>
              <a:t>、设问逻辑方面：</a:t>
            </a:r>
            <a:endParaRPr lang="en-US" altLang="zh-CN" sz="2400" b="1" dirty="0">
              <a:solidFill>
                <a:srgbClr val="FF0000"/>
              </a:solidFill>
              <a:latin typeface="黑体" panose="02010609060101010101" charset="-122"/>
              <a:ea typeface="黑体" panose="02010609060101010101" charset="-122"/>
              <a:cs typeface="黑体" panose="02010609060101010101" charset="-122"/>
            </a:endParaRPr>
          </a:p>
          <a:p>
            <a:pPr indent="457200" algn="just">
              <a:lnSpc>
                <a:spcPts val="3300"/>
              </a:lnSpc>
            </a:pPr>
            <a:r>
              <a:rPr lang="zh-CN" altLang="en-US" sz="2400" b="1" dirty="0">
                <a:latin typeface="黑体" panose="02010609060101010101" charset="-122"/>
                <a:ea typeface="黑体" panose="02010609060101010101" charset="-122"/>
                <a:cs typeface="黑体" panose="02010609060101010101" charset="-122"/>
              </a:rPr>
              <a:t>一是少部分学生未看清知识限定“政治与法治”模块。二是大部分学生作答时没有主体意识。</a:t>
            </a:r>
            <a:endParaRPr lang="en-US" altLang="zh-CN" sz="2400" b="1" dirty="0">
              <a:latin typeface="黑体" panose="02010609060101010101" charset="-122"/>
              <a:ea typeface="黑体" panose="02010609060101010101" charset="-122"/>
              <a:cs typeface="黑体" panose="02010609060101010101" charset="-122"/>
            </a:endParaRPr>
          </a:p>
          <a:p>
            <a:pPr>
              <a:lnSpc>
                <a:spcPts val="3300"/>
              </a:lnSpc>
            </a:pPr>
            <a:r>
              <a:rPr lang="en-US" altLang="zh-CN" sz="2400" b="1" dirty="0">
                <a:solidFill>
                  <a:srgbClr val="FF0000"/>
                </a:solidFill>
                <a:latin typeface="黑体" panose="02010609060101010101" charset="-122"/>
                <a:ea typeface="黑体" panose="02010609060101010101" charset="-122"/>
                <a:cs typeface="黑体" panose="02010609060101010101" charset="-122"/>
              </a:rPr>
              <a:t>3</a:t>
            </a:r>
            <a:r>
              <a:rPr lang="zh-CN" altLang="en-US" sz="2400" b="1" dirty="0">
                <a:solidFill>
                  <a:srgbClr val="FF0000"/>
                </a:solidFill>
                <a:latin typeface="黑体" panose="02010609060101010101" charset="-122"/>
                <a:ea typeface="黑体" panose="02010609060101010101" charset="-122"/>
                <a:cs typeface="黑体" panose="02010609060101010101" charset="-122"/>
              </a:rPr>
              <a:t>、材料逻辑方面</a:t>
            </a:r>
            <a:r>
              <a:rPr lang="en-US" altLang="zh-CN" sz="2400" b="1" dirty="0">
                <a:solidFill>
                  <a:srgbClr val="FF0000"/>
                </a:solidFill>
                <a:latin typeface="黑体" panose="02010609060101010101" charset="-122"/>
                <a:ea typeface="黑体" panose="02010609060101010101" charset="-122"/>
                <a:cs typeface="黑体" panose="02010609060101010101" charset="-122"/>
              </a:rPr>
              <a:t>:</a:t>
            </a:r>
            <a:endParaRPr lang="en-US" altLang="zh-CN" sz="2400" b="1" dirty="0">
              <a:solidFill>
                <a:srgbClr val="FF0000"/>
              </a:solidFill>
              <a:latin typeface="黑体" panose="02010609060101010101" charset="-122"/>
              <a:ea typeface="黑体" panose="02010609060101010101" charset="-122"/>
              <a:cs typeface="黑体" panose="02010609060101010101" charset="-122"/>
            </a:endParaRPr>
          </a:p>
          <a:p>
            <a:pPr indent="457200" algn="just">
              <a:lnSpc>
                <a:spcPts val="3300"/>
              </a:lnSpc>
            </a:pPr>
            <a:r>
              <a:rPr lang="zh-CN" altLang="en-US" sz="2400" b="1" dirty="0">
                <a:latin typeface="黑体" panose="02010609060101010101" charset="-122"/>
                <a:ea typeface="黑体" panose="02010609060101010101" charset="-122"/>
                <a:cs typeface="黑体" panose="02010609060101010101" charset="-122"/>
              </a:rPr>
              <a:t>学生未读懂材料层次，忽视从法的内容角度解读设问指向。</a:t>
            </a:r>
            <a:r>
              <a:rPr lang="en-US" altLang="zh-CN" sz="2400" b="1" dirty="0">
                <a:latin typeface="黑体" panose="02010609060101010101" charset="-122"/>
                <a:ea typeface="黑体" panose="02010609060101010101" charset="-122"/>
                <a:cs typeface="黑体" panose="02010609060101010101" charset="-122"/>
              </a:rPr>
              <a:t>6-7</a:t>
            </a:r>
            <a:r>
              <a:rPr lang="zh-CN" altLang="en-US" sz="2400" b="1" dirty="0">
                <a:latin typeface="黑体" panose="02010609060101010101" charset="-122"/>
                <a:ea typeface="黑体" panose="02010609060101010101" charset="-122"/>
                <a:cs typeface="黑体" panose="02010609060101010101" charset="-122"/>
              </a:rPr>
              <a:t>分层次学生大多不会聚焦“党、人、法”三统一角度谈。部分学生对材料没有分层解读意识。</a:t>
            </a:r>
            <a:endParaRPr lang="zh-CN" altLang="en-US" sz="2400" b="1" dirty="0">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3"/>
          <p:cNvSpPr txBox="1"/>
          <p:nvPr/>
        </p:nvSpPr>
        <p:spPr>
          <a:xfrm>
            <a:off x="288925" y="0"/>
            <a:ext cx="4175760" cy="750570"/>
          </a:xfrm>
          <a:prstGeom prst="rect">
            <a:avLst/>
          </a:prstGeom>
        </p:spPr>
        <p:txBody>
          <a:bodyPr vert="horz" lIns="91440" tIns="45720" rIns="91440" bIns="4572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四、学生问题及建议</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
        <p:nvSpPr>
          <p:cNvPr id="3" name="文本框 2"/>
          <p:cNvSpPr txBox="1"/>
          <p:nvPr/>
        </p:nvSpPr>
        <p:spPr>
          <a:xfrm>
            <a:off x="614362" y="941844"/>
            <a:ext cx="10963275" cy="5262245"/>
          </a:xfrm>
          <a:prstGeom prst="rect">
            <a:avLst/>
          </a:prstGeom>
          <a:noFill/>
          <a:ln>
            <a:solidFill>
              <a:schemeClr val="tx1"/>
            </a:solidFill>
          </a:ln>
        </p:spPr>
        <p:txBody>
          <a:bodyPr wrap="square">
            <a:spAutoFit/>
          </a:bodyPr>
          <a:lstStyle/>
          <a:p>
            <a:r>
              <a:rPr lang="en-US" altLang="zh-CN" sz="2400" dirty="0">
                <a:solidFill>
                  <a:prstClr val="black"/>
                </a:solidFill>
                <a:latin typeface="黑体" panose="02010609060101010101" charset="-122"/>
                <a:ea typeface="黑体" panose="02010609060101010101" charset="-122"/>
                <a:cs typeface="黑体" panose="02010609060101010101" charset="-122"/>
              </a:rPr>
              <a:t>    </a:t>
            </a:r>
            <a:r>
              <a:rPr lang="en-US" altLang="zh-CN" sz="2400" dirty="0">
                <a:solidFill>
                  <a:prstClr val="black"/>
                </a:solidFill>
                <a:highlight>
                  <a:srgbClr val="FFFF00"/>
                </a:highlight>
                <a:latin typeface="黑体" panose="02010609060101010101" charset="-122"/>
                <a:ea typeface="黑体" panose="02010609060101010101" charset="-122"/>
                <a:cs typeface="黑体" panose="02010609060101010101" charset="-122"/>
              </a:rPr>
              <a:t>1.</a:t>
            </a:r>
            <a:r>
              <a:rPr lang="zh-CN" altLang="en-US" sz="2400" dirty="0">
                <a:solidFill>
                  <a:prstClr val="black"/>
                </a:solidFill>
                <a:highlight>
                  <a:srgbClr val="FFFF00"/>
                </a:highlight>
                <a:latin typeface="黑体" panose="02010609060101010101" charset="-122"/>
                <a:ea typeface="黑体" panose="02010609060101010101" charset="-122"/>
                <a:cs typeface="黑体" panose="02010609060101010101" charset="-122"/>
              </a:rPr>
              <a:t>要强化 “材料 </a:t>
            </a:r>
            <a:r>
              <a:rPr lang="en-US" altLang="zh-CN" sz="2400" dirty="0">
                <a:solidFill>
                  <a:prstClr val="black"/>
                </a:solidFill>
                <a:highlight>
                  <a:srgbClr val="FFFF00"/>
                </a:highlight>
                <a:latin typeface="黑体" panose="02010609060101010101" charset="-122"/>
                <a:ea typeface="黑体" panose="02010609060101010101" charset="-122"/>
                <a:cs typeface="黑体" panose="02010609060101010101" charset="-122"/>
              </a:rPr>
              <a:t>- </a:t>
            </a:r>
            <a:r>
              <a:rPr lang="zh-CN" altLang="en-US" sz="2400" dirty="0">
                <a:solidFill>
                  <a:prstClr val="black"/>
                </a:solidFill>
                <a:highlight>
                  <a:srgbClr val="FFFF00"/>
                </a:highlight>
                <a:latin typeface="黑体" panose="02010609060101010101" charset="-122"/>
                <a:ea typeface="黑体" panose="02010609060101010101" charset="-122"/>
                <a:cs typeface="黑体" panose="02010609060101010101" charset="-122"/>
              </a:rPr>
              <a:t>知识” 的转化能力：</a:t>
            </a:r>
            <a:r>
              <a:rPr lang="zh-CN" altLang="en-US" sz="2400" dirty="0">
                <a:solidFill>
                  <a:prstClr val="black"/>
                </a:solidFill>
                <a:latin typeface="黑体" panose="02010609060101010101" charset="-122"/>
                <a:ea typeface="黑体" panose="02010609060101010101" charset="-122"/>
                <a:cs typeface="黑体" panose="02010609060101010101" charset="-122"/>
              </a:rPr>
              <a:t>这类题目不会直接考查死记硬背的知识点，而是考查你从材料中提取关键信息，并快速对接教材知识的能力。平时做题要养成 “圈画材料关键词→对应教材知识点→组织答案” 的习惯。</a:t>
            </a:r>
            <a:r>
              <a:rPr lang="zh-CN" altLang="en-US" sz="2400" dirty="0">
                <a:solidFill>
                  <a:prstClr val="black"/>
                </a:solidFill>
                <a:highlight>
                  <a:srgbClr val="00FF00"/>
                </a:highlight>
                <a:latin typeface="黑体" panose="02010609060101010101" charset="-122"/>
                <a:ea typeface="黑体" panose="02010609060101010101" charset="-122"/>
                <a:cs typeface="黑体" panose="02010609060101010101" charset="-122"/>
              </a:rPr>
              <a:t>北京市委</a:t>
            </a:r>
            <a:endParaRPr lang="en-US" altLang="zh-CN" sz="2400" dirty="0">
              <a:solidFill>
                <a:prstClr val="black"/>
              </a:solidFill>
              <a:highlight>
                <a:srgbClr val="00FF00"/>
              </a:highlight>
              <a:latin typeface="黑体" panose="02010609060101010101" charset="-122"/>
              <a:ea typeface="黑体" panose="02010609060101010101" charset="-122"/>
              <a:cs typeface="黑体" panose="02010609060101010101" charset="-122"/>
            </a:endParaRPr>
          </a:p>
          <a:p>
            <a:r>
              <a:rPr lang="en-US" altLang="zh-CN" sz="2400" dirty="0">
                <a:solidFill>
                  <a:prstClr val="black"/>
                </a:solidFill>
                <a:latin typeface="黑体" panose="02010609060101010101" charset="-122"/>
                <a:ea typeface="黑体" panose="02010609060101010101" charset="-122"/>
                <a:cs typeface="黑体" panose="02010609060101010101" charset="-122"/>
              </a:rPr>
              <a:t>    </a:t>
            </a:r>
            <a:r>
              <a:rPr lang="en-US" altLang="zh-CN" sz="2400" dirty="0">
                <a:solidFill>
                  <a:prstClr val="black"/>
                </a:solidFill>
                <a:highlight>
                  <a:srgbClr val="FFFF00"/>
                </a:highlight>
                <a:latin typeface="黑体" panose="02010609060101010101" charset="-122"/>
                <a:ea typeface="黑体" panose="02010609060101010101" charset="-122"/>
                <a:cs typeface="黑体" panose="02010609060101010101" charset="-122"/>
              </a:rPr>
              <a:t>2.</a:t>
            </a:r>
            <a:r>
              <a:rPr lang="zh-CN" altLang="en-US" sz="2400" dirty="0">
                <a:solidFill>
                  <a:prstClr val="black"/>
                </a:solidFill>
                <a:highlight>
                  <a:srgbClr val="FFFF00"/>
                </a:highlight>
                <a:latin typeface="黑体" panose="02010609060101010101" charset="-122"/>
                <a:ea typeface="黑体" panose="02010609060101010101" charset="-122"/>
                <a:cs typeface="黑体" panose="02010609060101010101" charset="-122"/>
              </a:rPr>
              <a:t>要构建 “知识体系”，而不是零散记忆：</a:t>
            </a:r>
            <a:r>
              <a:rPr lang="zh-CN" altLang="en-US" sz="2400" dirty="0">
                <a:solidFill>
                  <a:prstClr val="black"/>
                </a:solidFill>
                <a:latin typeface="黑体" panose="02010609060101010101" charset="-122"/>
                <a:ea typeface="黑体" panose="02010609060101010101" charset="-122"/>
                <a:cs typeface="黑体" panose="02010609060101010101" charset="-122"/>
              </a:rPr>
              <a:t>这道题的答案不是孤立的，而是围绕 “党的领导、人民当家作主、依法治国、国家治理现代化” 这一条主线展开的。平时复习要把教材知识串联成体系，答题时能快速调用相关知识。</a:t>
            </a:r>
            <a:endParaRPr lang="en-US" altLang="zh-CN" sz="2400" dirty="0">
              <a:solidFill>
                <a:prstClr val="black"/>
              </a:solidFill>
              <a:latin typeface="黑体" panose="02010609060101010101" charset="-122"/>
              <a:ea typeface="黑体" panose="02010609060101010101" charset="-122"/>
              <a:cs typeface="黑体" panose="02010609060101010101" charset="-122"/>
            </a:endParaRPr>
          </a:p>
          <a:p>
            <a:r>
              <a:rPr lang="en-US" altLang="zh-CN" sz="2400" dirty="0">
                <a:solidFill>
                  <a:prstClr val="black"/>
                </a:solidFill>
                <a:latin typeface="黑体" panose="02010609060101010101" charset="-122"/>
                <a:ea typeface="黑体" panose="02010609060101010101" charset="-122"/>
                <a:cs typeface="黑体" panose="02010609060101010101" charset="-122"/>
              </a:rPr>
              <a:t>    </a:t>
            </a:r>
            <a:r>
              <a:rPr lang="en-US" altLang="zh-CN" sz="2400" dirty="0">
                <a:solidFill>
                  <a:prstClr val="black"/>
                </a:solidFill>
                <a:highlight>
                  <a:srgbClr val="FFFF00"/>
                </a:highlight>
                <a:latin typeface="黑体" panose="02010609060101010101" charset="-122"/>
                <a:ea typeface="黑体" panose="02010609060101010101" charset="-122"/>
                <a:cs typeface="黑体" panose="02010609060101010101" charset="-122"/>
              </a:rPr>
              <a:t>3.</a:t>
            </a:r>
            <a:r>
              <a:rPr lang="zh-CN" altLang="en-US" sz="2400" dirty="0">
                <a:solidFill>
                  <a:prstClr val="black"/>
                </a:solidFill>
                <a:highlight>
                  <a:srgbClr val="FFFF00"/>
                </a:highlight>
                <a:latin typeface="黑体" panose="02010609060101010101" charset="-122"/>
                <a:ea typeface="黑体" panose="02010609060101010101" charset="-122"/>
                <a:cs typeface="黑体" panose="02010609060101010101" charset="-122"/>
              </a:rPr>
              <a:t>要关注北京本地的时政热点：</a:t>
            </a:r>
            <a:r>
              <a:rPr lang="zh-CN" altLang="en-US" sz="2400" dirty="0">
                <a:solidFill>
                  <a:prstClr val="black"/>
                </a:solidFill>
                <a:latin typeface="黑体" panose="02010609060101010101" charset="-122"/>
                <a:ea typeface="黑体" panose="02010609060101010101" charset="-122"/>
                <a:cs typeface="黑体" panose="02010609060101010101" charset="-122"/>
              </a:rPr>
              <a:t>北京卷的政治题常以北京本地的治理实践为情境，比如 “接诉即办”“每月一题”“超大城市治理” 等，平时要多关注北京的时政新闻，理解这些举措背后的政治原理，考试时遇到同类情境就不会陌生。</a:t>
            </a:r>
            <a:endParaRPr lang="en-US" altLang="zh-CN" sz="2400" dirty="0">
              <a:solidFill>
                <a:prstClr val="black"/>
              </a:solidFill>
              <a:latin typeface="黑体" panose="02010609060101010101" charset="-122"/>
              <a:ea typeface="黑体" panose="02010609060101010101" charset="-122"/>
              <a:cs typeface="黑体" panose="02010609060101010101" charset="-122"/>
            </a:endParaRPr>
          </a:p>
          <a:p>
            <a:r>
              <a:rPr lang="en-US" altLang="zh-CN" sz="2400" dirty="0">
                <a:solidFill>
                  <a:prstClr val="black"/>
                </a:solidFill>
                <a:latin typeface="黑体" panose="02010609060101010101" charset="-122"/>
                <a:ea typeface="黑体" panose="02010609060101010101" charset="-122"/>
                <a:cs typeface="黑体" panose="02010609060101010101" charset="-122"/>
              </a:rPr>
              <a:t>    </a:t>
            </a:r>
            <a:r>
              <a:rPr lang="en-US" altLang="zh-CN" sz="2400" dirty="0">
                <a:solidFill>
                  <a:prstClr val="black"/>
                </a:solidFill>
                <a:highlight>
                  <a:srgbClr val="FFFF00"/>
                </a:highlight>
                <a:latin typeface="黑体" panose="02010609060101010101" charset="-122"/>
                <a:ea typeface="黑体" panose="02010609060101010101" charset="-122"/>
                <a:cs typeface="黑体" panose="02010609060101010101" charset="-122"/>
              </a:rPr>
              <a:t>4.</a:t>
            </a:r>
            <a:r>
              <a:rPr lang="zh-CN" altLang="en-US" sz="2400" dirty="0">
                <a:solidFill>
                  <a:prstClr val="black"/>
                </a:solidFill>
                <a:highlight>
                  <a:srgbClr val="FFFF00"/>
                </a:highlight>
                <a:latin typeface="黑体" panose="02010609060101010101" charset="-122"/>
                <a:ea typeface="黑体" panose="02010609060101010101" charset="-122"/>
                <a:cs typeface="黑体" panose="02010609060101010101" charset="-122"/>
              </a:rPr>
              <a:t>要规范答题语言，做到 “有理有据”：</a:t>
            </a:r>
            <a:r>
              <a:rPr lang="zh-CN" altLang="en-US" sz="2400" dirty="0">
                <a:solidFill>
                  <a:prstClr val="black"/>
                </a:solidFill>
                <a:latin typeface="黑体" panose="02010609060101010101" charset="-122"/>
                <a:ea typeface="黑体" panose="02010609060101010101" charset="-122"/>
                <a:cs typeface="黑体" panose="02010609060101010101" charset="-122"/>
              </a:rPr>
              <a:t>答题时不能只抄材料，也不能只写知识点，必须把两者结合起来，最简单的用 “观点 </a:t>
            </a:r>
            <a:r>
              <a:rPr lang="en-US" altLang="zh-CN" sz="2400" dirty="0">
                <a:solidFill>
                  <a:prstClr val="black"/>
                </a:solidFill>
                <a:latin typeface="黑体" panose="02010609060101010101" charset="-122"/>
                <a:ea typeface="黑体" panose="02010609060101010101" charset="-122"/>
                <a:cs typeface="黑体" panose="02010609060101010101" charset="-122"/>
              </a:rPr>
              <a:t>+ </a:t>
            </a:r>
            <a:r>
              <a:rPr lang="zh-CN" altLang="en-US" sz="2400" dirty="0">
                <a:solidFill>
                  <a:prstClr val="black"/>
                </a:solidFill>
                <a:latin typeface="黑体" panose="02010609060101010101" charset="-122"/>
                <a:ea typeface="黑体" panose="02010609060101010101" charset="-122"/>
                <a:cs typeface="黑体" panose="02010609060101010101" charset="-122"/>
              </a:rPr>
              <a:t>材料分析” 的句式，如材料中 “北京通过 </a:t>
            </a:r>
            <a:r>
              <a:rPr lang="en-US" altLang="zh-CN" sz="2400" dirty="0">
                <a:solidFill>
                  <a:prstClr val="black"/>
                </a:solidFill>
                <a:latin typeface="黑体" panose="02010609060101010101" charset="-122"/>
                <a:ea typeface="黑体" panose="02010609060101010101" charset="-122"/>
                <a:cs typeface="黑体" panose="02010609060101010101" charset="-122"/>
              </a:rPr>
              <a:t>12345 </a:t>
            </a:r>
            <a:r>
              <a:rPr lang="zh-CN" altLang="en-US" sz="2400" dirty="0">
                <a:solidFill>
                  <a:prstClr val="black"/>
                </a:solidFill>
                <a:latin typeface="黑体" panose="02010609060101010101" charset="-122"/>
                <a:ea typeface="黑体" panose="02010609060101010101" charset="-122"/>
                <a:cs typeface="黑体" panose="02010609060101010101" charset="-122"/>
              </a:rPr>
              <a:t>热线解决民生诉求，践行以人民为中心的发展思想”，这样的表述既规范又贴合题目要求。</a:t>
            </a:r>
            <a:endParaRPr lang="zh-CN" altLang="en-US" sz="2400" dirty="0">
              <a:solidFill>
                <a:prstClr val="black"/>
              </a:solidFill>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3"/>
          <p:cNvSpPr txBox="1"/>
          <p:nvPr/>
        </p:nvSpPr>
        <p:spPr>
          <a:xfrm>
            <a:off x="320675" y="265430"/>
            <a:ext cx="3070225" cy="750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五、复练试题</a:t>
            </a:r>
            <a:endParaRPr lang="zh-CN" altLang="en-US" sz="32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
        <p:nvSpPr>
          <p:cNvPr id="4" name="文本框 3"/>
          <p:cNvSpPr txBox="1"/>
          <p:nvPr/>
        </p:nvSpPr>
        <p:spPr>
          <a:xfrm>
            <a:off x="1016000" y="1235710"/>
            <a:ext cx="2195830" cy="1015663"/>
          </a:xfrm>
          <a:prstGeom prst="rect">
            <a:avLst/>
          </a:prstGeom>
          <a:noFill/>
        </p:spPr>
        <p:txBody>
          <a:bodyPr wrap="square" rtlCol="0">
            <a:spAutoFit/>
          </a:bodyPr>
          <a:lstStyle/>
          <a:p>
            <a:r>
              <a:rPr lang="en-US" altLang="zh-CN" sz="2000" b="1" dirty="0">
                <a:highlight>
                  <a:srgbClr val="FFFF00"/>
                </a:highlight>
                <a:latin typeface="华文中宋" panose="02010600040101010101" charset="-122"/>
                <a:ea typeface="华文中宋" panose="02010600040101010101" charset="-122"/>
                <a:cs typeface="华文中宋" panose="02010600040101010101" charset="-122"/>
              </a:rPr>
              <a:t>2023</a:t>
            </a:r>
            <a:r>
              <a:rPr lang="zh-CN" altLang="en-US" sz="2000" b="1" dirty="0">
                <a:highlight>
                  <a:srgbClr val="FFFF00"/>
                </a:highlight>
                <a:latin typeface="华文中宋" panose="02010600040101010101" charset="-122"/>
                <a:ea typeface="华文中宋" panose="02010600040101010101" charset="-122"/>
                <a:cs typeface="华文中宋" panose="02010600040101010101" charset="-122"/>
              </a:rPr>
              <a:t>年北京高考</a:t>
            </a:r>
            <a:endParaRPr lang="en-US" altLang="zh-CN" sz="2000" b="1" dirty="0">
              <a:highlight>
                <a:srgbClr val="FFFF00"/>
              </a:highlight>
              <a:latin typeface="华文中宋" panose="02010600040101010101" charset="-122"/>
              <a:ea typeface="华文中宋" panose="02010600040101010101" charset="-122"/>
              <a:cs typeface="华文中宋" panose="02010600040101010101" charset="-122"/>
            </a:endParaRPr>
          </a:p>
          <a:p>
            <a:r>
              <a:rPr lang="en-US" altLang="zh-CN" sz="2000" b="1" dirty="0">
                <a:highlight>
                  <a:srgbClr val="FFFF00"/>
                </a:highlight>
                <a:latin typeface="华文中宋" panose="02010600040101010101" charset="-122"/>
                <a:ea typeface="华文中宋" panose="02010600040101010101" charset="-122"/>
                <a:cs typeface="华文中宋" panose="02010600040101010101" charset="-122"/>
              </a:rPr>
              <a:t>2024</a:t>
            </a:r>
            <a:r>
              <a:rPr lang="zh-CN" altLang="en-US" sz="2000" b="1" dirty="0">
                <a:highlight>
                  <a:srgbClr val="FFFF00"/>
                </a:highlight>
                <a:latin typeface="华文中宋" panose="02010600040101010101" charset="-122"/>
                <a:ea typeface="华文中宋" panose="02010600040101010101" charset="-122"/>
                <a:cs typeface="华文中宋" panose="02010600040101010101" charset="-122"/>
              </a:rPr>
              <a:t>年北京高考</a:t>
            </a:r>
            <a:endParaRPr lang="en-US" altLang="zh-CN" sz="2000" b="1" dirty="0">
              <a:highlight>
                <a:srgbClr val="FFFF00"/>
              </a:highlight>
              <a:latin typeface="华文中宋" panose="02010600040101010101" charset="-122"/>
              <a:ea typeface="华文中宋" panose="02010600040101010101" charset="-122"/>
              <a:cs typeface="华文中宋" panose="02010600040101010101" charset="-122"/>
            </a:endParaRPr>
          </a:p>
          <a:p>
            <a:r>
              <a:rPr lang="en-US" altLang="zh-CN" sz="2000" b="1" dirty="0">
                <a:highlight>
                  <a:srgbClr val="FFFF00"/>
                </a:highlight>
                <a:latin typeface="华文中宋" panose="02010600040101010101" charset="-122"/>
                <a:ea typeface="华文中宋" panose="02010600040101010101" charset="-122"/>
                <a:cs typeface="华文中宋" panose="02010600040101010101" charset="-122"/>
              </a:rPr>
              <a:t>2025</a:t>
            </a:r>
            <a:r>
              <a:rPr lang="zh-CN" altLang="en-US" sz="2000" b="1" dirty="0">
                <a:highlight>
                  <a:srgbClr val="FFFF00"/>
                </a:highlight>
                <a:latin typeface="华文中宋" panose="02010600040101010101" charset="-122"/>
                <a:ea typeface="华文中宋" panose="02010600040101010101" charset="-122"/>
                <a:cs typeface="华文中宋" panose="02010600040101010101" charset="-122"/>
              </a:rPr>
              <a:t>年北京高考</a:t>
            </a:r>
            <a:endParaRPr lang="en-US" altLang="zh-CN" sz="2000" b="1" dirty="0">
              <a:highlight>
                <a:srgbClr val="FFFF00"/>
              </a:highlight>
              <a:latin typeface="华文中宋" panose="02010600040101010101" charset="-122"/>
              <a:ea typeface="华文中宋" panose="02010600040101010101" charset="-122"/>
              <a:cs typeface="华文中宋" panose="02010600040101010101" charset="-122"/>
            </a:endParaRPr>
          </a:p>
        </p:txBody>
      </p:sp>
      <p:pic>
        <p:nvPicPr>
          <p:cNvPr id="5" name="图片 4" descr="微信图片_20260402003920"/>
          <p:cNvPicPr>
            <a:picLocks noChangeAspect="1"/>
          </p:cNvPicPr>
          <p:nvPr/>
        </p:nvPicPr>
        <p:blipFill>
          <a:blip r:embed="rId1"/>
          <a:srcRect l="7981" t="11694" r="9701" b="35361"/>
          <a:stretch>
            <a:fillRect/>
          </a:stretch>
        </p:blipFill>
        <p:spPr>
          <a:xfrm>
            <a:off x="3577590" y="101600"/>
            <a:ext cx="7298690" cy="6655435"/>
          </a:xfrm>
          <a:prstGeom prst="rect">
            <a:avLst/>
          </a:prstGeom>
        </p:spPr>
      </p:pic>
      <p:sp>
        <p:nvSpPr>
          <p:cNvPr id="6" name="文本框 5"/>
          <p:cNvSpPr txBox="1"/>
          <p:nvPr/>
        </p:nvSpPr>
        <p:spPr>
          <a:xfrm>
            <a:off x="685613" y="3244879"/>
            <a:ext cx="3097821" cy="461665"/>
          </a:xfrm>
          <a:prstGeom prst="rect">
            <a:avLst/>
          </a:prstGeom>
          <a:noFill/>
          <a:ln>
            <a:solidFill>
              <a:srgbClr val="FF0000"/>
            </a:solidFill>
          </a:ln>
        </p:spPr>
        <p:txBody>
          <a:bodyPr wrap="square" rtlCol="0">
            <a:spAutoFit/>
          </a:bodyPr>
          <a:lstStyle/>
          <a:p>
            <a:pPr algn="ctr"/>
            <a:r>
              <a:rPr lang="zh-CN" altLang="en-US" sz="2400" b="1" dirty="0">
                <a:solidFill>
                  <a:srgbClr val="FF0000"/>
                </a:solidFill>
                <a:latin typeface="华文楷体" panose="02010600040101010101" charset="-122"/>
                <a:ea typeface="华文楷体" panose="02010600040101010101" charset="-122"/>
              </a:rPr>
              <a:t>法的制定和实施过程</a:t>
            </a:r>
            <a:endParaRPr lang="zh-CN" altLang="en-US" sz="2400" b="1" dirty="0">
              <a:solidFill>
                <a:srgbClr val="FF0000"/>
              </a:solidFill>
              <a:latin typeface="华文楷体" panose="02010600040101010101" charset="-122"/>
              <a:ea typeface="华文楷体" panose="02010600040101010101"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00380" y="1405255"/>
            <a:ext cx="11287760" cy="3415030"/>
          </a:xfrm>
          <a:prstGeom prst="rect">
            <a:avLst/>
          </a:prstGeom>
          <a:noFill/>
        </p:spPr>
        <p:txBody>
          <a:bodyPr wrap="square" rtlCol="0" anchor="t">
            <a:spAutoFit/>
          </a:bodyPr>
          <a:lstStyle/>
          <a:p>
            <a:pPr indent="457200" algn="just" fontAlgn="auto">
              <a:lnSpc>
                <a:spcPct val="150000"/>
              </a:lnSpc>
            </a:pPr>
            <a:r>
              <a:rPr lang="zh-CN" altLang="en-US" sz="2400">
                <a:highlight>
                  <a:srgbClr val="00FF00"/>
                </a:highlight>
                <a:latin typeface="华文中宋" panose="02010600040101010101" charset="-122"/>
                <a:ea typeface="华文中宋" panose="02010600040101010101" charset="-122"/>
                <a:cs typeface="华文中宋" panose="02010600040101010101" charset="-122"/>
              </a:rPr>
              <a:t>参考答案：</a:t>
            </a:r>
            <a:endParaRPr lang="zh-CN" altLang="en-US" sz="2400">
              <a:highlight>
                <a:srgbClr val="00FF00"/>
              </a:highlight>
              <a:latin typeface="华文中宋" panose="02010600040101010101" charset="-122"/>
              <a:ea typeface="华文中宋" panose="02010600040101010101" charset="-122"/>
              <a:cs typeface="华文中宋" panose="02010600040101010101" charset="-122"/>
            </a:endParaRPr>
          </a:p>
          <a:p>
            <a:pPr indent="457200" algn="just" fontAlgn="auto">
              <a:lnSpc>
                <a:spcPct val="150000"/>
              </a:lnSpc>
            </a:pPr>
            <a:r>
              <a:rPr lang="en-US" altLang="zh-CN" sz="2400" b="1">
                <a:latin typeface="宋体" panose="02010600030101010101" pitchFamily="2" charset="-122"/>
                <a:ea typeface="宋体" panose="02010600030101010101" pitchFamily="2" charset="-122"/>
                <a:cs typeface="宋体" panose="02010600030101010101" pitchFamily="2" charset="-122"/>
              </a:rPr>
              <a:t> </a:t>
            </a:r>
            <a:r>
              <a:rPr lang="zh-CN" altLang="en-US" sz="2400" b="1">
                <a:latin typeface="宋体" panose="02010600030101010101" pitchFamily="2" charset="-122"/>
                <a:ea typeface="宋体" panose="02010600030101010101" pitchFamily="2" charset="-122"/>
                <a:cs typeface="宋体" panose="02010600030101010101" pitchFamily="2" charset="-122"/>
              </a:rPr>
              <a:t>立法机关科学立法，充分保障未成年人合法权益，支持，引导，鼓励未成年人参加爱国主义教育活动，厚植爱国主义情怀。检察机关积极履行法律监督职责，价格主管部门严格执法，推动爱国主义教育基地依法对未成年人免费开放，维护了社会公共利益和未成年人合法权益，推动了法治政府建设，增强了全社会的法治意识。各方形成法治合力，共同推进爱国主义教育。</a:t>
            </a:r>
            <a:endParaRPr lang="zh-CN" altLang="en-US" sz="2400" b="1">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821055" y="735965"/>
            <a:ext cx="4579620" cy="5386070"/>
          </a:xfrm>
          <a:prstGeom prst="rect">
            <a:avLst/>
          </a:prstGeom>
        </p:spPr>
      </p:pic>
      <p:grpSp>
        <p:nvGrpSpPr>
          <p:cNvPr id="15" name="组合 14"/>
          <p:cNvGrpSpPr/>
          <p:nvPr>
            <p:custDataLst>
              <p:tags r:id="rId2"/>
            </p:custDataLst>
          </p:nvPr>
        </p:nvGrpSpPr>
        <p:grpSpPr>
          <a:xfrm>
            <a:off x="6274435" y="1337310"/>
            <a:ext cx="4533265" cy="821690"/>
            <a:chOff x="11803" y="3189"/>
            <a:chExt cx="7139" cy="1294"/>
          </a:xfrm>
        </p:grpSpPr>
        <p:sp>
          <p:nvSpPr>
            <p:cNvPr id="13" name="左箭头 12"/>
            <p:cNvSpPr/>
            <p:nvPr>
              <p:custDataLst>
                <p:tags r:id="rId3"/>
              </p:custDataLst>
            </p:nvPr>
          </p:nvSpPr>
          <p:spPr>
            <a:xfrm flipH="1">
              <a:off x="11803" y="3629"/>
              <a:ext cx="837" cy="41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custDataLst>
                <p:tags r:id="rId4"/>
              </p:custDataLst>
            </p:nvPr>
          </p:nvSpPr>
          <p:spPr>
            <a:xfrm>
              <a:off x="13074" y="3189"/>
              <a:ext cx="5869" cy="129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a:effectLst>
                    <a:outerShdw blurRad="38100" dist="38100" dir="2700000" algn="tl">
                      <a:srgbClr val="000000">
                        <a:alpha val="43137"/>
                      </a:srgbClr>
                    </a:outerShdw>
                  </a:effectLst>
                  <a:latin typeface="华文中宋" panose="02010600040101010101" charset="-122"/>
                  <a:ea typeface="华文中宋" panose="02010600040101010101" charset="-122"/>
                </a:rPr>
                <a:t>基本案情</a:t>
              </a:r>
              <a:endParaRPr lang="zh-CN" altLang="en-US" sz="2400" b="1">
                <a:effectLst>
                  <a:outerShdw blurRad="38100" dist="38100" dir="2700000" algn="tl">
                    <a:srgbClr val="000000">
                      <a:alpha val="43137"/>
                    </a:srgbClr>
                  </a:outerShdw>
                </a:effectLst>
                <a:latin typeface="华文中宋" panose="02010600040101010101" charset="-122"/>
                <a:ea typeface="华文中宋" panose="02010600040101010101" charset="-122"/>
              </a:endParaRPr>
            </a:p>
          </p:txBody>
        </p:sp>
      </p:grpSp>
      <p:grpSp>
        <p:nvGrpSpPr>
          <p:cNvPr id="3" name="组合 2"/>
          <p:cNvGrpSpPr/>
          <p:nvPr>
            <p:custDataLst>
              <p:tags r:id="rId5"/>
            </p:custDataLst>
          </p:nvPr>
        </p:nvGrpSpPr>
        <p:grpSpPr>
          <a:xfrm>
            <a:off x="6274435" y="3318510"/>
            <a:ext cx="4533265" cy="821690"/>
            <a:chOff x="11803" y="3189"/>
            <a:chExt cx="7139" cy="1294"/>
          </a:xfrm>
        </p:grpSpPr>
        <p:sp>
          <p:nvSpPr>
            <p:cNvPr id="4" name="左箭头 3"/>
            <p:cNvSpPr/>
            <p:nvPr>
              <p:custDataLst>
                <p:tags r:id="rId6"/>
              </p:custDataLst>
            </p:nvPr>
          </p:nvSpPr>
          <p:spPr>
            <a:xfrm flipH="1">
              <a:off x="11803" y="3629"/>
              <a:ext cx="837" cy="41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7"/>
              </p:custDataLst>
            </p:nvPr>
          </p:nvSpPr>
          <p:spPr>
            <a:xfrm>
              <a:off x="13074" y="3189"/>
              <a:ext cx="5869" cy="129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a:effectLst>
                    <a:outerShdw blurRad="38100" dist="38100" dir="2700000" algn="tl">
                      <a:srgbClr val="000000">
                        <a:alpha val="43137"/>
                      </a:srgbClr>
                    </a:outerShdw>
                  </a:effectLst>
                  <a:latin typeface="华文中宋" panose="02010600040101010101" charset="-122"/>
                  <a:ea typeface="华文中宋" panose="02010600040101010101" charset="-122"/>
                </a:rPr>
                <a:t>调解过程及结果</a:t>
              </a:r>
              <a:endParaRPr lang="zh-CN" altLang="en-US" sz="2400" b="1">
                <a:effectLst>
                  <a:outerShdw blurRad="38100" dist="38100" dir="2700000" algn="tl">
                    <a:srgbClr val="000000">
                      <a:alpha val="43137"/>
                    </a:srgbClr>
                  </a:outerShdw>
                </a:effectLst>
                <a:latin typeface="华文中宋" panose="02010600040101010101" charset="-122"/>
                <a:ea typeface="华文中宋" panose="02010600040101010101" charset="-122"/>
              </a:endParaRPr>
            </a:p>
          </p:txBody>
        </p:sp>
      </p:grpSp>
      <p:grpSp>
        <p:nvGrpSpPr>
          <p:cNvPr id="6" name="组合 5"/>
          <p:cNvGrpSpPr/>
          <p:nvPr>
            <p:custDataLst>
              <p:tags r:id="rId8"/>
            </p:custDataLst>
          </p:nvPr>
        </p:nvGrpSpPr>
        <p:grpSpPr>
          <a:xfrm>
            <a:off x="6274435" y="4970145"/>
            <a:ext cx="4533900" cy="1151890"/>
            <a:chOff x="11803" y="2670"/>
            <a:chExt cx="7140" cy="1814"/>
          </a:xfrm>
        </p:grpSpPr>
        <p:sp>
          <p:nvSpPr>
            <p:cNvPr id="9" name="左箭头 8"/>
            <p:cNvSpPr/>
            <p:nvPr>
              <p:custDataLst>
                <p:tags r:id="rId9"/>
              </p:custDataLst>
            </p:nvPr>
          </p:nvSpPr>
          <p:spPr>
            <a:xfrm flipH="1">
              <a:off x="11803" y="3369"/>
              <a:ext cx="837" cy="41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custDataLst>
                <p:tags r:id="rId10"/>
              </p:custDataLst>
            </p:nvPr>
          </p:nvSpPr>
          <p:spPr>
            <a:xfrm>
              <a:off x="13074" y="2670"/>
              <a:ext cx="5869" cy="1814"/>
            </a:xfrm>
            <a:prstGeom prst="rect">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400" b="1">
                  <a:solidFill>
                    <a:srgbClr val="002060"/>
                  </a:solidFill>
                  <a:effectLst>
                    <a:outerShdw blurRad="38100" dist="38100" dir="2700000" algn="tl">
                      <a:srgbClr val="000000">
                        <a:alpha val="43137"/>
                      </a:srgbClr>
                    </a:outerShdw>
                  </a:effectLst>
                  <a:latin typeface="华文中宋" panose="02010600040101010101" charset="-122"/>
                  <a:ea typeface="华文中宋" panose="02010600040101010101" charset="-122"/>
                </a:rPr>
                <a:t>设问：司法给予我们的不仅是定分止争，也是一份融通情理的温暖力量。</a:t>
              </a:r>
              <a:endParaRPr lang="zh-CN" altLang="en-US" sz="2400" b="1">
                <a:solidFill>
                  <a:srgbClr val="002060"/>
                </a:solidFill>
                <a:effectLst>
                  <a:outerShdw blurRad="38100" dist="38100" dir="2700000" algn="tl">
                    <a:srgbClr val="000000">
                      <a:alpha val="43137"/>
                    </a:srgbClr>
                  </a:outerShdw>
                </a:effectLst>
                <a:latin typeface="华文中宋" panose="02010600040101010101" charset="-122"/>
                <a:ea typeface="华文中宋" panose="02010600040101010101" charset="-122"/>
              </a:endParaRPr>
            </a:p>
          </p:txBody>
        </p:sp>
      </p:grpSp>
      <p:sp>
        <p:nvSpPr>
          <p:cNvPr id="16" name="标题 3"/>
          <p:cNvSpPr txBox="1"/>
          <p:nvPr/>
        </p:nvSpPr>
        <p:spPr>
          <a:xfrm>
            <a:off x="108587" y="-317"/>
            <a:ext cx="3070225" cy="750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一、试题分析</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71500" y="1158240"/>
            <a:ext cx="11211560" cy="3130550"/>
          </a:xfrm>
          <a:prstGeom prst="rect">
            <a:avLst/>
          </a:prstGeom>
          <a:ln>
            <a:solidFill>
              <a:schemeClr val="accent1"/>
            </a:solidFill>
          </a:ln>
        </p:spPr>
        <p:txBody>
          <a:bodyPr>
            <a:noAutofit/>
          </a:bodyPr>
          <a:lstStyle/>
          <a:p>
            <a:pPr marL="0" indent="0" algn="just" defTabSz="266700">
              <a:lnSpc>
                <a:spcPct val="100000"/>
              </a:lnSpc>
              <a:spcBef>
                <a:spcPct val="0"/>
              </a:spcBef>
              <a:spcAft>
                <a:spcPct val="0"/>
              </a:spcAft>
            </a:pPr>
            <a:r>
              <a:rPr lang="en-US" altLang="zh-CN" sz="2400" b="1">
                <a:latin typeface="宋体" panose="02010600030101010101" pitchFamily="2" charset="-122"/>
                <a:ea typeface="宋体" panose="02010600030101010101" pitchFamily="2" charset="-122"/>
                <a:cs typeface="宋体" panose="02010600030101010101" pitchFamily="2" charset="-122"/>
              </a:rPr>
              <a:t>18.</a:t>
            </a:r>
            <a:r>
              <a:rPr lang="zh-CN" altLang="en-US" sz="2400" b="1">
                <a:latin typeface="宋体" panose="02010600030101010101" pitchFamily="2" charset="-122"/>
                <a:ea typeface="宋体" panose="02010600030101010101" pitchFamily="2" charset="-122"/>
                <a:cs typeface="宋体" panose="02010600030101010101" pitchFamily="2" charset="-122"/>
              </a:rPr>
              <a:t>（</a:t>
            </a:r>
            <a:r>
              <a:rPr lang="en-US" altLang="zh-CN" sz="2400" b="1">
                <a:latin typeface="宋体" panose="02010600030101010101" pitchFamily="2" charset="-122"/>
                <a:ea typeface="宋体" panose="02010600030101010101" pitchFamily="2" charset="-122"/>
                <a:cs typeface="宋体" panose="02010600030101010101" pitchFamily="2" charset="-122"/>
              </a:rPr>
              <a:t>8</a:t>
            </a:r>
            <a:r>
              <a:rPr lang="zh-CN" altLang="en-US" sz="2400" b="1">
                <a:latin typeface="宋体" panose="02010600030101010101" pitchFamily="2" charset="-122"/>
                <a:ea typeface="宋体" panose="02010600030101010101" pitchFamily="2" charset="-122"/>
                <a:cs typeface="宋体" panose="02010600030101010101" pitchFamily="2" charset="-122"/>
              </a:rPr>
              <a:t>分）</a:t>
            </a:r>
            <a:endParaRPr lang="zh-CN" altLang="en-US" sz="2400" b="1">
              <a:latin typeface="宋体" panose="02010600030101010101" pitchFamily="2" charset="-122"/>
              <a:ea typeface="宋体" panose="02010600030101010101" pitchFamily="2" charset="-122"/>
              <a:cs typeface="宋体" panose="02010600030101010101" pitchFamily="2" charset="-122"/>
            </a:endParaRPr>
          </a:p>
          <a:p>
            <a:pPr marL="0" indent="304800" algn="just" defTabSz="266700">
              <a:lnSpc>
                <a:spcPct val="100000"/>
              </a:lnSpc>
              <a:spcBef>
                <a:spcPct val="0"/>
              </a:spcBef>
              <a:spcAft>
                <a:spcPct val="0"/>
              </a:spcAft>
            </a:pPr>
            <a:r>
              <a:rPr lang="en-US" altLang="zh-CN" sz="2400" b="1">
                <a:latin typeface="宋体" panose="02010600030101010101" pitchFamily="2" charset="-122"/>
                <a:ea typeface="宋体" panose="02010600030101010101" pitchFamily="2" charset="-122"/>
                <a:cs typeface="宋体" panose="02010600030101010101" pitchFamily="2" charset="-122"/>
              </a:rPr>
              <a:t>  </a:t>
            </a:r>
            <a:r>
              <a:rPr lang="zh-CN" altLang="en-US" sz="2400" b="1">
                <a:latin typeface="宋体" panose="02010600030101010101" pitchFamily="2" charset="-122"/>
                <a:ea typeface="宋体" panose="02010600030101010101" pitchFamily="2" charset="-122"/>
                <a:cs typeface="宋体" panose="02010600030101010101" pitchFamily="2" charset="-122"/>
              </a:rPr>
              <a:t>该案的成功调解坚持了</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法治与德治相结合</a:t>
            </a:r>
            <a:r>
              <a:rPr lang="zh-CN" altLang="en-US" sz="2400" b="1">
                <a:latin typeface="宋体" panose="02010600030101010101" pitchFamily="2" charset="-122"/>
                <a:ea typeface="宋体" panose="02010600030101010101" pitchFamily="2" charset="-122"/>
                <a:cs typeface="宋体" panose="02010600030101010101" pitchFamily="2" charset="-122"/>
              </a:rPr>
              <a:t>的原则。</a:t>
            </a:r>
            <a:r>
              <a:rPr lang="zh-CN" altLang="en-US" sz="2400" b="1">
                <a:solidFill>
                  <a:srgbClr val="FF0000"/>
                </a:solidFill>
                <a:highlight>
                  <a:srgbClr val="FFFF00"/>
                </a:highlight>
                <a:latin typeface="宋体" panose="02010600030101010101" pitchFamily="2" charset="-122"/>
                <a:ea typeface="宋体" panose="02010600030101010101" pitchFamily="2" charset="-122"/>
                <a:sym typeface="+mn-ea"/>
              </a:rPr>
              <a:t>（</a:t>
            </a:r>
            <a:r>
              <a:rPr lang="en-US" altLang="zh-CN" sz="2400" b="1">
                <a:solidFill>
                  <a:srgbClr val="FF0000"/>
                </a:solidFill>
                <a:highlight>
                  <a:srgbClr val="FFFF00"/>
                </a:highlight>
                <a:latin typeface="宋体" panose="02010600030101010101" pitchFamily="2" charset="-122"/>
                <a:ea typeface="宋体" panose="02010600030101010101" pitchFamily="2" charset="-122"/>
                <a:sym typeface="+mn-ea"/>
              </a:rPr>
              <a:t>1</a:t>
            </a:r>
            <a:r>
              <a:rPr lang="zh-CN" altLang="en-US" sz="2400" b="1">
                <a:solidFill>
                  <a:srgbClr val="FF0000"/>
                </a:solidFill>
                <a:highlight>
                  <a:srgbClr val="FFFF00"/>
                </a:highlight>
                <a:latin typeface="宋体" panose="02010600030101010101" pitchFamily="2" charset="-122"/>
                <a:ea typeface="宋体" panose="02010600030101010101" pitchFamily="2" charset="-122"/>
                <a:sym typeface="+mn-ea"/>
              </a:rPr>
              <a:t>分）</a:t>
            </a:r>
            <a:r>
              <a:rPr lang="zh-CN" altLang="en-US" sz="2400" b="1">
                <a:latin typeface="宋体" panose="02010600030101010101" pitchFamily="2" charset="-122"/>
                <a:ea typeface="宋体" panose="02010600030101010101" pitchFamily="2" charset="-122"/>
                <a:cs typeface="宋体" panose="02010600030101010101" pitchFamily="2" charset="-122"/>
              </a:rPr>
              <a:t>该案以法理定分止争，</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依据</a:t>
            </a:r>
            <a:r>
              <a:rPr lang="en-US" altLang="zh-CN" sz="2400" b="1">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民法典</a:t>
            </a:r>
            <a:r>
              <a:rPr lang="en-US" altLang="zh-CN" sz="2400" b="1">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zh-CN" altLang="en-US" sz="2400" b="1">
                <a:latin typeface="宋体" panose="02010600030101010101" pitchFamily="2" charset="-122"/>
                <a:ea typeface="宋体" panose="02010600030101010101" pitchFamily="2" charset="-122"/>
                <a:cs typeface="宋体" panose="02010600030101010101" pitchFamily="2" charset="-122"/>
              </a:rPr>
              <a:t>，确定李某应承担</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无过错侵权责任</a:t>
            </a:r>
            <a:r>
              <a:rPr lang="zh-CN" altLang="en-US" sz="2400" b="1">
                <a:latin typeface="宋体" panose="02010600030101010101" pitchFamily="2" charset="-122"/>
                <a:ea typeface="宋体" panose="02010600030101010101" pitchFamily="2" charset="-122"/>
                <a:cs typeface="宋体" panose="02010600030101010101" pitchFamily="2" charset="-122"/>
              </a:rPr>
              <a:t>，依法</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维护张某的合法权益</a:t>
            </a:r>
            <a:r>
              <a:rPr lang="zh-CN" altLang="en-US" sz="2400" b="1">
                <a:latin typeface="宋体" panose="02010600030101010101" pitchFamily="2" charset="-122"/>
                <a:ea typeface="宋体" panose="02010600030101010101" pitchFamily="2" charset="-122"/>
                <a:cs typeface="宋体" panose="02010600030101010101" pitchFamily="2" charset="-122"/>
              </a:rPr>
              <a:t>。</a:t>
            </a:r>
            <a:r>
              <a:rPr lang="zh-CN" altLang="en-US" sz="2400" b="1">
                <a:solidFill>
                  <a:srgbClr val="FF0000"/>
                </a:solidFill>
                <a:highlight>
                  <a:srgbClr val="FFFF00"/>
                </a:highlight>
                <a:latin typeface="宋体" panose="02010600030101010101" pitchFamily="2" charset="-122"/>
                <a:ea typeface="宋体" panose="02010600030101010101" pitchFamily="2" charset="-122"/>
                <a:sym typeface="+mn-ea"/>
              </a:rPr>
              <a:t>（</a:t>
            </a:r>
            <a:r>
              <a:rPr lang="en-US" altLang="zh-CN" sz="2400" b="1">
                <a:solidFill>
                  <a:srgbClr val="FF0000"/>
                </a:solidFill>
                <a:highlight>
                  <a:srgbClr val="FFFF00"/>
                </a:highlight>
                <a:latin typeface="宋体" panose="02010600030101010101" pitchFamily="2" charset="-122"/>
                <a:ea typeface="宋体" panose="02010600030101010101" pitchFamily="2" charset="-122"/>
                <a:sym typeface="+mn-ea"/>
              </a:rPr>
              <a:t>3</a:t>
            </a:r>
            <a:r>
              <a:rPr lang="zh-CN" altLang="en-US" sz="2400" b="1">
                <a:solidFill>
                  <a:srgbClr val="FF0000"/>
                </a:solidFill>
                <a:highlight>
                  <a:srgbClr val="FFFF00"/>
                </a:highlight>
                <a:latin typeface="宋体" panose="02010600030101010101" pitchFamily="2" charset="-122"/>
                <a:ea typeface="宋体" panose="02010600030101010101" pitchFamily="2" charset="-122"/>
                <a:sym typeface="+mn-ea"/>
              </a:rPr>
              <a:t>分）</a:t>
            </a:r>
            <a:endParaRPr lang="zh-CN" altLang="en-US" sz="2400" b="1">
              <a:latin typeface="宋体" panose="02010600030101010101" pitchFamily="2" charset="-122"/>
              <a:ea typeface="宋体" panose="02010600030101010101" pitchFamily="2" charset="-122"/>
              <a:cs typeface="宋体" panose="02010600030101010101" pitchFamily="2" charset="-122"/>
            </a:endParaRPr>
          </a:p>
          <a:p>
            <a:pPr marL="0" indent="304800" algn="just" defTabSz="266700">
              <a:lnSpc>
                <a:spcPct val="100000"/>
              </a:lnSpc>
              <a:spcBef>
                <a:spcPct val="0"/>
              </a:spcBef>
              <a:spcAft>
                <a:spcPct val="0"/>
              </a:spcAft>
            </a:pPr>
            <a:r>
              <a:rPr lang="zh-CN" altLang="en-US" sz="2400" b="1">
                <a:latin typeface="宋体" panose="02010600030101010101" pitchFamily="2" charset="-122"/>
                <a:ea typeface="宋体" panose="02010600030101010101" pitchFamily="2" charset="-122"/>
                <a:cs typeface="宋体" panose="02010600030101010101" pitchFamily="2" charset="-122"/>
              </a:rPr>
              <a:t> </a:t>
            </a:r>
            <a:r>
              <a:rPr lang="en-US" altLang="zh-CN" sz="2400" b="1">
                <a:latin typeface="宋体" panose="02010600030101010101" pitchFamily="2" charset="-122"/>
                <a:ea typeface="宋体" panose="02010600030101010101" pitchFamily="2" charset="-122"/>
                <a:cs typeface="宋体" panose="02010600030101010101" pitchFamily="2" charset="-122"/>
              </a:rPr>
              <a:t> </a:t>
            </a:r>
            <a:r>
              <a:rPr lang="zh-CN" altLang="en-US" sz="2400" b="1">
                <a:latin typeface="宋体" panose="02010600030101010101" pitchFamily="2" charset="-122"/>
                <a:ea typeface="宋体" panose="02010600030101010101" pitchFamily="2" charset="-122"/>
                <a:cs typeface="宋体" panose="02010600030101010101" pitchFamily="2" charset="-122"/>
              </a:rPr>
              <a:t>同时，引入</a:t>
            </a:r>
            <a:r>
              <a:rPr lang="en-US" altLang="zh-CN" sz="2400" b="1">
                <a:latin typeface="宋体" panose="02010600030101010101" pitchFamily="2" charset="-122"/>
                <a:ea typeface="宋体" panose="02010600030101010101" pitchFamily="2" charset="-122"/>
                <a:cs typeface="宋体" panose="02010600030101010101" pitchFamily="2" charset="-122"/>
              </a:rPr>
              <a:t>《</a:t>
            </a:r>
            <a:r>
              <a:rPr lang="zh-CN" altLang="en-US" sz="2400" b="1">
                <a:latin typeface="宋体" panose="02010600030101010101" pitchFamily="2" charset="-122"/>
                <a:ea typeface="宋体" panose="02010600030101010101" pitchFamily="2" charset="-122"/>
                <a:cs typeface="宋体" panose="02010600030101010101" pitchFamily="2" charset="-122"/>
              </a:rPr>
              <a:t>生态环境法典</a:t>
            </a:r>
            <a:r>
              <a:rPr lang="en-US" altLang="zh-CN" sz="2400" b="1">
                <a:latin typeface="宋体" panose="02010600030101010101" pitchFamily="2" charset="-122"/>
                <a:ea typeface="宋体" panose="02010600030101010101" pitchFamily="2" charset="-122"/>
                <a:cs typeface="宋体" panose="02010600030101010101" pitchFamily="2" charset="-122"/>
              </a:rPr>
              <a:t>》</a:t>
            </a:r>
            <a:r>
              <a:rPr lang="zh-CN" altLang="en-US" sz="2400" b="1">
                <a:latin typeface="宋体" panose="02010600030101010101" pitchFamily="2" charset="-122"/>
                <a:ea typeface="宋体" panose="02010600030101010101" pitchFamily="2" charset="-122"/>
                <a:cs typeface="宋体" panose="02010600030101010101" pitchFamily="2" charset="-122"/>
              </a:rPr>
              <a:t>的</a:t>
            </a:r>
            <a:r>
              <a:rPr lang="zh-CN" altLang="en-US" sz="2400" b="1">
                <a:solidFill>
                  <a:schemeClr val="tx1"/>
                </a:solidFill>
                <a:latin typeface="宋体" panose="02010600030101010101" pitchFamily="2" charset="-122"/>
                <a:ea typeface="宋体" panose="02010600030101010101" pitchFamily="2" charset="-122"/>
                <a:cs typeface="宋体" panose="02010600030101010101" pitchFamily="2" charset="-122"/>
              </a:rPr>
              <a:t>核心原则和立法理念，将矛盾化解与生态修复同步推进，彰显法律的刚性；充分考虑双方当事人的实际情况，以“分期赔偿</a:t>
            </a:r>
            <a:r>
              <a:rPr lang="en-US" altLang="zh-CN" sz="2400" b="1">
                <a:solidFill>
                  <a:schemeClr val="tx1"/>
                </a:solidFill>
                <a:latin typeface="宋体" panose="02010600030101010101" pitchFamily="2" charset="-122"/>
                <a:ea typeface="宋体" panose="02010600030101010101" pitchFamily="2" charset="-122"/>
                <a:cs typeface="宋体" panose="02010600030101010101" pitchFamily="2" charset="-122"/>
              </a:rPr>
              <a:t>+</a:t>
            </a:r>
            <a:r>
              <a:rPr lang="zh-CN" altLang="en-US" sz="2400" b="1">
                <a:solidFill>
                  <a:schemeClr val="tx1"/>
                </a:solidFill>
                <a:latin typeface="宋体" panose="02010600030101010101" pitchFamily="2" charset="-122"/>
                <a:ea typeface="宋体" panose="02010600030101010101" pitchFamily="2" charset="-122"/>
                <a:cs typeface="宋体" panose="02010600030101010101" pitchFamily="2" charset="-122"/>
              </a:rPr>
              <a:t>生态修复”的方案促成当事人互谅互让，</a:t>
            </a:r>
            <a:r>
              <a:rPr lang="zh-CN" altLang="en-US" sz="2400" b="1">
                <a:latin typeface="宋体" panose="02010600030101010101" pitchFamily="2" charset="-122"/>
                <a:ea typeface="宋体" panose="02010600030101010101" pitchFamily="2" charset="-122"/>
                <a:cs typeface="宋体" panose="02010600030101010101" pitchFamily="2" charset="-122"/>
              </a:rPr>
              <a:t>传递司法的温暖力量，</a:t>
            </a:r>
            <a:r>
              <a:rPr lang="zh-CN" altLang="en-US" sz="2400" b="1">
                <a:latin typeface="宋体" panose="02010600030101010101" pitchFamily="2" charset="-122"/>
                <a:ea typeface="宋体" panose="02010600030101010101" pitchFamily="2" charset="-122"/>
                <a:cs typeface="宋体" panose="02010600030101010101" pitchFamily="2" charset="-122"/>
                <a:sym typeface="+mn-ea"/>
              </a:rPr>
              <a:t>有利于</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弘扬社会主义核心价值观</a:t>
            </a:r>
            <a:r>
              <a:rPr lang="zh-CN" altLang="en-US" sz="2400" b="1">
                <a:latin typeface="宋体" panose="02010600030101010101" pitchFamily="2" charset="-122"/>
                <a:ea typeface="宋体" panose="02010600030101010101" pitchFamily="2" charset="-122"/>
                <a:cs typeface="宋体" panose="02010600030101010101" pitchFamily="2" charset="-122"/>
                <a:sym typeface="+mn-ea"/>
              </a:rPr>
              <a:t>。</a:t>
            </a:r>
            <a:r>
              <a:rPr lang="zh-CN" altLang="en-US" sz="2400" b="1">
                <a:solidFill>
                  <a:srgbClr val="FF0000"/>
                </a:solidFill>
                <a:highlight>
                  <a:srgbClr val="FFFF00"/>
                </a:highlight>
                <a:latin typeface="宋体" panose="02010600030101010101" pitchFamily="2" charset="-122"/>
                <a:ea typeface="宋体" panose="02010600030101010101" pitchFamily="2" charset="-122"/>
                <a:sym typeface="+mn-ea"/>
              </a:rPr>
              <a:t>（</a:t>
            </a:r>
            <a:r>
              <a:rPr lang="en-US" altLang="zh-CN" sz="2400" b="1">
                <a:solidFill>
                  <a:srgbClr val="FF0000"/>
                </a:solidFill>
                <a:highlight>
                  <a:srgbClr val="FFFF00"/>
                </a:highlight>
                <a:latin typeface="宋体" panose="02010600030101010101" pitchFamily="2" charset="-122"/>
                <a:ea typeface="宋体" panose="02010600030101010101" pitchFamily="2" charset="-122"/>
                <a:sym typeface="+mn-ea"/>
              </a:rPr>
              <a:t>3+1</a:t>
            </a:r>
            <a:r>
              <a:rPr lang="zh-CN" altLang="en-US" sz="2400" b="1">
                <a:solidFill>
                  <a:srgbClr val="FF0000"/>
                </a:solidFill>
                <a:highlight>
                  <a:srgbClr val="FFFF00"/>
                </a:highlight>
                <a:latin typeface="宋体" panose="02010600030101010101" pitchFamily="2" charset="-122"/>
                <a:ea typeface="宋体" panose="02010600030101010101" pitchFamily="2" charset="-122"/>
                <a:sym typeface="+mn-ea"/>
              </a:rPr>
              <a:t>分）</a:t>
            </a:r>
            <a:endParaRPr lang="zh-CN" altLang="en-US" sz="2400" b="1">
              <a:latin typeface="宋体" panose="02010600030101010101" pitchFamily="2" charset="-122"/>
              <a:ea typeface="宋体" panose="02010600030101010101" pitchFamily="2" charset="-122"/>
              <a:cs typeface="宋体" panose="02010600030101010101" pitchFamily="2" charset="-122"/>
            </a:endParaRPr>
          </a:p>
          <a:p>
            <a:pPr marL="0" indent="304800" algn="just" defTabSz="266700">
              <a:lnSpc>
                <a:spcPct val="100000"/>
              </a:lnSpc>
              <a:spcBef>
                <a:spcPct val="0"/>
              </a:spcBef>
              <a:spcAft>
                <a:spcPct val="0"/>
              </a:spcAft>
            </a:pPr>
            <a:endParaRPr lang="zh-CN" altLang="en-US" sz="2400" b="1">
              <a:latin typeface="宋体" panose="02010600030101010101" pitchFamily="2" charset="-122"/>
              <a:ea typeface="宋体" panose="02010600030101010101" pitchFamily="2" charset="-122"/>
              <a:cs typeface="宋体" panose="02010600030101010101" pitchFamily="2" charset="-122"/>
            </a:endParaRPr>
          </a:p>
        </p:txBody>
      </p:sp>
      <p:sp>
        <p:nvSpPr>
          <p:cNvPr id="4" name="文本框 3"/>
          <p:cNvSpPr txBox="1"/>
          <p:nvPr/>
        </p:nvSpPr>
        <p:spPr>
          <a:xfrm>
            <a:off x="546735" y="4484370"/>
            <a:ext cx="11235690" cy="1891665"/>
          </a:xfrm>
          <a:prstGeom prst="rect">
            <a:avLst/>
          </a:prstGeom>
          <a:solidFill>
            <a:schemeClr val="accent2">
              <a:lumMod val="20000"/>
              <a:lumOff val="80000"/>
            </a:schemeClr>
          </a:solidFill>
        </p:spPr>
        <p:txBody>
          <a:bodyPr wrap="square" rtlCol="0">
            <a:noAutofit/>
          </a:bodyPr>
          <a:lstStyle/>
          <a:p>
            <a:r>
              <a:rPr lang="zh-CN" altLang="en-US" sz="2400">
                <a:latin typeface="黑体" panose="02010609060101010101" charset="-122"/>
                <a:ea typeface="黑体" panose="02010609060101010101" charset="-122"/>
              </a:rPr>
              <a:t>第一层：案件本身（司法机关坚持公正司法</a:t>
            </a:r>
            <a:r>
              <a:rPr lang="en-US" altLang="zh-CN" sz="2400">
                <a:latin typeface="黑体" panose="02010609060101010101" charset="-122"/>
                <a:ea typeface="黑体" panose="02010609060101010101" charset="-122"/>
              </a:rPr>
              <a:t>or</a:t>
            </a:r>
            <a:r>
              <a:rPr lang="zh-CN" altLang="en-US" sz="2400">
                <a:latin typeface="黑体" panose="02010609060101010101" charset="-122"/>
                <a:ea typeface="黑体" panose="02010609060101010101" charset="-122"/>
                <a:sym typeface="+mn-ea"/>
              </a:rPr>
              <a:t>以事实为根据，以法律为准绳</a:t>
            </a:r>
            <a:endParaRPr lang="zh-CN" altLang="en-US" sz="2400">
              <a:latin typeface="黑体" panose="02010609060101010101" charset="-122"/>
              <a:ea typeface="黑体" panose="02010609060101010101" charset="-122"/>
            </a:endParaRPr>
          </a:p>
          <a:p>
            <a:r>
              <a:rPr lang="zh-CN" altLang="en-US" sz="2400">
                <a:latin typeface="黑体" panose="02010609060101010101" charset="-122"/>
                <a:ea typeface="黑体" panose="02010609060101010101" charset="-122"/>
              </a:rPr>
              <a:t> </a:t>
            </a:r>
            <a:r>
              <a:rPr lang="en-US" altLang="zh-CN" sz="2400">
                <a:latin typeface="黑体" panose="02010609060101010101" charset="-122"/>
                <a:ea typeface="黑体" panose="02010609060101010101" charset="-122"/>
              </a:rPr>
              <a:t>       ——</a:t>
            </a:r>
            <a:r>
              <a:rPr lang="zh-CN" altLang="en-US" sz="2400">
                <a:latin typeface="黑体" panose="02010609060101010101" charset="-122"/>
                <a:ea typeface="黑体" panose="02010609060101010101" charset="-122"/>
              </a:rPr>
              <a:t>依据《民法典》和引入《生态环境法典》）</a:t>
            </a:r>
            <a:endParaRPr lang="zh-CN" altLang="en-US" sz="2400">
              <a:latin typeface="黑体" panose="02010609060101010101" charset="-122"/>
              <a:ea typeface="黑体" panose="02010609060101010101" charset="-122"/>
            </a:endParaRPr>
          </a:p>
          <a:p>
            <a:r>
              <a:rPr lang="zh-CN" altLang="en-US" sz="2400">
                <a:latin typeface="黑体" panose="02010609060101010101" charset="-122"/>
                <a:ea typeface="黑体" panose="02010609060101010101" charset="-122"/>
              </a:rPr>
              <a:t>第二层：</a:t>
            </a:r>
            <a:r>
              <a:rPr lang="zh-CN" altLang="en-US" sz="2400">
                <a:latin typeface="黑体" panose="02010609060101010101" charset="-122"/>
                <a:ea typeface="黑体" panose="02010609060101010101" charset="-122"/>
                <a:sym typeface="+mn-ea"/>
              </a:rPr>
              <a:t>保护</a:t>
            </a:r>
            <a:r>
              <a:rPr lang="zh-CN" altLang="en-US" sz="2400">
                <a:latin typeface="黑体" panose="02010609060101010101" charset="-122"/>
                <a:ea typeface="黑体" panose="02010609060101010101" charset="-122"/>
              </a:rPr>
              <a:t>生态环境（法的规范</a:t>
            </a:r>
            <a:r>
              <a:rPr lang="en-US" altLang="zh-CN" sz="2400">
                <a:latin typeface="黑体" panose="02010609060101010101" charset="-122"/>
                <a:ea typeface="黑体" panose="02010609060101010101" charset="-122"/>
              </a:rPr>
              <a:t>&lt;</a:t>
            </a:r>
            <a:r>
              <a:rPr lang="zh-CN" altLang="en-US" sz="2400">
                <a:latin typeface="黑体" panose="02010609060101010101" charset="-122"/>
                <a:ea typeface="黑体" panose="02010609060101010101" charset="-122"/>
              </a:rPr>
              <a:t>刚性</a:t>
            </a:r>
            <a:r>
              <a:rPr lang="en-US" altLang="zh-CN" sz="2400">
                <a:latin typeface="黑体" panose="02010609060101010101" charset="-122"/>
                <a:ea typeface="黑体" panose="02010609060101010101" charset="-122"/>
                <a:sym typeface="+mn-ea"/>
              </a:rPr>
              <a:t>&gt;+</a:t>
            </a:r>
            <a:r>
              <a:rPr lang="zh-CN" altLang="en-US" sz="2400">
                <a:latin typeface="黑体" panose="02010609060101010101" charset="-122"/>
                <a:ea typeface="黑体" panose="02010609060101010101" charset="-122"/>
                <a:sym typeface="+mn-ea"/>
              </a:rPr>
              <a:t>德的教化</a:t>
            </a:r>
            <a:r>
              <a:rPr lang="en-US" altLang="zh-CN" sz="2400">
                <a:latin typeface="黑体" panose="02010609060101010101" charset="-122"/>
                <a:ea typeface="黑体" panose="02010609060101010101" charset="-122"/>
                <a:sym typeface="+mn-ea"/>
              </a:rPr>
              <a:t>&lt;</a:t>
            </a:r>
            <a:r>
              <a:rPr lang="zh-CN" altLang="en-US" sz="2400">
                <a:latin typeface="黑体" panose="02010609060101010101" charset="-122"/>
                <a:ea typeface="黑体" panose="02010609060101010101" charset="-122"/>
                <a:sym typeface="+mn-ea"/>
              </a:rPr>
              <a:t>温暖</a:t>
            </a:r>
            <a:r>
              <a:rPr lang="en-US" altLang="zh-CN" sz="2400">
                <a:latin typeface="黑体" panose="02010609060101010101" charset="-122"/>
                <a:ea typeface="黑体" panose="02010609060101010101" charset="-122"/>
                <a:sym typeface="+mn-ea"/>
              </a:rPr>
              <a:t>&gt;      </a:t>
            </a:r>
            <a:endParaRPr lang="en-US" altLang="zh-CN" sz="2400">
              <a:latin typeface="黑体" panose="02010609060101010101" charset="-122"/>
              <a:ea typeface="黑体" panose="02010609060101010101" charset="-122"/>
              <a:sym typeface="+mn-ea"/>
            </a:endParaRPr>
          </a:p>
          <a:p>
            <a:r>
              <a:rPr lang="en-US" altLang="zh-CN" sz="2400">
                <a:latin typeface="黑体" panose="02010609060101010101" charset="-122"/>
                <a:ea typeface="黑体" panose="02010609060101010101" charset="-122"/>
                <a:sym typeface="+mn-ea"/>
              </a:rPr>
              <a:t>        </a:t>
            </a:r>
            <a:r>
              <a:rPr lang="zh-CN" altLang="en-US" sz="2400">
                <a:latin typeface="黑体" panose="02010609060101010101" charset="-122"/>
                <a:ea typeface="黑体" panose="02010609060101010101" charset="-122"/>
                <a:sym typeface="+mn-ea"/>
              </a:rPr>
              <a:t>指向</a:t>
            </a:r>
            <a:r>
              <a:rPr lang="en-US" altLang="zh-CN" sz="2400">
                <a:latin typeface="黑体" panose="02010609060101010101" charset="-122"/>
                <a:ea typeface="黑体" panose="02010609060101010101" charset="-122"/>
                <a:sym typeface="+mn-ea"/>
              </a:rPr>
              <a:t>——</a:t>
            </a:r>
            <a:r>
              <a:rPr lang="zh-CN" altLang="en-US" sz="2400">
                <a:latin typeface="黑体" panose="02010609060101010101" charset="-122"/>
                <a:ea typeface="黑体" panose="02010609060101010101" charset="-122"/>
                <a:sym typeface="+mn-ea"/>
              </a:rPr>
              <a:t>法德共同作用、相得益彰</a:t>
            </a:r>
            <a:r>
              <a:rPr lang="en-US" altLang="zh-CN" sz="2400">
                <a:latin typeface="黑体" panose="02010609060101010101" charset="-122"/>
                <a:ea typeface="黑体" panose="02010609060101010101" charset="-122"/>
                <a:sym typeface="+mn-ea"/>
              </a:rPr>
              <a:t>&lt;</a:t>
            </a:r>
            <a:r>
              <a:rPr lang="zh-CN" altLang="en-US" sz="2400">
                <a:latin typeface="黑体" panose="02010609060101010101" charset="-122"/>
                <a:ea typeface="黑体" panose="02010609060101010101" charset="-122"/>
                <a:sym typeface="+mn-ea"/>
              </a:rPr>
              <a:t>个人利益与生态利益</a:t>
            </a:r>
            <a:r>
              <a:rPr lang="en-US" altLang="zh-CN" sz="2400">
                <a:latin typeface="黑体" panose="02010609060101010101" charset="-122"/>
                <a:ea typeface="黑体" panose="02010609060101010101" charset="-122"/>
                <a:sym typeface="+mn-ea"/>
              </a:rPr>
              <a:t>&gt;&lt;</a:t>
            </a:r>
            <a:r>
              <a:rPr lang="zh-CN" altLang="en-US" sz="2400">
                <a:latin typeface="黑体" panose="02010609060101010101" charset="-122"/>
                <a:ea typeface="黑体" panose="02010609060101010101" charset="-122"/>
                <a:sym typeface="+mn-ea"/>
              </a:rPr>
              <a:t>情理法相统一</a:t>
            </a:r>
            <a:r>
              <a:rPr lang="en-US" altLang="zh-CN" sz="2400">
                <a:latin typeface="黑体" panose="02010609060101010101" charset="-122"/>
                <a:ea typeface="黑体" panose="02010609060101010101" charset="-122"/>
                <a:sym typeface="+mn-ea"/>
              </a:rPr>
              <a:t>&gt;</a:t>
            </a:r>
            <a:r>
              <a:rPr lang="zh-CN" altLang="en-US" sz="2400">
                <a:latin typeface="黑体" panose="02010609060101010101" charset="-122"/>
                <a:ea typeface="黑体" panose="02010609060101010101" charset="-122"/>
              </a:rPr>
              <a:t>）</a:t>
            </a:r>
            <a:endParaRPr lang="zh-CN" altLang="en-US" sz="2400">
              <a:latin typeface="黑体" panose="02010609060101010101" charset="-122"/>
              <a:ea typeface="黑体" panose="02010609060101010101" charset="-122"/>
            </a:endParaRPr>
          </a:p>
          <a:p>
            <a:r>
              <a:rPr lang="zh-CN" altLang="en-US" sz="2400">
                <a:latin typeface="黑体" panose="02010609060101010101" charset="-122"/>
                <a:ea typeface="黑体" panose="02010609060101010101" charset="-122"/>
              </a:rPr>
              <a:t>第三层：促进公平正义，</a:t>
            </a:r>
            <a:r>
              <a:rPr lang="zh-CN" altLang="en-US" sz="2400">
                <a:latin typeface="黑体" panose="02010609060101010101" charset="-122"/>
                <a:ea typeface="黑体" panose="02010609060101010101" charset="-122"/>
                <a:sym typeface="+mn-ea"/>
              </a:rPr>
              <a:t>有利于</a:t>
            </a:r>
            <a:r>
              <a:rPr lang="zh-CN" altLang="en-US" sz="2400">
                <a:latin typeface="黑体" panose="02010609060101010101" charset="-122"/>
                <a:ea typeface="黑体" panose="02010609060101010101" charset="-122"/>
              </a:rPr>
              <a:t>弘扬社会主义核心价值观</a:t>
            </a:r>
            <a:endParaRPr lang="zh-CN" altLang="en-US" sz="2400">
              <a:latin typeface="黑体" panose="02010609060101010101" charset="-122"/>
              <a:ea typeface="黑体" panose="02010609060101010101" charset="-122"/>
            </a:endParaRPr>
          </a:p>
        </p:txBody>
      </p:sp>
      <p:sp>
        <p:nvSpPr>
          <p:cNvPr id="39" name="标题 3"/>
          <p:cNvSpPr txBox="1"/>
          <p:nvPr/>
        </p:nvSpPr>
        <p:spPr>
          <a:xfrm>
            <a:off x="388619" y="-236"/>
            <a:ext cx="3070225" cy="750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二、变通答案</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nvGraphicFramePr>
        <p:xfrm>
          <a:off x="279400" y="639134"/>
          <a:ext cx="11633200" cy="4753499"/>
        </p:xfrm>
        <a:graphic>
          <a:graphicData uri="http://schemas.openxmlformats.org/drawingml/2006/table">
            <a:tbl>
              <a:tblPr>
                <a:tableStyleId>{5C22544A-7EE6-4342-B048-85BDC9FD1C3A}</a:tableStyleId>
              </a:tblPr>
              <a:tblGrid>
                <a:gridCol w="1913255"/>
                <a:gridCol w="844550"/>
                <a:gridCol w="4965700"/>
                <a:gridCol w="3909695"/>
              </a:tblGrid>
              <a:tr h="251404">
                <a:tc>
                  <a:txBody>
                    <a:bodyPr/>
                    <a:lstStyle/>
                    <a:p>
                      <a:pPr>
                        <a:lnSpc>
                          <a:spcPct val="120000"/>
                        </a:lnSpc>
                        <a:spcBef>
                          <a:spcPts val="600"/>
                        </a:spcBef>
                        <a:spcAft>
                          <a:spcPts val="600"/>
                        </a:spcAft>
                        <a:buNone/>
                      </a:pPr>
                      <a:r>
                        <a:rPr lang="zh-CN" sz="1600" kern="100" dirty="0">
                          <a:effectLst/>
                          <a:latin typeface="黑体" panose="02010609060101010101" charset="-122"/>
                          <a:ea typeface="黑体" panose="02010609060101010101" charset="-122"/>
                        </a:rPr>
                        <a:t>评分</a:t>
                      </a:r>
                      <a:endParaRPr lang="zh-CN" sz="1600" kern="100" dirty="0">
                        <a:effectLst/>
                        <a:latin typeface="黑体" panose="02010609060101010101" charset="-122"/>
                        <a:ea typeface="黑体" panose="02010609060101010101" charset="-122"/>
                        <a:cs typeface="Times New Roman" panose="02020603050405020304" pitchFamily="18" charset="0"/>
                      </a:endParaRPr>
                    </a:p>
                  </a:txBody>
                  <a:tcPr marL="58425" marR="58425" marT="29213" marB="146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nSpc>
                          <a:spcPct val="120000"/>
                        </a:lnSpc>
                        <a:spcBef>
                          <a:spcPts val="600"/>
                        </a:spcBef>
                        <a:spcAft>
                          <a:spcPts val="600"/>
                        </a:spcAft>
                        <a:buNone/>
                      </a:pPr>
                      <a:r>
                        <a:rPr lang="zh-CN" sz="1600" kern="100">
                          <a:effectLst/>
                          <a:latin typeface="黑体" panose="02010609060101010101" charset="-122"/>
                          <a:ea typeface="黑体" panose="02010609060101010101" charset="-122"/>
                        </a:rPr>
                        <a:t>分值</a:t>
                      </a:r>
                      <a:endParaRPr lang="zh-CN" sz="1600" kern="100">
                        <a:effectLst/>
                        <a:latin typeface="黑体" panose="02010609060101010101" charset="-122"/>
                        <a:ea typeface="黑体" panose="02010609060101010101" charset="-122"/>
                        <a:cs typeface="Times New Roman" panose="02020603050405020304" pitchFamily="18" charset="0"/>
                      </a:endParaRPr>
                    </a:p>
                  </a:txBody>
                  <a:tcPr marL="58425" marR="58425" marT="29213" marB="146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nSpc>
                          <a:spcPct val="120000"/>
                        </a:lnSpc>
                        <a:spcBef>
                          <a:spcPts val="600"/>
                        </a:spcBef>
                        <a:spcAft>
                          <a:spcPts val="600"/>
                        </a:spcAft>
                        <a:buNone/>
                      </a:pPr>
                      <a:r>
                        <a:rPr lang="zh-CN" sz="1600" kern="100" dirty="0">
                          <a:effectLst/>
                          <a:latin typeface="黑体" panose="02010609060101010101" charset="-122"/>
                          <a:ea typeface="黑体" panose="02010609060101010101" charset="-122"/>
                        </a:rPr>
                        <a:t>评分要点</a:t>
                      </a:r>
                      <a:endParaRPr lang="zh-CN" sz="1600" kern="100" dirty="0">
                        <a:effectLst/>
                        <a:latin typeface="黑体" panose="02010609060101010101" charset="-122"/>
                        <a:ea typeface="黑体" panose="02010609060101010101" charset="-122"/>
                        <a:cs typeface="Times New Roman" panose="02020603050405020304" pitchFamily="18" charset="0"/>
                      </a:endParaRPr>
                    </a:p>
                  </a:txBody>
                  <a:tcPr marL="58425" marR="58425" marT="29213" marB="146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nSpc>
                          <a:spcPct val="120000"/>
                        </a:lnSpc>
                        <a:spcBef>
                          <a:spcPts val="600"/>
                        </a:spcBef>
                        <a:spcAft>
                          <a:spcPts val="600"/>
                        </a:spcAft>
                        <a:buNone/>
                      </a:pPr>
                      <a:r>
                        <a:rPr lang="zh-CN" sz="1600" kern="100" dirty="0">
                          <a:effectLst/>
                          <a:latin typeface="黑体" panose="02010609060101010101" charset="-122"/>
                          <a:ea typeface="黑体" panose="02010609060101010101" charset="-122"/>
                        </a:rPr>
                        <a:t>变通</a:t>
                      </a:r>
                      <a:endParaRPr lang="zh-CN" sz="1600" kern="100" dirty="0">
                        <a:effectLst/>
                        <a:latin typeface="黑体" panose="02010609060101010101" charset="-122"/>
                        <a:ea typeface="黑体" panose="02010609060101010101" charset="-122"/>
                        <a:cs typeface="Times New Roman" panose="02020603050405020304" pitchFamily="18" charset="0"/>
                      </a:endParaRPr>
                    </a:p>
                  </a:txBody>
                  <a:tcPr marL="58425" marR="58425" marT="29213" marB="146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r>
              <a:tr h="493496">
                <a:tc>
                  <a:txBody>
                    <a:bodyPr/>
                    <a:lstStyle/>
                    <a:p>
                      <a:pPr>
                        <a:lnSpc>
                          <a:spcPct val="120000"/>
                        </a:lnSpc>
                        <a:spcBef>
                          <a:spcPts val="600"/>
                        </a:spcBef>
                        <a:spcAft>
                          <a:spcPts val="600"/>
                        </a:spcAft>
                        <a:buNone/>
                      </a:pPr>
                      <a:r>
                        <a:rPr lang="zh-CN" sz="1600" kern="100" dirty="0">
                          <a:solidFill>
                            <a:srgbClr val="FF0000"/>
                          </a:solidFill>
                          <a:effectLst/>
                          <a:latin typeface="黑体" panose="02010609060101010101" charset="-122"/>
                          <a:ea typeface="黑体" panose="02010609060101010101" charset="-122"/>
                        </a:rPr>
                        <a:t>法治与德治相结合</a:t>
                      </a:r>
                      <a:endParaRPr lang="zh-CN" sz="1600" kern="100" dirty="0">
                        <a:solidFill>
                          <a:srgbClr val="FF0000"/>
                        </a:solidFill>
                        <a:effectLst/>
                        <a:latin typeface="黑体" panose="02010609060101010101" charset="-122"/>
                        <a:ea typeface="黑体" panose="02010609060101010101" charset="-122"/>
                        <a:cs typeface="Times New Roman" panose="02020603050405020304" pitchFamily="18" charset="0"/>
                      </a:endParaRPr>
                    </a:p>
                  </a:txBody>
                  <a:tcPr marL="58425" marR="58425" marT="29213" marB="146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20000"/>
                        </a:lnSpc>
                        <a:spcBef>
                          <a:spcPts val="600"/>
                        </a:spcBef>
                        <a:spcAft>
                          <a:spcPts val="600"/>
                        </a:spcAft>
                        <a:buNone/>
                      </a:pPr>
                      <a:r>
                        <a:rPr lang="en-US" sz="1600" kern="100">
                          <a:effectLst/>
                          <a:latin typeface="黑体" panose="02010609060101010101" charset="-122"/>
                          <a:ea typeface="黑体" panose="02010609060101010101" charset="-122"/>
                        </a:rPr>
                        <a:t>1 </a:t>
                      </a:r>
                      <a:r>
                        <a:rPr lang="zh-CN" sz="1600" kern="100">
                          <a:effectLst/>
                          <a:latin typeface="黑体" panose="02010609060101010101" charset="-122"/>
                          <a:ea typeface="黑体" panose="02010609060101010101" charset="-122"/>
                        </a:rPr>
                        <a:t>分</a:t>
                      </a:r>
                      <a:endParaRPr lang="zh-CN" sz="1600" kern="100">
                        <a:effectLst/>
                        <a:latin typeface="黑体" panose="02010609060101010101" charset="-122"/>
                        <a:ea typeface="黑体" panose="02010609060101010101" charset="-122"/>
                        <a:cs typeface="Times New Roman" panose="02020603050405020304" pitchFamily="18" charset="0"/>
                      </a:endParaRPr>
                    </a:p>
                  </a:txBody>
                  <a:tcPr marL="58425" marR="58425" marT="29213" marB="146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20000"/>
                        </a:lnSpc>
                        <a:spcBef>
                          <a:spcPts val="600"/>
                        </a:spcBef>
                        <a:spcAft>
                          <a:spcPts val="600"/>
                        </a:spcAft>
                        <a:buNone/>
                      </a:pPr>
                      <a:r>
                        <a:rPr lang="zh-CN" sz="1600" kern="100" dirty="0">
                          <a:effectLst/>
                          <a:latin typeface="黑体" panose="02010609060101010101" charset="-122"/>
                          <a:ea typeface="黑体" panose="02010609060101010101" charset="-122"/>
                        </a:rPr>
                        <a:t>明确指出该案体现了</a:t>
                      </a:r>
                      <a:r>
                        <a:rPr lang="en-US" sz="1600" kern="100" dirty="0">
                          <a:effectLst/>
                          <a:latin typeface="黑体" panose="02010609060101010101" charset="-122"/>
                          <a:ea typeface="黑体" panose="02010609060101010101" charset="-122"/>
                        </a:rPr>
                        <a:t> </a:t>
                      </a:r>
                      <a:r>
                        <a:rPr lang="en-US" sz="1600" kern="100" dirty="0">
                          <a:effectLst/>
                          <a:highlight>
                            <a:srgbClr val="FFFF00"/>
                          </a:highlight>
                          <a:latin typeface="黑体" panose="02010609060101010101" charset="-122"/>
                          <a:ea typeface="黑体" panose="02010609060101010101" charset="-122"/>
                        </a:rPr>
                        <a:t>“</a:t>
                      </a:r>
                      <a:r>
                        <a:rPr lang="zh-CN" sz="1600" kern="100" dirty="0">
                          <a:effectLst/>
                          <a:highlight>
                            <a:srgbClr val="FFFF00"/>
                          </a:highlight>
                          <a:latin typeface="黑体" panose="02010609060101010101" charset="-122"/>
                          <a:ea typeface="黑体" panose="02010609060101010101" charset="-122"/>
                        </a:rPr>
                        <a:t>法治与德治相结合</a:t>
                      </a:r>
                      <a:r>
                        <a:rPr lang="en-US" sz="1600" kern="100" dirty="0">
                          <a:effectLst/>
                          <a:highlight>
                            <a:srgbClr val="FFFF00"/>
                          </a:highlight>
                          <a:latin typeface="黑体" panose="02010609060101010101" charset="-122"/>
                          <a:ea typeface="黑体" panose="02010609060101010101" charset="-122"/>
                        </a:rPr>
                        <a:t>” </a:t>
                      </a:r>
                      <a:r>
                        <a:rPr lang="zh-CN" sz="1600" kern="100" dirty="0">
                          <a:effectLst/>
                          <a:latin typeface="黑体" panose="02010609060101010101" charset="-122"/>
                          <a:ea typeface="黑体" panose="02010609060101010101" charset="-122"/>
                        </a:rPr>
                        <a:t>的原则（</a:t>
                      </a:r>
                      <a:r>
                        <a:rPr lang="en-US" sz="1600" kern="100" dirty="0">
                          <a:effectLst/>
                          <a:latin typeface="黑体" panose="02010609060101010101" charset="-122"/>
                          <a:ea typeface="黑体" panose="02010609060101010101" charset="-122"/>
                        </a:rPr>
                        <a:t>1</a:t>
                      </a:r>
                      <a:r>
                        <a:rPr lang="zh-CN" sz="1600" kern="100" dirty="0">
                          <a:effectLst/>
                          <a:latin typeface="黑体" panose="02010609060101010101" charset="-122"/>
                          <a:ea typeface="黑体" panose="02010609060101010101" charset="-122"/>
                        </a:rPr>
                        <a:t>分 ）</a:t>
                      </a:r>
                      <a:endParaRPr lang="zh-CN" sz="1600" kern="100" dirty="0">
                        <a:effectLst/>
                        <a:latin typeface="黑体" panose="02010609060101010101" charset="-122"/>
                        <a:ea typeface="黑体" panose="02010609060101010101" charset="-122"/>
                        <a:cs typeface="Times New Roman" panose="02020603050405020304" pitchFamily="18" charset="0"/>
                      </a:endParaRPr>
                    </a:p>
                  </a:txBody>
                  <a:tcPr marL="58425" marR="58425" marT="29213" marB="146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20000"/>
                        </a:lnSpc>
                        <a:spcBef>
                          <a:spcPts val="600"/>
                        </a:spcBef>
                        <a:spcAft>
                          <a:spcPts val="600"/>
                        </a:spcAft>
                        <a:buNone/>
                      </a:pPr>
                      <a:r>
                        <a:rPr lang="zh-CN" sz="1600" kern="100" dirty="0">
                          <a:effectLst/>
                          <a:latin typeface="黑体" panose="02010609060101010101" charset="-122"/>
                          <a:ea typeface="黑体" panose="02010609060101010101" charset="-122"/>
                        </a:rPr>
                        <a:t>法律的刚性与道德柔性约束的统一</a:t>
                      </a:r>
                      <a:r>
                        <a:rPr lang="en-US" altLang="zh-CN" sz="1600" kern="100" dirty="0">
                          <a:effectLst/>
                          <a:latin typeface="黑体" panose="02010609060101010101" charset="-122"/>
                          <a:ea typeface="黑体" panose="02010609060101010101" charset="-122"/>
                        </a:rPr>
                        <a:t> 1</a:t>
                      </a:r>
                      <a:r>
                        <a:rPr lang="zh-CN" altLang="en-US" sz="1600" kern="100" dirty="0">
                          <a:effectLst/>
                          <a:latin typeface="黑体" panose="02010609060101010101" charset="-122"/>
                          <a:ea typeface="黑体" panose="02010609060101010101" charset="-122"/>
                        </a:rPr>
                        <a:t>分</a:t>
                      </a:r>
                      <a:endParaRPr lang="zh-CN" sz="1600" kern="100" dirty="0">
                        <a:effectLst/>
                        <a:latin typeface="黑体" panose="02010609060101010101" charset="-122"/>
                        <a:ea typeface="黑体" panose="02010609060101010101" charset="-122"/>
                        <a:cs typeface="Times New Roman" panose="02020603050405020304" pitchFamily="18" charset="0"/>
                      </a:endParaRPr>
                    </a:p>
                  </a:txBody>
                  <a:tcPr marL="58425" marR="58425" marT="29213" marB="146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182381">
                <a:tc>
                  <a:txBody>
                    <a:bodyPr/>
                    <a:lstStyle/>
                    <a:p>
                      <a:pPr>
                        <a:lnSpc>
                          <a:spcPct val="120000"/>
                        </a:lnSpc>
                        <a:spcBef>
                          <a:spcPts val="600"/>
                        </a:spcBef>
                        <a:spcAft>
                          <a:spcPts val="600"/>
                        </a:spcAft>
                        <a:buNone/>
                      </a:pPr>
                      <a:r>
                        <a:rPr lang="zh-CN" sz="1600" kern="100" dirty="0">
                          <a:effectLst/>
                          <a:latin typeface="黑体" panose="02010609060101010101" charset="-122"/>
                          <a:ea typeface="黑体" panose="02010609060101010101" charset="-122"/>
                        </a:rPr>
                        <a:t>维度一：</a:t>
                      </a:r>
                      <a:endParaRPr lang="en-US" altLang="zh-CN" sz="1600" kern="100" dirty="0">
                        <a:effectLst/>
                        <a:latin typeface="黑体" panose="02010609060101010101" charset="-122"/>
                        <a:ea typeface="黑体" panose="02010609060101010101" charset="-122"/>
                      </a:endParaRPr>
                    </a:p>
                    <a:p>
                      <a:pPr>
                        <a:lnSpc>
                          <a:spcPct val="120000"/>
                        </a:lnSpc>
                        <a:spcBef>
                          <a:spcPts val="600"/>
                        </a:spcBef>
                        <a:spcAft>
                          <a:spcPts val="600"/>
                        </a:spcAft>
                        <a:buNone/>
                      </a:pPr>
                      <a:r>
                        <a:rPr lang="zh-CN" sz="1600" kern="100" dirty="0">
                          <a:solidFill>
                            <a:srgbClr val="FF0000"/>
                          </a:solidFill>
                          <a:effectLst/>
                          <a:latin typeface="黑体" panose="02010609060101010101" charset="-122"/>
                          <a:ea typeface="黑体" panose="02010609060101010101" charset="-122"/>
                        </a:rPr>
                        <a:t>法治（法律刚性）</a:t>
                      </a:r>
                      <a:endParaRPr lang="zh-CN" sz="1600" kern="100" dirty="0">
                        <a:solidFill>
                          <a:srgbClr val="FF0000"/>
                        </a:solidFill>
                        <a:effectLst/>
                        <a:latin typeface="黑体" panose="02010609060101010101" charset="-122"/>
                        <a:ea typeface="黑体" panose="02010609060101010101" charset="-122"/>
                        <a:cs typeface="Times New Roman" panose="02020603050405020304" pitchFamily="18" charset="0"/>
                      </a:endParaRPr>
                    </a:p>
                  </a:txBody>
                  <a:tcPr marL="58425" marR="58425" marT="29213" marB="146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20000"/>
                        </a:lnSpc>
                        <a:spcBef>
                          <a:spcPts val="600"/>
                        </a:spcBef>
                        <a:spcAft>
                          <a:spcPts val="600"/>
                        </a:spcAft>
                        <a:buNone/>
                      </a:pPr>
                      <a:r>
                        <a:rPr lang="en-US" sz="1600" kern="100">
                          <a:effectLst/>
                          <a:latin typeface="黑体" panose="02010609060101010101" charset="-122"/>
                          <a:ea typeface="黑体" panose="02010609060101010101" charset="-122"/>
                        </a:rPr>
                        <a:t>4 </a:t>
                      </a:r>
                      <a:r>
                        <a:rPr lang="zh-CN" sz="1600" kern="100">
                          <a:effectLst/>
                          <a:latin typeface="黑体" panose="02010609060101010101" charset="-122"/>
                          <a:ea typeface="黑体" panose="02010609060101010101" charset="-122"/>
                        </a:rPr>
                        <a:t>分</a:t>
                      </a:r>
                      <a:endParaRPr lang="zh-CN" sz="1600" kern="100">
                        <a:effectLst/>
                        <a:latin typeface="黑体" panose="02010609060101010101" charset="-122"/>
                        <a:ea typeface="黑体" panose="02010609060101010101" charset="-122"/>
                        <a:cs typeface="Times New Roman" panose="02020603050405020304" pitchFamily="18" charset="0"/>
                      </a:endParaRPr>
                    </a:p>
                  </a:txBody>
                  <a:tcPr marL="58425" marR="58425" marT="29213" marB="146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20000"/>
                        </a:lnSpc>
                        <a:spcBef>
                          <a:spcPts val="600"/>
                        </a:spcBef>
                        <a:spcAft>
                          <a:spcPts val="600"/>
                        </a:spcAft>
                        <a:buNone/>
                      </a:pPr>
                      <a:r>
                        <a:rPr lang="zh-CN" sz="1600" kern="100" dirty="0">
                          <a:effectLst/>
                          <a:latin typeface="黑体" panose="02010609060101010101" charset="-122"/>
                          <a:ea typeface="黑体" panose="02010609060101010101" charset="-122"/>
                        </a:rPr>
                        <a:t>依据</a:t>
                      </a:r>
                      <a:r>
                        <a:rPr lang="zh-CN" sz="1600" kern="100" dirty="0">
                          <a:effectLst/>
                          <a:highlight>
                            <a:srgbClr val="FFFF00"/>
                          </a:highlight>
                          <a:latin typeface="黑体" panose="02010609060101010101" charset="-122"/>
                          <a:ea typeface="黑体" panose="02010609060101010101" charset="-122"/>
                        </a:rPr>
                        <a:t>《民法典》定分止争</a:t>
                      </a:r>
                      <a:r>
                        <a:rPr lang="zh-CN" sz="1600" kern="100" dirty="0">
                          <a:effectLst/>
                          <a:latin typeface="黑体" panose="02010609060101010101" charset="-122"/>
                          <a:ea typeface="黑体" panose="02010609060101010101" charset="-122"/>
                        </a:rPr>
                        <a:t>（</a:t>
                      </a:r>
                      <a:r>
                        <a:rPr lang="en-US" sz="1600" kern="100" dirty="0">
                          <a:effectLst/>
                          <a:latin typeface="黑体" panose="02010609060101010101" charset="-122"/>
                          <a:ea typeface="黑体" panose="02010609060101010101" charset="-122"/>
                        </a:rPr>
                        <a:t>1</a:t>
                      </a:r>
                      <a:r>
                        <a:rPr lang="zh-CN" sz="1600" kern="100" dirty="0">
                          <a:effectLst/>
                          <a:latin typeface="黑体" panose="02010609060101010101" charset="-122"/>
                          <a:ea typeface="黑体" panose="02010609060101010101" charset="-122"/>
                        </a:rPr>
                        <a:t>分）：</a:t>
                      </a:r>
                      <a:endParaRPr lang="zh-CN" sz="1600" kern="100" dirty="0">
                        <a:effectLst/>
                        <a:latin typeface="黑体" panose="02010609060101010101" charset="-122"/>
                        <a:ea typeface="黑体" panose="02010609060101010101" charset="-122"/>
                      </a:endParaRPr>
                    </a:p>
                    <a:p>
                      <a:pPr>
                        <a:lnSpc>
                          <a:spcPct val="120000"/>
                        </a:lnSpc>
                        <a:spcBef>
                          <a:spcPts val="600"/>
                        </a:spcBef>
                        <a:spcAft>
                          <a:spcPts val="600"/>
                        </a:spcAft>
                        <a:buNone/>
                      </a:pPr>
                      <a:r>
                        <a:rPr lang="zh-CN" sz="1600" kern="100" dirty="0">
                          <a:effectLst/>
                          <a:latin typeface="黑体" panose="02010609060101010101" charset="-122"/>
                          <a:ea typeface="黑体" panose="02010609060101010101" charset="-122"/>
                        </a:rPr>
                        <a:t>说明饲养动物侵权适用</a:t>
                      </a:r>
                      <a:r>
                        <a:rPr lang="zh-CN" sz="1600" kern="100" dirty="0">
                          <a:effectLst/>
                          <a:highlight>
                            <a:srgbClr val="FFFF00"/>
                          </a:highlight>
                          <a:latin typeface="黑体" panose="02010609060101010101" charset="-122"/>
                          <a:ea typeface="黑体" panose="02010609060101010101" charset="-122"/>
                        </a:rPr>
                        <a:t>无过错责任原则</a:t>
                      </a:r>
                      <a:r>
                        <a:rPr lang="zh-CN" altLang="en-US" sz="1600" kern="100" dirty="0">
                          <a:effectLst/>
                          <a:latin typeface="黑体" panose="02010609060101010101" charset="-122"/>
                          <a:ea typeface="黑体" panose="02010609060101010101" charset="-122"/>
                        </a:rPr>
                        <a:t>（</a:t>
                      </a:r>
                      <a:r>
                        <a:rPr lang="en-US" sz="1600" kern="100" dirty="0">
                          <a:effectLst/>
                          <a:latin typeface="黑体" panose="02010609060101010101" charset="-122"/>
                          <a:ea typeface="黑体" panose="02010609060101010101" charset="-122"/>
                        </a:rPr>
                        <a:t>1</a:t>
                      </a:r>
                      <a:r>
                        <a:rPr lang="zh-CN" sz="1600" kern="100" dirty="0">
                          <a:effectLst/>
                          <a:latin typeface="黑体" panose="02010609060101010101" charset="-122"/>
                          <a:ea typeface="黑体" panose="02010609060101010101" charset="-122"/>
                        </a:rPr>
                        <a:t>分）</a:t>
                      </a:r>
                      <a:endParaRPr lang="zh-CN" sz="1600" kern="100" dirty="0">
                        <a:effectLst/>
                        <a:latin typeface="黑体" panose="02010609060101010101" charset="-122"/>
                        <a:ea typeface="黑体" panose="02010609060101010101" charset="-122"/>
                      </a:endParaRPr>
                    </a:p>
                    <a:p>
                      <a:pPr>
                        <a:lnSpc>
                          <a:spcPct val="120000"/>
                        </a:lnSpc>
                        <a:spcBef>
                          <a:spcPts val="600"/>
                        </a:spcBef>
                        <a:spcAft>
                          <a:spcPts val="600"/>
                        </a:spcAft>
                        <a:buNone/>
                      </a:pPr>
                      <a:r>
                        <a:rPr lang="zh-CN" sz="1600" kern="100" dirty="0">
                          <a:effectLst/>
                          <a:latin typeface="黑体" panose="02010609060101010101" charset="-122"/>
                          <a:ea typeface="黑体" panose="02010609060101010101" charset="-122"/>
                        </a:rPr>
                        <a:t>依法</a:t>
                      </a:r>
                      <a:r>
                        <a:rPr lang="zh-CN" sz="1600" kern="100" dirty="0">
                          <a:effectLst/>
                          <a:highlight>
                            <a:srgbClr val="FFFF00"/>
                          </a:highlight>
                          <a:latin typeface="黑体" panose="02010609060101010101" charset="-122"/>
                          <a:ea typeface="黑体" panose="02010609060101010101" charset="-122"/>
                        </a:rPr>
                        <a:t>维护张某的合法财产权益</a:t>
                      </a:r>
                      <a:r>
                        <a:rPr lang="zh-CN" sz="1600" kern="100" dirty="0">
                          <a:effectLst/>
                          <a:latin typeface="黑体" panose="02010609060101010101" charset="-122"/>
                          <a:ea typeface="黑体" panose="02010609060101010101" charset="-122"/>
                        </a:rPr>
                        <a:t>。（</a:t>
                      </a:r>
                      <a:r>
                        <a:rPr lang="en-US" sz="1600" kern="100" dirty="0">
                          <a:effectLst/>
                          <a:latin typeface="黑体" panose="02010609060101010101" charset="-122"/>
                          <a:ea typeface="黑体" panose="02010609060101010101" charset="-122"/>
                        </a:rPr>
                        <a:t>1</a:t>
                      </a:r>
                      <a:r>
                        <a:rPr lang="zh-CN" sz="1600" kern="100" dirty="0">
                          <a:effectLst/>
                          <a:latin typeface="黑体" panose="02010609060101010101" charset="-122"/>
                          <a:ea typeface="黑体" panose="02010609060101010101" charset="-122"/>
                        </a:rPr>
                        <a:t>分）</a:t>
                      </a:r>
                      <a:endParaRPr lang="zh-CN" sz="1600" kern="100" dirty="0">
                        <a:effectLst/>
                        <a:latin typeface="黑体" panose="02010609060101010101" charset="-122"/>
                        <a:ea typeface="黑体" panose="02010609060101010101" charset="-122"/>
                      </a:endParaRPr>
                    </a:p>
                    <a:p>
                      <a:pPr>
                        <a:lnSpc>
                          <a:spcPct val="120000"/>
                        </a:lnSpc>
                        <a:spcBef>
                          <a:spcPts val="600"/>
                        </a:spcBef>
                        <a:spcAft>
                          <a:spcPts val="600"/>
                        </a:spcAft>
                        <a:buNone/>
                      </a:pPr>
                      <a:r>
                        <a:rPr lang="zh-CN" sz="1600" kern="100" dirty="0">
                          <a:effectLst/>
                          <a:latin typeface="黑体" panose="02010609060101010101" charset="-122"/>
                          <a:ea typeface="黑体" panose="02010609060101010101" charset="-122"/>
                        </a:rPr>
                        <a:t>结合《生态环境法典》核心原则与立法理念，将矛盾化解与生态修复同步推进，彰显</a:t>
                      </a:r>
                      <a:r>
                        <a:rPr lang="zh-CN" sz="1600" kern="100" dirty="0">
                          <a:effectLst/>
                          <a:highlight>
                            <a:srgbClr val="FFFF00"/>
                          </a:highlight>
                          <a:latin typeface="黑体" panose="02010609060101010101" charset="-122"/>
                          <a:ea typeface="黑体" panose="02010609060101010101" charset="-122"/>
                        </a:rPr>
                        <a:t>法律的规范与刚性。</a:t>
                      </a:r>
                      <a:r>
                        <a:rPr lang="zh-CN" sz="1600" kern="100" dirty="0">
                          <a:effectLst/>
                          <a:latin typeface="黑体" panose="02010609060101010101" charset="-122"/>
                          <a:ea typeface="黑体" panose="02010609060101010101" charset="-122"/>
                        </a:rPr>
                        <a:t>（</a:t>
                      </a:r>
                      <a:r>
                        <a:rPr lang="en-US" sz="1600" kern="100" dirty="0">
                          <a:effectLst/>
                          <a:latin typeface="黑体" panose="02010609060101010101" charset="-122"/>
                          <a:ea typeface="黑体" panose="02010609060101010101" charset="-122"/>
                        </a:rPr>
                        <a:t>1 </a:t>
                      </a:r>
                      <a:r>
                        <a:rPr lang="zh-CN" sz="1600" kern="100" dirty="0">
                          <a:effectLst/>
                          <a:latin typeface="黑体" panose="02010609060101010101" charset="-122"/>
                          <a:ea typeface="黑体" panose="02010609060101010101" charset="-122"/>
                        </a:rPr>
                        <a:t>分）</a:t>
                      </a:r>
                      <a:endParaRPr lang="zh-CN" sz="1600" kern="100" dirty="0">
                        <a:effectLst/>
                        <a:latin typeface="黑体" panose="02010609060101010101" charset="-122"/>
                        <a:ea typeface="黑体" panose="02010609060101010101" charset="-122"/>
                        <a:cs typeface="Times New Roman" panose="02020603050405020304" pitchFamily="18" charset="0"/>
                      </a:endParaRPr>
                    </a:p>
                  </a:txBody>
                  <a:tcPr marL="58425" marR="58425" marT="29213" marB="146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20000"/>
                        </a:lnSpc>
                        <a:spcBef>
                          <a:spcPts val="600"/>
                        </a:spcBef>
                        <a:spcAft>
                          <a:spcPts val="600"/>
                        </a:spcAft>
                        <a:buNone/>
                      </a:pPr>
                      <a:r>
                        <a:rPr lang="en-US" sz="1600" kern="100" dirty="0">
                          <a:effectLst/>
                          <a:latin typeface="黑体" panose="02010609060101010101" charset="-122"/>
                          <a:ea typeface="黑体" panose="02010609060101010101" charset="-122"/>
                        </a:rPr>
                        <a:t> </a:t>
                      </a:r>
                      <a:endParaRPr lang="zh-CN" sz="1600" kern="100" dirty="0">
                        <a:effectLst/>
                        <a:latin typeface="黑体" panose="02010609060101010101" charset="-122"/>
                        <a:ea typeface="黑体" panose="02010609060101010101" charset="-122"/>
                      </a:endParaRPr>
                    </a:p>
                    <a:p>
                      <a:pPr>
                        <a:lnSpc>
                          <a:spcPct val="120000"/>
                        </a:lnSpc>
                        <a:spcBef>
                          <a:spcPts val="600"/>
                        </a:spcBef>
                        <a:spcAft>
                          <a:spcPts val="600"/>
                        </a:spcAft>
                        <a:buNone/>
                      </a:pPr>
                      <a:r>
                        <a:rPr lang="zh-CN" altLang="en-US" sz="1600" kern="100" dirty="0">
                          <a:effectLst/>
                          <a:latin typeface="黑体" panose="02010609060101010101" charset="-122"/>
                          <a:ea typeface="黑体" panose="02010609060101010101" charset="-122"/>
                        </a:rPr>
                        <a:t>若法理依据无其他得分点，只写出</a:t>
                      </a:r>
                      <a:r>
                        <a:rPr lang="zh-CN" altLang="zh-CN" sz="1600" kern="100" dirty="0">
                          <a:effectLst/>
                          <a:latin typeface="黑体" panose="02010609060101010101" charset="-122"/>
                          <a:ea typeface="黑体" panose="02010609060101010101" charset="-122"/>
                        </a:rPr>
                        <a:t>李某应承担侵权</a:t>
                      </a:r>
                      <a:r>
                        <a:rPr lang="zh-CN" altLang="en-US" sz="1600" kern="100" dirty="0">
                          <a:effectLst/>
                          <a:latin typeface="黑体" panose="02010609060101010101" charset="-122"/>
                          <a:ea typeface="黑体" panose="02010609060101010101" charset="-122"/>
                        </a:rPr>
                        <a:t>责任</a:t>
                      </a:r>
                      <a:r>
                        <a:rPr lang="en-US" sz="1600" kern="100" dirty="0">
                          <a:effectLst/>
                          <a:latin typeface="黑体" panose="02010609060101010101" charset="-122"/>
                          <a:ea typeface="黑体" panose="02010609060101010101" charset="-122"/>
                        </a:rPr>
                        <a:t>  1</a:t>
                      </a:r>
                      <a:r>
                        <a:rPr lang="zh-CN" altLang="en-US" sz="1600" kern="100" dirty="0">
                          <a:effectLst/>
                          <a:latin typeface="黑体" panose="02010609060101010101" charset="-122"/>
                          <a:ea typeface="黑体" panose="02010609060101010101" charset="-122"/>
                        </a:rPr>
                        <a:t>分（不叠加）</a:t>
                      </a:r>
                      <a:endParaRPr lang="en-US" sz="1600" kern="100" dirty="0">
                        <a:effectLst/>
                        <a:latin typeface="黑体" panose="02010609060101010101" charset="-122"/>
                        <a:ea typeface="黑体" panose="02010609060101010101" charset="-122"/>
                      </a:endParaRPr>
                    </a:p>
                    <a:p>
                      <a:pPr>
                        <a:lnSpc>
                          <a:spcPct val="120000"/>
                        </a:lnSpc>
                        <a:spcBef>
                          <a:spcPts val="600"/>
                        </a:spcBef>
                        <a:spcAft>
                          <a:spcPts val="600"/>
                        </a:spcAft>
                        <a:buNone/>
                      </a:pPr>
                      <a:endParaRPr lang="zh-CN" sz="1600" kern="100" dirty="0">
                        <a:effectLst/>
                        <a:latin typeface="黑体" panose="02010609060101010101" charset="-122"/>
                        <a:ea typeface="黑体" panose="02010609060101010101" charset="-122"/>
                      </a:endParaRPr>
                    </a:p>
                    <a:p>
                      <a:pPr>
                        <a:lnSpc>
                          <a:spcPct val="120000"/>
                        </a:lnSpc>
                        <a:spcBef>
                          <a:spcPts val="600"/>
                        </a:spcBef>
                        <a:spcAft>
                          <a:spcPts val="600"/>
                        </a:spcAft>
                        <a:buNone/>
                      </a:pPr>
                      <a:r>
                        <a:rPr lang="zh-CN" sz="1600" kern="100" dirty="0">
                          <a:effectLst/>
                          <a:latin typeface="黑体" panose="02010609060101010101" charset="-122"/>
                          <a:ea typeface="黑体" panose="02010609060101010101" charset="-122"/>
                        </a:rPr>
                        <a:t>法律为准绳</a:t>
                      </a:r>
                      <a:r>
                        <a:rPr lang="zh-CN" altLang="en-US" sz="1600" kern="100" dirty="0">
                          <a:effectLst/>
                          <a:latin typeface="黑体" panose="02010609060101010101" charset="-122"/>
                          <a:ea typeface="黑体" panose="02010609060101010101" charset="-122"/>
                        </a:rPr>
                        <a:t>，</a:t>
                      </a:r>
                      <a:r>
                        <a:rPr lang="zh-CN" sz="1600" kern="100" dirty="0">
                          <a:effectLst/>
                          <a:latin typeface="黑体" panose="02010609060101010101" charset="-122"/>
                          <a:ea typeface="黑体" panose="02010609060101010101" charset="-122"/>
                        </a:rPr>
                        <a:t>事实为依据</a:t>
                      </a:r>
                      <a:r>
                        <a:rPr lang="en-US" altLang="zh-CN" sz="1600" kern="100" dirty="0">
                          <a:effectLst/>
                          <a:latin typeface="黑体" panose="02010609060101010101" charset="-122"/>
                          <a:ea typeface="黑体" panose="02010609060101010101" charset="-122"/>
                        </a:rPr>
                        <a:t> 1</a:t>
                      </a:r>
                      <a:r>
                        <a:rPr lang="zh-CN" altLang="en-US" sz="1600" kern="100" dirty="0">
                          <a:effectLst/>
                          <a:latin typeface="黑体" panose="02010609060101010101" charset="-122"/>
                          <a:ea typeface="黑体" panose="02010609060101010101" charset="-122"/>
                        </a:rPr>
                        <a:t>分</a:t>
                      </a:r>
                      <a:endParaRPr lang="zh-CN" sz="1600" kern="100" dirty="0">
                        <a:effectLst/>
                        <a:latin typeface="黑体" panose="02010609060101010101" charset="-122"/>
                        <a:ea typeface="黑体" panose="02010609060101010101" charset="-122"/>
                        <a:cs typeface="Times New Roman" panose="02020603050405020304" pitchFamily="18" charset="0"/>
                      </a:endParaRPr>
                    </a:p>
                  </a:txBody>
                  <a:tcPr marL="58425" marR="58425" marT="29213" marB="146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640719">
                <a:tc>
                  <a:txBody>
                    <a:bodyPr/>
                    <a:lstStyle/>
                    <a:p>
                      <a:pPr>
                        <a:lnSpc>
                          <a:spcPct val="120000"/>
                        </a:lnSpc>
                        <a:spcBef>
                          <a:spcPts val="600"/>
                        </a:spcBef>
                        <a:spcAft>
                          <a:spcPts val="600"/>
                        </a:spcAft>
                        <a:buNone/>
                      </a:pPr>
                      <a:r>
                        <a:rPr lang="zh-CN" sz="1600" kern="100" dirty="0">
                          <a:effectLst/>
                          <a:latin typeface="黑体" panose="02010609060101010101" charset="-122"/>
                          <a:ea typeface="黑体" panose="02010609060101010101" charset="-122"/>
                        </a:rPr>
                        <a:t>维度二：</a:t>
                      </a:r>
                      <a:endParaRPr lang="en-US" altLang="zh-CN" sz="1600" kern="100" dirty="0">
                        <a:effectLst/>
                        <a:latin typeface="黑体" panose="02010609060101010101" charset="-122"/>
                        <a:ea typeface="黑体" panose="02010609060101010101" charset="-122"/>
                      </a:endParaRPr>
                    </a:p>
                    <a:p>
                      <a:pPr>
                        <a:lnSpc>
                          <a:spcPct val="120000"/>
                        </a:lnSpc>
                        <a:spcBef>
                          <a:spcPts val="600"/>
                        </a:spcBef>
                        <a:spcAft>
                          <a:spcPts val="600"/>
                        </a:spcAft>
                        <a:buNone/>
                      </a:pPr>
                      <a:r>
                        <a:rPr lang="zh-CN" sz="1600" kern="100" dirty="0">
                          <a:solidFill>
                            <a:srgbClr val="FF0000"/>
                          </a:solidFill>
                          <a:effectLst/>
                          <a:latin typeface="黑体" panose="02010609060101010101" charset="-122"/>
                          <a:ea typeface="黑体" panose="02010609060101010101" charset="-122"/>
                        </a:rPr>
                        <a:t>德治（情理温度）</a:t>
                      </a:r>
                      <a:endParaRPr lang="zh-CN" sz="1600" kern="100" dirty="0">
                        <a:solidFill>
                          <a:srgbClr val="FF0000"/>
                        </a:solidFill>
                        <a:effectLst/>
                        <a:latin typeface="黑体" panose="02010609060101010101" charset="-122"/>
                        <a:ea typeface="黑体" panose="02010609060101010101" charset="-122"/>
                        <a:cs typeface="Times New Roman" panose="02020603050405020304" pitchFamily="18" charset="0"/>
                      </a:endParaRPr>
                    </a:p>
                  </a:txBody>
                  <a:tcPr marL="58425" marR="58425" marT="29213" marB="146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20000"/>
                        </a:lnSpc>
                        <a:spcBef>
                          <a:spcPts val="600"/>
                        </a:spcBef>
                        <a:spcAft>
                          <a:spcPts val="600"/>
                        </a:spcAft>
                        <a:buNone/>
                      </a:pPr>
                      <a:r>
                        <a:rPr lang="en-US" sz="1600" kern="100">
                          <a:effectLst/>
                          <a:latin typeface="黑体" panose="02010609060101010101" charset="-122"/>
                          <a:ea typeface="黑体" panose="02010609060101010101" charset="-122"/>
                        </a:rPr>
                        <a:t>3 </a:t>
                      </a:r>
                      <a:r>
                        <a:rPr lang="zh-CN" sz="1600" kern="100">
                          <a:effectLst/>
                          <a:latin typeface="黑体" panose="02010609060101010101" charset="-122"/>
                          <a:ea typeface="黑体" panose="02010609060101010101" charset="-122"/>
                        </a:rPr>
                        <a:t>分</a:t>
                      </a:r>
                      <a:endParaRPr lang="zh-CN" sz="1600" kern="100">
                        <a:effectLst/>
                        <a:latin typeface="黑体" panose="02010609060101010101" charset="-122"/>
                        <a:ea typeface="黑体" panose="02010609060101010101" charset="-122"/>
                        <a:cs typeface="Times New Roman" panose="02020603050405020304" pitchFamily="18" charset="0"/>
                      </a:endParaRPr>
                    </a:p>
                  </a:txBody>
                  <a:tcPr marL="58425" marR="58425" marT="29213" marB="146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20000"/>
                        </a:lnSpc>
                        <a:spcBef>
                          <a:spcPts val="600"/>
                        </a:spcBef>
                        <a:spcAft>
                          <a:spcPts val="600"/>
                        </a:spcAft>
                        <a:buNone/>
                      </a:pPr>
                      <a:r>
                        <a:rPr lang="zh-CN" sz="1600" kern="100" dirty="0">
                          <a:effectLst/>
                          <a:latin typeface="黑体" panose="02010609060101010101" charset="-122"/>
                          <a:ea typeface="黑体" panose="02010609060101010101" charset="-122"/>
                        </a:rPr>
                        <a:t>结合双方实际情况，提出</a:t>
                      </a:r>
                      <a:r>
                        <a:rPr lang="en-US" sz="1600" kern="100" dirty="0">
                          <a:effectLst/>
                          <a:latin typeface="黑体" panose="02010609060101010101" charset="-122"/>
                          <a:ea typeface="黑体" panose="02010609060101010101" charset="-122"/>
                        </a:rPr>
                        <a:t> “</a:t>
                      </a:r>
                      <a:r>
                        <a:rPr lang="zh-CN" sz="1600" kern="100" dirty="0">
                          <a:effectLst/>
                          <a:latin typeface="黑体" panose="02010609060101010101" charset="-122"/>
                          <a:ea typeface="黑体" panose="02010609060101010101" charset="-122"/>
                        </a:rPr>
                        <a:t>分期赔偿</a:t>
                      </a:r>
                      <a:r>
                        <a:rPr lang="en-US" sz="1600" kern="100" dirty="0">
                          <a:effectLst/>
                          <a:latin typeface="黑体" panose="02010609060101010101" charset="-122"/>
                          <a:ea typeface="黑体" panose="02010609060101010101" charset="-122"/>
                        </a:rPr>
                        <a:t> + </a:t>
                      </a:r>
                      <a:r>
                        <a:rPr lang="zh-CN" sz="1600" kern="100" dirty="0">
                          <a:effectLst/>
                          <a:latin typeface="黑体" panose="02010609060101010101" charset="-122"/>
                          <a:ea typeface="黑体" panose="02010609060101010101" charset="-122"/>
                        </a:rPr>
                        <a:t>行为约束</a:t>
                      </a:r>
                      <a:r>
                        <a:rPr lang="en-US" sz="1600" kern="100" dirty="0">
                          <a:effectLst/>
                          <a:latin typeface="黑体" panose="02010609060101010101" charset="-122"/>
                          <a:ea typeface="黑体" panose="02010609060101010101" charset="-122"/>
                        </a:rPr>
                        <a:t> + </a:t>
                      </a:r>
                      <a:r>
                        <a:rPr lang="zh-CN" sz="1600" kern="100" dirty="0">
                          <a:effectLst/>
                          <a:latin typeface="黑体" panose="02010609060101010101" charset="-122"/>
                          <a:ea typeface="黑体" panose="02010609060101010101" charset="-122"/>
                        </a:rPr>
                        <a:t>生态修复</a:t>
                      </a:r>
                      <a:r>
                        <a:rPr lang="en-US" sz="1600" kern="100" dirty="0">
                          <a:effectLst/>
                          <a:latin typeface="黑体" panose="02010609060101010101" charset="-122"/>
                          <a:ea typeface="黑体" panose="02010609060101010101" charset="-122"/>
                        </a:rPr>
                        <a:t>” </a:t>
                      </a:r>
                      <a:r>
                        <a:rPr lang="zh-CN" sz="1600" kern="100" dirty="0">
                          <a:effectLst/>
                          <a:highlight>
                            <a:srgbClr val="FFFF00"/>
                          </a:highlight>
                          <a:latin typeface="黑体" panose="02010609060101010101" charset="-122"/>
                          <a:ea typeface="黑体" panose="02010609060101010101" charset="-122"/>
                        </a:rPr>
                        <a:t>的柔性调解方案，考虑双方当事人实际</a:t>
                      </a:r>
                      <a:r>
                        <a:rPr lang="zh-CN" sz="1600" kern="100" dirty="0">
                          <a:effectLst/>
                          <a:latin typeface="黑体" panose="02010609060101010101" charset="-122"/>
                          <a:ea typeface="黑体" panose="02010609060101010101" charset="-122"/>
                        </a:rPr>
                        <a:t>（</a:t>
                      </a:r>
                      <a:r>
                        <a:rPr lang="en-US" sz="1600" kern="100" dirty="0">
                          <a:effectLst/>
                          <a:latin typeface="黑体" panose="02010609060101010101" charset="-122"/>
                          <a:ea typeface="黑体" panose="02010609060101010101" charset="-122"/>
                        </a:rPr>
                        <a:t>1 </a:t>
                      </a:r>
                      <a:r>
                        <a:rPr lang="zh-CN" sz="1600" kern="100" dirty="0">
                          <a:effectLst/>
                          <a:latin typeface="黑体" panose="02010609060101010101" charset="-122"/>
                          <a:ea typeface="黑体" panose="02010609060101010101" charset="-122"/>
                        </a:rPr>
                        <a:t>分）</a:t>
                      </a:r>
                      <a:br>
                        <a:rPr lang="en-US" sz="1600" kern="100" dirty="0">
                          <a:effectLst/>
                          <a:latin typeface="黑体" panose="02010609060101010101" charset="-122"/>
                          <a:ea typeface="黑体" panose="02010609060101010101" charset="-122"/>
                        </a:rPr>
                      </a:br>
                      <a:r>
                        <a:rPr lang="zh-CN" sz="1600" kern="100" dirty="0">
                          <a:effectLst/>
                          <a:latin typeface="黑体" panose="02010609060101010101" charset="-122"/>
                          <a:ea typeface="黑体" panose="02010609060101010101" charset="-122"/>
                        </a:rPr>
                        <a:t>促成当事人互谅互让，传递</a:t>
                      </a:r>
                      <a:r>
                        <a:rPr lang="zh-CN" sz="1600" kern="100" dirty="0">
                          <a:effectLst/>
                          <a:highlight>
                            <a:srgbClr val="FFFF00"/>
                          </a:highlight>
                          <a:latin typeface="黑体" panose="02010609060101010101" charset="-122"/>
                          <a:ea typeface="黑体" panose="02010609060101010101" charset="-122"/>
                        </a:rPr>
                        <a:t>司法的温暖力量</a:t>
                      </a:r>
                      <a:r>
                        <a:rPr lang="zh-CN" sz="1600" kern="100" dirty="0">
                          <a:effectLst/>
                          <a:latin typeface="黑体" panose="02010609060101010101" charset="-122"/>
                          <a:ea typeface="黑体" panose="02010609060101010101" charset="-122"/>
                        </a:rPr>
                        <a:t>。（</a:t>
                      </a:r>
                      <a:r>
                        <a:rPr lang="en-US" sz="1600" kern="100" dirty="0">
                          <a:effectLst/>
                          <a:latin typeface="黑体" panose="02010609060101010101" charset="-122"/>
                          <a:ea typeface="黑体" panose="02010609060101010101" charset="-122"/>
                        </a:rPr>
                        <a:t>1 </a:t>
                      </a:r>
                      <a:r>
                        <a:rPr lang="zh-CN" sz="1600" kern="100" dirty="0">
                          <a:effectLst/>
                          <a:latin typeface="黑体" panose="02010609060101010101" charset="-122"/>
                          <a:ea typeface="黑体" panose="02010609060101010101" charset="-122"/>
                        </a:rPr>
                        <a:t>分）</a:t>
                      </a:r>
                      <a:br>
                        <a:rPr lang="en-US" sz="1600" kern="100" dirty="0">
                          <a:effectLst/>
                          <a:latin typeface="黑体" panose="02010609060101010101" charset="-122"/>
                          <a:ea typeface="黑体" panose="02010609060101010101" charset="-122"/>
                        </a:rPr>
                      </a:br>
                      <a:r>
                        <a:rPr lang="zh-CN" sz="1600" kern="100" dirty="0">
                          <a:effectLst/>
                          <a:latin typeface="黑体" panose="02010609060101010101" charset="-122"/>
                          <a:ea typeface="黑体" panose="02010609060101010101" charset="-122"/>
                        </a:rPr>
                        <a:t>有利于弘扬</a:t>
                      </a:r>
                      <a:r>
                        <a:rPr lang="zh-CN" sz="1600" kern="100" dirty="0">
                          <a:effectLst/>
                          <a:highlight>
                            <a:srgbClr val="FFFF00"/>
                          </a:highlight>
                          <a:latin typeface="黑体" panose="02010609060101010101" charset="-122"/>
                          <a:ea typeface="黑体" panose="02010609060101010101" charset="-122"/>
                        </a:rPr>
                        <a:t>社会主义核心价值观</a:t>
                      </a:r>
                      <a:r>
                        <a:rPr lang="zh-CN" sz="1600" kern="100" dirty="0">
                          <a:effectLst/>
                          <a:latin typeface="黑体" panose="02010609060101010101" charset="-122"/>
                          <a:ea typeface="黑体" panose="02010609060101010101" charset="-122"/>
                        </a:rPr>
                        <a:t>。（</a:t>
                      </a:r>
                      <a:r>
                        <a:rPr lang="en-US" sz="1600" kern="100" dirty="0">
                          <a:effectLst/>
                          <a:latin typeface="黑体" panose="02010609060101010101" charset="-122"/>
                          <a:ea typeface="黑体" panose="02010609060101010101" charset="-122"/>
                        </a:rPr>
                        <a:t>1 </a:t>
                      </a:r>
                      <a:r>
                        <a:rPr lang="zh-CN" sz="1600" kern="100" dirty="0">
                          <a:effectLst/>
                          <a:latin typeface="黑体" panose="02010609060101010101" charset="-122"/>
                          <a:ea typeface="黑体" panose="02010609060101010101" charset="-122"/>
                        </a:rPr>
                        <a:t>分）</a:t>
                      </a:r>
                      <a:endParaRPr lang="zh-CN" sz="1600" kern="100" dirty="0">
                        <a:effectLst/>
                        <a:latin typeface="黑体" panose="02010609060101010101" charset="-122"/>
                        <a:ea typeface="黑体" panose="02010609060101010101" charset="-122"/>
                        <a:cs typeface="Times New Roman" panose="02020603050405020304" pitchFamily="18" charset="0"/>
                      </a:endParaRPr>
                    </a:p>
                  </a:txBody>
                  <a:tcPr marL="58425" marR="58425" marT="29213" marB="146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20000"/>
                        </a:lnSpc>
                        <a:spcBef>
                          <a:spcPts val="600"/>
                        </a:spcBef>
                        <a:spcAft>
                          <a:spcPts val="600"/>
                        </a:spcAft>
                        <a:buNone/>
                      </a:pPr>
                      <a:r>
                        <a:rPr lang="zh-CN" sz="1600" kern="100" dirty="0">
                          <a:effectLst/>
                          <a:latin typeface="黑体" panose="02010609060101010101" charset="-122"/>
                          <a:ea typeface="黑体" panose="02010609060101010101" charset="-122"/>
                        </a:rPr>
                        <a:t>兼顾双方诉求。</a:t>
                      </a:r>
                      <a:r>
                        <a:rPr lang="en-US" sz="1600" kern="100" dirty="0">
                          <a:effectLst/>
                          <a:latin typeface="黑体" panose="02010609060101010101" charset="-122"/>
                          <a:ea typeface="黑体" panose="02010609060101010101" charset="-122"/>
                        </a:rPr>
                        <a:t>Or</a:t>
                      </a:r>
                      <a:r>
                        <a:rPr lang="zh-CN" sz="1600" kern="100" dirty="0">
                          <a:effectLst/>
                          <a:latin typeface="黑体" panose="02010609060101010101" charset="-122"/>
                          <a:ea typeface="黑体" panose="02010609060101010101" charset="-122"/>
                        </a:rPr>
                        <a:t>平衡双方利益</a:t>
                      </a:r>
                      <a:r>
                        <a:rPr lang="en-US" sz="1600" kern="100" dirty="0">
                          <a:effectLst/>
                          <a:latin typeface="黑体" panose="02010609060101010101" charset="-122"/>
                          <a:ea typeface="黑体" panose="02010609060101010101" charset="-122"/>
                        </a:rPr>
                        <a:t>1</a:t>
                      </a:r>
                      <a:r>
                        <a:rPr lang="zh-CN" sz="1600" kern="100" dirty="0">
                          <a:effectLst/>
                          <a:latin typeface="黑体" panose="02010609060101010101" charset="-122"/>
                          <a:ea typeface="黑体" panose="02010609060101010101" charset="-122"/>
                        </a:rPr>
                        <a:t>分</a:t>
                      </a:r>
                      <a:endParaRPr lang="zh-CN" sz="1600" kern="100" dirty="0">
                        <a:effectLst/>
                        <a:latin typeface="黑体" panose="02010609060101010101" charset="-122"/>
                        <a:ea typeface="黑体" panose="02010609060101010101" charset="-122"/>
                      </a:endParaRPr>
                    </a:p>
                    <a:p>
                      <a:pPr>
                        <a:lnSpc>
                          <a:spcPct val="120000"/>
                        </a:lnSpc>
                        <a:spcBef>
                          <a:spcPts val="600"/>
                        </a:spcBef>
                        <a:spcAft>
                          <a:spcPts val="600"/>
                        </a:spcAft>
                        <a:buNone/>
                      </a:pPr>
                      <a:r>
                        <a:rPr lang="zh-CN" sz="1600" kern="100" dirty="0">
                          <a:effectLst/>
                          <a:latin typeface="黑体" panose="02010609060101010101" charset="-122"/>
                          <a:ea typeface="黑体" panose="02010609060101010101" charset="-122"/>
                        </a:rPr>
                        <a:t>体现司法的人文关怀</a:t>
                      </a:r>
                      <a:r>
                        <a:rPr lang="en-US" sz="1600" kern="100" dirty="0">
                          <a:effectLst/>
                          <a:latin typeface="黑体" panose="02010609060101010101" charset="-122"/>
                          <a:ea typeface="黑体" panose="02010609060101010101" charset="-122"/>
                        </a:rPr>
                        <a:t> 1</a:t>
                      </a:r>
                      <a:r>
                        <a:rPr lang="zh-CN" sz="1600" kern="100" dirty="0">
                          <a:effectLst/>
                          <a:latin typeface="黑体" panose="02010609060101010101" charset="-122"/>
                          <a:ea typeface="黑体" panose="02010609060101010101" charset="-122"/>
                        </a:rPr>
                        <a:t>分</a:t>
                      </a:r>
                      <a:endParaRPr lang="zh-CN" sz="1600" kern="100" dirty="0">
                        <a:effectLst/>
                        <a:latin typeface="黑体" panose="02010609060101010101" charset="-122"/>
                        <a:ea typeface="黑体" panose="02010609060101010101" charset="-122"/>
                      </a:endParaRPr>
                    </a:p>
                    <a:p>
                      <a:pPr>
                        <a:lnSpc>
                          <a:spcPct val="120000"/>
                        </a:lnSpc>
                        <a:spcBef>
                          <a:spcPts val="600"/>
                        </a:spcBef>
                        <a:spcAft>
                          <a:spcPts val="600"/>
                        </a:spcAft>
                        <a:buNone/>
                      </a:pPr>
                      <a:r>
                        <a:rPr lang="zh-CN" sz="1600" kern="100" dirty="0">
                          <a:effectLst/>
                          <a:latin typeface="黑体" panose="02010609060101010101" charset="-122"/>
                          <a:ea typeface="黑体" panose="02010609060101010101" charset="-122"/>
                        </a:rPr>
                        <a:t>体现友善、和谐的价值导向</a:t>
                      </a:r>
                      <a:r>
                        <a:rPr lang="en-US" sz="1600" kern="100" dirty="0">
                          <a:effectLst/>
                          <a:latin typeface="黑体" panose="02010609060101010101" charset="-122"/>
                          <a:ea typeface="黑体" panose="02010609060101010101" charset="-122"/>
                        </a:rPr>
                        <a:t>  1</a:t>
                      </a:r>
                      <a:r>
                        <a:rPr lang="zh-CN" sz="1600" kern="100" dirty="0">
                          <a:effectLst/>
                          <a:latin typeface="黑体" panose="02010609060101010101" charset="-122"/>
                          <a:ea typeface="黑体" panose="02010609060101010101" charset="-122"/>
                        </a:rPr>
                        <a:t>分</a:t>
                      </a:r>
                      <a:endParaRPr lang="zh-CN" sz="1600" kern="100" dirty="0">
                        <a:effectLst/>
                        <a:latin typeface="黑体" panose="02010609060101010101" charset="-122"/>
                        <a:ea typeface="黑体" panose="02010609060101010101" charset="-122"/>
                      </a:endParaRPr>
                    </a:p>
                    <a:p>
                      <a:pPr>
                        <a:lnSpc>
                          <a:spcPct val="120000"/>
                        </a:lnSpc>
                        <a:spcBef>
                          <a:spcPts val="600"/>
                        </a:spcBef>
                        <a:spcAft>
                          <a:spcPts val="600"/>
                        </a:spcAft>
                        <a:buNone/>
                      </a:pPr>
                      <a:r>
                        <a:rPr lang="en-US" sz="1600" kern="100" dirty="0">
                          <a:effectLst/>
                          <a:latin typeface="黑体" panose="02010609060101010101" charset="-122"/>
                          <a:ea typeface="黑体" panose="02010609060101010101" charset="-122"/>
                        </a:rPr>
                        <a:t> </a:t>
                      </a:r>
                      <a:endParaRPr lang="zh-CN" sz="1600" kern="100" dirty="0">
                        <a:effectLst/>
                        <a:latin typeface="黑体" panose="02010609060101010101" charset="-122"/>
                        <a:ea typeface="黑体" panose="02010609060101010101" charset="-122"/>
                        <a:cs typeface="Times New Roman" panose="02020603050405020304" pitchFamily="18" charset="0"/>
                      </a:endParaRPr>
                    </a:p>
                  </a:txBody>
                  <a:tcPr marL="58425" marR="58425" marT="29213" marB="146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6" name="Rectangle 1"/>
          <p:cNvSpPr>
            <a:spLocks noChangeArrowheads="1"/>
          </p:cNvSpPr>
          <p:nvPr/>
        </p:nvSpPr>
        <p:spPr bwMode="auto">
          <a:xfrm>
            <a:off x="4079875" y="169386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文本框 7"/>
          <p:cNvSpPr txBox="1"/>
          <p:nvPr/>
        </p:nvSpPr>
        <p:spPr>
          <a:xfrm>
            <a:off x="279400" y="5526313"/>
            <a:ext cx="11633200" cy="1077218"/>
          </a:xfrm>
          <a:prstGeom prst="rect">
            <a:avLst/>
          </a:prstGeom>
          <a:noFill/>
        </p:spPr>
        <p:txBody>
          <a:bodyPr wrap="square">
            <a:spAutoFit/>
          </a:bodyPr>
          <a:lstStyle/>
          <a:p>
            <a:pPr>
              <a:buNone/>
            </a:pPr>
            <a:r>
              <a:rPr lang="zh-CN" altLang="zh-CN" sz="1600" kern="1200" dirty="0">
                <a:solidFill>
                  <a:srgbClr val="000000"/>
                </a:solidFill>
                <a:effectLst/>
                <a:latin typeface="黑体" panose="02010609060101010101" charset="-122"/>
                <a:ea typeface="黑体" panose="02010609060101010101" charset="-122"/>
              </a:rPr>
              <a:t>第一层：案件本身（司法机关坚持公正司法</a:t>
            </a:r>
            <a:r>
              <a:rPr lang="en-US" altLang="zh-CN" sz="1600" kern="1200" dirty="0">
                <a:solidFill>
                  <a:srgbClr val="000000"/>
                </a:solidFill>
                <a:effectLst/>
                <a:latin typeface="黑体" panose="02010609060101010101" charset="-122"/>
                <a:ea typeface="黑体" panose="02010609060101010101" charset="-122"/>
              </a:rPr>
              <a:t>or</a:t>
            </a:r>
            <a:r>
              <a:rPr lang="zh-CN" altLang="zh-CN" sz="1600" kern="1200" dirty="0">
                <a:solidFill>
                  <a:srgbClr val="000000"/>
                </a:solidFill>
                <a:effectLst/>
                <a:latin typeface="黑体" panose="02010609060101010101" charset="-122"/>
                <a:ea typeface="黑体" panose="02010609060101010101" charset="-122"/>
              </a:rPr>
              <a:t>以事实为根据，以法律为准绳</a:t>
            </a:r>
            <a:r>
              <a:rPr lang="en-US" altLang="zh-CN" sz="1600" kern="1200" dirty="0">
                <a:solidFill>
                  <a:srgbClr val="000000"/>
                </a:solidFill>
                <a:effectLst/>
                <a:latin typeface="黑体" panose="02010609060101010101" charset="-122"/>
                <a:ea typeface="黑体" panose="02010609060101010101" charset="-122"/>
              </a:rPr>
              <a:t> </a:t>
            </a:r>
            <a:r>
              <a:rPr lang="zh-CN" altLang="zh-CN" sz="1600" kern="1200" dirty="0">
                <a:solidFill>
                  <a:srgbClr val="000000"/>
                </a:solidFill>
                <a:effectLst/>
                <a:latin typeface="黑体" panose="02010609060101010101" charset="-122"/>
                <a:ea typeface="黑体" panose="02010609060101010101" charset="-122"/>
              </a:rPr>
              <a:t>——依据《民法典》和引入《生态环境法典》）</a:t>
            </a:r>
            <a:endParaRPr lang="zh-CN" altLang="zh-CN" sz="1600" dirty="0">
              <a:effectLst/>
              <a:latin typeface="黑体" panose="02010609060101010101" charset="-122"/>
              <a:ea typeface="黑体" panose="02010609060101010101" charset="-122"/>
              <a:cs typeface="宋体" panose="02010600030101010101" pitchFamily="2" charset="-122"/>
            </a:endParaRPr>
          </a:p>
          <a:p>
            <a:pPr>
              <a:buNone/>
            </a:pPr>
            <a:r>
              <a:rPr lang="zh-CN" altLang="zh-CN" sz="1600" kern="1200" dirty="0">
                <a:solidFill>
                  <a:srgbClr val="000000"/>
                </a:solidFill>
                <a:effectLst/>
                <a:latin typeface="黑体" panose="02010609060101010101" charset="-122"/>
                <a:ea typeface="黑体" panose="02010609060101010101" charset="-122"/>
              </a:rPr>
              <a:t>第二层：保护生态环境（法的规范</a:t>
            </a:r>
            <a:r>
              <a:rPr lang="en-US" altLang="zh-CN" sz="1600" kern="1200" dirty="0">
                <a:solidFill>
                  <a:srgbClr val="000000"/>
                </a:solidFill>
                <a:effectLst/>
                <a:latin typeface="黑体" panose="02010609060101010101" charset="-122"/>
                <a:ea typeface="黑体" panose="02010609060101010101" charset="-122"/>
              </a:rPr>
              <a:t>&lt;</a:t>
            </a:r>
            <a:r>
              <a:rPr lang="zh-CN" altLang="zh-CN" sz="1600" kern="1200" dirty="0">
                <a:solidFill>
                  <a:srgbClr val="000000"/>
                </a:solidFill>
                <a:effectLst/>
                <a:latin typeface="黑体" panose="02010609060101010101" charset="-122"/>
                <a:ea typeface="黑体" panose="02010609060101010101" charset="-122"/>
              </a:rPr>
              <a:t>刚性</a:t>
            </a:r>
            <a:r>
              <a:rPr lang="en-US" altLang="zh-CN" sz="1600" kern="1200" dirty="0">
                <a:solidFill>
                  <a:srgbClr val="000000"/>
                </a:solidFill>
                <a:effectLst/>
                <a:latin typeface="黑体" panose="02010609060101010101" charset="-122"/>
                <a:ea typeface="黑体" panose="02010609060101010101" charset="-122"/>
              </a:rPr>
              <a:t>&gt;+</a:t>
            </a:r>
            <a:r>
              <a:rPr lang="zh-CN" altLang="zh-CN" sz="1600" kern="1200" dirty="0">
                <a:solidFill>
                  <a:srgbClr val="000000"/>
                </a:solidFill>
                <a:effectLst/>
                <a:latin typeface="黑体" panose="02010609060101010101" charset="-122"/>
                <a:ea typeface="黑体" panose="02010609060101010101" charset="-122"/>
              </a:rPr>
              <a:t>德的教化</a:t>
            </a:r>
            <a:r>
              <a:rPr lang="en-US" altLang="zh-CN" sz="1600" kern="1200" dirty="0">
                <a:solidFill>
                  <a:srgbClr val="000000"/>
                </a:solidFill>
                <a:effectLst/>
                <a:latin typeface="黑体" panose="02010609060101010101" charset="-122"/>
                <a:ea typeface="黑体" panose="02010609060101010101" charset="-122"/>
              </a:rPr>
              <a:t>&lt;</a:t>
            </a:r>
            <a:r>
              <a:rPr lang="zh-CN" altLang="zh-CN" sz="1600" kern="1200" dirty="0">
                <a:solidFill>
                  <a:srgbClr val="000000"/>
                </a:solidFill>
                <a:effectLst/>
                <a:latin typeface="黑体" panose="02010609060101010101" charset="-122"/>
                <a:ea typeface="黑体" panose="02010609060101010101" charset="-122"/>
              </a:rPr>
              <a:t>温暖</a:t>
            </a:r>
            <a:r>
              <a:rPr lang="en-US" altLang="zh-CN" sz="1600" kern="1200" dirty="0">
                <a:solidFill>
                  <a:srgbClr val="000000"/>
                </a:solidFill>
                <a:effectLst/>
                <a:latin typeface="黑体" panose="02010609060101010101" charset="-122"/>
                <a:ea typeface="黑体" panose="02010609060101010101" charset="-122"/>
              </a:rPr>
              <a:t>&gt;   </a:t>
            </a:r>
            <a:r>
              <a:rPr lang="zh-CN" altLang="zh-CN" sz="1600" kern="1200" dirty="0">
                <a:solidFill>
                  <a:srgbClr val="000000"/>
                </a:solidFill>
                <a:effectLst/>
                <a:latin typeface="黑体" panose="02010609060101010101" charset="-122"/>
                <a:ea typeface="黑体" panose="02010609060101010101" charset="-122"/>
              </a:rPr>
              <a:t>指向——法德共同作用、相得益彰</a:t>
            </a:r>
            <a:r>
              <a:rPr lang="en-US" altLang="zh-CN" sz="1600" kern="1200" dirty="0">
                <a:solidFill>
                  <a:srgbClr val="000000"/>
                </a:solidFill>
                <a:effectLst/>
                <a:latin typeface="黑体" panose="02010609060101010101" charset="-122"/>
                <a:ea typeface="黑体" panose="02010609060101010101" charset="-122"/>
              </a:rPr>
              <a:t>&lt;</a:t>
            </a:r>
            <a:r>
              <a:rPr lang="zh-CN" altLang="zh-CN" sz="1600" kern="1200" dirty="0">
                <a:solidFill>
                  <a:srgbClr val="000000"/>
                </a:solidFill>
                <a:effectLst/>
                <a:latin typeface="黑体" panose="02010609060101010101" charset="-122"/>
                <a:ea typeface="黑体" panose="02010609060101010101" charset="-122"/>
              </a:rPr>
              <a:t>个人利益与生态利益</a:t>
            </a:r>
            <a:r>
              <a:rPr lang="en-US" altLang="zh-CN" sz="1600" kern="1200" dirty="0">
                <a:solidFill>
                  <a:srgbClr val="000000"/>
                </a:solidFill>
                <a:effectLst/>
                <a:latin typeface="黑体" panose="02010609060101010101" charset="-122"/>
                <a:ea typeface="黑体" panose="02010609060101010101" charset="-122"/>
              </a:rPr>
              <a:t>&gt;&lt;</a:t>
            </a:r>
            <a:r>
              <a:rPr lang="zh-CN" altLang="zh-CN" sz="1600" kern="1200" dirty="0">
                <a:solidFill>
                  <a:srgbClr val="000000"/>
                </a:solidFill>
                <a:effectLst/>
                <a:latin typeface="黑体" panose="02010609060101010101" charset="-122"/>
                <a:ea typeface="黑体" panose="02010609060101010101" charset="-122"/>
              </a:rPr>
              <a:t>情理法相统一</a:t>
            </a:r>
            <a:r>
              <a:rPr lang="en-US" altLang="zh-CN" sz="1600" kern="1200" dirty="0">
                <a:solidFill>
                  <a:srgbClr val="000000"/>
                </a:solidFill>
                <a:effectLst/>
                <a:latin typeface="黑体" panose="02010609060101010101" charset="-122"/>
                <a:ea typeface="黑体" panose="02010609060101010101" charset="-122"/>
              </a:rPr>
              <a:t>&gt;</a:t>
            </a:r>
            <a:r>
              <a:rPr lang="zh-CN" altLang="zh-CN" sz="1600" kern="1200" dirty="0">
                <a:solidFill>
                  <a:srgbClr val="000000"/>
                </a:solidFill>
                <a:effectLst/>
                <a:latin typeface="黑体" panose="02010609060101010101" charset="-122"/>
                <a:ea typeface="黑体" panose="02010609060101010101" charset="-122"/>
              </a:rPr>
              <a:t>）</a:t>
            </a:r>
            <a:endParaRPr lang="zh-CN" altLang="zh-CN" sz="1600" dirty="0">
              <a:effectLst/>
              <a:latin typeface="黑体" panose="02010609060101010101" charset="-122"/>
              <a:ea typeface="黑体" panose="02010609060101010101" charset="-122"/>
              <a:cs typeface="宋体" panose="02010600030101010101" pitchFamily="2" charset="-122"/>
            </a:endParaRPr>
          </a:p>
          <a:p>
            <a:pPr>
              <a:buNone/>
            </a:pPr>
            <a:r>
              <a:rPr lang="zh-CN" altLang="zh-CN" sz="1600" kern="1200" dirty="0">
                <a:solidFill>
                  <a:srgbClr val="000000"/>
                </a:solidFill>
                <a:effectLst/>
                <a:latin typeface="黑体" panose="02010609060101010101" charset="-122"/>
                <a:ea typeface="黑体" panose="02010609060101010101" charset="-122"/>
              </a:rPr>
              <a:t>第三层：促进公平正义，有利于弘扬社会主义核心价值观</a:t>
            </a:r>
            <a:endParaRPr lang="zh-CN" altLang="zh-CN" sz="1600" dirty="0">
              <a:effectLst/>
              <a:latin typeface="黑体" panose="02010609060101010101" charset="-122"/>
              <a:ea typeface="黑体" panose="02010609060101010101" charset="-122"/>
              <a:cs typeface="宋体" panose="02010600030101010101" pitchFamily="2"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表格&#10;&#10;AI 生成的内容可能不正确。"/>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91148" y="749497"/>
            <a:ext cx="10409703" cy="5483351"/>
          </a:xfrm>
          <a:prstGeom prst="rect">
            <a:avLst/>
          </a:prstGeom>
        </p:spPr>
      </p:pic>
      <p:sp>
        <p:nvSpPr>
          <p:cNvPr id="6" name="文本框 5"/>
          <p:cNvSpPr txBox="1"/>
          <p:nvPr/>
        </p:nvSpPr>
        <p:spPr>
          <a:xfrm>
            <a:off x="11300851" y="302247"/>
            <a:ext cx="648556" cy="369332"/>
          </a:xfrm>
          <a:prstGeom prst="rect">
            <a:avLst/>
          </a:prstGeom>
          <a:noFill/>
        </p:spPr>
        <p:txBody>
          <a:bodyPr wrap="square" rtlCol="0">
            <a:spAutoFit/>
          </a:bodyPr>
          <a:lstStyle/>
          <a:p>
            <a:r>
              <a:rPr lang="en-US" altLang="zh-CN" dirty="0"/>
              <a:t>8</a:t>
            </a:r>
            <a:r>
              <a:rPr lang="zh-CN" altLang="en-US" dirty="0"/>
              <a:t>分</a:t>
            </a:r>
            <a:endParaRPr lang="zh-CN" altLang="en-US" dirty="0"/>
          </a:p>
        </p:txBody>
      </p:sp>
      <p:sp>
        <p:nvSpPr>
          <p:cNvPr id="8" name="标题 3"/>
          <p:cNvSpPr txBox="1"/>
          <p:nvPr/>
        </p:nvSpPr>
        <p:spPr>
          <a:xfrm>
            <a:off x="299720" y="117475"/>
            <a:ext cx="3070225" cy="750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三、典型示例</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 name="文本框 5"/>
          <p:cNvSpPr txBox="1"/>
          <p:nvPr/>
        </p:nvSpPr>
        <p:spPr>
          <a:xfrm>
            <a:off x="10772115" y="575945"/>
            <a:ext cx="648556" cy="369332"/>
          </a:xfrm>
          <a:prstGeom prst="rect">
            <a:avLst/>
          </a:prstGeom>
          <a:noFill/>
        </p:spPr>
        <p:txBody>
          <a:bodyPr wrap="square" rtlCol="0">
            <a:spAutoFit/>
          </a:bodyPr>
          <a:lstStyle/>
          <a:p>
            <a:r>
              <a:rPr lang="en-US" altLang="zh-CN" dirty="0"/>
              <a:t>8</a:t>
            </a:r>
            <a:r>
              <a:rPr lang="zh-CN" altLang="en-US" dirty="0"/>
              <a:t>分</a:t>
            </a:r>
            <a:endParaRPr lang="zh-CN" altLang="en-US" dirty="0"/>
          </a:p>
        </p:txBody>
      </p:sp>
      <p:pic>
        <p:nvPicPr>
          <p:cNvPr id="8" name="图片 7" descr="文本&#10;&#10;AI 生成的内容可能不正确。"/>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8930" y="1111184"/>
            <a:ext cx="10954139" cy="5436599"/>
          </a:xfrm>
          <a:prstGeom prst="rect">
            <a:avLst/>
          </a:prstGeom>
        </p:spPr>
      </p:pic>
      <p:sp>
        <p:nvSpPr>
          <p:cNvPr id="3" name="标题 3"/>
          <p:cNvSpPr txBox="1"/>
          <p:nvPr/>
        </p:nvSpPr>
        <p:spPr>
          <a:xfrm>
            <a:off x="299720" y="117475"/>
            <a:ext cx="3070225" cy="750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三、典型示例</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60070" y="1442085"/>
            <a:ext cx="10699115" cy="3952875"/>
          </a:xfrm>
          <a:prstGeom prst="rect">
            <a:avLst/>
          </a:prstGeom>
          <a:noFill/>
          <a:ln>
            <a:solidFill>
              <a:schemeClr val="tx1"/>
            </a:solidFill>
          </a:ln>
        </p:spPr>
        <p:txBody>
          <a:bodyPr wrap="square">
            <a:noAutofit/>
          </a:bodyPr>
          <a:lstStyle/>
          <a:p>
            <a:pPr>
              <a:lnSpc>
                <a:spcPct val="150000"/>
              </a:lnSpc>
              <a:buNone/>
            </a:pPr>
            <a:r>
              <a:rPr lang="en-US" altLang="zh-CN" sz="2000" kern="1200" dirty="0">
                <a:solidFill>
                  <a:srgbClr val="000000"/>
                </a:solidFill>
                <a:effectLst/>
                <a:latin typeface="黑体" panose="02010609060101010101" charset="-122"/>
                <a:ea typeface="黑体" panose="02010609060101010101" charset="-122"/>
              </a:rPr>
              <a:t>1.</a:t>
            </a:r>
            <a:r>
              <a:rPr lang="zh-CN" altLang="en-US" sz="2000" dirty="0">
                <a:solidFill>
                  <a:srgbClr val="000000"/>
                </a:solidFill>
                <a:latin typeface="黑体" panose="02010609060101010101" charset="-122"/>
                <a:ea typeface="黑体" panose="02010609060101010101" charset="-122"/>
              </a:rPr>
              <a:t>答案未指向问题，答案不聚焦，按照某类主观题模板机械化作答，从司法机关的权力到案件的法理依据写到现实意义，并非辩证思考回答法律的规范作用与道德的教化层面。</a:t>
            </a:r>
            <a:endParaRPr lang="en-US" altLang="zh-CN" sz="2000" dirty="0">
              <a:solidFill>
                <a:srgbClr val="000000"/>
              </a:solidFill>
              <a:latin typeface="黑体" panose="02010609060101010101" charset="-122"/>
              <a:ea typeface="黑体" panose="02010609060101010101" charset="-122"/>
            </a:endParaRPr>
          </a:p>
          <a:p>
            <a:pPr>
              <a:lnSpc>
                <a:spcPct val="150000"/>
              </a:lnSpc>
              <a:buNone/>
            </a:pPr>
            <a:r>
              <a:rPr lang="en-US" altLang="zh-CN" sz="2000" dirty="0">
                <a:solidFill>
                  <a:srgbClr val="000000"/>
                </a:solidFill>
                <a:effectLst/>
                <a:latin typeface="黑体" panose="02010609060101010101" charset="-122"/>
                <a:ea typeface="黑体" panose="02010609060101010101" charset="-122"/>
                <a:cs typeface="宋体" panose="02010600030101010101" pitchFamily="2" charset="-122"/>
              </a:rPr>
              <a:t>2.</a:t>
            </a:r>
            <a:r>
              <a:rPr lang="zh-CN" altLang="en-US" sz="2000" dirty="0">
                <a:solidFill>
                  <a:srgbClr val="000000"/>
                </a:solidFill>
                <a:effectLst/>
                <a:latin typeface="黑体" panose="02010609060101010101" charset="-122"/>
                <a:ea typeface="黑体" panose="02010609060101010101" charset="-122"/>
                <a:cs typeface="宋体" panose="02010600030101010101" pitchFamily="2" charset="-122"/>
              </a:rPr>
              <a:t>分辨不清过错推定与无过错责任，同样是动物（动物园动物伤人与家庭饲养动物的侵权案件的区分）</a:t>
            </a:r>
            <a:endParaRPr lang="en-US" altLang="zh-CN" sz="2000" dirty="0">
              <a:solidFill>
                <a:srgbClr val="000000"/>
              </a:solidFill>
              <a:effectLst/>
              <a:latin typeface="黑体" panose="02010609060101010101" charset="-122"/>
              <a:ea typeface="黑体" panose="02010609060101010101" charset="-122"/>
              <a:cs typeface="宋体" panose="02010600030101010101" pitchFamily="2" charset="-122"/>
            </a:endParaRPr>
          </a:p>
          <a:p>
            <a:pPr>
              <a:lnSpc>
                <a:spcPct val="150000"/>
              </a:lnSpc>
            </a:pPr>
            <a:r>
              <a:rPr lang="en-US" altLang="zh-CN" sz="2000" dirty="0">
                <a:solidFill>
                  <a:srgbClr val="000000"/>
                </a:solidFill>
                <a:effectLst/>
                <a:latin typeface="黑体" panose="02010609060101010101" charset="-122"/>
                <a:ea typeface="黑体" panose="02010609060101010101" charset="-122"/>
                <a:cs typeface="宋体" panose="02010600030101010101" pitchFamily="2" charset="-122"/>
              </a:rPr>
              <a:t>3.</a:t>
            </a:r>
            <a:r>
              <a:rPr lang="zh-CN" altLang="en-US" sz="2000" dirty="0">
                <a:solidFill>
                  <a:srgbClr val="000000"/>
                </a:solidFill>
                <a:effectLst/>
                <a:latin typeface="黑体" panose="02010609060101010101" charset="-122"/>
                <a:ea typeface="黑体" panose="02010609060101010101" charset="-122"/>
                <a:cs typeface="宋体" panose="02010600030101010101" pitchFamily="2" charset="-122"/>
              </a:rPr>
              <a:t>学生答题逻辑不清晰，思维跳脱，一个观点反复阐述，不能进行有层次的思考与论证，法治与德治的统一可以呈现但并未结合材料展开详细表述。</a:t>
            </a:r>
            <a:endParaRPr lang="en-US" altLang="zh-CN" sz="2000" dirty="0">
              <a:solidFill>
                <a:srgbClr val="000000"/>
              </a:solidFill>
              <a:effectLst/>
              <a:latin typeface="黑体" panose="02010609060101010101" charset="-122"/>
              <a:ea typeface="黑体" panose="02010609060101010101" charset="-122"/>
              <a:cs typeface="宋体" panose="02010600030101010101" pitchFamily="2" charset="-122"/>
            </a:endParaRPr>
          </a:p>
          <a:p>
            <a:pPr>
              <a:lnSpc>
                <a:spcPct val="150000"/>
              </a:lnSpc>
            </a:pPr>
            <a:r>
              <a:rPr lang="en-US" altLang="zh-CN" sz="2000" dirty="0">
                <a:solidFill>
                  <a:srgbClr val="000000"/>
                </a:solidFill>
                <a:latin typeface="黑体" panose="02010609060101010101" charset="-122"/>
                <a:ea typeface="黑体" panose="02010609060101010101" charset="-122"/>
                <a:cs typeface="宋体" panose="02010600030101010101" pitchFamily="2" charset="-122"/>
              </a:rPr>
              <a:t>4.</a:t>
            </a:r>
            <a:r>
              <a:rPr lang="zh-CN" altLang="en-US" sz="2000" dirty="0">
                <a:solidFill>
                  <a:srgbClr val="000000"/>
                </a:solidFill>
                <a:latin typeface="黑体" panose="02010609060101010101" charset="-122"/>
                <a:ea typeface="黑体" panose="02010609060101010101" charset="-122"/>
                <a:cs typeface="宋体" panose="02010600030101010101" pitchFamily="2" charset="-122"/>
              </a:rPr>
              <a:t>模块错误，少部分作答写的哲学模块</a:t>
            </a:r>
            <a:r>
              <a:rPr lang="en-US" altLang="zh-CN" sz="2000" dirty="0">
                <a:solidFill>
                  <a:srgbClr val="000000"/>
                </a:solidFill>
                <a:latin typeface="黑体" panose="02010609060101010101" charset="-122"/>
                <a:ea typeface="黑体" panose="02010609060101010101" charset="-122"/>
                <a:cs typeface="宋体" panose="02010600030101010101" pitchFamily="2" charset="-122"/>
              </a:rPr>
              <a:t>/</a:t>
            </a:r>
            <a:r>
              <a:rPr lang="zh-CN" altLang="en-US" sz="2000" dirty="0">
                <a:solidFill>
                  <a:srgbClr val="000000"/>
                </a:solidFill>
                <a:latin typeface="黑体" panose="02010609060101010101" charset="-122"/>
                <a:ea typeface="黑体" panose="02010609060101010101" charset="-122"/>
                <a:cs typeface="宋体" panose="02010600030101010101" pitchFamily="2" charset="-122"/>
              </a:rPr>
              <a:t>政治与法治</a:t>
            </a:r>
            <a:endParaRPr lang="en-US" altLang="zh-CN" sz="2000" dirty="0">
              <a:solidFill>
                <a:srgbClr val="000000"/>
              </a:solidFill>
              <a:latin typeface="黑体" panose="02010609060101010101" charset="-122"/>
              <a:ea typeface="黑体" panose="02010609060101010101" charset="-122"/>
              <a:cs typeface="宋体" panose="02010600030101010101" pitchFamily="2" charset="-122"/>
            </a:endParaRPr>
          </a:p>
          <a:p>
            <a:pPr>
              <a:lnSpc>
                <a:spcPct val="150000"/>
              </a:lnSpc>
            </a:pPr>
            <a:r>
              <a:rPr lang="en-US" altLang="zh-CN" sz="2000" dirty="0">
                <a:solidFill>
                  <a:srgbClr val="000000"/>
                </a:solidFill>
                <a:latin typeface="黑体" panose="02010609060101010101" charset="-122"/>
                <a:ea typeface="黑体" panose="02010609060101010101" charset="-122"/>
                <a:cs typeface="宋体" panose="02010600030101010101" pitchFamily="2" charset="-122"/>
              </a:rPr>
              <a:t>5.</a:t>
            </a:r>
            <a:r>
              <a:rPr lang="zh-CN" altLang="en-US" sz="2000" dirty="0">
                <a:solidFill>
                  <a:srgbClr val="000000"/>
                </a:solidFill>
                <a:latin typeface="黑体" panose="02010609060101010101" charset="-122"/>
                <a:ea typeface="黑体" panose="02010609060101010101" charset="-122"/>
                <a:cs typeface="宋体" panose="02010600030101010101" pitchFamily="2" charset="-122"/>
              </a:rPr>
              <a:t>字迹潦草根本看不清</a:t>
            </a:r>
            <a:endParaRPr lang="en-US" altLang="zh-CN" sz="2000" dirty="0">
              <a:solidFill>
                <a:srgbClr val="000000"/>
              </a:solidFill>
              <a:latin typeface="黑体" panose="02010609060101010101" charset="-122"/>
              <a:ea typeface="黑体" panose="02010609060101010101" charset="-122"/>
              <a:cs typeface="宋体" panose="02010600030101010101" pitchFamily="2" charset="-122"/>
            </a:endParaRPr>
          </a:p>
          <a:p>
            <a:pPr>
              <a:lnSpc>
                <a:spcPct val="150000"/>
              </a:lnSpc>
              <a:buNone/>
            </a:pPr>
            <a:endParaRPr lang="zh-CN" altLang="zh-CN" dirty="0">
              <a:effectLst/>
              <a:latin typeface="黑体" panose="02010609060101010101" charset="-122"/>
              <a:ea typeface="黑体" panose="02010609060101010101" charset="-122"/>
              <a:cs typeface="宋体" panose="02010600030101010101" pitchFamily="2" charset="-122"/>
            </a:endParaRPr>
          </a:p>
        </p:txBody>
      </p:sp>
      <p:sp>
        <p:nvSpPr>
          <p:cNvPr id="8" name="标题 3"/>
          <p:cNvSpPr txBox="1"/>
          <p:nvPr/>
        </p:nvSpPr>
        <p:spPr>
          <a:xfrm>
            <a:off x="288925" y="0"/>
            <a:ext cx="4175760" cy="750570"/>
          </a:xfrm>
          <a:prstGeom prst="rect">
            <a:avLst/>
          </a:prstGeom>
        </p:spPr>
        <p:txBody>
          <a:bodyPr vert="horz" lIns="91440" tIns="45720" rIns="91440" bIns="4572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四、学生问题及建议</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59836" y="1442394"/>
            <a:ext cx="10699103" cy="2861310"/>
          </a:xfrm>
          <a:prstGeom prst="rect">
            <a:avLst/>
          </a:prstGeom>
          <a:noFill/>
          <a:ln>
            <a:solidFill>
              <a:schemeClr val="tx1"/>
            </a:solidFill>
          </a:ln>
        </p:spPr>
        <p:txBody>
          <a:bodyPr wrap="square">
            <a:spAutoFit/>
          </a:bodyPr>
          <a:lstStyle/>
          <a:p>
            <a:pPr>
              <a:lnSpc>
                <a:spcPct val="150000"/>
              </a:lnSpc>
              <a:buNone/>
            </a:pPr>
            <a:r>
              <a:rPr lang="en-US" altLang="zh-CN" sz="2000" kern="1200" dirty="0">
                <a:solidFill>
                  <a:srgbClr val="000000"/>
                </a:solidFill>
                <a:effectLst/>
                <a:latin typeface="黑体" panose="02010609060101010101" charset="-122"/>
                <a:ea typeface="黑体" panose="02010609060101010101" charset="-122"/>
              </a:rPr>
              <a:t>1.</a:t>
            </a:r>
            <a:r>
              <a:rPr lang="zh-CN" altLang="en-US" sz="2000" kern="1200" dirty="0">
                <a:solidFill>
                  <a:srgbClr val="000000"/>
                </a:solidFill>
                <a:effectLst/>
                <a:latin typeface="黑体" panose="02010609060101010101" charset="-122"/>
                <a:ea typeface="黑体" panose="02010609060101010101" charset="-122"/>
              </a:rPr>
              <a:t>梳理答案逻辑，培养学生如何理解设问指向，找到材料对应知识逻辑，培养解题策略。</a:t>
            </a:r>
            <a:endParaRPr lang="en-US" altLang="zh-CN" sz="2000" kern="1200" dirty="0">
              <a:solidFill>
                <a:srgbClr val="000000"/>
              </a:solidFill>
              <a:effectLst/>
              <a:latin typeface="黑体" panose="02010609060101010101" charset="-122"/>
              <a:ea typeface="黑体" panose="02010609060101010101" charset="-122"/>
            </a:endParaRPr>
          </a:p>
          <a:p>
            <a:pPr>
              <a:lnSpc>
                <a:spcPct val="150000"/>
              </a:lnSpc>
              <a:buNone/>
            </a:pPr>
            <a:r>
              <a:rPr lang="zh-CN" altLang="en-US" sz="2000" kern="1200" dirty="0">
                <a:solidFill>
                  <a:srgbClr val="000000"/>
                </a:solidFill>
                <a:effectLst/>
                <a:latin typeface="黑体" panose="02010609060101010101" charset="-122"/>
                <a:ea typeface="黑体" panose="02010609060101010101" charset="-122"/>
              </a:rPr>
              <a:t> </a:t>
            </a:r>
            <a:r>
              <a:rPr lang="en-US" altLang="zh-CN" sz="2000" kern="1200" dirty="0">
                <a:solidFill>
                  <a:srgbClr val="000000"/>
                </a:solidFill>
                <a:effectLst/>
                <a:latin typeface="黑体" panose="02010609060101010101" charset="-122"/>
                <a:ea typeface="黑体" panose="02010609060101010101" charset="-122"/>
              </a:rPr>
              <a:t>  </a:t>
            </a:r>
            <a:r>
              <a:rPr lang="zh-CN" altLang="en-US" sz="2000" kern="1200" dirty="0">
                <a:solidFill>
                  <a:srgbClr val="000000"/>
                </a:solidFill>
                <a:effectLst/>
                <a:latin typeface="黑体" panose="02010609060101010101" charset="-122"/>
                <a:ea typeface="黑体" panose="02010609060101010101" charset="-122"/>
              </a:rPr>
              <a:t>针对学生易出现“背了知识但不会用”的问题，需以案例为范本，引导学生拆解情境中的法律事实，对应教材中的侵权责任、纠纷解决方式等知识点，做到理论与实践相结合。</a:t>
            </a:r>
            <a:endParaRPr lang="en-US" altLang="zh-CN" sz="2000" kern="1200" dirty="0">
              <a:solidFill>
                <a:srgbClr val="000000"/>
              </a:solidFill>
              <a:effectLst/>
              <a:latin typeface="黑体" panose="02010609060101010101" charset="-122"/>
              <a:ea typeface="黑体" panose="02010609060101010101" charset="-122"/>
            </a:endParaRPr>
          </a:p>
          <a:p>
            <a:pPr>
              <a:lnSpc>
                <a:spcPct val="150000"/>
              </a:lnSpc>
              <a:buNone/>
            </a:pPr>
            <a:r>
              <a:rPr lang="en-US" altLang="zh-CN" sz="2000" dirty="0">
                <a:solidFill>
                  <a:srgbClr val="000000"/>
                </a:solidFill>
                <a:latin typeface="黑体" panose="02010609060101010101" charset="-122"/>
                <a:ea typeface="黑体" panose="02010609060101010101" charset="-122"/>
              </a:rPr>
              <a:t>2.</a:t>
            </a:r>
            <a:r>
              <a:rPr lang="zh-CN" altLang="en-US" sz="2000" kern="1200" dirty="0">
                <a:solidFill>
                  <a:srgbClr val="000000"/>
                </a:solidFill>
                <a:effectLst/>
                <a:latin typeface="黑体" panose="02010609060101010101" charset="-122"/>
                <a:ea typeface="黑体" panose="02010609060101010101" charset="-122"/>
              </a:rPr>
              <a:t>典型案件意义类、辨析类，不同侵权责任的、违约责任的区分，相邻关系、劳动关系等题型的系统训练与梳理，引导学生规范作答，不要所有题型照搬统一模板。</a:t>
            </a:r>
            <a:endParaRPr lang="en-US" altLang="zh-CN" sz="2000" kern="1200" dirty="0">
              <a:solidFill>
                <a:srgbClr val="000000"/>
              </a:solidFill>
              <a:effectLst/>
              <a:latin typeface="黑体" panose="02010609060101010101" charset="-122"/>
              <a:ea typeface="黑体" panose="02010609060101010101" charset="-122"/>
            </a:endParaRPr>
          </a:p>
          <a:p>
            <a:pPr>
              <a:lnSpc>
                <a:spcPct val="150000"/>
              </a:lnSpc>
              <a:buNone/>
            </a:pPr>
            <a:r>
              <a:rPr lang="en-US" altLang="zh-CN" sz="2000" dirty="0">
                <a:solidFill>
                  <a:srgbClr val="000000"/>
                </a:solidFill>
                <a:effectLst/>
                <a:latin typeface="黑体" panose="02010609060101010101" charset="-122"/>
                <a:ea typeface="黑体" panose="02010609060101010101" charset="-122"/>
                <a:cs typeface="宋体" panose="02010600030101010101" pitchFamily="2" charset="-122"/>
              </a:rPr>
              <a:t>3.</a:t>
            </a:r>
            <a:r>
              <a:rPr lang="zh-CN" altLang="en-US" sz="2000" dirty="0">
                <a:solidFill>
                  <a:srgbClr val="000000"/>
                </a:solidFill>
                <a:effectLst/>
                <a:latin typeface="黑体" panose="02010609060101010101" charset="-122"/>
                <a:ea typeface="黑体" panose="02010609060101010101" charset="-122"/>
                <a:cs typeface="宋体" panose="02010600030101010101" pitchFamily="2" charset="-122"/>
              </a:rPr>
              <a:t>书写工整，有少数答案完全看不清字迹。</a:t>
            </a:r>
            <a:endParaRPr lang="zh-CN" altLang="zh-CN" dirty="0">
              <a:effectLst/>
              <a:latin typeface="黑体" panose="02010609060101010101" charset="-122"/>
              <a:ea typeface="黑体" panose="02010609060101010101" charset="-122"/>
              <a:cs typeface="宋体" panose="02010600030101010101" pitchFamily="2" charset="-122"/>
            </a:endParaRPr>
          </a:p>
        </p:txBody>
      </p:sp>
      <p:sp>
        <p:nvSpPr>
          <p:cNvPr id="8" name="标题 3"/>
          <p:cNvSpPr txBox="1"/>
          <p:nvPr/>
        </p:nvSpPr>
        <p:spPr>
          <a:xfrm>
            <a:off x="288925" y="0"/>
            <a:ext cx="4175760" cy="750570"/>
          </a:xfrm>
          <a:prstGeom prst="rect">
            <a:avLst/>
          </a:prstGeom>
        </p:spPr>
        <p:txBody>
          <a:bodyPr vert="horz" lIns="91440" tIns="45720" rIns="91440" bIns="4572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四、学生问题及建议</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表格&#10;&#10;AI 生成的内容可能不正确。"/>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177126" y="265396"/>
            <a:ext cx="7664798" cy="5587423"/>
          </a:xfrm>
          <a:prstGeom prst="rect">
            <a:avLst/>
          </a:prstGeom>
        </p:spPr>
      </p:pic>
      <p:sp>
        <p:nvSpPr>
          <p:cNvPr id="8" name="文本框 7"/>
          <p:cNvSpPr txBox="1"/>
          <p:nvPr/>
        </p:nvSpPr>
        <p:spPr>
          <a:xfrm>
            <a:off x="883285" y="5763895"/>
            <a:ext cx="10725150" cy="1014730"/>
          </a:xfrm>
          <a:prstGeom prst="rect">
            <a:avLst/>
          </a:prstGeom>
          <a:noFill/>
        </p:spPr>
        <p:txBody>
          <a:bodyPr wrap="square">
            <a:spAutoFit/>
          </a:bodyPr>
          <a:lstStyle/>
          <a:p>
            <a:pPr algn="l" fontAlgn="ctr">
              <a:lnSpc>
                <a:spcPct val="150000"/>
              </a:lnSpc>
              <a:buNone/>
            </a:pPr>
            <a:r>
              <a:rPr lang="zh-CN" altLang="zh-CN" sz="2000" b="1" kern="10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a:t>
            </a:r>
            <a:r>
              <a:rPr lang="en-US" altLang="zh-CN" sz="2000" b="1" kern="10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2</a:t>
            </a:r>
            <a:r>
              <a:rPr lang="zh-CN" altLang="zh-CN" sz="2000" b="1" kern="10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）一纸司法建议，既为当下划定了红线，防止技术滥用，又为未来创新发展预留了空间。</a:t>
            </a:r>
            <a:r>
              <a:rPr lang="en-US" altLang="zh-CN" sz="2000" b="1" kern="10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   </a:t>
            </a:r>
            <a:r>
              <a:rPr lang="zh-CN" altLang="zh-CN" sz="2000" b="1" kern="10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运用《法律与生活》知识，谈谈你对这句话的理解。</a:t>
            </a:r>
            <a:endParaRPr lang="zh-CN" altLang="zh-CN" sz="2000" b="1" kern="100" dirty="0">
              <a:solidFill>
                <a:srgbClr val="000000"/>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2" name="标题 3"/>
          <p:cNvSpPr txBox="1"/>
          <p:nvPr/>
        </p:nvSpPr>
        <p:spPr>
          <a:xfrm>
            <a:off x="320675" y="265430"/>
            <a:ext cx="3070225" cy="750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五、复练试题</a:t>
            </a:r>
            <a:endParaRPr lang="zh-CN" altLang="en-US" sz="32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p:cNvSpPr>
            <a:spLocks noGrp="1"/>
          </p:cNvSpPr>
          <p:nvPr>
            <p:ph idx="1"/>
          </p:nvPr>
        </p:nvSpPr>
        <p:spPr>
          <a:xfrm>
            <a:off x="838200" y="919480"/>
            <a:ext cx="10515600" cy="4903470"/>
          </a:xfrm>
          <a:ln>
            <a:solidFill>
              <a:schemeClr val="tx1"/>
            </a:solidFill>
          </a:ln>
        </p:spPr>
        <p:txBody>
          <a:bodyPr/>
          <a:lstStyle/>
          <a:p>
            <a:pPr marL="0" indent="0">
              <a:lnSpc>
                <a:spcPct val="150000"/>
              </a:lnSpc>
              <a:buNone/>
            </a:pPr>
            <a:r>
              <a:rPr lang="en-US" altLang="zh-CN" sz="2400" dirty="0">
                <a:solidFill>
                  <a:schemeClr val="tx1"/>
                </a:solidFill>
                <a:latin typeface="黑体" panose="02010609060101010101" charset="-122"/>
                <a:ea typeface="黑体" panose="02010609060101010101" charset="-122"/>
                <a:cs typeface="Calibri Light" panose="020F0302020204030204" pitchFamily="34" charset="0"/>
              </a:rPr>
              <a:t>    </a:t>
            </a:r>
            <a:r>
              <a:rPr lang="zh-CN" altLang="en-US" sz="2400" dirty="0">
                <a:solidFill>
                  <a:schemeClr val="tx1"/>
                </a:solidFill>
                <a:latin typeface="黑体" panose="02010609060101010101" charset="-122"/>
                <a:ea typeface="黑体" panose="02010609060101010101" charset="-122"/>
                <a:cs typeface="Calibri Light" panose="020F0302020204030204" pitchFamily="34" charset="0"/>
              </a:rPr>
              <a:t>参考答案</a:t>
            </a:r>
            <a:r>
              <a:rPr lang="en-US" altLang="zh-CN" sz="2400" dirty="0">
                <a:solidFill>
                  <a:schemeClr val="tx1"/>
                </a:solidFill>
                <a:latin typeface="黑体" panose="02010609060101010101" charset="-122"/>
                <a:ea typeface="黑体" panose="02010609060101010101" charset="-122"/>
                <a:cs typeface="Calibri Light" panose="020F0302020204030204" pitchFamily="34" charset="0"/>
              </a:rPr>
              <a:t>:</a:t>
            </a:r>
            <a:endParaRPr lang="en-US" altLang="zh-CN" sz="2400" dirty="0">
              <a:solidFill>
                <a:schemeClr val="tx1"/>
              </a:solidFill>
              <a:latin typeface="黑体" panose="02010609060101010101" charset="-122"/>
              <a:ea typeface="黑体" panose="02010609060101010101" charset="-122"/>
              <a:cs typeface="Calibri Light" panose="020F0302020204030204" pitchFamily="34" charset="0"/>
            </a:endParaRPr>
          </a:p>
          <a:p>
            <a:pPr marL="0" indent="0">
              <a:lnSpc>
                <a:spcPct val="150000"/>
              </a:lnSpc>
              <a:buNone/>
            </a:pPr>
            <a:r>
              <a:rPr lang="en-US" altLang="zh-CN" sz="2000" dirty="0">
                <a:solidFill>
                  <a:schemeClr val="tx1"/>
                </a:solidFill>
                <a:latin typeface="黑体" panose="02010609060101010101" charset="-122"/>
                <a:ea typeface="黑体" panose="02010609060101010101" charset="-122"/>
                <a:cs typeface="Calibri Light" panose="020F0302020204030204" pitchFamily="34" charset="0"/>
              </a:rPr>
              <a:t>    </a:t>
            </a:r>
            <a:r>
              <a:rPr lang="zh-CN" altLang="zh-CN" sz="2000" dirty="0">
                <a:solidFill>
                  <a:schemeClr val="tx1"/>
                </a:solidFill>
                <a:latin typeface="黑体" panose="02010609060101010101" charset="-122"/>
                <a:ea typeface="黑体" panose="02010609060101010101" charset="-122"/>
                <a:cs typeface="Calibri Light" panose="020F0302020204030204" pitchFamily="34" charset="0"/>
              </a:rPr>
              <a:t>这句话体现了法律在技术创新与社会秩序之间的平衡作用。司法建议通过明确</a:t>
            </a:r>
            <a:r>
              <a:rPr lang="en-US" altLang="zh-CN" sz="2000" dirty="0">
                <a:solidFill>
                  <a:schemeClr val="tx1"/>
                </a:solidFill>
                <a:latin typeface="黑体" panose="02010609060101010101" charset="-122"/>
                <a:ea typeface="黑体" panose="02010609060101010101" charset="-122"/>
                <a:cs typeface="Calibri Light" panose="020F0302020204030204" pitchFamily="34" charset="0"/>
              </a:rPr>
              <a:t>AI</a:t>
            </a:r>
            <a:r>
              <a:rPr lang="zh-CN" altLang="zh-CN" sz="2000" dirty="0">
                <a:solidFill>
                  <a:schemeClr val="tx1"/>
                </a:solidFill>
                <a:latin typeface="黑体" panose="02010609060101010101" charset="-122"/>
                <a:ea typeface="黑体" panose="02010609060101010101" charset="-122"/>
                <a:cs typeface="Calibri Light" panose="020F0302020204030204" pitchFamily="34" charset="0"/>
              </a:rPr>
              <a:t>技术应用的法律边界，既规范了当前的技术行为，防止技术滥用，又为技术的未来创新发展提供了合法的空间。通过划定</a:t>
            </a:r>
            <a:r>
              <a:rPr lang="en-US" altLang="zh-CN" sz="2000" dirty="0">
                <a:solidFill>
                  <a:schemeClr val="tx1"/>
                </a:solidFill>
                <a:latin typeface="黑体" panose="02010609060101010101" charset="-122"/>
                <a:ea typeface="黑体" panose="02010609060101010101" charset="-122"/>
                <a:cs typeface="Calibri Light" panose="020F0302020204030204" pitchFamily="34" charset="0"/>
              </a:rPr>
              <a:t>“</a:t>
            </a:r>
            <a:r>
              <a:rPr lang="zh-CN" altLang="zh-CN" sz="2000" dirty="0">
                <a:solidFill>
                  <a:schemeClr val="tx1"/>
                </a:solidFill>
                <a:latin typeface="黑体" panose="02010609060101010101" charset="-122"/>
                <a:ea typeface="黑体" panose="02010609060101010101" charset="-122"/>
                <a:cs typeface="Calibri Light" panose="020F0302020204030204" pitchFamily="34" charset="0"/>
              </a:rPr>
              <a:t>红线</a:t>
            </a:r>
            <a:r>
              <a:rPr lang="en-US" altLang="zh-CN" sz="2000" dirty="0">
                <a:solidFill>
                  <a:schemeClr val="tx1"/>
                </a:solidFill>
                <a:latin typeface="黑体" panose="02010609060101010101" charset="-122"/>
                <a:ea typeface="黑体" panose="02010609060101010101" charset="-122"/>
                <a:cs typeface="Calibri Light" panose="020F0302020204030204" pitchFamily="34" charset="0"/>
              </a:rPr>
              <a:t>”</a:t>
            </a:r>
            <a:r>
              <a:rPr lang="zh-CN" altLang="zh-CN" sz="2000" dirty="0">
                <a:solidFill>
                  <a:schemeClr val="tx1"/>
                </a:solidFill>
                <a:latin typeface="黑体" panose="02010609060101010101" charset="-122"/>
                <a:ea typeface="黑体" panose="02010609060101010101" charset="-122"/>
                <a:cs typeface="Calibri Light" panose="020F0302020204030204" pitchFamily="34" charset="0"/>
              </a:rPr>
              <a:t>，如要求企业安装</a:t>
            </a:r>
            <a:r>
              <a:rPr lang="en-US" altLang="zh-CN" sz="2000" dirty="0">
                <a:solidFill>
                  <a:schemeClr val="tx1"/>
                </a:solidFill>
                <a:latin typeface="黑体" panose="02010609060101010101" charset="-122"/>
                <a:ea typeface="黑体" panose="02010609060101010101" charset="-122"/>
                <a:cs typeface="Calibri Light" panose="020F0302020204030204" pitchFamily="34" charset="0"/>
              </a:rPr>
              <a:t>“</a:t>
            </a:r>
            <a:r>
              <a:rPr lang="zh-CN" altLang="zh-CN" sz="2000" dirty="0">
                <a:solidFill>
                  <a:schemeClr val="tx1"/>
                </a:solidFill>
                <a:latin typeface="黑体" panose="02010609060101010101" charset="-122"/>
                <a:ea typeface="黑体" panose="02010609060101010101" charset="-122"/>
                <a:cs typeface="Calibri Light" panose="020F0302020204030204" pitchFamily="34" charset="0"/>
              </a:rPr>
              <a:t>版权雷达</a:t>
            </a:r>
            <a:r>
              <a:rPr lang="en-US" altLang="zh-CN" sz="2000" dirty="0">
                <a:solidFill>
                  <a:schemeClr val="tx1"/>
                </a:solidFill>
                <a:latin typeface="黑体" panose="02010609060101010101" charset="-122"/>
                <a:ea typeface="黑体" panose="02010609060101010101" charset="-122"/>
                <a:cs typeface="Calibri Light" panose="020F0302020204030204" pitchFamily="34" charset="0"/>
              </a:rPr>
              <a:t>”</a:t>
            </a:r>
            <a:r>
              <a:rPr lang="zh-CN" altLang="zh-CN" sz="2000" dirty="0">
                <a:solidFill>
                  <a:schemeClr val="tx1"/>
                </a:solidFill>
                <a:latin typeface="黑体" panose="02010609060101010101" charset="-122"/>
                <a:ea typeface="黑体" panose="02010609060101010101" charset="-122"/>
                <a:cs typeface="Calibri Light" panose="020F0302020204030204" pitchFamily="34" charset="0"/>
              </a:rPr>
              <a:t>和</a:t>
            </a:r>
            <a:r>
              <a:rPr lang="en-US" altLang="zh-CN" sz="2000" dirty="0">
                <a:solidFill>
                  <a:schemeClr val="tx1"/>
                </a:solidFill>
                <a:latin typeface="黑体" panose="02010609060101010101" charset="-122"/>
                <a:ea typeface="黑体" panose="02010609060101010101" charset="-122"/>
                <a:cs typeface="Calibri Light" panose="020F0302020204030204" pitchFamily="34" charset="0"/>
              </a:rPr>
              <a:t>“</a:t>
            </a:r>
            <a:r>
              <a:rPr lang="zh-CN" altLang="zh-CN" sz="2000" dirty="0">
                <a:solidFill>
                  <a:schemeClr val="tx1"/>
                </a:solidFill>
                <a:latin typeface="黑体" panose="02010609060101010101" charset="-122"/>
                <a:ea typeface="黑体" panose="02010609060101010101" charset="-122"/>
                <a:cs typeface="Calibri Light" panose="020F0302020204030204" pitchFamily="34" charset="0"/>
              </a:rPr>
              <a:t>数字巡警</a:t>
            </a:r>
            <a:r>
              <a:rPr lang="en-US" altLang="zh-CN" sz="2000" dirty="0">
                <a:solidFill>
                  <a:schemeClr val="tx1"/>
                </a:solidFill>
                <a:latin typeface="黑体" panose="02010609060101010101" charset="-122"/>
                <a:ea typeface="黑体" panose="02010609060101010101" charset="-122"/>
                <a:cs typeface="Calibri Light" panose="020F0302020204030204" pitchFamily="34" charset="0"/>
              </a:rPr>
              <a:t>”</a:t>
            </a:r>
            <a:r>
              <a:rPr lang="zh-CN" altLang="zh-CN" sz="2000" dirty="0">
                <a:solidFill>
                  <a:schemeClr val="tx1"/>
                </a:solidFill>
                <a:latin typeface="黑体" panose="02010609060101010101" charset="-122"/>
                <a:ea typeface="黑体" panose="02010609060101010101" charset="-122"/>
                <a:cs typeface="Calibri Light" panose="020F0302020204030204" pitchFamily="34" charset="0"/>
              </a:rPr>
              <a:t>，对侵权行为进行实时监测，保护了创作者的合法权益，维护了社会公共利益；通过</a:t>
            </a:r>
            <a:r>
              <a:rPr lang="en-US" altLang="zh-CN" sz="2000" dirty="0">
                <a:solidFill>
                  <a:schemeClr val="tx1"/>
                </a:solidFill>
                <a:latin typeface="黑体" panose="02010609060101010101" charset="-122"/>
                <a:ea typeface="黑体" panose="02010609060101010101" charset="-122"/>
                <a:cs typeface="Calibri Light" panose="020F0302020204030204" pitchFamily="34" charset="0"/>
              </a:rPr>
              <a:t>“</a:t>
            </a:r>
            <a:r>
              <a:rPr lang="zh-CN" altLang="zh-CN" sz="2000" dirty="0">
                <a:solidFill>
                  <a:schemeClr val="tx1"/>
                </a:solidFill>
                <a:latin typeface="黑体" panose="02010609060101010101" charset="-122"/>
                <a:ea typeface="黑体" panose="02010609060101010101" charset="-122"/>
                <a:cs typeface="Calibri Light" panose="020F0302020204030204" pitchFamily="34" charset="0"/>
              </a:rPr>
              <a:t>安全体检</a:t>
            </a:r>
            <a:r>
              <a:rPr lang="en-US" altLang="zh-CN" sz="2000" dirty="0">
                <a:solidFill>
                  <a:schemeClr val="tx1"/>
                </a:solidFill>
                <a:latin typeface="黑体" panose="02010609060101010101" charset="-122"/>
                <a:ea typeface="黑体" panose="02010609060101010101" charset="-122"/>
                <a:cs typeface="Calibri Light" panose="020F0302020204030204" pitchFamily="34" charset="0"/>
              </a:rPr>
              <a:t>”</a:t>
            </a:r>
            <a:r>
              <a:rPr lang="zh-CN" altLang="zh-CN" sz="2000" dirty="0">
                <a:solidFill>
                  <a:schemeClr val="tx1"/>
                </a:solidFill>
                <a:latin typeface="黑体" panose="02010609060101010101" charset="-122"/>
                <a:ea typeface="黑体" panose="02010609060101010101" charset="-122"/>
                <a:cs typeface="Calibri Light" panose="020F0302020204030204" pitchFamily="34" charset="0"/>
              </a:rPr>
              <a:t>等措施，为技术创新提供了合法路径，体现了对公平原则、诚信原则、守法和公序良俗原则的贯彻。司法建议不仅解决了当前的侵权问题，还为未来创新发展预留空间，展现了法律在规范与保护之间的智慧平衡。</a:t>
            </a:r>
            <a:endParaRPr lang="zh-CN" altLang="zh-CN" sz="2000" dirty="0">
              <a:solidFill>
                <a:schemeClr val="tx1"/>
              </a:solidFill>
              <a:latin typeface="黑体" panose="02010609060101010101" charset="-122"/>
              <a:ea typeface="黑体" panose="02010609060101010101" charset="-122"/>
              <a:cs typeface="Calibri Light" panose="020F0302020204030204" pitchFamily="34" charset="0"/>
            </a:endParaRPr>
          </a:p>
          <a:p>
            <a:endParaRPr lang="zh-CN" altLang="zh-CN" sz="2000" dirty="0">
              <a:solidFill>
                <a:schemeClr val="tx1"/>
              </a:solidFill>
              <a:latin typeface="黑体" panose="02010609060101010101" charset="-122"/>
              <a:ea typeface="黑体" panose="02010609060101010101" charset="-122"/>
              <a:cs typeface="Calibri Light" panose="020F030202020403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 name="图片 11"/>
          <p:cNvPicPr>
            <a:picLocks noChangeAspect="1"/>
          </p:cNvPicPr>
          <p:nvPr>
            <p:custDataLst>
              <p:tags r:id="rId1"/>
            </p:custDataLst>
          </p:nvPr>
        </p:nvPicPr>
        <p:blipFill>
          <a:blip r:embed="rId2">
            <a:biLevel thresh="25000"/>
            <a:extLst>
              <a:ext uri="{28A0092B-C50C-407E-A947-70E740481C1C}">
                <a14:useLocalDpi xmlns:a14="http://schemas.microsoft.com/office/drawing/2010/main" val="0"/>
              </a:ext>
            </a:extLst>
          </a:blip>
          <a:stretch>
            <a:fillRect/>
          </a:stretch>
        </p:blipFill>
        <p:spPr>
          <a:xfrm>
            <a:off x="4671360" y="6376242"/>
            <a:ext cx="2885444" cy="630668"/>
          </a:xfrm>
          <a:prstGeom prst="rect">
            <a:avLst/>
          </a:prstGeom>
        </p:spPr>
      </p:pic>
      <p:pic>
        <p:nvPicPr>
          <p:cNvPr id="2" name="图片 1"/>
          <p:cNvPicPr>
            <a:picLocks noChangeAspect="1"/>
          </p:cNvPicPr>
          <p:nvPr/>
        </p:nvPicPr>
        <p:blipFill>
          <a:blip r:embed="rId3"/>
          <a:stretch>
            <a:fillRect/>
          </a:stretch>
        </p:blipFill>
        <p:spPr>
          <a:xfrm>
            <a:off x="511175" y="1135380"/>
            <a:ext cx="7045325" cy="4457065"/>
          </a:xfrm>
          <a:prstGeom prst="rect">
            <a:avLst/>
          </a:prstGeom>
        </p:spPr>
      </p:pic>
      <p:sp>
        <p:nvSpPr>
          <p:cNvPr id="3" name="文本框 2"/>
          <p:cNvSpPr txBox="1"/>
          <p:nvPr/>
        </p:nvSpPr>
        <p:spPr>
          <a:xfrm>
            <a:off x="7790815" y="1135380"/>
            <a:ext cx="3913505" cy="829945"/>
          </a:xfrm>
          <a:prstGeom prst="rect">
            <a:avLst/>
          </a:prstGeom>
          <a:solidFill>
            <a:schemeClr val="accent3">
              <a:lumMod val="20000"/>
              <a:lumOff val="80000"/>
            </a:schemeClr>
          </a:solidFill>
          <a:ln>
            <a:gradFill>
              <a:gsLst>
                <a:gs pos="100000">
                  <a:srgbClr val="FF1744"/>
                </a:gs>
                <a:gs pos="0">
                  <a:srgbClr val="FF8A80"/>
                </a:gs>
              </a:gsLst>
              <a:path path="circle">
                <a:fillToRect l="100000" t="100000"/>
              </a:path>
              <a:tileRect r="-100000" b="-100000"/>
            </a:gradFill>
          </a:ln>
        </p:spPr>
        <p:txBody>
          <a:bodyPr wrap="square">
            <a:spAutoFit/>
          </a:bodyPr>
          <a:p>
            <a:pPr marL="0" indent="0" algn="ctr"/>
            <a:r>
              <a:rPr lang="zh-CN" altLang="en-US" sz="2400" b="1" i="0">
                <a:solidFill>
                  <a:srgbClr val="333333"/>
                </a:solidFill>
                <a:latin typeface="宋体" panose="02010600030101010101" pitchFamily="2" charset="-122"/>
                <a:ea typeface="宋体" panose="02010600030101010101" pitchFamily="2" charset="-122"/>
                <a:cs typeface="宋体" panose="02010600030101010101" pitchFamily="2" charset="-122"/>
              </a:rPr>
              <a:t>赏花经济撬动的</a:t>
            </a:r>
            <a:endParaRPr lang="zh-CN" altLang="en-US" sz="2400" b="1" i="0">
              <a:solidFill>
                <a:srgbClr val="333333"/>
              </a:solidFill>
              <a:latin typeface="宋体" panose="02010600030101010101" pitchFamily="2" charset="-122"/>
              <a:ea typeface="宋体" panose="02010600030101010101" pitchFamily="2" charset="-122"/>
              <a:cs typeface="宋体" panose="02010600030101010101" pitchFamily="2" charset="-122"/>
            </a:endParaRPr>
          </a:p>
          <a:p>
            <a:pPr marL="0" indent="0" algn="ctr"/>
            <a:r>
              <a:rPr lang="zh-CN" altLang="en-US" sz="2400" b="1" i="0">
                <a:solidFill>
                  <a:srgbClr val="333333"/>
                </a:solidFill>
                <a:latin typeface="宋体" panose="02010600030101010101" pitchFamily="2" charset="-122"/>
                <a:ea typeface="宋体" panose="02010600030101010101" pitchFamily="2" charset="-122"/>
                <a:cs typeface="宋体" panose="02010600030101010101" pitchFamily="2" charset="-122"/>
              </a:rPr>
              <a:t>是“场景消费”的乘数效应</a:t>
            </a:r>
            <a:endParaRPr lang="zh-CN" altLang="en-US" sz="2400" b="1" i="0">
              <a:solidFill>
                <a:srgbClr val="333333"/>
              </a:solidFill>
              <a:latin typeface="宋体" panose="02010600030101010101" pitchFamily="2" charset="-122"/>
              <a:ea typeface="宋体" panose="02010600030101010101" pitchFamily="2" charset="-122"/>
              <a:cs typeface="宋体" panose="02010600030101010101" pitchFamily="2" charset="-122"/>
            </a:endParaRPr>
          </a:p>
        </p:txBody>
      </p:sp>
      <p:sp>
        <p:nvSpPr>
          <p:cNvPr id="4" name="文本框 3"/>
          <p:cNvSpPr txBox="1"/>
          <p:nvPr/>
        </p:nvSpPr>
        <p:spPr>
          <a:xfrm>
            <a:off x="7790815" y="2567940"/>
            <a:ext cx="3913505" cy="829945"/>
          </a:xfrm>
          <a:prstGeom prst="rect">
            <a:avLst/>
          </a:prstGeom>
          <a:solidFill>
            <a:schemeClr val="accent3">
              <a:lumMod val="20000"/>
              <a:lumOff val="80000"/>
            </a:schemeClr>
          </a:solidFill>
          <a:ln>
            <a:gradFill>
              <a:gsLst>
                <a:gs pos="100000">
                  <a:srgbClr val="FF1744"/>
                </a:gs>
                <a:gs pos="0">
                  <a:srgbClr val="FF8A80"/>
                </a:gs>
              </a:gsLst>
              <a:path path="circle">
                <a:fillToRect l="100000" t="100000"/>
              </a:path>
              <a:tileRect r="-100000" b="-100000"/>
            </a:gradFill>
          </a:ln>
        </p:spPr>
        <p:txBody>
          <a:bodyPr wrap="square">
            <a:spAutoFit/>
          </a:bodyPr>
          <a:p>
            <a:pPr marL="0" indent="0" algn="ctr"/>
            <a:r>
              <a:rPr lang="zh-CN" altLang="en-US" sz="2400" b="1" i="0">
                <a:solidFill>
                  <a:srgbClr val="333333"/>
                </a:solidFill>
                <a:latin typeface="宋体" panose="02010600030101010101" pitchFamily="2" charset="-122"/>
                <a:ea typeface="宋体" panose="02010600030101010101" pitchFamily="2" charset="-122"/>
                <a:cs typeface="宋体" panose="02010600030101010101" pitchFamily="2" charset="-122"/>
              </a:rPr>
              <a:t>赏花经济激活的</a:t>
            </a:r>
            <a:endParaRPr lang="zh-CN" altLang="en-US" sz="2400" b="1" i="0">
              <a:solidFill>
                <a:srgbClr val="333333"/>
              </a:solidFill>
              <a:latin typeface="宋体" panose="02010600030101010101" pitchFamily="2" charset="-122"/>
              <a:ea typeface="宋体" panose="02010600030101010101" pitchFamily="2" charset="-122"/>
              <a:cs typeface="宋体" panose="02010600030101010101" pitchFamily="2" charset="-122"/>
            </a:endParaRPr>
          </a:p>
          <a:p>
            <a:pPr marL="0" indent="0" algn="ctr"/>
            <a:r>
              <a:rPr lang="zh-CN" altLang="en-US" sz="2400" b="1" i="0">
                <a:solidFill>
                  <a:srgbClr val="333333"/>
                </a:solidFill>
                <a:latin typeface="宋体" panose="02010600030101010101" pitchFamily="2" charset="-122"/>
                <a:ea typeface="宋体" panose="02010600030101010101" pitchFamily="2" charset="-122"/>
                <a:cs typeface="宋体" panose="02010600030101010101" pitchFamily="2" charset="-122"/>
              </a:rPr>
              <a:t>是“接二连三”的融合效应</a:t>
            </a:r>
            <a:endParaRPr lang="zh-CN" altLang="en-US" sz="2400" b="1" i="0">
              <a:solidFill>
                <a:srgbClr val="333333"/>
              </a:solidFill>
              <a:latin typeface="宋体" panose="02010600030101010101" pitchFamily="2" charset="-122"/>
              <a:ea typeface="宋体" panose="02010600030101010101" pitchFamily="2" charset="-122"/>
              <a:cs typeface="宋体" panose="02010600030101010101" pitchFamily="2" charset="-122"/>
            </a:endParaRPr>
          </a:p>
        </p:txBody>
      </p:sp>
      <p:sp>
        <p:nvSpPr>
          <p:cNvPr id="5" name="文本框 4"/>
          <p:cNvSpPr txBox="1"/>
          <p:nvPr/>
        </p:nvSpPr>
        <p:spPr>
          <a:xfrm>
            <a:off x="7790815" y="4000500"/>
            <a:ext cx="3913505" cy="829945"/>
          </a:xfrm>
          <a:prstGeom prst="rect">
            <a:avLst/>
          </a:prstGeom>
          <a:solidFill>
            <a:schemeClr val="accent3">
              <a:lumMod val="20000"/>
              <a:lumOff val="80000"/>
            </a:schemeClr>
          </a:solidFill>
          <a:ln>
            <a:gradFill>
              <a:gsLst>
                <a:gs pos="100000">
                  <a:srgbClr val="FF1744"/>
                </a:gs>
                <a:gs pos="0">
                  <a:srgbClr val="FF8A80"/>
                </a:gs>
              </a:gsLst>
              <a:path path="circle">
                <a:fillToRect l="100000" t="100000"/>
              </a:path>
              <a:tileRect r="-100000" b="-100000"/>
            </a:gradFill>
          </a:ln>
        </p:spPr>
        <p:txBody>
          <a:bodyPr wrap="square">
            <a:spAutoFit/>
          </a:bodyPr>
          <a:p>
            <a:pPr marL="0" indent="0" algn="ctr"/>
            <a:r>
              <a:rPr lang="zh-CN" altLang="en-US" sz="2400" b="1" i="0">
                <a:solidFill>
                  <a:srgbClr val="333333"/>
                </a:solidFill>
                <a:latin typeface="宋体" panose="02010600030101010101" pitchFamily="2" charset="-122"/>
                <a:ea typeface="宋体" panose="02010600030101010101" pitchFamily="2" charset="-122"/>
                <a:cs typeface="宋体" panose="02010600030101010101" pitchFamily="2" charset="-122"/>
              </a:rPr>
              <a:t>赏花经济印证的</a:t>
            </a:r>
            <a:endParaRPr lang="zh-CN" altLang="en-US" sz="2400" b="1" i="0">
              <a:solidFill>
                <a:srgbClr val="333333"/>
              </a:solidFill>
              <a:latin typeface="宋体" panose="02010600030101010101" pitchFamily="2" charset="-122"/>
              <a:ea typeface="宋体" panose="02010600030101010101" pitchFamily="2" charset="-122"/>
              <a:cs typeface="宋体" panose="02010600030101010101" pitchFamily="2" charset="-122"/>
            </a:endParaRPr>
          </a:p>
          <a:p>
            <a:pPr marL="0" indent="0" algn="ctr"/>
            <a:r>
              <a:rPr lang="zh-CN" altLang="en-US" sz="2400" b="1" i="0">
                <a:solidFill>
                  <a:srgbClr val="333333"/>
                </a:solidFill>
                <a:latin typeface="宋体" panose="02010600030101010101" pitchFamily="2" charset="-122"/>
                <a:ea typeface="宋体" panose="02010600030101010101" pitchFamily="2" charset="-122"/>
                <a:cs typeface="宋体" panose="02010600030101010101" pitchFamily="2" charset="-122"/>
              </a:rPr>
              <a:t>是“绿水青山”的价值转化</a:t>
            </a:r>
            <a:endParaRPr lang="zh-CN" altLang="en-US" sz="2400" b="1" i="0">
              <a:solidFill>
                <a:srgbClr val="333333"/>
              </a:solidFill>
              <a:latin typeface="宋体" panose="02010600030101010101" pitchFamily="2" charset="-122"/>
              <a:ea typeface="宋体" panose="02010600030101010101" pitchFamily="2" charset="-122"/>
              <a:cs typeface="宋体" panose="02010600030101010101" pitchFamily="2" charset="-122"/>
            </a:endParaRPr>
          </a:p>
        </p:txBody>
      </p:sp>
      <p:cxnSp>
        <p:nvCxnSpPr>
          <p:cNvPr id="6" name="直接箭头连接符 5"/>
          <p:cNvCxnSpPr/>
          <p:nvPr/>
        </p:nvCxnSpPr>
        <p:spPr>
          <a:xfrm flipV="1">
            <a:off x="4740275" y="1570990"/>
            <a:ext cx="2960370" cy="397510"/>
          </a:xfrm>
          <a:prstGeom prst="straightConnector1">
            <a:avLst/>
          </a:prstGeom>
          <a:ln w="28575">
            <a:gradFill>
              <a:gsLst>
                <a:gs pos="51300">
                  <a:srgbClr val="FE5F4A"/>
                </a:gs>
                <a:gs pos="0">
                  <a:srgbClr val="DF0303"/>
                </a:gs>
                <a:gs pos="100000">
                  <a:srgbClr val="FEA06E"/>
                </a:gs>
              </a:gsLst>
              <a:lin ang="5400000" scaled="0"/>
            </a:gradFill>
            <a:tailEnd type="arrow"/>
          </a:ln>
        </p:spPr>
        <p:style>
          <a:lnRef idx="2">
            <a:schemeClr val="accent1"/>
          </a:lnRef>
          <a:fillRef idx="0">
            <a:srgbClr val="FFFFFF"/>
          </a:fillRef>
          <a:effectRef idx="0">
            <a:srgbClr val="FFFFFF"/>
          </a:effectRef>
          <a:fontRef idx="minor">
            <a:schemeClr val="tx1"/>
          </a:fontRef>
        </p:style>
      </p:cxnSp>
      <p:cxnSp>
        <p:nvCxnSpPr>
          <p:cNvPr id="9" name="直接箭头连接符 8"/>
          <p:cNvCxnSpPr/>
          <p:nvPr/>
        </p:nvCxnSpPr>
        <p:spPr>
          <a:xfrm flipV="1">
            <a:off x="2675255" y="2886075"/>
            <a:ext cx="4964430" cy="354965"/>
          </a:xfrm>
          <a:prstGeom prst="straightConnector1">
            <a:avLst/>
          </a:prstGeom>
          <a:ln w="28575">
            <a:gradFill>
              <a:gsLst>
                <a:gs pos="51300">
                  <a:srgbClr val="FE5F4A"/>
                </a:gs>
                <a:gs pos="0">
                  <a:srgbClr val="DF0303"/>
                </a:gs>
                <a:gs pos="100000">
                  <a:srgbClr val="FEA06E"/>
                </a:gs>
              </a:gsLst>
              <a:lin ang="5400000" scaled="0"/>
            </a:gradFill>
            <a:tailEnd type="arrow"/>
          </a:ln>
        </p:spPr>
        <p:style>
          <a:lnRef idx="2">
            <a:schemeClr val="accent1"/>
          </a:lnRef>
          <a:fillRef idx="0">
            <a:srgbClr val="FFFFFF"/>
          </a:fillRef>
          <a:effectRef idx="0">
            <a:srgbClr val="FFFFFF"/>
          </a:effectRef>
          <a:fontRef idx="minor">
            <a:schemeClr val="tx1"/>
          </a:fontRef>
        </p:style>
      </p:cxnSp>
      <p:cxnSp>
        <p:nvCxnSpPr>
          <p:cNvPr id="10" name="直接箭头连接符 9"/>
          <p:cNvCxnSpPr/>
          <p:nvPr/>
        </p:nvCxnSpPr>
        <p:spPr>
          <a:xfrm flipV="1">
            <a:off x="5762625" y="4422140"/>
            <a:ext cx="1877060" cy="408305"/>
          </a:xfrm>
          <a:prstGeom prst="straightConnector1">
            <a:avLst/>
          </a:prstGeom>
          <a:ln w="28575">
            <a:gradFill>
              <a:gsLst>
                <a:gs pos="51300">
                  <a:srgbClr val="FE5F4A"/>
                </a:gs>
                <a:gs pos="0">
                  <a:srgbClr val="DF0303"/>
                </a:gs>
                <a:gs pos="100000">
                  <a:srgbClr val="FEA06E"/>
                </a:gs>
              </a:gsLst>
              <a:lin ang="5400000" scaled="0"/>
            </a:gradFill>
            <a:tailEnd type="arrow"/>
          </a:ln>
        </p:spPr>
        <p:style>
          <a:lnRef idx="2">
            <a:schemeClr val="accent1"/>
          </a:lnRef>
          <a:fillRef idx="0">
            <a:srgbClr val="FFFFFF"/>
          </a:fillRef>
          <a:effectRef idx="0">
            <a:srgbClr val="FFFFFF"/>
          </a:effectRef>
          <a:fontRef idx="minor">
            <a:schemeClr val="tx1"/>
          </a:fontRef>
        </p:style>
      </p:cxnSp>
      <p:sp>
        <p:nvSpPr>
          <p:cNvPr id="13" name="圆角矩形 12"/>
          <p:cNvSpPr/>
          <p:nvPr/>
        </p:nvSpPr>
        <p:spPr>
          <a:xfrm>
            <a:off x="1597660" y="5665470"/>
            <a:ext cx="4300220" cy="638175"/>
          </a:xfrm>
          <a:prstGeom prst="roundRect">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a:solidFill>
                  <a:srgbClr val="FF0000"/>
                </a:solidFill>
                <a:latin typeface="黑体" panose="02010609060101010101" charset="-122"/>
                <a:ea typeface="黑体" panose="02010609060101010101" charset="-122"/>
                <a:cs typeface="黑体" panose="02010609060101010101" charset="-122"/>
              </a:rPr>
              <a:t>为什么要发展</a:t>
            </a:r>
            <a:r>
              <a:rPr lang="en-US" altLang="zh-CN" sz="2400">
                <a:solidFill>
                  <a:srgbClr val="FF0000"/>
                </a:solidFill>
                <a:latin typeface="黑体" panose="02010609060101010101" charset="-122"/>
                <a:ea typeface="黑体" panose="02010609060101010101" charset="-122"/>
                <a:cs typeface="黑体" panose="02010609060101010101" charset="-122"/>
              </a:rPr>
              <a:t>“</a:t>
            </a:r>
            <a:r>
              <a:rPr lang="zh-CN" altLang="en-US" sz="2400">
                <a:solidFill>
                  <a:srgbClr val="FF0000"/>
                </a:solidFill>
                <a:latin typeface="黑体" panose="02010609060101010101" charset="-122"/>
                <a:ea typeface="黑体" panose="02010609060101010101" charset="-122"/>
                <a:cs typeface="黑体" panose="02010609060101010101" charset="-122"/>
              </a:rPr>
              <a:t>赏花经济</a:t>
            </a:r>
            <a:r>
              <a:rPr lang="en-US" altLang="zh-CN" sz="2400">
                <a:solidFill>
                  <a:srgbClr val="FF0000"/>
                </a:solidFill>
                <a:latin typeface="黑体" panose="02010609060101010101" charset="-122"/>
                <a:ea typeface="黑体" panose="02010609060101010101" charset="-122"/>
                <a:cs typeface="黑体" panose="02010609060101010101" charset="-122"/>
              </a:rPr>
              <a:t>”</a:t>
            </a:r>
            <a:r>
              <a:rPr lang="zh-CN" altLang="en-US" sz="2400">
                <a:solidFill>
                  <a:srgbClr val="FF0000"/>
                </a:solidFill>
                <a:latin typeface="黑体" panose="02010609060101010101" charset="-122"/>
                <a:ea typeface="黑体" panose="02010609060101010101" charset="-122"/>
                <a:cs typeface="黑体" panose="02010609060101010101" charset="-122"/>
              </a:rPr>
              <a:t>？</a:t>
            </a:r>
            <a:endParaRPr lang="zh-CN" altLang="en-US" sz="2400">
              <a:solidFill>
                <a:srgbClr val="FF0000"/>
              </a:solidFill>
              <a:latin typeface="黑体" panose="02010609060101010101" charset="-122"/>
              <a:ea typeface="黑体" panose="02010609060101010101" charset="-122"/>
              <a:cs typeface="黑体" panose="02010609060101010101" charset="-122"/>
            </a:endParaRPr>
          </a:p>
        </p:txBody>
      </p:sp>
      <p:sp>
        <p:nvSpPr>
          <p:cNvPr id="14" name="左弧形箭头 13"/>
          <p:cNvSpPr/>
          <p:nvPr/>
        </p:nvSpPr>
        <p:spPr>
          <a:xfrm rot="10980000" flipV="1">
            <a:off x="6494780" y="5352415"/>
            <a:ext cx="414020" cy="875665"/>
          </a:xfrm>
          <a:prstGeom prst="curved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6" name="标题 3"/>
          <p:cNvSpPr txBox="1"/>
          <p:nvPr/>
        </p:nvSpPr>
        <p:spPr>
          <a:xfrm>
            <a:off x="108587" y="-317"/>
            <a:ext cx="3070225" cy="750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一、试题分析</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4" grpId="0" bldLvl="0" animBg="1"/>
      <p:bldP spid="4" grpId="1" animBg="1"/>
      <p:bldP spid="5" grpId="0" bldLvl="0" animBg="1"/>
      <p:bldP spid="5" grpId="1" animBg="1"/>
      <p:bldP spid="14" grpId="0" bldLvl="0" animBg="1"/>
      <p:bldP spid="14" grpId="1" animBg="1"/>
      <p:bldP spid="13" grpId="0" bldLvl="0" animBg="1"/>
      <p:bldP spid="13"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571500" y="1158240"/>
            <a:ext cx="11211560" cy="3103880"/>
          </a:xfrm>
          <a:prstGeom prst="rect">
            <a:avLst/>
          </a:prstGeom>
          <a:ln>
            <a:solidFill>
              <a:schemeClr val="accent1"/>
            </a:solidFill>
          </a:ln>
        </p:spPr>
        <p:txBody>
          <a:bodyPr>
            <a:noAutofit/>
          </a:bodyPr>
          <a:p>
            <a:pPr marL="0" indent="0" algn="just" defTabSz="266700">
              <a:lnSpc>
                <a:spcPct val="100000"/>
              </a:lnSpc>
              <a:spcBef>
                <a:spcPct val="0"/>
              </a:spcBef>
              <a:spcAft>
                <a:spcPct val="0"/>
              </a:spcAft>
            </a:pPr>
            <a:r>
              <a:rPr lang="zh-CN" altLang="en-US" sz="2400" b="1">
                <a:latin typeface="宋体" panose="02010600030101010101" pitchFamily="2" charset="-122"/>
                <a:ea typeface="宋体" panose="02010600030101010101" pitchFamily="2" charset="-122"/>
                <a:cs typeface="宋体" panose="02010600030101010101" pitchFamily="2" charset="-122"/>
              </a:rPr>
              <a:t>19.（8分）</a:t>
            </a:r>
            <a:endParaRPr lang="zh-CN" altLang="en-US" sz="2400" b="1">
              <a:latin typeface="宋体" panose="02010600030101010101" pitchFamily="2" charset="-122"/>
              <a:ea typeface="宋体" panose="02010600030101010101" pitchFamily="2" charset="-122"/>
              <a:cs typeface="宋体" panose="02010600030101010101" pitchFamily="2" charset="-122"/>
            </a:endParaRPr>
          </a:p>
          <a:p>
            <a:pPr marL="0" indent="0" algn="just" defTabSz="266700">
              <a:lnSpc>
                <a:spcPct val="100000"/>
              </a:lnSpc>
              <a:spcBef>
                <a:spcPct val="0"/>
              </a:spcBef>
              <a:spcAft>
                <a:spcPct val="0"/>
              </a:spcAft>
            </a:pPr>
            <a:r>
              <a:rPr lang="en-US" altLang="zh-CN" sz="2400" b="1">
                <a:latin typeface="宋体" panose="02010600030101010101" pitchFamily="2" charset="-122"/>
                <a:ea typeface="宋体" panose="02010600030101010101" pitchFamily="2" charset="-122"/>
                <a:cs typeface="宋体" panose="02010600030101010101" pitchFamily="2" charset="-122"/>
              </a:rPr>
              <a:t>    </a:t>
            </a:r>
            <a:r>
              <a:rPr lang="zh-CN" altLang="en-US" sz="2400" b="1">
                <a:latin typeface="宋体" panose="02010600030101010101" pitchFamily="2" charset="-122"/>
                <a:ea typeface="宋体" panose="02010600030101010101" pitchFamily="2" charset="-122"/>
                <a:cs typeface="宋体" panose="02010600030101010101" pitchFamily="2" charset="-122"/>
              </a:rPr>
              <a:t>充分发挥市场在资源配置中的</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决定性作用</a:t>
            </a:r>
            <a:r>
              <a:rPr lang="zh-CN" altLang="en-US" sz="2400" b="1">
                <a:latin typeface="宋体" panose="02010600030101010101" pitchFamily="2" charset="-122"/>
                <a:ea typeface="宋体" panose="02010600030101010101" pitchFamily="2" charset="-122"/>
                <a:cs typeface="宋体" panose="02010600030101010101" pitchFamily="2" charset="-122"/>
              </a:rPr>
              <a:t>，协同推进扩大消费、产业升级、生态保护。</a:t>
            </a:r>
            <a:r>
              <a:rPr lang="zh-CN" altLang="en-US" sz="2400" b="1">
                <a:solidFill>
                  <a:srgbClr val="FF0000"/>
                </a:solidFill>
                <a:highlight>
                  <a:srgbClr val="FFFF00"/>
                </a:highlight>
                <a:latin typeface="宋体" panose="02010600030101010101" pitchFamily="2" charset="-122"/>
                <a:ea typeface="宋体" panose="02010600030101010101" pitchFamily="2" charset="-122"/>
                <a:sym typeface="+mn-ea"/>
              </a:rPr>
              <a:t>（</a:t>
            </a:r>
            <a:r>
              <a:rPr lang="en-US" altLang="zh-CN" sz="2400" b="1">
                <a:solidFill>
                  <a:srgbClr val="FF0000"/>
                </a:solidFill>
                <a:highlight>
                  <a:srgbClr val="FFFF00"/>
                </a:highlight>
                <a:latin typeface="宋体" panose="02010600030101010101" pitchFamily="2" charset="-122"/>
                <a:ea typeface="宋体" panose="02010600030101010101" pitchFamily="2" charset="-122"/>
                <a:sym typeface="+mn-ea"/>
              </a:rPr>
              <a:t>1</a:t>
            </a:r>
            <a:r>
              <a:rPr lang="zh-CN" altLang="en-US" sz="2400" b="1">
                <a:solidFill>
                  <a:srgbClr val="FF0000"/>
                </a:solidFill>
                <a:highlight>
                  <a:srgbClr val="FFFF00"/>
                </a:highlight>
                <a:latin typeface="宋体" panose="02010600030101010101" pitchFamily="2" charset="-122"/>
                <a:ea typeface="宋体" panose="02010600030101010101" pitchFamily="2" charset="-122"/>
                <a:sym typeface="+mn-ea"/>
              </a:rPr>
              <a:t>分）</a:t>
            </a:r>
            <a:r>
              <a:rPr lang="zh-CN" altLang="en-US" sz="2400" b="1">
                <a:latin typeface="宋体" panose="02010600030101010101" pitchFamily="2" charset="-122"/>
                <a:ea typeface="宋体" panose="02010600030101010101" pitchFamily="2" charset="-122"/>
                <a:cs typeface="宋体" panose="02010600030101010101" pitchFamily="2" charset="-122"/>
              </a:rPr>
              <a:t>面向市场需求，以体验经济激活消费潜力，发挥消费对经济发展的</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基础性作用</a:t>
            </a:r>
            <a:r>
              <a:rPr lang="zh-CN" altLang="en-US" sz="2400" b="1">
                <a:latin typeface="宋体" panose="02010600030101010101" pitchFamily="2" charset="-122"/>
                <a:ea typeface="宋体" panose="02010600030101010101" pitchFamily="2" charset="-122"/>
                <a:cs typeface="宋体" panose="02010600030101010101" pitchFamily="2" charset="-122"/>
              </a:rPr>
              <a:t>。</a:t>
            </a:r>
            <a:r>
              <a:rPr lang="zh-CN" altLang="en-US" sz="2400" b="1">
                <a:solidFill>
                  <a:srgbClr val="FF0000"/>
                </a:solidFill>
                <a:highlight>
                  <a:srgbClr val="FFFF00"/>
                </a:highlight>
                <a:latin typeface="宋体" panose="02010600030101010101" pitchFamily="2" charset="-122"/>
                <a:ea typeface="宋体" panose="02010600030101010101" pitchFamily="2" charset="-122"/>
                <a:sym typeface="+mn-ea"/>
              </a:rPr>
              <a:t>（</a:t>
            </a:r>
            <a:r>
              <a:rPr lang="en-US" altLang="zh-CN" sz="2400" b="1">
                <a:solidFill>
                  <a:srgbClr val="FF0000"/>
                </a:solidFill>
                <a:highlight>
                  <a:srgbClr val="FFFF00"/>
                </a:highlight>
                <a:latin typeface="宋体" panose="02010600030101010101" pitchFamily="2" charset="-122"/>
                <a:ea typeface="宋体" panose="02010600030101010101" pitchFamily="2" charset="-122"/>
                <a:sym typeface="+mn-ea"/>
              </a:rPr>
              <a:t>2</a:t>
            </a:r>
            <a:r>
              <a:rPr lang="zh-CN" altLang="en-US" sz="2400" b="1">
                <a:solidFill>
                  <a:srgbClr val="FF0000"/>
                </a:solidFill>
                <a:highlight>
                  <a:srgbClr val="FFFF00"/>
                </a:highlight>
                <a:latin typeface="宋体" panose="02010600030101010101" pitchFamily="2" charset="-122"/>
                <a:ea typeface="宋体" panose="02010600030101010101" pitchFamily="2" charset="-122"/>
                <a:sym typeface="+mn-ea"/>
              </a:rPr>
              <a:t>分）</a:t>
            </a:r>
            <a:r>
              <a:rPr lang="en-US" altLang="zh-CN" sz="2400" b="1">
                <a:latin typeface="宋体" panose="02010600030101010101" pitchFamily="2" charset="-122"/>
                <a:ea typeface="宋体" panose="02010600030101010101" pitchFamily="2" charset="-122"/>
                <a:cs typeface="宋体" panose="02010600030101010101" pitchFamily="2" charset="-122"/>
              </a:rPr>
              <a:t>  </a:t>
            </a:r>
            <a:endParaRPr lang="en-US" altLang="zh-CN" sz="2400" b="1">
              <a:latin typeface="宋体" panose="02010600030101010101" pitchFamily="2" charset="-122"/>
              <a:ea typeface="宋体" panose="02010600030101010101" pitchFamily="2" charset="-122"/>
              <a:cs typeface="宋体" panose="02010600030101010101" pitchFamily="2" charset="-122"/>
            </a:endParaRPr>
          </a:p>
          <a:p>
            <a:pPr marL="0" indent="0" algn="just" defTabSz="266700">
              <a:lnSpc>
                <a:spcPct val="100000"/>
              </a:lnSpc>
              <a:spcBef>
                <a:spcPct val="0"/>
              </a:spcBef>
              <a:spcAft>
                <a:spcPct val="0"/>
              </a:spcAft>
            </a:pPr>
            <a:r>
              <a:rPr lang="en-US" altLang="zh-CN" sz="2400" b="1">
                <a:latin typeface="宋体" panose="02010600030101010101" pitchFamily="2" charset="-122"/>
                <a:ea typeface="宋体" panose="02010600030101010101" pitchFamily="2" charset="-122"/>
                <a:cs typeface="宋体" panose="02010600030101010101" pitchFamily="2" charset="-122"/>
              </a:rPr>
              <a:t>    </a:t>
            </a:r>
            <a:r>
              <a:rPr lang="zh-CN" altLang="en-US" sz="2400" b="1">
                <a:latin typeface="宋体" panose="02010600030101010101" pitchFamily="2" charset="-122"/>
                <a:ea typeface="宋体" panose="02010600030101010101" pitchFamily="2" charset="-122"/>
                <a:cs typeface="宋体" panose="02010600030101010101" pitchFamily="2" charset="-122"/>
              </a:rPr>
              <a:t>坚持以花为纽带，串起农业、制造业和服务业，促进</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产业结构优化升级</a:t>
            </a:r>
            <a:r>
              <a:rPr lang="zh-CN" altLang="en-US" sz="2400" b="1">
                <a:latin typeface="宋体" panose="02010600030101010101" pitchFamily="2" charset="-122"/>
                <a:ea typeface="宋体" panose="02010600030101010101" pitchFamily="2" charset="-122"/>
                <a:cs typeface="宋体" panose="02010600030101010101" pitchFamily="2" charset="-122"/>
              </a:rPr>
              <a:t>。</a:t>
            </a:r>
            <a:r>
              <a:rPr lang="zh-CN" altLang="en-US" sz="2400" b="1">
                <a:solidFill>
                  <a:srgbClr val="FF0000"/>
                </a:solidFill>
                <a:highlight>
                  <a:srgbClr val="FFFF00"/>
                </a:highlight>
                <a:latin typeface="宋体" panose="02010600030101010101" pitchFamily="2" charset="-122"/>
                <a:ea typeface="宋体" panose="02010600030101010101" pitchFamily="2" charset="-122"/>
                <a:sym typeface="+mn-ea"/>
              </a:rPr>
              <a:t>（</a:t>
            </a:r>
            <a:r>
              <a:rPr lang="en-US" altLang="zh-CN" sz="2400" b="1">
                <a:solidFill>
                  <a:srgbClr val="FF0000"/>
                </a:solidFill>
                <a:highlight>
                  <a:srgbClr val="FFFF00"/>
                </a:highlight>
                <a:latin typeface="宋体" panose="02010600030101010101" pitchFamily="2" charset="-122"/>
                <a:ea typeface="宋体" panose="02010600030101010101" pitchFamily="2" charset="-122"/>
                <a:sym typeface="+mn-ea"/>
              </a:rPr>
              <a:t>2</a:t>
            </a:r>
            <a:r>
              <a:rPr lang="zh-CN" altLang="en-US" sz="2400" b="1">
                <a:solidFill>
                  <a:srgbClr val="FF0000"/>
                </a:solidFill>
                <a:highlight>
                  <a:srgbClr val="FFFF00"/>
                </a:highlight>
                <a:latin typeface="宋体" panose="02010600030101010101" pitchFamily="2" charset="-122"/>
                <a:ea typeface="宋体" panose="02010600030101010101" pitchFamily="2" charset="-122"/>
                <a:sym typeface="+mn-ea"/>
              </a:rPr>
              <a:t>分）</a:t>
            </a:r>
            <a:r>
              <a:rPr lang="zh-CN" altLang="en-US" sz="2400" b="1">
                <a:latin typeface="宋体" panose="02010600030101010101" pitchFamily="2" charset="-122"/>
                <a:ea typeface="宋体" panose="02010600030101010101" pitchFamily="2" charset="-122"/>
                <a:cs typeface="宋体" panose="02010600030101010101" pitchFamily="2" charset="-122"/>
              </a:rPr>
              <a:t>盘活农村闲置资源，促进城乡要素流动加速，</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助力乡村振兴</a:t>
            </a:r>
            <a:r>
              <a:rPr lang="zh-CN" altLang="en-US" sz="2400" b="1">
                <a:latin typeface="宋体" panose="02010600030101010101" pitchFamily="2" charset="-122"/>
                <a:ea typeface="宋体" panose="02010600030101010101" pitchFamily="2" charset="-122"/>
                <a:cs typeface="宋体" panose="02010600030101010101" pitchFamily="2" charset="-122"/>
              </a:rPr>
              <a:t>。</a:t>
            </a:r>
            <a:r>
              <a:rPr lang="zh-CN" altLang="en-US" sz="2400" b="1">
                <a:solidFill>
                  <a:srgbClr val="FF0000"/>
                </a:solidFill>
                <a:highlight>
                  <a:srgbClr val="FFFF00"/>
                </a:highlight>
                <a:latin typeface="宋体" panose="02010600030101010101" pitchFamily="2" charset="-122"/>
                <a:ea typeface="宋体" panose="02010600030101010101" pitchFamily="2" charset="-122"/>
                <a:sym typeface="+mn-ea"/>
              </a:rPr>
              <a:t>（</a:t>
            </a:r>
            <a:r>
              <a:rPr lang="en-US" altLang="zh-CN" sz="2400" b="1">
                <a:solidFill>
                  <a:srgbClr val="FF0000"/>
                </a:solidFill>
                <a:highlight>
                  <a:srgbClr val="FFFF00"/>
                </a:highlight>
                <a:latin typeface="宋体" panose="02010600030101010101" pitchFamily="2" charset="-122"/>
                <a:ea typeface="宋体" panose="02010600030101010101" pitchFamily="2" charset="-122"/>
                <a:sym typeface="+mn-ea"/>
              </a:rPr>
              <a:t>1</a:t>
            </a:r>
            <a:r>
              <a:rPr lang="zh-CN" altLang="en-US" sz="2400" b="1">
                <a:solidFill>
                  <a:srgbClr val="FF0000"/>
                </a:solidFill>
                <a:highlight>
                  <a:srgbClr val="FFFF00"/>
                </a:highlight>
                <a:latin typeface="宋体" panose="02010600030101010101" pitchFamily="2" charset="-122"/>
                <a:ea typeface="宋体" panose="02010600030101010101" pitchFamily="2" charset="-122"/>
                <a:sym typeface="+mn-ea"/>
              </a:rPr>
              <a:t>分）</a:t>
            </a:r>
            <a:r>
              <a:rPr lang="en-US" altLang="zh-CN" sz="2400" b="1">
                <a:latin typeface="宋体" panose="02010600030101010101" pitchFamily="2" charset="-122"/>
                <a:ea typeface="宋体" panose="02010600030101010101" pitchFamily="2" charset="-122"/>
                <a:cs typeface="宋体" panose="02010600030101010101" pitchFamily="2" charset="-122"/>
                <a:sym typeface="+mn-ea"/>
              </a:rPr>
              <a:t> </a:t>
            </a:r>
            <a:endParaRPr lang="zh-CN" altLang="en-US" sz="2400" b="1">
              <a:latin typeface="宋体" panose="02010600030101010101" pitchFamily="2" charset="-122"/>
              <a:ea typeface="宋体" panose="02010600030101010101" pitchFamily="2" charset="-122"/>
              <a:cs typeface="宋体" panose="02010600030101010101" pitchFamily="2" charset="-122"/>
            </a:endParaRPr>
          </a:p>
          <a:p>
            <a:pPr marL="0" indent="0" algn="just" defTabSz="266700">
              <a:lnSpc>
                <a:spcPct val="100000"/>
              </a:lnSpc>
              <a:spcBef>
                <a:spcPct val="0"/>
              </a:spcBef>
              <a:spcAft>
                <a:spcPct val="0"/>
              </a:spcAft>
            </a:pPr>
            <a:r>
              <a:rPr lang="zh-CN" altLang="en-US" sz="2400" b="1">
                <a:latin typeface="宋体" panose="02010600030101010101" pitchFamily="2" charset="-122"/>
                <a:ea typeface="宋体" panose="02010600030101010101" pitchFamily="2" charset="-122"/>
                <a:cs typeface="宋体" panose="02010600030101010101" pitchFamily="2" charset="-122"/>
              </a:rPr>
              <a:t> </a:t>
            </a:r>
            <a:r>
              <a:rPr lang="en-US" altLang="zh-CN" sz="2400" b="1">
                <a:latin typeface="宋体" panose="02010600030101010101" pitchFamily="2" charset="-122"/>
                <a:ea typeface="宋体" panose="02010600030101010101" pitchFamily="2" charset="-122"/>
                <a:cs typeface="宋体" panose="02010600030101010101" pitchFamily="2" charset="-122"/>
              </a:rPr>
              <a:t>   </a:t>
            </a:r>
            <a:r>
              <a:rPr lang="zh-CN" altLang="en-US" sz="2400" b="1">
                <a:latin typeface="宋体" panose="02010600030101010101" pitchFamily="2" charset="-122"/>
                <a:ea typeface="宋体" panose="02010600030101010101" pitchFamily="2" charset="-122"/>
                <a:cs typeface="宋体" panose="02010600030101010101" pitchFamily="2" charset="-122"/>
              </a:rPr>
              <a:t>坚持</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绿色发展理念</a:t>
            </a:r>
            <a:r>
              <a:rPr lang="zh-CN" altLang="en-US" sz="2400" b="1">
                <a:latin typeface="宋体" panose="02010600030101010101" pitchFamily="2" charset="-122"/>
                <a:ea typeface="宋体" panose="02010600030101010101" pitchFamily="2" charset="-122"/>
                <a:cs typeface="宋体" panose="02010600030101010101" pitchFamily="2" charset="-122"/>
              </a:rPr>
              <a:t>，将生态优势转化为发展优势，</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实现经济效益、社会效益与生态效益的统一</a:t>
            </a:r>
            <a:r>
              <a:rPr lang="zh-CN" altLang="en-US" sz="2400" b="1">
                <a:latin typeface="宋体" panose="02010600030101010101" pitchFamily="2" charset="-122"/>
                <a:ea typeface="宋体" panose="02010600030101010101" pitchFamily="2" charset="-122"/>
                <a:cs typeface="宋体" panose="02010600030101010101" pitchFamily="2" charset="-122"/>
              </a:rPr>
              <a:t>。</a:t>
            </a:r>
            <a:r>
              <a:rPr lang="zh-CN" altLang="en-US" sz="2400" b="1">
                <a:solidFill>
                  <a:srgbClr val="FF0000"/>
                </a:solidFill>
                <a:highlight>
                  <a:srgbClr val="FFFF00"/>
                </a:highlight>
                <a:latin typeface="宋体" panose="02010600030101010101" pitchFamily="2" charset="-122"/>
                <a:ea typeface="宋体" panose="02010600030101010101" pitchFamily="2" charset="-122"/>
                <a:sym typeface="+mn-ea"/>
              </a:rPr>
              <a:t>（</a:t>
            </a:r>
            <a:r>
              <a:rPr lang="en-US" altLang="zh-CN" sz="2400" b="1">
                <a:solidFill>
                  <a:srgbClr val="FF0000"/>
                </a:solidFill>
                <a:highlight>
                  <a:srgbClr val="FFFF00"/>
                </a:highlight>
                <a:latin typeface="宋体" panose="02010600030101010101" pitchFamily="2" charset="-122"/>
                <a:ea typeface="宋体" panose="02010600030101010101" pitchFamily="2" charset="-122"/>
                <a:sym typeface="+mn-ea"/>
              </a:rPr>
              <a:t>2</a:t>
            </a:r>
            <a:r>
              <a:rPr lang="zh-CN" altLang="en-US" sz="2400" b="1">
                <a:solidFill>
                  <a:srgbClr val="FF0000"/>
                </a:solidFill>
                <a:highlight>
                  <a:srgbClr val="FFFF00"/>
                </a:highlight>
                <a:latin typeface="宋体" panose="02010600030101010101" pitchFamily="2" charset="-122"/>
                <a:ea typeface="宋体" panose="02010600030101010101" pitchFamily="2" charset="-122"/>
                <a:sym typeface="+mn-ea"/>
              </a:rPr>
              <a:t>分）</a:t>
            </a:r>
            <a:r>
              <a:rPr lang="en-US" altLang="zh-CN" sz="2400" b="1">
                <a:latin typeface="宋体" panose="02010600030101010101" pitchFamily="2" charset="-122"/>
                <a:ea typeface="宋体" panose="02010600030101010101" pitchFamily="2" charset="-122"/>
                <a:cs typeface="宋体" panose="02010600030101010101" pitchFamily="2" charset="-122"/>
                <a:sym typeface="+mn-ea"/>
              </a:rPr>
              <a:t> </a:t>
            </a:r>
            <a:endParaRPr lang="zh-CN" altLang="en-US" sz="2400" b="1">
              <a:latin typeface="宋体" panose="02010600030101010101" pitchFamily="2" charset="-122"/>
              <a:ea typeface="宋体" panose="02010600030101010101" pitchFamily="2" charset="-122"/>
              <a:cs typeface="宋体" panose="02010600030101010101" pitchFamily="2" charset="-122"/>
            </a:endParaRPr>
          </a:p>
        </p:txBody>
      </p:sp>
      <p:sp>
        <p:nvSpPr>
          <p:cNvPr id="4" name="文本框 3"/>
          <p:cNvSpPr txBox="1"/>
          <p:nvPr/>
        </p:nvSpPr>
        <p:spPr>
          <a:xfrm>
            <a:off x="546735" y="4484370"/>
            <a:ext cx="11235690" cy="1891665"/>
          </a:xfrm>
          <a:prstGeom prst="rect">
            <a:avLst/>
          </a:prstGeom>
          <a:solidFill>
            <a:schemeClr val="accent2">
              <a:lumMod val="20000"/>
              <a:lumOff val="80000"/>
            </a:schemeClr>
          </a:solidFill>
        </p:spPr>
        <p:txBody>
          <a:bodyPr wrap="square" rtlCol="0">
            <a:noAutofit/>
          </a:bodyPr>
          <a:p>
            <a:r>
              <a:rPr lang="zh-CN" altLang="en-US" sz="2400">
                <a:latin typeface="黑体" panose="02010609060101010101" charset="-122"/>
                <a:ea typeface="黑体" panose="02010609060101010101" charset="-122"/>
              </a:rPr>
              <a:t>第一层：消费账（</a:t>
            </a:r>
            <a:r>
              <a:rPr lang="en-US" altLang="zh-CN" sz="2400">
                <a:latin typeface="黑体" panose="02010609060101010101" charset="-122"/>
                <a:ea typeface="黑体" panose="02010609060101010101" charset="-122"/>
              </a:rPr>
              <a:t>2</a:t>
            </a:r>
            <a:r>
              <a:rPr lang="zh-CN" altLang="en-US" sz="2400">
                <a:latin typeface="黑体" panose="02010609060101010101" charset="-122"/>
                <a:ea typeface="黑体" panose="02010609060101010101" charset="-122"/>
              </a:rPr>
              <a:t>知识</a:t>
            </a:r>
            <a:r>
              <a:rPr lang="en-US" altLang="zh-CN" sz="2400">
                <a:latin typeface="黑体" panose="02010609060101010101" charset="-122"/>
                <a:ea typeface="黑体" panose="02010609060101010101" charset="-122"/>
              </a:rPr>
              <a:t>+1</a:t>
            </a:r>
            <a:r>
              <a:rPr lang="zh-CN" altLang="en-US" sz="2400">
                <a:latin typeface="黑体" panose="02010609060101010101" charset="-122"/>
                <a:ea typeface="黑体" panose="02010609060101010101" charset="-122"/>
              </a:rPr>
              <a:t>材料）</a:t>
            </a:r>
            <a:endParaRPr lang="zh-CN" altLang="en-US" sz="2400">
              <a:latin typeface="黑体" panose="02010609060101010101" charset="-122"/>
              <a:ea typeface="黑体" panose="02010609060101010101" charset="-122"/>
            </a:endParaRPr>
          </a:p>
          <a:p>
            <a:r>
              <a:rPr lang="zh-CN" altLang="en-US" sz="2400">
                <a:latin typeface="黑体" panose="02010609060101010101" charset="-122"/>
                <a:ea typeface="黑体" panose="02010609060101010101" charset="-122"/>
              </a:rPr>
              <a:t>第二层：产业帐（</a:t>
            </a:r>
            <a:r>
              <a:rPr lang="en-US" altLang="zh-CN" sz="2400">
                <a:latin typeface="黑体" panose="02010609060101010101" charset="-122"/>
                <a:ea typeface="黑体" panose="02010609060101010101" charset="-122"/>
              </a:rPr>
              <a:t>2</a:t>
            </a:r>
            <a:r>
              <a:rPr lang="zh-CN" altLang="en-US" sz="2400">
                <a:latin typeface="黑体" panose="02010609060101010101" charset="-122"/>
                <a:ea typeface="黑体" panose="02010609060101010101" charset="-122"/>
              </a:rPr>
              <a:t>知识</a:t>
            </a:r>
            <a:r>
              <a:rPr lang="en-US" altLang="zh-CN" sz="2400">
                <a:latin typeface="黑体" panose="02010609060101010101" charset="-122"/>
                <a:ea typeface="黑体" panose="02010609060101010101" charset="-122"/>
              </a:rPr>
              <a:t>+1</a:t>
            </a:r>
            <a:r>
              <a:rPr lang="zh-CN" altLang="en-US" sz="2400">
                <a:latin typeface="黑体" panose="02010609060101010101" charset="-122"/>
                <a:ea typeface="黑体" panose="02010609060101010101" charset="-122"/>
              </a:rPr>
              <a:t>材料）</a:t>
            </a:r>
            <a:r>
              <a:rPr lang="en-US" altLang="zh-CN" sz="2400">
                <a:latin typeface="黑体" panose="02010609060101010101" charset="-122"/>
                <a:ea typeface="黑体" panose="02010609060101010101" charset="-122"/>
                <a:sym typeface="+mn-ea"/>
              </a:rPr>
              <a:t>     </a:t>
            </a:r>
            <a:endParaRPr lang="en-US" altLang="zh-CN" sz="2400">
              <a:latin typeface="黑体" panose="02010609060101010101" charset="-122"/>
              <a:ea typeface="黑体" panose="02010609060101010101" charset="-122"/>
              <a:sym typeface="+mn-ea"/>
            </a:endParaRPr>
          </a:p>
          <a:p>
            <a:r>
              <a:rPr lang="en-US" altLang="zh-CN" sz="2400">
                <a:latin typeface="黑体" panose="02010609060101010101" charset="-122"/>
                <a:ea typeface="黑体" panose="02010609060101010101" charset="-122"/>
                <a:sym typeface="+mn-ea"/>
              </a:rPr>
              <a:t>        </a:t>
            </a:r>
            <a:r>
              <a:rPr lang="zh-CN" altLang="en-US" sz="2400">
                <a:latin typeface="黑体" panose="02010609060101010101" charset="-122"/>
                <a:ea typeface="黑体" panose="02010609060101010101" charset="-122"/>
                <a:sym typeface="+mn-ea"/>
              </a:rPr>
              <a:t>知识（供给侧结构性改革、乡村振兴替换</a:t>
            </a:r>
            <a:r>
              <a:rPr lang="zh-CN" altLang="en-US" sz="2400">
                <a:latin typeface="黑体" panose="02010609060101010101" charset="-122"/>
                <a:ea typeface="黑体" panose="02010609060101010101" charset="-122"/>
                <a:sym typeface="+mn-ea"/>
              </a:rPr>
              <a:t>为城乡融合）</a:t>
            </a:r>
            <a:endParaRPr lang="zh-CN" altLang="en-US" sz="2400">
              <a:latin typeface="黑体" panose="02010609060101010101" charset="-122"/>
              <a:ea typeface="黑体" panose="02010609060101010101" charset="-122"/>
            </a:endParaRPr>
          </a:p>
          <a:p>
            <a:r>
              <a:rPr lang="zh-CN" altLang="en-US" sz="2400">
                <a:latin typeface="黑体" panose="02010609060101010101" charset="-122"/>
                <a:ea typeface="黑体" panose="02010609060101010101" charset="-122"/>
              </a:rPr>
              <a:t>第三层：生态账（</a:t>
            </a:r>
            <a:r>
              <a:rPr lang="en-US" altLang="zh-CN" sz="2400">
                <a:latin typeface="黑体" panose="02010609060101010101" charset="-122"/>
                <a:ea typeface="黑体" panose="02010609060101010101" charset="-122"/>
              </a:rPr>
              <a:t>2</a:t>
            </a:r>
            <a:r>
              <a:rPr lang="zh-CN" altLang="en-US" sz="2400">
                <a:latin typeface="黑体" panose="02010609060101010101" charset="-122"/>
                <a:ea typeface="黑体" panose="02010609060101010101" charset="-122"/>
              </a:rPr>
              <a:t>知识</a:t>
            </a:r>
            <a:r>
              <a:rPr lang="en-US" altLang="zh-CN" sz="2400">
                <a:latin typeface="黑体" panose="02010609060101010101" charset="-122"/>
                <a:ea typeface="黑体" panose="02010609060101010101" charset="-122"/>
              </a:rPr>
              <a:t>+</a:t>
            </a:r>
            <a:r>
              <a:rPr lang="zh-CN" altLang="en-US" sz="2400">
                <a:latin typeface="黑体" panose="02010609060101010101" charset="-122"/>
                <a:ea typeface="黑体" panose="02010609060101010101" charset="-122"/>
              </a:rPr>
              <a:t>材料不单独给</a:t>
            </a:r>
            <a:r>
              <a:rPr lang="zh-CN" altLang="en-US" sz="2400">
                <a:latin typeface="黑体" panose="02010609060101010101" charset="-122"/>
                <a:ea typeface="黑体" panose="02010609060101010101" charset="-122"/>
              </a:rPr>
              <a:t>分）</a:t>
            </a:r>
            <a:endParaRPr lang="zh-CN" altLang="en-US" sz="2400">
              <a:latin typeface="黑体" panose="02010609060101010101" charset="-122"/>
              <a:ea typeface="黑体" panose="02010609060101010101" charset="-122"/>
            </a:endParaRPr>
          </a:p>
          <a:p>
            <a:r>
              <a:rPr lang="en-US" altLang="zh-CN" sz="2400">
                <a:latin typeface="黑体" panose="02010609060101010101" charset="-122"/>
                <a:ea typeface="黑体" panose="02010609060101010101" charset="-122"/>
              </a:rPr>
              <a:t>        </a:t>
            </a:r>
            <a:r>
              <a:rPr lang="zh-CN" altLang="en-US" sz="2400">
                <a:latin typeface="黑体" panose="02010609060101010101" charset="-122"/>
                <a:ea typeface="黑体" panose="02010609060101010101" charset="-122"/>
              </a:rPr>
              <a:t>知识：绿色可替换为可持续</a:t>
            </a:r>
            <a:r>
              <a:rPr lang="zh-CN" altLang="en-US" sz="2400">
                <a:latin typeface="黑体" panose="02010609060101010101" charset="-122"/>
                <a:ea typeface="黑体" panose="02010609060101010101" charset="-122"/>
              </a:rPr>
              <a:t>发展</a:t>
            </a:r>
            <a:endParaRPr lang="zh-CN" altLang="en-US" sz="2400">
              <a:latin typeface="黑体" panose="02010609060101010101" charset="-122"/>
              <a:ea typeface="黑体" panose="02010609060101010101" charset="-122"/>
            </a:endParaRPr>
          </a:p>
        </p:txBody>
      </p:sp>
      <p:sp>
        <p:nvSpPr>
          <p:cNvPr id="5" name="文本框 4"/>
          <p:cNvSpPr txBox="1"/>
          <p:nvPr/>
        </p:nvSpPr>
        <p:spPr>
          <a:xfrm>
            <a:off x="546735" y="0"/>
            <a:ext cx="6096000" cy="521970"/>
          </a:xfrm>
          <a:prstGeom prst="rect">
            <a:avLst/>
          </a:prstGeom>
          <a:noFill/>
        </p:spPr>
        <p:txBody>
          <a:bodyPr wrap="square" rtlCol="0" anchor="t">
            <a:spAutoFit/>
          </a:bodyPr>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sym typeface="+mn-ea"/>
              </a:rPr>
              <a:t>二、变通答案</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sym typeface="+mn-ea"/>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表格 3"/>
          <p:cNvGraphicFramePr/>
          <p:nvPr/>
        </p:nvGraphicFramePr>
        <p:xfrm>
          <a:off x="434975" y="726440"/>
          <a:ext cx="11162030" cy="5657850"/>
        </p:xfrm>
        <a:graphic>
          <a:graphicData uri="http://schemas.openxmlformats.org/drawingml/2006/table">
            <a:tbl>
              <a:tblPr/>
              <a:tblGrid>
                <a:gridCol w="1191260"/>
                <a:gridCol w="6223000"/>
                <a:gridCol w="3747770"/>
              </a:tblGrid>
              <a:tr h="392430">
                <a:tc>
                  <a:txBody>
                    <a:bodyPr/>
                    <a:p>
                      <a:pPr marL="0" indent="0" algn="ctr">
                        <a:spcBef>
                          <a:spcPct val="0"/>
                        </a:spcBef>
                        <a:spcAft>
                          <a:spcPct val="0"/>
                        </a:spcAft>
                      </a:pPr>
                      <a:r>
                        <a:rPr lang="zh-CN" sz="2400" b="0">
                          <a:latin typeface="黑体" panose="02010609060101010101" charset="-122"/>
                          <a:ea typeface="黑体" panose="02010609060101010101" charset="-122"/>
                        </a:rPr>
                        <a:t>角度</a:t>
                      </a:r>
                      <a:endParaRPr lang="zh-CN" sz="2400" b="0">
                        <a:latin typeface="黑体" panose="02010609060101010101" charset="-122"/>
                        <a:ea typeface="黑体" panose="02010609060101010101"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zh-CN" sz="2400" b="0">
                          <a:latin typeface="黑体" panose="02010609060101010101" charset="-122"/>
                          <a:ea typeface="黑体" panose="02010609060101010101" charset="-122"/>
                        </a:rPr>
                        <a:t>知识</a:t>
                      </a:r>
                      <a:endParaRPr lang="zh-CN" sz="2400" b="0">
                        <a:latin typeface="黑体" panose="02010609060101010101" charset="-122"/>
                        <a:ea typeface="黑体" panose="02010609060101010101"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zh-CN" sz="2400" b="0">
                          <a:latin typeface="黑体" panose="02010609060101010101" charset="-122"/>
                          <a:ea typeface="黑体" panose="02010609060101010101" charset="-122"/>
                        </a:rPr>
                        <a:t>材料分析</a:t>
                      </a:r>
                      <a:endParaRPr lang="zh-CN" sz="2400" b="0">
                        <a:latin typeface="黑体" panose="02010609060101010101" charset="-122"/>
                        <a:ea typeface="黑体" panose="02010609060101010101"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953895">
                <a:tc>
                  <a:txBody>
                    <a:bodyPr/>
                    <a:p>
                      <a:pPr marL="0" indent="0" algn="ctr">
                        <a:spcBef>
                          <a:spcPct val="0"/>
                        </a:spcBef>
                        <a:spcAft>
                          <a:spcPct val="0"/>
                        </a:spcAft>
                      </a:pPr>
                      <a:r>
                        <a:rPr lang="zh-CN" sz="2400" b="0">
                          <a:latin typeface="黑体" panose="02010609060101010101" charset="-122"/>
                          <a:ea typeface="黑体" panose="02010609060101010101" charset="-122"/>
                          <a:cs typeface="黑体" panose="02010609060101010101" charset="-122"/>
                        </a:rPr>
                        <a:t>消费帐</a:t>
                      </a:r>
                      <a:endParaRPr lang="zh-CN" sz="2400" b="0">
                        <a:latin typeface="黑体" panose="02010609060101010101" charset="-122"/>
                        <a:ea typeface="黑体" panose="02010609060101010101" charset="-122"/>
                        <a:cs typeface="黑体" panose="02010609060101010101" charset="-122"/>
                      </a:endParaRPr>
                    </a:p>
                    <a:p>
                      <a:pPr marL="0" indent="0" algn="ctr">
                        <a:spcBef>
                          <a:spcPct val="0"/>
                        </a:spcBef>
                        <a:spcAft>
                          <a:spcPct val="0"/>
                        </a:spcAft>
                      </a:pPr>
                      <a:r>
                        <a:rPr lang="en-US" altLang="zh-CN" sz="2400" b="0">
                          <a:highlight>
                            <a:srgbClr val="FFFF00"/>
                          </a:highlight>
                          <a:latin typeface="黑体" panose="02010609060101010101" charset="-122"/>
                          <a:ea typeface="黑体" panose="02010609060101010101" charset="-122"/>
                          <a:cs typeface="黑体" panose="02010609060101010101" charset="-122"/>
                        </a:rPr>
                        <a:t>3</a:t>
                      </a:r>
                      <a:r>
                        <a:rPr lang="zh-CN" sz="2400" b="0">
                          <a:highlight>
                            <a:srgbClr val="FFFF00"/>
                          </a:highlight>
                          <a:latin typeface="黑体" panose="02010609060101010101" charset="-122"/>
                          <a:ea typeface="黑体" panose="02010609060101010101" charset="-122"/>
                          <a:cs typeface="黑体" panose="02010609060101010101" charset="-122"/>
                        </a:rPr>
                        <a:t>分</a:t>
                      </a:r>
                      <a:endParaRPr lang="zh-CN" sz="2400" b="0">
                        <a:highlight>
                          <a:srgbClr val="FFFF00"/>
                        </a:highlight>
                        <a:latin typeface="黑体" panose="02010609060101010101" charset="-122"/>
                        <a:ea typeface="黑体" panose="02010609060101010101" charset="-122"/>
                        <a:cs typeface="黑体" panose="02010609060101010101"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zh-CN" sz="2400" b="0">
                          <a:latin typeface="黑体" panose="02010609060101010101" charset="-122"/>
                          <a:ea typeface="黑体" panose="02010609060101010101" charset="-122"/>
                          <a:cs typeface="黑体" panose="02010609060101010101" charset="-122"/>
                        </a:rPr>
                        <a:t>充分发挥市场在资源配置中的决定性作用</a:t>
                      </a:r>
                      <a:r>
                        <a:rPr lang="en-US" altLang="zh-CN" sz="2400" b="0">
                          <a:highlight>
                            <a:srgbClr val="FFFF00"/>
                          </a:highlight>
                          <a:latin typeface="黑体" panose="02010609060101010101" charset="-122"/>
                          <a:ea typeface="黑体" panose="02010609060101010101" charset="-122"/>
                          <a:cs typeface="黑体" panose="02010609060101010101" charset="-122"/>
                        </a:rPr>
                        <a:t>1</a:t>
                      </a:r>
                      <a:r>
                        <a:rPr lang="zh-CN" sz="2400" b="0">
                          <a:highlight>
                            <a:srgbClr val="FFFF00"/>
                          </a:highlight>
                          <a:latin typeface="黑体" panose="02010609060101010101" charset="-122"/>
                          <a:ea typeface="黑体" panose="02010609060101010101" charset="-122"/>
                          <a:cs typeface="黑体" panose="02010609060101010101" charset="-122"/>
                        </a:rPr>
                        <a:t>分</a:t>
                      </a:r>
                      <a:endParaRPr lang="zh-CN" sz="2400" b="0">
                        <a:highlight>
                          <a:srgbClr val="FFFF00"/>
                        </a:highlight>
                        <a:latin typeface="黑体" panose="02010609060101010101" charset="-122"/>
                        <a:ea typeface="黑体" panose="02010609060101010101" charset="-122"/>
                        <a:cs typeface="黑体" panose="02010609060101010101" charset="-122"/>
                      </a:endParaRPr>
                    </a:p>
                    <a:p>
                      <a:pPr marL="0" indent="0" algn="just">
                        <a:spcBef>
                          <a:spcPct val="0"/>
                        </a:spcBef>
                        <a:spcAft>
                          <a:spcPct val="0"/>
                        </a:spcAft>
                      </a:pPr>
                      <a:r>
                        <a:rPr lang="zh-CN" sz="2400" b="0">
                          <a:latin typeface="黑体" panose="02010609060101010101" charset="-122"/>
                          <a:ea typeface="黑体" panose="02010609060101010101" charset="-122"/>
                          <a:cs typeface="黑体" panose="02010609060101010101" charset="-122"/>
                        </a:rPr>
                        <a:t>发挥消费对经济发展的基础性作用</a:t>
                      </a:r>
                      <a:r>
                        <a:rPr lang="en-US" altLang="zh-CN" sz="2400" b="0">
                          <a:latin typeface="黑体" panose="02010609060101010101" charset="-122"/>
                          <a:ea typeface="黑体" panose="02010609060101010101" charset="-122"/>
                          <a:cs typeface="黑体" panose="02010609060101010101" charset="-122"/>
                        </a:rPr>
                        <a:t>/</a:t>
                      </a:r>
                      <a:r>
                        <a:rPr lang="zh-CN" sz="2400" b="0">
                          <a:latin typeface="黑体" panose="02010609060101010101" charset="-122"/>
                          <a:ea typeface="黑体" panose="02010609060101010101" charset="-122"/>
                          <a:cs typeface="黑体" panose="02010609060101010101" charset="-122"/>
                        </a:rPr>
                        <a:t>需求牵引供给</a:t>
                      </a:r>
                      <a:r>
                        <a:rPr lang="en-US" altLang="zh-CN" sz="2400" b="0">
                          <a:latin typeface="黑体" panose="02010609060101010101" charset="-122"/>
                          <a:ea typeface="黑体" panose="02010609060101010101" charset="-122"/>
                          <a:cs typeface="黑体" panose="02010609060101010101" charset="-122"/>
                        </a:rPr>
                        <a:t>/</a:t>
                      </a:r>
                      <a:r>
                        <a:rPr lang="zh-CN" sz="2400" b="0">
                          <a:latin typeface="黑体" panose="02010609060101010101" charset="-122"/>
                          <a:ea typeface="黑体" panose="02010609060101010101" charset="-122"/>
                          <a:cs typeface="黑体" panose="02010609060101010101" charset="-122"/>
                        </a:rPr>
                        <a:t>扩大内需</a:t>
                      </a:r>
                      <a:r>
                        <a:rPr lang="en-US" altLang="zh-CN" sz="2400" b="0">
                          <a:latin typeface="黑体" panose="02010609060101010101" charset="-122"/>
                          <a:ea typeface="黑体" panose="02010609060101010101" charset="-122"/>
                          <a:cs typeface="黑体" panose="02010609060101010101" charset="-122"/>
                        </a:rPr>
                        <a:t>/</a:t>
                      </a:r>
                      <a:r>
                        <a:rPr lang="en-US" altLang="zh-CN" sz="2400" b="0">
                          <a:highlight>
                            <a:srgbClr val="FFFF00"/>
                          </a:highlight>
                          <a:latin typeface="黑体" panose="02010609060101010101" charset="-122"/>
                          <a:ea typeface="黑体" panose="02010609060101010101" charset="-122"/>
                          <a:cs typeface="黑体" panose="02010609060101010101" charset="-122"/>
                        </a:rPr>
                        <a:t>1</a:t>
                      </a:r>
                      <a:r>
                        <a:rPr lang="zh-CN" sz="2400" b="0">
                          <a:highlight>
                            <a:srgbClr val="FFFF00"/>
                          </a:highlight>
                          <a:latin typeface="黑体" panose="02010609060101010101" charset="-122"/>
                          <a:ea typeface="黑体" panose="02010609060101010101" charset="-122"/>
                          <a:cs typeface="黑体" panose="02010609060101010101" charset="-122"/>
                        </a:rPr>
                        <a:t>分</a:t>
                      </a:r>
                      <a:endParaRPr lang="zh-CN" sz="2400" b="0">
                        <a:solidFill>
                          <a:srgbClr val="C00000"/>
                        </a:solidFill>
                        <a:highlight>
                          <a:srgbClr val="FFFF00"/>
                        </a:highlight>
                        <a:latin typeface="黑体" panose="02010609060101010101" charset="-122"/>
                        <a:ea typeface="黑体" panose="02010609060101010101" charset="-122"/>
                        <a:cs typeface="黑体" panose="02010609060101010101"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zh-CN" sz="2400" b="0">
                          <a:latin typeface="黑体" panose="02010609060101010101" charset="-122"/>
                          <a:ea typeface="黑体" panose="02010609060101010101" charset="-122"/>
                          <a:cs typeface="黑体" panose="02010609060101010101" charset="-122"/>
                        </a:rPr>
                        <a:t>围绕赏花经济促进消费推动发展展开论述</a:t>
                      </a:r>
                      <a:r>
                        <a:rPr lang="en-US" altLang="zh-CN" sz="2400" b="0">
                          <a:highlight>
                            <a:srgbClr val="FFFF00"/>
                          </a:highlight>
                          <a:latin typeface="黑体" panose="02010609060101010101" charset="-122"/>
                          <a:ea typeface="黑体" panose="02010609060101010101" charset="-122"/>
                          <a:cs typeface="黑体" panose="02010609060101010101" charset="-122"/>
                        </a:rPr>
                        <a:t>1</a:t>
                      </a:r>
                      <a:r>
                        <a:rPr lang="zh-CN" sz="2400" b="0">
                          <a:highlight>
                            <a:srgbClr val="FFFF00"/>
                          </a:highlight>
                          <a:latin typeface="黑体" panose="02010609060101010101" charset="-122"/>
                          <a:ea typeface="黑体" panose="02010609060101010101" charset="-122"/>
                          <a:cs typeface="黑体" panose="02010609060101010101" charset="-122"/>
                        </a:rPr>
                        <a:t>分</a:t>
                      </a:r>
                      <a:endParaRPr lang="zh-CN" sz="2400" b="0">
                        <a:highlight>
                          <a:srgbClr val="FFFF00"/>
                        </a:highlight>
                        <a:latin typeface="黑体" panose="02010609060101010101" charset="-122"/>
                        <a:ea typeface="黑体" panose="02010609060101010101" charset="-122"/>
                        <a:cs typeface="黑体" panose="02010609060101010101" charset="-122"/>
                      </a:endParaRPr>
                    </a:p>
                    <a:p>
                      <a:pPr marL="0" indent="0" algn="just">
                        <a:spcBef>
                          <a:spcPct val="0"/>
                        </a:spcBef>
                        <a:spcAft>
                          <a:spcPct val="0"/>
                        </a:spcAft>
                      </a:pPr>
                      <a:r>
                        <a:rPr lang="zh-CN" sz="2000" b="1">
                          <a:solidFill>
                            <a:srgbClr val="FF0000"/>
                          </a:solidFill>
                          <a:latin typeface="黑体" panose="02010609060101010101" charset="-122"/>
                          <a:ea typeface="黑体" panose="02010609060101010101" charset="-122"/>
                          <a:cs typeface="黑体" panose="02010609060101010101" charset="-122"/>
                        </a:rPr>
                        <a:t>例：面向市场需求</a:t>
                      </a:r>
                      <a:r>
                        <a:rPr lang="en-US" altLang="zh-CN" sz="2000" b="1">
                          <a:solidFill>
                            <a:srgbClr val="FF0000"/>
                          </a:solidFill>
                          <a:latin typeface="黑体" panose="02010609060101010101" charset="-122"/>
                          <a:ea typeface="黑体" panose="02010609060101010101" charset="-122"/>
                          <a:cs typeface="黑体" panose="02010609060101010101" charset="-122"/>
                        </a:rPr>
                        <a:t>，</a:t>
                      </a:r>
                      <a:r>
                        <a:rPr lang="zh-CN" sz="2000" b="1">
                          <a:solidFill>
                            <a:srgbClr val="FF0000"/>
                          </a:solidFill>
                          <a:latin typeface="黑体" panose="02010609060101010101" charset="-122"/>
                          <a:ea typeface="黑体" panose="02010609060101010101" charset="-122"/>
                          <a:cs typeface="黑体" panose="02010609060101010101" charset="-122"/>
                        </a:rPr>
                        <a:t>以体验经济激活消费潜力</a:t>
                      </a:r>
                      <a:r>
                        <a:rPr lang="en-US" altLang="zh-CN" sz="2000" b="1">
                          <a:solidFill>
                            <a:srgbClr val="FF0000"/>
                          </a:solidFill>
                          <a:latin typeface="黑体" panose="02010609060101010101" charset="-122"/>
                          <a:ea typeface="黑体" panose="02010609060101010101" charset="-122"/>
                          <a:cs typeface="黑体" panose="02010609060101010101" charset="-122"/>
                        </a:rPr>
                        <a:t>。</a:t>
                      </a:r>
                      <a:endParaRPr lang="en-US" altLang="zh-CN" sz="2000" b="1">
                        <a:solidFill>
                          <a:srgbClr val="FF0000"/>
                        </a:solidFill>
                        <a:highlight>
                          <a:srgbClr val="FFFF00"/>
                        </a:highlight>
                        <a:latin typeface="黑体" panose="02010609060101010101" charset="-122"/>
                        <a:ea typeface="黑体" panose="02010609060101010101" charset="-122"/>
                        <a:cs typeface="黑体" panose="02010609060101010101"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99895">
                <a:tc>
                  <a:txBody>
                    <a:bodyPr/>
                    <a:p>
                      <a:pPr marL="0" indent="0" algn="ctr">
                        <a:spcBef>
                          <a:spcPct val="0"/>
                        </a:spcBef>
                        <a:spcAft>
                          <a:spcPct val="0"/>
                        </a:spcAft>
                      </a:pPr>
                      <a:r>
                        <a:rPr lang="zh-CN" sz="2400" b="0">
                          <a:latin typeface="黑体" panose="02010609060101010101" charset="-122"/>
                          <a:ea typeface="黑体" panose="02010609060101010101" charset="-122"/>
                          <a:cs typeface="黑体" panose="02010609060101010101" charset="-122"/>
                        </a:rPr>
                        <a:t>产业</a:t>
                      </a:r>
                      <a:r>
                        <a:rPr lang="zh-CN" sz="2400" b="0">
                          <a:latin typeface="黑体" panose="02010609060101010101" charset="-122"/>
                          <a:ea typeface="黑体" panose="02010609060101010101" charset="-122"/>
                          <a:cs typeface="黑体" panose="02010609060101010101" charset="-122"/>
                          <a:sym typeface="+mn-ea"/>
                        </a:rPr>
                        <a:t>帐</a:t>
                      </a:r>
                      <a:endParaRPr lang="zh-CN" sz="2400" b="0">
                        <a:latin typeface="黑体" panose="02010609060101010101" charset="-122"/>
                        <a:ea typeface="黑体" panose="02010609060101010101" charset="-122"/>
                        <a:cs typeface="黑体" panose="02010609060101010101" charset="-122"/>
                      </a:endParaRPr>
                    </a:p>
                    <a:p>
                      <a:pPr marL="0" indent="0" algn="ctr">
                        <a:spcBef>
                          <a:spcPct val="0"/>
                        </a:spcBef>
                        <a:spcAft>
                          <a:spcPct val="0"/>
                        </a:spcAft>
                      </a:pPr>
                      <a:r>
                        <a:rPr lang="en-US" altLang="zh-CN" sz="2400" b="0">
                          <a:highlight>
                            <a:srgbClr val="FFFF00"/>
                          </a:highlight>
                          <a:latin typeface="黑体" panose="02010609060101010101" charset="-122"/>
                          <a:ea typeface="黑体" panose="02010609060101010101" charset="-122"/>
                          <a:cs typeface="黑体" panose="02010609060101010101" charset="-122"/>
                        </a:rPr>
                        <a:t>3</a:t>
                      </a:r>
                      <a:r>
                        <a:rPr lang="zh-CN" sz="2400" b="0">
                          <a:highlight>
                            <a:srgbClr val="FFFF00"/>
                          </a:highlight>
                          <a:latin typeface="黑体" panose="02010609060101010101" charset="-122"/>
                          <a:ea typeface="黑体" panose="02010609060101010101" charset="-122"/>
                          <a:cs typeface="黑体" panose="02010609060101010101" charset="-122"/>
                        </a:rPr>
                        <a:t>分</a:t>
                      </a:r>
                      <a:endParaRPr lang="zh-CN" sz="2400" b="0">
                        <a:highlight>
                          <a:srgbClr val="FFFF00"/>
                        </a:highlight>
                        <a:latin typeface="黑体" panose="02010609060101010101" charset="-122"/>
                        <a:ea typeface="黑体" panose="02010609060101010101" charset="-122"/>
                        <a:cs typeface="黑体" panose="02010609060101010101"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zh-CN" sz="2400" b="0">
                          <a:latin typeface="黑体" panose="02010609060101010101" charset="-122"/>
                          <a:ea typeface="黑体" panose="02010609060101010101" charset="-122"/>
                          <a:cs typeface="黑体" panose="02010609060101010101" charset="-122"/>
                        </a:rPr>
                        <a:t>产业结构优化升级</a:t>
                      </a:r>
                      <a:r>
                        <a:rPr lang="en-US" altLang="zh-CN" sz="2400" b="0">
                          <a:latin typeface="黑体" panose="02010609060101010101" charset="-122"/>
                          <a:ea typeface="黑体" panose="02010609060101010101" charset="-122"/>
                          <a:cs typeface="黑体" panose="02010609060101010101" charset="-122"/>
                        </a:rPr>
                        <a:t>/</a:t>
                      </a:r>
                      <a:r>
                        <a:rPr lang="zh-CN" sz="2400" b="0">
                          <a:latin typeface="黑体" panose="02010609060101010101" charset="-122"/>
                          <a:ea typeface="黑体" panose="02010609060101010101" charset="-122"/>
                          <a:cs typeface="黑体" panose="02010609060101010101" charset="-122"/>
                        </a:rPr>
                        <a:t>供给侧结构性改革</a:t>
                      </a:r>
                      <a:r>
                        <a:rPr lang="en-US" altLang="zh-CN" sz="2400" b="0">
                          <a:latin typeface="黑体" panose="02010609060101010101" charset="-122"/>
                          <a:ea typeface="黑体" panose="02010609060101010101" charset="-122"/>
                          <a:cs typeface="黑体" panose="02010609060101010101" charset="-122"/>
                        </a:rPr>
                        <a:t>/</a:t>
                      </a:r>
                      <a:r>
                        <a:rPr lang="zh-CN" altLang="en-US" sz="2400" b="0">
                          <a:latin typeface="黑体" panose="02010609060101010101" charset="-122"/>
                          <a:ea typeface="黑体" panose="02010609060101010101" charset="-122"/>
                          <a:cs typeface="黑体" panose="02010609060101010101" charset="-122"/>
                        </a:rPr>
                        <a:t>现代化产业体系</a:t>
                      </a:r>
                      <a:r>
                        <a:rPr lang="en-US" altLang="zh-CN" sz="2400" b="0">
                          <a:highlight>
                            <a:srgbClr val="FFFF00"/>
                          </a:highlight>
                          <a:latin typeface="黑体" panose="02010609060101010101" charset="-122"/>
                          <a:ea typeface="黑体" panose="02010609060101010101" charset="-122"/>
                          <a:cs typeface="黑体" panose="02010609060101010101" charset="-122"/>
                        </a:rPr>
                        <a:t>1</a:t>
                      </a:r>
                      <a:r>
                        <a:rPr lang="zh-CN" sz="2400" b="0">
                          <a:highlight>
                            <a:srgbClr val="FFFF00"/>
                          </a:highlight>
                          <a:latin typeface="黑体" panose="02010609060101010101" charset="-122"/>
                          <a:ea typeface="黑体" panose="02010609060101010101" charset="-122"/>
                          <a:cs typeface="黑体" panose="02010609060101010101" charset="-122"/>
                        </a:rPr>
                        <a:t>分</a:t>
                      </a:r>
                      <a:endParaRPr lang="zh-CN" sz="2400" b="0">
                        <a:highlight>
                          <a:srgbClr val="FFFF00"/>
                        </a:highlight>
                        <a:latin typeface="黑体" panose="02010609060101010101" charset="-122"/>
                        <a:ea typeface="黑体" panose="02010609060101010101" charset="-122"/>
                        <a:cs typeface="黑体" panose="02010609060101010101" charset="-122"/>
                      </a:endParaRPr>
                    </a:p>
                    <a:p>
                      <a:pPr marL="0" indent="0" algn="just">
                        <a:spcBef>
                          <a:spcPct val="0"/>
                        </a:spcBef>
                        <a:spcAft>
                          <a:spcPct val="0"/>
                        </a:spcAft>
                      </a:pPr>
                      <a:r>
                        <a:rPr lang="zh-CN" sz="2400" b="0">
                          <a:latin typeface="黑体" panose="02010609060101010101" charset="-122"/>
                          <a:ea typeface="黑体" panose="02010609060101010101" charset="-122"/>
                          <a:cs typeface="黑体" panose="02010609060101010101" charset="-122"/>
                        </a:rPr>
                        <a:t>城乡融合</a:t>
                      </a:r>
                      <a:r>
                        <a:rPr lang="en-US" altLang="zh-CN" sz="2400" b="0">
                          <a:latin typeface="黑体" panose="02010609060101010101" charset="-122"/>
                          <a:ea typeface="黑体" panose="02010609060101010101" charset="-122"/>
                          <a:cs typeface="黑体" panose="02010609060101010101" charset="-122"/>
                        </a:rPr>
                        <a:t>/</a:t>
                      </a:r>
                      <a:r>
                        <a:rPr lang="zh-CN" sz="2400" b="0">
                          <a:latin typeface="黑体" panose="02010609060101010101" charset="-122"/>
                          <a:ea typeface="黑体" panose="02010609060101010101" charset="-122"/>
                          <a:cs typeface="黑体" panose="02010609060101010101" charset="-122"/>
                        </a:rPr>
                        <a:t>协调发展理念</a:t>
                      </a:r>
                      <a:r>
                        <a:rPr lang="en-US" altLang="zh-CN" sz="2400" b="0">
                          <a:latin typeface="黑体" panose="02010609060101010101" charset="-122"/>
                          <a:ea typeface="黑体" panose="02010609060101010101" charset="-122"/>
                          <a:cs typeface="黑体" panose="02010609060101010101" charset="-122"/>
                        </a:rPr>
                        <a:t>/</a:t>
                      </a:r>
                      <a:r>
                        <a:rPr lang="zh-CN" sz="2400" b="0">
                          <a:latin typeface="黑体" panose="02010609060101010101" charset="-122"/>
                          <a:ea typeface="黑体" panose="02010609060101010101" charset="-122"/>
                          <a:cs typeface="黑体" panose="02010609060101010101" charset="-122"/>
                        </a:rPr>
                        <a:t>乡村振兴</a:t>
                      </a:r>
                      <a:r>
                        <a:rPr lang="en-US" altLang="zh-CN" sz="2400" b="0">
                          <a:highlight>
                            <a:srgbClr val="FFFF00"/>
                          </a:highlight>
                          <a:latin typeface="黑体" panose="02010609060101010101" charset="-122"/>
                          <a:ea typeface="黑体" panose="02010609060101010101" charset="-122"/>
                          <a:cs typeface="黑体" panose="02010609060101010101" charset="-122"/>
                        </a:rPr>
                        <a:t>1</a:t>
                      </a:r>
                      <a:r>
                        <a:rPr lang="zh-CN" sz="2400" b="0">
                          <a:highlight>
                            <a:srgbClr val="FFFF00"/>
                          </a:highlight>
                          <a:latin typeface="黑体" panose="02010609060101010101" charset="-122"/>
                          <a:ea typeface="黑体" panose="02010609060101010101" charset="-122"/>
                          <a:cs typeface="黑体" panose="02010609060101010101" charset="-122"/>
                        </a:rPr>
                        <a:t>分</a:t>
                      </a:r>
                      <a:endParaRPr lang="zh-CN" sz="2400" b="0">
                        <a:highlight>
                          <a:srgbClr val="FFFF00"/>
                        </a:highlight>
                        <a:latin typeface="黑体" panose="02010609060101010101" charset="-122"/>
                        <a:ea typeface="黑体" panose="02010609060101010101" charset="-122"/>
                        <a:cs typeface="黑体" panose="02010609060101010101"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zh-CN" sz="2400" b="0">
                          <a:latin typeface="黑体" panose="02010609060101010101" charset="-122"/>
                          <a:ea typeface="黑体" panose="02010609060101010101" charset="-122"/>
                          <a:cs typeface="黑体" panose="02010609060101010101" charset="-122"/>
                        </a:rPr>
                        <a:t>围绕赏花经济促进产业融合或城乡融合展开论述</a:t>
                      </a:r>
                      <a:r>
                        <a:rPr lang="en-US" altLang="zh-CN" sz="2400" b="0">
                          <a:highlight>
                            <a:srgbClr val="FFFF00"/>
                          </a:highlight>
                          <a:latin typeface="黑体" panose="02010609060101010101" charset="-122"/>
                          <a:ea typeface="黑体" panose="02010609060101010101" charset="-122"/>
                          <a:cs typeface="黑体" panose="02010609060101010101" charset="-122"/>
                        </a:rPr>
                        <a:t>1</a:t>
                      </a:r>
                      <a:r>
                        <a:rPr lang="zh-CN" sz="2400" b="0">
                          <a:highlight>
                            <a:srgbClr val="FFFF00"/>
                          </a:highlight>
                          <a:latin typeface="黑体" panose="02010609060101010101" charset="-122"/>
                          <a:ea typeface="黑体" panose="02010609060101010101" charset="-122"/>
                          <a:cs typeface="黑体" panose="02010609060101010101" charset="-122"/>
                        </a:rPr>
                        <a:t>分</a:t>
                      </a:r>
                      <a:endParaRPr lang="zh-CN" sz="2400" b="0">
                        <a:highlight>
                          <a:srgbClr val="FFFF00"/>
                        </a:highlight>
                        <a:latin typeface="黑体" panose="02010609060101010101" charset="-122"/>
                        <a:ea typeface="黑体" panose="02010609060101010101" charset="-122"/>
                        <a:cs typeface="黑体" panose="02010609060101010101" charset="-122"/>
                      </a:endParaRPr>
                    </a:p>
                    <a:p>
                      <a:pPr marL="0" algn="just">
                        <a:buClrTx/>
                        <a:buSzTx/>
                        <a:buFontTx/>
                      </a:pPr>
                      <a:r>
                        <a:rPr lang="zh-CN" sz="2000" b="0">
                          <a:solidFill>
                            <a:srgbClr val="FF0000"/>
                          </a:solidFill>
                          <a:latin typeface="宋体" panose="02010600030101010101" pitchFamily="2" charset="-122"/>
                          <a:ea typeface="宋体" panose="02010600030101010101" pitchFamily="2" charset="-122"/>
                          <a:cs typeface="黑体" panose="02010609060101010101" charset="-122"/>
                        </a:rPr>
                        <a:t>例：坚持以花为纽带，串起农业、制造业和服务业。</a:t>
                      </a:r>
                      <a:endParaRPr lang="zh-CN" sz="2000" b="0">
                        <a:solidFill>
                          <a:srgbClr val="FF0000"/>
                        </a:solidFill>
                        <a:latin typeface="宋体" panose="02010600030101010101" pitchFamily="2" charset="-122"/>
                        <a:ea typeface="宋体" panose="02010600030101010101" pitchFamily="2" charset="-122"/>
                        <a:cs typeface="黑体" panose="02010609060101010101" charset="-122"/>
                      </a:endParaRPr>
                    </a:p>
                    <a:p>
                      <a:pPr marL="0" algn="just">
                        <a:buClrTx/>
                        <a:buSzTx/>
                        <a:buFontTx/>
                      </a:pPr>
                      <a:r>
                        <a:rPr lang="zh-CN" sz="2000" b="0">
                          <a:solidFill>
                            <a:srgbClr val="FF0000"/>
                          </a:solidFill>
                          <a:latin typeface="宋体" panose="02010600030101010101" pitchFamily="2" charset="-122"/>
                          <a:ea typeface="宋体" panose="02010600030101010101" pitchFamily="2" charset="-122"/>
                          <a:cs typeface="黑体" panose="02010609060101010101" charset="-122"/>
                        </a:rPr>
                        <a:t>盘活农村闲置资源，促进城乡要素流动</a:t>
                      </a:r>
                      <a:endParaRPr lang="zh-CN" sz="2000" b="0">
                        <a:solidFill>
                          <a:srgbClr val="FF0000"/>
                        </a:solidFill>
                        <a:latin typeface="宋体" panose="02010600030101010101" pitchFamily="2" charset="-122"/>
                        <a:ea typeface="宋体" panose="02010600030101010101" pitchFamily="2" charset="-122"/>
                        <a:cs typeface="黑体" panose="02010609060101010101"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360805">
                <a:tc>
                  <a:txBody>
                    <a:bodyPr/>
                    <a:p>
                      <a:pPr marL="0" indent="0" algn="ctr">
                        <a:spcBef>
                          <a:spcPct val="0"/>
                        </a:spcBef>
                        <a:spcAft>
                          <a:spcPct val="0"/>
                        </a:spcAft>
                      </a:pPr>
                      <a:r>
                        <a:rPr lang="zh-CN" sz="2400" b="0">
                          <a:latin typeface="黑体" panose="02010609060101010101" charset="-122"/>
                          <a:ea typeface="黑体" panose="02010609060101010101" charset="-122"/>
                          <a:cs typeface="黑体" panose="02010609060101010101" charset="-122"/>
                        </a:rPr>
                        <a:t>生态</a:t>
                      </a:r>
                      <a:r>
                        <a:rPr lang="zh-CN" sz="2400" b="0">
                          <a:latin typeface="黑体" panose="02010609060101010101" charset="-122"/>
                          <a:ea typeface="黑体" panose="02010609060101010101" charset="-122"/>
                          <a:cs typeface="黑体" panose="02010609060101010101" charset="-122"/>
                          <a:sym typeface="+mn-ea"/>
                        </a:rPr>
                        <a:t>帐</a:t>
                      </a:r>
                      <a:endParaRPr lang="zh-CN" sz="2400" b="0">
                        <a:latin typeface="黑体" panose="02010609060101010101" charset="-122"/>
                        <a:ea typeface="黑体" panose="02010609060101010101" charset="-122"/>
                        <a:cs typeface="黑体" panose="02010609060101010101" charset="-122"/>
                      </a:endParaRPr>
                    </a:p>
                    <a:p>
                      <a:pPr marL="0" indent="0" algn="ctr">
                        <a:spcBef>
                          <a:spcPct val="0"/>
                        </a:spcBef>
                        <a:spcAft>
                          <a:spcPct val="0"/>
                        </a:spcAft>
                      </a:pPr>
                      <a:r>
                        <a:rPr lang="en-US" altLang="zh-CN" sz="2400" b="0">
                          <a:highlight>
                            <a:srgbClr val="FFFF00"/>
                          </a:highlight>
                          <a:latin typeface="黑体" panose="02010609060101010101" charset="-122"/>
                          <a:ea typeface="黑体" panose="02010609060101010101" charset="-122"/>
                          <a:cs typeface="黑体" panose="02010609060101010101" charset="-122"/>
                        </a:rPr>
                        <a:t>2</a:t>
                      </a:r>
                      <a:r>
                        <a:rPr lang="zh-CN" sz="2400" b="0">
                          <a:highlight>
                            <a:srgbClr val="FFFF00"/>
                          </a:highlight>
                          <a:latin typeface="黑体" panose="02010609060101010101" charset="-122"/>
                          <a:ea typeface="黑体" panose="02010609060101010101" charset="-122"/>
                          <a:cs typeface="黑体" panose="02010609060101010101" charset="-122"/>
                        </a:rPr>
                        <a:t>分</a:t>
                      </a:r>
                      <a:endParaRPr lang="zh-CN" sz="2400" b="0">
                        <a:highlight>
                          <a:srgbClr val="FFFF00"/>
                        </a:highlight>
                        <a:latin typeface="黑体" panose="02010609060101010101" charset="-122"/>
                        <a:ea typeface="黑体" panose="02010609060101010101" charset="-122"/>
                        <a:cs typeface="黑体" panose="02010609060101010101"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zh-CN" sz="2400" b="0">
                          <a:latin typeface="黑体" panose="02010609060101010101" charset="-122"/>
                          <a:ea typeface="黑体" panose="02010609060101010101" charset="-122"/>
                          <a:cs typeface="黑体" panose="02010609060101010101" charset="-122"/>
                        </a:rPr>
                        <a:t>绿色发展理念</a:t>
                      </a:r>
                      <a:r>
                        <a:rPr lang="en-US" altLang="zh-CN" sz="2400" b="0">
                          <a:latin typeface="黑体" panose="02010609060101010101" charset="-122"/>
                          <a:ea typeface="黑体" panose="02010609060101010101" charset="-122"/>
                          <a:cs typeface="黑体" panose="02010609060101010101" charset="-122"/>
                        </a:rPr>
                        <a:t>/</a:t>
                      </a:r>
                      <a:r>
                        <a:rPr lang="zh-CN" sz="2400" b="0">
                          <a:latin typeface="黑体" panose="02010609060101010101" charset="-122"/>
                          <a:ea typeface="黑体" panose="02010609060101010101" charset="-122"/>
                          <a:cs typeface="黑体" panose="02010609060101010101" charset="-122"/>
                        </a:rPr>
                        <a:t>可持续发展</a:t>
                      </a:r>
                      <a:r>
                        <a:rPr lang="en-US" altLang="zh-CN" sz="2400" b="0">
                          <a:highlight>
                            <a:srgbClr val="FFFF00"/>
                          </a:highlight>
                          <a:latin typeface="黑体" panose="02010609060101010101" charset="-122"/>
                          <a:ea typeface="黑体" panose="02010609060101010101" charset="-122"/>
                          <a:cs typeface="黑体" panose="02010609060101010101" charset="-122"/>
                        </a:rPr>
                        <a:t>1</a:t>
                      </a:r>
                      <a:r>
                        <a:rPr lang="zh-CN" sz="2400" b="0">
                          <a:highlight>
                            <a:srgbClr val="FFFF00"/>
                          </a:highlight>
                          <a:latin typeface="黑体" panose="02010609060101010101" charset="-122"/>
                          <a:ea typeface="黑体" panose="02010609060101010101" charset="-122"/>
                          <a:cs typeface="黑体" panose="02010609060101010101" charset="-122"/>
                        </a:rPr>
                        <a:t>分</a:t>
                      </a:r>
                      <a:endParaRPr lang="zh-CN" sz="2400" b="0">
                        <a:highlight>
                          <a:srgbClr val="FFFF00"/>
                        </a:highlight>
                        <a:latin typeface="黑体" panose="02010609060101010101" charset="-122"/>
                        <a:ea typeface="黑体" panose="02010609060101010101" charset="-122"/>
                        <a:cs typeface="黑体" panose="02010609060101010101" charset="-122"/>
                      </a:endParaRPr>
                    </a:p>
                    <a:p>
                      <a:pPr marL="0" indent="0" algn="just">
                        <a:spcBef>
                          <a:spcPct val="0"/>
                        </a:spcBef>
                        <a:spcAft>
                          <a:spcPct val="0"/>
                        </a:spcAft>
                      </a:pPr>
                      <a:r>
                        <a:rPr lang="zh-CN" sz="2400" b="0">
                          <a:latin typeface="黑体" panose="02010609060101010101" charset="-122"/>
                          <a:ea typeface="黑体" panose="02010609060101010101" charset="-122"/>
                          <a:cs typeface="黑体" panose="02010609060101010101" charset="-122"/>
                        </a:rPr>
                        <a:t>经济效益、社会效益与生态效益的统一</a:t>
                      </a:r>
                      <a:r>
                        <a:rPr lang="en-US" altLang="zh-CN" sz="2400" b="0">
                          <a:latin typeface="黑体" panose="02010609060101010101" charset="-122"/>
                          <a:ea typeface="黑体" panose="02010609060101010101" charset="-122"/>
                          <a:cs typeface="黑体" panose="02010609060101010101" charset="-122"/>
                        </a:rPr>
                        <a:t>/</a:t>
                      </a:r>
                      <a:r>
                        <a:rPr lang="zh-CN" altLang="en-US" sz="2400" b="0">
                          <a:latin typeface="黑体" panose="02010609060101010101" charset="-122"/>
                          <a:ea typeface="黑体" panose="02010609060101010101" charset="-122"/>
                          <a:cs typeface="黑体" panose="02010609060101010101" charset="-122"/>
                        </a:rPr>
                        <a:t>生态优势转化为经济优势</a:t>
                      </a:r>
                      <a:r>
                        <a:rPr lang="en-US" altLang="zh-CN" sz="2400" b="0">
                          <a:highlight>
                            <a:srgbClr val="FFFF00"/>
                          </a:highlight>
                          <a:latin typeface="黑体" panose="02010609060101010101" charset="-122"/>
                          <a:ea typeface="黑体" panose="02010609060101010101" charset="-122"/>
                          <a:cs typeface="黑体" panose="02010609060101010101" charset="-122"/>
                        </a:rPr>
                        <a:t>1</a:t>
                      </a:r>
                      <a:r>
                        <a:rPr lang="zh-CN" sz="2400" b="0">
                          <a:highlight>
                            <a:srgbClr val="FFFF00"/>
                          </a:highlight>
                          <a:latin typeface="黑体" panose="02010609060101010101" charset="-122"/>
                          <a:ea typeface="黑体" panose="02010609060101010101" charset="-122"/>
                          <a:cs typeface="黑体" panose="02010609060101010101" charset="-122"/>
                        </a:rPr>
                        <a:t>分</a:t>
                      </a:r>
                      <a:endParaRPr lang="zh-CN" sz="2400" b="0">
                        <a:highlight>
                          <a:srgbClr val="FFFF00"/>
                        </a:highlight>
                        <a:latin typeface="黑体" panose="02010609060101010101" charset="-122"/>
                        <a:ea typeface="黑体" panose="02010609060101010101" charset="-122"/>
                        <a:cs typeface="黑体" panose="02010609060101010101"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spcBef>
                          <a:spcPct val="0"/>
                        </a:spcBef>
                        <a:spcAft>
                          <a:spcPct val="0"/>
                        </a:spcAft>
                      </a:pPr>
                      <a:endParaRPr sz="2400" b="0">
                        <a:highlight>
                          <a:srgbClr val="FFFF00"/>
                        </a:highlight>
                        <a:latin typeface="黑体" panose="02010609060101010101" charset="-122"/>
                        <a:ea typeface="黑体" panose="02010609060101010101"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Tree>
    <p:custDataLst>
      <p:tags r:id="rId1"/>
    </p:custData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26110106100409"/>
          <p:cNvPicPr>
            <a:picLocks noChangeAspect="1"/>
          </p:cNvPicPr>
          <p:nvPr/>
        </p:nvPicPr>
        <p:blipFill>
          <a:blip r:embed="rId1"/>
          <a:stretch>
            <a:fillRect/>
          </a:stretch>
        </p:blipFill>
        <p:spPr>
          <a:xfrm>
            <a:off x="0" y="680085"/>
            <a:ext cx="12192000" cy="5497195"/>
          </a:xfrm>
          <a:prstGeom prst="rect">
            <a:avLst/>
          </a:prstGeom>
        </p:spPr>
      </p:pic>
      <p:sp>
        <p:nvSpPr>
          <p:cNvPr id="6" name="文本框 5"/>
          <p:cNvSpPr txBox="1"/>
          <p:nvPr/>
        </p:nvSpPr>
        <p:spPr>
          <a:xfrm>
            <a:off x="2884805" y="5696585"/>
            <a:ext cx="7018655" cy="566420"/>
          </a:xfrm>
          <a:prstGeom prst="rect">
            <a:avLst/>
          </a:prstGeom>
          <a:solidFill>
            <a:schemeClr val="bg1"/>
          </a:solidFill>
        </p:spPr>
        <p:txBody>
          <a:bodyPr wrap="square" rtlCol="0">
            <a:noAutofit/>
          </a:bodyPr>
          <a:p>
            <a:r>
              <a:rPr lang="zh-CN" altLang="en-US" sz="2800" i="1">
                <a:solidFill>
                  <a:srgbClr val="FF0000"/>
                </a:solidFill>
                <a:latin typeface="华文楷体" panose="02010600040101010101" charset="-122"/>
                <a:ea typeface="华文楷体" panose="02010600040101010101" charset="-122"/>
              </a:rPr>
              <a:t>要点</a:t>
            </a:r>
            <a:r>
              <a:rPr lang="zh-CN" altLang="en-US" sz="2800" i="1">
                <a:solidFill>
                  <a:srgbClr val="FF0000"/>
                </a:solidFill>
                <a:latin typeface="华文楷体" panose="02010600040101010101" charset="-122"/>
                <a:ea typeface="华文楷体" panose="02010600040101010101" charset="-122"/>
                <a:sym typeface="+mn-ea"/>
              </a:rPr>
              <a:t>精准</a:t>
            </a:r>
            <a:r>
              <a:rPr lang="en-US" altLang="zh-CN" sz="2800" i="1">
                <a:solidFill>
                  <a:srgbClr val="FF0000"/>
                </a:solidFill>
                <a:latin typeface="华文楷体" panose="02010600040101010101" charset="-122"/>
                <a:ea typeface="华文楷体" panose="02010600040101010101" charset="-122"/>
              </a:rPr>
              <a:t>，</a:t>
            </a:r>
            <a:r>
              <a:rPr lang="zh-CN" altLang="en-US" sz="2800" i="1">
                <a:solidFill>
                  <a:srgbClr val="FF0000"/>
                </a:solidFill>
                <a:latin typeface="华文楷体" panose="02010600040101010101" charset="-122"/>
                <a:ea typeface="华文楷体" panose="02010600040101010101" charset="-122"/>
              </a:rPr>
              <a:t>结构明确</a:t>
            </a:r>
            <a:r>
              <a:rPr lang="en-US" altLang="zh-CN" sz="2800" i="1">
                <a:solidFill>
                  <a:srgbClr val="FF0000"/>
                </a:solidFill>
                <a:latin typeface="华文楷体" panose="02010600040101010101" charset="-122"/>
                <a:ea typeface="华文楷体" panose="02010600040101010101" charset="-122"/>
              </a:rPr>
              <a:t>，</a:t>
            </a:r>
            <a:r>
              <a:rPr lang="zh-CN" altLang="en-US" sz="2800" i="1">
                <a:solidFill>
                  <a:srgbClr val="FF0000"/>
                </a:solidFill>
                <a:latin typeface="华文楷体" panose="02010600040101010101" charset="-122"/>
                <a:ea typeface="华文楷体" panose="02010600040101010101" charset="-122"/>
              </a:rPr>
              <a:t>逻辑清晰</a:t>
            </a:r>
            <a:r>
              <a:rPr lang="en-US" altLang="zh-CN" sz="2800" i="1">
                <a:solidFill>
                  <a:srgbClr val="FF0000"/>
                </a:solidFill>
                <a:latin typeface="华文楷体" panose="02010600040101010101" charset="-122"/>
                <a:ea typeface="华文楷体" panose="02010600040101010101" charset="-122"/>
              </a:rPr>
              <a:t>，</a:t>
            </a:r>
            <a:r>
              <a:rPr lang="zh-CN" altLang="en-US" sz="2800" i="1">
                <a:solidFill>
                  <a:srgbClr val="FF0000"/>
                </a:solidFill>
                <a:latin typeface="华文楷体" panose="02010600040101010101" charset="-122"/>
                <a:ea typeface="华文楷体" panose="02010600040101010101" charset="-122"/>
              </a:rPr>
              <a:t>论述</a:t>
            </a:r>
            <a:r>
              <a:rPr lang="zh-CN" altLang="en-US" sz="2800" i="1">
                <a:solidFill>
                  <a:srgbClr val="FF0000"/>
                </a:solidFill>
                <a:latin typeface="华文楷体" panose="02010600040101010101" charset="-122"/>
                <a:ea typeface="华文楷体" panose="02010600040101010101" charset="-122"/>
              </a:rPr>
              <a:t>充分</a:t>
            </a:r>
            <a:endParaRPr lang="zh-CN" altLang="en-US" sz="2800" i="1">
              <a:solidFill>
                <a:srgbClr val="FF0000"/>
              </a:solidFill>
              <a:latin typeface="华文楷体" panose="02010600040101010101" charset="-122"/>
              <a:ea typeface="华文楷体" panose="02010600040101010101" charset="-122"/>
            </a:endParaRPr>
          </a:p>
        </p:txBody>
      </p:sp>
      <p:sp>
        <p:nvSpPr>
          <p:cNvPr id="3" name="标题 3"/>
          <p:cNvSpPr txBox="1"/>
          <p:nvPr/>
        </p:nvSpPr>
        <p:spPr>
          <a:xfrm>
            <a:off x="299720" y="117475"/>
            <a:ext cx="3070225" cy="750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三、典型示例</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26110106101750"/>
          <p:cNvPicPr>
            <a:picLocks noChangeAspect="1"/>
          </p:cNvPicPr>
          <p:nvPr/>
        </p:nvPicPr>
        <p:blipFill>
          <a:blip r:embed="rId1"/>
          <a:stretch>
            <a:fillRect/>
          </a:stretch>
        </p:blipFill>
        <p:spPr>
          <a:xfrm>
            <a:off x="0" y="688340"/>
            <a:ext cx="12192000" cy="5480685"/>
          </a:xfrm>
          <a:prstGeom prst="rect">
            <a:avLst/>
          </a:prstGeom>
        </p:spPr>
      </p:pic>
      <p:sp>
        <p:nvSpPr>
          <p:cNvPr id="3" name="文本框 2"/>
          <p:cNvSpPr txBox="1"/>
          <p:nvPr/>
        </p:nvSpPr>
        <p:spPr>
          <a:xfrm>
            <a:off x="2884805" y="5696585"/>
            <a:ext cx="8044815" cy="566420"/>
          </a:xfrm>
          <a:prstGeom prst="rect">
            <a:avLst/>
          </a:prstGeom>
          <a:solidFill>
            <a:schemeClr val="bg1"/>
          </a:solidFill>
        </p:spPr>
        <p:txBody>
          <a:bodyPr wrap="square" rtlCol="0">
            <a:noAutofit/>
          </a:bodyPr>
          <a:p>
            <a:r>
              <a:rPr lang="zh-CN" altLang="en-US" sz="2800" i="1">
                <a:solidFill>
                  <a:srgbClr val="FF0000"/>
                </a:solidFill>
                <a:latin typeface="华文楷体" panose="02010600040101010101" charset="-122"/>
                <a:ea typeface="华文楷体" panose="02010600040101010101" charset="-122"/>
              </a:rPr>
              <a:t>没有写出充分发挥市场在资源配置中的决定性作用</a:t>
            </a:r>
            <a:endParaRPr lang="zh-CN" altLang="en-US" sz="2800" i="1">
              <a:solidFill>
                <a:srgbClr val="FF0000"/>
              </a:solidFill>
              <a:latin typeface="华文楷体" panose="02010600040101010101" charset="-122"/>
              <a:ea typeface="华文楷体" panose="02010600040101010101" charset="-122"/>
            </a:endParaRPr>
          </a:p>
        </p:txBody>
      </p:sp>
      <p:sp>
        <p:nvSpPr>
          <p:cNvPr id="4" name="标题 3"/>
          <p:cNvSpPr txBox="1"/>
          <p:nvPr/>
        </p:nvSpPr>
        <p:spPr>
          <a:xfrm>
            <a:off x="299720" y="117475"/>
            <a:ext cx="3070225" cy="750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三、典型示例</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tretch>
            <a:fillRect/>
          </a:stretch>
        </p:blipFill>
        <p:spPr>
          <a:xfrm>
            <a:off x="0" y="692150"/>
            <a:ext cx="12192000" cy="5473065"/>
          </a:xfrm>
          <a:prstGeom prst="rect">
            <a:avLst/>
          </a:prstGeom>
        </p:spPr>
      </p:pic>
      <p:sp>
        <p:nvSpPr>
          <p:cNvPr id="7" name="文本框 6"/>
          <p:cNvSpPr txBox="1"/>
          <p:nvPr/>
        </p:nvSpPr>
        <p:spPr>
          <a:xfrm>
            <a:off x="8968740" y="4909185"/>
            <a:ext cx="1654175" cy="566420"/>
          </a:xfrm>
          <a:prstGeom prst="rect">
            <a:avLst/>
          </a:prstGeom>
          <a:solidFill>
            <a:schemeClr val="bg1"/>
          </a:solidFill>
        </p:spPr>
        <p:txBody>
          <a:bodyPr wrap="square" rtlCol="0">
            <a:noAutofit/>
          </a:bodyPr>
          <a:p>
            <a:r>
              <a:rPr lang="zh-CN" altLang="en-US" sz="2800" i="1">
                <a:solidFill>
                  <a:srgbClr val="FF0000"/>
                </a:solidFill>
                <a:latin typeface="华文楷体" panose="02010600040101010101" charset="-122"/>
                <a:ea typeface="华文楷体" panose="02010600040101010101" charset="-122"/>
              </a:rPr>
              <a:t>纯抄</a:t>
            </a:r>
            <a:r>
              <a:rPr lang="zh-CN" altLang="en-US" sz="2800" i="1">
                <a:solidFill>
                  <a:srgbClr val="FF0000"/>
                </a:solidFill>
                <a:latin typeface="华文楷体" panose="02010600040101010101" charset="-122"/>
                <a:ea typeface="华文楷体" panose="02010600040101010101" charset="-122"/>
              </a:rPr>
              <a:t>材料</a:t>
            </a:r>
            <a:endParaRPr lang="zh-CN" altLang="en-US" sz="2800" i="1">
              <a:solidFill>
                <a:srgbClr val="FF0000"/>
              </a:solidFill>
              <a:latin typeface="华文楷体" panose="02010600040101010101" charset="-122"/>
              <a:ea typeface="华文楷体" panose="02010600040101010101" charset="-122"/>
            </a:endParaRPr>
          </a:p>
        </p:txBody>
      </p:sp>
      <p:sp>
        <p:nvSpPr>
          <p:cNvPr id="3" name="标题 3"/>
          <p:cNvSpPr txBox="1"/>
          <p:nvPr/>
        </p:nvSpPr>
        <p:spPr>
          <a:xfrm>
            <a:off x="299720" y="117475"/>
            <a:ext cx="3070225" cy="750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三、典型示例</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539750" y="821055"/>
            <a:ext cx="11026775" cy="5133340"/>
          </a:xfrm>
          <a:prstGeom prst="rect">
            <a:avLst/>
          </a:prstGeom>
        </p:spPr>
        <p:txBody>
          <a:bodyPr wrap="square">
            <a:noAutofit/>
          </a:bodyPr>
          <a:p>
            <a:pPr marL="0" indent="0" algn="l" fontAlgn="auto">
              <a:lnSpc>
                <a:spcPct val="150000"/>
              </a:lnSpc>
              <a:spcBef>
                <a:spcPct val="0"/>
              </a:spcBef>
              <a:spcAft>
                <a:spcPct val="0"/>
              </a:spcAft>
              <a:buAutoNum type="arabicPeriod"/>
            </a:pPr>
            <a:r>
              <a:rPr lang="zh-CN" altLang="en-US" sz="2200">
                <a:solidFill>
                  <a:srgbClr val="000000"/>
                </a:solidFill>
                <a:latin typeface="黑体" panose="02010609060101010101" charset="-122"/>
                <a:ea typeface="黑体" panose="02010609060101010101" charset="-122"/>
                <a:cs typeface="黑体" panose="02010609060101010101" charset="-122"/>
              </a:rPr>
              <a:t>与材料逻辑脱节：脱离材料的 “三笔账” 情境，未按材料逻辑分层分析，答题与材料信息对应性差，部分仅摘抄材料，缺乏学科分析。</a:t>
            </a:r>
            <a:endParaRPr lang="zh-CN" altLang="en-US" sz="2200">
              <a:solidFill>
                <a:srgbClr val="000000"/>
              </a:solidFill>
              <a:latin typeface="黑体" panose="02010609060101010101" charset="-122"/>
              <a:ea typeface="黑体" panose="02010609060101010101" charset="-122"/>
              <a:cs typeface="黑体" panose="02010609060101010101" charset="-122"/>
            </a:endParaRPr>
          </a:p>
          <a:p>
            <a:pPr marL="0" indent="0" algn="l" fontAlgn="auto">
              <a:lnSpc>
                <a:spcPct val="150000"/>
              </a:lnSpc>
              <a:spcBef>
                <a:spcPct val="0"/>
              </a:spcBef>
              <a:spcAft>
                <a:spcPct val="0"/>
              </a:spcAft>
              <a:buAutoNum type="arabicPeriod"/>
            </a:pPr>
            <a:r>
              <a:rPr lang="zh-CN" altLang="en-US" sz="2200">
                <a:solidFill>
                  <a:srgbClr val="000000"/>
                </a:solidFill>
                <a:latin typeface="黑体" panose="02010609060101010101" charset="-122"/>
                <a:ea typeface="黑体" panose="02010609060101010101" charset="-122"/>
                <a:cs typeface="黑体" panose="02010609060101010101" charset="-122"/>
              </a:rPr>
              <a:t>知识与材料联系不足：</a:t>
            </a:r>
            <a:endParaRPr lang="zh-CN" altLang="en-US" sz="2200">
              <a:solidFill>
                <a:srgbClr val="000000"/>
              </a:solidFill>
              <a:latin typeface="黑体" panose="02010609060101010101" charset="-122"/>
              <a:ea typeface="黑体" panose="02010609060101010101" charset="-122"/>
              <a:cs typeface="黑体" panose="02010609060101010101" charset="-122"/>
            </a:endParaRPr>
          </a:p>
          <a:p>
            <a:pPr marL="342900" lvl="1" indent="-342900" algn="l" fontAlgn="auto">
              <a:lnSpc>
                <a:spcPct val="150000"/>
              </a:lnSpc>
              <a:spcBef>
                <a:spcPct val="0"/>
              </a:spcBef>
              <a:spcAft>
                <a:spcPct val="0"/>
              </a:spcAft>
              <a:buFont typeface="+mj-ea"/>
              <a:buAutoNum type="circleNumDbPlain"/>
            </a:pPr>
            <a:r>
              <a:rPr lang="zh-CN" altLang="en-US" sz="2200">
                <a:solidFill>
                  <a:srgbClr val="000000"/>
                </a:solidFill>
                <a:latin typeface="黑体" panose="02010609060101010101" charset="-122"/>
                <a:ea typeface="黑体" panose="02010609060101010101" charset="-122"/>
                <a:cs typeface="黑体" panose="02010609060101010101" charset="-122"/>
                <a:sym typeface="+mn-ea"/>
              </a:rPr>
              <a:t>对市场在资源配置中的决定性作用理解不到位，能精准作答的学生较少；</a:t>
            </a:r>
            <a:endParaRPr lang="zh-CN" altLang="en-US" sz="2200">
              <a:solidFill>
                <a:srgbClr val="000000"/>
              </a:solidFill>
              <a:latin typeface="黑体" panose="02010609060101010101" charset="-122"/>
              <a:ea typeface="黑体" panose="02010609060101010101" charset="-122"/>
              <a:cs typeface="黑体" panose="02010609060101010101" charset="-122"/>
            </a:endParaRPr>
          </a:p>
          <a:p>
            <a:pPr marL="342900" lvl="1" indent="-342900" algn="l" fontAlgn="auto">
              <a:lnSpc>
                <a:spcPct val="150000"/>
              </a:lnSpc>
              <a:spcBef>
                <a:spcPct val="0"/>
              </a:spcBef>
              <a:spcAft>
                <a:spcPct val="0"/>
              </a:spcAft>
              <a:buFont typeface="+mj-ea"/>
              <a:buAutoNum type="circleNumDbPlain"/>
            </a:pPr>
            <a:r>
              <a:rPr lang="zh-CN" altLang="en-US" sz="2200">
                <a:solidFill>
                  <a:srgbClr val="000000"/>
                </a:solidFill>
                <a:latin typeface="黑体" panose="02010609060101010101" charset="-122"/>
                <a:ea typeface="黑体" panose="02010609060101010101" charset="-122"/>
                <a:cs typeface="黑体" panose="02010609060101010101" charset="-122"/>
              </a:rPr>
              <a:t>对新发展理念的体现不足，未能将绿色发展理念有效结合 “生态账” 进行阐释；</a:t>
            </a:r>
            <a:endParaRPr lang="zh-CN" altLang="en-US" sz="2200">
              <a:solidFill>
                <a:srgbClr val="000000"/>
              </a:solidFill>
              <a:latin typeface="黑体" panose="02010609060101010101" charset="-122"/>
              <a:ea typeface="黑体" panose="02010609060101010101" charset="-122"/>
              <a:cs typeface="黑体" panose="02010609060101010101" charset="-122"/>
            </a:endParaRPr>
          </a:p>
          <a:p>
            <a:pPr marL="342900" lvl="1" indent="-342900" algn="l" fontAlgn="auto">
              <a:lnSpc>
                <a:spcPct val="150000"/>
              </a:lnSpc>
              <a:spcBef>
                <a:spcPct val="0"/>
              </a:spcBef>
              <a:spcAft>
                <a:spcPct val="0"/>
              </a:spcAft>
              <a:buFont typeface="+mj-ea"/>
              <a:buAutoNum type="circleNumDbPlain"/>
            </a:pPr>
            <a:r>
              <a:rPr lang="zh-CN" altLang="en-US" sz="2200">
                <a:solidFill>
                  <a:srgbClr val="000000"/>
                </a:solidFill>
                <a:latin typeface="黑体" panose="02010609060101010101" charset="-122"/>
                <a:ea typeface="黑体" panose="02010609060101010101" charset="-122"/>
                <a:cs typeface="黑体" panose="02010609060101010101" charset="-122"/>
              </a:rPr>
              <a:t>供需关系分析与材料情境对应不准，未能结合“消费帐”情境展开；</a:t>
            </a:r>
            <a:endParaRPr lang="zh-CN" altLang="en-US" sz="2200">
              <a:solidFill>
                <a:srgbClr val="000000"/>
              </a:solidFill>
              <a:latin typeface="黑体" panose="02010609060101010101" charset="-122"/>
              <a:ea typeface="黑体" panose="02010609060101010101" charset="-122"/>
              <a:cs typeface="黑体" panose="02010609060101010101" charset="-122"/>
            </a:endParaRPr>
          </a:p>
          <a:p>
            <a:pPr marL="342900" lvl="1" indent="-342900" algn="l" fontAlgn="auto">
              <a:lnSpc>
                <a:spcPct val="150000"/>
              </a:lnSpc>
              <a:spcBef>
                <a:spcPct val="0"/>
              </a:spcBef>
              <a:spcAft>
                <a:spcPct val="0"/>
              </a:spcAft>
              <a:buFont typeface="+mj-ea"/>
              <a:buAutoNum type="circleNumDbPlain"/>
            </a:pPr>
            <a:r>
              <a:rPr lang="zh-CN" altLang="en-US" sz="2200">
                <a:solidFill>
                  <a:srgbClr val="000000"/>
                </a:solidFill>
                <a:latin typeface="黑体" panose="02010609060101010101" charset="-122"/>
                <a:ea typeface="黑体" panose="02010609060101010101" charset="-122"/>
                <a:cs typeface="黑体" panose="02010609060101010101" charset="-122"/>
                <a:sym typeface="+mn-ea"/>
              </a:rPr>
              <a:t>较少学生写出</a:t>
            </a:r>
            <a:r>
              <a:rPr lang="zh-CN" altLang="en-US" sz="2200">
                <a:solidFill>
                  <a:srgbClr val="000000"/>
                </a:solidFill>
                <a:latin typeface="黑体" panose="02010609060101010101" charset="-122"/>
                <a:ea typeface="黑体" panose="02010609060101010101" charset="-122"/>
                <a:cs typeface="黑体" panose="02010609060101010101" charset="-122"/>
              </a:rPr>
              <a:t>经济效益、社会效益、生态效益的统一，未能体现赏花经济的综合价值。</a:t>
            </a:r>
            <a:endParaRPr lang="zh-CN" altLang="en-US" sz="2200">
              <a:solidFill>
                <a:srgbClr val="000000"/>
              </a:solidFill>
              <a:latin typeface="黑体" panose="02010609060101010101" charset="-122"/>
              <a:ea typeface="黑体" panose="02010609060101010101" charset="-122"/>
              <a:cs typeface="黑体" panose="02010609060101010101" charset="-122"/>
            </a:endParaRPr>
          </a:p>
          <a:p>
            <a:pPr marL="0" indent="0" algn="l" fontAlgn="auto">
              <a:lnSpc>
                <a:spcPct val="150000"/>
              </a:lnSpc>
              <a:spcBef>
                <a:spcPct val="0"/>
              </a:spcBef>
              <a:spcAft>
                <a:spcPct val="0"/>
              </a:spcAft>
              <a:buAutoNum type="arabicPeriod"/>
            </a:pPr>
            <a:r>
              <a:rPr lang="zh-CN" altLang="en-US" sz="2200">
                <a:solidFill>
                  <a:srgbClr val="000000"/>
                </a:solidFill>
                <a:latin typeface="黑体" panose="02010609060101010101" charset="-122"/>
                <a:ea typeface="黑体" panose="02010609060101010101" charset="-122"/>
                <a:cs typeface="黑体" panose="02010609060101010101" charset="-122"/>
              </a:rPr>
              <a:t>答题思维固化：依赖模板化答题，机械套用旧题答案，缺乏对本题情境的针对性分析。</a:t>
            </a:r>
            <a:endParaRPr lang="zh-CN" altLang="en-US" sz="2200">
              <a:solidFill>
                <a:srgbClr val="000000"/>
              </a:solidFill>
              <a:latin typeface="黑体" panose="02010609060101010101" charset="-122"/>
              <a:ea typeface="黑体" panose="02010609060101010101" charset="-122"/>
              <a:cs typeface="黑体" panose="02010609060101010101" charset="-122"/>
            </a:endParaRPr>
          </a:p>
        </p:txBody>
      </p:sp>
      <p:sp>
        <p:nvSpPr>
          <p:cNvPr id="8" name="标题 3"/>
          <p:cNvSpPr txBox="1"/>
          <p:nvPr/>
        </p:nvSpPr>
        <p:spPr>
          <a:xfrm>
            <a:off x="288925" y="0"/>
            <a:ext cx="4175760" cy="750570"/>
          </a:xfrm>
          <a:prstGeom prst="rect">
            <a:avLst/>
          </a:prstGeom>
        </p:spPr>
        <p:txBody>
          <a:bodyPr vert="horz" lIns="91440" tIns="45720" rIns="91440" bIns="4572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四、学生问题及建议</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21995" y="1167765"/>
            <a:ext cx="10681970" cy="3982720"/>
          </a:xfrm>
          <a:prstGeom prst="rect">
            <a:avLst/>
          </a:prstGeom>
          <a:ln>
            <a:solidFill>
              <a:schemeClr val="tx1"/>
            </a:solidFill>
          </a:ln>
        </p:spPr>
        <p:txBody>
          <a:bodyPr wrap="square">
            <a:noAutofit/>
          </a:bodyPr>
          <a:p>
            <a:pPr indent="0" algn="l" fontAlgn="auto">
              <a:lnSpc>
                <a:spcPct val="150000"/>
              </a:lnSpc>
              <a:spcBef>
                <a:spcPct val="0"/>
              </a:spcBef>
              <a:spcAft>
                <a:spcPct val="0"/>
              </a:spcAft>
            </a:pPr>
            <a:r>
              <a:rPr lang="en-US" altLang="zh-CN" sz="2400" b="1">
                <a:solidFill>
                  <a:srgbClr val="000000"/>
                </a:solidFill>
                <a:latin typeface="黑体" panose="02010609060101010101" charset="-122"/>
                <a:ea typeface="黑体" panose="02010609060101010101" charset="-122"/>
                <a:cs typeface="黑体" panose="02010609060101010101" charset="-122"/>
              </a:rPr>
              <a:t>1.</a:t>
            </a:r>
            <a:r>
              <a:rPr lang="zh-CN" altLang="en-US" sz="2400" b="1">
                <a:solidFill>
                  <a:srgbClr val="000000"/>
                </a:solidFill>
                <a:latin typeface="黑体" panose="02010609060101010101" charset="-122"/>
                <a:ea typeface="黑体" panose="02010609060101010101" charset="-122"/>
                <a:cs typeface="黑体" panose="02010609060101010101" charset="-122"/>
              </a:rPr>
              <a:t>破除模板依赖</a:t>
            </a:r>
            <a:r>
              <a:rPr lang="zh-CN" altLang="en-US" sz="2400" b="0">
                <a:solidFill>
                  <a:srgbClr val="000000"/>
                </a:solidFill>
                <a:latin typeface="黑体" panose="02010609060101010101" charset="-122"/>
                <a:ea typeface="黑体" panose="02010609060101010101" charset="-122"/>
                <a:cs typeface="黑体" panose="02010609060101010101" charset="-122"/>
              </a:rPr>
              <a:t>：引导学生摒弃“套模板、套旧题”的惯性思维，学会具体问题具体分析，紧扣本题情境作答。</a:t>
            </a:r>
            <a:endParaRPr lang="zh-CN" altLang="en-US" sz="2400" b="0">
              <a:solidFill>
                <a:srgbClr val="000000"/>
              </a:solidFill>
              <a:latin typeface="黑体" panose="02010609060101010101" charset="-122"/>
              <a:ea typeface="黑体" panose="02010609060101010101" charset="-122"/>
              <a:cs typeface="黑体" panose="02010609060101010101" charset="-122"/>
            </a:endParaRPr>
          </a:p>
          <a:p>
            <a:pPr indent="0" algn="l" fontAlgn="auto">
              <a:lnSpc>
                <a:spcPct val="150000"/>
              </a:lnSpc>
              <a:spcBef>
                <a:spcPct val="0"/>
              </a:spcBef>
              <a:spcAft>
                <a:spcPct val="0"/>
              </a:spcAft>
            </a:pPr>
            <a:r>
              <a:rPr lang="en-US" altLang="zh-CN" sz="2400" b="1">
                <a:solidFill>
                  <a:srgbClr val="000000"/>
                </a:solidFill>
                <a:latin typeface="黑体" panose="02010609060101010101" charset="-122"/>
                <a:ea typeface="黑体" panose="02010609060101010101" charset="-122"/>
                <a:cs typeface="黑体" panose="02010609060101010101" charset="-122"/>
              </a:rPr>
              <a:t>2.</a:t>
            </a:r>
            <a:r>
              <a:rPr lang="zh-CN" altLang="en-US" sz="2400" b="1">
                <a:solidFill>
                  <a:srgbClr val="000000"/>
                </a:solidFill>
                <a:latin typeface="黑体" panose="02010609060101010101" charset="-122"/>
                <a:ea typeface="黑体" panose="02010609060101010101" charset="-122"/>
                <a:cs typeface="黑体" panose="02010609060101010101" charset="-122"/>
              </a:rPr>
              <a:t>回归核心基础</a:t>
            </a:r>
            <a:r>
              <a:rPr lang="zh-CN" altLang="en-US" sz="2400" b="0">
                <a:solidFill>
                  <a:srgbClr val="000000"/>
                </a:solidFill>
                <a:latin typeface="黑体" panose="02010609060101010101" charset="-122"/>
                <a:ea typeface="黑体" panose="02010609060101010101" charset="-122"/>
                <a:cs typeface="黑体" panose="02010609060101010101" charset="-122"/>
              </a:rPr>
              <a:t>：强化</a:t>
            </a:r>
            <a:r>
              <a:rPr lang="en-US" altLang="zh-CN" sz="2400" b="0">
                <a:solidFill>
                  <a:srgbClr val="000000"/>
                </a:solidFill>
                <a:latin typeface="黑体" panose="02010609060101010101" charset="-122"/>
                <a:ea typeface="黑体" panose="02010609060101010101" charset="-122"/>
                <a:cs typeface="黑体" panose="02010609060101010101" charset="-122"/>
              </a:rPr>
              <a:t>《</a:t>
            </a:r>
            <a:r>
              <a:rPr lang="zh-CN" altLang="en-US" sz="2400" b="0">
                <a:solidFill>
                  <a:srgbClr val="000000"/>
                </a:solidFill>
                <a:latin typeface="黑体" panose="02010609060101010101" charset="-122"/>
                <a:ea typeface="黑体" panose="02010609060101010101" charset="-122"/>
                <a:cs typeface="黑体" panose="02010609060101010101" charset="-122"/>
              </a:rPr>
              <a:t>经济与社会</a:t>
            </a:r>
            <a:r>
              <a:rPr lang="en-US" altLang="zh-CN" sz="2400" b="0">
                <a:solidFill>
                  <a:srgbClr val="000000"/>
                </a:solidFill>
                <a:latin typeface="黑体" panose="02010609060101010101" charset="-122"/>
                <a:ea typeface="黑体" panose="02010609060101010101" charset="-122"/>
                <a:cs typeface="黑体" panose="02010609060101010101" charset="-122"/>
              </a:rPr>
              <a:t>》</a:t>
            </a:r>
            <a:r>
              <a:rPr lang="zh-CN" altLang="en-US" sz="2400" b="0">
                <a:solidFill>
                  <a:srgbClr val="000000"/>
                </a:solidFill>
                <a:latin typeface="黑体" panose="02010609060101010101" charset="-122"/>
                <a:ea typeface="黑体" panose="02010609060101010101" charset="-122"/>
                <a:cs typeface="黑体" panose="02010609060101010101" charset="-122"/>
              </a:rPr>
              <a:t>核心概念的理解与运用，避免知识与情境脱节。</a:t>
            </a:r>
            <a:endParaRPr lang="zh-CN" altLang="en-US" sz="2400" b="0">
              <a:solidFill>
                <a:srgbClr val="000000"/>
              </a:solidFill>
              <a:latin typeface="黑体" panose="02010609060101010101" charset="-122"/>
              <a:ea typeface="黑体" panose="02010609060101010101" charset="-122"/>
              <a:cs typeface="黑体" panose="02010609060101010101" charset="-122"/>
            </a:endParaRPr>
          </a:p>
          <a:p>
            <a:pPr indent="0" algn="l" fontAlgn="auto">
              <a:lnSpc>
                <a:spcPct val="150000"/>
              </a:lnSpc>
              <a:spcBef>
                <a:spcPct val="0"/>
              </a:spcBef>
              <a:spcAft>
                <a:spcPct val="0"/>
              </a:spcAft>
            </a:pPr>
            <a:r>
              <a:rPr lang="en-US" altLang="zh-CN" sz="2400" b="1">
                <a:solidFill>
                  <a:srgbClr val="000000"/>
                </a:solidFill>
                <a:latin typeface="黑体" panose="02010609060101010101" charset="-122"/>
                <a:ea typeface="黑体" panose="02010609060101010101" charset="-122"/>
                <a:cs typeface="黑体" panose="02010609060101010101" charset="-122"/>
              </a:rPr>
              <a:t>3.</a:t>
            </a:r>
            <a:r>
              <a:rPr lang="zh-CN" altLang="en-US" sz="2400" b="1">
                <a:solidFill>
                  <a:srgbClr val="000000"/>
                </a:solidFill>
                <a:latin typeface="黑体" panose="02010609060101010101" charset="-122"/>
                <a:ea typeface="黑体" panose="02010609060101010101" charset="-122"/>
                <a:cs typeface="黑体" panose="02010609060101010101" charset="-122"/>
              </a:rPr>
              <a:t>强化材料解读训练</a:t>
            </a:r>
            <a:r>
              <a:rPr lang="zh-CN" altLang="en-US" sz="2400" b="0">
                <a:solidFill>
                  <a:srgbClr val="000000"/>
                </a:solidFill>
                <a:latin typeface="黑体" panose="02010609060101010101" charset="-122"/>
                <a:ea typeface="黑体" panose="02010609060101010101" charset="-122"/>
                <a:cs typeface="黑体" panose="02010609060101010101" charset="-122"/>
              </a:rPr>
              <a:t>：加强材料分层解读能力，引导学生学会从材料关键词中提炼答题角度，提升情境分析能力。</a:t>
            </a:r>
            <a:endParaRPr lang="zh-CN" altLang="en-US" sz="2400" b="0">
              <a:solidFill>
                <a:srgbClr val="000000"/>
              </a:solidFill>
              <a:latin typeface="黑体" panose="02010609060101010101" charset="-122"/>
              <a:ea typeface="黑体" panose="02010609060101010101" charset="-122"/>
              <a:cs typeface="黑体" panose="02010609060101010101" charset="-122"/>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581660" y="595630"/>
            <a:ext cx="11029315" cy="5908040"/>
          </a:xfrm>
          <a:prstGeom prst="rect">
            <a:avLst/>
          </a:prstGeom>
        </p:spPr>
        <p:txBody>
          <a:bodyPr wrap="square">
            <a:spAutoFit/>
          </a:bodyPr>
          <a:p>
            <a:pPr marL="0" indent="0" algn="l" defTabSz="266700" fontAlgn="ctr">
              <a:spcBef>
                <a:spcPct val="0"/>
              </a:spcBef>
              <a:spcAft>
                <a:spcPct val="0"/>
              </a:spcAft>
            </a:pPr>
            <a:r>
              <a:rPr lang="en-US" altLang="zh-CN">
                <a:solidFill>
                  <a:srgbClr val="7030A0"/>
                </a:solidFill>
                <a:latin typeface="Times New Roman" panose="02020603050405020304"/>
                <a:ea typeface="Times New Roman" panose="02020603050405020304"/>
              </a:rPr>
              <a:t>2.</a:t>
            </a:r>
            <a:r>
              <a:rPr lang="zh-CN" altLang="en-US">
                <a:solidFill>
                  <a:srgbClr val="7030A0"/>
                </a:solidFill>
                <a:latin typeface="宋体" panose="02010600030101010101" pitchFamily="2" charset="-122"/>
                <a:ea typeface="宋体" panose="02010600030101010101" pitchFamily="2" charset="-122"/>
              </a:rPr>
              <a:t>（</a:t>
            </a:r>
            <a:r>
              <a:rPr lang="en-US" altLang="zh-CN">
                <a:solidFill>
                  <a:srgbClr val="7030A0"/>
                </a:solidFill>
                <a:latin typeface="Times New Roman" panose="02020603050405020304"/>
                <a:ea typeface="宋体" panose="02010600030101010101" pitchFamily="2" charset="-122"/>
              </a:rPr>
              <a:t>2024·</a:t>
            </a:r>
            <a:r>
              <a:rPr lang="zh-CN" altLang="en-US">
                <a:solidFill>
                  <a:srgbClr val="7030A0"/>
                </a:solidFill>
                <a:latin typeface="宋体" panose="02010600030101010101" pitchFamily="2" charset="-122"/>
                <a:ea typeface="宋体" panose="02010600030101010101" pitchFamily="2" charset="-122"/>
              </a:rPr>
              <a:t>北京</a:t>
            </a:r>
            <a:r>
              <a:rPr lang="en-US" altLang="zh-CN">
                <a:solidFill>
                  <a:srgbClr val="7030A0"/>
                </a:solidFill>
                <a:latin typeface="Times New Roman" panose="02020603050405020304"/>
                <a:ea typeface="宋体" panose="02010600030101010101" pitchFamily="2" charset="-122"/>
              </a:rPr>
              <a:t>·</a:t>
            </a:r>
            <a:r>
              <a:rPr lang="zh-CN" altLang="en-US">
                <a:solidFill>
                  <a:srgbClr val="7030A0"/>
                </a:solidFill>
                <a:latin typeface="宋体" panose="02010600030101010101" pitchFamily="2" charset="-122"/>
                <a:ea typeface="宋体" panose="02010600030101010101" pitchFamily="2" charset="-122"/>
              </a:rPr>
              <a:t>高考真题）</a:t>
            </a:r>
            <a:r>
              <a:rPr lang="zh-CN" altLang="en-US">
                <a:latin typeface="楷体" panose="02010609060101010101" charset="-122"/>
                <a:ea typeface="楷体" panose="02010609060101010101" charset="-122"/>
              </a:rPr>
              <a:t>发展新质生产力是推动高质量发展的内在要求和重要着力点。</a:t>
            </a:r>
            <a:endParaRPr lang="zh-CN" altLang="en-US">
              <a:latin typeface="楷体" panose="02010609060101010101" charset="-122"/>
              <a:ea typeface="楷体" panose="02010609060101010101" charset="-122"/>
            </a:endParaRPr>
          </a:p>
          <a:p>
            <a:pPr marL="0" indent="266700" algn="l" defTabSz="266700" fontAlgn="ctr">
              <a:spcBef>
                <a:spcPct val="0"/>
              </a:spcBef>
              <a:spcAft>
                <a:spcPct val="0"/>
              </a:spcAft>
            </a:pPr>
            <a:r>
              <a:rPr lang="zh-CN" altLang="en-US">
                <a:latin typeface="楷体" panose="02010609060101010101" charset="-122"/>
                <a:ea typeface="楷体" panose="02010609060101010101" charset="-122"/>
              </a:rPr>
              <a:t>材料二</a:t>
            </a:r>
            <a:r>
              <a:rPr lang="en-US" altLang="zh-CN">
                <a:latin typeface="Times New Roman" panose="02020603050405020304"/>
                <a:ea typeface="Times New Roman" panose="02020603050405020304"/>
              </a:rPr>
              <a:t>  </a:t>
            </a:r>
            <a:r>
              <a:rPr lang="zh-CN" altLang="en-US">
                <a:latin typeface="楷体" panose="02010609060101010101" charset="-122"/>
                <a:ea typeface="楷体" panose="02010609060101010101" charset="-122"/>
              </a:rPr>
              <a:t>发展新质生产力进行时。</a:t>
            </a:r>
            <a:endParaRPr lang="zh-CN" altLang="en-US">
              <a:latin typeface="楷体" panose="02010609060101010101" charset="-122"/>
              <a:ea typeface="楷体" panose="02010609060101010101" charset="-122"/>
            </a:endParaRPr>
          </a:p>
          <a:p>
            <a:pPr marL="0" indent="266700" algn="l" defTabSz="266700" fontAlgn="ctr">
              <a:spcBef>
                <a:spcPct val="0"/>
              </a:spcBef>
              <a:spcAft>
                <a:spcPct val="0"/>
              </a:spcAft>
            </a:pPr>
            <a:r>
              <a:rPr lang="zh-CN" altLang="en-US">
                <a:latin typeface="楷体" panose="02010609060101010101" charset="-122"/>
                <a:ea typeface="楷体" panose="02010609060101010101" charset="-122"/>
              </a:rPr>
              <a:t>【政策引领】</a:t>
            </a:r>
            <a:endParaRPr lang="zh-CN" altLang="en-US">
              <a:latin typeface="楷体" panose="02010609060101010101" charset="-122"/>
              <a:ea typeface="楷体" panose="02010609060101010101" charset="-122"/>
            </a:endParaRPr>
          </a:p>
          <a:p>
            <a:pPr marL="0" indent="266700" algn="l" defTabSz="266700" fontAlgn="ctr">
              <a:spcBef>
                <a:spcPct val="0"/>
              </a:spcBef>
              <a:spcAft>
                <a:spcPct val="0"/>
              </a:spcAft>
            </a:pPr>
            <a:r>
              <a:rPr lang="en-US" altLang="zh-CN">
                <a:latin typeface="楷体" panose="02010609060101010101" charset="-122"/>
                <a:ea typeface="楷体" panose="02010609060101010101" charset="-122"/>
              </a:rPr>
              <a:t>2024</a:t>
            </a:r>
            <a:r>
              <a:rPr lang="zh-CN" altLang="en-US">
                <a:latin typeface="楷体" panose="02010609060101010101" charset="-122"/>
                <a:ea typeface="楷体" panose="02010609060101010101" charset="-122"/>
              </a:rPr>
              <a:t>年国务院</a:t>
            </a:r>
            <a:r>
              <a:rPr lang="en-US" altLang="zh-CN">
                <a:latin typeface="楷体" panose="02010609060101010101" charset="-122"/>
                <a:ea typeface="楷体" panose="02010609060101010101" charset="-122"/>
              </a:rPr>
              <a:t>《</a:t>
            </a:r>
            <a:r>
              <a:rPr lang="zh-CN" altLang="en-US">
                <a:latin typeface="楷体" panose="02010609060101010101" charset="-122"/>
                <a:ea typeface="楷体" panose="02010609060101010101" charset="-122"/>
              </a:rPr>
              <a:t>政府工作报告</a:t>
            </a:r>
            <a:r>
              <a:rPr lang="en-US" altLang="zh-CN">
                <a:latin typeface="楷体" panose="02010609060101010101" charset="-122"/>
                <a:ea typeface="楷体" panose="02010609060101010101" charset="-122"/>
              </a:rPr>
              <a:t>》</a:t>
            </a:r>
            <a:r>
              <a:rPr lang="zh-CN" altLang="en-US">
                <a:latin typeface="楷体" panose="02010609060101010101" charset="-122"/>
                <a:ea typeface="楷体" panose="02010609060101010101" charset="-122"/>
              </a:rPr>
              <a:t>将“大力推进现代化产业体系建设，加快发展新质生产力”作为主要工作任务。</a:t>
            </a:r>
            <a:endParaRPr lang="zh-CN" altLang="en-US">
              <a:latin typeface="楷体" panose="02010609060101010101" charset="-122"/>
              <a:ea typeface="楷体" panose="02010609060101010101" charset="-122"/>
            </a:endParaRPr>
          </a:p>
          <a:p>
            <a:pPr marL="0" indent="266700" algn="l" defTabSz="266700" fontAlgn="ctr">
              <a:spcBef>
                <a:spcPct val="0"/>
              </a:spcBef>
              <a:spcAft>
                <a:spcPct val="0"/>
              </a:spcAft>
            </a:pPr>
            <a:r>
              <a:rPr lang="zh-CN" altLang="en-US">
                <a:latin typeface="楷体" panose="02010609060101010101" charset="-122"/>
                <a:ea typeface="楷体" panose="02010609060101010101" charset="-122"/>
              </a:rPr>
              <a:t>工信部等部门发布的</a:t>
            </a:r>
            <a:r>
              <a:rPr lang="en-US" altLang="zh-CN">
                <a:latin typeface="楷体" panose="02010609060101010101" charset="-122"/>
                <a:ea typeface="楷体" panose="02010609060101010101" charset="-122"/>
              </a:rPr>
              <a:t>《</a:t>
            </a:r>
            <a:r>
              <a:rPr lang="zh-CN" altLang="en-US">
                <a:latin typeface="楷体" panose="02010609060101010101" charset="-122"/>
                <a:ea typeface="楷体" panose="02010609060101010101" charset="-122"/>
              </a:rPr>
              <a:t>关于加快传统制造业转型升级的指导意见</a:t>
            </a:r>
            <a:r>
              <a:rPr lang="en-US" altLang="zh-CN">
                <a:latin typeface="楷体" panose="02010609060101010101" charset="-122"/>
                <a:ea typeface="楷体" panose="02010609060101010101" charset="-122"/>
              </a:rPr>
              <a:t>》</a:t>
            </a:r>
            <a:r>
              <a:rPr lang="zh-CN" altLang="en-US">
                <a:latin typeface="楷体" panose="02010609060101010101" charset="-122"/>
                <a:ea typeface="楷体" panose="02010609060101010101" charset="-122"/>
              </a:rPr>
              <a:t>提出，到</a:t>
            </a:r>
            <a:r>
              <a:rPr lang="en-US" altLang="zh-CN">
                <a:latin typeface="楷体" panose="02010609060101010101" charset="-122"/>
                <a:ea typeface="楷体" panose="02010609060101010101" charset="-122"/>
              </a:rPr>
              <a:t>2027</a:t>
            </a:r>
            <a:r>
              <a:rPr lang="zh-CN" altLang="en-US">
                <a:latin typeface="楷体" panose="02010609060101010101" charset="-122"/>
                <a:ea typeface="楷体" panose="02010609060101010101" charset="-122"/>
              </a:rPr>
              <a:t>年传统制造业高端化、智能化、绿色化、融合化发展水平明显提升。</a:t>
            </a:r>
            <a:endParaRPr lang="zh-CN" altLang="en-US">
              <a:latin typeface="楷体" panose="02010609060101010101" charset="-122"/>
              <a:ea typeface="楷体" panose="02010609060101010101" charset="-122"/>
            </a:endParaRPr>
          </a:p>
          <a:p>
            <a:pPr marL="0" indent="0" algn="l" defTabSz="266700" fontAlgn="ctr">
              <a:spcBef>
                <a:spcPct val="0"/>
              </a:spcBef>
              <a:spcAft>
                <a:spcPct val="0"/>
              </a:spcAft>
            </a:pPr>
            <a:r>
              <a:rPr lang="zh-CN" altLang="en-US">
                <a:latin typeface="楷体" panose="02010609060101010101" charset="-122"/>
                <a:ea typeface="楷体" panose="02010609060101010101" charset="-122"/>
              </a:rPr>
              <a:t>工信部等部门发布的</a:t>
            </a:r>
            <a:r>
              <a:rPr lang="en-US" altLang="zh-CN">
                <a:latin typeface="楷体" panose="02010609060101010101" charset="-122"/>
                <a:ea typeface="楷体" panose="02010609060101010101" charset="-122"/>
              </a:rPr>
              <a:t>《</a:t>
            </a:r>
            <a:r>
              <a:rPr lang="zh-CN" altLang="en-US">
                <a:latin typeface="楷体" panose="02010609060101010101" charset="-122"/>
                <a:ea typeface="楷体" panose="02010609060101010101" charset="-122"/>
              </a:rPr>
              <a:t>关于推动未来产业创新发展的实施意见</a:t>
            </a:r>
            <a:r>
              <a:rPr lang="en-US" altLang="zh-CN">
                <a:latin typeface="楷体" panose="02010609060101010101" charset="-122"/>
                <a:ea typeface="楷体" panose="02010609060101010101" charset="-122"/>
              </a:rPr>
              <a:t>》</a:t>
            </a:r>
            <a:r>
              <a:rPr lang="zh-CN" altLang="en-US">
                <a:latin typeface="楷体" panose="02010609060101010101" charset="-122"/>
                <a:ea typeface="楷体" panose="02010609060101010101" charset="-122"/>
              </a:rPr>
              <a:t>，全面布局未来产业发展，重点推进未来制造、未来信息、未来材料、未来能源、未来空间和未来健康六大方向产业发展。</a:t>
            </a:r>
            <a:endParaRPr lang="zh-CN" altLang="en-US">
              <a:latin typeface="楷体" panose="02010609060101010101" charset="-122"/>
              <a:ea typeface="楷体" panose="02010609060101010101" charset="-122"/>
            </a:endParaRPr>
          </a:p>
          <a:p>
            <a:pPr marL="0" indent="266700" algn="l" defTabSz="266700" fontAlgn="ctr">
              <a:spcBef>
                <a:spcPct val="0"/>
              </a:spcBef>
              <a:spcAft>
                <a:spcPct val="0"/>
              </a:spcAft>
            </a:pPr>
            <a:r>
              <a:rPr lang="zh-CN" altLang="en-US">
                <a:latin typeface="楷体" panose="02010609060101010101" charset="-122"/>
                <a:ea typeface="楷体" panose="02010609060101010101" charset="-122"/>
              </a:rPr>
              <a:t>【产业观察】</a:t>
            </a:r>
            <a:endParaRPr lang="zh-CN" altLang="en-US">
              <a:latin typeface="楷体" panose="02010609060101010101" charset="-122"/>
              <a:ea typeface="楷体" panose="02010609060101010101" charset="-122"/>
            </a:endParaRPr>
          </a:p>
          <a:p>
            <a:pPr marL="0" indent="266700" algn="l" defTabSz="266700" fontAlgn="ctr">
              <a:spcBef>
                <a:spcPct val="0"/>
              </a:spcBef>
              <a:spcAft>
                <a:spcPct val="0"/>
              </a:spcAft>
            </a:pPr>
            <a:r>
              <a:rPr lang="zh-CN" altLang="en-US">
                <a:latin typeface="楷体" panose="02010609060101010101" charset="-122"/>
                <a:ea typeface="楷体" panose="02010609060101010101" charset="-122"/>
              </a:rPr>
              <a:t>“新三样”</a:t>
            </a:r>
            <a:r>
              <a:rPr lang="en-US" altLang="zh-CN">
                <a:latin typeface="楷体" panose="02010609060101010101" charset="-122"/>
                <a:ea typeface="楷体" panose="02010609060101010101" charset="-122"/>
              </a:rPr>
              <a:t>——</a:t>
            </a:r>
            <a:r>
              <a:rPr lang="zh-CN" altLang="en-US">
                <a:latin typeface="楷体" panose="02010609060101010101" charset="-122"/>
                <a:ea typeface="楷体" panose="02010609060101010101" charset="-122"/>
              </a:rPr>
              <a:t>新能源汽车、锂离子蓄电池和太阳能蓄电池具有较高的技术门槛和附加值，且符合绿色转型趋势。中国新能源企业持续投入科技研发，不断优化迭代产品，“新三样”叫响全球，</a:t>
            </a:r>
            <a:r>
              <a:rPr lang="en-US" altLang="zh-CN">
                <a:latin typeface="楷体" panose="02010609060101010101" charset="-122"/>
                <a:ea typeface="楷体" panose="02010609060101010101" charset="-122"/>
              </a:rPr>
              <a:t>2023</a:t>
            </a:r>
            <a:r>
              <a:rPr lang="zh-CN" altLang="en-US">
                <a:latin typeface="楷体" panose="02010609060101010101" charset="-122"/>
                <a:ea typeface="楷体" panose="02010609060101010101" charset="-122"/>
              </a:rPr>
              <a:t>年出口首次突破万亿元大关，比上一年增长</a:t>
            </a:r>
            <a:r>
              <a:rPr lang="en-US" altLang="zh-CN">
                <a:latin typeface="楷体" panose="02010609060101010101" charset="-122"/>
                <a:ea typeface="楷体" panose="02010609060101010101" charset="-122"/>
              </a:rPr>
              <a:t>29.9%</a:t>
            </a:r>
            <a:r>
              <a:rPr lang="zh-CN" altLang="en-US">
                <a:latin typeface="楷体" panose="02010609060101010101" charset="-122"/>
                <a:ea typeface="楷体" panose="02010609060101010101" charset="-122"/>
              </a:rPr>
              <a:t>。</a:t>
            </a:r>
            <a:endParaRPr lang="zh-CN" altLang="en-US">
              <a:latin typeface="楷体" panose="02010609060101010101" charset="-122"/>
              <a:ea typeface="楷体" panose="02010609060101010101" charset="-122"/>
            </a:endParaRPr>
          </a:p>
          <a:p>
            <a:pPr marL="0" indent="266700" algn="l" defTabSz="266700" fontAlgn="ctr">
              <a:spcBef>
                <a:spcPct val="0"/>
              </a:spcBef>
              <a:spcAft>
                <a:spcPct val="0"/>
              </a:spcAft>
            </a:pPr>
            <a:r>
              <a:rPr lang="zh-CN" altLang="en-US">
                <a:latin typeface="楷体" panose="02010609060101010101" charset="-122"/>
                <a:ea typeface="楷体" panose="02010609060101010101" charset="-122"/>
              </a:rPr>
              <a:t>【地区动态】</a:t>
            </a:r>
            <a:endParaRPr lang="zh-CN" altLang="en-US">
              <a:latin typeface="楷体" panose="02010609060101010101" charset="-122"/>
              <a:ea typeface="楷体" panose="02010609060101010101" charset="-122"/>
            </a:endParaRPr>
          </a:p>
          <a:p>
            <a:pPr marL="0" indent="266700" algn="l" defTabSz="266700" fontAlgn="ctr">
              <a:spcBef>
                <a:spcPct val="0"/>
              </a:spcBef>
              <a:spcAft>
                <a:spcPct val="0"/>
              </a:spcAft>
            </a:pPr>
            <a:r>
              <a:rPr lang="zh-CN" altLang="en-US">
                <a:latin typeface="楷体" panose="02010609060101010101" charset="-122"/>
                <a:ea typeface="楷体" panose="02010609060101010101" charset="-122"/>
              </a:rPr>
              <a:t>北京依据自身的人才和技术等优势，加快打造人工智能技术创新策源地和产业发展新高地，从提升智能算力供给、强化产业基础研究、推进数据要素集聚、加快大模型创新应用、打造一流发展环境等方面推动北京通用人工智能产业发展。目前，北京已拥有人工智能核心企业</a:t>
            </a:r>
            <a:r>
              <a:rPr lang="en-US" altLang="zh-CN">
                <a:latin typeface="楷体" panose="02010609060101010101" charset="-122"/>
                <a:ea typeface="楷体" panose="02010609060101010101" charset="-122"/>
              </a:rPr>
              <a:t>1000</a:t>
            </a:r>
            <a:r>
              <a:rPr lang="zh-CN" altLang="en-US">
                <a:latin typeface="楷体" panose="02010609060101010101" charset="-122"/>
                <a:ea typeface="楷体" panose="02010609060101010101" charset="-122"/>
              </a:rPr>
              <a:t>多家，全面覆盖人工智能芯片、深度学习框架、图像语音语义识别等领域。</a:t>
            </a:r>
            <a:endParaRPr lang="zh-CN" altLang="en-US">
              <a:latin typeface="楷体" panose="02010609060101010101" charset="-122"/>
              <a:ea typeface="楷体" panose="02010609060101010101" charset="-122"/>
            </a:endParaRPr>
          </a:p>
          <a:p>
            <a:pPr marL="0" indent="266700" algn="l" defTabSz="266700" fontAlgn="ctr">
              <a:spcBef>
                <a:spcPct val="0"/>
              </a:spcBef>
              <a:spcAft>
                <a:spcPct val="0"/>
              </a:spcAft>
            </a:pPr>
            <a:r>
              <a:rPr lang="zh-CN" altLang="en-US">
                <a:latin typeface="Times New Roman" panose="02020603050405020304"/>
                <a:ea typeface="宋体" panose="02010600030101010101" pitchFamily="2" charset="-122"/>
              </a:rPr>
              <a:t>（</a:t>
            </a:r>
            <a:r>
              <a:rPr lang="en-US" altLang="zh-CN">
                <a:latin typeface="Times New Roman" panose="02020603050405020304"/>
                <a:ea typeface="Times New Roman" panose="02020603050405020304"/>
              </a:rPr>
              <a:t>2</a:t>
            </a:r>
            <a:r>
              <a:rPr lang="zh-CN" altLang="en-US">
                <a:latin typeface="Times New Roman" panose="02020603050405020304"/>
                <a:ea typeface="宋体" panose="02010600030101010101" pitchFamily="2" charset="-122"/>
              </a:rPr>
              <a:t>）</a:t>
            </a:r>
            <a:r>
              <a:rPr lang="zh-CN" altLang="en-US">
                <a:latin typeface="宋体" panose="02010600030101010101" pitchFamily="2" charset="-122"/>
                <a:ea typeface="宋体" panose="02010600030101010101" pitchFamily="2" charset="-122"/>
              </a:rPr>
              <a:t>结合材料一和材料二，运用</a:t>
            </a:r>
            <a:r>
              <a:rPr lang="en-US" altLang="zh-CN">
                <a:latin typeface="宋体" panose="02010600030101010101" pitchFamily="2" charset="-122"/>
                <a:ea typeface="宋体" panose="02010600030101010101" pitchFamily="2" charset="-122"/>
              </a:rPr>
              <a:t>《</a:t>
            </a:r>
            <a:r>
              <a:rPr lang="zh-CN" altLang="en-US">
                <a:latin typeface="宋体" panose="02010600030101010101" pitchFamily="2" charset="-122"/>
                <a:ea typeface="宋体" panose="02010600030101010101" pitchFamily="2" charset="-122"/>
              </a:rPr>
              <a:t>经济与社会</a:t>
            </a:r>
            <a:r>
              <a:rPr lang="en-US" altLang="zh-CN">
                <a:latin typeface="宋体" panose="02010600030101010101" pitchFamily="2" charset="-122"/>
                <a:ea typeface="宋体" panose="02010600030101010101" pitchFamily="2" charset="-122"/>
              </a:rPr>
              <a:t>》</a:t>
            </a:r>
            <a:r>
              <a:rPr lang="zh-CN" altLang="en-US">
                <a:latin typeface="宋体" panose="02010600030101010101" pitchFamily="2" charset="-122"/>
                <a:ea typeface="宋体" panose="02010600030101010101" pitchFamily="2" charset="-122"/>
              </a:rPr>
              <a:t>知识，就如何发展新质生产力提出建议，并说明理由。</a:t>
            </a:r>
            <a:endParaRPr lang="zh-CN" altLang="en-US">
              <a:latin typeface="宋体" panose="02010600030101010101" pitchFamily="2" charset="-122"/>
              <a:ea typeface="宋体" panose="02010600030101010101" pitchFamily="2" charset="-122"/>
            </a:endParaRPr>
          </a:p>
          <a:p>
            <a:pPr marL="0" indent="0" algn="ctr" defTabSz="266700" fontAlgn="ctr">
              <a:spcBef>
                <a:spcPct val="0"/>
              </a:spcBef>
              <a:spcAft>
                <a:spcPct val="0"/>
              </a:spcAft>
            </a:pPr>
            <a:r>
              <a:rPr lang="en-US" altLang="zh-CN">
                <a:latin typeface="黑体" panose="02010609060101010101" charset="-122"/>
                <a:ea typeface="黑体" panose="02010609060101010101" charset="-122"/>
              </a:rPr>
              <a:t> </a:t>
            </a:r>
            <a:r>
              <a:rPr lang="zh-CN" altLang="en-US">
                <a:solidFill>
                  <a:srgbClr val="FF0000"/>
                </a:solidFill>
                <a:latin typeface="宋体" panose="02010600030101010101" pitchFamily="2" charset="-122"/>
                <a:ea typeface="宋体" panose="02010600030101010101" pitchFamily="2" charset="-122"/>
              </a:rPr>
              <a:t>参考答案：（</a:t>
            </a:r>
            <a:r>
              <a:rPr lang="en-US" altLang="zh-CN">
                <a:solidFill>
                  <a:srgbClr val="FF0000"/>
                </a:solidFill>
                <a:latin typeface="宋体" panose="02010600030101010101" pitchFamily="2" charset="-122"/>
                <a:ea typeface="宋体" panose="02010600030101010101" pitchFamily="2" charset="-122"/>
              </a:rPr>
              <a:t>2</a:t>
            </a:r>
            <a:r>
              <a:rPr lang="zh-CN" altLang="en-US">
                <a:solidFill>
                  <a:srgbClr val="FF0000"/>
                </a:solidFill>
                <a:latin typeface="宋体" panose="02010600030101010101" pitchFamily="2" charset="-122"/>
                <a:ea typeface="宋体" panose="02010600030101010101" pitchFamily="2" charset="-122"/>
              </a:rPr>
              <a:t>）可从人才培养、研发投入、因地制宜、有效市场和有为政府更好结合等角度作答。如</a:t>
            </a:r>
            <a:endParaRPr lang="zh-CN" altLang="en-US">
              <a:solidFill>
                <a:srgbClr val="FF0000"/>
              </a:solidFill>
              <a:latin typeface="宋体" panose="02010600030101010101" pitchFamily="2" charset="-122"/>
              <a:ea typeface="宋体" panose="02010600030101010101" pitchFamily="2" charset="-122"/>
            </a:endParaRPr>
          </a:p>
          <a:p>
            <a:pPr marL="0" indent="0" algn="just" defTabSz="266700">
              <a:spcBef>
                <a:spcPct val="0"/>
              </a:spcBef>
              <a:spcAft>
                <a:spcPct val="0"/>
              </a:spcAft>
            </a:pPr>
            <a:r>
              <a:rPr lang="zh-CN" altLang="en-US">
                <a:solidFill>
                  <a:srgbClr val="FF0000"/>
                </a:solidFill>
                <a:latin typeface="宋体" panose="02010600030101010101" pitchFamily="2" charset="-122"/>
                <a:ea typeface="宋体" panose="02010600030101010101" pitchFamily="2" charset="-122"/>
              </a:rPr>
              <a:t>从其他角度回答，符合题意，亦可酌情给分。</a:t>
            </a:r>
            <a:endParaRPr lang="zh-CN" altLang="en-US">
              <a:solidFill>
                <a:srgbClr val="FF0000"/>
              </a:solidFill>
              <a:latin typeface="宋体" panose="02010600030101010101" pitchFamily="2" charset="-122"/>
              <a:ea typeface="宋体" panose="02010600030101010101" pitchFamily="2" charset="-122"/>
            </a:endParaRPr>
          </a:p>
        </p:txBody>
      </p:sp>
      <p:sp>
        <p:nvSpPr>
          <p:cNvPr id="3" name="标题 3"/>
          <p:cNvSpPr txBox="1"/>
          <p:nvPr/>
        </p:nvSpPr>
        <p:spPr>
          <a:xfrm>
            <a:off x="382270" y="0"/>
            <a:ext cx="3070225" cy="750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五、复练试题</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341630" y="1056005"/>
            <a:ext cx="6097270" cy="4745990"/>
          </a:xfrm>
          <a:prstGeom prst="rect">
            <a:avLst/>
          </a:prstGeom>
        </p:spPr>
      </p:pic>
      <p:sp>
        <p:nvSpPr>
          <p:cNvPr id="3" name="文本框 2"/>
          <p:cNvSpPr txBox="1"/>
          <p:nvPr/>
        </p:nvSpPr>
        <p:spPr>
          <a:xfrm>
            <a:off x="6792595" y="1855787"/>
            <a:ext cx="5080000" cy="706755"/>
          </a:xfrm>
          <a:prstGeom prst="rect">
            <a:avLst/>
          </a:prstGeom>
          <a:solidFill>
            <a:schemeClr val="accent3">
              <a:lumMod val="20000"/>
              <a:lumOff val="80000"/>
            </a:schemeClr>
          </a:solidFill>
        </p:spPr>
        <p:txBody>
          <a:bodyPr>
            <a:spAutoFit/>
          </a:bodyPr>
          <a:p>
            <a:pPr marL="0" indent="0" algn="ctr">
              <a:spcBef>
                <a:spcPct val="0"/>
              </a:spcBef>
              <a:spcAft>
                <a:spcPct val="0"/>
              </a:spcAft>
            </a:pPr>
            <a:r>
              <a:rPr lang="zh-CN" altLang="en-US" sz="2000">
                <a:latin typeface="黑体" panose="02010609060101010101" charset="-122"/>
                <a:ea typeface="黑体" panose="02010609060101010101" charset="-122"/>
                <a:cs typeface="黑体" panose="02010609060101010101" charset="-122"/>
              </a:rPr>
              <a:t>缘起</a:t>
            </a:r>
            <a:r>
              <a:rPr lang="en-US" altLang="zh-CN" sz="2000">
                <a:latin typeface="黑体" panose="02010609060101010101" charset="-122"/>
                <a:ea typeface="黑体" panose="02010609060101010101" charset="-122"/>
                <a:cs typeface="黑体" panose="02010609060101010101" charset="-122"/>
              </a:rPr>
              <a:t>·</a:t>
            </a:r>
            <a:r>
              <a:rPr lang="zh-CN" altLang="en-US" sz="2000">
                <a:latin typeface="黑体" panose="02010609060101010101" charset="-122"/>
                <a:ea typeface="黑体" panose="02010609060101010101" charset="-122"/>
                <a:cs typeface="黑体" panose="02010609060101010101" charset="-122"/>
              </a:rPr>
              <a:t>为什么选择公园？</a:t>
            </a:r>
            <a:endParaRPr lang="zh-CN" altLang="en-US" sz="2000">
              <a:latin typeface="黑体" panose="02010609060101010101" charset="-122"/>
              <a:ea typeface="黑体" panose="02010609060101010101" charset="-122"/>
              <a:cs typeface="黑体" panose="02010609060101010101" charset="-122"/>
            </a:endParaRPr>
          </a:p>
          <a:p>
            <a:pPr marL="0" indent="0" algn="ctr">
              <a:spcBef>
                <a:spcPct val="0"/>
              </a:spcBef>
              <a:spcAft>
                <a:spcPct val="0"/>
              </a:spcAft>
            </a:pPr>
            <a:r>
              <a:rPr lang="zh-CN" altLang="en-US" sz="2000">
                <a:latin typeface="黑体" panose="02010609060101010101" charset="-122"/>
                <a:ea typeface="黑体" panose="02010609060101010101" charset="-122"/>
                <a:cs typeface="黑体" panose="02010609060101010101" charset="-122"/>
              </a:rPr>
              <a:t>这里蕴藏着丰富的自然教育资源</a:t>
            </a:r>
            <a:endParaRPr lang="zh-CN" altLang="en-US" sz="2000">
              <a:latin typeface="黑体" panose="02010609060101010101" charset="-122"/>
              <a:ea typeface="黑体" panose="02010609060101010101" charset="-122"/>
              <a:cs typeface="黑体" panose="02010609060101010101" charset="-122"/>
            </a:endParaRPr>
          </a:p>
        </p:txBody>
      </p:sp>
      <p:sp>
        <p:nvSpPr>
          <p:cNvPr id="4" name="文本框 3"/>
          <p:cNvSpPr txBox="1"/>
          <p:nvPr/>
        </p:nvSpPr>
        <p:spPr>
          <a:xfrm>
            <a:off x="6792595" y="3355022"/>
            <a:ext cx="5080000" cy="706755"/>
          </a:xfrm>
          <a:prstGeom prst="rect">
            <a:avLst/>
          </a:prstGeom>
          <a:solidFill>
            <a:schemeClr val="accent3">
              <a:lumMod val="20000"/>
              <a:lumOff val="80000"/>
            </a:schemeClr>
          </a:solidFill>
        </p:spPr>
        <p:txBody>
          <a:bodyPr>
            <a:spAutoFit/>
          </a:bodyPr>
          <a:p>
            <a:pPr marL="0" indent="0" algn="ctr">
              <a:spcBef>
                <a:spcPct val="0"/>
              </a:spcBef>
              <a:spcAft>
                <a:spcPct val="0"/>
              </a:spcAft>
            </a:pPr>
            <a:r>
              <a:rPr lang="zh-CN" altLang="en-US" sz="2000">
                <a:latin typeface="黑体" panose="02010609060101010101" charset="-122"/>
                <a:ea typeface="黑体" panose="02010609060101010101" charset="-122"/>
                <a:cs typeface="黑体" panose="02010609060101010101" charset="-122"/>
              </a:rPr>
              <a:t>实践·乐学公园怎么用？</a:t>
            </a:r>
            <a:endParaRPr lang="zh-CN" altLang="en-US" sz="2000">
              <a:latin typeface="黑体" panose="02010609060101010101" charset="-122"/>
              <a:ea typeface="黑体" panose="02010609060101010101" charset="-122"/>
              <a:cs typeface="黑体" panose="02010609060101010101" charset="-122"/>
            </a:endParaRPr>
          </a:p>
          <a:p>
            <a:pPr marL="0" indent="0" algn="ctr">
              <a:spcBef>
                <a:spcPct val="0"/>
              </a:spcBef>
              <a:spcAft>
                <a:spcPct val="0"/>
              </a:spcAft>
            </a:pPr>
            <a:r>
              <a:rPr lang="zh-CN" altLang="en-US" sz="2000">
                <a:latin typeface="黑体" panose="02010609060101010101" charset="-122"/>
                <a:ea typeface="黑体" panose="02010609060101010101" charset="-122"/>
                <a:cs typeface="黑体" panose="02010609060101010101" charset="-122"/>
              </a:rPr>
              <a:t>累计开发特色乐学课程115门</a:t>
            </a:r>
            <a:endParaRPr lang="zh-CN" altLang="en-US" sz="2000">
              <a:latin typeface="黑体" panose="02010609060101010101" charset="-122"/>
              <a:ea typeface="黑体" panose="02010609060101010101" charset="-122"/>
              <a:cs typeface="黑体" panose="02010609060101010101" charset="-122"/>
            </a:endParaRPr>
          </a:p>
        </p:txBody>
      </p:sp>
      <p:sp>
        <p:nvSpPr>
          <p:cNvPr id="5" name="文本框 4"/>
          <p:cNvSpPr txBox="1"/>
          <p:nvPr/>
        </p:nvSpPr>
        <p:spPr>
          <a:xfrm>
            <a:off x="6792595" y="4854257"/>
            <a:ext cx="5080000" cy="706755"/>
          </a:xfrm>
          <a:prstGeom prst="rect">
            <a:avLst/>
          </a:prstGeom>
          <a:solidFill>
            <a:schemeClr val="accent3">
              <a:lumMod val="20000"/>
              <a:lumOff val="80000"/>
            </a:schemeClr>
          </a:solidFill>
        </p:spPr>
        <p:txBody>
          <a:bodyPr>
            <a:spAutoFit/>
          </a:bodyPr>
          <a:p>
            <a:pPr marL="0" indent="0" algn="ctr">
              <a:spcBef>
                <a:spcPct val="0"/>
              </a:spcBef>
              <a:spcAft>
                <a:spcPct val="0"/>
              </a:spcAft>
            </a:pPr>
            <a:r>
              <a:rPr lang="zh-CN" altLang="en-US" sz="2000">
                <a:latin typeface="黑体" panose="02010609060101010101" charset="-122"/>
                <a:ea typeface="黑体" panose="02010609060101010101" charset="-122"/>
                <a:cs typeface="黑体" panose="02010609060101010101" charset="-122"/>
              </a:rPr>
              <a:t>延伸·还有哪里可乐学？</a:t>
            </a:r>
            <a:endParaRPr lang="en-US" altLang="zh-CN" sz="2000">
              <a:latin typeface="黑体" panose="02010609060101010101" charset="-122"/>
              <a:ea typeface="黑体" panose="02010609060101010101" charset="-122"/>
              <a:cs typeface="黑体" panose="02010609060101010101" charset="-122"/>
            </a:endParaRPr>
          </a:p>
          <a:p>
            <a:pPr marL="0" indent="0" algn="ctr">
              <a:spcBef>
                <a:spcPct val="0"/>
              </a:spcBef>
              <a:spcAft>
                <a:spcPct val="0"/>
              </a:spcAft>
            </a:pPr>
            <a:r>
              <a:rPr lang="zh-CN" altLang="en-US" sz="2000">
                <a:latin typeface="黑体" panose="02010609060101010101" charset="-122"/>
                <a:ea typeface="黑体" panose="02010609060101010101" charset="-122"/>
                <a:cs typeface="黑体" panose="02010609060101010101" charset="-122"/>
              </a:rPr>
              <a:t>全域拓展 构建精品乐学生态</a:t>
            </a:r>
            <a:endParaRPr lang="zh-CN" altLang="en-US" sz="2000">
              <a:latin typeface="黑体" panose="02010609060101010101" charset="-122"/>
              <a:ea typeface="黑体" panose="02010609060101010101" charset="-122"/>
              <a:cs typeface="黑体" panose="02010609060101010101" charset="-122"/>
            </a:endParaRPr>
          </a:p>
        </p:txBody>
      </p:sp>
      <p:sp>
        <p:nvSpPr>
          <p:cNvPr id="6" name="上箭头 5"/>
          <p:cNvSpPr/>
          <p:nvPr/>
        </p:nvSpPr>
        <p:spPr>
          <a:xfrm rot="10800000">
            <a:off x="9080183" y="2674302"/>
            <a:ext cx="504825" cy="568960"/>
          </a:xfrm>
          <a:prstGeom prst="up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上箭头 8"/>
          <p:cNvSpPr/>
          <p:nvPr/>
        </p:nvSpPr>
        <p:spPr>
          <a:xfrm rot="10800000">
            <a:off x="9080183" y="4173537"/>
            <a:ext cx="504825" cy="568960"/>
          </a:xfrm>
          <a:prstGeom prst="up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标题 3"/>
          <p:cNvSpPr txBox="1"/>
          <p:nvPr/>
        </p:nvSpPr>
        <p:spPr>
          <a:xfrm>
            <a:off x="108587" y="-317"/>
            <a:ext cx="3070225" cy="750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一、试题分析</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6" grpId="0" bldLvl="0" animBg="1"/>
      <p:bldP spid="4" grpId="0" bldLvl="0" animBg="1"/>
      <p:bldP spid="6" grpId="1" animBg="1"/>
      <p:bldP spid="4" grpId="1" animBg="1"/>
      <p:bldP spid="9" grpId="0" bldLvl="0" animBg="1"/>
      <p:bldP spid="5" grpId="0" bldLvl="0" animBg="1"/>
      <p:bldP spid="9" grpId="1" animBg="1"/>
      <p:bldP spid="5" grpId="1"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02895" y="1291590"/>
            <a:ext cx="4918075" cy="4585970"/>
          </a:xfrm>
          <a:prstGeom prst="rect">
            <a:avLst/>
          </a:prstGeom>
          <a:ln>
            <a:gradFill>
              <a:gsLst>
                <a:gs pos="50000">
                  <a:schemeClr val="tx1"/>
                </a:gs>
                <a:gs pos="0">
                  <a:schemeClr val="tx1">
                    <a:lumMod val="25000"/>
                    <a:lumOff val="75000"/>
                  </a:schemeClr>
                </a:gs>
                <a:gs pos="100000">
                  <a:schemeClr val="tx1">
                    <a:lumMod val="85000"/>
                  </a:schemeClr>
                </a:gs>
              </a:gsLst>
              <a:lin ang="5400000" scaled="0"/>
            </a:gradFill>
          </a:ln>
        </p:spPr>
        <p:txBody>
          <a:bodyPr>
            <a:noAutofit/>
          </a:bodyPr>
          <a:p>
            <a:pPr marL="0" indent="0" algn="just" defTabSz="266700">
              <a:lnSpc>
                <a:spcPct val="100000"/>
              </a:lnSpc>
              <a:spcBef>
                <a:spcPct val="0"/>
              </a:spcBef>
              <a:spcAft>
                <a:spcPct val="0"/>
              </a:spcAft>
            </a:pPr>
            <a:r>
              <a:rPr lang="en-US" altLang="zh-CN" sz="2400" b="1">
                <a:latin typeface="宋体" panose="02010600030101010101" pitchFamily="2" charset="-122"/>
                <a:ea typeface="宋体" panose="02010600030101010101" pitchFamily="2" charset="-122"/>
              </a:rPr>
              <a:t>21.</a:t>
            </a:r>
            <a:r>
              <a:rPr lang="zh-CN" altLang="en-US" sz="2400" b="1">
                <a:latin typeface="宋体" panose="02010600030101010101" pitchFamily="2" charset="-122"/>
                <a:ea typeface="宋体" panose="02010600030101010101" pitchFamily="2" charset="-122"/>
              </a:rPr>
              <a:t>（</a:t>
            </a:r>
            <a:r>
              <a:rPr lang="en-US" altLang="zh-CN" sz="2400" b="1">
                <a:latin typeface="宋体" panose="02010600030101010101" pitchFamily="2" charset="-122"/>
                <a:ea typeface="宋体" panose="02010600030101010101" pitchFamily="2" charset="-122"/>
              </a:rPr>
              <a:t>6</a:t>
            </a:r>
            <a:r>
              <a:rPr lang="zh-CN" altLang="en-US" sz="2400" b="1">
                <a:latin typeface="宋体" panose="02010600030101010101" pitchFamily="2" charset="-122"/>
                <a:ea typeface="宋体" panose="02010600030101010101" pitchFamily="2" charset="-122"/>
              </a:rPr>
              <a:t>分）</a:t>
            </a:r>
            <a:endParaRPr lang="zh-CN" altLang="en-US" sz="2400" b="1">
              <a:latin typeface="宋体" panose="02010600030101010101" pitchFamily="2" charset="-122"/>
              <a:ea typeface="宋体" panose="02010600030101010101" pitchFamily="2" charset="-122"/>
            </a:endParaRPr>
          </a:p>
          <a:p>
            <a:pPr marL="0" indent="304800" algn="just" defTabSz="266700">
              <a:lnSpc>
                <a:spcPct val="100000"/>
              </a:lnSpc>
              <a:spcBef>
                <a:spcPct val="0"/>
              </a:spcBef>
              <a:spcAft>
                <a:spcPct val="0"/>
              </a:spcAft>
            </a:pPr>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该区</a:t>
            </a:r>
            <a:r>
              <a:rPr lang="zh-CN" altLang="en-US" sz="2400" b="1">
                <a:solidFill>
                  <a:srgbClr val="FF0000"/>
                </a:solidFill>
                <a:latin typeface="宋体" panose="02010600030101010101" pitchFamily="2" charset="-122"/>
                <a:ea typeface="宋体" panose="02010600030101010101" pitchFamily="2" charset="-122"/>
              </a:rPr>
              <a:t>立足实践</a:t>
            </a:r>
            <a:r>
              <a:rPr lang="zh-CN" altLang="en-US" sz="2400" b="1">
                <a:latin typeface="宋体" panose="02010600030101010101" pitchFamily="2" charset="-122"/>
                <a:ea typeface="宋体" panose="02010600030101010101" pitchFamily="2" charset="-122"/>
              </a:rPr>
              <a:t>，推动教育、生态和治理融合发展，体现了</a:t>
            </a:r>
            <a:r>
              <a:rPr lang="zh-CN" altLang="en-US" sz="2400" b="1">
                <a:solidFill>
                  <a:schemeClr val="tx1"/>
                </a:solidFill>
                <a:latin typeface="宋体" panose="02010600030101010101" pitchFamily="2" charset="-122"/>
                <a:ea typeface="宋体" panose="02010600030101010101" pitchFamily="2" charset="-122"/>
              </a:rPr>
              <a:t>创新思维</a:t>
            </a:r>
            <a:r>
              <a:rPr lang="zh-CN" altLang="en-US" sz="2400" b="1">
                <a:latin typeface="宋体" panose="02010600030101010101" pitchFamily="2" charset="-122"/>
                <a:ea typeface="宋体" panose="02010600030101010101" pitchFamily="2" charset="-122"/>
              </a:rPr>
              <a:t>。</a:t>
            </a:r>
            <a:r>
              <a:rPr lang="zh-CN" altLang="en-US" sz="2400" b="1">
                <a:solidFill>
                  <a:srgbClr val="FF0000"/>
                </a:solidFill>
                <a:highlight>
                  <a:srgbClr val="FFFF00"/>
                </a:highlight>
                <a:latin typeface="宋体" panose="02010600030101010101" pitchFamily="2" charset="-122"/>
                <a:ea typeface="宋体" panose="02010600030101010101" pitchFamily="2" charset="-122"/>
                <a:sym typeface="+mn-ea"/>
              </a:rPr>
              <a:t>（</a:t>
            </a:r>
            <a:r>
              <a:rPr lang="en-US" altLang="zh-CN" sz="2400" b="1">
                <a:solidFill>
                  <a:srgbClr val="FF0000"/>
                </a:solidFill>
                <a:highlight>
                  <a:srgbClr val="FFFF00"/>
                </a:highlight>
                <a:latin typeface="宋体" panose="02010600030101010101" pitchFamily="2" charset="-122"/>
                <a:ea typeface="宋体" panose="02010600030101010101" pitchFamily="2" charset="-122"/>
                <a:sym typeface="+mn-ea"/>
              </a:rPr>
              <a:t>1+1</a:t>
            </a:r>
            <a:r>
              <a:rPr lang="zh-CN" altLang="en-US" sz="2400" b="1">
                <a:solidFill>
                  <a:srgbClr val="FF0000"/>
                </a:solidFill>
                <a:highlight>
                  <a:srgbClr val="FFFF00"/>
                </a:highlight>
                <a:latin typeface="宋体" panose="02010600030101010101" pitchFamily="2" charset="-122"/>
                <a:ea typeface="宋体" panose="02010600030101010101" pitchFamily="2" charset="-122"/>
                <a:sym typeface="+mn-ea"/>
              </a:rPr>
              <a:t>分）</a:t>
            </a:r>
            <a:endParaRPr lang="zh-CN" altLang="en-US" sz="2400" b="1">
              <a:latin typeface="宋体" panose="02010600030101010101" pitchFamily="2" charset="-122"/>
              <a:ea typeface="宋体" panose="02010600030101010101" pitchFamily="2" charset="-122"/>
            </a:endParaRPr>
          </a:p>
          <a:p>
            <a:pPr marL="0" indent="304800" algn="just" defTabSz="266700">
              <a:lnSpc>
                <a:spcPct val="100000"/>
              </a:lnSpc>
              <a:spcBef>
                <a:spcPct val="0"/>
              </a:spcBef>
              <a:spcAft>
                <a:spcPct val="0"/>
              </a:spcAft>
            </a:pPr>
            <a:r>
              <a:rPr lang="zh-CN" altLang="en-US" sz="2400" b="1">
                <a:latin typeface="宋体" panose="02010600030101010101" pitchFamily="2" charset="-122"/>
                <a:ea typeface="宋体" panose="02010600030101010101" pitchFamily="2" charset="-122"/>
              </a:rPr>
              <a:t> </a:t>
            </a:r>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运用</a:t>
            </a:r>
            <a:r>
              <a:rPr lang="zh-CN" altLang="en-US" sz="2400" b="1">
                <a:solidFill>
                  <a:srgbClr val="FF0000"/>
                </a:solidFill>
                <a:latin typeface="宋体" panose="02010600030101010101" pitchFamily="2" charset="-122"/>
                <a:ea typeface="宋体" panose="02010600030101010101" pitchFamily="2" charset="-122"/>
              </a:rPr>
              <a:t>联想思维</a:t>
            </a:r>
            <a:r>
              <a:rPr lang="zh-CN" altLang="en-US" sz="2400" b="1">
                <a:latin typeface="宋体" panose="02010600030101010101" pitchFamily="2" charset="-122"/>
                <a:ea typeface="宋体" panose="02010600030101010101" pitchFamily="2" charset="-122"/>
              </a:rPr>
              <a:t>，将生态资源迁移到教育教学中，拓展全域育人空间。</a:t>
            </a:r>
            <a:r>
              <a:rPr lang="zh-CN" altLang="en-US" sz="2400" b="1">
                <a:solidFill>
                  <a:srgbClr val="FF0000"/>
                </a:solidFill>
                <a:highlight>
                  <a:srgbClr val="FFFF00"/>
                </a:highlight>
                <a:latin typeface="宋体" panose="02010600030101010101" pitchFamily="2" charset="-122"/>
                <a:ea typeface="宋体" panose="02010600030101010101" pitchFamily="2" charset="-122"/>
                <a:sym typeface="+mn-ea"/>
              </a:rPr>
              <a:t>（</a:t>
            </a:r>
            <a:r>
              <a:rPr lang="en-US" altLang="zh-CN" sz="2400" b="1">
                <a:solidFill>
                  <a:srgbClr val="FF0000"/>
                </a:solidFill>
                <a:highlight>
                  <a:srgbClr val="FFFF00"/>
                </a:highlight>
                <a:latin typeface="宋体" panose="02010600030101010101" pitchFamily="2" charset="-122"/>
                <a:ea typeface="宋体" panose="02010600030101010101" pitchFamily="2" charset="-122"/>
                <a:sym typeface="+mn-ea"/>
              </a:rPr>
              <a:t>1+1</a:t>
            </a:r>
            <a:r>
              <a:rPr lang="zh-CN" altLang="en-US" sz="2400" b="1">
                <a:solidFill>
                  <a:srgbClr val="FF0000"/>
                </a:solidFill>
                <a:highlight>
                  <a:srgbClr val="FFFF00"/>
                </a:highlight>
                <a:latin typeface="宋体" panose="02010600030101010101" pitchFamily="2" charset="-122"/>
                <a:ea typeface="宋体" panose="02010600030101010101" pitchFamily="2" charset="-122"/>
                <a:sym typeface="+mn-ea"/>
              </a:rPr>
              <a:t>分）</a:t>
            </a:r>
            <a:endParaRPr lang="zh-CN" altLang="en-US" sz="2400" b="1">
              <a:latin typeface="宋体" panose="02010600030101010101" pitchFamily="2" charset="-122"/>
              <a:ea typeface="宋体" panose="02010600030101010101" pitchFamily="2" charset="-122"/>
            </a:endParaRPr>
          </a:p>
          <a:p>
            <a:pPr marL="0" indent="304800" algn="just" defTabSz="266700">
              <a:lnSpc>
                <a:spcPct val="100000"/>
              </a:lnSpc>
              <a:spcBef>
                <a:spcPct val="0"/>
              </a:spcBef>
              <a:spcAft>
                <a:spcPct val="0"/>
              </a:spcAft>
            </a:pPr>
            <a:r>
              <a:rPr lang="zh-CN" altLang="en-US" sz="2400" b="1">
                <a:latin typeface="宋体" panose="02010600030101010101" pitchFamily="2" charset="-122"/>
                <a:ea typeface="宋体" panose="02010600030101010101" pitchFamily="2" charset="-122"/>
              </a:rPr>
              <a:t> </a:t>
            </a:r>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运用</a:t>
            </a:r>
            <a:r>
              <a:rPr lang="zh-CN" altLang="en-US" sz="2400" b="1">
                <a:solidFill>
                  <a:srgbClr val="FF0000"/>
                </a:solidFill>
                <a:latin typeface="宋体" panose="02010600030101010101" pitchFamily="2" charset="-122"/>
                <a:ea typeface="宋体" panose="02010600030101010101" pitchFamily="2" charset="-122"/>
              </a:rPr>
              <a:t>发散思维与聚合思维</a:t>
            </a:r>
            <a:r>
              <a:rPr lang="zh-CN" altLang="en-US" sz="2400" b="1">
                <a:latin typeface="宋体" panose="02010600030101010101" pitchFamily="2" charset="-122"/>
                <a:ea typeface="宋体" panose="02010600030101010101" pitchFamily="2" charset="-122"/>
              </a:rPr>
              <a:t>，依托</a:t>
            </a:r>
            <a:r>
              <a:rPr lang="en-US" altLang="zh-CN" sz="2400" b="1">
                <a:latin typeface="宋体" panose="02010600030101010101" pitchFamily="2" charset="-122"/>
                <a:ea typeface="宋体" panose="02010600030101010101" pitchFamily="2" charset="-122"/>
              </a:rPr>
              <a:t>“3+X”</a:t>
            </a:r>
            <a:r>
              <a:rPr lang="zh-CN" altLang="en-US" sz="2400" b="1">
                <a:latin typeface="宋体" panose="02010600030101010101" pitchFamily="2" charset="-122"/>
                <a:ea typeface="宋体" panose="02010600030101010101" pitchFamily="2" charset="-122"/>
              </a:rPr>
              <a:t>课程体系，开发各具特色的校本课程，集中各类资源和多方力量，让学生能够享受高品质的乐学课程。</a:t>
            </a:r>
            <a:r>
              <a:rPr lang="zh-CN" altLang="en-US" sz="2400" b="1">
                <a:solidFill>
                  <a:srgbClr val="FF0000"/>
                </a:solidFill>
                <a:highlight>
                  <a:srgbClr val="FFFF00"/>
                </a:highlight>
                <a:latin typeface="宋体" panose="02010600030101010101" pitchFamily="2" charset="-122"/>
                <a:ea typeface="宋体" panose="02010600030101010101" pitchFamily="2" charset="-122"/>
                <a:sym typeface="+mn-ea"/>
              </a:rPr>
              <a:t>（</a:t>
            </a:r>
            <a:r>
              <a:rPr lang="en-US" altLang="zh-CN" sz="2400" b="1">
                <a:solidFill>
                  <a:srgbClr val="FF0000"/>
                </a:solidFill>
                <a:highlight>
                  <a:srgbClr val="FFFF00"/>
                </a:highlight>
                <a:latin typeface="宋体" panose="02010600030101010101" pitchFamily="2" charset="-122"/>
                <a:ea typeface="宋体" panose="02010600030101010101" pitchFamily="2" charset="-122"/>
                <a:sym typeface="+mn-ea"/>
              </a:rPr>
              <a:t>1+1</a:t>
            </a:r>
            <a:r>
              <a:rPr lang="zh-CN" altLang="en-US" sz="2400" b="1">
                <a:solidFill>
                  <a:srgbClr val="FF0000"/>
                </a:solidFill>
                <a:highlight>
                  <a:srgbClr val="FFFF00"/>
                </a:highlight>
                <a:latin typeface="宋体" panose="02010600030101010101" pitchFamily="2" charset="-122"/>
                <a:ea typeface="宋体" panose="02010600030101010101" pitchFamily="2" charset="-122"/>
                <a:sym typeface="+mn-ea"/>
              </a:rPr>
              <a:t>分）</a:t>
            </a:r>
            <a:endParaRPr lang="zh-CN" altLang="en-US" sz="2400" b="1">
              <a:latin typeface="宋体" panose="02010600030101010101" pitchFamily="2" charset="-122"/>
              <a:ea typeface="宋体" panose="02010600030101010101" pitchFamily="2" charset="-122"/>
            </a:endParaRPr>
          </a:p>
        </p:txBody>
      </p:sp>
      <p:sp>
        <p:nvSpPr>
          <p:cNvPr id="4" name="文本框 3"/>
          <p:cNvSpPr txBox="1"/>
          <p:nvPr>
            <p:custDataLst>
              <p:tags r:id="rId1"/>
            </p:custDataLst>
          </p:nvPr>
        </p:nvSpPr>
        <p:spPr>
          <a:xfrm>
            <a:off x="6096635" y="695960"/>
            <a:ext cx="5732780" cy="1849120"/>
          </a:xfrm>
          <a:prstGeom prst="rect">
            <a:avLst/>
          </a:prstGeom>
          <a:solidFill>
            <a:schemeClr val="accent3">
              <a:lumMod val="20000"/>
              <a:lumOff val="80000"/>
            </a:schemeClr>
          </a:solidFill>
          <a:ln>
            <a:gradFill>
              <a:gsLst>
                <a:gs pos="100000">
                  <a:srgbClr val="FF1744"/>
                </a:gs>
                <a:gs pos="0">
                  <a:srgbClr val="FF8A80"/>
                </a:gs>
              </a:gsLst>
              <a:path path="circle">
                <a:fillToRect l="100000" t="100000"/>
              </a:path>
              <a:tileRect r="-100000" b="-100000"/>
            </a:gradFill>
          </a:ln>
        </p:spPr>
        <p:txBody>
          <a:bodyPr wrap="square">
            <a:noAutofit/>
          </a:bodyPr>
          <a:p>
            <a:pPr marL="0" indent="0" algn="l"/>
            <a:r>
              <a:rPr lang="en-US" altLang="zh-CN" sz="2400" b="1" i="0">
                <a:solidFill>
                  <a:srgbClr val="333333"/>
                </a:solidFill>
                <a:latin typeface="宋体" panose="02010600030101010101" pitchFamily="2" charset="-122"/>
                <a:ea typeface="宋体" panose="02010600030101010101" pitchFamily="2" charset="-122"/>
                <a:cs typeface="宋体" panose="02010600030101010101" pitchFamily="2" charset="-122"/>
              </a:rPr>
              <a:t>    </a:t>
            </a:r>
            <a:r>
              <a:rPr lang="zh-CN" altLang="en-US" sz="2400" b="1" i="0">
                <a:solidFill>
                  <a:srgbClr val="333333"/>
                </a:solidFill>
                <a:latin typeface="宋体" panose="02010600030101010101" pitchFamily="2" charset="-122"/>
                <a:ea typeface="宋体" panose="02010600030101010101" pitchFamily="2" charset="-122"/>
                <a:cs typeface="宋体" panose="02010600030101010101" pitchFamily="2" charset="-122"/>
              </a:rPr>
              <a:t>创新思维的</a:t>
            </a:r>
            <a:r>
              <a:rPr lang="zh-CN" altLang="en-US" sz="2400" b="1" i="0">
                <a:solidFill>
                  <a:srgbClr val="333333"/>
                </a:solidFill>
                <a:highlight>
                  <a:srgbClr val="FFFF00"/>
                </a:highlight>
                <a:latin typeface="宋体" panose="02010600030101010101" pitchFamily="2" charset="-122"/>
                <a:ea typeface="宋体" panose="02010600030101010101" pitchFamily="2" charset="-122"/>
                <a:cs typeface="宋体" panose="02010600030101010101" pitchFamily="2" charset="-122"/>
              </a:rPr>
              <a:t>含义</a:t>
            </a:r>
            <a:r>
              <a:rPr lang="zh-CN" altLang="en-US" sz="2400" b="1" i="0">
                <a:solidFill>
                  <a:srgbClr val="333333"/>
                </a:solidFill>
                <a:latin typeface="宋体" panose="02010600030101010101" pitchFamily="2" charset="-122"/>
                <a:ea typeface="宋体" panose="02010600030101010101" pitchFamily="2" charset="-122"/>
                <a:cs typeface="宋体" panose="02010600030101010101" pitchFamily="2" charset="-122"/>
              </a:rPr>
              <a:t>：创新思维特指人们在实践中破除迷信、</a:t>
            </a:r>
            <a:r>
              <a:rPr lang="zh-CN" altLang="en-US" sz="2400" b="1" i="0">
                <a:solidFill>
                  <a:srgbClr val="FF0000"/>
                </a:solidFill>
                <a:latin typeface="宋体" panose="02010600030101010101" pitchFamily="2" charset="-122"/>
                <a:ea typeface="宋体" panose="02010600030101010101" pitchFamily="2" charset="-122"/>
                <a:cs typeface="宋体" panose="02010600030101010101" pitchFamily="2" charset="-122"/>
              </a:rPr>
              <a:t>超越陈规</a:t>
            </a:r>
            <a:r>
              <a:rPr lang="zh-CN" altLang="en-US" sz="2400" b="1" i="0">
                <a:solidFill>
                  <a:srgbClr val="333333"/>
                </a:solidFill>
                <a:latin typeface="宋体" panose="02010600030101010101" pitchFamily="2" charset="-122"/>
                <a:ea typeface="宋体" panose="02010600030101010101" pitchFamily="2" charset="-122"/>
                <a:cs typeface="宋体" panose="02010600030101010101" pitchFamily="2" charset="-122"/>
              </a:rPr>
              <a:t>，有所发现、</a:t>
            </a:r>
            <a:r>
              <a:rPr lang="zh-CN" altLang="en-US" sz="2400" b="1" i="0">
                <a:solidFill>
                  <a:srgbClr val="FF0000"/>
                </a:solidFill>
                <a:latin typeface="宋体" panose="02010600030101010101" pitchFamily="2" charset="-122"/>
                <a:ea typeface="宋体" panose="02010600030101010101" pitchFamily="2" charset="-122"/>
                <a:cs typeface="宋体" panose="02010600030101010101" pitchFamily="2" charset="-122"/>
              </a:rPr>
              <a:t>有所发明</a:t>
            </a:r>
            <a:r>
              <a:rPr lang="zh-CN" altLang="en-US" sz="2400" b="1" i="0">
                <a:solidFill>
                  <a:srgbClr val="333333"/>
                </a:solidFill>
                <a:latin typeface="宋体" panose="02010600030101010101" pitchFamily="2" charset="-122"/>
                <a:ea typeface="宋体" panose="02010600030101010101" pitchFamily="2" charset="-122"/>
                <a:cs typeface="宋体" panose="02010600030101010101" pitchFamily="2" charset="-122"/>
              </a:rPr>
              <a:t>的思维</a:t>
            </a:r>
            <a:r>
              <a:rPr lang="zh-CN" altLang="en-US" sz="2400" b="1" i="0">
                <a:solidFill>
                  <a:srgbClr val="333333"/>
                </a:solidFill>
                <a:latin typeface="宋体" panose="02010600030101010101" pitchFamily="2" charset="-122"/>
                <a:ea typeface="宋体" panose="02010600030101010101" pitchFamily="2" charset="-122"/>
                <a:cs typeface="宋体" panose="02010600030101010101" pitchFamily="2" charset="-122"/>
              </a:rPr>
              <a:t>活动。</a:t>
            </a:r>
            <a:endParaRPr lang="zh-CN" altLang="en-US" sz="2400" b="1" i="0">
              <a:solidFill>
                <a:srgbClr val="333333"/>
              </a:solidFill>
              <a:latin typeface="宋体" panose="02010600030101010101" pitchFamily="2" charset="-122"/>
              <a:ea typeface="宋体" panose="02010600030101010101" pitchFamily="2" charset="-122"/>
              <a:cs typeface="宋体" panose="02010600030101010101" pitchFamily="2" charset="-122"/>
            </a:endParaRPr>
          </a:p>
          <a:p>
            <a:pPr marL="0" indent="0" algn="l"/>
            <a:r>
              <a:rPr lang="en-US" altLang="zh-CN" sz="2400" b="1" i="0">
                <a:solidFill>
                  <a:srgbClr val="333333"/>
                </a:solidFill>
                <a:latin typeface="宋体" panose="02010600030101010101" pitchFamily="2" charset="-122"/>
                <a:ea typeface="宋体" panose="02010600030101010101" pitchFamily="2" charset="-122"/>
                <a:cs typeface="宋体" panose="02010600030101010101" pitchFamily="2" charset="-122"/>
              </a:rPr>
              <a:t>   </a:t>
            </a:r>
            <a:r>
              <a:rPr lang="zh-CN" altLang="en-US" sz="2400" b="1">
                <a:solidFill>
                  <a:srgbClr val="333333"/>
                </a:solidFill>
                <a:latin typeface="宋体" panose="02010600030101010101" pitchFamily="2" charset="-122"/>
                <a:ea typeface="宋体" panose="02010600030101010101" pitchFamily="2" charset="-122"/>
                <a:cs typeface="宋体" panose="02010600030101010101" pitchFamily="2" charset="-122"/>
                <a:sym typeface="+mn-ea"/>
              </a:rPr>
              <a:t>创新思维的</a:t>
            </a:r>
            <a:r>
              <a:rPr lang="zh-CN" altLang="en-US" sz="2400" b="1" i="0">
                <a:solidFill>
                  <a:srgbClr val="333333"/>
                </a:solidFill>
                <a:highlight>
                  <a:srgbClr val="FFFF00"/>
                </a:highlight>
                <a:latin typeface="宋体" panose="02010600030101010101" pitchFamily="2" charset="-122"/>
                <a:ea typeface="宋体" panose="02010600030101010101" pitchFamily="2" charset="-122"/>
                <a:cs typeface="宋体" panose="02010600030101010101" pitchFamily="2" charset="-122"/>
              </a:rPr>
              <a:t>特征：思路新、方法新和结果</a:t>
            </a:r>
            <a:r>
              <a:rPr lang="zh-CN" altLang="en-US" sz="2400" b="1" i="0">
                <a:solidFill>
                  <a:srgbClr val="333333"/>
                </a:solidFill>
                <a:highlight>
                  <a:srgbClr val="FFFF00"/>
                </a:highlight>
                <a:latin typeface="宋体" panose="02010600030101010101" pitchFamily="2" charset="-122"/>
                <a:ea typeface="宋体" panose="02010600030101010101" pitchFamily="2" charset="-122"/>
                <a:cs typeface="宋体" panose="02010600030101010101" pitchFamily="2" charset="-122"/>
              </a:rPr>
              <a:t>新。</a:t>
            </a:r>
            <a:endParaRPr lang="zh-CN" altLang="en-US" sz="2400" b="1" i="0">
              <a:solidFill>
                <a:srgbClr val="333333"/>
              </a:solidFill>
              <a:highlight>
                <a:srgbClr val="FFFF00"/>
              </a:highlight>
              <a:latin typeface="宋体" panose="02010600030101010101" pitchFamily="2" charset="-122"/>
              <a:ea typeface="宋体" panose="02010600030101010101" pitchFamily="2" charset="-122"/>
              <a:cs typeface="宋体" panose="02010600030101010101" pitchFamily="2" charset="-122"/>
            </a:endParaRPr>
          </a:p>
        </p:txBody>
      </p:sp>
      <p:cxnSp>
        <p:nvCxnSpPr>
          <p:cNvPr id="6" name="直接箭头连接符 5"/>
          <p:cNvCxnSpPr/>
          <p:nvPr>
            <p:custDataLst>
              <p:tags r:id="rId2"/>
            </p:custDataLst>
          </p:nvPr>
        </p:nvCxnSpPr>
        <p:spPr>
          <a:xfrm flipV="1">
            <a:off x="5502275" y="1588453"/>
            <a:ext cx="512445" cy="431800"/>
          </a:xfrm>
          <a:prstGeom prst="straightConnector1">
            <a:avLst/>
          </a:prstGeom>
          <a:ln w="28575">
            <a:gradFill>
              <a:gsLst>
                <a:gs pos="51300">
                  <a:srgbClr val="FE5F4A"/>
                </a:gs>
                <a:gs pos="0">
                  <a:srgbClr val="DF0303"/>
                </a:gs>
                <a:gs pos="100000">
                  <a:srgbClr val="FEA06E"/>
                </a:gs>
              </a:gsLst>
              <a:lin ang="5400000" scaled="0"/>
            </a:gradFill>
            <a:tailEnd type="arrow"/>
          </a:ln>
        </p:spPr>
        <p:style>
          <a:lnRef idx="2">
            <a:schemeClr val="accent1"/>
          </a:lnRef>
          <a:fillRef idx="0">
            <a:srgbClr val="FFFFFF"/>
          </a:fillRef>
          <a:effectRef idx="0">
            <a:srgbClr val="FFFFFF"/>
          </a:effectRef>
          <a:fontRef idx="minor">
            <a:schemeClr val="tx1"/>
          </a:fontRef>
        </p:style>
      </p:cxnSp>
      <p:sp>
        <p:nvSpPr>
          <p:cNvPr id="5" name="文本框 4"/>
          <p:cNvSpPr txBox="1"/>
          <p:nvPr>
            <p:custDataLst>
              <p:tags r:id="rId3"/>
            </p:custDataLst>
          </p:nvPr>
        </p:nvSpPr>
        <p:spPr>
          <a:xfrm>
            <a:off x="6096635" y="3012440"/>
            <a:ext cx="5732780" cy="693420"/>
          </a:xfrm>
          <a:prstGeom prst="rect">
            <a:avLst/>
          </a:prstGeom>
          <a:solidFill>
            <a:schemeClr val="accent3">
              <a:lumMod val="20000"/>
              <a:lumOff val="80000"/>
            </a:schemeClr>
          </a:solidFill>
          <a:ln>
            <a:gradFill>
              <a:gsLst>
                <a:gs pos="100000">
                  <a:srgbClr val="FF1744"/>
                </a:gs>
                <a:gs pos="0">
                  <a:srgbClr val="FF8A80"/>
                </a:gs>
              </a:gsLst>
              <a:path path="circle">
                <a:fillToRect l="100000" t="100000"/>
              </a:path>
              <a:tileRect r="-100000" b="-100000"/>
            </a:gradFill>
          </a:ln>
        </p:spPr>
        <p:txBody>
          <a:bodyPr wrap="square">
            <a:noAutofit/>
          </a:bodyPr>
          <a:p>
            <a:pPr marL="0" indent="0" algn="l"/>
            <a:r>
              <a:rPr lang="zh-CN" altLang="en-US" sz="2400" b="1" i="0">
                <a:solidFill>
                  <a:schemeClr val="tx1"/>
                </a:solidFill>
                <a:latin typeface="宋体" panose="02010600030101010101" pitchFamily="2" charset="-122"/>
                <a:ea typeface="宋体" panose="02010600030101010101" pitchFamily="2" charset="-122"/>
                <a:cs typeface="宋体" panose="02010600030101010101" pitchFamily="2" charset="-122"/>
              </a:rPr>
              <a:t>联想</a:t>
            </a:r>
            <a:r>
              <a:rPr lang="en-US" altLang="zh-CN" sz="2400" b="1" i="0">
                <a:solidFill>
                  <a:schemeClr val="tx1"/>
                </a:solidFill>
                <a:latin typeface="宋体" panose="02010600030101010101" pitchFamily="2" charset="-122"/>
                <a:ea typeface="宋体" panose="02010600030101010101" pitchFamily="2" charset="-122"/>
                <a:cs typeface="宋体" panose="02010600030101010101" pitchFamily="2" charset="-122"/>
              </a:rPr>
              <a:t>——</a:t>
            </a:r>
            <a:r>
              <a:rPr lang="zh-CN" altLang="en-US" sz="2400" b="1" i="0">
                <a:solidFill>
                  <a:schemeClr val="tx1"/>
                </a:solidFill>
                <a:latin typeface="宋体" panose="02010600030101010101" pitchFamily="2" charset="-122"/>
                <a:ea typeface="宋体" panose="02010600030101010101" pitchFamily="2" charset="-122"/>
                <a:cs typeface="宋体" panose="02010600030101010101" pitchFamily="2" charset="-122"/>
              </a:rPr>
              <a:t>迁移、想象</a:t>
            </a:r>
            <a:endParaRPr lang="zh-CN" altLang="en-US" sz="2400" b="1" i="0">
              <a:solidFill>
                <a:schemeClr val="tx1"/>
              </a:solidFill>
              <a:latin typeface="宋体" panose="02010600030101010101" pitchFamily="2" charset="-122"/>
              <a:ea typeface="宋体" panose="02010600030101010101" pitchFamily="2" charset="-122"/>
              <a:cs typeface="宋体" panose="02010600030101010101" pitchFamily="2" charset="-122"/>
            </a:endParaRPr>
          </a:p>
        </p:txBody>
      </p:sp>
      <p:cxnSp>
        <p:nvCxnSpPr>
          <p:cNvPr id="9" name="直接箭头连接符 8"/>
          <p:cNvCxnSpPr/>
          <p:nvPr>
            <p:custDataLst>
              <p:tags r:id="rId4"/>
            </p:custDataLst>
          </p:nvPr>
        </p:nvCxnSpPr>
        <p:spPr>
          <a:xfrm>
            <a:off x="5360670" y="3327718"/>
            <a:ext cx="528955" cy="62865"/>
          </a:xfrm>
          <a:prstGeom prst="straightConnector1">
            <a:avLst/>
          </a:prstGeom>
          <a:ln w="28575">
            <a:gradFill>
              <a:gsLst>
                <a:gs pos="51300">
                  <a:srgbClr val="FE5F4A"/>
                </a:gs>
                <a:gs pos="0">
                  <a:srgbClr val="DF0303"/>
                </a:gs>
                <a:gs pos="100000">
                  <a:srgbClr val="FEA06E"/>
                </a:gs>
              </a:gsLst>
              <a:lin ang="5400000" scaled="0"/>
            </a:gradFill>
            <a:tailEnd type="arrow"/>
          </a:ln>
        </p:spPr>
        <p:style>
          <a:lnRef idx="2">
            <a:schemeClr val="accent1"/>
          </a:lnRef>
          <a:fillRef idx="0">
            <a:srgbClr val="FFFFFF"/>
          </a:fillRef>
          <a:effectRef idx="0">
            <a:srgbClr val="FFFFFF"/>
          </a:effectRef>
          <a:fontRef idx="minor">
            <a:schemeClr val="tx1"/>
          </a:fontRef>
        </p:style>
      </p:cxnSp>
      <p:sp>
        <p:nvSpPr>
          <p:cNvPr id="10" name="文本框 9"/>
          <p:cNvSpPr txBox="1"/>
          <p:nvPr>
            <p:custDataLst>
              <p:tags r:id="rId5"/>
            </p:custDataLst>
          </p:nvPr>
        </p:nvSpPr>
        <p:spPr>
          <a:xfrm>
            <a:off x="6096635" y="4491355"/>
            <a:ext cx="5732780" cy="1526540"/>
          </a:xfrm>
          <a:prstGeom prst="rect">
            <a:avLst/>
          </a:prstGeom>
          <a:solidFill>
            <a:schemeClr val="accent3">
              <a:lumMod val="20000"/>
              <a:lumOff val="80000"/>
            </a:schemeClr>
          </a:solidFill>
          <a:ln>
            <a:gradFill>
              <a:gsLst>
                <a:gs pos="100000">
                  <a:srgbClr val="FF1744"/>
                </a:gs>
                <a:gs pos="0">
                  <a:srgbClr val="FF8A80"/>
                </a:gs>
              </a:gsLst>
              <a:path path="circle">
                <a:fillToRect l="100000" t="100000"/>
              </a:path>
              <a:tileRect r="-100000" b="-100000"/>
            </a:gradFill>
          </a:ln>
        </p:spPr>
        <p:txBody>
          <a:bodyPr wrap="square">
            <a:noAutofit/>
          </a:bodyPr>
          <a:p>
            <a:pPr marL="0" indent="0" algn="l"/>
            <a:r>
              <a:rPr lang="zh-CN" altLang="en-US" sz="2400" b="1" i="0">
                <a:solidFill>
                  <a:schemeClr val="tx1"/>
                </a:solidFill>
                <a:latin typeface="宋体" panose="02010600030101010101" pitchFamily="2" charset="-122"/>
                <a:ea typeface="宋体" panose="02010600030101010101" pitchFamily="2" charset="-122"/>
                <a:cs typeface="宋体" panose="02010600030101010101" pitchFamily="2" charset="-122"/>
              </a:rPr>
              <a:t>发散</a:t>
            </a:r>
            <a:r>
              <a:rPr lang="en-US" altLang="zh-CN" sz="2400" b="1" i="0">
                <a:solidFill>
                  <a:schemeClr val="tx1"/>
                </a:solidFill>
                <a:latin typeface="宋体" panose="02010600030101010101" pitchFamily="2" charset="-122"/>
                <a:ea typeface="宋体" panose="02010600030101010101" pitchFamily="2" charset="-122"/>
                <a:cs typeface="宋体" panose="02010600030101010101" pitchFamily="2" charset="-122"/>
              </a:rPr>
              <a:t>——</a:t>
            </a:r>
            <a:r>
              <a:rPr lang="zh-CN" altLang="en-US" sz="2400" b="1" i="0">
                <a:solidFill>
                  <a:schemeClr val="tx1"/>
                </a:solidFill>
                <a:latin typeface="宋体" panose="02010600030101010101" pitchFamily="2" charset="-122"/>
                <a:ea typeface="宋体" panose="02010600030101010101" pitchFamily="2" charset="-122"/>
                <a:cs typeface="宋体" panose="02010600030101010101" pitchFamily="2" charset="-122"/>
              </a:rPr>
              <a:t>不同的角度、不同的方向</a:t>
            </a:r>
            <a:endParaRPr lang="zh-CN" altLang="en-US" sz="2400" b="1" i="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0" indent="0" algn="l"/>
            <a:r>
              <a:rPr lang="zh-CN" altLang="en-US" sz="2400" b="1" i="0">
                <a:solidFill>
                  <a:schemeClr val="tx1"/>
                </a:solidFill>
                <a:latin typeface="宋体" panose="02010600030101010101" pitchFamily="2" charset="-122"/>
                <a:ea typeface="宋体" panose="02010600030101010101" pitchFamily="2" charset="-122"/>
                <a:cs typeface="宋体" panose="02010600030101010101" pitchFamily="2" charset="-122"/>
              </a:rPr>
              <a:t>聚合</a:t>
            </a:r>
            <a:r>
              <a:rPr lang="en-US" altLang="zh-CN" sz="2400" b="1" i="0">
                <a:solidFill>
                  <a:schemeClr val="tx1"/>
                </a:solidFill>
                <a:latin typeface="宋体" panose="02010600030101010101" pitchFamily="2" charset="-122"/>
                <a:ea typeface="宋体" panose="02010600030101010101" pitchFamily="2" charset="-122"/>
                <a:cs typeface="宋体" panose="02010600030101010101" pitchFamily="2" charset="-122"/>
              </a:rPr>
              <a:t>——</a:t>
            </a:r>
            <a:r>
              <a:rPr lang="zh-CN" altLang="en-US" sz="2400" b="1" i="0">
                <a:solidFill>
                  <a:schemeClr val="tx1"/>
                </a:solidFill>
                <a:latin typeface="宋体" panose="02010600030101010101" pitchFamily="2" charset="-122"/>
                <a:ea typeface="宋体" panose="02010600030101010101" pitchFamily="2" charset="-122"/>
                <a:cs typeface="宋体" panose="02010600030101010101" pitchFamily="2" charset="-122"/>
              </a:rPr>
              <a:t>集中、围绕轴心。</a:t>
            </a:r>
            <a:endParaRPr lang="zh-CN" altLang="en-US" sz="2400" b="1" i="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0" indent="0" algn="l"/>
            <a:r>
              <a:rPr lang="zh-CN" altLang="en-US" sz="2400" b="1">
                <a:solidFill>
                  <a:schemeClr val="tx1"/>
                </a:solidFill>
                <a:latin typeface="宋体" panose="02010600030101010101" pitchFamily="2" charset="-122"/>
                <a:ea typeface="宋体" panose="02010600030101010101" pitchFamily="2" charset="-122"/>
                <a:sym typeface="+mn-ea"/>
              </a:rPr>
              <a:t>发散思维与聚合思维</a:t>
            </a:r>
            <a:r>
              <a:rPr lang="en-US" altLang="zh-CN" sz="2400" b="1">
                <a:solidFill>
                  <a:schemeClr val="tx1"/>
                </a:solidFill>
                <a:latin typeface="宋体" panose="02010600030101010101" pitchFamily="2" charset="-122"/>
                <a:ea typeface="宋体" panose="02010600030101010101" pitchFamily="2" charset="-122"/>
                <a:sym typeface="+mn-ea"/>
              </a:rPr>
              <a:t>——</a:t>
            </a:r>
            <a:r>
              <a:rPr lang="zh-CN" altLang="en-US" sz="2400" b="1">
                <a:solidFill>
                  <a:schemeClr val="tx1"/>
                </a:solidFill>
                <a:latin typeface="宋体" panose="02010600030101010101" pitchFamily="2" charset="-122"/>
                <a:ea typeface="宋体" panose="02010600030101010101" pitchFamily="2" charset="-122"/>
                <a:sym typeface="+mn-ea"/>
              </a:rPr>
              <a:t>反复地</a:t>
            </a:r>
            <a:r>
              <a:rPr lang="en-US" altLang="zh-CN" sz="2400" b="1">
                <a:solidFill>
                  <a:schemeClr val="tx1"/>
                </a:solidFill>
                <a:latin typeface="宋体" panose="02010600030101010101" pitchFamily="2" charset="-122"/>
                <a:ea typeface="宋体" panose="02010600030101010101" pitchFamily="2" charset="-122"/>
                <a:sym typeface="+mn-ea"/>
              </a:rPr>
              <a:t>“</a:t>
            </a:r>
            <a:r>
              <a:rPr lang="zh-CN" altLang="en-US" sz="2400" b="1">
                <a:solidFill>
                  <a:schemeClr val="tx1"/>
                </a:solidFill>
                <a:latin typeface="宋体" panose="02010600030101010101" pitchFamily="2" charset="-122"/>
                <a:ea typeface="宋体" panose="02010600030101010101" pitchFamily="2" charset="-122"/>
                <a:sym typeface="+mn-ea"/>
              </a:rPr>
              <a:t>发散</a:t>
            </a:r>
            <a:r>
              <a:rPr lang="en-US" altLang="zh-CN" sz="2400" b="1">
                <a:solidFill>
                  <a:schemeClr val="tx1"/>
                </a:solidFill>
                <a:latin typeface="宋体" panose="02010600030101010101" pitchFamily="2" charset="-122"/>
                <a:ea typeface="宋体" panose="02010600030101010101" pitchFamily="2" charset="-122"/>
                <a:sym typeface="+mn-ea"/>
              </a:rPr>
              <a:t>-</a:t>
            </a:r>
            <a:r>
              <a:rPr lang="zh-CN" altLang="en-US" sz="2400" b="1">
                <a:solidFill>
                  <a:schemeClr val="tx1"/>
                </a:solidFill>
                <a:latin typeface="宋体" panose="02010600030101010101" pitchFamily="2" charset="-122"/>
                <a:ea typeface="宋体" panose="02010600030101010101" pitchFamily="2" charset="-122"/>
                <a:sym typeface="+mn-ea"/>
              </a:rPr>
              <a:t>聚合</a:t>
            </a:r>
            <a:r>
              <a:rPr lang="en-US" altLang="zh-CN" sz="2400" b="1">
                <a:solidFill>
                  <a:schemeClr val="tx1"/>
                </a:solidFill>
                <a:latin typeface="宋体" panose="02010600030101010101" pitchFamily="2" charset="-122"/>
                <a:ea typeface="宋体" panose="02010600030101010101" pitchFamily="2" charset="-122"/>
                <a:sym typeface="+mn-ea"/>
              </a:rPr>
              <a:t>-</a:t>
            </a:r>
            <a:r>
              <a:rPr lang="zh-CN" altLang="en-US" sz="2400" b="1">
                <a:solidFill>
                  <a:schemeClr val="tx1"/>
                </a:solidFill>
                <a:latin typeface="宋体" panose="02010600030101010101" pitchFamily="2" charset="-122"/>
                <a:ea typeface="宋体" panose="02010600030101010101" pitchFamily="2" charset="-122"/>
                <a:sym typeface="+mn-ea"/>
              </a:rPr>
              <a:t>发散</a:t>
            </a:r>
            <a:r>
              <a:rPr lang="en-US" altLang="zh-CN" sz="2400" b="1">
                <a:solidFill>
                  <a:schemeClr val="tx1"/>
                </a:solidFill>
                <a:latin typeface="宋体" panose="02010600030101010101" pitchFamily="2" charset="-122"/>
                <a:ea typeface="宋体" panose="02010600030101010101" pitchFamily="2" charset="-122"/>
                <a:sym typeface="+mn-ea"/>
              </a:rPr>
              <a:t>-</a:t>
            </a:r>
            <a:r>
              <a:rPr lang="zh-CN" altLang="en-US" sz="2400" b="1">
                <a:solidFill>
                  <a:schemeClr val="tx1"/>
                </a:solidFill>
                <a:latin typeface="宋体" panose="02010600030101010101" pitchFamily="2" charset="-122"/>
                <a:ea typeface="宋体" panose="02010600030101010101" pitchFamily="2" charset="-122"/>
                <a:sym typeface="+mn-ea"/>
              </a:rPr>
              <a:t>聚合</a:t>
            </a:r>
            <a:r>
              <a:rPr lang="en-US" altLang="zh-CN" sz="2400" b="1">
                <a:solidFill>
                  <a:schemeClr val="tx1"/>
                </a:solidFill>
                <a:latin typeface="宋体" panose="02010600030101010101" pitchFamily="2" charset="-122"/>
                <a:ea typeface="宋体" panose="02010600030101010101" pitchFamily="2" charset="-122"/>
                <a:sym typeface="+mn-ea"/>
              </a:rPr>
              <a:t>”</a:t>
            </a:r>
            <a:endParaRPr lang="en-US" altLang="zh-CN" sz="2400" b="1">
              <a:solidFill>
                <a:schemeClr val="tx1"/>
              </a:solidFill>
              <a:latin typeface="宋体" panose="02010600030101010101" pitchFamily="2" charset="-122"/>
              <a:ea typeface="宋体" panose="02010600030101010101" pitchFamily="2" charset="-122"/>
              <a:sym typeface="+mn-ea"/>
            </a:endParaRPr>
          </a:p>
        </p:txBody>
      </p:sp>
      <p:cxnSp>
        <p:nvCxnSpPr>
          <p:cNvPr id="11" name="直接箭头连接符 10"/>
          <p:cNvCxnSpPr/>
          <p:nvPr>
            <p:custDataLst>
              <p:tags r:id="rId6"/>
            </p:custDataLst>
          </p:nvPr>
        </p:nvCxnSpPr>
        <p:spPr>
          <a:xfrm>
            <a:off x="5487670" y="5056823"/>
            <a:ext cx="528955" cy="62865"/>
          </a:xfrm>
          <a:prstGeom prst="straightConnector1">
            <a:avLst/>
          </a:prstGeom>
          <a:ln w="28575">
            <a:gradFill>
              <a:gsLst>
                <a:gs pos="51300">
                  <a:srgbClr val="FE5F4A"/>
                </a:gs>
                <a:gs pos="0">
                  <a:srgbClr val="DF0303"/>
                </a:gs>
                <a:gs pos="100000">
                  <a:srgbClr val="FEA06E"/>
                </a:gs>
              </a:gsLst>
              <a:lin ang="5400000" scaled="0"/>
            </a:gradFill>
            <a:tailEnd type="arrow"/>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546735" y="0"/>
            <a:ext cx="6096000" cy="521970"/>
          </a:xfrm>
          <a:prstGeom prst="rect">
            <a:avLst/>
          </a:prstGeom>
          <a:noFill/>
        </p:spPr>
        <p:txBody>
          <a:bodyPr wrap="square" rtlCol="0" anchor="t">
            <a:spAutoFit/>
          </a:bodyPr>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sym typeface="+mn-ea"/>
              </a:rPr>
              <a:t>二、变通答案</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5" grpId="0" bldLvl="0" animBg="1"/>
      <p:bldP spid="5" grpId="1" animBg="1"/>
      <p:bldP spid="10" grpId="0" bldLvl="0" animBg="1"/>
      <p:bldP spid="10" grpId="1"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22885" y="959485"/>
            <a:ext cx="11603990" cy="5262245"/>
          </a:xfrm>
          <a:prstGeom prst="rect">
            <a:avLst/>
          </a:prstGeom>
          <a:noFill/>
          <a:ln>
            <a:solidFill>
              <a:schemeClr val="tx1"/>
            </a:solidFill>
          </a:ln>
        </p:spPr>
        <p:txBody>
          <a:bodyPr wrap="square" rtlCol="0" anchor="t">
            <a:spAutoFit/>
          </a:bodyPr>
          <a:p>
            <a:pPr indent="0" fontAlgn="auto">
              <a:lnSpc>
                <a:spcPct val="100000"/>
              </a:lnSpc>
            </a:pPr>
            <a:r>
              <a:rPr lang="zh-CN" altLang="en-US" sz="2400">
                <a:latin typeface="黑体" panose="02010609060101010101" charset="-122"/>
                <a:ea typeface="黑体" panose="02010609060101010101" charset="-122"/>
                <a:cs typeface="黑体" panose="02010609060101010101" charset="-122"/>
              </a:rPr>
              <a:t>21.(6分) 该区</a:t>
            </a:r>
            <a:r>
              <a:rPr lang="zh-CN" altLang="en-US" sz="2400">
                <a:solidFill>
                  <a:srgbClr val="FF0000"/>
                </a:solidFill>
                <a:latin typeface="黑体" panose="02010609060101010101" charset="-122"/>
                <a:ea typeface="黑体" panose="02010609060101010101" charset="-122"/>
                <a:cs typeface="黑体" panose="02010609060101010101" charset="-122"/>
              </a:rPr>
              <a:t>立足实践</a:t>
            </a:r>
            <a:r>
              <a:rPr lang="zh-CN" altLang="en-US" sz="2400">
                <a:latin typeface="黑体" panose="02010609060101010101" charset="-122"/>
                <a:ea typeface="黑体" panose="02010609060101010101" charset="-122"/>
                <a:cs typeface="黑体" panose="02010609060101010101" charset="-122"/>
              </a:rPr>
              <a:t>or</a:t>
            </a:r>
            <a:r>
              <a:rPr lang="zh-CN" altLang="en-US" sz="2400">
                <a:solidFill>
                  <a:srgbClr val="FF0000"/>
                </a:solidFill>
                <a:latin typeface="黑体" panose="02010609060101010101" charset="-122"/>
                <a:ea typeface="黑体" panose="02010609060101010101" charset="-122"/>
                <a:cs typeface="黑体" panose="02010609060101010101" charset="-122"/>
              </a:rPr>
              <a:t>创新思维的含义</a:t>
            </a:r>
            <a:r>
              <a:rPr lang="zh-CN" altLang="en-US" sz="2400">
                <a:latin typeface="黑体" panose="02010609060101010101" charset="-122"/>
                <a:ea typeface="黑体" panose="02010609060101010101" charset="-122"/>
                <a:cs typeface="黑体" panose="02010609060101010101" charset="-122"/>
              </a:rPr>
              <a:t>or”</a:t>
            </a:r>
            <a:r>
              <a:rPr lang="zh-CN" altLang="en-US" sz="2400">
                <a:solidFill>
                  <a:srgbClr val="FF0000"/>
                </a:solidFill>
                <a:latin typeface="黑体" panose="02010609060101010101" charset="-122"/>
                <a:ea typeface="黑体" panose="02010609060101010101" charset="-122"/>
                <a:cs typeface="黑体" panose="02010609060101010101" charset="-122"/>
              </a:rPr>
              <a:t>三新”特征</a:t>
            </a:r>
            <a:r>
              <a:rPr lang="zh-CN" altLang="en-US" sz="2400">
                <a:latin typeface="黑体" panose="02010609060101010101" charset="-122"/>
                <a:ea typeface="黑体" panose="02010609060101010101" charset="-122"/>
                <a:cs typeface="黑体" panose="02010609060101010101" charset="-122"/>
              </a:rPr>
              <a:t>(单纯只写创新思维不给分）+材料2分(知识1分+材料分析1分)</a:t>
            </a:r>
            <a:endParaRPr lang="zh-CN" altLang="en-US" sz="2400">
              <a:latin typeface="黑体" panose="02010609060101010101" charset="-122"/>
              <a:ea typeface="黑体" panose="02010609060101010101" charset="-122"/>
              <a:cs typeface="黑体" panose="02010609060101010101" charset="-122"/>
            </a:endParaRPr>
          </a:p>
          <a:p>
            <a:pPr indent="0" fontAlgn="auto">
              <a:lnSpc>
                <a:spcPct val="100000"/>
              </a:lnSpc>
            </a:pPr>
            <a:r>
              <a:rPr lang="zh-CN" altLang="en-US" sz="2400">
                <a:latin typeface="黑体" panose="02010609060101010101" charset="-122"/>
                <a:ea typeface="黑体" panose="02010609060101010101" charset="-122"/>
                <a:cs typeface="黑体" panose="02010609060101010101" charset="-122"/>
              </a:rPr>
              <a:t>运用</a:t>
            </a:r>
            <a:r>
              <a:rPr lang="zh-CN" altLang="en-US" sz="2400">
                <a:solidFill>
                  <a:srgbClr val="FF0000"/>
                </a:solidFill>
                <a:latin typeface="黑体" panose="02010609060101010101" charset="-122"/>
                <a:ea typeface="黑体" panose="02010609060101010101" charset="-122"/>
                <a:cs typeface="黑体" panose="02010609060101010101" charset="-122"/>
              </a:rPr>
              <a:t>联想思维</a:t>
            </a:r>
            <a:r>
              <a:rPr lang="zh-CN" altLang="en-US" sz="2400">
                <a:latin typeface="黑体" panose="02010609060101010101" charset="-122"/>
                <a:ea typeface="黑体" panose="02010609060101010101" charset="-122"/>
                <a:cs typeface="黑体" panose="02010609060101010101" charset="-122"/>
              </a:rPr>
              <a:t>(</a:t>
            </a:r>
            <a:r>
              <a:rPr lang="zh-CN" altLang="en-US" sz="2400">
                <a:solidFill>
                  <a:srgbClr val="FF0000"/>
                </a:solidFill>
                <a:latin typeface="黑体" panose="02010609060101010101" charset="-122"/>
                <a:ea typeface="黑体" panose="02010609060101010101" charset="-122"/>
                <a:cs typeface="黑体" panose="02010609060101010101" charset="-122"/>
              </a:rPr>
              <a:t>迁移和想象的方法</a:t>
            </a:r>
            <a:r>
              <a:rPr lang="zh-CN" altLang="en-US" sz="2400">
                <a:latin typeface="黑体" panose="02010609060101010101" charset="-122"/>
                <a:ea typeface="黑体" panose="02010609060101010101" charset="-122"/>
                <a:cs typeface="黑体" panose="02010609060101010101" charset="-122"/>
              </a:rPr>
              <a:t>),+材料。2分(知识1分+材料分析1分)</a:t>
            </a:r>
            <a:endParaRPr lang="zh-CN" altLang="en-US" sz="2400">
              <a:latin typeface="黑体" panose="02010609060101010101" charset="-122"/>
              <a:ea typeface="黑体" panose="02010609060101010101" charset="-122"/>
              <a:cs typeface="黑体" panose="02010609060101010101" charset="-122"/>
            </a:endParaRPr>
          </a:p>
          <a:p>
            <a:pPr indent="0" fontAlgn="auto">
              <a:lnSpc>
                <a:spcPct val="100000"/>
              </a:lnSpc>
            </a:pPr>
            <a:r>
              <a:rPr lang="zh-CN" altLang="en-US" sz="2400">
                <a:latin typeface="黑体" panose="02010609060101010101" charset="-122"/>
                <a:ea typeface="黑体" panose="02010609060101010101" charset="-122"/>
                <a:cs typeface="黑体" panose="02010609060101010101" charset="-122"/>
              </a:rPr>
              <a:t>运用</a:t>
            </a:r>
            <a:r>
              <a:rPr lang="zh-CN" altLang="en-US" sz="2400">
                <a:solidFill>
                  <a:srgbClr val="FF0000"/>
                </a:solidFill>
                <a:latin typeface="黑体" panose="02010609060101010101" charset="-122"/>
                <a:ea typeface="黑体" panose="02010609060101010101" charset="-122"/>
                <a:cs typeface="黑体" panose="02010609060101010101" charset="-122"/>
              </a:rPr>
              <a:t>发散思维</a:t>
            </a:r>
            <a:r>
              <a:rPr lang="zh-CN" altLang="en-US" sz="2400">
                <a:latin typeface="黑体" panose="02010609060101010101" charset="-122"/>
                <a:ea typeface="黑体" panose="02010609060101010101" charset="-122"/>
                <a:cs typeface="黑体" panose="02010609060101010101" charset="-122"/>
              </a:rPr>
              <a:t>与</a:t>
            </a:r>
            <a:r>
              <a:rPr lang="zh-CN" altLang="en-US" sz="2400">
                <a:solidFill>
                  <a:srgbClr val="FF0000"/>
                </a:solidFill>
                <a:latin typeface="黑体" panose="02010609060101010101" charset="-122"/>
                <a:ea typeface="黑体" panose="02010609060101010101" charset="-122"/>
                <a:cs typeface="黑体" panose="02010609060101010101" charset="-122"/>
              </a:rPr>
              <a:t>聚合思维</a:t>
            </a:r>
            <a:r>
              <a:rPr lang="zh-CN" altLang="en-US" sz="2400">
                <a:latin typeface="黑体" panose="02010609060101010101" charset="-122"/>
                <a:ea typeface="黑体" panose="02010609060101010101" charset="-122"/>
                <a:cs typeface="黑体" panose="02010609060101010101" charset="-122"/>
              </a:rPr>
              <a:t>(分开或整体论述都可以）+材料2分(知识1分+材料分析1分)</a:t>
            </a:r>
            <a:endParaRPr lang="zh-CN" altLang="en-US" sz="2400">
              <a:latin typeface="黑体" panose="02010609060101010101" charset="-122"/>
              <a:ea typeface="黑体" panose="02010609060101010101" charset="-122"/>
              <a:cs typeface="黑体" panose="02010609060101010101" charset="-122"/>
            </a:endParaRPr>
          </a:p>
          <a:p>
            <a:pPr indent="0" fontAlgn="auto">
              <a:lnSpc>
                <a:spcPct val="100000"/>
              </a:lnSpc>
            </a:pPr>
            <a:r>
              <a:rPr lang="zh-CN" altLang="en-US" sz="2400">
                <a:latin typeface="黑体" panose="02010609060101010101" charset="-122"/>
                <a:ea typeface="黑体" panose="02010609060101010101" charset="-122"/>
                <a:cs typeface="黑体" panose="02010609060101010101" charset="-122"/>
              </a:rPr>
              <a:t>其他角度---</a:t>
            </a:r>
            <a:r>
              <a:rPr lang="zh-CN" altLang="en-US" sz="2400">
                <a:solidFill>
                  <a:srgbClr val="FF0000"/>
                </a:solidFill>
                <a:latin typeface="黑体" panose="02010609060101010101" charset="-122"/>
                <a:ea typeface="黑体" panose="02010609060101010101" charset="-122"/>
                <a:cs typeface="黑体" panose="02010609060101010101" charset="-122"/>
              </a:rPr>
              <a:t>超前思维（</a:t>
            </a:r>
            <a:r>
              <a:rPr lang="zh-CN" altLang="en-US" sz="2400">
                <a:solidFill>
                  <a:schemeClr val="tx1"/>
                </a:solidFill>
                <a:latin typeface="黑体" panose="02010609060101010101" charset="-122"/>
                <a:ea typeface="黑体" panose="02010609060101010101" charset="-122"/>
                <a:cs typeface="黑体" panose="02010609060101010101" charset="-122"/>
              </a:rPr>
              <a:t>通过实地调查，运用矛盾分析法，深化“教育</a:t>
            </a:r>
            <a:r>
              <a:rPr lang="en-US" altLang="zh-CN" sz="2400">
                <a:solidFill>
                  <a:schemeClr val="tx1"/>
                </a:solidFill>
                <a:latin typeface="黑体" panose="02010609060101010101" charset="-122"/>
                <a:ea typeface="黑体" panose="02010609060101010101" charset="-122"/>
                <a:cs typeface="黑体" panose="02010609060101010101" charset="-122"/>
              </a:rPr>
              <a:t>+</a:t>
            </a:r>
            <a:r>
              <a:rPr lang="zh-CN" altLang="en-US" sz="2400">
                <a:solidFill>
                  <a:schemeClr val="tx1"/>
                </a:solidFill>
                <a:latin typeface="黑体" panose="02010609060101010101" charset="-122"/>
                <a:ea typeface="黑体" panose="02010609060101010101" charset="-122"/>
                <a:cs typeface="黑体" panose="02010609060101010101" charset="-122"/>
              </a:rPr>
              <a:t>公园</a:t>
            </a:r>
            <a:r>
              <a:rPr lang="en-US" altLang="zh-CN" sz="2400">
                <a:solidFill>
                  <a:schemeClr val="tx1"/>
                </a:solidFill>
                <a:latin typeface="黑体" panose="02010609060101010101" charset="-122"/>
                <a:ea typeface="黑体" panose="02010609060101010101" charset="-122"/>
                <a:cs typeface="黑体" panose="02010609060101010101" charset="-122"/>
              </a:rPr>
              <a:t>+</a:t>
            </a:r>
            <a:r>
              <a:rPr lang="zh-CN" altLang="en-US" sz="2400">
                <a:solidFill>
                  <a:schemeClr val="tx1"/>
                </a:solidFill>
                <a:latin typeface="黑体" panose="02010609060101010101" charset="-122"/>
                <a:ea typeface="黑体" panose="02010609060101010101" charset="-122"/>
                <a:cs typeface="黑体" panose="02010609060101010101" charset="-122"/>
              </a:rPr>
              <a:t>治理”模式，</a:t>
            </a:r>
            <a:r>
              <a:rPr lang="zh-CN" altLang="en-US" sz="2400">
                <a:solidFill>
                  <a:schemeClr val="tx1"/>
                </a:solidFill>
                <a:latin typeface="黑体" panose="02010609060101010101" charset="-122"/>
                <a:ea typeface="黑体" panose="02010609060101010101" charset="-122"/>
                <a:cs typeface="黑体" panose="02010609060101010101" charset="-122"/>
                <a:sym typeface="+mn-ea"/>
              </a:rPr>
              <a:t>作出科学预测，推动公园成为乐学之地</a:t>
            </a:r>
            <a:r>
              <a:rPr lang="zh-CN" altLang="en-US" sz="2400">
                <a:solidFill>
                  <a:srgbClr val="FF0000"/>
                </a:solidFill>
                <a:latin typeface="黑体" panose="02010609060101010101" charset="-122"/>
                <a:ea typeface="黑体" panose="02010609060101010101" charset="-122"/>
                <a:cs typeface="黑体" panose="02010609060101010101" charset="-122"/>
                <a:sym typeface="+mn-ea"/>
              </a:rPr>
              <a:t>）</a:t>
            </a:r>
            <a:r>
              <a:rPr lang="zh-CN" altLang="en-US" sz="2400">
                <a:latin typeface="黑体" panose="02010609060101010101" charset="-122"/>
                <a:ea typeface="黑体" panose="02010609060101010101" charset="-122"/>
                <a:cs typeface="黑体" panose="02010609060101010101" charset="-122"/>
              </a:rPr>
              <a:t>或</a:t>
            </a:r>
            <a:r>
              <a:rPr lang="zh-CN" altLang="en-US" sz="2400">
                <a:solidFill>
                  <a:srgbClr val="FF0000"/>
                </a:solidFill>
                <a:latin typeface="黑体" panose="02010609060101010101" charset="-122"/>
                <a:ea typeface="黑体" panose="02010609060101010101" charset="-122"/>
                <a:cs typeface="黑体" panose="02010609060101010101" charset="-122"/>
              </a:rPr>
              <a:t>逆向思维（</a:t>
            </a:r>
            <a:r>
              <a:rPr lang="zh-CN" altLang="en-US" sz="2400">
                <a:solidFill>
                  <a:schemeClr val="tx1"/>
                </a:solidFill>
                <a:latin typeface="黑体" panose="02010609060101010101" charset="-122"/>
                <a:ea typeface="黑体" panose="02010609060101010101" charset="-122"/>
                <a:cs typeface="黑体" panose="02010609060101010101" charset="-122"/>
              </a:rPr>
              <a:t>打破了公园的传统认知，从功能上反向思考，由“休闲场所</a:t>
            </a:r>
            <a:r>
              <a:rPr lang="zh-CN" altLang="en-US" sz="2400">
                <a:solidFill>
                  <a:schemeClr val="tx1"/>
                </a:solidFill>
                <a:latin typeface="黑体" panose="02010609060101010101" charset="-122"/>
                <a:ea typeface="黑体" panose="02010609060101010101" charset="-122"/>
                <a:cs typeface="黑体" panose="02010609060101010101" charset="-122"/>
                <a:sym typeface="+mn-ea"/>
              </a:rPr>
              <a:t>”</a:t>
            </a:r>
            <a:r>
              <a:rPr lang="zh-CN" altLang="en-US" sz="2400">
                <a:solidFill>
                  <a:schemeClr val="tx1"/>
                </a:solidFill>
                <a:latin typeface="黑体" panose="02010609060101010101" charset="-122"/>
                <a:ea typeface="黑体" panose="02010609060101010101" charset="-122"/>
                <a:cs typeface="黑体" panose="02010609060101010101" charset="-122"/>
              </a:rPr>
              <a:t>变为“立体课堂</a:t>
            </a:r>
            <a:r>
              <a:rPr lang="zh-CN" altLang="en-US" sz="2400">
                <a:solidFill>
                  <a:schemeClr val="tx1"/>
                </a:solidFill>
                <a:latin typeface="黑体" panose="02010609060101010101" charset="-122"/>
                <a:ea typeface="黑体" panose="02010609060101010101" charset="-122"/>
                <a:cs typeface="黑体" panose="02010609060101010101" charset="-122"/>
                <a:sym typeface="+mn-ea"/>
              </a:rPr>
              <a:t>”</a:t>
            </a:r>
            <a:r>
              <a:rPr lang="zh-CN" altLang="en-US" sz="2400">
                <a:solidFill>
                  <a:srgbClr val="FF0000"/>
                </a:solidFill>
                <a:latin typeface="黑体" panose="02010609060101010101" charset="-122"/>
                <a:ea typeface="黑体" panose="02010609060101010101" charset="-122"/>
                <a:cs typeface="黑体" panose="02010609060101010101" charset="-122"/>
              </a:rPr>
              <a:t>）</a:t>
            </a:r>
            <a:r>
              <a:rPr lang="zh-CN" altLang="en-US" sz="2400">
                <a:latin typeface="黑体" panose="02010609060101010101" charset="-122"/>
                <a:ea typeface="黑体" panose="02010609060101010101" charset="-122"/>
                <a:cs typeface="黑体" panose="02010609060101010101" charset="-122"/>
              </a:rPr>
              <a:t>,言之有理,也可给2分</a:t>
            </a:r>
            <a:endParaRPr lang="zh-CN" altLang="en-US" sz="2400">
              <a:latin typeface="黑体" panose="02010609060101010101" charset="-122"/>
              <a:ea typeface="黑体" panose="02010609060101010101" charset="-122"/>
              <a:cs typeface="黑体" panose="02010609060101010101" charset="-122"/>
            </a:endParaRPr>
          </a:p>
          <a:p>
            <a:pPr indent="0" fontAlgn="auto">
              <a:lnSpc>
                <a:spcPct val="100000"/>
              </a:lnSpc>
            </a:pPr>
            <a:r>
              <a:rPr lang="en-US" altLang="zh-CN" sz="2400">
                <a:latin typeface="黑体" panose="02010609060101010101" charset="-122"/>
                <a:ea typeface="黑体" panose="02010609060101010101" charset="-122"/>
                <a:cs typeface="黑体" panose="02010609060101010101" charset="-122"/>
                <a:sym typeface="+mn-ea"/>
              </a:rPr>
              <a:t>没有具体知识，只在说具体做法，说的充分做多2分。</a:t>
            </a:r>
            <a:endParaRPr lang="zh-CN" altLang="en-US" sz="2400">
              <a:latin typeface="黑体" panose="02010609060101010101" charset="-122"/>
              <a:ea typeface="黑体" panose="02010609060101010101" charset="-122"/>
              <a:cs typeface="黑体" panose="02010609060101010101" charset="-122"/>
            </a:endParaRPr>
          </a:p>
          <a:p>
            <a:pPr indent="0" fontAlgn="auto">
              <a:lnSpc>
                <a:spcPct val="100000"/>
              </a:lnSpc>
            </a:pPr>
            <a:endParaRPr lang="zh-CN" altLang="en-US" sz="2400">
              <a:latin typeface="黑体" panose="02010609060101010101" charset="-122"/>
              <a:ea typeface="黑体" panose="02010609060101010101" charset="-122"/>
              <a:cs typeface="黑体" panose="02010609060101010101" charset="-122"/>
            </a:endParaRPr>
          </a:p>
          <a:p>
            <a:pPr indent="0" fontAlgn="auto">
              <a:lnSpc>
                <a:spcPct val="100000"/>
              </a:lnSpc>
            </a:pPr>
            <a:r>
              <a:rPr lang="zh-CN" altLang="en-US" sz="2400">
                <a:latin typeface="黑体" panose="02010609060101010101" charset="-122"/>
                <a:ea typeface="黑体" panose="02010609060101010101" charset="-122"/>
                <a:cs typeface="黑体" panose="02010609060101010101" charset="-122"/>
              </a:rPr>
              <a:t>特别注明</a:t>
            </a:r>
            <a:r>
              <a:rPr lang="en-US" altLang="zh-CN" sz="2400">
                <a:latin typeface="黑体" panose="02010609060101010101" charset="-122"/>
                <a:ea typeface="黑体" panose="02010609060101010101" charset="-122"/>
                <a:cs typeface="黑体" panose="02010609060101010101" charset="-122"/>
              </a:rPr>
              <a:t>:运用发散思维与聚合思维</a:t>
            </a:r>
            <a:endParaRPr lang="en-US" altLang="zh-CN" sz="2400">
              <a:latin typeface="黑体" panose="02010609060101010101" charset="-122"/>
              <a:ea typeface="黑体" panose="02010609060101010101" charset="-122"/>
              <a:cs typeface="黑体" panose="02010609060101010101" charset="-122"/>
            </a:endParaRPr>
          </a:p>
          <a:p>
            <a:pPr indent="0" fontAlgn="auto">
              <a:lnSpc>
                <a:spcPct val="100000"/>
              </a:lnSpc>
            </a:pPr>
            <a:r>
              <a:rPr lang="en-US" altLang="zh-CN" sz="2400">
                <a:latin typeface="黑体" panose="02010609060101010101" charset="-122"/>
                <a:ea typeface="黑体" panose="02010609060101010101" charset="-122"/>
                <a:cs typeface="黑体" panose="02010609060101010101" charset="-122"/>
              </a:rPr>
              <a:t>发散或聚合只说一个，分析到位也可2分。</a:t>
            </a:r>
            <a:endParaRPr lang="en-US" altLang="zh-CN" sz="2400">
              <a:latin typeface="黑体" panose="02010609060101010101" charset="-122"/>
              <a:ea typeface="黑体" panose="02010609060101010101" charset="-122"/>
              <a:cs typeface="黑体" panose="02010609060101010101" charset="-122"/>
            </a:endParaRPr>
          </a:p>
          <a:p>
            <a:pPr indent="0" fontAlgn="auto">
              <a:lnSpc>
                <a:spcPct val="100000"/>
              </a:lnSpc>
            </a:pPr>
            <a:r>
              <a:rPr lang="en-US" altLang="zh-CN" sz="2400">
                <a:latin typeface="黑体" panose="02010609060101010101" charset="-122"/>
                <a:ea typeface="黑体" panose="02010609060101010101" charset="-122"/>
                <a:cs typeface="黑体" panose="02010609060101010101" charset="-122"/>
              </a:rPr>
              <a:t>但如果通篇只用的发散思维，聚合思维(分别说的，分析也很具体)外加另一个观点，分析到位，最多只能5分</a:t>
            </a:r>
            <a:endParaRPr lang="en-US" altLang="zh-CN" sz="2400">
              <a:latin typeface="黑体" panose="02010609060101010101" charset="-122"/>
              <a:ea typeface="黑体" panose="02010609060101010101" charset="-122"/>
              <a:cs typeface="黑体" panose="02010609060101010101" charset="-122"/>
            </a:endParaRPr>
          </a:p>
          <a:p>
            <a:pPr indent="0" fontAlgn="auto">
              <a:lnSpc>
                <a:spcPct val="100000"/>
              </a:lnSpc>
            </a:pPr>
            <a:r>
              <a:rPr lang="en-US" altLang="zh-CN" sz="2400">
                <a:latin typeface="黑体" panose="02010609060101010101" charset="-122"/>
                <a:ea typeface="黑体" panose="02010609060101010101" charset="-122"/>
                <a:cs typeface="黑体" panose="02010609060101010101" charset="-122"/>
              </a:rPr>
              <a:t>通篇只用发散和聚合思维(分开分析的到位，做多只能3分)</a:t>
            </a:r>
            <a:endParaRPr lang="en-US" altLang="zh-CN" sz="2400">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513715" y="6028690"/>
            <a:ext cx="7160895" cy="521970"/>
          </a:xfrm>
          <a:prstGeom prst="rect">
            <a:avLst/>
          </a:prstGeom>
          <a:noFill/>
        </p:spPr>
        <p:txBody>
          <a:bodyPr wrap="square" rtlCol="0">
            <a:spAutoFit/>
          </a:bodyPr>
          <a:p>
            <a:r>
              <a:rPr lang="zh-CN" altLang="en-US" sz="2800"/>
              <a:t>思路较为清晰，知识明确，分析具体</a:t>
            </a:r>
            <a:endParaRPr lang="zh-CN" altLang="en-US" sz="2800"/>
          </a:p>
        </p:txBody>
      </p:sp>
      <p:pic>
        <p:nvPicPr>
          <p:cNvPr id="5" name="图片 4"/>
          <p:cNvPicPr>
            <a:picLocks noChangeAspect="1"/>
          </p:cNvPicPr>
          <p:nvPr/>
        </p:nvPicPr>
        <p:blipFill>
          <a:blip r:embed="rId1"/>
          <a:stretch>
            <a:fillRect/>
          </a:stretch>
        </p:blipFill>
        <p:spPr>
          <a:xfrm>
            <a:off x="1193800" y="746125"/>
            <a:ext cx="8812530" cy="4965065"/>
          </a:xfrm>
          <a:prstGeom prst="rect">
            <a:avLst/>
          </a:prstGeom>
        </p:spPr>
      </p:pic>
      <p:pic>
        <p:nvPicPr>
          <p:cNvPr id="7" name="图片 6"/>
          <p:cNvPicPr>
            <a:picLocks noChangeAspect="1"/>
          </p:cNvPicPr>
          <p:nvPr/>
        </p:nvPicPr>
        <p:blipFill>
          <a:blip r:embed="rId2"/>
          <a:stretch>
            <a:fillRect/>
          </a:stretch>
        </p:blipFill>
        <p:spPr>
          <a:xfrm>
            <a:off x="2418080" y="746125"/>
            <a:ext cx="9309735" cy="4774565"/>
          </a:xfrm>
          <a:prstGeom prst="rect">
            <a:avLst/>
          </a:prstGeom>
        </p:spPr>
      </p:pic>
      <p:pic>
        <p:nvPicPr>
          <p:cNvPr id="9" name="图片 8"/>
          <p:cNvPicPr>
            <a:picLocks noChangeAspect="1"/>
          </p:cNvPicPr>
          <p:nvPr/>
        </p:nvPicPr>
        <p:blipFill>
          <a:blip r:embed="rId3"/>
          <a:stretch>
            <a:fillRect/>
          </a:stretch>
        </p:blipFill>
        <p:spPr>
          <a:xfrm>
            <a:off x="1461770" y="830580"/>
            <a:ext cx="9630410" cy="4796155"/>
          </a:xfrm>
          <a:prstGeom prst="rect">
            <a:avLst/>
          </a:prstGeom>
        </p:spPr>
      </p:pic>
      <p:sp>
        <p:nvSpPr>
          <p:cNvPr id="3" name="标题 3"/>
          <p:cNvSpPr txBox="1"/>
          <p:nvPr/>
        </p:nvSpPr>
        <p:spPr>
          <a:xfrm>
            <a:off x="299720" y="117475"/>
            <a:ext cx="3070225" cy="750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三、典型示例</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109855" y="0"/>
            <a:ext cx="8222615" cy="1614170"/>
          </a:xfrm>
          <a:prstGeom prst="rect">
            <a:avLst/>
          </a:prstGeom>
        </p:spPr>
      </p:pic>
      <p:pic>
        <p:nvPicPr>
          <p:cNvPr id="5" name="图片 4"/>
          <p:cNvPicPr>
            <a:picLocks noChangeAspect="1"/>
          </p:cNvPicPr>
          <p:nvPr/>
        </p:nvPicPr>
        <p:blipFill>
          <a:blip r:embed="rId2"/>
          <a:stretch>
            <a:fillRect/>
          </a:stretch>
        </p:blipFill>
        <p:spPr>
          <a:xfrm>
            <a:off x="109855" y="1614170"/>
            <a:ext cx="6924675" cy="3048000"/>
          </a:xfrm>
          <a:prstGeom prst="rect">
            <a:avLst/>
          </a:prstGeom>
        </p:spPr>
      </p:pic>
      <p:pic>
        <p:nvPicPr>
          <p:cNvPr id="7" name="图片 6"/>
          <p:cNvPicPr>
            <a:picLocks noChangeAspect="1"/>
          </p:cNvPicPr>
          <p:nvPr/>
        </p:nvPicPr>
        <p:blipFill>
          <a:blip r:embed="rId3"/>
          <a:stretch>
            <a:fillRect/>
          </a:stretch>
        </p:blipFill>
        <p:spPr>
          <a:xfrm>
            <a:off x="4566285" y="828675"/>
            <a:ext cx="6915150" cy="3086100"/>
          </a:xfrm>
          <a:prstGeom prst="rect">
            <a:avLst/>
          </a:prstGeom>
        </p:spPr>
      </p:pic>
      <p:pic>
        <p:nvPicPr>
          <p:cNvPr id="8" name="图片 7"/>
          <p:cNvPicPr>
            <a:picLocks noChangeAspect="1"/>
          </p:cNvPicPr>
          <p:nvPr/>
        </p:nvPicPr>
        <p:blipFill>
          <a:blip r:embed="rId4"/>
          <a:stretch>
            <a:fillRect/>
          </a:stretch>
        </p:blipFill>
        <p:spPr>
          <a:xfrm>
            <a:off x="374650" y="4594225"/>
            <a:ext cx="6896100" cy="2295525"/>
          </a:xfrm>
          <a:prstGeom prst="rect">
            <a:avLst/>
          </a:prstGeom>
        </p:spPr>
      </p:pic>
      <p:pic>
        <p:nvPicPr>
          <p:cNvPr id="6" name="图片 5"/>
          <p:cNvPicPr>
            <a:picLocks noChangeAspect="1"/>
          </p:cNvPicPr>
          <p:nvPr/>
        </p:nvPicPr>
        <p:blipFill>
          <a:blip r:embed="rId5"/>
          <a:stretch>
            <a:fillRect/>
          </a:stretch>
        </p:blipFill>
        <p:spPr>
          <a:xfrm>
            <a:off x="4566285" y="4870450"/>
            <a:ext cx="6953250" cy="1743075"/>
          </a:xfrm>
          <a:prstGeom prst="rect">
            <a:avLst/>
          </a:prstGeom>
        </p:spPr>
      </p:pic>
      <p:sp>
        <p:nvSpPr>
          <p:cNvPr id="14" name="矩形 13"/>
          <p:cNvSpPr/>
          <p:nvPr/>
        </p:nvSpPr>
        <p:spPr>
          <a:xfrm>
            <a:off x="9356725" y="0"/>
            <a:ext cx="2245360" cy="62738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典型错误</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35890" y="852170"/>
            <a:ext cx="11610340" cy="5311775"/>
          </a:xfrm>
          <a:prstGeom prst="rect">
            <a:avLst/>
          </a:prstGeom>
          <a:noFill/>
        </p:spPr>
        <p:txBody>
          <a:bodyPr wrap="square" rtlCol="0">
            <a:noAutofit/>
          </a:bodyPr>
          <a:p>
            <a:pPr indent="0" fontAlgn="auto">
              <a:lnSpc>
                <a:spcPct val="150000"/>
              </a:lnSpc>
            </a:pPr>
            <a:r>
              <a:rPr lang="en-US" altLang="zh-CN" sz="2400">
                <a:latin typeface="黑体" panose="02010609060101010101" charset="-122"/>
                <a:ea typeface="黑体" panose="02010609060101010101" charset="-122"/>
                <a:cs typeface="黑体" panose="02010609060101010101" charset="-122"/>
              </a:rPr>
              <a:t>1.</a:t>
            </a:r>
            <a:r>
              <a:rPr lang="zh-CN" altLang="en-US" sz="2400">
                <a:latin typeface="黑体" panose="02010609060101010101" charset="-122"/>
                <a:ea typeface="黑体" panose="02010609060101010101" charset="-122"/>
                <a:cs typeface="黑体" panose="02010609060101010101" charset="-122"/>
              </a:rPr>
              <a:t>基础知识不过关</a:t>
            </a:r>
            <a:r>
              <a:rPr lang="en-US" altLang="zh-CN" sz="2400">
                <a:latin typeface="黑体" panose="02010609060101010101" charset="-122"/>
                <a:ea typeface="黑体" panose="02010609060101010101" charset="-122"/>
                <a:cs typeface="黑体" panose="02010609060101010101" charset="-122"/>
              </a:rPr>
              <a:t>——</a:t>
            </a:r>
            <a:r>
              <a:rPr lang="zh-CN" altLang="en-US" sz="2400">
                <a:latin typeface="黑体" panose="02010609060101010101" charset="-122"/>
                <a:ea typeface="黑体" panose="02010609060101010101" charset="-122"/>
                <a:cs typeface="黑体" panose="02010609060101010101" charset="-122"/>
              </a:rPr>
              <a:t>运用创新思维</a:t>
            </a:r>
            <a:endParaRPr lang="zh-CN" altLang="en-US" sz="2400">
              <a:latin typeface="黑体" panose="02010609060101010101" charset="-122"/>
              <a:ea typeface="黑体" panose="02010609060101010101" charset="-122"/>
              <a:cs typeface="黑体" panose="02010609060101010101" charset="-122"/>
            </a:endParaRPr>
          </a:p>
          <a:p>
            <a:pPr indent="0" fontAlgn="auto">
              <a:lnSpc>
                <a:spcPct val="150000"/>
              </a:lnSpc>
            </a:pPr>
            <a:r>
              <a:rPr lang="zh-CN" altLang="en-US" sz="2400">
                <a:solidFill>
                  <a:srgbClr val="FF0000"/>
                </a:solidFill>
                <a:latin typeface="黑体" panose="02010609060101010101" charset="-122"/>
                <a:ea typeface="黑体" panose="02010609060101010101" charset="-122"/>
                <a:cs typeface="黑体" panose="02010609060101010101" charset="-122"/>
              </a:rPr>
              <a:t>特别差的</a:t>
            </a:r>
            <a:r>
              <a:rPr lang="zh-CN" altLang="en-US" sz="2400">
                <a:latin typeface="黑体" panose="02010609060101010101" charset="-122"/>
                <a:ea typeface="黑体" panose="02010609060101010101" charset="-122"/>
                <a:cs typeface="黑体" panose="02010609060101010101" charset="-122"/>
              </a:rPr>
              <a:t>写经济或概括材料的具体做法</a:t>
            </a:r>
            <a:r>
              <a:rPr lang="en-US" altLang="zh-CN" sz="2400">
                <a:latin typeface="黑体" panose="02010609060101010101" charset="-122"/>
                <a:ea typeface="黑体" panose="02010609060101010101" charset="-122"/>
                <a:cs typeface="黑体" panose="02010609060101010101" charset="-122"/>
              </a:rPr>
              <a:t>;</a:t>
            </a:r>
            <a:endParaRPr lang="en-US" altLang="zh-CN" sz="2400">
              <a:latin typeface="黑体" panose="02010609060101010101" charset="-122"/>
              <a:ea typeface="黑体" panose="02010609060101010101" charset="-122"/>
              <a:cs typeface="黑体" panose="02010609060101010101" charset="-122"/>
            </a:endParaRPr>
          </a:p>
          <a:p>
            <a:pPr indent="0" fontAlgn="auto">
              <a:lnSpc>
                <a:spcPct val="150000"/>
              </a:lnSpc>
            </a:pPr>
            <a:r>
              <a:rPr lang="zh-CN" altLang="en-US" sz="2400">
                <a:solidFill>
                  <a:srgbClr val="FF0000"/>
                </a:solidFill>
                <a:latin typeface="黑体" panose="02010609060101010101" charset="-122"/>
                <a:ea typeface="黑体" panose="02010609060101010101" charset="-122"/>
                <a:cs typeface="黑体" panose="02010609060101010101" charset="-122"/>
              </a:rPr>
              <a:t>基础好一点的学生</a:t>
            </a:r>
            <a:r>
              <a:rPr lang="zh-CN" altLang="en-US" sz="2400">
                <a:latin typeface="黑体" panose="02010609060101010101" charset="-122"/>
                <a:ea typeface="黑体" panose="02010609060101010101" charset="-122"/>
                <a:cs typeface="黑体" panose="02010609060101010101" charset="-122"/>
              </a:rPr>
              <a:t>写辩证思维的</a:t>
            </a:r>
            <a:r>
              <a:rPr lang="en-US" altLang="zh-CN" sz="2400">
                <a:latin typeface="黑体" panose="02010609060101010101" charset="-122"/>
                <a:ea typeface="黑体" panose="02010609060101010101" charset="-122"/>
                <a:cs typeface="黑体" panose="02010609060101010101" charset="-122"/>
              </a:rPr>
              <a:t>,</a:t>
            </a:r>
            <a:r>
              <a:rPr lang="zh-CN" altLang="en-US" sz="2400">
                <a:latin typeface="黑体" panose="02010609060101010101" charset="-122"/>
                <a:ea typeface="黑体" panose="02010609060101010101" charset="-122"/>
                <a:cs typeface="黑体" panose="02010609060101010101" charset="-122"/>
              </a:rPr>
              <a:t>科学思维的特征的</a:t>
            </a:r>
            <a:r>
              <a:rPr lang="en-US" altLang="zh-CN" sz="2400">
                <a:latin typeface="黑体" panose="02010609060101010101" charset="-122"/>
                <a:ea typeface="黑体" panose="02010609060101010101" charset="-122"/>
                <a:cs typeface="黑体" panose="02010609060101010101" charset="-122"/>
              </a:rPr>
              <a:t>,</a:t>
            </a:r>
            <a:r>
              <a:rPr lang="zh-CN" altLang="en-US" sz="2400">
                <a:latin typeface="黑体" panose="02010609060101010101" charset="-122"/>
                <a:ea typeface="黑体" panose="02010609060101010101" charset="-122"/>
                <a:cs typeface="黑体" panose="02010609060101010101" charset="-122"/>
              </a:rPr>
              <a:t>起码知道是选必</a:t>
            </a:r>
            <a:r>
              <a:rPr lang="en-US" altLang="zh-CN" sz="2400">
                <a:latin typeface="黑体" panose="02010609060101010101" charset="-122"/>
                <a:ea typeface="黑体" panose="02010609060101010101" charset="-122"/>
                <a:cs typeface="黑体" panose="02010609060101010101" charset="-122"/>
              </a:rPr>
              <a:t>3</a:t>
            </a:r>
            <a:r>
              <a:rPr lang="zh-CN" altLang="en-US" sz="2400">
                <a:latin typeface="黑体" panose="02010609060101010101" charset="-122"/>
                <a:ea typeface="黑体" panose="02010609060101010101" charset="-122"/>
                <a:cs typeface="黑体" panose="02010609060101010101" charset="-122"/>
              </a:rPr>
              <a:t>的知识但</a:t>
            </a:r>
            <a:r>
              <a:rPr lang="zh-CN" altLang="en-US" sz="2400">
                <a:solidFill>
                  <a:srgbClr val="FF0000"/>
                </a:solidFill>
                <a:latin typeface="黑体" panose="02010609060101010101" charset="-122"/>
                <a:ea typeface="黑体" panose="02010609060101010101" charset="-122"/>
                <a:cs typeface="黑体" panose="02010609060101010101" charset="-122"/>
              </a:rPr>
              <a:t>知识混乱“</a:t>
            </a:r>
            <a:r>
              <a:rPr lang="zh-CN" altLang="en-US" sz="2400">
                <a:latin typeface="黑体" panose="02010609060101010101" charset="-122"/>
                <a:ea typeface="黑体" panose="02010609060101010101" charset="-122"/>
                <a:cs typeface="黑体" panose="02010609060101010101" charset="-122"/>
              </a:rPr>
              <a:t>该区运用创新思维和联想</a:t>
            </a:r>
            <a:r>
              <a:rPr lang="zh-CN" altLang="en-US" sz="2400">
                <a:latin typeface="黑体" panose="02010609060101010101" charset="-122"/>
                <a:ea typeface="黑体" panose="02010609060101010101" charset="-122"/>
                <a:cs typeface="黑体" panose="02010609060101010101" charset="-122"/>
                <a:sym typeface="+mn-ea"/>
              </a:rPr>
              <a:t>”</a:t>
            </a:r>
            <a:r>
              <a:rPr lang="zh-CN" altLang="en-US" sz="2400">
                <a:solidFill>
                  <a:srgbClr val="FF0000"/>
                </a:solidFill>
                <a:latin typeface="黑体" panose="02010609060101010101" charset="-122"/>
                <a:ea typeface="黑体" panose="02010609060101010101" charset="-122"/>
                <a:cs typeface="黑体" panose="02010609060101010101" charset="-122"/>
                <a:sym typeface="+mn-ea"/>
              </a:rPr>
              <a:t>“</a:t>
            </a:r>
            <a:r>
              <a:rPr lang="zh-CN" altLang="en-US" sz="2400">
                <a:latin typeface="黑体" panose="02010609060101010101" charset="-122"/>
                <a:ea typeface="黑体" panose="02010609060101010101" charset="-122"/>
                <a:cs typeface="黑体" panose="02010609060101010101" charset="-122"/>
                <a:sym typeface="+mn-ea"/>
              </a:rPr>
              <a:t>创新思维有结果的预测性和可检验性”“整体思维”“联系思维”</a:t>
            </a:r>
            <a:endParaRPr lang="zh-CN" altLang="en-US" sz="2400">
              <a:latin typeface="黑体" panose="02010609060101010101" charset="-122"/>
              <a:ea typeface="黑体" panose="02010609060101010101" charset="-122"/>
              <a:cs typeface="黑体" panose="02010609060101010101" charset="-122"/>
            </a:endParaRPr>
          </a:p>
          <a:p>
            <a:pPr indent="0" fontAlgn="auto">
              <a:lnSpc>
                <a:spcPct val="150000"/>
              </a:lnSpc>
            </a:pPr>
            <a:r>
              <a:rPr lang="en-US" altLang="zh-CN" sz="2400">
                <a:latin typeface="黑体" panose="02010609060101010101" charset="-122"/>
                <a:ea typeface="黑体" panose="02010609060101010101" charset="-122"/>
                <a:cs typeface="黑体" panose="02010609060101010101" charset="-122"/>
              </a:rPr>
              <a:t>2.</a:t>
            </a:r>
            <a:r>
              <a:rPr lang="zh-CN" altLang="en-US" sz="2400">
                <a:latin typeface="黑体" panose="02010609060101010101" charset="-122"/>
                <a:ea typeface="黑体" panose="02010609060101010101" charset="-122"/>
                <a:cs typeface="黑体" panose="02010609060101010101" charset="-122"/>
              </a:rPr>
              <a:t>罗列知识</a:t>
            </a:r>
            <a:r>
              <a:rPr lang="en-US" altLang="zh-CN" sz="2400">
                <a:latin typeface="黑体" panose="02010609060101010101" charset="-122"/>
                <a:ea typeface="黑体" panose="02010609060101010101" charset="-122"/>
                <a:cs typeface="黑体" panose="02010609060101010101" charset="-122"/>
              </a:rPr>
              <a:t>,</a:t>
            </a:r>
            <a:r>
              <a:rPr lang="zh-CN" altLang="en-US" sz="2400">
                <a:latin typeface="黑体" panose="02010609060101010101" charset="-122"/>
                <a:ea typeface="黑体" panose="02010609060101010101" charset="-122"/>
                <a:cs typeface="黑体" panose="02010609060101010101" charset="-122"/>
              </a:rPr>
              <a:t>只简单扣材料</a:t>
            </a:r>
            <a:endParaRPr lang="zh-CN" altLang="en-US" sz="2400">
              <a:latin typeface="黑体" panose="02010609060101010101" charset="-122"/>
              <a:ea typeface="黑体" panose="02010609060101010101" charset="-122"/>
              <a:cs typeface="黑体" panose="02010609060101010101" charset="-122"/>
            </a:endParaRPr>
          </a:p>
          <a:p>
            <a:pPr indent="0" fontAlgn="auto">
              <a:lnSpc>
                <a:spcPct val="150000"/>
              </a:lnSpc>
            </a:pPr>
            <a:r>
              <a:rPr lang="en-US" altLang="zh-CN" sz="2400">
                <a:latin typeface="黑体" panose="02010609060101010101" charset="-122"/>
                <a:ea typeface="黑体" panose="02010609060101010101" charset="-122"/>
                <a:cs typeface="黑体" panose="02010609060101010101" charset="-122"/>
              </a:rPr>
              <a:t>3.</a:t>
            </a:r>
            <a:r>
              <a:rPr lang="zh-CN" altLang="en-US" sz="2400">
                <a:latin typeface="黑体" panose="02010609060101010101" charset="-122"/>
                <a:ea typeface="黑体" panose="02010609060101010101" charset="-122"/>
                <a:cs typeface="黑体" panose="02010609060101010101" charset="-122"/>
              </a:rPr>
              <a:t>通篇用创新思维的特征</a:t>
            </a:r>
            <a:r>
              <a:rPr lang="en-US" altLang="zh-CN" sz="2400">
                <a:latin typeface="黑体" panose="02010609060101010101" charset="-122"/>
                <a:ea typeface="黑体" panose="02010609060101010101" charset="-122"/>
                <a:cs typeface="黑体" panose="02010609060101010101" charset="-122"/>
              </a:rPr>
              <a:t>(</a:t>
            </a:r>
            <a:r>
              <a:rPr lang="zh-CN" altLang="en-US" sz="2400">
                <a:latin typeface="黑体" panose="02010609060101010101" charset="-122"/>
                <a:ea typeface="黑体" panose="02010609060101010101" charset="-122"/>
                <a:cs typeface="黑体" panose="02010609060101010101" charset="-122"/>
              </a:rPr>
              <a:t>三新或思路的多向性，步骤的</a:t>
            </a:r>
            <a:r>
              <a:rPr lang="en-US" altLang="zh-CN" sz="2400">
                <a:latin typeface="黑体" panose="02010609060101010101" charset="-122"/>
                <a:ea typeface="黑体" panose="02010609060101010101" charset="-122"/>
                <a:cs typeface="黑体" panose="02010609060101010101" charset="-122"/>
              </a:rPr>
              <a:t>……</a:t>
            </a:r>
            <a:r>
              <a:rPr lang="zh-CN" altLang="en-US" sz="2400">
                <a:latin typeface="黑体" panose="02010609060101010101" charset="-122"/>
                <a:ea typeface="黑体" panose="02010609060101010101" charset="-122"/>
                <a:cs typeface="黑体" panose="02010609060101010101" charset="-122"/>
              </a:rPr>
              <a:t>）</a:t>
            </a:r>
            <a:r>
              <a:rPr lang="en-US" altLang="zh-CN" sz="2400">
                <a:latin typeface="黑体" panose="02010609060101010101" charset="-122"/>
                <a:ea typeface="黑体" panose="02010609060101010101" charset="-122"/>
                <a:cs typeface="黑体" panose="02010609060101010101" charset="-122"/>
              </a:rPr>
              <a:t>,</a:t>
            </a:r>
            <a:r>
              <a:rPr lang="zh-CN" altLang="en-US" sz="2400">
                <a:latin typeface="黑体" panose="02010609060101010101" charset="-122"/>
                <a:ea typeface="黑体" panose="02010609060101010101" charset="-122"/>
                <a:cs typeface="黑体" panose="02010609060101010101" charset="-122"/>
              </a:rPr>
              <a:t>分析的非常到位</a:t>
            </a:r>
            <a:endParaRPr lang="zh-CN" altLang="en-US" sz="2400">
              <a:latin typeface="黑体" panose="02010609060101010101" charset="-122"/>
              <a:ea typeface="黑体" panose="02010609060101010101" charset="-122"/>
              <a:cs typeface="黑体" panose="02010609060101010101" charset="-122"/>
            </a:endParaRPr>
          </a:p>
          <a:p>
            <a:pPr indent="0" fontAlgn="auto">
              <a:lnSpc>
                <a:spcPct val="150000"/>
              </a:lnSpc>
            </a:pPr>
            <a:r>
              <a:rPr lang="en-US" altLang="zh-CN" sz="2400">
                <a:latin typeface="黑体" panose="02010609060101010101" charset="-122"/>
                <a:ea typeface="黑体" panose="02010609060101010101" charset="-122"/>
                <a:cs typeface="黑体" panose="02010609060101010101" charset="-122"/>
              </a:rPr>
              <a:t>4.</a:t>
            </a:r>
            <a:r>
              <a:rPr lang="zh-CN" altLang="en-US" sz="2400">
                <a:latin typeface="黑体" panose="02010609060101010101" charset="-122"/>
                <a:ea typeface="黑体" panose="02010609060101010101" charset="-122"/>
                <a:cs typeface="黑体" panose="02010609060101010101" charset="-122"/>
              </a:rPr>
              <a:t>错别字</a:t>
            </a:r>
            <a:r>
              <a:rPr lang="en-US" altLang="zh-CN" sz="2400">
                <a:solidFill>
                  <a:schemeClr val="tx1"/>
                </a:solidFill>
                <a:latin typeface="黑体" panose="02010609060101010101" charset="-122"/>
                <a:ea typeface="黑体" panose="02010609060101010101" charset="-122"/>
                <a:cs typeface="黑体" panose="02010609060101010101" charset="-122"/>
                <a:sym typeface="+mn-ea"/>
              </a:rPr>
              <a:t>“</a:t>
            </a:r>
            <a:r>
              <a:rPr lang="zh-CN" altLang="en-US" sz="2400">
                <a:latin typeface="黑体" panose="02010609060101010101" charset="-122"/>
                <a:ea typeface="黑体" panose="02010609060101010101" charset="-122"/>
                <a:cs typeface="黑体" panose="02010609060101010101" charset="-122"/>
              </a:rPr>
              <a:t>发展与聚合</a:t>
            </a:r>
            <a:r>
              <a:rPr lang="zh-CN" altLang="en-US" sz="2400">
                <a:latin typeface="黑体" panose="02010609060101010101" charset="-122"/>
                <a:ea typeface="黑体" panose="02010609060101010101" charset="-122"/>
                <a:cs typeface="黑体" panose="02010609060101010101" charset="-122"/>
                <a:sym typeface="+mn-ea"/>
              </a:rPr>
              <a:t>”</a:t>
            </a:r>
            <a:r>
              <a:rPr lang="zh-CN" altLang="en-US" sz="2400">
                <a:latin typeface="黑体" panose="02010609060101010101" charset="-122"/>
                <a:ea typeface="黑体" panose="02010609060101010101" charset="-122"/>
                <a:cs typeface="黑体" panose="02010609060101010101" charset="-122"/>
              </a:rPr>
              <a:t>还有写了两次发散的，但有一个明显解释的聚合，分析的很到位</a:t>
            </a:r>
            <a:endParaRPr lang="zh-CN" altLang="en-US" sz="2400">
              <a:latin typeface="黑体" panose="02010609060101010101" charset="-122"/>
              <a:ea typeface="黑体" panose="02010609060101010101" charset="-122"/>
              <a:cs typeface="黑体" panose="02010609060101010101" charset="-122"/>
            </a:endParaRPr>
          </a:p>
          <a:p>
            <a:pPr indent="0" fontAlgn="auto">
              <a:lnSpc>
                <a:spcPct val="150000"/>
              </a:lnSpc>
            </a:pPr>
            <a:r>
              <a:rPr lang="en-US" altLang="zh-CN" sz="2400">
                <a:latin typeface="黑体" panose="02010609060101010101" charset="-122"/>
                <a:ea typeface="黑体" panose="02010609060101010101" charset="-122"/>
                <a:cs typeface="黑体" panose="02010609060101010101" charset="-122"/>
              </a:rPr>
              <a:t>5.</a:t>
            </a:r>
            <a:r>
              <a:rPr lang="zh-CN" altLang="en-US" sz="2400">
                <a:latin typeface="黑体" panose="02010609060101010101" charset="-122"/>
                <a:ea typeface="黑体" panose="02010609060101010101" charset="-122"/>
                <a:cs typeface="黑体" panose="02010609060101010101" charset="-122"/>
              </a:rPr>
              <a:t>空白卷挺多</a:t>
            </a:r>
            <a:endParaRPr lang="zh-CN" altLang="en-US" sz="2400">
              <a:latin typeface="黑体" panose="02010609060101010101" charset="-122"/>
              <a:ea typeface="黑体" panose="02010609060101010101" charset="-122"/>
              <a:cs typeface="黑体" panose="02010609060101010101" charset="-122"/>
            </a:endParaRPr>
          </a:p>
        </p:txBody>
      </p:sp>
      <p:sp>
        <p:nvSpPr>
          <p:cNvPr id="8" name="标题 3"/>
          <p:cNvSpPr txBox="1"/>
          <p:nvPr/>
        </p:nvSpPr>
        <p:spPr>
          <a:xfrm>
            <a:off x="288925" y="0"/>
            <a:ext cx="4175760" cy="750570"/>
          </a:xfrm>
          <a:prstGeom prst="rect">
            <a:avLst/>
          </a:prstGeom>
        </p:spPr>
        <p:txBody>
          <a:bodyPr vert="horz" lIns="91440" tIns="45720" rIns="91440" bIns="4572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四、学生问题及建议</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77165" y="1788795"/>
            <a:ext cx="11555095" cy="2676525"/>
          </a:xfrm>
          <a:prstGeom prst="rect">
            <a:avLst/>
          </a:prstGeom>
          <a:noFill/>
        </p:spPr>
        <p:txBody>
          <a:bodyPr wrap="square" rtlCol="0">
            <a:spAutoFit/>
          </a:bodyPr>
          <a:p>
            <a:pPr indent="0" fontAlgn="auto">
              <a:lnSpc>
                <a:spcPct val="150000"/>
              </a:lnSpc>
            </a:pPr>
            <a:r>
              <a:rPr lang="en-US" altLang="zh-CN" sz="2800">
                <a:latin typeface="黑体" panose="02010609060101010101" charset="-122"/>
                <a:ea typeface="黑体" panose="02010609060101010101" charset="-122"/>
                <a:cs typeface="黑体" panose="02010609060101010101" charset="-122"/>
              </a:rPr>
              <a:t>1.</a:t>
            </a:r>
            <a:r>
              <a:rPr lang="zh-CN" sz="2800">
                <a:latin typeface="黑体" panose="02010609060101010101" charset="-122"/>
                <a:ea typeface="黑体" panose="02010609060101010101" charset="-122"/>
                <a:cs typeface="黑体" panose="02010609060101010101" charset="-122"/>
              </a:rPr>
              <a:t>高考前回归教材基础</a:t>
            </a:r>
            <a:r>
              <a:rPr lang="zh-CN" altLang="en-US" sz="2800">
                <a:latin typeface="黑体" panose="02010609060101010101" charset="-122"/>
                <a:ea typeface="黑体" panose="02010609060101010101" charset="-122"/>
                <a:cs typeface="黑体" panose="02010609060101010101" charset="-122"/>
              </a:rPr>
              <a:t>，重温核心重点，</a:t>
            </a:r>
            <a:r>
              <a:rPr lang="zh-CN" altLang="en-US" sz="2800">
                <a:latin typeface="黑体" panose="02010609060101010101" charset="-122"/>
                <a:ea typeface="黑体" panose="02010609060101010101" charset="-122"/>
                <a:cs typeface="黑体" panose="02010609060101010101" charset="-122"/>
              </a:rPr>
              <a:t>好一点的学生要细化</a:t>
            </a:r>
            <a:endParaRPr lang="zh-CN" altLang="en-US" sz="2800">
              <a:latin typeface="黑体" panose="02010609060101010101" charset="-122"/>
              <a:ea typeface="黑体" panose="02010609060101010101" charset="-122"/>
              <a:cs typeface="黑体" panose="02010609060101010101" charset="-122"/>
            </a:endParaRPr>
          </a:p>
          <a:p>
            <a:pPr indent="0" fontAlgn="auto">
              <a:lnSpc>
                <a:spcPct val="150000"/>
              </a:lnSpc>
            </a:pPr>
            <a:r>
              <a:rPr lang="en-US" altLang="zh-CN" sz="2800">
                <a:latin typeface="黑体" panose="02010609060101010101" charset="-122"/>
                <a:ea typeface="黑体" panose="02010609060101010101" charset="-122"/>
                <a:cs typeface="黑体" panose="02010609060101010101" charset="-122"/>
              </a:rPr>
              <a:t>2.</a:t>
            </a:r>
            <a:r>
              <a:rPr lang="zh-CN" altLang="en-US" sz="2800">
                <a:latin typeface="黑体" panose="02010609060101010101" charset="-122"/>
                <a:ea typeface="黑体" panose="02010609060101010101" charset="-122"/>
                <a:cs typeface="黑体" panose="02010609060101010101" charset="-122"/>
              </a:rPr>
              <a:t>学生对</a:t>
            </a:r>
            <a:r>
              <a:rPr lang="zh-CN" sz="2800">
                <a:latin typeface="黑体" panose="02010609060101010101" charset="-122"/>
                <a:ea typeface="黑体" panose="02010609060101010101" charset="-122"/>
                <a:cs typeface="黑体" panose="02010609060101010101" charset="-122"/>
              </a:rPr>
              <a:t>自己学科知识内容掌握的的反思与知识体系的构建</a:t>
            </a:r>
            <a:endParaRPr lang="zh-CN" altLang="en-US" sz="2800">
              <a:latin typeface="黑体" panose="02010609060101010101" charset="-122"/>
              <a:ea typeface="黑体" panose="02010609060101010101" charset="-122"/>
              <a:cs typeface="黑体" panose="02010609060101010101" charset="-122"/>
            </a:endParaRPr>
          </a:p>
          <a:p>
            <a:pPr indent="0" fontAlgn="auto">
              <a:lnSpc>
                <a:spcPct val="150000"/>
              </a:lnSpc>
            </a:pPr>
            <a:r>
              <a:rPr lang="en-US" altLang="zh-CN" sz="2800">
                <a:latin typeface="黑体" panose="02010609060101010101" charset="-122"/>
                <a:ea typeface="黑体" panose="02010609060101010101" charset="-122"/>
                <a:cs typeface="黑体" panose="02010609060101010101" charset="-122"/>
              </a:rPr>
              <a:t>3.</a:t>
            </a:r>
            <a:r>
              <a:rPr lang="zh-CN" altLang="en-US" sz="2800">
                <a:latin typeface="黑体" panose="02010609060101010101" charset="-122"/>
                <a:ea typeface="黑体" panose="02010609060101010101" charset="-122"/>
                <a:cs typeface="黑体" panose="02010609060101010101" charset="-122"/>
              </a:rPr>
              <a:t>审题</a:t>
            </a:r>
            <a:r>
              <a:rPr lang="en-US" altLang="zh-CN" sz="2800">
                <a:latin typeface="黑体" panose="02010609060101010101" charset="-122"/>
                <a:ea typeface="黑体" panose="02010609060101010101" charset="-122"/>
                <a:cs typeface="黑体" panose="02010609060101010101" charset="-122"/>
              </a:rPr>
              <a:t>——</a:t>
            </a:r>
            <a:r>
              <a:rPr lang="zh-CN" altLang="en-US" sz="2800">
                <a:latin typeface="黑体" panose="02010609060101010101" charset="-122"/>
                <a:ea typeface="黑体" panose="02010609060101010101" charset="-122"/>
                <a:cs typeface="黑体" panose="02010609060101010101" charset="-122"/>
              </a:rPr>
              <a:t>再提示</a:t>
            </a:r>
            <a:r>
              <a:rPr lang="zh-CN" sz="2800">
                <a:latin typeface="黑体" panose="02010609060101010101" charset="-122"/>
                <a:ea typeface="黑体" panose="02010609060101010101" charset="-122"/>
                <a:cs typeface="黑体" panose="02010609060101010101" charset="-122"/>
              </a:rPr>
              <a:t>各种题型的分析与作答</a:t>
            </a:r>
            <a:endParaRPr lang="zh-CN" altLang="en-US" sz="2800">
              <a:latin typeface="黑体" panose="02010609060101010101" charset="-122"/>
              <a:ea typeface="黑体" panose="02010609060101010101" charset="-122"/>
              <a:cs typeface="黑体" panose="02010609060101010101" charset="-122"/>
            </a:endParaRPr>
          </a:p>
          <a:p>
            <a:pPr indent="0" fontAlgn="auto">
              <a:lnSpc>
                <a:spcPct val="150000"/>
              </a:lnSpc>
            </a:pPr>
            <a:r>
              <a:rPr lang="en-US" altLang="zh-CN" sz="2800">
                <a:latin typeface="黑体" panose="02010609060101010101" charset="-122"/>
                <a:ea typeface="黑体" panose="02010609060101010101" charset="-122"/>
                <a:cs typeface="黑体" panose="02010609060101010101" charset="-122"/>
              </a:rPr>
              <a:t>4.</a:t>
            </a:r>
            <a:r>
              <a:rPr lang="zh-CN" altLang="en-US" sz="2800">
                <a:latin typeface="黑体" panose="02010609060101010101" charset="-122"/>
                <a:ea typeface="黑体" panose="02010609060101010101" charset="-122"/>
                <a:cs typeface="黑体" panose="02010609060101010101" charset="-122"/>
              </a:rPr>
              <a:t>稳稳的心态</a:t>
            </a:r>
            <a:endParaRPr lang="zh-CN" altLang="en-US" sz="2800">
              <a:latin typeface="黑体" panose="02010609060101010101" charset="-122"/>
              <a:ea typeface="黑体" panose="02010609060101010101" charset="-122"/>
              <a:cs typeface="黑体" panose="02010609060101010101" charset="-122"/>
            </a:endParaRPr>
          </a:p>
        </p:txBody>
      </p:sp>
      <p:sp>
        <p:nvSpPr>
          <p:cNvPr id="8" name="标题 3"/>
          <p:cNvSpPr txBox="1"/>
          <p:nvPr/>
        </p:nvSpPr>
        <p:spPr>
          <a:xfrm>
            <a:off x="288925" y="0"/>
            <a:ext cx="4175760" cy="750570"/>
          </a:xfrm>
          <a:prstGeom prst="rect">
            <a:avLst/>
          </a:prstGeom>
        </p:spPr>
        <p:txBody>
          <a:bodyPr vert="horz" lIns="91440" tIns="45720" rIns="91440" bIns="4572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四、学生问题及建议</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946785" y="1144905"/>
            <a:ext cx="9025255" cy="4742815"/>
          </a:xfrm>
          <a:prstGeom prst="rect">
            <a:avLst/>
          </a:prstGeom>
        </p:spPr>
      </p:pic>
      <p:sp>
        <p:nvSpPr>
          <p:cNvPr id="5" name="文本框 4"/>
          <p:cNvSpPr txBox="1"/>
          <p:nvPr/>
        </p:nvSpPr>
        <p:spPr>
          <a:xfrm>
            <a:off x="120650" y="158115"/>
            <a:ext cx="4064000" cy="368300"/>
          </a:xfrm>
          <a:prstGeom prst="rect">
            <a:avLst/>
          </a:prstGeom>
          <a:noFill/>
        </p:spPr>
        <p:txBody>
          <a:bodyPr wrap="square" rtlCol="0">
            <a:spAutoFit/>
          </a:bodyPr>
          <a:p>
            <a:r>
              <a:rPr lang="en-US" altLang="zh-CN"/>
              <a:t>22</a:t>
            </a:r>
            <a:r>
              <a:rPr lang="zh-CN" altLang="en-US"/>
              <a:t>年</a:t>
            </a:r>
            <a:endParaRPr lang="zh-CN" altLang="en-US"/>
          </a:p>
        </p:txBody>
      </p:sp>
      <p:sp>
        <p:nvSpPr>
          <p:cNvPr id="3" name="标题 3"/>
          <p:cNvSpPr txBox="1"/>
          <p:nvPr/>
        </p:nvSpPr>
        <p:spPr>
          <a:xfrm>
            <a:off x="721995" y="265430"/>
            <a:ext cx="3070225" cy="750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五、复练试题</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104900" y="451485"/>
            <a:ext cx="10115550" cy="2613660"/>
          </a:xfrm>
          <a:prstGeom prst="rect">
            <a:avLst/>
          </a:prstGeom>
        </p:spPr>
      </p:pic>
      <p:sp>
        <p:nvSpPr>
          <p:cNvPr id="3" name="文本框 2"/>
          <p:cNvSpPr txBox="1"/>
          <p:nvPr/>
        </p:nvSpPr>
        <p:spPr>
          <a:xfrm>
            <a:off x="0" y="166370"/>
            <a:ext cx="6096000" cy="368300"/>
          </a:xfrm>
          <a:prstGeom prst="rect">
            <a:avLst/>
          </a:prstGeom>
          <a:noFill/>
        </p:spPr>
        <p:txBody>
          <a:bodyPr wrap="square" rtlCol="0" anchor="t">
            <a:spAutoFit/>
          </a:bodyPr>
          <a:p>
            <a:r>
              <a:rPr lang="en-US" altLang="zh-CN">
                <a:sym typeface="+mn-ea"/>
              </a:rPr>
              <a:t>25</a:t>
            </a:r>
            <a:r>
              <a:rPr lang="zh-CN" altLang="en-US">
                <a:sym typeface="+mn-ea"/>
              </a:rPr>
              <a:t>年</a:t>
            </a:r>
            <a:endParaRPr lang="zh-CN" altLang="en-US">
              <a:sym typeface="+mn-ea"/>
            </a:endParaRPr>
          </a:p>
        </p:txBody>
      </p:sp>
      <p:pic>
        <p:nvPicPr>
          <p:cNvPr id="4" name="图片 3"/>
          <p:cNvPicPr>
            <a:picLocks noChangeAspect="1"/>
          </p:cNvPicPr>
          <p:nvPr/>
        </p:nvPicPr>
        <p:blipFill>
          <a:blip r:embed="rId2"/>
          <a:stretch>
            <a:fillRect/>
          </a:stretch>
        </p:blipFill>
        <p:spPr>
          <a:xfrm>
            <a:off x="796925" y="3429000"/>
            <a:ext cx="11029950" cy="26416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837055" y="701675"/>
            <a:ext cx="9053195" cy="3742055"/>
          </a:xfrm>
          <a:prstGeom prst="rect">
            <a:avLst/>
          </a:prstGeom>
        </p:spPr>
      </p:pic>
      <p:sp>
        <p:nvSpPr>
          <p:cNvPr id="3" name="文本框 2"/>
          <p:cNvSpPr txBox="1"/>
          <p:nvPr/>
        </p:nvSpPr>
        <p:spPr>
          <a:xfrm>
            <a:off x="0" y="166370"/>
            <a:ext cx="6096000" cy="368300"/>
          </a:xfrm>
          <a:prstGeom prst="rect">
            <a:avLst/>
          </a:prstGeom>
          <a:noFill/>
        </p:spPr>
        <p:txBody>
          <a:bodyPr wrap="square" rtlCol="0" anchor="t">
            <a:spAutoFit/>
          </a:bodyPr>
          <a:p>
            <a:r>
              <a:rPr lang="en-US" altLang="zh-CN">
                <a:sym typeface="+mn-ea"/>
              </a:rPr>
              <a:t>25</a:t>
            </a:r>
            <a:r>
              <a:rPr lang="zh-CN" altLang="en-US">
                <a:sym typeface="+mn-ea"/>
              </a:rPr>
              <a:t>年海淀二模</a:t>
            </a:r>
            <a:endParaRPr lang="zh-CN" altLang="en-US">
              <a:sym typeface="+mn-ea"/>
            </a:endParaRPr>
          </a:p>
        </p:txBody>
      </p:sp>
      <p:sp>
        <p:nvSpPr>
          <p:cNvPr id="100" name="文本框 99"/>
          <p:cNvSpPr txBox="1"/>
          <p:nvPr/>
        </p:nvSpPr>
        <p:spPr>
          <a:xfrm>
            <a:off x="474345" y="4443730"/>
            <a:ext cx="10765155" cy="1956435"/>
          </a:xfrm>
          <a:prstGeom prst="rect">
            <a:avLst/>
          </a:prstGeom>
          <a:noFill/>
          <a:ln w="9525">
            <a:noFill/>
          </a:ln>
        </p:spPr>
        <p:txBody>
          <a:bodyPr wrap="square">
            <a:noAutofit/>
          </a:bodyPr>
          <a:p>
            <a:pPr marL="0" indent="0" algn="l"/>
            <a:r>
              <a:rPr lang="en-US" b="1">
                <a:solidFill>
                  <a:srgbClr val="000000"/>
                </a:solidFill>
                <a:latin typeface="宋体" panose="02010600030101010101" pitchFamily="2" charset="-122"/>
                <a:ea typeface="宋体" panose="02010600030101010101" pitchFamily="2" charset="-122"/>
                <a:cs typeface="宋体" panose="02010600030101010101" pitchFamily="2" charset="-122"/>
              </a:rPr>
              <a:t>20</a:t>
            </a:r>
            <a:r>
              <a:rPr lang="zh-CN" b="1">
                <a:solidFill>
                  <a:srgbClr val="000000"/>
                </a:solidFill>
                <a:latin typeface="宋体" panose="02010600030101010101" pitchFamily="2" charset="-122"/>
                <a:ea typeface="宋体" panose="02010600030101010101" pitchFamily="2" charset="-122"/>
                <a:cs typeface="宋体" panose="02010600030101010101" pitchFamily="2" charset="-122"/>
              </a:rPr>
              <a:t>．（</a:t>
            </a:r>
            <a:r>
              <a:rPr lang="en-US" b="1">
                <a:solidFill>
                  <a:srgbClr val="000000"/>
                </a:solidFill>
                <a:latin typeface="宋体" panose="02010600030101010101" pitchFamily="2" charset="-122"/>
                <a:ea typeface="宋体" panose="02010600030101010101" pitchFamily="2" charset="-122"/>
                <a:cs typeface="宋体" panose="02010600030101010101" pitchFamily="2" charset="-122"/>
              </a:rPr>
              <a:t>6</a:t>
            </a:r>
            <a:r>
              <a:rPr lang="zh-CN" b="1">
                <a:solidFill>
                  <a:srgbClr val="000000"/>
                </a:solidFill>
                <a:latin typeface="宋体" panose="02010600030101010101" pitchFamily="2" charset="-122"/>
                <a:ea typeface="宋体" panose="02010600030101010101" pitchFamily="2" charset="-122"/>
                <a:cs typeface="宋体" panose="02010600030101010101" pitchFamily="2" charset="-122"/>
              </a:rPr>
              <a:t>分）</a:t>
            </a:r>
            <a:r>
              <a:rPr lang="en-US" altLang="zh-CN" b="1">
                <a:solidFill>
                  <a:srgbClr val="000000"/>
                </a:solidFill>
                <a:latin typeface="宋体" panose="02010600030101010101" pitchFamily="2" charset="-122"/>
                <a:ea typeface="宋体" panose="02010600030101010101" pitchFamily="2" charset="-122"/>
                <a:cs typeface="宋体" panose="02010600030101010101" pitchFamily="2" charset="-122"/>
              </a:rPr>
              <a:t>    </a:t>
            </a:r>
            <a:r>
              <a:rPr lang="zh-CN" b="1">
                <a:solidFill>
                  <a:srgbClr val="000000"/>
                </a:solidFill>
                <a:latin typeface="宋体" panose="02010600030101010101" pitchFamily="2" charset="-122"/>
                <a:ea typeface="宋体" panose="02010600030101010101" pitchFamily="2" charset="-122"/>
                <a:cs typeface="宋体" panose="02010600030101010101" pitchFamily="2" charset="-122"/>
              </a:rPr>
              <a:t>坚持共享发展理念推进共同富裕，要运用分析与综合方法，既要处理好发展过程中的各环节各部分，实现人人享有、各得其所，更要立足整体，全面推进经济、政治、文化、社会、生态各方面建设，实现全面共享。要遵循质量互变规律，发挥人民群众的积极性主动性，正确把握发展过重中渐进性与飞跃性、连续性与间断性的关系，循序渐进地实现共同富裕。</a:t>
            </a:r>
            <a:r>
              <a:rPr lang="zh-CN" b="1">
                <a:latin typeface="宋体" panose="02010600030101010101" pitchFamily="2" charset="-122"/>
                <a:ea typeface="宋体" panose="02010600030101010101" pitchFamily="2" charset="-122"/>
                <a:cs typeface="宋体" panose="02010600030101010101" pitchFamily="2" charset="-122"/>
              </a:rPr>
              <a:t>（其他答案言之有理，可酌情给分）</a:t>
            </a:r>
            <a:endParaRPr lang="zh-CN" altLang="en-US" b="1">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305050" y="257175"/>
            <a:ext cx="7581900" cy="6343650"/>
          </a:xfrm>
          <a:prstGeom prst="rect">
            <a:avLst/>
          </a:prstGeom>
        </p:spPr>
      </p:pic>
      <p:sp>
        <p:nvSpPr>
          <p:cNvPr id="3" name="文本框 2"/>
          <p:cNvSpPr txBox="1"/>
          <p:nvPr/>
        </p:nvSpPr>
        <p:spPr>
          <a:xfrm>
            <a:off x="0" y="166370"/>
            <a:ext cx="6096000" cy="368300"/>
          </a:xfrm>
          <a:prstGeom prst="rect">
            <a:avLst/>
          </a:prstGeom>
          <a:noFill/>
        </p:spPr>
        <p:txBody>
          <a:bodyPr wrap="square" rtlCol="0" anchor="t">
            <a:spAutoFit/>
          </a:bodyPr>
          <a:p>
            <a:r>
              <a:rPr lang="en-US" altLang="zh-CN">
                <a:sym typeface="+mn-ea"/>
              </a:rPr>
              <a:t>25</a:t>
            </a:r>
            <a:r>
              <a:rPr lang="zh-CN" altLang="en-US">
                <a:sym typeface="+mn-ea"/>
              </a:rPr>
              <a:t>年海淀期末</a:t>
            </a:r>
            <a:endParaRPr lang="zh-CN" altLang="en-US">
              <a:sym typeface="+mn-e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709295" y="547370"/>
            <a:ext cx="10772775" cy="5762625"/>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21920" y="854710"/>
            <a:ext cx="5989955" cy="5617845"/>
          </a:xfrm>
          <a:prstGeom prst="rect">
            <a:avLst/>
          </a:prstGeom>
        </p:spPr>
      </p:pic>
      <p:pic>
        <p:nvPicPr>
          <p:cNvPr id="34" name="图片 33"/>
          <p:cNvPicPr>
            <a:picLocks noChangeAspect="1"/>
          </p:cNvPicPr>
          <p:nvPr/>
        </p:nvPicPr>
        <p:blipFill>
          <a:blip r:embed="rId2"/>
          <a:stretch>
            <a:fillRect/>
          </a:stretch>
        </p:blipFill>
        <p:spPr>
          <a:xfrm>
            <a:off x="6040755" y="729615"/>
            <a:ext cx="6040755" cy="1061085"/>
          </a:xfrm>
          <a:prstGeom prst="rect">
            <a:avLst/>
          </a:prstGeom>
        </p:spPr>
      </p:pic>
      <p:pic>
        <p:nvPicPr>
          <p:cNvPr id="35" name="图片 34"/>
          <p:cNvPicPr>
            <a:picLocks noChangeAspect="1"/>
          </p:cNvPicPr>
          <p:nvPr/>
        </p:nvPicPr>
        <p:blipFill>
          <a:blip r:embed="rId3"/>
          <a:stretch>
            <a:fillRect/>
          </a:stretch>
        </p:blipFill>
        <p:spPr>
          <a:xfrm>
            <a:off x="6111875" y="1715135"/>
            <a:ext cx="6057900" cy="1143000"/>
          </a:xfrm>
          <a:prstGeom prst="rect">
            <a:avLst/>
          </a:prstGeom>
        </p:spPr>
      </p:pic>
      <p:pic>
        <p:nvPicPr>
          <p:cNvPr id="36" name="图片 35"/>
          <p:cNvPicPr>
            <a:picLocks noChangeAspect="1"/>
          </p:cNvPicPr>
          <p:nvPr/>
        </p:nvPicPr>
        <p:blipFill>
          <a:blip r:embed="rId4"/>
          <a:stretch>
            <a:fillRect/>
          </a:stretch>
        </p:blipFill>
        <p:spPr>
          <a:xfrm>
            <a:off x="6111875" y="2858135"/>
            <a:ext cx="5982335" cy="2009140"/>
          </a:xfrm>
          <a:prstGeom prst="rect">
            <a:avLst/>
          </a:prstGeom>
        </p:spPr>
      </p:pic>
      <p:pic>
        <p:nvPicPr>
          <p:cNvPr id="37" name="图片 36"/>
          <p:cNvPicPr>
            <a:picLocks noChangeAspect="1"/>
          </p:cNvPicPr>
          <p:nvPr/>
        </p:nvPicPr>
        <p:blipFill>
          <a:blip r:embed="rId5"/>
          <a:stretch>
            <a:fillRect/>
          </a:stretch>
        </p:blipFill>
        <p:spPr>
          <a:xfrm>
            <a:off x="6040755" y="4824095"/>
            <a:ext cx="6053455" cy="1897380"/>
          </a:xfrm>
          <a:prstGeom prst="rect">
            <a:avLst/>
          </a:prstGeom>
        </p:spPr>
      </p:pic>
      <p:sp>
        <p:nvSpPr>
          <p:cNvPr id="16" name="标题 3"/>
          <p:cNvSpPr txBox="1"/>
          <p:nvPr/>
        </p:nvSpPr>
        <p:spPr>
          <a:xfrm>
            <a:off x="108587" y="-317"/>
            <a:ext cx="3070225" cy="750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一、试题分析</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6"/>
          <p:cNvSpPr/>
          <p:nvPr>
            <p:custDataLst>
              <p:tags r:id="rId1"/>
            </p:custDataLst>
          </p:nvPr>
        </p:nvSpPr>
        <p:spPr>
          <a:xfrm>
            <a:off x="17779" y="652621"/>
            <a:ext cx="12192000" cy="43348"/>
          </a:xfrm>
          <a:prstGeom prst="rect">
            <a:avLst/>
          </a:prstGeom>
          <a:solidFill>
            <a:srgbClr val="0170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spcBef>
                <a:spcPct val="0"/>
              </a:spcBef>
              <a:spcAft>
                <a:spcPct val="0"/>
              </a:spcAft>
            </a:pPr>
            <a:endParaRPr lang="zh-CN" altLang="en-US" sz="1705">
              <a:solidFill>
                <a:prstClr val="white"/>
              </a:solidFill>
              <a:latin typeface="Arial" panose="020B0604020202020204"/>
              <a:ea typeface="微软雅黑" panose="020B0503020204020204" charset="-122"/>
            </a:endParaRPr>
          </a:p>
        </p:txBody>
      </p:sp>
      <p:sp>
        <p:nvSpPr>
          <p:cNvPr id="8" name="矩形 7"/>
          <p:cNvSpPr/>
          <p:nvPr>
            <p:custDataLst>
              <p:tags r:id="rId2"/>
            </p:custDataLst>
          </p:nvPr>
        </p:nvSpPr>
        <p:spPr>
          <a:xfrm>
            <a:off x="0" y="6472555"/>
            <a:ext cx="12192000" cy="385445"/>
          </a:xfrm>
          <a:prstGeom prst="rect">
            <a:avLst/>
          </a:prstGeom>
          <a:solidFill>
            <a:srgbClr val="0170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spcBef>
                <a:spcPct val="0"/>
              </a:spcBef>
              <a:spcAft>
                <a:spcPct val="0"/>
              </a:spcAft>
            </a:pPr>
            <a:endParaRPr lang="zh-CN" altLang="en-US" sz="1705">
              <a:solidFill>
                <a:prstClr val="white"/>
              </a:solidFill>
              <a:latin typeface="Arial" panose="020B0604020202020204"/>
              <a:ea typeface="微软雅黑" panose="020B0503020204020204" charset="-122"/>
            </a:endParaRPr>
          </a:p>
        </p:txBody>
      </p:sp>
      <p:pic>
        <p:nvPicPr>
          <p:cNvPr id="12" name="图片 11"/>
          <p:cNvPicPr>
            <a:picLocks noChangeAspect="1"/>
          </p:cNvPicPr>
          <p:nvPr>
            <p:custDataLst>
              <p:tags r:id="rId3"/>
            </p:custDataLst>
          </p:nvPr>
        </p:nvPicPr>
        <p:blipFill>
          <a:blip r:embed="rId4">
            <a:biLevel thresh="25000"/>
            <a:extLst>
              <a:ext uri="{28A0092B-C50C-407E-A947-70E740481C1C}">
                <a14:useLocalDpi xmlns:a14="http://schemas.microsoft.com/office/drawing/2010/main" val="0"/>
              </a:ext>
            </a:extLst>
          </a:blip>
          <a:stretch>
            <a:fillRect/>
          </a:stretch>
        </p:blipFill>
        <p:spPr>
          <a:xfrm>
            <a:off x="4671360" y="6376242"/>
            <a:ext cx="2885444" cy="630668"/>
          </a:xfrm>
          <a:prstGeom prst="rect">
            <a:avLst/>
          </a:prstGeom>
        </p:spPr>
      </p:pic>
      <p:pic>
        <p:nvPicPr>
          <p:cNvPr id="2" name="图片 1"/>
          <p:cNvPicPr>
            <a:picLocks noChangeAspect="1"/>
          </p:cNvPicPr>
          <p:nvPr/>
        </p:nvPicPr>
        <p:blipFill>
          <a:blip r:embed="rId5"/>
          <a:stretch>
            <a:fillRect/>
          </a:stretch>
        </p:blipFill>
        <p:spPr>
          <a:xfrm>
            <a:off x="341630" y="784860"/>
            <a:ext cx="5989955" cy="5617845"/>
          </a:xfrm>
          <a:prstGeom prst="rect">
            <a:avLst/>
          </a:prstGeom>
        </p:spPr>
      </p:pic>
      <p:sp>
        <p:nvSpPr>
          <p:cNvPr id="3" name="文本框 2"/>
          <p:cNvSpPr txBox="1"/>
          <p:nvPr/>
        </p:nvSpPr>
        <p:spPr>
          <a:xfrm>
            <a:off x="6780530" y="1612265"/>
            <a:ext cx="3475990" cy="1203325"/>
          </a:xfrm>
          <a:prstGeom prst="rect">
            <a:avLst/>
          </a:prstGeom>
          <a:solidFill>
            <a:schemeClr val="accent3">
              <a:lumMod val="20000"/>
              <a:lumOff val="80000"/>
            </a:schemeClr>
          </a:solidFill>
          <a:ln>
            <a:gradFill>
              <a:gsLst>
                <a:gs pos="100000">
                  <a:srgbClr val="FF1744"/>
                </a:gs>
                <a:gs pos="0">
                  <a:srgbClr val="FF8A80"/>
                </a:gs>
              </a:gsLst>
              <a:path path="circle">
                <a:fillToRect l="100000" t="100000"/>
              </a:path>
              <a:tileRect r="-100000" b="-100000"/>
            </a:gradFill>
          </a:ln>
        </p:spPr>
        <p:txBody>
          <a:bodyPr wrap="square" rtlCol="0">
            <a:noAutofit/>
          </a:bodyPr>
          <a:p>
            <a:pPr lvl="0" algn="l">
              <a:buClrTx/>
              <a:buSzTx/>
              <a:buFontTx/>
            </a:pPr>
            <a:r>
              <a:rPr lang="zh-CN" altLang="en-US" b="1">
                <a:solidFill>
                  <a:srgbClr val="333333"/>
                </a:solidFill>
                <a:latin typeface="宋体" panose="02010600030101010101" pitchFamily="2" charset="-122"/>
                <a:ea typeface="宋体" panose="02010600030101010101" pitchFamily="2" charset="-122"/>
                <a:cs typeface="宋体" panose="02010600030101010101" pitchFamily="2" charset="-122"/>
                <a:sym typeface="+mn-ea"/>
              </a:rPr>
              <a:t>材料逻辑：</a:t>
            </a:r>
            <a:endParaRPr lang="zh-CN" altLang="en-US" b="1">
              <a:solidFill>
                <a:srgbClr val="333333"/>
              </a:solidFill>
              <a:latin typeface="宋体" panose="02010600030101010101" pitchFamily="2" charset="-122"/>
              <a:ea typeface="宋体" panose="02010600030101010101" pitchFamily="2" charset="-122"/>
              <a:cs typeface="宋体" panose="02010600030101010101" pitchFamily="2" charset="-122"/>
              <a:sym typeface="+mn-ea"/>
            </a:endParaRPr>
          </a:p>
          <a:p>
            <a:pPr lvl="0" algn="l">
              <a:buClrTx/>
              <a:buSzTx/>
              <a:buFontTx/>
            </a:pPr>
            <a:r>
              <a:rPr lang="zh-CN" altLang="en-US" b="1">
                <a:solidFill>
                  <a:srgbClr val="333333"/>
                </a:solidFill>
                <a:latin typeface="宋体" panose="02010600030101010101" pitchFamily="2" charset="-122"/>
                <a:ea typeface="宋体" panose="02010600030101010101" pitchFamily="2" charset="-122"/>
                <a:cs typeface="宋体" panose="02010600030101010101" pitchFamily="2" charset="-122"/>
                <a:sym typeface="+mn-ea"/>
              </a:rPr>
              <a:t>[强国之基]理论层面：国内国际</a:t>
            </a:r>
            <a:endParaRPr lang="zh-CN" altLang="en-US" b="1">
              <a:solidFill>
                <a:srgbClr val="333333"/>
              </a:solidFill>
              <a:latin typeface="宋体" panose="02010600030101010101" pitchFamily="2" charset="-122"/>
              <a:ea typeface="宋体" panose="02010600030101010101" pitchFamily="2" charset="-122"/>
              <a:cs typeface="宋体" panose="02010600030101010101" pitchFamily="2" charset="-122"/>
              <a:sym typeface="+mn-ea"/>
            </a:endParaRPr>
          </a:p>
          <a:p>
            <a:pPr lvl="0" algn="l">
              <a:buClrTx/>
              <a:buSzTx/>
              <a:buFontTx/>
            </a:pPr>
            <a:r>
              <a:rPr lang="zh-CN" altLang="en-US" b="1">
                <a:solidFill>
                  <a:srgbClr val="333333"/>
                </a:solidFill>
                <a:latin typeface="宋体" panose="02010600030101010101" pitchFamily="2" charset="-122"/>
                <a:ea typeface="宋体" panose="02010600030101010101" pitchFamily="2" charset="-122"/>
                <a:cs typeface="宋体" panose="02010600030101010101" pitchFamily="2" charset="-122"/>
                <a:sym typeface="+mn-ea"/>
              </a:rPr>
              <a:t>[领航定向]实践层面：宏观战略</a:t>
            </a:r>
            <a:endParaRPr lang="zh-CN" altLang="en-US" b="1">
              <a:solidFill>
                <a:srgbClr val="333333"/>
              </a:solidFill>
              <a:latin typeface="宋体" panose="02010600030101010101" pitchFamily="2" charset="-122"/>
              <a:ea typeface="宋体" panose="02010600030101010101" pitchFamily="2" charset="-122"/>
              <a:cs typeface="宋体" panose="02010600030101010101" pitchFamily="2" charset="-122"/>
              <a:sym typeface="+mn-ea"/>
            </a:endParaRPr>
          </a:p>
          <a:p>
            <a:pPr lvl="0" algn="l">
              <a:buClrTx/>
              <a:buSzTx/>
              <a:buFontTx/>
            </a:pPr>
            <a:r>
              <a:rPr lang="zh-CN" altLang="en-US" b="1">
                <a:solidFill>
                  <a:srgbClr val="333333"/>
                </a:solidFill>
                <a:latin typeface="宋体" panose="02010600030101010101" pitchFamily="2" charset="-122"/>
                <a:ea typeface="宋体" panose="02010600030101010101" pitchFamily="2" charset="-122"/>
                <a:cs typeface="宋体" panose="02010600030101010101" pitchFamily="2" charset="-122"/>
                <a:sym typeface="+mn-ea"/>
              </a:rPr>
              <a:t>[实践路径]实践层面：具体措施</a:t>
            </a:r>
            <a:endParaRPr lang="zh-CN" altLang="en-US" b="1">
              <a:solidFill>
                <a:srgbClr val="333333"/>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4" name="文本框 3"/>
          <p:cNvSpPr txBox="1"/>
          <p:nvPr/>
        </p:nvSpPr>
        <p:spPr>
          <a:xfrm>
            <a:off x="6701155" y="3077210"/>
            <a:ext cx="4716145" cy="922020"/>
          </a:xfrm>
          <a:prstGeom prst="rect">
            <a:avLst/>
          </a:prstGeom>
          <a:noFill/>
        </p:spPr>
        <p:txBody>
          <a:bodyPr wrap="square" rtlCol="0">
            <a:spAutoFit/>
          </a:bodyPr>
          <a:p>
            <a:pPr algn="l"/>
            <a:r>
              <a:rPr lang="zh-CN" altLang="en-US">
                <a:solidFill>
                  <a:srgbClr val="FF0000"/>
                </a:solidFill>
              </a:rPr>
              <a:t>设问拆解：</a:t>
            </a:r>
            <a:endParaRPr lang="zh-CN" altLang="en-US">
              <a:solidFill>
                <a:srgbClr val="FF0000"/>
              </a:solidFill>
            </a:endParaRPr>
          </a:p>
          <a:p>
            <a:pPr algn="l"/>
            <a:r>
              <a:rPr lang="zh-CN" altLang="en-US">
                <a:solidFill>
                  <a:srgbClr val="FF0000"/>
                </a:solidFill>
              </a:rPr>
              <a:t>科技自立自强为什么是关键</a:t>
            </a:r>
            <a:endParaRPr lang="en-US" altLang="zh-CN">
              <a:solidFill>
                <a:srgbClr val="FF0000"/>
              </a:solidFill>
            </a:endParaRPr>
          </a:p>
          <a:p>
            <a:pPr algn="l"/>
            <a:r>
              <a:rPr lang="zh-CN" altLang="en-US">
                <a:solidFill>
                  <a:srgbClr val="FF0000"/>
                </a:solidFill>
              </a:rPr>
              <a:t>高水平科技自立自强如何支撑强国建设</a:t>
            </a:r>
            <a:endParaRPr lang="zh-CN" altLang="en-US">
              <a:solidFill>
                <a:srgbClr val="FF0000"/>
              </a:solidFill>
            </a:endParaRPr>
          </a:p>
        </p:txBody>
      </p:sp>
      <p:cxnSp>
        <p:nvCxnSpPr>
          <p:cNvPr id="5" name="直接箭头连接符 4"/>
          <p:cNvCxnSpPr/>
          <p:nvPr/>
        </p:nvCxnSpPr>
        <p:spPr>
          <a:xfrm>
            <a:off x="5445760" y="6063615"/>
            <a:ext cx="0" cy="15113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6" name="直接箭头连接符 5"/>
          <p:cNvCxnSpPr/>
          <p:nvPr/>
        </p:nvCxnSpPr>
        <p:spPr>
          <a:xfrm>
            <a:off x="5770880" y="6063615"/>
            <a:ext cx="0" cy="15113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3462020" y="6170295"/>
            <a:ext cx="2081530" cy="368300"/>
          </a:xfrm>
          <a:prstGeom prst="rect">
            <a:avLst/>
          </a:prstGeom>
          <a:noFill/>
        </p:spPr>
        <p:txBody>
          <a:bodyPr wrap="square" rtlCol="0">
            <a:spAutoFit/>
            <a:scene3d>
              <a:camera prst="orthographicFront"/>
              <a:lightRig rig="threePt" dir="t"/>
            </a:scene3d>
          </a:bodyPr>
          <a:p>
            <a:r>
              <a:rPr lang="zh-CN" altLang="en-US">
                <a:solidFill>
                  <a:schemeClr val="accent1"/>
                </a:solidFill>
                <a:effectLst>
                  <a:outerShdw blurRad="38100" dist="25400" dir="5400000" algn="ctr" rotWithShape="0">
                    <a:srgbClr val="6E747A">
                      <a:alpha val="43000"/>
                    </a:srgbClr>
                  </a:outerShdw>
                </a:effectLst>
              </a:rPr>
              <a:t>独立自主自力更生</a:t>
            </a:r>
            <a:endParaRPr lang="zh-CN" altLang="en-US">
              <a:solidFill>
                <a:schemeClr val="accent1"/>
              </a:solidFill>
              <a:effectLst>
                <a:outerShdw blurRad="38100" dist="25400" dir="5400000" algn="ctr" rotWithShape="0">
                  <a:srgbClr val="6E747A">
                    <a:alpha val="43000"/>
                  </a:srgbClr>
                </a:outerShdw>
              </a:effectLst>
            </a:endParaRPr>
          </a:p>
        </p:txBody>
      </p:sp>
      <p:sp>
        <p:nvSpPr>
          <p:cNvPr id="10" name="文本框 9"/>
          <p:cNvSpPr txBox="1"/>
          <p:nvPr/>
        </p:nvSpPr>
        <p:spPr>
          <a:xfrm>
            <a:off x="5619115" y="6170295"/>
            <a:ext cx="4064000" cy="368300"/>
          </a:xfrm>
          <a:prstGeom prst="rect">
            <a:avLst/>
          </a:prstGeom>
          <a:noFill/>
        </p:spPr>
        <p:txBody>
          <a:bodyPr wrap="square" rtlCol="0">
            <a:spAutoFit/>
            <a:scene3d>
              <a:camera prst="orthographicFront"/>
              <a:lightRig rig="threePt" dir="t"/>
            </a:scene3d>
          </a:bodyPr>
          <a:p>
            <a:r>
              <a:rPr lang="zh-CN" altLang="en-US">
                <a:solidFill>
                  <a:schemeClr val="accent1"/>
                </a:solidFill>
                <a:effectLst>
                  <a:outerShdw blurRad="38100" dist="25400" dir="5400000" algn="ctr" rotWithShape="0">
                    <a:srgbClr val="6E747A">
                      <a:alpha val="43000"/>
                    </a:srgbClr>
                  </a:outerShdw>
                </a:effectLst>
              </a:rPr>
              <a:t>高水平、科技强国</a:t>
            </a:r>
            <a:endParaRPr lang="zh-CN" altLang="en-US">
              <a:solidFill>
                <a:schemeClr val="accent1"/>
              </a:solidFill>
              <a:effectLst>
                <a:outerShdw blurRad="38100" dist="25400" dir="5400000" algn="ctr" rotWithShape="0">
                  <a:srgbClr val="6E747A">
                    <a:alpha val="43000"/>
                  </a:srgbClr>
                </a:outerShdw>
              </a:effectLst>
            </a:endParaRPr>
          </a:p>
        </p:txBody>
      </p:sp>
      <p:sp>
        <p:nvSpPr>
          <p:cNvPr id="13" name="矩形 12"/>
          <p:cNvSpPr/>
          <p:nvPr/>
        </p:nvSpPr>
        <p:spPr>
          <a:xfrm>
            <a:off x="4519930" y="5865495"/>
            <a:ext cx="321310" cy="198120"/>
          </a:xfrm>
          <a:prstGeom prst="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4" name="左大括号 13"/>
          <p:cNvSpPr/>
          <p:nvPr/>
        </p:nvSpPr>
        <p:spPr>
          <a:xfrm rot="5400000">
            <a:off x="4468495" y="4867275"/>
            <a:ext cx="198755" cy="1756410"/>
          </a:xfrm>
          <a:prstGeom prst="leftBrace">
            <a:avLst/>
          </a:prstGeom>
          <a:ln w="31750" cap="rnd">
            <a:solidFill>
              <a:schemeClr val="accent2"/>
            </a:solidFill>
            <a:round/>
          </a:ln>
        </p:spPr>
        <p:style>
          <a:lnRef idx="0">
            <a:srgbClr val="FFFFFF"/>
          </a:lnRef>
          <a:fillRef idx="0">
            <a:srgbClr val="FFFFFF"/>
          </a:fillRef>
          <a:effectRef idx="0">
            <a:srgbClr val="FFFFFF"/>
          </a:effectRef>
          <a:fontRef idx="minor">
            <a:schemeClr val="tx1"/>
          </a:fontRef>
        </p:style>
        <p:txBody>
          <a:bodyPr rtlCol="0" anchor="ctr"/>
          <a:p>
            <a:pPr algn="ctr"/>
            <a:endParaRPr lang="zh-CN" altLang="en-US"/>
          </a:p>
        </p:txBody>
      </p:sp>
      <p:sp>
        <p:nvSpPr>
          <p:cNvPr id="15" name="文本框 14"/>
          <p:cNvSpPr txBox="1"/>
          <p:nvPr/>
        </p:nvSpPr>
        <p:spPr>
          <a:xfrm>
            <a:off x="3869690" y="5257800"/>
            <a:ext cx="1397000" cy="368300"/>
          </a:xfrm>
          <a:prstGeom prst="rect">
            <a:avLst/>
          </a:prstGeom>
          <a:noFill/>
        </p:spPr>
        <p:txBody>
          <a:bodyPr wrap="square" rtlCol="0">
            <a:spAutoFit/>
            <a:scene3d>
              <a:camera prst="orthographicFront"/>
              <a:lightRig rig="threePt" dir="t"/>
            </a:scene3d>
          </a:bodyPr>
          <a:p>
            <a:r>
              <a:rPr lang="zh-CN" altLang="en-US">
                <a:ln w="22225">
                  <a:solidFill>
                    <a:schemeClr val="accent2"/>
                  </a:solidFill>
                  <a:prstDash val="solid"/>
                </a:ln>
                <a:solidFill>
                  <a:schemeClr val="accent2">
                    <a:lumMod val="40000"/>
                    <a:lumOff val="60000"/>
                  </a:schemeClr>
                </a:solidFill>
                <a:effectLst/>
              </a:rPr>
              <a:t>两者关系</a:t>
            </a:r>
            <a:endParaRPr lang="zh-CN" altLang="en-US">
              <a:ln w="22225">
                <a:solidFill>
                  <a:schemeClr val="accent2"/>
                </a:solidFill>
                <a:prstDash val="solid"/>
              </a:ln>
              <a:solidFill>
                <a:schemeClr val="accent2">
                  <a:lumMod val="40000"/>
                  <a:lumOff val="60000"/>
                </a:schemeClr>
              </a:solidFill>
              <a:effectLst/>
            </a:endParaRPr>
          </a:p>
        </p:txBody>
      </p:sp>
      <p:cxnSp>
        <p:nvCxnSpPr>
          <p:cNvPr id="16" name="直接连接符 15"/>
          <p:cNvCxnSpPr/>
          <p:nvPr/>
        </p:nvCxnSpPr>
        <p:spPr>
          <a:xfrm>
            <a:off x="2286000" y="1202055"/>
            <a:ext cx="3632200" cy="17145"/>
          </a:xfrm>
          <a:prstGeom prst="line">
            <a:avLst/>
          </a:prstGeom>
        </p:spPr>
        <p:style>
          <a:lnRef idx="2">
            <a:schemeClr val="accent6"/>
          </a:lnRef>
          <a:fillRef idx="0">
            <a:srgbClr val="FFFFFF"/>
          </a:fillRef>
          <a:effectRef idx="0">
            <a:srgbClr val="FFFFFF"/>
          </a:effectRef>
          <a:fontRef idx="minor">
            <a:schemeClr val="tx1"/>
          </a:fontRef>
        </p:style>
      </p:cxnSp>
      <p:cxnSp>
        <p:nvCxnSpPr>
          <p:cNvPr id="17" name="直接连接符 16"/>
          <p:cNvCxnSpPr/>
          <p:nvPr/>
        </p:nvCxnSpPr>
        <p:spPr>
          <a:xfrm flipV="1">
            <a:off x="2565400" y="2014855"/>
            <a:ext cx="1498600" cy="8255"/>
          </a:xfrm>
          <a:prstGeom prst="line">
            <a:avLst/>
          </a:prstGeom>
        </p:spPr>
        <p:style>
          <a:lnRef idx="2">
            <a:schemeClr val="accent6"/>
          </a:lnRef>
          <a:fillRef idx="0">
            <a:srgbClr val="FFFFFF"/>
          </a:fillRef>
          <a:effectRef idx="0">
            <a:srgbClr val="FFFFFF"/>
          </a:effectRef>
          <a:fontRef idx="minor">
            <a:schemeClr val="tx1"/>
          </a:fontRef>
        </p:style>
      </p:cxnSp>
      <p:cxnSp>
        <p:nvCxnSpPr>
          <p:cNvPr id="18" name="直接连接符 17"/>
          <p:cNvCxnSpPr/>
          <p:nvPr/>
        </p:nvCxnSpPr>
        <p:spPr>
          <a:xfrm flipV="1">
            <a:off x="1633855" y="2514600"/>
            <a:ext cx="4081145" cy="16510"/>
          </a:xfrm>
          <a:prstGeom prst="line">
            <a:avLst/>
          </a:prstGeom>
        </p:spPr>
        <p:style>
          <a:lnRef idx="2">
            <a:schemeClr val="accent6"/>
          </a:lnRef>
          <a:fillRef idx="0">
            <a:srgbClr val="FFFFFF"/>
          </a:fillRef>
          <a:effectRef idx="0">
            <a:srgbClr val="FFFFFF"/>
          </a:effectRef>
          <a:fontRef idx="minor">
            <a:schemeClr val="tx1"/>
          </a:fontRef>
        </p:style>
      </p:cxnSp>
      <p:cxnSp>
        <p:nvCxnSpPr>
          <p:cNvPr id="19" name="直接连接符 18"/>
          <p:cNvCxnSpPr/>
          <p:nvPr/>
        </p:nvCxnSpPr>
        <p:spPr>
          <a:xfrm flipV="1">
            <a:off x="1041400" y="3081655"/>
            <a:ext cx="4081145" cy="16510"/>
          </a:xfrm>
          <a:prstGeom prst="line">
            <a:avLst/>
          </a:prstGeom>
        </p:spPr>
        <p:style>
          <a:lnRef idx="2">
            <a:schemeClr val="accent6"/>
          </a:lnRef>
          <a:fillRef idx="0">
            <a:srgbClr val="FFFFFF"/>
          </a:fillRef>
          <a:effectRef idx="0">
            <a:srgbClr val="FFFFFF"/>
          </a:effectRef>
          <a:fontRef idx="minor">
            <a:schemeClr val="tx1"/>
          </a:fontRef>
        </p:style>
      </p:cxnSp>
      <p:cxnSp>
        <p:nvCxnSpPr>
          <p:cNvPr id="20" name="直接连接符 19"/>
          <p:cNvCxnSpPr/>
          <p:nvPr/>
        </p:nvCxnSpPr>
        <p:spPr>
          <a:xfrm flipV="1">
            <a:off x="887730" y="3293110"/>
            <a:ext cx="2752725" cy="25400"/>
          </a:xfrm>
          <a:prstGeom prst="line">
            <a:avLst/>
          </a:prstGeom>
        </p:spPr>
        <p:style>
          <a:lnRef idx="2">
            <a:schemeClr val="accent6"/>
          </a:lnRef>
          <a:fillRef idx="0">
            <a:srgbClr val="FFFFFF"/>
          </a:fillRef>
          <a:effectRef idx="0">
            <a:srgbClr val="FFFFFF"/>
          </a:effectRef>
          <a:fontRef idx="minor">
            <a:schemeClr val="tx1"/>
          </a:fontRef>
        </p:style>
      </p:cxnSp>
      <p:cxnSp>
        <p:nvCxnSpPr>
          <p:cNvPr id="21" name="直接连接符 20"/>
          <p:cNvCxnSpPr/>
          <p:nvPr/>
        </p:nvCxnSpPr>
        <p:spPr>
          <a:xfrm flipV="1">
            <a:off x="1710055" y="3510280"/>
            <a:ext cx="2023110" cy="11430"/>
          </a:xfrm>
          <a:prstGeom prst="line">
            <a:avLst/>
          </a:prstGeom>
        </p:spPr>
        <p:style>
          <a:lnRef idx="2">
            <a:schemeClr val="accent6"/>
          </a:lnRef>
          <a:fillRef idx="0">
            <a:srgbClr val="FFFFFF"/>
          </a:fillRef>
          <a:effectRef idx="0">
            <a:srgbClr val="FFFFFF"/>
          </a:effectRef>
          <a:fontRef idx="minor">
            <a:schemeClr val="tx1"/>
          </a:fontRef>
        </p:style>
      </p:cxnSp>
      <p:cxnSp>
        <p:nvCxnSpPr>
          <p:cNvPr id="22" name="直接连接符 21"/>
          <p:cNvCxnSpPr/>
          <p:nvPr/>
        </p:nvCxnSpPr>
        <p:spPr>
          <a:xfrm flipV="1">
            <a:off x="5393690" y="3513455"/>
            <a:ext cx="635000" cy="3175"/>
          </a:xfrm>
          <a:prstGeom prst="line">
            <a:avLst/>
          </a:prstGeom>
        </p:spPr>
        <p:style>
          <a:lnRef idx="2">
            <a:schemeClr val="accent6"/>
          </a:lnRef>
          <a:fillRef idx="0">
            <a:srgbClr val="FFFFFF"/>
          </a:fillRef>
          <a:effectRef idx="0">
            <a:srgbClr val="FFFFFF"/>
          </a:effectRef>
          <a:fontRef idx="minor">
            <a:schemeClr val="tx1"/>
          </a:fontRef>
        </p:style>
      </p:cxnSp>
      <p:cxnSp>
        <p:nvCxnSpPr>
          <p:cNvPr id="23" name="直接连接符 22"/>
          <p:cNvCxnSpPr/>
          <p:nvPr/>
        </p:nvCxnSpPr>
        <p:spPr>
          <a:xfrm>
            <a:off x="1134745" y="3770630"/>
            <a:ext cx="1184275" cy="5715"/>
          </a:xfrm>
          <a:prstGeom prst="line">
            <a:avLst/>
          </a:prstGeom>
        </p:spPr>
        <p:style>
          <a:lnRef idx="2">
            <a:schemeClr val="accent6"/>
          </a:lnRef>
          <a:fillRef idx="0">
            <a:srgbClr val="FFFFFF"/>
          </a:fillRef>
          <a:effectRef idx="0">
            <a:srgbClr val="FFFFFF"/>
          </a:effectRef>
          <a:fontRef idx="minor">
            <a:schemeClr val="tx1"/>
          </a:fontRef>
        </p:style>
      </p:cxnSp>
      <p:cxnSp>
        <p:nvCxnSpPr>
          <p:cNvPr id="24" name="直接连接符 23"/>
          <p:cNvCxnSpPr/>
          <p:nvPr/>
        </p:nvCxnSpPr>
        <p:spPr>
          <a:xfrm>
            <a:off x="4733925" y="3764915"/>
            <a:ext cx="1184275" cy="5715"/>
          </a:xfrm>
          <a:prstGeom prst="line">
            <a:avLst/>
          </a:prstGeom>
        </p:spPr>
        <p:style>
          <a:lnRef idx="2">
            <a:schemeClr val="accent6"/>
          </a:lnRef>
          <a:fillRef idx="0">
            <a:srgbClr val="FFFFFF"/>
          </a:fillRef>
          <a:effectRef idx="0">
            <a:srgbClr val="FFFFFF"/>
          </a:effectRef>
          <a:fontRef idx="minor">
            <a:schemeClr val="tx1"/>
          </a:fontRef>
        </p:style>
      </p:cxnSp>
      <p:cxnSp>
        <p:nvCxnSpPr>
          <p:cNvPr id="25" name="直接连接符 24"/>
          <p:cNvCxnSpPr/>
          <p:nvPr/>
        </p:nvCxnSpPr>
        <p:spPr>
          <a:xfrm>
            <a:off x="1101725" y="4563745"/>
            <a:ext cx="1184275" cy="5715"/>
          </a:xfrm>
          <a:prstGeom prst="line">
            <a:avLst/>
          </a:prstGeom>
        </p:spPr>
        <p:style>
          <a:lnRef idx="2">
            <a:schemeClr val="accent6"/>
          </a:lnRef>
          <a:fillRef idx="0">
            <a:srgbClr val="FFFFFF"/>
          </a:fillRef>
          <a:effectRef idx="0">
            <a:srgbClr val="FFFFFF"/>
          </a:effectRef>
          <a:fontRef idx="minor">
            <a:schemeClr val="tx1"/>
          </a:fontRef>
        </p:style>
      </p:cxnSp>
      <p:cxnSp>
        <p:nvCxnSpPr>
          <p:cNvPr id="26" name="直接连接符 25"/>
          <p:cNvCxnSpPr/>
          <p:nvPr/>
        </p:nvCxnSpPr>
        <p:spPr>
          <a:xfrm>
            <a:off x="4434840" y="4544060"/>
            <a:ext cx="1184275" cy="5715"/>
          </a:xfrm>
          <a:prstGeom prst="line">
            <a:avLst/>
          </a:prstGeom>
        </p:spPr>
        <p:style>
          <a:lnRef idx="2">
            <a:schemeClr val="accent6"/>
          </a:lnRef>
          <a:fillRef idx="0">
            <a:srgbClr val="FFFFFF"/>
          </a:fillRef>
          <a:effectRef idx="0">
            <a:srgbClr val="FFFFFF"/>
          </a:effectRef>
          <a:fontRef idx="minor">
            <a:schemeClr val="tx1"/>
          </a:fontRef>
        </p:style>
      </p:cxnSp>
      <p:cxnSp>
        <p:nvCxnSpPr>
          <p:cNvPr id="27" name="直接连接符 26"/>
          <p:cNvCxnSpPr/>
          <p:nvPr/>
        </p:nvCxnSpPr>
        <p:spPr>
          <a:xfrm flipV="1">
            <a:off x="5770880" y="4537710"/>
            <a:ext cx="384175" cy="3175"/>
          </a:xfrm>
          <a:prstGeom prst="line">
            <a:avLst/>
          </a:prstGeom>
        </p:spPr>
        <p:style>
          <a:lnRef idx="2">
            <a:schemeClr val="accent6"/>
          </a:lnRef>
          <a:fillRef idx="0">
            <a:srgbClr val="FFFFFF"/>
          </a:fillRef>
          <a:effectRef idx="0">
            <a:srgbClr val="FFFFFF"/>
          </a:effectRef>
          <a:fontRef idx="minor">
            <a:schemeClr val="tx1"/>
          </a:fontRef>
        </p:style>
      </p:cxnSp>
      <p:cxnSp>
        <p:nvCxnSpPr>
          <p:cNvPr id="28" name="直接连接符 27"/>
          <p:cNvCxnSpPr/>
          <p:nvPr/>
        </p:nvCxnSpPr>
        <p:spPr>
          <a:xfrm flipV="1">
            <a:off x="826135" y="4784090"/>
            <a:ext cx="384175" cy="3175"/>
          </a:xfrm>
          <a:prstGeom prst="line">
            <a:avLst/>
          </a:prstGeom>
        </p:spPr>
        <p:style>
          <a:lnRef idx="2">
            <a:schemeClr val="accent6"/>
          </a:lnRef>
          <a:fillRef idx="0">
            <a:srgbClr val="FFFFFF"/>
          </a:fillRef>
          <a:effectRef idx="0">
            <a:srgbClr val="FFFFFF"/>
          </a:effectRef>
          <a:fontRef idx="minor">
            <a:schemeClr val="tx1"/>
          </a:fontRef>
        </p:style>
      </p:cxnSp>
      <p:cxnSp>
        <p:nvCxnSpPr>
          <p:cNvPr id="29" name="直接连接符 28"/>
          <p:cNvCxnSpPr/>
          <p:nvPr/>
        </p:nvCxnSpPr>
        <p:spPr>
          <a:xfrm flipV="1">
            <a:off x="1134745" y="4994910"/>
            <a:ext cx="2919095" cy="24130"/>
          </a:xfrm>
          <a:prstGeom prst="line">
            <a:avLst/>
          </a:prstGeom>
        </p:spPr>
        <p:style>
          <a:lnRef idx="2">
            <a:schemeClr val="accent6"/>
          </a:lnRef>
          <a:fillRef idx="0">
            <a:srgbClr val="FFFFFF"/>
          </a:fillRef>
          <a:effectRef idx="0">
            <a:srgbClr val="FFFFFF"/>
          </a:effectRef>
          <a:fontRef idx="minor">
            <a:schemeClr val="tx1"/>
          </a:fontRef>
        </p:style>
      </p:cxnSp>
      <p:cxnSp>
        <p:nvCxnSpPr>
          <p:cNvPr id="30" name="直接连接符 29"/>
          <p:cNvCxnSpPr/>
          <p:nvPr/>
        </p:nvCxnSpPr>
        <p:spPr>
          <a:xfrm>
            <a:off x="1101725" y="5266690"/>
            <a:ext cx="5027930" cy="16510"/>
          </a:xfrm>
          <a:prstGeom prst="line">
            <a:avLst/>
          </a:prstGeom>
        </p:spPr>
        <p:style>
          <a:lnRef idx="2">
            <a:schemeClr val="accent6"/>
          </a:lnRef>
          <a:fillRef idx="0">
            <a:srgbClr val="FFFFFF"/>
          </a:fillRef>
          <a:effectRef idx="0">
            <a:srgbClr val="FFFFFF"/>
          </a:effectRef>
          <a:fontRef idx="minor">
            <a:schemeClr val="tx1"/>
          </a:fontRef>
        </p:style>
      </p:cxnSp>
      <p:cxnSp>
        <p:nvCxnSpPr>
          <p:cNvPr id="31" name="直接连接符 30"/>
          <p:cNvCxnSpPr/>
          <p:nvPr/>
        </p:nvCxnSpPr>
        <p:spPr>
          <a:xfrm flipV="1">
            <a:off x="826135" y="5520055"/>
            <a:ext cx="1510665" cy="10795"/>
          </a:xfrm>
          <a:prstGeom prst="line">
            <a:avLst/>
          </a:prstGeom>
        </p:spPr>
        <p:style>
          <a:lnRef idx="2">
            <a:schemeClr val="accent6"/>
          </a:lnRef>
          <a:fillRef idx="0">
            <a:srgbClr val="FFFFFF"/>
          </a:fillRef>
          <a:effectRef idx="0">
            <a:srgbClr val="FFFFFF"/>
          </a:effectRef>
          <a:fontRef idx="minor">
            <a:schemeClr val="tx1"/>
          </a:fontRef>
        </p:style>
      </p:cxnSp>
      <p:sp>
        <p:nvSpPr>
          <p:cNvPr id="33" name="文本框 32"/>
          <p:cNvSpPr txBox="1"/>
          <p:nvPr/>
        </p:nvSpPr>
        <p:spPr>
          <a:xfrm>
            <a:off x="6701155" y="4260850"/>
            <a:ext cx="5523230" cy="1753235"/>
          </a:xfrm>
          <a:prstGeom prst="rect">
            <a:avLst/>
          </a:prstGeom>
          <a:noFill/>
        </p:spPr>
        <p:txBody>
          <a:bodyPr wrap="square" rtlCol="0">
            <a:spAutoFit/>
          </a:bodyPr>
          <a:p>
            <a:pPr lvl="0" algn="l">
              <a:buClrTx/>
              <a:buSzTx/>
              <a:buFontTx/>
            </a:pPr>
            <a:r>
              <a:rPr lang="zh-CN" altLang="en-US">
                <a:solidFill>
                  <a:schemeClr val="tx1"/>
                </a:solidFill>
                <a:sym typeface="+mn-ea"/>
              </a:rPr>
              <a:t>答案逻辑：总分总结构</a:t>
            </a:r>
            <a:endParaRPr lang="zh-CN" altLang="en-US">
              <a:solidFill>
                <a:schemeClr val="tx1"/>
              </a:solidFill>
              <a:sym typeface="+mn-ea"/>
            </a:endParaRPr>
          </a:p>
          <a:p>
            <a:pPr lvl="0" algn="l">
              <a:buClrTx/>
              <a:buSzTx/>
              <a:buFontTx/>
            </a:pPr>
            <a:r>
              <a:rPr lang="en-US" altLang="zh-CN">
                <a:solidFill>
                  <a:schemeClr val="tx1"/>
                </a:solidFill>
                <a:sym typeface="+mn-ea"/>
              </a:rPr>
              <a:t>1.</a:t>
            </a:r>
            <a:r>
              <a:rPr lang="zh-CN" altLang="en-US">
                <a:solidFill>
                  <a:schemeClr val="tx1"/>
                </a:solidFill>
                <a:sym typeface="+mn-ea"/>
              </a:rPr>
              <a:t>点明观点，</a:t>
            </a:r>
            <a:r>
              <a:rPr lang="zh-CN" altLang="en-US">
                <a:solidFill>
                  <a:schemeClr val="tx1"/>
                </a:solidFill>
                <a:highlight>
                  <a:srgbClr val="FFFF00"/>
                </a:highlight>
                <a:sym typeface="+mn-ea"/>
              </a:rPr>
              <a:t>说明关系</a:t>
            </a:r>
            <a:endParaRPr lang="zh-CN" altLang="en-US">
              <a:solidFill>
                <a:schemeClr val="tx1"/>
              </a:solidFill>
              <a:sym typeface="+mn-ea"/>
            </a:endParaRPr>
          </a:p>
          <a:p>
            <a:pPr lvl="0" algn="l">
              <a:buClrTx/>
              <a:buSzTx/>
              <a:buFontTx/>
            </a:pPr>
            <a:r>
              <a:rPr lang="en-US" altLang="zh-CN">
                <a:solidFill>
                  <a:schemeClr val="tx1"/>
                </a:solidFill>
                <a:sym typeface="+mn-ea"/>
              </a:rPr>
              <a:t>2.</a:t>
            </a:r>
            <a:r>
              <a:rPr lang="zh-CN" altLang="en-US">
                <a:solidFill>
                  <a:schemeClr val="tx1"/>
                </a:solidFill>
                <a:sym typeface="+mn-ea"/>
              </a:rPr>
              <a:t>从</a:t>
            </a:r>
            <a:r>
              <a:rPr lang="zh-CN" altLang="en-US">
                <a:solidFill>
                  <a:schemeClr val="tx1"/>
                </a:solidFill>
                <a:highlight>
                  <a:srgbClr val="FFFF00"/>
                </a:highlight>
                <a:sym typeface="+mn-ea"/>
              </a:rPr>
              <a:t>国内</a:t>
            </a:r>
            <a:r>
              <a:rPr lang="zh-CN" altLang="en-US">
                <a:solidFill>
                  <a:schemeClr val="tx1"/>
                </a:solidFill>
                <a:sym typeface="+mn-ea"/>
              </a:rPr>
              <a:t>（主要矛盾等）、</a:t>
            </a:r>
            <a:r>
              <a:rPr lang="zh-CN" altLang="en-US">
                <a:solidFill>
                  <a:schemeClr val="tx1"/>
                </a:solidFill>
                <a:highlight>
                  <a:srgbClr val="FFFF00"/>
                </a:highlight>
                <a:sym typeface="+mn-ea"/>
              </a:rPr>
              <a:t>国际</a:t>
            </a:r>
            <a:r>
              <a:rPr lang="zh-CN" altLang="en-US">
                <a:solidFill>
                  <a:schemeClr val="tx1"/>
                </a:solidFill>
                <a:sym typeface="+mn-ea"/>
              </a:rPr>
              <a:t>层面（国际竞争实质等）论述为什么</a:t>
            </a:r>
            <a:endParaRPr lang="zh-CN" altLang="en-US">
              <a:solidFill>
                <a:schemeClr val="tx1"/>
              </a:solidFill>
              <a:sym typeface="+mn-ea"/>
            </a:endParaRPr>
          </a:p>
          <a:p>
            <a:pPr lvl="0" algn="l">
              <a:buClrTx/>
              <a:buSzTx/>
              <a:buFontTx/>
            </a:pPr>
            <a:r>
              <a:rPr lang="en-US" altLang="zh-CN">
                <a:solidFill>
                  <a:schemeClr val="tx1"/>
                </a:solidFill>
                <a:sym typeface="+mn-ea"/>
              </a:rPr>
              <a:t>3</a:t>
            </a:r>
            <a:r>
              <a:rPr lang="en-US" altLang="zh-CN">
                <a:solidFill>
                  <a:schemeClr val="tx1"/>
                </a:solidFill>
                <a:sym typeface="+mn-ea"/>
              </a:rPr>
              <a:t>.</a:t>
            </a:r>
            <a:r>
              <a:rPr lang="zh-CN" altLang="en-US">
                <a:solidFill>
                  <a:schemeClr val="tx1"/>
                </a:solidFill>
                <a:sym typeface="+mn-ea"/>
              </a:rPr>
              <a:t>从党的领导、坚持系统观念、制度优势</a:t>
            </a:r>
            <a:r>
              <a:rPr lang="zh-CN" altLang="en-US">
                <a:solidFill>
                  <a:schemeClr val="tx1"/>
                </a:solidFill>
                <a:sym typeface="+mn-ea"/>
              </a:rPr>
              <a:t>、独立自主自力更生</a:t>
            </a:r>
            <a:r>
              <a:rPr lang="zh-CN" altLang="en-US">
                <a:solidFill>
                  <a:schemeClr val="tx1"/>
                </a:solidFill>
                <a:sym typeface="+mn-ea"/>
              </a:rPr>
              <a:t>等角度论述何如以创新推动现代化强国建设</a:t>
            </a:r>
            <a:endParaRPr lang="zh-CN" altLang="en-US">
              <a:solidFill>
                <a:schemeClr val="tx1"/>
              </a:solidFill>
              <a:sym typeface="+mn-ea"/>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6"/>
          <p:cNvSpPr/>
          <p:nvPr>
            <p:custDataLst>
              <p:tags r:id="rId1"/>
            </p:custDataLst>
          </p:nvPr>
        </p:nvSpPr>
        <p:spPr>
          <a:xfrm>
            <a:off x="17779" y="652621"/>
            <a:ext cx="12192000" cy="43348"/>
          </a:xfrm>
          <a:prstGeom prst="rect">
            <a:avLst/>
          </a:prstGeom>
          <a:solidFill>
            <a:srgbClr val="0170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spcBef>
                <a:spcPct val="0"/>
              </a:spcBef>
              <a:spcAft>
                <a:spcPct val="0"/>
              </a:spcAft>
            </a:pPr>
            <a:endParaRPr lang="zh-CN" altLang="en-US" sz="1705">
              <a:solidFill>
                <a:prstClr val="white"/>
              </a:solidFill>
              <a:latin typeface="Arial" panose="020B0604020202020204"/>
              <a:ea typeface="微软雅黑" panose="020B0503020204020204" charset="-122"/>
            </a:endParaRPr>
          </a:p>
        </p:txBody>
      </p:sp>
      <p:sp>
        <p:nvSpPr>
          <p:cNvPr id="8" name="矩形 7"/>
          <p:cNvSpPr/>
          <p:nvPr>
            <p:custDataLst>
              <p:tags r:id="rId2"/>
            </p:custDataLst>
          </p:nvPr>
        </p:nvSpPr>
        <p:spPr>
          <a:xfrm>
            <a:off x="0" y="6472555"/>
            <a:ext cx="12192000" cy="385445"/>
          </a:xfrm>
          <a:prstGeom prst="rect">
            <a:avLst/>
          </a:prstGeom>
          <a:solidFill>
            <a:srgbClr val="0170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spcBef>
                <a:spcPct val="0"/>
              </a:spcBef>
              <a:spcAft>
                <a:spcPct val="0"/>
              </a:spcAft>
            </a:pPr>
            <a:endParaRPr lang="zh-CN" altLang="en-US" sz="1705">
              <a:solidFill>
                <a:prstClr val="white"/>
              </a:solidFill>
              <a:latin typeface="Arial" panose="020B0604020202020204"/>
              <a:ea typeface="微软雅黑" panose="020B0503020204020204" charset="-122"/>
            </a:endParaRPr>
          </a:p>
        </p:txBody>
      </p:sp>
      <p:pic>
        <p:nvPicPr>
          <p:cNvPr id="12" name="图片 11"/>
          <p:cNvPicPr>
            <a:picLocks noChangeAspect="1"/>
          </p:cNvPicPr>
          <p:nvPr>
            <p:custDataLst>
              <p:tags r:id="rId3"/>
            </p:custDataLst>
          </p:nvPr>
        </p:nvPicPr>
        <p:blipFill>
          <a:blip r:embed="rId4">
            <a:biLevel thresh="25000"/>
            <a:extLst>
              <a:ext uri="{28A0092B-C50C-407E-A947-70E740481C1C}">
                <a14:useLocalDpi xmlns:a14="http://schemas.microsoft.com/office/drawing/2010/main" val="0"/>
              </a:ext>
            </a:extLst>
          </a:blip>
          <a:stretch>
            <a:fillRect/>
          </a:stretch>
        </p:blipFill>
        <p:spPr>
          <a:xfrm>
            <a:off x="4671360" y="6376242"/>
            <a:ext cx="2885444" cy="630668"/>
          </a:xfrm>
          <a:prstGeom prst="rect">
            <a:avLst/>
          </a:prstGeom>
        </p:spPr>
      </p:pic>
      <p:sp>
        <p:nvSpPr>
          <p:cNvPr id="2" name="文本框 1"/>
          <p:cNvSpPr txBox="1"/>
          <p:nvPr/>
        </p:nvSpPr>
        <p:spPr>
          <a:xfrm>
            <a:off x="561340" y="1017905"/>
            <a:ext cx="10781665" cy="690245"/>
          </a:xfrm>
          <a:prstGeom prst="rect">
            <a:avLst/>
          </a:prstGeom>
        </p:spPr>
        <p:txBody>
          <a:bodyPr>
            <a:noAutofit/>
          </a:bodyPr>
          <a:p>
            <a:pPr marL="0" indent="0" algn="just" defTabSz="266700">
              <a:lnSpc>
                <a:spcPct val="120000"/>
              </a:lnSpc>
              <a:spcBef>
                <a:spcPct val="0"/>
              </a:spcBef>
              <a:spcAft>
                <a:spcPct val="0"/>
              </a:spcAft>
            </a:pPr>
            <a:r>
              <a:rPr lang="en-US" altLang="zh-CN" sz="2400" b="1">
                <a:latin typeface="宋体" panose="02010600030101010101" pitchFamily="2" charset="-122"/>
                <a:ea typeface="宋体" panose="02010600030101010101" pitchFamily="2" charset="-122"/>
              </a:rPr>
              <a:t>22.</a:t>
            </a:r>
            <a:r>
              <a:rPr lang="zh-CN" altLang="en-US" sz="2400" b="1">
                <a:latin typeface="宋体" panose="02010600030101010101" pitchFamily="2" charset="-122"/>
                <a:ea typeface="宋体" panose="02010600030101010101" pitchFamily="2" charset="-122"/>
              </a:rPr>
              <a:t>（</a:t>
            </a:r>
            <a:r>
              <a:rPr lang="en-US" altLang="zh-CN" sz="2400" b="1">
                <a:latin typeface="宋体" panose="02010600030101010101" pitchFamily="2" charset="-122"/>
                <a:ea typeface="宋体" panose="02010600030101010101" pitchFamily="2" charset="-122"/>
              </a:rPr>
              <a:t>9</a:t>
            </a:r>
            <a:r>
              <a:rPr lang="zh-CN" altLang="en-US" sz="2400" b="1">
                <a:latin typeface="宋体" panose="02010600030101010101" pitchFamily="2" charset="-122"/>
                <a:ea typeface="宋体" panose="02010600030101010101" pitchFamily="2" charset="-122"/>
              </a:rPr>
              <a:t>分）可从党的领导、唯物辩证法、中国式现代化等角度作答。</a:t>
            </a:r>
            <a:endParaRPr lang="zh-CN" altLang="en-US" sz="2400" b="1">
              <a:latin typeface="宋体" panose="02010600030101010101" pitchFamily="2" charset="-122"/>
              <a:ea typeface="宋体" panose="02010600030101010101" pitchFamily="2" charset="-122"/>
            </a:endParaRPr>
          </a:p>
        </p:txBody>
      </p:sp>
      <p:graphicFrame>
        <p:nvGraphicFramePr>
          <p:cNvPr id="3" name="表格 2"/>
          <p:cNvGraphicFramePr/>
          <p:nvPr>
            <p:custDataLst>
              <p:tags r:id="rId5"/>
            </p:custDataLst>
          </p:nvPr>
        </p:nvGraphicFramePr>
        <p:xfrm>
          <a:off x="565150" y="1649095"/>
          <a:ext cx="11061065" cy="4704080"/>
        </p:xfrm>
        <a:graphic>
          <a:graphicData uri="http://schemas.openxmlformats.org/drawingml/2006/table">
            <a:tbl>
              <a:tblPr/>
              <a:tblGrid>
                <a:gridCol w="2109470"/>
                <a:gridCol w="8951595"/>
              </a:tblGrid>
              <a:tr h="461010">
                <a:tc>
                  <a:txBody>
                    <a:bodyPr/>
                    <a:p>
                      <a:pPr indent="0" algn="ctr" defTabSz="914400">
                        <a:lnSpc>
                          <a:spcPct val="120000"/>
                        </a:lnSpc>
                        <a:spcBef>
                          <a:spcPct val="0"/>
                        </a:spcBef>
                        <a:spcAft>
                          <a:spcPct val="0"/>
                        </a:spcAft>
                        <a:tabLst>
                          <a:tab pos="1200150" algn="l"/>
                          <a:tab pos="2133600" algn="l"/>
                          <a:tab pos="3067050" algn="l"/>
                          <a:tab pos="4000500" algn="l"/>
                        </a:tabLst>
                      </a:pPr>
                      <a:r>
                        <a:rPr lang="zh-CN" sz="2000" b="1" spc="130">
                          <a:latin typeface="宋体" panose="02010600030101010101" pitchFamily="2" charset="-122"/>
                          <a:ea typeface="宋体" panose="02010600030101010101" pitchFamily="2" charset="-122"/>
                        </a:rPr>
                        <a:t>等级水平</a:t>
                      </a:r>
                      <a:endParaRPr lang="zh-CN" sz="2000" b="1" spc="130">
                        <a:latin typeface="宋体" panose="02010600030101010101" pitchFamily="2" charset="-122"/>
                        <a:ea typeface="宋体" panose="02010600030101010101" pitchFamily="2" charset="-122"/>
                      </a:endParaRPr>
                    </a:p>
                  </a:txBody>
                  <a:tcPr marL="254000" marR="254000" marT="177800" marB="17780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ctr" defTabSz="914400">
                        <a:lnSpc>
                          <a:spcPct val="120000"/>
                        </a:lnSpc>
                        <a:spcBef>
                          <a:spcPct val="0"/>
                        </a:spcBef>
                        <a:spcAft>
                          <a:spcPct val="0"/>
                        </a:spcAft>
                        <a:tabLst>
                          <a:tab pos="1200150" algn="l"/>
                          <a:tab pos="2133600" algn="l"/>
                          <a:tab pos="3067050" algn="l"/>
                          <a:tab pos="4000500" algn="l"/>
                        </a:tabLst>
                      </a:pPr>
                      <a:r>
                        <a:rPr lang="zh-CN" sz="2000" b="1" spc="130">
                          <a:latin typeface="宋体" panose="02010600030101010101" pitchFamily="2" charset="-122"/>
                          <a:ea typeface="宋体" panose="02010600030101010101" pitchFamily="2" charset="-122"/>
                          <a:cs typeface="宋体" panose="02010600030101010101" pitchFamily="2" charset="-122"/>
                        </a:rPr>
                        <a:t>等</a:t>
                      </a:r>
                      <a:r>
                        <a:rPr lang="en-US" altLang="zh-CN" sz="2000" b="1" spc="130">
                          <a:latin typeface="宋体" panose="02010600030101010101" pitchFamily="2" charset="-122"/>
                          <a:ea typeface="宋体" panose="02010600030101010101" pitchFamily="2" charset="-122"/>
                          <a:cs typeface="宋体" panose="02010600030101010101" pitchFamily="2" charset="-122"/>
                        </a:rPr>
                        <a:t>  </a:t>
                      </a:r>
                      <a:r>
                        <a:rPr lang="zh-CN" altLang="en-US" sz="2000" b="1" spc="130">
                          <a:latin typeface="宋体" panose="02010600030101010101" pitchFamily="2" charset="-122"/>
                          <a:ea typeface="宋体" panose="02010600030101010101" pitchFamily="2" charset="-122"/>
                          <a:cs typeface="宋体" panose="02010600030101010101" pitchFamily="2" charset="-122"/>
                        </a:rPr>
                        <a:t>级</a:t>
                      </a:r>
                      <a:r>
                        <a:rPr lang="en-US" altLang="zh-CN" sz="2000" b="1" spc="130">
                          <a:latin typeface="宋体" panose="02010600030101010101" pitchFamily="2" charset="-122"/>
                          <a:ea typeface="宋体" panose="02010600030101010101" pitchFamily="2" charset="-122"/>
                          <a:cs typeface="宋体" panose="02010600030101010101" pitchFamily="2" charset="-122"/>
                        </a:rPr>
                        <a:t>  </a:t>
                      </a:r>
                      <a:r>
                        <a:rPr lang="zh-CN" altLang="en-US" sz="2000" b="1" spc="130">
                          <a:latin typeface="宋体" panose="02010600030101010101" pitchFamily="2" charset="-122"/>
                          <a:ea typeface="宋体" panose="02010600030101010101" pitchFamily="2" charset="-122"/>
                          <a:cs typeface="宋体" panose="02010600030101010101" pitchFamily="2" charset="-122"/>
                        </a:rPr>
                        <a:t>描</a:t>
                      </a:r>
                      <a:r>
                        <a:rPr lang="en-US" altLang="zh-CN" sz="2000" b="1" spc="130">
                          <a:latin typeface="宋体" panose="02010600030101010101" pitchFamily="2" charset="-122"/>
                          <a:ea typeface="宋体" panose="02010600030101010101" pitchFamily="2" charset="-122"/>
                          <a:cs typeface="宋体" panose="02010600030101010101" pitchFamily="2" charset="-122"/>
                        </a:rPr>
                        <a:t>  </a:t>
                      </a:r>
                      <a:r>
                        <a:rPr lang="zh-CN" altLang="en-US" sz="2000" b="1" spc="130">
                          <a:latin typeface="宋体" panose="02010600030101010101" pitchFamily="2" charset="-122"/>
                          <a:ea typeface="宋体" panose="02010600030101010101" pitchFamily="2" charset="-122"/>
                          <a:cs typeface="宋体" panose="02010600030101010101" pitchFamily="2" charset="-122"/>
                        </a:rPr>
                        <a:t>述</a:t>
                      </a:r>
                      <a:endParaRPr lang="zh-CN" altLang="en-US" sz="2000" b="1" spc="130">
                        <a:latin typeface="宋体" panose="02010600030101010101" pitchFamily="2" charset="-122"/>
                        <a:ea typeface="宋体" panose="02010600030101010101" pitchFamily="2" charset="-122"/>
                        <a:cs typeface="宋体" panose="02010600030101010101" pitchFamily="2" charset="-122"/>
                      </a:endParaRPr>
                    </a:p>
                  </a:txBody>
                  <a:tcPr marL="254000" marR="254000" marT="177800" marB="17780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087120">
                <a:tc>
                  <a:txBody>
                    <a:bodyPr/>
                    <a:p>
                      <a:pPr indent="0" algn="ctr" defTabSz="914400">
                        <a:lnSpc>
                          <a:spcPct val="120000"/>
                        </a:lnSpc>
                        <a:spcBef>
                          <a:spcPct val="0"/>
                        </a:spcBef>
                        <a:spcAft>
                          <a:spcPct val="0"/>
                        </a:spcAft>
                        <a:tabLst>
                          <a:tab pos="1200150" algn="l"/>
                          <a:tab pos="2133600" algn="l"/>
                          <a:tab pos="3067050" algn="l"/>
                          <a:tab pos="4000500" algn="l"/>
                        </a:tabLst>
                      </a:pPr>
                      <a:r>
                        <a:rPr lang="zh-CN" sz="2000" b="1">
                          <a:latin typeface="宋体" panose="02010600030101010101" pitchFamily="2" charset="-122"/>
                          <a:ea typeface="宋体" panose="02010600030101010101" pitchFamily="2" charset="-122"/>
                          <a:cs typeface="宋体" panose="02010600030101010101" pitchFamily="2" charset="-122"/>
                        </a:rPr>
                        <a:t>水平</a:t>
                      </a:r>
                      <a:r>
                        <a:rPr lang="en-US" altLang="zh-CN" sz="2000" b="1">
                          <a:latin typeface="宋体" panose="02010600030101010101" pitchFamily="2" charset="-122"/>
                          <a:ea typeface="宋体" panose="02010600030101010101" pitchFamily="2" charset="-122"/>
                          <a:cs typeface="宋体" panose="02010600030101010101" pitchFamily="2" charset="-122"/>
                        </a:rPr>
                        <a:t>4</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254000" marR="254000" marT="177800" marB="17780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l" defTabSz="914400">
                        <a:lnSpc>
                          <a:spcPct val="120000"/>
                        </a:lnSpc>
                        <a:spcBef>
                          <a:spcPct val="0"/>
                        </a:spcBef>
                        <a:spcAft>
                          <a:spcPct val="0"/>
                        </a:spcAft>
                        <a:tabLst>
                          <a:tab pos="1200150" algn="l"/>
                          <a:tab pos="2133600" algn="l"/>
                          <a:tab pos="3067050" algn="l"/>
                          <a:tab pos="4000500" algn="l"/>
                        </a:tabLst>
                      </a:pPr>
                      <a:r>
                        <a:rPr lang="zh-CN" sz="2000" b="1">
                          <a:latin typeface="宋体" panose="02010600030101010101" pitchFamily="2" charset="-122"/>
                          <a:ea typeface="宋体" panose="02010600030101010101" pitchFamily="2" charset="-122"/>
                        </a:rPr>
                        <a:t>观点鲜明，能明确表达自己的见解；紧扣问题，综合运用所学知识展开论述；逻辑严密，条理清晰</a:t>
                      </a:r>
                      <a:endParaRPr lang="zh-CN" sz="2000" b="1">
                        <a:latin typeface="宋体" panose="02010600030101010101" pitchFamily="2" charset="-122"/>
                        <a:ea typeface="宋体" panose="02010600030101010101" pitchFamily="2" charset="-122"/>
                      </a:endParaRPr>
                    </a:p>
                  </a:txBody>
                  <a:tcPr marL="254000" marR="254000" marT="177800" marB="17780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087120">
                <a:tc>
                  <a:txBody>
                    <a:bodyPr/>
                    <a:p>
                      <a:pPr indent="0" algn="ctr" defTabSz="914400">
                        <a:lnSpc>
                          <a:spcPct val="120000"/>
                        </a:lnSpc>
                        <a:spcBef>
                          <a:spcPct val="0"/>
                        </a:spcBef>
                        <a:spcAft>
                          <a:spcPct val="0"/>
                        </a:spcAft>
                        <a:tabLst>
                          <a:tab pos="1200150" algn="l"/>
                          <a:tab pos="2133600" algn="l"/>
                          <a:tab pos="3067050" algn="l"/>
                          <a:tab pos="4000500" algn="l"/>
                        </a:tabLst>
                      </a:pPr>
                      <a:r>
                        <a:rPr lang="zh-CN" sz="2000" b="1">
                          <a:latin typeface="宋体" panose="02010600030101010101" pitchFamily="2" charset="-122"/>
                          <a:ea typeface="宋体" panose="02010600030101010101" pitchFamily="2" charset="-122"/>
                          <a:cs typeface="宋体" panose="02010600030101010101" pitchFamily="2" charset="-122"/>
                        </a:rPr>
                        <a:t>水平</a:t>
                      </a:r>
                      <a:r>
                        <a:rPr lang="en-US" altLang="zh-CN" sz="2000" b="1">
                          <a:latin typeface="宋体" panose="02010600030101010101" pitchFamily="2" charset="-122"/>
                          <a:ea typeface="宋体" panose="02010600030101010101" pitchFamily="2" charset="-122"/>
                          <a:cs typeface="宋体" panose="02010600030101010101" pitchFamily="2" charset="-122"/>
                        </a:rPr>
                        <a:t>3</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254000" marR="254000" marT="177800" marB="17780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l" defTabSz="914400">
                        <a:lnSpc>
                          <a:spcPct val="120000"/>
                        </a:lnSpc>
                        <a:spcBef>
                          <a:spcPct val="0"/>
                        </a:spcBef>
                        <a:spcAft>
                          <a:spcPct val="0"/>
                        </a:spcAft>
                        <a:tabLst>
                          <a:tab pos="1200150" algn="l"/>
                          <a:tab pos="2133600" algn="l"/>
                          <a:tab pos="3067050" algn="l"/>
                          <a:tab pos="4000500" algn="l"/>
                        </a:tabLst>
                      </a:pPr>
                      <a:r>
                        <a:rPr lang="zh-CN" sz="2000" b="1">
                          <a:latin typeface="宋体" panose="02010600030101010101" pitchFamily="2" charset="-122"/>
                          <a:ea typeface="宋体" panose="02010600030101010101" pitchFamily="2" charset="-122"/>
                        </a:rPr>
                        <a:t>观点比较明确，能表达自己的见解；能扣住问题展开论述，知识运用比较准确；逻辑性较强，有条理</a:t>
                      </a:r>
                      <a:endParaRPr lang="zh-CN" sz="2000" b="1">
                        <a:latin typeface="宋体" panose="02010600030101010101" pitchFamily="2" charset="-122"/>
                        <a:ea typeface="宋体" panose="02010600030101010101" pitchFamily="2" charset="-122"/>
                      </a:endParaRPr>
                    </a:p>
                  </a:txBody>
                  <a:tcPr marL="254000" marR="254000" marT="177800" marB="17780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087120">
                <a:tc>
                  <a:txBody>
                    <a:bodyPr/>
                    <a:p>
                      <a:pPr indent="0" algn="ctr" defTabSz="914400">
                        <a:lnSpc>
                          <a:spcPct val="120000"/>
                        </a:lnSpc>
                        <a:spcBef>
                          <a:spcPct val="0"/>
                        </a:spcBef>
                        <a:spcAft>
                          <a:spcPct val="0"/>
                        </a:spcAft>
                        <a:tabLst>
                          <a:tab pos="1200150" algn="l"/>
                          <a:tab pos="2133600" algn="l"/>
                          <a:tab pos="3067050" algn="l"/>
                          <a:tab pos="4000500" algn="l"/>
                        </a:tabLst>
                      </a:pPr>
                      <a:r>
                        <a:rPr lang="zh-CN" sz="2000" b="1">
                          <a:latin typeface="宋体" panose="02010600030101010101" pitchFamily="2" charset="-122"/>
                          <a:ea typeface="宋体" panose="02010600030101010101" pitchFamily="2" charset="-122"/>
                          <a:cs typeface="宋体" panose="02010600030101010101" pitchFamily="2" charset="-122"/>
                        </a:rPr>
                        <a:t>水平</a:t>
                      </a:r>
                      <a:r>
                        <a:rPr lang="en-US" altLang="zh-CN" sz="2000" b="1">
                          <a:latin typeface="宋体" panose="02010600030101010101" pitchFamily="2" charset="-122"/>
                          <a:ea typeface="宋体" panose="02010600030101010101" pitchFamily="2" charset="-122"/>
                          <a:cs typeface="宋体" panose="02010600030101010101" pitchFamily="2" charset="-122"/>
                        </a:rPr>
                        <a:t>2</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254000" marR="254000" marT="177800" marB="17780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l" defTabSz="914400">
                        <a:lnSpc>
                          <a:spcPct val="120000"/>
                        </a:lnSpc>
                        <a:spcBef>
                          <a:spcPct val="0"/>
                        </a:spcBef>
                        <a:spcAft>
                          <a:spcPct val="0"/>
                        </a:spcAft>
                        <a:tabLst>
                          <a:tab pos="1200150" algn="l"/>
                          <a:tab pos="2133600" algn="l"/>
                          <a:tab pos="3067050" algn="l"/>
                          <a:tab pos="4000500" algn="l"/>
                        </a:tabLst>
                      </a:pPr>
                      <a:r>
                        <a:rPr lang="zh-CN" sz="2000" b="1">
                          <a:latin typeface="宋体" panose="02010600030101010101" pitchFamily="2" charset="-122"/>
                          <a:ea typeface="宋体" panose="02010600030101010101" pitchFamily="2" charset="-122"/>
                        </a:rPr>
                        <a:t>观点不明确；论述不能集中指向问题，罗列知识；知识运用不正确；论述缺乏逻辑，条理性差</a:t>
                      </a:r>
                      <a:endParaRPr lang="zh-CN" sz="2000" b="1">
                        <a:latin typeface="宋体" panose="02010600030101010101" pitchFamily="2" charset="-122"/>
                        <a:ea typeface="宋体" panose="02010600030101010101" pitchFamily="2" charset="-122"/>
                      </a:endParaRPr>
                    </a:p>
                  </a:txBody>
                  <a:tcPr marL="254000" marR="254000" marT="177800" marB="17780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721360">
                <a:tc>
                  <a:txBody>
                    <a:bodyPr/>
                    <a:p>
                      <a:pPr indent="0" algn="ctr" defTabSz="914400">
                        <a:lnSpc>
                          <a:spcPct val="120000"/>
                        </a:lnSpc>
                        <a:spcBef>
                          <a:spcPct val="0"/>
                        </a:spcBef>
                        <a:spcAft>
                          <a:spcPct val="0"/>
                        </a:spcAft>
                        <a:tabLst>
                          <a:tab pos="1200150" algn="l"/>
                          <a:tab pos="2133600" algn="l"/>
                          <a:tab pos="3067050" algn="l"/>
                          <a:tab pos="4000500" algn="l"/>
                        </a:tabLst>
                      </a:pPr>
                      <a:r>
                        <a:rPr lang="zh-CN" sz="2000" b="1">
                          <a:latin typeface="宋体" panose="02010600030101010101" pitchFamily="2" charset="-122"/>
                          <a:ea typeface="宋体" panose="02010600030101010101" pitchFamily="2" charset="-122"/>
                          <a:cs typeface="宋体" panose="02010600030101010101" pitchFamily="2" charset="-122"/>
                        </a:rPr>
                        <a:t>水平</a:t>
                      </a:r>
                      <a:r>
                        <a:rPr lang="en-US" altLang="zh-CN" sz="2000" b="1">
                          <a:latin typeface="宋体" panose="02010600030101010101" pitchFamily="2" charset="-122"/>
                          <a:ea typeface="宋体" panose="02010600030101010101" pitchFamily="2" charset="-122"/>
                          <a:cs typeface="宋体" panose="02010600030101010101" pitchFamily="2" charset="-122"/>
                        </a:rPr>
                        <a:t>1</a:t>
                      </a:r>
                      <a:endParaRPr lang="en-US" altLang="zh-CN" sz="2000" b="1">
                        <a:latin typeface="宋体" panose="02010600030101010101" pitchFamily="2" charset="-122"/>
                        <a:ea typeface="宋体" panose="02010600030101010101" pitchFamily="2" charset="-122"/>
                        <a:cs typeface="宋体" panose="02010600030101010101" pitchFamily="2" charset="-122"/>
                      </a:endParaRPr>
                    </a:p>
                  </a:txBody>
                  <a:tcPr marL="254000" marR="254000" marT="177800" marB="17780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indent="0" algn="l" defTabSz="914400">
                        <a:lnSpc>
                          <a:spcPct val="120000"/>
                        </a:lnSpc>
                        <a:spcBef>
                          <a:spcPct val="0"/>
                        </a:spcBef>
                        <a:spcAft>
                          <a:spcPct val="0"/>
                        </a:spcAft>
                        <a:tabLst>
                          <a:tab pos="1200150" algn="l"/>
                          <a:tab pos="2133600" algn="l"/>
                          <a:tab pos="3067050" algn="l"/>
                          <a:tab pos="4000500" algn="l"/>
                        </a:tabLst>
                      </a:pPr>
                      <a:r>
                        <a:rPr lang="zh-CN" sz="2000" b="1">
                          <a:latin typeface="宋体" panose="02010600030101010101" pitchFamily="2" charset="-122"/>
                          <a:ea typeface="宋体" panose="02010600030101010101" pitchFamily="2" charset="-122"/>
                        </a:rPr>
                        <a:t>应答与试题无关；或重复试题内容；或没有应答</a:t>
                      </a:r>
                      <a:endParaRPr lang="zh-CN" sz="2000" b="1">
                        <a:latin typeface="宋体" panose="02010600030101010101" pitchFamily="2" charset="-122"/>
                        <a:ea typeface="宋体" panose="02010600030101010101" pitchFamily="2" charset="-122"/>
                      </a:endParaRPr>
                    </a:p>
                  </a:txBody>
                  <a:tcPr marL="254000" marR="254000" marT="177800" marB="17780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6"/>
          <p:cNvSpPr/>
          <p:nvPr>
            <p:custDataLst>
              <p:tags r:id="rId1"/>
            </p:custDataLst>
          </p:nvPr>
        </p:nvSpPr>
        <p:spPr>
          <a:xfrm>
            <a:off x="17779" y="652621"/>
            <a:ext cx="12192000" cy="43348"/>
          </a:xfrm>
          <a:prstGeom prst="rect">
            <a:avLst/>
          </a:prstGeom>
          <a:solidFill>
            <a:srgbClr val="0170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spcBef>
                <a:spcPct val="0"/>
              </a:spcBef>
              <a:spcAft>
                <a:spcPct val="0"/>
              </a:spcAft>
            </a:pPr>
            <a:endParaRPr lang="zh-CN" altLang="en-US" sz="1705">
              <a:solidFill>
                <a:prstClr val="white"/>
              </a:solidFill>
              <a:latin typeface="Arial" panose="020B0604020202020204"/>
              <a:ea typeface="微软雅黑" panose="020B0503020204020204" charset="-122"/>
            </a:endParaRPr>
          </a:p>
        </p:txBody>
      </p:sp>
      <p:sp>
        <p:nvSpPr>
          <p:cNvPr id="8" name="矩形 7"/>
          <p:cNvSpPr/>
          <p:nvPr>
            <p:custDataLst>
              <p:tags r:id="rId2"/>
            </p:custDataLst>
          </p:nvPr>
        </p:nvSpPr>
        <p:spPr>
          <a:xfrm>
            <a:off x="0" y="6472555"/>
            <a:ext cx="12192000" cy="385445"/>
          </a:xfrm>
          <a:prstGeom prst="rect">
            <a:avLst/>
          </a:prstGeom>
          <a:solidFill>
            <a:srgbClr val="0170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spcBef>
                <a:spcPct val="0"/>
              </a:spcBef>
              <a:spcAft>
                <a:spcPct val="0"/>
              </a:spcAft>
            </a:pPr>
            <a:endParaRPr lang="zh-CN" altLang="en-US" sz="1705">
              <a:solidFill>
                <a:prstClr val="white"/>
              </a:solidFill>
              <a:latin typeface="Arial" panose="020B0604020202020204"/>
              <a:ea typeface="微软雅黑" panose="020B0503020204020204" charset="-122"/>
            </a:endParaRPr>
          </a:p>
        </p:txBody>
      </p:sp>
      <p:pic>
        <p:nvPicPr>
          <p:cNvPr id="12" name="图片 11"/>
          <p:cNvPicPr>
            <a:picLocks noChangeAspect="1"/>
          </p:cNvPicPr>
          <p:nvPr>
            <p:custDataLst>
              <p:tags r:id="rId3"/>
            </p:custDataLst>
          </p:nvPr>
        </p:nvPicPr>
        <p:blipFill>
          <a:blip r:embed="rId4">
            <a:biLevel thresh="25000"/>
            <a:extLst>
              <a:ext uri="{28A0092B-C50C-407E-A947-70E740481C1C}">
                <a14:useLocalDpi xmlns:a14="http://schemas.microsoft.com/office/drawing/2010/main" val="0"/>
              </a:ext>
            </a:extLst>
          </a:blip>
          <a:stretch>
            <a:fillRect/>
          </a:stretch>
        </p:blipFill>
        <p:spPr>
          <a:xfrm>
            <a:off x="4671360" y="6376242"/>
            <a:ext cx="2885444" cy="630668"/>
          </a:xfrm>
          <a:prstGeom prst="rect">
            <a:avLst/>
          </a:prstGeom>
        </p:spPr>
      </p:pic>
      <p:graphicFrame>
        <p:nvGraphicFramePr>
          <p:cNvPr id="6" name="表格 5"/>
          <p:cNvGraphicFramePr/>
          <p:nvPr/>
        </p:nvGraphicFramePr>
        <p:xfrm>
          <a:off x="673100" y="738926"/>
          <a:ext cx="10845800" cy="5725160"/>
        </p:xfrm>
        <a:graphic>
          <a:graphicData uri="http://schemas.openxmlformats.org/drawingml/2006/table">
            <a:tbl>
              <a:tblPr firstRow="1">
                <a:tableStyleId>{5CEF9FCF-87E9-4ECF-B4E5-923A9386F572}</a:tableStyleId>
              </a:tblPr>
              <a:tblGrid>
                <a:gridCol w="1958975"/>
                <a:gridCol w="8886825"/>
              </a:tblGrid>
              <a:tr h="611505">
                <a:tc>
                  <a:txBody>
                    <a:bodyPr/>
                    <a:p>
                      <a:pPr marL="0" indent="0" algn="ctr">
                        <a:lnSpc>
                          <a:spcPct val="120000"/>
                        </a:lnSpc>
                        <a:spcBef>
                          <a:spcPct val="0"/>
                        </a:spcBef>
                        <a:spcAft>
                          <a:spcPct val="0"/>
                        </a:spcAft>
                      </a:pPr>
                      <a:r>
                        <a:rPr lang="zh-CN" sz="1800" spc="130">
                          <a:latin typeface="黑体" panose="02010609060101010101" charset="-122"/>
                          <a:ea typeface="黑体" panose="02010609060101010101" charset="-122"/>
                          <a:sym typeface="+mn-ea"/>
                        </a:rPr>
                        <a:t>等级水平</a:t>
                      </a:r>
                      <a:endParaRPr lang="zh-CN" altLang="zh-CN" sz="1800" spc="130">
                        <a:latin typeface="黑体" panose="02010609060101010101" charset="-122"/>
                        <a:ea typeface="黑体" panose="02010609060101010101" charset="-122"/>
                        <a:sym typeface="+mn-ea"/>
                      </a:endParaRPr>
                    </a:p>
                  </a:txBody>
                  <a:tcPr marL="254000" marR="254000" marT="177800" marB="177800" anchor="ctr" anchorCtr="0"/>
                </a:tc>
                <a:tc>
                  <a:txBody>
                    <a:bodyPr/>
                    <a:p>
                      <a:pPr marL="0" indent="0" algn="ctr">
                        <a:lnSpc>
                          <a:spcPct val="120000"/>
                        </a:lnSpc>
                        <a:spcBef>
                          <a:spcPct val="0"/>
                        </a:spcBef>
                        <a:spcAft>
                          <a:spcPct val="0"/>
                        </a:spcAft>
                      </a:pPr>
                      <a:r>
                        <a:rPr lang="zh-CN" sz="1800" spc="130">
                          <a:latin typeface="黑体" panose="02010609060101010101" charset="-122"/>
                          <a:ea typeface="黑体" panose="02010609060101010101" charset="-122"/>
                          <a:cs typeface="黑体" panose="02010609060101010101" charset="-122"/>
                          <a:sym typeface="+mn-ea"/>
                        </a:rPr>
                        <a:t>等</a:t>
                      </a:r>
                      <a:r>
                        <a:rPr lang="en-US" altLang="zh-CN" sz="1800" spc="130">
                          <a:latin typeface="黑体" panose="02010609060101010101" charset="-122"/>
                          <a:ea typeface="黑体" panose="02010609060101010101" charset="-122"/>
                          <a:cs typeface="黑体" panose="02010609060101010101" charset="-122"/>
                          <a:sym typeface="+mn-ea"/>
                        </a:rPr>
                        <a:t>  </a:t>
                      </a:r>
                      <a:r>
                        <a:rPr lang="zh-CN" altLang="en-US" sz="1800" spc="130">
                          <a:latin typeface="黑体" panose="02010609060101010101" charset="-122"/>
                          <a:ea typeface="黑体" panose="02010609060101010101" charset="-122"/>
                          <a:cs typeface="黑体" panose="02010609060101010101" charset="-122"/>
                          <a:sym typeface="+mn-ea"/>
                        </a:rPr>
                        <a:t>级</a:t>
                      </a:r>
                      <a:r>
                        <a:rPr lang="en-US" altLang="zh-CN" sz="1800" spc="130">
                          <a:latin typeface="黑体" panose="02010609060101010101" charset="-122"/>
                          <a:ea typeface="黑体" panose="02010609060101010101" charset="-122"/>
                          <a:cs typeface="黑体" panose="02010609060101010101" charset="-122"/>
                          <a:sym typeface="+mn-ea"/>
                        </a:rPr>
                        <a:t>  </a:t>
                      </a:r>
                      <a:r>
                        <a:rPr lang="zh-CN" altLang="en-US" sz="1800" spc="130">
                          <a:latin typeface="黑体" panose="02010609060101010101" charset="-122"/>
                          <a:ea typeface="黑体" panose="02010609060101010101" charset="-122"/>
                          <a:cs typeface="黑体" panose="02010609060101010101" charset="-122"/>
                          <a:sym typeface="+mn-ea"/>
                        </a:rPr>
                        <a:t>描</a:t>
                      </a:r>
                      <a:r>
                        <a:rPr lang="en-US" altLang="zh-CN" sz="1800" spc="130">
                          <a:latin typeface="黑体" panose="02010609060101010101" charset="-122"/>
                          <a:ea typeface="黑体" panose="02010609060101010101" charset="-122"/>
                          <a:cs typeface="黑体" panose="02010609060101010101" charset="-122"/>
                          <a:sym typeface="+mn-ea"/>
                        </a:rPr>
                        <a:t>  </a:t>
                      </a:r>
                      <a:r>
                        <a:rPr lang="zh-CN" altLang="en-US" sz="1800" spc="130">
                          <a:latin typeface="黑体" panose="02010609060101010101" charset="-122"/>
                          <a:ea typeface="黑体" panose="02010609060101010101" charset="-122"/>
                          <a:cs typeface="黑体" panose="02010609060101010101" charset="-122"/>
                          <a:sym typeface="+mn-ea"/>
                        </a:rPr>
                        <a:t>述</a:t>
                      </a:r>
                      <a:endParaRPr lang="zh-CN" altLang="en-US" sz="1800" spc="130">
                        <a:latin typeface="黑体" panose="02010609060101010101" charset="-122"/>
                        <a:ea typeface="黑体" panose="02010609060101010101" charset="-122"/>
                        <a:cs typeface="黑体" panose="02010609060101010101" charset="-122"/>
                        <a:sym typeface="+mn-ea"/>
                      </a:endParaRPr>
                    </a:p>
                  </a:txBody>
                  <a:tcPr marL="254000" marR="254000" marT="177800" marB="177800" anchor="ctr" anchorCtr="0"/>
                </a:tc>
              </a:tr>
              <a:tr h="575945">
                <a:tc>
                  <a:txBody>
                    <a:bodyPr/>
                    <a:p>
                      <a:pPr marL="0" indent="0" algn="ctr">
                        <a:lnSpc>
                          <a:spcPct val="120000"/>
                        </a:lnSpc>
                        <a:spcBef>
                          <a:spcPct val="0"/>
                        </a:spcBef>
                        <a:spcAft>
                          <a:spcPct val="0"/>
                        </a:spcAft>
                      </a:pPr>
                      <a:r>
                        <a:rPr lang="zh-CN" sz="1800">
                          <a:latin typeface="黑体" panose="02010609060101010101" charset="-122"/>
                          <a:ea typeface="黑体" panose="02010609060101010101" charset="-122"/>
                          <a:cs typeface="黑体" panose="02010609060101010101" charset="-122"/>
                        </a:rPr>
                        <a:t>水平</a:t>
                      </a:r>
                      <a:r>
                        <a:rPr lang="zh-CN" altLang="en-US" sz="1800">
                          <a:latin typeface="黑体" panose="02010609060101010101" charset="-122"/>
                          <a:ea typeface="黑体" panose="02010609060101010101" charset="-122"/>
                          <a:cs typeface="黑体" panose="02010609060101010101" charset="-122"/>
                        </a:rPr>
                        <a:t> </a:t>
                      </a:r>
                      <a:r>
                        <a:rPr lang="en-US" altLang="zh-CN" sz="1800">
                          <a:latin typeface="黑体" panose="02010609060101010101" charset="-122"/>
                          <a:ea typeface="黑体" panose="02010609060101010101" charset="-122"/>
                          <a:cs typeface="黑体" panose="02010609060101010101" charset="-122"/>
                        </a:rPr>
                        <a:t>1</a:t>
                      </a:r>
                      <a:r>
                        <a:rPr lang="zh-CN" altLang="en-US" sz="1800">
                          <a:latin typeface="黑体" panose="02010609060101010101" charset="-122"/>
                          <a:ea typeface="黑体" panose="02010609060101010101" charset="-122"/>
                          <a:cs typeface="黑体" panose="02010609060101010101" charset="-122"/>
                        </a:rPr>
                        <a:t>（</a:t>
                      </a:r>
                      <a:r>
                        <a:rPr lang="en-US" altLang="zh-CN" sz="1800">
                          <a:latin typeface="黑体" panose="02010609060101010101" charset="-122"/>
                          <a:ea typeface="黑体" panose="02010609060101010101" charset="-122"/>
                          <a:cs typeface="黑体" panose="02010609060101010101" charset="-122"/>
                        </a:rPr>
                        <a:t>0 </a:t>
                      </a:r>
                      <a:r>
                        <a:rPr lang="zh-CN" altLang="en-US" sz="1800">
                          <a:latin typeface="黑体" panose="02010609060101010101" charset="-122"/>
                          <a:ea typeface="黑体" panose="02010609060101010101" charset="-122"/>
                          <a:cs typeface="黑体" panose="02010609060101010101" charset="-122"/>
                        </a:rPr>
                        <a:t>分）</a:t>
                      </a:r>
                      <a:endParaRPr lang="zh-CN" altLang="en-US" sz="1800">
                        <a:latin typeface="黑体" panose="02010609060101010101" charset="-122"/>
                        <a:ea typeface="黑体" panose="02010609060101010101" charset="-122"/>
                        <a:cs typeface="黑体" panose="02010609060101010101" charset="-122"/>
                      </a:endParaRPr>
                    </a:p>
                  </a:txBody>
                  <a:tcPr marL="254000" marR="254000" marT="177800" marB="177800" anchor="ctr" anchorCtr="0"/>
                </a:tc>
                <a:tc>
                  <a:txBody>
                    <a:bodyPr/>
                    <a:p>
                      <a:pPr marL="0" indent="0" algn="l">
                        <a:lnSpc>
                          <a:spcPct val="120000"/>
                        </a:lnSpc>
                        <a:spcBef>
                          <a:spcPct val="0"/>
                        </a:spcBef>
                        <a:spcAft>
                          <a:spcPct val="0"/>
                        </a:spcAft>
                      </a:pPr>
                      <a:r>
                        <a:rPr lang="zh-CN" sz="1800">
                          <a:latin typeface="黑体" panose="02010609060101010101" charset="-122"/>
                          <a:ea typeface="黑体" panose="02010609060101010101" charset="-122"/>
                        </a:rPr>
                        <a:t>简单抄材料，空白卷</a:t>
                      </a:r>
                      <a:endParaRPr lang="zh-CN" sz="1800">
                        <a:latin typeface="黑体" panose="02010609060101010101" charset="-122"/>
                        <a:ea typeface="黑体" panose="02010609060101010101" charset="-122"/>
                      </a:endParaRPr>
                    </a:p>
                  </a:txBody>
                  <a:tcPr marL="254000" marR="254000" marT="177800" marB="177800" anchor="ctr" anchorCtr="0"/>
                </a:tc>
              </a:tr>
              <a:tr h="817245">
                <a:tc>
                  <a:txBody>
                    <a:bodyPr/>
                    <a:p>
                      <a:pPr marL="0" indent="0" algn="ctr">
                        <a:lnSpc>
                          <a:spcPct val="120000"/>
                        </a:lnSpc>
                        <a:spcBef>
                          <a:spcPct val="0"/>
                        </a:spcBef>
                        <a:spcAft>
                          <a:spcPct val="0"/>
                        </a:spcAft>
                      </a:pPr>
                      <a:r>
                        <a:rPr lang="zh-CN" sz="1800">
                          <a:latin typeface="黑体" panose="02010609060101010101" charset="-122"/>
                          <a:ea typeface="黑体" panose="02010609060101010101" charset="-122"/>
                          <a:cs typeface="黑体" panose="02010609060101010101" charset="-122"/>
                        </a:rPr>
                        <a:t>水平</a:t>
                      </a:r>
                      <a:r>
                        <a:rPr lang="en-US" altLang="zh-CN" sz="1800">
                          <a:latin typeface="黑体" panose="02010609060101010101" charset="-122"/>
                          <a:ea typeface="黑体" panose="02010609060101010101" charset="-122"/>
                          <a:cs typeface="黑体" panose="02010609060101010101" charset="-122"/>
                        </a:rPr>
                        <a:t>2</a:t>
                      </a:r>
                      <a:r>
                        <a:rPr lang="zh-CN" altLang="en-US" sz="1800">
                          <a:latin typeface="黑体" panose="02010609060101010101" charset="-122"/>
                          <a:ea typeface="黑体" panose="02010609060101010101" charset="-122"/>
                          <a:cs typeface="黑体" panose="02010609060101010101" charset="-122"/>
                        </a:rPr>
                        <a:t>（</a:t>
                      </a:r>
                      <a:r>
                        <a:rPr lang="en-US" altLang="zh-CN" sz="1800">
                          <a:latin typeface="黑体" panose="02010609060101010101" charset="-122"/>
                          <a:ea typeface="黑体" panose="02010609060101010101" charset="-122"/>
                          <a:cs typeface="黑体" panose="02010609060101010101" charset="-122"/>
                        </a:rPr>
                        <a:t>1—3</a:t>
                      </a:r>
                      <a:r>
                        <a:rPr lang="zh-CN" altLang="en-US" sz="1800">
                          <a:latin typeface="黑体" panose="02010609060101010101" charset="-122"/>
                          <a:ea typeface="黑体" panose="02010609060101010101" charset="-122"/>
                          <a:cs typeface="黑体" panose="02010609060101010101" charset="-122"/>
                        </a:rPr>
                        <a:t>分）</a:t>
                      </a:r>
                      <a:endParaRPr lang="zh-CN" altLang="en-US" sz="1800">
                        <a:latin typeface="黑体" panose="02010609060101010101" charset="-122"/>
                        <a:ea typeface="黑体" panose="02010609060101010101" charset="-122"/>
                        <a:cs typeface="黑体" panose="02010609060101010101" charset="-122"/>
                      </a:endParaRPr>
                    </a:p>
                  </a:txBody>
                  <a:tcPr marL="254000" marR="254000" marT="177800" marB="177800" anchor="ctr" anchorCtr="0"/>
                </a:tc>
                <a:tc>
                  <a:txBody>
                    <a:bodyPr/>
                    <a:p>
                      <a:pPr marL="0" indent="0" algn="l">
                        <a:lnSpc>
                          <a:spcPct val="120000"/>
                        </a:lnSpc>
                        <a:spcBef>
                          <a:spcPct val="0"/>
                        </a:spcBef>
                        <a:spcAft>
                          <a:spcPct val="0"/>
                        </a:spcAft>
                      </a:pPr>
                      <a:r>
                        <a:rPr lang="zh-CN" sz="1800">
                          <a:latin typeface="黑体" panose="02010609060101010101" charset="-122"/>
                          <a:ea typeface="黑体" panose="02010609060101010101" charset="-122"/>
                        </a:rPr>
                        <a:t>观点不明确，论述不能集中指向问题，仅罗列知识，知识运用不准确；脱离材料或简单摘抄材料。</a:t>
                      </a:r>
                      <a:r>
                        <a:rPr lang="zh-CN" sz="1800">
                          <a:solidFill>
                            <a:srgbClr val="FF0000"/>
                          </a:solidFill>
                          <a:latin typeface="黑体" panose="02010609060101010101" charset="-122"/>
                          <a:ea typeface="黑体" panose="02010609060101010101" charset="-122"/>
                        </a:rPr>
                        <a:t>能概括材料，有自己的简单理解。</a:t>
                      </a:r>
                      <a:endParaRPr lang="zh-CN" sz="1800">
                        <a:solidFill>
                          <a:srgbClr val="FF0000"/>
                        </a:solidFill>
                        <a:latin typeface="黑体" panose="02010609060101010101" charset="-122"/>
                        <a:ea typeface="黑体" panose="02010609060101010101" charset="-122"/>
                      </a:endParaRPr>
                    </a:p>
                  </a:txBody>
                  <a:tcPr marL="254000" marR="254000" marT="177800" marB="177800" anchor="ctr" anchorCtr="0"/>
                </a:tc>
              </a:tr>
              <a:tr h="1123315">
                <a:tc>
                  <a:txBody>
                    <a:bodyPr/>
                    <a:p>
                      <a:pPr marL="0" indent="0" algn="ctr">
                        <a:lnSpc>
                          <a:spcPct val="120000"/>
                        </a:lnSpc>
                        <a:spcBef>
                          <a:spcPct val="0"/>
                        </a:spcBef>
                        <a:spcAft>
                          <a:spcPct val="0"/>
                        </a:spcAft>
                      </a:pPr>
                      <a:r>
                        <a:rPr lang="zh-CN" sz="1800">
                          <a:latin typeface="黑体" panose="02010609060101010101" charset="-122"/>
                          <a:ea typeface="黑体" panose="02010609060101010101" charset="-122"/>
                          <a:cs typeface="黑体" panose="02010609060101010101" charset="-122"/>
                        </a:rPr>
                        <a:t>水平</a:t>
                      </a:r>
                      <a:r>
                        <a:rPr lang="en-US" altLang="zh-CN" sz="1800">
                          <a:latin typeface="黑体" panose="02010609060101010101" charset="-122"/>
                          <a:ea typeface="黑体" panose="02010609060101010101" charset="-122"/>
                          <a:cs typeface="黑体" panose="02010609060101010101" charset="-122"/>
                        </a:rPr>
                        <a:t>3</a:t>
                      </a:r>
                      <a:r>
                        <a:rPr lang="zh-CN" altLang="en-US" sz="1800">
                          <a:latin typeface="黑体" panose="02010609060101010101" charset="-122"/>
                          <a:ea typeface="黑体" panose="02010609060101010101" charset="-122"/>
                          <a:cs typeface="黑体" panose="02010609060101010101" charset="-122"/>
                        </a:rPr>
                        <a:t>（</a:t>
                      </a:r>
                      <a:r>
                        <a:rPr lang="en-US" altLang="zh-CN" sz="1800">
                          <a:latin typeface="黑体" panose="02010609060101010101" charset="-122"/>
                          <a:ea typeface="黑体" panose="02010609060101010101" charset="-122"/>
                          <a:cs typeface="黑体" panose="02010609060101010101" charset="-122"/>
                        </a:rPr>
                        <a:t>4—6</a:t>
                      </a:r>
                      <a:r>
                        <a:rPr lang="zh-CN" altLang="en-US" sz="1800">
                          <a:latin typeface="黑体" panose="02010609060101010101" charset="-122"/>
                          <a:ea typeface="黑体" panose="02010609060101010101" charset="-122"/>
                          <a:cs typeface="黑体" panose="02010609060101010101" charset="-122"/>
                        </a:rPr>
                        <a:t>分）</a:t>
                      </a:r>
                      <a:endParaRPr lang="zh-CN" altLang="en-US" sz="1800">
                        <a:latin typeface="黑体" panose="02010609060101010101" charset="-122"/>
                        <a:ea typeface="黑体" panose="02010609060101010101" charset="-122"/>
                        <a:cs typeface="黑体" panose="02010609060101010101" charset="-122"/>
                      </a:endParaRPr>
                    </a:p>
                  </a:txBody>
                  <a:tcPr marL="254000" marR="254000" marT="177800" marB="177800" anchor="ctr" anchorCtr="0"/>
                </a:tc>
                <a:tc>
                  <a:txBody>
                    <a:bodyPr/>
                    <a:p>
                      <a:pPr marL="0" indent="0" algn="l">
                        <a:lnSpc>
                          <a:spcPct val="120000"/>
                        </a:lnSpc>
                        <a:spcBef>
                          <a:spcPct val="0"/>
                        </a:spcBef>
                        <a:spcAft>
                          <a:spcPct val="0"/>
                        </a:spcAft>
                      </a:pPr>
                      <a:r>
                        <a:rPr lang="zh-CN" sz="1800">
                          <a:latin typeface="黑体" panose="02010609060101010101" charset="-122"/>
                          <a:ea typeface="黑体" panose="02010609060101010101" charset="-122"/>
                          <a:cs typeface="黑体" panose="02010609060101010101" charset="-122"/>
                        </a:rPr>
                        <a:t>观点比较明确，能围绕科技自立自强与强国建设表达见解；能扣住问题展开论述，</a:t>
                      </a:r>
                      <a:r>
                        <a:rPr lang="zh-CN" sz="1800">
                          <a:solidFill>
                            <a:srgbClr val="FF0000"/>
                          </a:solidFill>
                          <a:latin typeface="黑体" panose="02010609060101010101" charset="-122"/>
                          <a:ea typeface="黑体" panose="02010609060101010101" charset="-122"/>
                          <a:cs typeface="黑体" panose="02010609060101010101" charset="-122"/>
                        </a:rPr>
                        <a:t>能运用</a:t>
                      </a:r>
                      <a:r>
                        <a:rPr lang="en-US" altLang="zh-CN" sz="1800">
                          <a:solidFill>
                            <a:srgbClr val="FF0000"/>
                          </a:solidFill>
                          <a:latin typeface="黑体" panose="02010609060101010101" charset="-122"/>
                          <a:ea typeface="黑体" panose="02010609060101010101" charset="-122"/>
                          <a:cs typeface="黑体" panose="02010609060101010101" charset="-122"/>
                        </a:rPr>
                        <a:t>3</a:t>
                      </a:r>
                      <a:r>
                        <a:rPr lang="zh-CN" altLang="en-US" sz="1800">
                          <a:solidFill>
                            <a:srgbClr val="FF0000"/>
                          </a:solidFill>
                          <a:latin typeface="黑体" panose="02010609060101010101" charset="-122"/>
                          <a:ea typeface="黑体" panose="02010609060101010101" charset="-122"/>
                          <a:cs typeface="黑体" panose="02010609060101010101" charset="-122"/>
                        </a:rPr>
                        <a:t>个及以上不同角度知识</a:t>
                      </a:r>
                      <a:r>
                        <a:rPr lang="zh-CN" sz="1800">
                          <a:latin typeface="黑体" panose="02010609060101010101" charset="-122"/>
                          <a:ea typeface="黑体" panose="02010609060101010101" charset="-122"/>
                          <a:cs typeface="黑体" panose="02010609060101010101" charset="-122"/>
                        </a:rPr>
                        <a:t>，知识较准确；有逻辑，能结合材料，但理论与材料结合不够深入。</a:t>
                      </a:r>
                      <a:endParaRPr lang="zh-CN" sz="1800">
                        <a:latin typeface="黑体" panose="02010609060101010101" charset="-122"/>
                        <a:ea typeface="黑体" panose="02010609060101010101" charset="-122"/>
                        <a:cs typeface="黑体" panose="02010609060101010101" charset="-122"/>
                      </a:endParaRPr>
                    </a:p>
                    <a:p>
                      <a:pPr marL="0" indent="0" algn="l">
                        <a:lnSpc>
                          <a:spcPct val="120000"/>
                        </a:lnSpc>
                        <a:spcBef>
                          <a:spcPct val="0"/>
                        </a:spcBef>
                        <a:spcAft>
                          <a:spcPct val="0"/>
                        </a:spcAft>
                      </a:pPr>
                      <a:r>
                        <a:rPr lang="zh-CN" sz="1800">
                          <a:solidFill>
                            <a:srgbClr val="FF0000"/>
                          </a:solidFill>
                          <a:latin typeface="黑体" panose="02010609060101010101" charset="-122"/>
                          <a:ea typeface="黑体" panose="02010609060101010101" charset="-122"/>
                          <a:cs typeface="黑体" panose="02010609060101010101" charset="-122"/>
                        </a:rPr>
                        <a:t>只答一个角度：最高不超过</a:t>
                      </a:r>
                      <a:r>
                        <a:rPr lang="zh-CN" altLang="en-US" sz="1800">
                          <a:solidFill>
                            <a:srgbClr val="FF0000"/>
                          </a:solidFill>
                          <a:latin typeface="黑体" panose="02010609060101010101" charset="-122"/>
                          <a:ea typeface="黑体" panose="02010609060101010101" charset="-122"/>
                          <a:cs typeface="黑体" panose="02010609060101010101" charset="-122"/>
                        </a:rPr>
                        <a:t> </a:t>
                      </a:r>
                      <a:r>
                        <a:rPr lang="en-US" altLang="zh-CN" sz="1800">
                          <a:solidFill>
                            <a:srgbClr val="FF0000"/>
                          </a:solidFill>
                          <a:latin typeface="黑体" panose="02010609060101010101" charset="-122"/>
                          <a:ea typeface="黑体" panose="02010609060101010101" charset="-122"/>
                          <a:cs typeface="黑体" panose="02010609060101010101" charset="-122"/>
                        </a:rPr>
                        <a:t>4 </a:t>
                      </a:r>
                      <a:r>
                        <a:rPr lang="zh-CN" altLang="en-US" sz="1800">
                          <a:solidFill>
                            <a:srgbClr val="FF0000"/>
                          </a:solidFill>
                          <a:latin typeface="黑体" panose="02010609060101010101" charset="-122"/>
                          <a:ea typeface="黑体" panose="02010609060101010101" charset="-122"/>
                          <a:cs typeface="黑体" panose="02010609060101010101" charset="-122"/>
                        </a:rPr>
                        <a:t>分</a:t>
                      </a:r>
                      <a:endParaRPr lang="zh-CN" altLang="en-US" sz="1800">
                        <a:solidFill>
                          <a:srgbClr val="FF0000"/>
                        </a:solidFill>
                        <a:latin typeface="黑体" panose="02010609060101010101" charset="-122"/>
                        <a:ea typeface="黑体" panose="02010609060101010101" charset="-122"/>
                        <a:cs typeface="黑体" panose="02010609060101010101" charset="-122"/>
                      </a:endParaRPr>
                    </a:p>
                  </a:txBody>
                  <a:tcPr marL="254000" marR="254000" marT="177800" marB="177800" anchor="ctr" anchorCtr="0"/>
                </a:tc>
              </a:tr>
              <a:tr h="1379220">
                <a:tc>
                  <a:txBody>
                    <a:bodyPr/>
                    <a:p>
                      <a:pPr marL="0" indent="0" algn="ctr">
                        <a:lnSpc>
                          <a:spcPct val="120000"/>
                        </a:lnSpc>
                        <a:spcBef>
                          <a:spcPct val="0"/>
                        </a:spcBef>
                        <a:spcAft>
                          <a:spcPct val="0"/>
                        </a:spcAft>
                      </a:pPr>
                      <a:r>
                        <a:rPr lang="zh-CN" sz="1800">
                          <a:latin typeface="黑体" panose="02010609060101010101" charset="-122"/>
                          <a:ea typeface="黑体" panose="02010609060101010101" charset="-122"/>
                          <a:cs typeface="黑体" panose="02010609060101010101" charset="-122"/>
                        </a:rPr>
                        <a:t>水平</a:t>
                      </a:r>
                      <a:r>
                        <a:rPr lang="en-US" altLang="zh-CN" sz="1800">
                          <a:latin typeface="黑体" panose="02010609060101010101" charset="-122"/>
                          <a:ea typeface="黑体" panose="02010609060101010101" charset="-122"/>
                          <a:cs typeface="黑体" panose="02010609060101010101" charset="-122"/>
                        </a:rPr>
                        <a:t>4</a:t>
                      </a:r>
                      <a:r>
                        <a:rPr lang="zh-CN" altLang="en-US" sz="1800">
                          <a:latin typeface="黑体" panose="02010609060101010101" charset="-122"/>
                          <a:ea typeface="黑体" panose="02010609060101010101" charset="-122"/>
                          <a:cs typeface="黑体" panose="02010609060101010101" charset="-122"/>
                        </a:rPr>
                        <a:t>（</a:t>
                      </a:r>
                      <a:r>
                        <a:rPr lang="en-US" altLang="zh-CN" sz="1800">
                          <a:latin typeface="黑体" panose="02010609060101010101" charset="-122"/>
                          <a:ea typeface="黑体" panose="02010609060101010101" charset="-122"/>
                          <a:cs typeface="黑体" panose="02010609060101010101" charset="-122"/>
                        </a:rPr>
                        <a:t>7—9</a:t>
                      </a:r>
                      <a:r>
                        <a:rPr lang="zh-CN" altLang="en-US" sz="1800">
                          <a:latin typeface="黑体" panose="02010609060101010101" charset="-122"/>
                          <a:ea typeface="黑体" panose="02010609060101010101" charset="-122"/>
                          <a:cs typeface="黑体" panose="02010609060101010101" charset="-122"/>
                        </a:rPr>
                        <a:t>分）</a:t>
                      </a:r>
                      <a:endParaRPr lang="zh-CN" altLang="en-US" sz="1800">
                        <a:latin typeface="黑体" panose="02010609060101010101" charset="-122"/>
                        <a:ea typeface="黑体" panose="02010609060101010101" charset="-122"/>
                        <a:cs typeface="黑体" panose="02010609060101010101" charset="-122"/>
                      </a:endParaRPr>
                    </a:p>
                  </a:txBody>
                  <a:tcPr marL="254000" marR="254000" marT="177800" marB="177800" anchor="ctr" anchorCtr="0"/>
                </a:tc>
                <a:tc>
                  <a:txBody>
                    <a:bodyPr/>
                    <a:p>
                      <a:pPr marL="0" indent="0" algn="l">
                        <a:lnSpc>
                          <a:spcPct val="120000"/>
                        </a:lnSpc>
                        <a:spcBef>
                          <a:spcPct val="0"/>
                        </a:spcBef>
                        <a:spcAft>
                          <a:spcPct val="0"/>
                        </a:spcAft>
                      </a:pPr>
                      <a:r>
                        <a:rPr lang="zh-CN" sz="1800">
                          <a:latin typeface="黑体" panose="02010609060101010101" charset="-122"/>
                          <a:ea typeface="黑体" panose="02010609060101010101" charset="-122"/>
                          <a:cs typeface="黑体" panose="02010609060101010101" charset="-122"/>
                        </a:rPr>
                        <a:t>观点鲜明，能明确表达见解；能运用</a:t>
                      </a:r>
                      <a:r>
                        <a:rPr lang="en-US" altLang="zh-CN" sz="1800">
                          <a:latin typeface="黑体" panose="02010609060101010101" charset="-122"/>
                          <a:ea typeface="黑体" panose="02010609060101010101" charset="-122"/>
                          <a:cs typeface="黑体" panose="02010609060101010101" charset="-122"/>
                        </a:rPr>
                        <a:t>3</a:t>
                      </a:r>
                      <a:r>
                        <a:rPr lang="zh-CN" altLang="en-US" sz="1800">
                          <a:latin typeface="黑体" panose="02010609060101010101" charset="-122"/>
                          <a:ea typeface="黑体" panose="02010609060101010101" charset="-122"/>
                          <a:cs typeface="黑体" panose="02010609060101010101" charset="-122"/>
                        </a:rPr>
                        <a:t>个及以上不同角度的知识，结合材料中十四五成就、规划纲要、实践路径等信息展开论述；逻辑严密，条理清晰，理论与材料深度结合，能说明 “</a:t>
                      </a:r>
                      <a:r>
                        <a:rPr lang="zh-CN" sz="1800">
                          <a:solidFill>
                            <a:srgbClr val="FF0000"/>
                          </a:solidFill>
                          <a:latin typeface="黑体" panose="02010609060101010101" charset="-122"/>
                          <a:ea typeface="黑体" panose="02010609060101010101" charset="-122"/>
                          <a:cs typeface="黑体" panose="02010609060101010101" charset="-122"/>
                        </a:rPr>
                        <a:t>为什么是关键、如何支撑强国建设</a:t>
                      </a:r>
                      <a:r>
                        <a:rPr lang="zh-CN" altLang="en-US" sz="1800">
                          <a:solidFill>
                            <a:srgbClr val="FF0000"/>
                          </a:solidFill>
                          <a:latin typeface="黑体" panose="02010609060101010101" charset="-122"/>
                          <a:ea typeface="黑体" panose="02010609060101010101" charset="-122"/>
                          <a:cs typeface="黑体" panose="02010609060101010101" charset="-122"/>
                        </a:rPr>
                        <a:t>”</a:t>
                      </a:r>
                      <a:r>
                        <a:rPr lang="zh-CN" altLang="en-US" sz="1800">
                          <a:latin typeface="黑体" panose="02010609060101010101" charset="-122"/>
                          <a:ea typeface="黑体" panose="02010609060101010101" charset="-122"/>
                          <a:cs typeface="黑体" panose="02010609060101010101" charset="-122"/>
                        </a:rPr>
                        <a:t>。</a:t>
                      </a:r>
                      <a:endParaRPr lang="zh-CN" altLang="en-US" sz="1800">
                        <a:latin typeface="黑体" panose="02010609060101010101" charset="-122"/>
                        <a:ea typeface="黑体" panose="02010609060101010101" charset="-122"/>
                        <a:cs typeface="黑体" panose="02010609060101010101" charset="-122"/>
                      </a:endParaRPr>
                    </a:p>
                    <a:p>
                      <a:pPr marL="0" indent="0" algn="l">
                        <a:lnSpc>
                          <a:spcPct val="120000"/>
                        </a:lnSpc>
                        <a:spcBef>
                          <a:spcPct val="0"/>
                        </a:spcBef>
                        <a:spcAft>
                          <a:spcPct val="0"/>
                        </a:spcAft>
                      </a:pPr>
                      <a:r>
                        <a:rPr lang="zh-CN" sz="1800">
                          <a:solidFill>
                            <a:srgbClr val="FF0000"/>
                          </a:solidFill>
                          <a:latin typeface="黑体" panose="02010609060101010101" charset="-122"/>
                          <a:ea typeface="黑体" panose="02010609060101010101" charset="-122"/>
                          <a:cs typeface="黑体" panose="02010609060101010101" charset="-122"/>
                        </a:rPr>
                        <a:t>无观点、无结构：不进水平</a:t>
                      </a:r>
                      <a:r>
                        <a:rPr lang="en-US" altLang="zh-CN" sz="1800">
                          <a:solidFill>
                            <a:srgbClr val="FF0000"/>
                          </a:solidFill>
                          <a:latin typeface="黑体" panose="02010609060101010101" charset="-122"/>
                          <a:ea typeface="黑体" panose="02010609060101010101" charset="-122"/>
                          <a:cs typeface="黑体" panose="02010609060101010101" charset="-122"/>
                        </a:rPr>
                        <a:t>4</a:t>
                      </a:r>
                      <a:endParaRPr lang="en-US" altLang="zh-CN" sz="1800">
                        <a:solidFill>
                          <a:srgbClr val="FF0000"/>
                        </a:solidFill>
                        <a:latin typeface="黑体" panose="02010609060101010101" charset="-122"/>
                        <a:ea typeface="黑体" panose="02010609060101010101" charset="-122"/>
                        <a:cs typeface="黑体" panose="02010609060101010101" charset="-122"/>
                      </a:endParaRPr>
                    </a:p>
                  </a:txBody>
                  <a:tcPr marL="254000" marR="254000" marT="177800" marB="177800" anchor="ctr" anchorCtr="0"/>
                </a:tc>
              </a:tr>
            </a:tbl>
          </a:graphicData>
        </a:graphic>
      </p:graphicFrame>
      <p:sp>
        <p:nvSpPr>
          <p:cNvPr id="13" name="文本框 12"/>
          <p:cNvSpPr txBox="1"/>
          <p:nvPr/>
        </p:nvSpPr>
        <p:spPr>
          <a:xfrm>
            <a:off x="546735" y="0"/>
            <a:ext cx="6096000" cy="521970"/>
          </a:xfrm>
          <a:prstGeom prst="rect">
            <a:avLst/>
          </a:prstGeom>
          <a:noFill/>
        </p:spPr>
        <p:txBody>
          <a:bodyPr wrap="square" rtlCol="0" anchor="t">
            <a:spAutoFit/>
          </a:bodyPr>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sym typeface="+mn-ea"/>
              </a:rPr>
              <a:t>二、变通答案</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sym typeface="+mn-ea"/>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6"/>
          <p:cNvSpPr/>
          <p:nvPr>
            <p:custDataLst>
              <p:tags r:id="rId1"/>
            </p:custDataLst>
          </p:nvPr>
        </p:nvSpPr>
        <p:spPr>
          <a:xfrm>
            <a:off x="17779" y="652621"/>
            <a:ext cx="12192000" cy="43348"/>
          </a:xfrm>
          <a:prstGeom prst="rect">
            <a:avLst/>
          </a:prstGeom>
          <a:solidFill>
            <a:srgbClr val="0170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spcBef>
                <a:spcPct val="0"/>
              </a:spcBef>
              <a:spcAft>
                <a:spcPct val="0"/>
              </a:spcAft>
            </a:pPr>
            <a:endParaRPr lang="zh-CN" altLang="en-US" sz="1705">
              <a:solidFill>
                <a:prstClr val="white"/>
              </a:solidFill>
              <a:latin typeface="Arial" panose="020B0604020202020204"/>
              <a:ea typeface="微软雅黑" panose="020B0503020204020204" charset="-122"/>
            </a:endParaRPr>
          </a:p>
        </p:txBody>
      </p:sp>
      <p:sp>
        <p:nvSpPr>
          <p:cNvPr id="8" name="矩形 7"/>
          <p:cNvSpPr/>
          <p:nvPr>
            <p:custDataLst>
              <p:tags r:id="rId2"/>
            </p:custDataLst>
          </p:nvPr>
        </p:nvSpPr>
        <p:spPr>
          <a:xfrm>
            <a:off x="0" y="6472555"/>
            <a:ext cx="12192000" cy="385445"/>
          </a:xfrm>
          <a:prstGeom prst="rect">
            <a:avLst/>
          </a:prstGeom>
          <a:solidFill>
            <a:srgbClr val="0170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spcBef>
                <a:spcPct val="0"/>
              </a:spcBef>
              <a:spcAft>
                <a:spcPct val="0"/>
              </a:spcAft>
            </a:pPr>
            <a:endParaRPr lang="zh-CN" altLang="en-US" sz="1705">
              <a:solidFill>
                <a:prstClr val="white"/>
              </a:solidFill>
              <a:latin typeface="Arial" panose="020B0604020202020204"/>
              <a:ea typeface="微软雅黑" panose="020B0503020204020204" charset="-122"/>
            </a:endParaRPr>
          </a:p>
        </p:txBody>
      </p:sp>
      <p:pic>
        <p:nvPicPr>
          <p:cNvPr id="12" name="图片 11"/>
          <p:cNvPicPr>
            <a:picLocks noChangeAspect="1"/>
          </p:cNvPicPr>
          <p:nvPr>
            <p:custDataLst>
              <p:tags r:id="rId3"/>
            </p:custDataLst>
          </p:nvPr>
        </p:nvPicPr>
        <p:blipFill>
          <a:blip r:embed="rId4">
            <a:biLevel thresh="25000"/>
            <a:extLst>
              <a:ext uri="{28A0092B-C50C-407E-A947-70E740481C1C}">
                <a14:useLocalDpi xmlns:a14="http://schemas.microsoft.com/office/drawing/2010/main" val="0"/>
              </a:ext>
            </a:extLst>
          </a:blip>
          <a:stretch>
            <a:fillRect/>
          </a:stretch>
        </p:blipFill>
        <p:spPr>
          <a:xfrm>
            <a:off x="4671360" y="6376242"/>
            <a:ext cx="2885444" cy="630668"/>
          </a:xfrm>
          <a:prstGeom prst="rect">
            <a:avLst/>
          </a:prstGeom>
        </p:spPr>
      </p:pic>
      <p:sp>
        <p:nvSpPr>
          <p:cNvPr id="2" name="文本框 1"/>
          <p:cNvSpPr txBox="1"/>
          <p:nvPr/>
        </p:nvSpPr>
        <p:spPr>
          <a:xfrm>
            <a:off x="546100" y="1038860"/>
            <a:ext cx="10733405" cy="5337810"/>
          </a:xfrm>
          <a:prstGeom prst="rect">
            <a:avLst/>
          </a:prstGeom>
          <a:noFill/>
        </p:spPr>
        <p:txBody>
          <a:bodyPr wrap="square" rtlCol="0">
            <a:noAutofit/>
          </a:bodyPr>
          <a:p>
            <a:r>
              <a:rPr lang="zh-CN" altLang="en-US" sz="2400">
                <a:latin typeface="黑体" panose="02010609060101010101" charset="-122"/>
                <a:ea typeface="黑体" panose="02010609060101010101" charset="-122"/>
                <a:cs typeface="黑体" panose="02010609060101010101" charset="-122"/>
              </a:rPr>
              <a:t>示例</a:t>
            </a:r>
            <a:r>
              <a:rPr lang="en-US" altLang="zh-CN" sz="2400">
                <a:latin typeface="黑体" panose="02010609060101010101" charset="-122"/>
                <a:ea typeface="黑体" panose="02010609060101010101" charset="-122"/>
                <a:cs typeface="黑体" panose="02010609060101010101" charset="-122"/>
              </a:rPr>
              <a:t>1</a:t>
            </a:r>
            <a:r>
              <a:rPr lang="zh-CN" altLang="en-US" sz="2400">
                <a:latin typeface="黑体" panose="02010609060101010101" charset="-122"/>
                <a:ea typeface="黑体" panose="02010609060101010101" charset="-122"/>
                <a:cs typeface="黑体" panose="02010609060101010101" charset="-122"/>
              </a:rPr>
              <a:t>：</a:t>
            </a:r>
            <a:endParaRPr lang="zh-CN" altLang="en-US" sz="2400">
              <a:latin typeface="黑体" panose="02010609060101010101" charset="-122"/>
              <a:ea typeface="黑体" panose="02010609060101010101" charset="-122"/>
              <a:cs typeface="黑体" panose="02010609060101010101" charset="-122"/>
            </a:endParaRPr>
          </a:p>
          <a:p>
            <a:r>
              <a:rPr lang="en-US" altLang="zh-CN" sz="2400">
                <a:latin typeface="黑体" panose="02010609060101010101" charset="-122"/>
                <a:ea typeface="黑体" panose="02010609060101010101" charset="-122"/>
                <a:cs typeface="黑体" panose="02010609060101010101" charset="-122"/>
              </a:rPr>
              <a:t>    </a:t>
            </a:r>
            <a:r>
              <a:rPr lang="zh-CN" altLang="en-US" sz="2400">
                <a:solidFill>
                  <a:srgbClr val="FF0000"/>
                </a:solidFill>
                <a:latin typeface="黑体" panose="02010609060101010101" charset="-122"/>
                <a:ea typeface="黑体" panose="02010609060101010101" charset="-122"/>
                <a:cs typeface="黑体" panose="02010609060101010101" charset="-122"/>
              </a:rPr>
              <a:t>科技兴则国家兴，科技强则国家强。建设社会主义现代化强国，关键在科技自立自强。</a:t>
            </a:r>
            <a:endParaRPr lang="zh-CN" altLang="en-US" sz="2400">
              <a:latin typeface="黑体" panose="02010609060101010101" charset="-122"/>
              <a:ea typeface="黑体" panose="02010609060101010101" charset="-122"/>
              <a:cs typeface="黑体" panose="02010609060101010101" charset="-122"/>
            </a:endParaRPr>
          </a:p>
          <a:p>
            <a:r>
              <a:rPr lang="en-US" altLang="zh-CN" sz="2400">
                <a:latin typeface="黑体" panose="02010609060101010101" charset="-122"/>
                <a:ea typeface="黑体" panose="02010609060101010101" charset="-122"/>
                <a:cs typeface="黑体" panose="02010609060101010101" charset="-122"/>
              </a:rPr>
              <a:t>    </a:t>
            </a:r>
            <a:r>
              <a:rPr lang="zh-CN" altLang="en-US" sz="2400">
                <a:solidFill>
                  <a:srgbClr val="FF0000"/>
                </a:solidFill>
                <a:latin typeface="黑体" panose="02010609060101010101" charset="-122"/>
                <a:ea typeface="黑体" panose="02010609060101010101" charset="-122"/>
                <a:cs typeface="黑体" panose="02010609060101010101" charset="-122"/>
              </a:rPr>
              <a:t>从发展趋势看</a:t>
            </a:r>
            <a:r>
              <a:rPr lang="zh-CN" altLang="en-US" sz="2400">
                <a:latin typeface="黑体" panose="02010609060101010101" charset="-122"/>
                <a:ea typeface="黑体" panose="02010609060101010101" charset="-122"/>
                <a:cs typeface="黑体" panose="02010609060101010101" charset="-122"/>
              </a:rPr>
              <a:t>，科技已成为国际战略博弈的重要方面，关键核心技术是买不来、要不来的，唯有实现科技自立自强，才能够把握发展的主动权，确保强国建设的安全可控。</a:t>
            </a:r>
            <a:r>
              <a:rPr lang="zh-CN" altLang="en-US" sz="2400">
                <a:solidFill>
                  <a:srgbClr val="FF0000"/>
                </a:solidFill>
                <a:latin typeface="黑体" panose="02010609060101010101" charset="-122"/>
                <a:ea typeface="黑体" panose="02010609060101010101" charset="-122"/>
                <a:cs typeface="黑体" panose="02010609060101010101" charset="-122"/>
              </a:rPr>
              <a:t>从经济建设看</a:t>
            </a:r>
            <a:r>
              <a:rPr lang="zh-CN" altLang="en-US" sz="2400">
                <a:latin typeface="黑体" panose="02010609060101010101" charset="-122"/>
                <a:ea typeface="黑体" panose="02010609060101010101" charset="-122"/>
                <a:cs typeface="黑体" panose="02010609060101010101" charset="-122"/>
              </a:rPr>
              <a:t>，没有高水平科技自立自强，就不能引领发展新质生产力。</a:t>
            </a:r>
            <a:r>
              <a:rPr lang="zh-CN" altLang="en-US" sz="2400">
                <a:solidFill>
                  <a:srgbClr val="FF0000"/>
                </a:solidFill>
                <a:latin typeface="黑体" panose="02010609060101010101" charset="-122"/>
                <a:ea typeface="黑体" panose="02010609060101010101" charset="-122"/>
                <a:cs typeface="黑体" panose="02010609060101010101" charset="-122"/>
              </a:rPr>
              <a:t>从民生福祉看</a:t>
            </a:r>
            <a:r>
              <a:rPr lang="zh-CN" altLang="en-US" sz="2400">
                <a:latin typeface="黑体" panose="02010609060101010101" charset="-122"/>
                <a:ea typeface="黑体" panose="02010609060101010101" charset="-122"/>
                <a:cs typeface="黑体" panose="02010609060101010101" charset="-122"/>
              </a:rPr>
              <a:t>，科技自立自强为实现以人民为中心</a:t>
            </a:r>
            <a:r>
              <a:rPr lang="zh-CN" altLang="en-US" sz="2400">
                <a:latin typeface="黑体" panose="02010609060101010101" charset="-122"/>
                <a:ea typeface="黑体" panose="02010609060101010101" charset="-122"/>
                <a:cs typeface="黑体" panose="02010609060101010101" charset="-122"/>
              </a:rPr>
              <a:t>的发展思想提供物质保障，从高端医疗</a:t>
            </a:r>
            <a:r>
              <a:rPr lang="zh-CN" altLang="en-US" sz="2400">
                <a:latin typeface="黑体" panose="02010609060101010101" charset="-122"/>
                <a:ea typeface="黑体" panose="02010609060101010101" charset="-122"/>
                <a:cs typeface="黑体" panose="02010609060101010101" charset="-122"/>
              </a:rPr>
              <a:t>设备到数字生活</a:t>
            </a:r>
            <a:r>
              <a:rPr lang="zh-CN" altLang="en-US" sz="2400">
                <a:latin typeface="黑体" panose="02010609060101010101" charset="-122"/>
                <a:ea typeface="黑体" panose="02010609060101010101" charset="-122"/>
                <a:cs typeface="黑体" panose="02010609060101010101" charset="-122"/>
              </a:rPr>
              <a:t>服务，人民群众的获得感都需要科技自立自强的</a:t>
            </a:r>
            <a:r>
              <a:rPr lang="zh-CN" altLang="en-US" sz="2400">
                <a:latin typeface="黑体" panose="02010609060101010101" charset="-122"/>
                <a:ea typeface="黑体" panose="02010609060101010101" charset="-122"/>
                <a:cs typeface="黑体" panose="02010609060101010101" charset="-122"/>
              </a:rPr>
              <a:t>支撑。</a:t>
            </a:r>
            <a:endParaRPr lang="zh-CN" altLang="en-US" sz="2400">
              <a:latin typeface="黑体" panose="02010609060101010101" charset="-122"/>
              <a:ea typeface="黑体" panose="02010609060101010101" charset="-122"/>
              <a:cs typeface="黑体" panose="02010609060101010101" charset="-122"/>
            </a:endParaRPr>
          </a:p>
          <a:p>
            <a:r>
              <a:rPr lang="en-US" altLang="zh-CN" sz="2400">
                <a:latin typeface="黑体" panose="02010609060101010101" charset="-122"/>
                <a:ea typeface="黑体" panose="02010609060101010101" charset="-122"/>
                <a:cs typeface="黑体" panose="02010609060101010101" charset="-122"/>
              </a:rPr>
              <a:t>    </a:t>
            </a:r>
            <a:r>
              <a:rPr lang="zh-CN" altLang="en-US" sz="2400">
                <a:solidFill>
                  <a:srgbClr val="FF0000"/>
                </a:solidFill>
                <a:latin typeface="黑体" panose="02010609060101010101" charset="-122"/>
                <a:ea typeface="黑体" panose="02010609060101010101" charset="-122"/>
                <a:cs typeface="黑体" panose="02010609060101010101" charset="-122"/>
              </a:rPr>
              <a:t>实现科技自立自强，要</a:t>
            </a:r>
            <a:r>
              <a:rPr lang="zh-CN" altLang="en-US" sz="2400">
                <a:latin typeface="黑体" panose="02010609060101010101" charset="-122"/>
                <a:ea typeface="黑体" panose="02010609060101010101" charset="-122"/>
                <a:cs typeface="黑体" panose="02010609060101010101" charset="-122"/>
              </a:rPr>
              <a:t>坚持党的领导，</a:t>
            </a:r>
            <a:r>
              <a:rPr lang="zh-CN" altLang="en-US" sz="2400">
                <a:latin typeface="黑体" panose="02010609060101010101" charset="-122"/>
                <a:ea typeface="黑体" panose="02010609060101010101" charset="-122"/>
                <a:cs typeface="黑体" panose="02010609060101010101" charset="-122"/>
                <a:sym typeface="+mn-ea"/>
              </a:rPr>
              <a:t>发挥集中力量办大事的制度优势，</a:t>
            </a:r>
            <a:r>
              <a:rPr lang="zh-CN" altLang="en-US" sz="2400">
                <a:latin typeface="黑体" panose="02010609060101010101" charset="-122"/>
                <a:ea typeface="黑体" panose="02010609060101010101" charset="-122"/>
                <a:cs typeface="黑体" panose="02010609060101010101" charset="-122"/>
              </a:rPr>
              <a:t>完善新型举国体制，</a:t>
            </a:r>
            <a:r>
              <a:rPr lang="zh-CN" altLang="en-US" sz="2400">
                <a:latin typeface="黑体" panose="02010609060101010101" charset="-122"/>
                <a:ea typeface="黑体" panose="02010609060101010101" charset="-122"/>
                <a:cs typeface="黑体" panose="02010609060101010101" charset="-122"/>
                <a:sym typeface="+mn-ea"/>
              </a:rPr>
              <a:t>坚持用联系、发展和全面的观点看问题，</a:t>
            </a:r>
            <a:r>
              <a:rPr lang="zh-CN" altLang="en-US" sz="2400">
                <a:latin typeface="黑体" panose="02010609060101010101" charset="-122"/>
                <a:ea typeface="黑体" panose="02010609060101010101" charset="-122"/>
                <a:cs typeface="黑体" panose="02010609060101010101" charset="-122"/>
              </a:rPr>
              <a:t>以实践为导向，统筹推进经济建设、政治建设、文化建设、社会建设和生态文明建设。坚持科技自立自强，才能在新一轮科技革命和产业变革中赢得主动与未来，</a:t>
            </a:r>
            <a:r>
              <a:rPr lang="zh-CN" altLang="en-US" sz="2400">
                <a:solidFill>
                  <a:srgbClr val="FF0000"/>
                </a:solidFill>
                <a:latin typeface="黑体" panose="02010609060101010101" charset="-122"/>
                <a:ea typeface="黑体" panose="02010609060101010101" charset="-122"/>
                <a:cs typeface="黑体" panose="02010609060101010101" charset="-122"/>
              </a:rPr>
              <a:t>奋力实现全面建成社会主义现代化强国的宏伟目标。</a:t>
            </a:r>
            <a:endParaRPr lang="zh-CN" altLang="en-US" sz="2400">
              <a:solidFill>
                <a:srgbClr val="FF0000"/>
              </a:solidFill>
              <a:latin typeface="黑体" panose="02010609060101010101" charset="-122"/>
              <a:ea typeface="黑体" panose="02010609060101010101" charset="-122"/>
              <a:cs typeface="黑体" panose="02010609060101010101" charset="-122"/>
            </a:endParaRPr>
          </a:p>
          <a:p>
            <a:r>
              <a:rPr lang="en-US" altLang="zh-CN" sz="2400">
                <a:latin typeface="黑体" panose="02010609060101010101" charset="-122"/>
                <a:ea typeface="黑体" panose="02010609060101010101" charset="-122"/>
                <a:cs typeface="黑体" panose="02010609060101010101" charset="-122"/>
              </a:rPr>
              <a:t>    </a:t>
            </a:r>
            <a:endParaRPr lang="en-US" altLang="zh-CN" sz="2400">
              <a:latin typeface="黑体" panose="02010609060101010101" charset="-122"/>
              <a:ea typeface="黑体" panose="02010609060101010101" charset="-122"/>
              <a:cs typeface="黑体" panose="02010609060101010101" charset="-122"/>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6"/>
          <p:cNvSpPr/>
          <p:nvPr>
            <p:custDataLst>
              <p:tags r:id="rId1"/>
            </p:custDataLst>
          </p:nvPr>
        </p:nvSpPr>
        <p:spPr>
          <a:xfrm>
            <a:off x="17779" y="652621"/>
            <a:ext cx="12192000" cy="43348"/>
          </a:xfrm>
          <a:prstGeom prst="rect">
            <a:avLst/>
          </a:prstGeom>
          <a:solidFill>
            <a:srgbClr val="0170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spcBef>
                <a:spcPct val="0"/>
              </a:spcBef>
              <a:spcAft>
                <a:spcPct val="0"/>
              </a:spcAft>
            </a:pPr>
            <a:endParaRPr lang="zh-CN" altLang="en-US" sz="1705">
              <a:solidFill>
                <a:prstClr val="white"/>
              </a:solidFill>
              <a:latin typeface="Arial" panose="020B0604020202020204"/>
              <a:ea typeface="微软雅黑" panose="020B0503020204020204" charset="-122"/>
            </a:endParaRPr>
          </a:p>
        </p:txBody>
      </p:sp>
      <p:sp>
        <p:nvSpPr>
          <p:cNvPr id="8" name="矩形 7"/>
          <p:cNvSpPr/>
          <p:nvPr>
            <p:custDataLst>
              <p:tags r:id="rId2"/>
            </p:custDataLst>
          </p:nvPr>
        </p:nvSpPr>
        <p:spPr>
          <a:xfrm>
            <a:off x="0" y="6472555"/>
            <a:ext cx="12192000" cy="385445"/>
          </a:xfrm>
          <a:prstGeom prst="rect">
            <a:avLst/>
          </a:prstGeom>
          <a:solidFill>
            <a:srgbClr val="0170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spcBef>
                <a:spcPct val="0"/>
              </a:spcBef>
              <a:spcAft>
                <a:spcPct val="0"/>
              </a:spcAft>
            </a:pPr>
            <a:endParaRPr lang="zh-CN" altLang="en-US" sz="1705">
              <a:solidFill>
                <a:prstClr val="white"/>
              </a:solidFill>
              <a:latin typeface="Arial" panose="020B0604020202020204"/>
              <a:ea typeface="微软雅黑" panose="020B0503020204020204" charset="-122"/>
            </a:endParaRPr>
          </a:p>
        </p:txBody>
      </p:sp>
      <p:pic>
        <p:nvPicPr>
          <p:cNvPr id="12" name="图片 11"/>
          <p:cNvPicPr>
            <a:picLocks noChangeAspect="1"/>
          </p:cNvPicPr>
          <p:nvPr>
            <p:custDataLst>
              <p:tags r:id="rId3"/>
            </p:custDataLst>
          </p:nvPr>
        </p:nvPicPr>
        <p:blipFill>
          <a:blip r:embed="rId4">
            <a:biLevel thresh="25000"/>
            <a:extLst>
              <a:ext uri="{28A0092B-C50C-407E-A947-70E740481C1C}">
                <a14:useLocalDpi xmlns:a14="http://schemas.microsoft.com/office/drawing/2010/main" val="0"/>
              </a:ext>
            </a:extLst>
          </a:blip>
          <a:stretch>
            <a:fillRect/>
          </a:stretch>
        </p:blipFill>
        <p:spPr>
          <a:xfrm>
            <a:off x="4671360" y="6376242"/>
            <a:ext cx="2885444" cy="630668"/>
          </a:xfrm>
          <a:prstGeom prst="rect">
            <a:avLst/>
          </a:prstGeom>
        </p:spPr>
      </p:pic>
      <p:sp>
        <p:nvSpPr>
          <p:cNvPr id="2" name="文本框 1"/>
          <p:cNvSpPr txBox="1"/>
          <p:nvPr/>
        </p:nvSpPr>
        <p:spPr>
          <a:xfrm>
            <a:off x="546100" y="1038860"/>
            <a:ext cx="10733405" cy="5337810"/>
          </a:xfrm>
          <a:prstGeom prst="rect">
            <a:avLst/>
          </a:prstGeom>
          <a:noFill/>
        </p:spPr>
        <p:txBody>
          <a:bodyPr wrap="square" rtlCol="0">
            <a:noAutofit/>
          </a:bodyPr>
          <a:p>
            <a:r>
              <a:rPr lang="zh-CN" altLang="en-US" sz="2400">
                <a:latin typeface="黑体" panose="02010609060101010101" charset="-122"/>
                <a:ea typeface="黑体" panose="02010609060101010101" charset="-122"/>
                <a:cs typeface="黑体" panose="02010609060101010101" charset="-122"/>
              </a:rPr>
              <a:t>示例</a:t>
            </a:r>
            <a:r>
              <a:rPr lang="en-US" altLang="zh-CN" sz="2400">
                <a:latin typeface="黑体" panose="02010609060101010101" charset="-122"/>
                <a:ea typeface="黑体" panose="02010609060101010101" charset="-122"/>
                <a:cs typeface="黑体" panose="02010609060101010101" charset="-122"/>
              </a:rPr>
              <a:t>2</a:t>
            </a:r>
            <a:r>
              <a:rPr lang="zh-CN" altLang="en-US" sz="2400">
                <a:latin typeface="黑体" panose="02010609060101010101" charset="-122"/>
                <a:ea typeface="黑体" panose="02010609060101010101" charset="-122"/>
                <a:cs typeface="黑体" panose="02010609060101010101" charset="-122"/>
              </a:rPr>
              <a:t>：</a:t>
            </a:r>
            <a:endParaRPr lang="zh-CN" altLang="en-US" sz="2400">
              <a:latin typeface="黑体" panose="02010609060101010101" charset="-122"/>
              <a:ea typeface="黑体" panose="02010609060101010101" charset="-122"/>
              <a:cs typeface="黑体" panose="02010609060101010101" charset="-122"/>
            </a:endParaRPr>
          </a:p>
          <a:p>
            <a:r>
              <a:rPr lang="en-US" altLang="zh-CN" sz="2400">
                <a:latin typeface="黑体" panose="02010609060101010101" charset="-122"/>
                <a:ea typeface="黑体" panose="02010609060101010101" charset="-122"/>
                <a:cs typeface="黑体" panose="02010609060101010101" charset="-122"/>
              </a:rPr>
              <a:t>    “</a:t>
            </a:r>
            <a:r>
              <a:rPr lang="zh-CN" altLang="en-US" sz="2400">
                <a:latin typeface="黑体" panose="02010609060101010101" charset="-122"/>
                <a:ea typeface="黑体" panose="02010609060101010101" charset="-122"/>
                <a:cs typeface="黑体" panose="02010609060101010101" charset="-122"/>
                <a:sym typeface="+mn-ea"/>
              </a:rPr>
              <a:t>建设社会主义现代化强国，关键在科技自立自强。</a:t>
            </a:r>
            <a:r>
              <a:rPr lang="en-US" altLang="zh-CN" sz="2400">
                <a:latin typeface="黑体" panose="02010609060101010101" charset="-122"/>
                <a:ea typeface="黑体" panose="02010609060101010101" charset="-122"/>
                <a:cs typeface="黑体" panose="02010609060101010101" charset="-122"/>
                <a:sym typeface="+mn-ea"/>
              </a:rPr>
              <a:t>”</a:t>
            </a:r>
            <a:r>
              <a:rPr lang="zh-CN" altLang="en-US" sz="2400">
                <a:latin typeface="黑体" panose="02010609060101010101" charset="-122"/>
                <a:ea typeface="黑体" panose="02010609060101010101" charset="-122"/>
                <a:cs typeface="黑体" panose="02010609060101010101" charset="-122"/>
                <a:sym typeface="+mn-ea"/>
              </a:rPr>
              <a:t>这句话表明，</a:t>
            </a:r>
            <a:r>
              <a:rPr lang="zh-CN" altLang="en-US" sz="2400">
                <a:solidFill>
                  <a:srgbClr val="FF0000"/>
                </a:solidFill>
                <a:latin typeface="黑体" panose="02010609060101010101" charset="-122"/>
                <a:ea typeface="黑体" panose="02010609060101010101" charset="-122"/>
                <a:cs typeface="黑体" panose="02010609060101010101" charset="-122"/>
              </a:rPr>
              <a:t>科技自立自强是社会主义现代化强国的题中应有之义。</a:t>
            </a:r>
            <a:endParaRPr lang="zh-CN" altLang="en-US" sz="2400">
              <a:solidFill>
                <a:srgbClr val="FF0000"/>
              </a:solidFill>
              <a:latin typeface="黑体" panose="02010609060101010101" charset="-122"/>
              <a:ea typeface="黑体" panose="02010609060101010101" charset="-122"/>
              <a:cs typeface="黑体" panose="02010609060101010101" charset="-122"/>
            </a:endParaRPr>
          </a:p>
          <a:p>
            <a:r>
              <a:rPr lang="en-US" altLang="zh-CN" sz="2400">
                <a:latin typeface="黑体" panose="02010609060101010101" charset="-122"/>
                <a:ea typeface="黑体" panose="02010609060101010101" charset="-122"/>
                <a:cs typeface="黑体" panose="02010609060101010101" charset="-122"/>
              </a:rPr>
              <a:t>    </a:t>
            </a:r>
            <a:r>
              <a:rPr lang="zh-CN" altLang="en-US" sz="2400">
                <a:solidFill>
                  <a:srgbClr val="FF0000"/>
                </a:solidFill>
                <a:latin typeface="黑体" panose="02010609060101010101" charset="-122"/>
                <a:ea typeface="黑体" panose="02010609060101010101" charset="-122"/>
                <a:cs typeface="黑体" panose="02010609060101010101" charset="-122"/>
              </a:rPr>
              <a:t>从理论逻辑看</a:t>
            </a:r>
            <a:r>
              <a:rPr lang="zh-CN" altLang="en-US" sz="2400">
                <a:latin typeface="黑体" panose="02010609060101010101" charset="-122"/>
                <a:ea typeface="黑体" panose="02010609060101010101" charset="-122"/>
                <a:cs typeface="黑体" panose="02010609060101010101" charset="-122"/>
              </a:rPr>
              <a:t>，科技自立自强是中国式现代化的必然选择。科技是第一生产力、人才是第一资源、创新是第一动力，深入实施科教兴国战略、人才强国战略、创新驱动发展战略，开辟发展新领域新赛道，不断塑造发展新动能新优势。</a:t>
            </a:r>
            <a:endParaRPr lang="zh-CN" altLang="en-US" sz="2400">
              <a:latin typeface="黑体" panose="02010609060101010101" charset="-122"/>
              <a:ea typeface="黑体" panose="02010609060101010101" charset="-122"/>
              <a:cs typeface="黑体" panose="02010609060101010101" charset="-122"/>
            </a:endParaRPr>
          </a:p>
          <a:p>
            <a:r>
              <a:rPr lang="en-US" altLang="zh-CN" sz="2400">
                <a:latin typeface="黑体" panose="02010609060101010101" charset="-122"/>
                <a:ea typeface="黑体" panose="02010609060101010101" charset="-122"/>
                <a:cs typeface="黑体" panose="02010609060101010101" charset="-122"/>
              </a:rPr>
              <a:t>    </a:t>
            </a:r>
            <a:r>
              <a:rPr lang="zh-CN" altLang="en-US" sz="2400">
                <a:solidFill>
                  <a:srgbClr val="FF0000"/>
                </a:solidFill>
                <a:latin typeface="黑体" panose="02010609060101010101" charset="-122"/>
                <a:ea typeface="黑体" panose="02010609060101010101" charset="-122"/>
                <a:cs typeface="黑体" panose="02010609060101010101" charset="-122"/>
              </a:rPr>
              <a:t>从历史维度来看</a:t>
            </a:r>
            <a:r>
              <a:rPr lang="zh-CN" altLang="en-US" sz="2400">
                <a:latin typeface="黑体" panose="02010609060101010101" charset="-122"/>
                <a:ea typeface="黑体" panose="02010609060101010101" charset="-122"/>
                <a:cs typeface="黑体" panose="02010609060101010101" charset="-122"/>
              </a:rPr>
              <a:t>，关键核心技术“要不来、买不来、讨不来”，缺乏关键核心技术就会落后于人，唯有依靠独立自主、自立更</a:t>
            </a:r>
            <a:r>
              <a:rPr lang="zh-CN" altLang="en-US" sz="2400">
                <a:latin typeface="黑体" panose="02010609060101010101" charset="-122"/>
                <a:ea typeface="黑体" panose="02010609060101010101" charset="-122"/>
                <a:cs typeface="黑体" panose="02010609060101010101" charset="-122"/>
              </a:rPr>
              <a:t>生，才能提升国家综合实力与核心竞争力。</a:t>
            </a:r>
            <a:endParaRPr lang="zh-CN" altLang="en-US" sz="2400">
              <a:latin typeface="黑体" panose="02010609060101010101" charset="-122"/>
              <a:ea typeface="黑体" panose="02010609060101010101" charset="-122"/>
              <a:cs typeface="黑体" panose="02010609060101010101" charset="-122"/>
            </a:endParaRPr>
          </a:p>
          <a:p>
            <a:r>
              <a:rPr lang="en-US" altLang="zh-CN" sz="2400">
                <a:latin typeface="黑体" panose="02010609060101010101" charset="-122"/>
                <a:ea typeface="黑体" panose="02010609060101010101" charset="-122"/>
                <a:cs typeface="黑体" panose="02010609060101010101" charset="-122"/>
              </a:rPr>
              <a:t>    </a:t>
            </a:r>
            <a:r>
              <a:rPr lang="zh-CN" altLang="en-US" sz="2400">
                <a:solidFill>
                  <a:srgbClr val="FF0000"/>
                </a:solidFill>
                <a:latin typeface="黑体" panose="02010609060101010101" charset="-122"/>
                <a:ea typeface="黑体" panose="02010609060101010101" charset="-122"/>
                <a:cs typeface="黑体" panose="02010609060101010101" charset="-122"/>
              </a:rPr>
              <a:t>从实践维度看</a:t>
            </a:r>
            <a:r>
              <a:rPr lang="zh-CN" altLang="en-US" sz="2400">
                <a:latin typeface="黑体" panose="02010609060101010101" charset="-122"/>
                <a:ea typeface="黑体" panose="02010609060101010101" charset="-122"/>
                <a:cs typeface="黑体" panose="02010609060101010101" charset="-122"/>
              </a:rPr>
              <a:t>，科技自立自强是推动中国式现代化的重要支撑。要坚持系统思维、辩证思维，完善新型举国体制，发挥集中力量办大事的制度优势。完整准确全面</a:t>
            </a:r>
            <a:r>
              <a:rPr lang="zh-CN" altLang="en-US" sz="2400">
                <a:latin typeface="黑体" panose="02010609060101010101" charset="-122"/>
                <a:ea typeface="黑体" panose="02010609060101010101" charset="-122"/>
                <a:cs typeface="黑体" panose="02010609060101010101" charset="-122"/>
              </a:rPr>
              <a:t>贯彻新发展理念，以科技创新引领产业发展，推进高质量发展与</a:t>
            </a:r>
            <a:r>
              <a:rPr lang="zh-CN" altLang="en-US" sz="2400">
                <a:latin typeface="黑体" panose="02010609060101010101" charset="-122"/>
                <a:ea typeface="黑体" panose="02010609060101010101" charset="-122"/>
                <a:cs typeface="黑体" panose="02010609060101010101" charset="-122"/>
              </a:rPr>
              <a:t>高水平安全。</a:t>
            </a:r>
            <a:endParaRPr lang="zh-CN" altLang="en-US" sz="2400">
              <a:latin typeface="黑体" panose="02010609060101010101" charset="-122"/>
              <a:ea typeface="黑体" panose="02010609060101010101" charset="-122"/>
              <a:cs typeface="黑体" panose="02010609060101010101" charset="-122"/>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6"/>
          <p:cNvSpPr/>
          <p:nvPr>
            <p:custDataLst>
              <p:tags r:id="rId1"/>
            </p:custDataLst>
          </p:nvPr>
        </p:nvSpPr>
        <p:spPr>
          <a:xfrm>
            <a:off x="17779" y="652621"/>
            <a:ext cx="12192000" cy="43348"/>
          </a:xfrm>
          <a:prstGeom prst="rect">
            <a:avLst/>
          </a:prstGeom>
          <a:solidFill>
            <a:srgbClr val="0170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spcBef>
                <a:spcPct val="0"/>
              </a:spcBef>
              <a:spcAft>
                <a:spcPct val="0"/>
              </a:spcAft>
            </a:pPr>
            <a:endParaRPr lang="zh-CN" altLang="en-US" sz="1705">
              <a:solidFill>
                <a:prstClr val="white"/>
              </a:solidFill>
              <a:latin typeface="Arial" panose="020B0604020202020204"/>
              <a:ea typeface="微软雅黑" panose="020B0503020204020204" charset="-122"/>
            </a:endParaRPr>
          </a:p>
        </p:txBody>
      </p:sp>
      <p:sp>
        <p:nvSpPr>
          <p:cNvPr id="8" name="矩形 7"/>
          <p:cNvSpPr/>
          <p:nvPr>
            <p:custDataLst>
              <p:tags r:id="rId2"/>
            </p:custDataLst>
          </p:nvPr>
        </p:nvSpPr>
        <p:spPr>
          <a:xfrm>
            <a:off x="0" y="6472555"/>
            <a:ext cx="12192000" cy="385445"/>
          </a:xfrm>
          <a:prstGeom prst="rect">
            <a:avLst/>
          </a:prstGeom>
          <a:solidFill>
            <a:srgbClr val="0170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spcBef>
                <a:spcPct val="0"/>
              </a:spcBef>
              <a:spcAft>
                <a:spcPct val="0"/>
              </a:spcAft>
            </a:pPr>
            <a:endParaRPr lang="zh-CN" altLang="en-US" sz="1705">
              <a:solidFill>
                <a:prstClr val="white"/>
              </a:solidFill>
              <a:latin typeface="Arial" panose="020B0604020202020204"/>
              <a:ea typeface="微软雅黑" panose="020B0503020204020204" charset="-122"/>
            </a:endParaRPr>
          </a:p>
        </p:txBody>
      </p:sp>
      <p:pic>
        <p:nvPicPr>
          <p:cNvPr id="12" name="图片 11"/>
          <p:cNvPicPr>
            <a:picLocks noChangeAspect="1"/>
          </p:cNvPicPr>
          <p:nvPr>
            <p:custDataLst>
              <p:tags r:id="rId3"/>
            </p:custDataLst>
          </p:nvPr>
        </p:nvPicPr>
        <p:blipFill>
          <a:blip r:embed="rId4">
            <a:biLevel thresh="25000"/>
            <a:extLst>
              <a:ext uri="{28A0092B-C50C-407E-A947-70E740481C1C}">
                <a14:useLocalDpi xmlns:a14="http://schemas.microsoft.com/office/drawing/2010/main" val="0"/>
              </a:ext>
            </a:extLst>
          </a:blip>
          <a:stretch>
            <a:fillRect/>
          </a:stretch>
        </p:blipFill>
        <p:spPr>
          <a:xfrm>
            <a:off x="4671360" y="6376242"/>
            <a:ext cx="2885444" cy="630668"/>
          </a:xfrm>
          <a:prstGeom prst="rect">
            <a:avLst/>
          </a:prstGeom>
        </p:spPr>
      </p:pic>
      <p:sp>
        <p:nvSpPr>
          <p:cNvPr id="2" name="文本框 1"/>
          <p:cNvSpPr txBox="1"/>
          <p:nvPr/>
        </p:nvSpPr>
        <p:spPr>
          <a:xfrm>
            <a:off x="899795" y="1408430"/>
            <a:ext cx="10560050" cy="4040505"/>
          </a:xfrm>
          <a:prstGeom prst="rect">
            <a:avLst/>
          </a:prstGeom>
          <a:noFill/>
        </p:spPr>
        <p:txBody>
          <a:bodyPr wrap="square" rtlCol="0">
            <a:noAutofit/>
          </a:bodyPr>
          <a:p>
            <a:pPr lvl="0" algn="l">
              <a:buClrTx/>
              <a:buSzTx/>
              <a:buFontTx/>
            </a:pPr>
            <a:r>
              <a:rPr lang="zh-CN" altLang="en-US" sz="2400">
                <a:latin typeface="黑体" panose="02010609060101010101" charset="-122"/>
                <a:ea typeface="黑体" panose="02010609060101010101" charset="-122"/>
                <a:cs typeface="黑体" panose="02010609060101010101" charset="-122"/>
                <a:sym typeface="+mn-ea"/>
              </a:rPr>
              <a:t>拓展答案：</a:t>
            </a:r>
            <a:endParaRPr lang="zh-CN" altLang="en-US" sz="2400">
              <a:latin typeface="黑体" panose="02010609060101010101" charset="-122"/>
              <a:ea typeface="黑体" panose="02010609060101010101" charset="-122"/>
              <a:cs typeface="黑体" panose="02010609060101010101" charset="-122"/>
              <a:sym typeface="+mn-ea"/>
            </a:endParaRPr>
          </a:p>
          <a:p>
            <a:pPr lvl="0" algn="l">
              <a:buClrTx/>
              <a:buSzTx/>
              <a:buFontTx/>
            </a:pPr>
            <a:r>
              <a:rPr lang="zh-CN" altLang="en-US" sz="2400">
                <a:solidFill>
                  <a:srgbClr val="FF0000"/>
                </a:solidFill>
                <a:latin typeface="黑体" panose="02010609060101010101" charset="-122"/>
                <a:ea typeface="黑体" panose="02010609060101010101" charset="-122"/>
                <a:cs typeface="黑体" panose="02010609060101010101" charset="-122"/>
                <a:sym typeface="+mn-ea"/>
              </a:rPr>
              <a:t>政治角度</a:t>
            </a:r>
            <a:r>
              <a:rPr lang="zh-CN" altLang="en-US" sz="2400">
                <a:latin typeface="黑体" panose="02010609060101010101" charset="-122"/>
                <a:ea typeface="黑体" panose="02010609060101010101" charset="-122"/>
                <a:cs typeface="黑体" panose="02010609060101010101" charset="-122"/>
                <a:sym typeface="+mn-ea"/>
              </a:rPr>
              <a:t>：党的领导、制度优势（集中力量办大事）、创新驱动发展、创新是引领发展的第一动力</a:t>
            </a:r>
            <a:endParaRPr lang="zh-CN" altLang="en-US" sz="2400">
              <a:latin typeface="黑体" panose="02010609060101010101" charset="-122"/>
              <a:ea typeface="黑体" panose="02010609060101010101" charset="-122"/>
              <a:cs typeface="黑体" panose="02010609060101010101" charset="-122"/>
              <a:sym typeface="+mn-ea"/>
            </a:endParaRPr>
          </a:p>
          <a:p>
            <a:pPr lvl="0" algn="l">
              <a:buClrTx/>
              <a:buSzTx/>
              <a:buFontTx/>
            </a:pPr>
            <a:endParaRPr lang="zh-CN" altLang="en-US" sz="2400">
              <a:latin typeface="黑体" panose="02010609060101010101" charset="-122"/>
              <a:ea typeface="黑体" panose="02010609060101010101" charset="-122"/>
              <a:cs typeface="黑体" panose="02010609060101010101" charset="-122"/>
              <a:sym typeface="+mn-ea"/>
            </a:endParaRPr>
          </a:p>
          <a:p>
            <a:pPr lvl="0" algn="l">
              <a:buClrTx/>
              <a:buSzTx/>
              <a:buFontTx/>
            </a:pPr>
            <a:r>
              <a:rPr lang="zh-CN" altLang="en-US" sz="2400">
                <a:solidFill>
                  <a:srgbClr val="FF0000"/>
                </a:solidFill>
                <a:latin typeface="黑体" panose="02010609060101010101" charset="-122"/>
                <a:ea typeface="黑体" panose="02010609060101010101" charset="-122"/>
                <a:cs typeface="黑体" panose="02010609060101010101" charset="-122"/>
                <a:sym typeface="+mn-ea"/>
              </a:rPr>
              <a:t>哲学角度</a:t>
            </a:r>
            <a:r>
              <a:rPr lang="zh-CN" altLang="en-US" sz="2400">
                <a:latin typeface="黑体" panose="02010609060101010101" charset="-122"/>
                <a:ea typeface="黑体" panose="02010609060101010101" charset="-122"/>
                <a:cs typeface="黑体" panose="02010609060101010101" charset="-122"/>
                <a:sym typeface="+mn-ea"/>
              </a:rPr>
              <a:t>：主要矛盾、系统观念（系统优化）、联系、创新、生产力</a:t>
            </a:r>
            <a:endParaRPr lang="zh-CN" altLang="en-US" sz="2400">
              <a:latin typeface="黑体" panose="02010609060101010101" charset="-122"/>
              <a:ea typeface="黑体" panose="02010609060101010101" charset="-122"/>
              <a:cs typeface="黑体" panose="02010609060101010101" charset="-122"/>
              <a:sym typeface="+mn-ea"/>
            </a:endParaRPr>
          </a:p>
          <a:p>
            <a:pPr lvl="0" algn="l">
              <a:buClrTx/>
              <a:buSzTx/>
              <a:buFontTx/>
            </a:pPr>
            <a:endParaRPr lang="zh-CN" altLang="en-US" sz="2400">
              <a:latin typeface="黑体" panose="02010609060101010101" charset="-122"/>
              <a:ea typeface="黑体" panose="02010609060101010101" charset="-122"/>
              <a:cs typeface="黑体" panose="02010609060101010101" charset="-122"/>
              <a:sym typeface="+mn-ea"/>
            </a:endParaRPr>
          </a:p>
          <a:p>
            <a:pPr lvl="0" algn="l">
              <a:buClrTx/>
              <a:buSzTx/>
              <a:buFontTx/>
            </a:pPr>
            <a:r>
              <a:rPr lang="zh-CN" altLang="en-US" sz="2400">
                <a:solidFill>
                  <a:srgbClr val="FF0000"/>
                </a:solidFill>
                <a:latin typeface="黑体" panose="02010609060101010101" charset="-122"/>
                <a:ea typeface="黑体" panose="02010609060101010101" charset="-122"/>
                <a:cs typeface="黑体" panose="02010609060101010101" charset="-122"/>
                <a:sym typeface="+mn-ea"/>
              </a:rPr>
              <a:t>现代化角度</a:t>
            </a:r>
            <a:r>
              <a:rPr lang="zh-CN" altLang="en-US" sz="2400">
                <a:latin typeface="黑体" panose="02010609060101010101" charset="-122"/>
                <a:ea typeface="黑体" panose="02010609060101010101" charset="-122"/>
                <a:cs typeface="黑体" panose="02010609060101010101" charset="-122"/>
                <a:sym typeface="+mn-ea"/>
              </a:rPr>
              <a:t>：中国式现代化、高质量发展、新质生产力、教育科技人才</a:t>
            </a:r>
            <a:endParaRPr lang="zh-CN" altLang="en-US" sz="2400">
              <a:latin typeface="黑体" panose="02010609060101010101" charset="-122"/>
              <a:ea typeface="黑体" panose="02010609060101010101" charset="-122"/>
              <a:cs typeface="黑体" panose="02010609060101010101" charset="-122"/>
              <a:sym typeface="+mn-ea"/>
            </a:endParaRPr>
          </a:p>
          <a:p>
            <a:pPr lvl="0" algn="l">
              <a:buClrTx/>
              <a:buSzTx/>
              <a:buFontTx/>
            </a:pPr>
            <a:endParaRPr lang="zh-CN" altLang="en-US" sz="2400">
              <a:latin typeface="黑体" panose="02010609060101010101" charset="-122"/>
              <a:ea typeface="黑体" panose="02010609060101010101" charset="-122"/>
              <a:cs typeface="黑体" panose="02010609060101010101" charset="-122"/>
              <a:sym typeface="+mn-ea"/>
            </a:endParaRPr>
          </a:p>
          <a:p>
            <a:pPr lvl="0" algn="l">
              <a:buClrTx/>
              <a:buSzTx/>
              <a:buFontTx/>
            </a:pPr>
            <a:r>
              <a:rPr lang="zh-CN" altLang="en-US" sz="2400">
                <a:solidFill>
                  <a:srgbClr val="FF0000"/>
                </a:solidFill>
                <a:latin typeface="黑体" panose="02010609060101010101" charset="-122"/>
                <a:ea typeface="黑体" panose="02010609060101010101" charset="-122"/>
                <a:cs typeface="黑体" panose="02010609060101010101" charset="-122"/>
                <a:sym typeface="+mn-ea"/>
              </a:rPr>
              <a:t>国际与安全</a:t>
            </a:r>
            <a:r>
              <a:rPr lang="zh-CN" altLang="en-US" sz="2400">
                <a:latin typeface="黑体" panose="02010609060101010101" charset="-122"/>
                <a:ea typeface="黑体" panose="02010609060101010101" charset="-122"/>
                <a:cs typeface="黑体" panose="02010609060101010101" charset="-122"/>
                <a:sym typeface="+mn-ea"/>
              </a:rPr>
              <a:t>：国际竞争实质、关键核心技术自主可控、国家安全</a:t>
            </a:r>
            <a:endParaRPr lang="zh-CN" altLang="en-US" sz="2400">
              <a:latin typeface="黑体" panose="02010609060101010101" charset="-122"/>
              <a:ea typeface="黑体" panose="02010609060101010101" charset="-122"/>
              <a:cs typeface="黑体" panose="02010609060101010101" charset="-122"/>
              <a:sym typeface="+mn-ea"/>
            </a:endParaRPr>
          </a:p>
          <a:p>
            <a:pPr lvl="0" algn="l">
              <a:buClrTx/>
              <a:buSzTx/>
              <a:buFontTx/>
            </a:pPr>
            <a:endParaRPr lang="zh-CN" altLang="en-US" sz="2400">
              <a:latin typeface="黑体" panose="02010609060101010101" charset="-122"/>
              <a:ea typeface="黑体" panose="02010609060101010101" charset="-122"/>
              <a:cs typeface="黑体" panose="02010609060101010101" charset="-122"/>
              <a:sym typeface="+mn-ea"/>
            </a:endParaRPr>
          </a:p>
          <a:p>
            <a:pPr lvl="0" algn="l">
              <a:buClrTx/>
              <a:buSzTx/>
              <a:buFontTx/>
            </a:pPr>
            <a:r>
              <a:rPr lang="zh-CN" altLang="en-US" sz="2400">
                <a:solidFill>
                  <a:srgbClr val="FF0000"/>
                </a:solidFill>
                <a:latin typeface="黑体" panose="02010609060101010101" charset="-122"/>
                <a:ea typeface="黑体" panose="02010609060101010101" charset="-122"/>
                <a:cs typeface="黑体" panose="02010609060101010101" charset="-122"/>
                <a:sym typeface="+mn-ea"/>
              </a:rPr>
              <a:t>逻辑学</a:t>
            </a:r>
            <a:r>
              <a:rPr lang="zh-CN" altLang="en-US" sz="2400">
                <a:latin typeface="黑体" panose="02010609060101010101" charset="-122"/>
                <a:ea typeface="黑体" panose="02010609060101010101" charset="-122"/>
                <a:cs typeface="黑体" panose="02010609060101010101" charset="-122"/>
                <a:sym typeface="+mn-ea"/>
              </a:rPr>
              <a:t>：超前思维</a:t>
            </a:r>
            <a:endParaRPr lang="zh-CN" altLang="en-US" sz="2400">
              <a:latin typeface="黑体" panose="02010609060101010101" charset="-122"/>
              <a:ea typeface="黑体" panose="02010609060101010101" charset="-122"/>
              <a:cs typeface="黑体" panose="02010609060101010101" charset="-122"/>
              <a:sym typeface="+mn-ea"/>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 name="图片 10" descr="11313391938011"/>
          <p:cNvPicPr>
            <a:picLocks noChangeAspect="1"/>
          </p:cNvPicPr>
          <p:nvPr/>
        </p:nvPicPr>
        <p:blipFill>
          <a:blip r:embed="rId1"/>
          <a:stretch>
            <a:fillRect/>
          </a:stretch>
        </p:blipFill>
        <p:spPr>
          <a:xfrm>
            <a:off x="1257300" y="803910"/>
            <a:ext cx="8634095" cy="5674995"/>
          </a:xfrm>
          <a:prstGeom prst="rect">
            <a:avLst/>
          </a:prstGeom>
        </p:spPr>
      </p:pic>
      <p:sp>
        <p:nvSpPr>
          <p:cNvPr id="2" name="文本框 1"/>
          <p:cNvSpPr txBox="1"/>
          <p:nvPr/>
        </p:nvSpPr>
        <p:spPr>
          <a:xfrm>
            <a:off x="10304780" y="1787525"/>
            <a:ext cx="4064000" cy="368300"/>
          </a:xfrm>
          <a:prstGeom prst="rect">
            <a:avLst/>
          </a:prstGeom>
          <a:noFill/>
        </p:spPr>
        <p:txBody>
          <a:bodyPr wrap="square" rtlCol="0">
            <a:spAutoFit/>
          </a:bodyPr>
          <a:p>
            <a:r>
              <a:rPr lang="zh-CN" altLang="en-US">
                <a:solidFill>
                  <a:srgbClr val="FF0000"/>
                </a:solidFill>
              </a:rPr>
              <a:t>水平四：</a:t>
            </a:r>
            <a:r>
              <a:rPr lang="en-US" altLang="zh-CN">
                <a:solidFill>
                  <a:srgbClr val="FF0000"/>
                </a:solidFill>
              </a:rPr>
              <a:t>9</a:t>
            </a:r>
            <a:r>
              <a:rPr lang="zh-CN" altLang="en-US">
                <a:solidFill>
                  <a:srgbClr val="FF0000"/>
                </a:solidFill>
              </a:rPr>
              <a:t>分</a:t>
            </a:r>
            <a:endParaRPr lang="zh-CN" altLang="en-US">
              <a:solidFill>
                <a:srgbClr val="FF0000"/>
              </a:solidFill>
            </a:endParaRPr>
          </a:p>
        </p:txBody>
      </p:sp>
      <p:sp>
        <p:nvSpPr>
          <p:cNvPr id="3" name="标题 3"/>
          <p:cNvSpPr txBox="1"/>
          <p:nvPr/>
        </p:nvSpPr>
        <p:spPr>
          <a:xfrm>
            <a:off x="299720" y="117475"/>
            <a:ext cx="3070225" cy="750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三、典型示例</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6"/>
          <p:cNvSpPr/>
          <p:nvPr>
            <p:custDataLst>
              <p:tags r:id="rId1"/>
            </p:custDataLst>
          </p:nvPr>
        </p:nvSpPr>
        <p:spPr>
          <a:xfrm>
            <a:off x="17779" y="652621"/>
            <a:ext cx="12192000" cy="43348"/>
          </a:xfrm>
          <a:prstGeom prst="rect">
            <a:avLst/>
          </a:prstGeom>
          <a:solidFill>
            <a:srgbClr val="0170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spcBef>
                <a:spcPct val="0"/>
              </a:spcBef>
              <a:spcAft>
                <a:spcPct val="0"/>
              </a:spcAft>
            </a:pPr>
            <a:endParaRPr lang="zh-CN" altLang="en-US" sz="1705">
              <a:solidFill>
                <a:prstClr val="white"/>
              </a:solidFill>
              <a:latin typeface="Arial" panose="020B0604020202020204"/>
              <a:ea typeface="微软雅黑" panose="020B0503020204020204" charset="-122"/>
            </a:endParaRPr>
          </a:p>
        </p:txBody>
      </p:sp>
      <p:sp>
        <p:nvSpPr>
          <p:cNvPr id="2" name="文本框 1"/>
          <p:cNvSpPr txBox="1"/>
          <p:nvPr/>
        </p:nvSpPr>
        <p:spPr>
          <a:xfrm>
            <a:off x="10304780" y="1787525"/>
            <a:ext cx="1819910" cy="2030095"/>
          </a:xfrm>
          <a:prstGeom prst="rect">
            <a:avLst/>
          </a:prstGeom>
          <a:noFill/>
        </p:spPr>
        <p:txBody>
          <a:bodyPr wrap="square" rtlCol="0">
            <a:spAutoFit/>
          </a:bodyPr>
          <a:p>
            <a:r>
              <a:rPr lang="zh-CN" altLang="en-US">
                <a:solidFill>
                  <a:srgbClr val="FF0000"/>
                </a:solidFill>
              </a:rPr>
              <a:t>水平三：</a:t>
            </a:r>
            <a:r>
              <a:rPr lang="en-US" altLang="zh-CN">
                <a:solidFill>
                  <a:srgbClr val="FF0000"/>
                </a:solidFill>
              </a:rPr>
              <a:t>5</a:t>
            </a:r>
            <a:r>
              <a:rPr lang="zh-CN" altLang="en-US">
                <a:solidFill>
                  <a:srgbClr val="FF0000"/>
                </a:solidFill>
              </a:rPr>
              <a:t>分</a:t>
            </a:r>
            <a:endParaRPr lang="zh-CN" altLang="en-US">
              <a:solidFill>
                <a:srgbClr val="FF0000"/>
              </a:solidFill>
            </a:endParaRPr>
          </a:p>
          <a:p>
            <a:r>
              <a:rPr lang="zh-CN" altLang="en-US">
                <a:solidFill>
                  <a:srgbClr val="FF0000"/>
                </a:solidFill>
              </a:rPr>
              <a:t>没有清晰的阐释高水平科技自立自强与现代化强国的关系，主要指向如何推动科技创新</a:t>
            </a:r>
            <a:endParaRPr lang="zh-CN" altLang="en-US">
              <a:solidFill>
                <a:srgbClr val="FF0000"/>
              </a:solidFill>
            </a:endParaRPr>
          </a:p>
        </p:txBody>
      </p:sp>
      <p:pic>
        <p:nvPicPr>
          <p:cNvPr id="3" name="图片 2"/>
          <p:cNvPicPr>
            <a:picLocks noChangeAspect="1"/>
          </p:cNvPicPr>
          <p:nvPr/>
        </p:nvPicPr>
        <p:blipFill>
          <a:blip r:embed="rId2"/>
          <a:stretch>
            <a:fillRect/>
          </a:stretch>
        </p:blipFill>
        <p:spPr>
          <a:xfrm>
            <a:off x="1029970" y="1302385"/>
            <a:ext cx="8623300" cy="4380230"/>
          </a:xfrm>
          <a:prstGeom prst="rect">
            <a:avLst/>
          </a:prstGeom>
          <a:noFill/>
          <a:ln>
            <a:noFill/>
          </a:ln>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527050" y="1272540"/>
            <a:ext cx="7943850" cy="4312285"/>
          </a:xfrm>
          <a:prstGeom prst="rect">
            <a:avLst/>
          </a:prstGeom>
          <a:noFill/>
        </p:spPr>
        <p:txBody>
          <a:bodyPr wrap="square" rtlCol="0">
            <a:noAutofit/>
          </a:bodyPr>
          <a:p>
            <a:pPr lvl="0" algn="l">
              <a:buClrTx/>
              <a:buSzTx/>
              <a:buFontTx/>
            </a:pPr>
            <a:r>
              <a:rPr lang="zh-CN" altLang="en-US" sz="2400">
                <a:latin typeface="黑体" panose="02010609060101010101" charset="-122"/>
                <a:ea typeface="黑体" panose="02010609060101010101" charset="-122"/>
                <a:cs typeface="黑体" panose="02010609060101010101" charset="-122"/>
                <a:sym typeface="+mn-ea"/>
              </a:rPr>
              <a:t>1.</a:t>
            </a:r>
            <a:r>
              <a:rPr lang="zh-CN" altLang="en-US" sz="2400">
                <a:latin typeface="黑体" panose="02010609060101010101" charset="-122"/>
                <a:ea typeface="黑体" panose="02010609060101010101" charset="-122"/>
                <a:cs typeface="黑体" panose="02010609060101010101" charset="-122"/>
                <a:sym typeface="+mn-ea"/>
              </a:rPr>
              <a:t>存在空白卷，书写潦草，反映出学生作答时间分配不合理，速度慢、完卷率低。</a:t>
            </a:r>
            <a:endParaRPr lang="zh-CN" altLang="en-US" sz="2400">
              <a:latin typeface="黑体" panose="02010609060101010101" charset="-122"/>
              <a:ea typeface="黑体" panose="02010609060101010101" charset="-122"/>
              <a:cs typeface="黑体" panose="02010609060101010101" charset="-122"/>
              <a:sym typeface="+mn-ea"/>
            </a:endParaRPr>
          </a:p>
          <a:p>
            <a:pPr lvl="0" algn="l">
              <a:buClrTx/>
              <a:buSzTx/>
              <a:buFontTx/>
            </a:pPr>
            <a:r>
              <a:rPr lang="zh-CN" altLang="en-US" sz="2400">
                <a:latin typeface="黑体" panose="02010609060101010101" charset="-122"/>
                <a:ea typeface="黑体" panose="02010609060101010101" charset="-122"/>
                <a:cs typeface="黑体" panose="02010609060101010101" charset="-122"/>
                <a:sym typeface="+mn-ea"/>
              </a:rPr>
              <a:t>2.</a:t>
            </a:r>
            <a:r>
              <a:rPr lang="zh-CN" altLang="en-US" sz="2400">
                <a:latin typeface="黑体" panose="02010609060101010101" charset="-122"/>
                <a:ea typeface="黑体" panose="02010609060101010101" charset="-122"/>
                <a:cs typeface="黑体" panose="02010609060101010101" charset="-122"/>
                <a:sym typeface="+mn-ea"/>
              </a:rPr>
              <a:t>部分学生有按照</a:t>
            </a:r>
            <a:r>
              <a:rPr lang="zh-CN" altLang="en-US" sz="2400">
                <a:latin typeface="黑体" panose="02010609060101010101" charset="-122"/>
                <a:ea typeface="黑体" panose="02010609060101010101" charset="-122"/>
                <a:cs typeface="黑体" panose="02010609060101010101" charset="-122"/>
                <a:sym typeface="+mn-ea"/>
              </a:rPr>
              <a:t>“是—为—怎”</a:t>
            </a:r>
            <a:r>
              <a:rPr lang="zh-CN" altLang="en-US" sz="2400">
                <a:latin typeface="黑体" panose="02010609060101010101" charset="-122"/>
                <a:ea typeface="黑体" panose="02010609060101010101" charset="-122"/>
                <a:cs typeface="黑体" panose="02010609060101010101" charset="-122"/>
                <a:sym typeface="+mn-ea"/>
              </a:rPr>
              <a:t>作答的意识，但作答无分段，逻辑混乱，堆砌知识</a:t>
            </a:r>
            <a:r>
              <a:rPr lang="zh-CN" altLang="en-US" sz="2400">
                <a:latin typeface="黑体" panose="02010609060101010101" charset="-122"/>
                <a:ea typeface="黑体" panose="02010609060101010101" charset="-122"/>
                <a:cs typeface="黑体" panose="02010609060101010101" charset="-122"/>
                <a:sym typeface="+mn-ea"/>
              </a:rPr>
              <a:t>，</a:t>
            </a:r>
            <a:r>
              <a:rPr lang="zh-CN" altLang="en-US" sz="2400">
                <a:latin typeface="黑体" panose="02010609060101010101" charset="-122"/>
                <a:ea typeface="黑体" panose="02010609060101010101" charset="-122"/>
                <a:cs typeface="黑体" panose="02010609060101010101" charset="-122"/>
                <a:sym typeface="+mn-ea"/>
              </a:rPr>
              <a:t>不成体系。还有部分学生</a:t>
            </a:r>
            <a:r>
              <a:rPr lang="zh-CN" altLang="en-US" sz="2400">
                <a:latin typeface="黑体" panose="02010609060101010101" charset="-122"/>
                <a:ea typeface="黑体" panose="02010609060101010101" charset="-122"/>
                <a:cs typeface="黑体" panose="02010609060101010101" charset="-122"/>
                <a:sym typeface="+mn-ea"/>
              </a:rPr>
              <a:t>无结构，只对应材料罗列知识。</a:t>
            </a:r>
            <a:endParaRPr lang="zh-CN" altLang="en-US" sz="2400">
              <a:latin typeface="黑体" panose="02010609060101010101" charset="-122"/>
              <a:ea typeface="黑体" panose="02010609060101010101" charset="-122"/>
              <a:cs typeface="黑体" panose="02010609060101010101" charset="-122"/>
              <a:sym typeface="+mn-ea"/>
            </a:endParaRPr>
          </a:p>
          <a:p>
            <a:pPr lvl="0" algn="l">
              <a:buClrTx/>
              <a:buSzTx/>
              <a:buFontTx/>
            </a:pPr>
            <a:r>
              <a:rPr lang="zh-CN" altLang="en-US" sz="2400">
                <a:latin typeface="黑体" panose="02010609060101010101" charset="-122"/>
                <a:ea typeface="黑体" panose="02010609060101010101" charset="-122"/>
                <a:cs typeface="黑体" panose="02010609060101010101" charset="-122"/>
                <a:sym typeface="+mn-ea"/>
              </a:rPr>
              <a:t>3.</a:t>
            </a:r>
            <a:r>
              <a:rPr lang="zh-CN" altLang="en-US" sz="2400">
                <a:latin typeface="黑体" panose="02010609060101010101" charset="-122"/>
                <a:ea typeface="黑体" panose="02010609060101010101" charset="-122"/>
                <a:cs typeface="黑体" panose="02010609060101010101" charset="-122"/>
                <a:sym typeface="+mn-ea"/>
              </a:rPr>
              <a:t>没有</a:t>
            </a:r>
            <a:r>
              <a:rPr lang="zh-CN" altLang="en-US" sz="2400">
                <a:latin typeface="黑体" panose="02010609060101010101" charset="-122"/>
                <a:ea typeface="黑体" panose="02010609060101010101" charset="-122"/>
                <a:cs typeface="黑体" panose="02010609060101010101" charset="-122"/>
                <a:sym typeface="+mn-ea"/>
              </a:rPr>
              <a:t>围绕</a:t>
            </a:r>
            <a:r>
              <a:rPr lang="zh-CN" altLang="en-US" sz="2400">
                <a:latin typeface="黑体" panose="02010609060101010101" charset="-122"/>
                <a:ea typeface="黑体" panose="02010609060101010101" charset="-122"/>
                <a:cs typeface="黑体" panose="02010609060101010101" charset="-122"/>
                <a:sym typeface="+mn-ea"/>
              </a:rPr>
              <a:t>高水平</a:t>
            </a:r>
            <a:r>
              <a:rPr lang="zh-CN" altLang="en-US" sz="2400">
                <a:latin typeface="黑体" panose="02010609060101010101" charset="-122"/>
                <a:ea typeface="黑体" panose="02010609060101010101" charset="-122"/>
                <a:cs typeface="黑体" panose="02010609060101010101" charset="-122"/>
                <a:sym typeface="+mn-ea"/>
              </a:rPr>
              <a:t>科技自立自强与中国式现代化的关系作答，偏谈意义或只写做法，答非所问。</a:t>
            </a:r>
            <a:endParaRPr lang="zh-CN" altLang="en-US" sz="2400">
              <a:latin typeface="黑体" panose="02010609060101010101" charset="-122"/>
              <a:ea typeface="黑体" panose="02010609060101010101" charset="-122"/>
              <a:cs typeface="黑体" panose="02010609060101010101" charset="-122"/>
              <a:sym typeface="+mn-ea"/>
            </a:endParaRPr>
          </a:p>
          <a:p>
            <a:pPr lvl="0" algn="l">
              <a:buClrTx/>
              <a:buSzTx/>
              <a:buFontTx/>
            </a:pPr>
            <a:r>
              <a:rPr lang="zh-CN" altLang="en-US" sz="2400">
                <a:latin typeface="黑体" panose="02010609060101010101" charset="-122"/>
                <a:ea typeface="黑体" panose="02010609060101010101" charset="-122"/>
                <a:cs typeface="黑体" panose="02010609060101010101" charset="-122"/>
                <a:sym typeface="+mn-ea"/>
              </a:rPr>
              <a:t>4.</a:t>
            </a:r>
            <a:r>
              <a:rPr lang="zh-CN" altLang="en-US" sz="2400">
                <a:latin typeface="黑体" panose="02010609060101010101" charset="-122"/>
                <a:ea typeface="黑体" panose="02010609060101010101" charset="-122"/>
                <a:cs typeface="黑体" panose="02010609060101010101" charset="-122"/>
                <a:sym typeface="+mn-ea"/>
              </a:rPr>
              <a:t>部分学生角度单一、缺乏跨模块整合思维，知识不理解（新型举国体制</a:t>
            </a:r>
            <a:r>
              <a:rPr lang="zh-CN" altLang="en-US" sz="2400">
                <a:latin typeface="黑体" panose="02010609060101010101" charset="-122"/>
                <a:ea typeface="黑体" panose="02010609060101010101" charset="-122"/>
                <a:cs typeface="黑体" panose="02010609060101010101" charset="-122"/>
                <a:sym typeface="+mn-ea"/>
              </a:rPr>
              <a:t>、政府科学立法、纲要提供法律支撑等</a:t>
            </a:r>
            <a:r>
              <a:rPr lang="zh-CN" altLang="en-US" sz="2400">
                <a:latin typeface="黑体" panose="02010609060101010101" charset="-122"/>
                <a:ea typeface="黑体" panose="02010609060101010101" charset="-122"/>
                <a:cs typeface="黑体" panose="02010609060101010101" charset="-122"/>
                <a:sym typeface="+mn-ea"/>
              </a:rPr>
              <a:t>）</a:t>
            </a:r>
            <a:r>
              <a:rPr lang="zh-CN" altLang="en-US" sz="2400">
                <a:latin typeface="黑体" panose="02010609060101010101" charset="-122"/>
                <a:ea typeface="黑体" panose="02010609060101010101" charset="-122"/>
                <a:cs typeface="黑体" panose="02010609060101010101" charset="-122"/>
                <a:sym typeface="+mn-ea"/>
              </a:rPr>
              <a:t>。</a:t>
            </a:r>
            <a:endParaRPr lang="zh-CN" altLang="en-US" sz="2400">
              <a:latin typeface="黑体" panose="02010609060101010101" charset="-122"/>
              <a:ea typeface="黑体" panose="02010609060101010101" charset="-122"/>
              <a:cs typeface="黑体" panose="02010609060101010101" charset="-122"/>
              <a:sym typeface="+mn-ea"/>
            </a:endParaRPr>
          </a:p>
          <a:p>
            <a:pPr lvl="0" algn="l">
              <a:buClrTx/>
              <a:buSzTx/>
              <a:buFontTx/>
            </a:pPr>
            <a:r>
              <a:rPr lang="zh-CN" altLang="en-US" sz="2400">
                <a:latin typeface="黑体" panose="02010609060101010101" charset="-122"/>
                <a:ea typeface="黑体" panose="02010609060101010101" charset="-122"/>
                <a:cs typeface="黑体" panose="02010609060101010101" charset="-122"/>
                <a:sym typeface="+mn-ea"/>
              </a:rPr>
              <a:t>5.</a:t>
            </a:r>
            <a:r>
              <a:rPr lang="zh-CN" altLang="en-US" sz="2400">
                <a:latin typeface="黑体" panose="02010609060101010101" charset="-122"/>
                <a:ea typeface="黑体" panose="02010609060101010101" charset="-122"/>
                <a:cs typeface="黑体" panose="02010609060101010101" charset="-122"/>
                <a:sym typeface="+mn-ea"/>
              </a:rPr>
              <a:t>理论与材料脱节，只简单罗列知识，论证不聚焦、不完整，深度不足。</a:t>
            </a:r>
            <a:endParaRPr lang="zh-CN" altLang="en-US" sz="2400">
              <a:latin typeface="黑体" panose="02010609060101010101" charset="-122"/>
              <a:ea typeface="黑体" panose="02010609060101010101" charset="-122"/>
              <a:cs typeface="黑体" panose="02010609060101010101" charset="-122"/>
              <a:sym typeface="+mn-ea"/>
            </a:endParaRPr>
          </a:p>
        </p:txBody>
      </p:sp>
      <p:sp>
        <p:nvSpPr>
          <p:cNvPr id="5" name="文本框 4"/>
          <p:cNvSpPr txBox="1"/>
          <p:nvPr/>
        </p:nvSpPr>
        <p:spPr>
          <a:xfrm>
            <a:off x="9006840" y="2657475"/>
            <a:ext cx="2761615" cy="2030095"/>
          </a:xfrm>
          <a:prstGeom prst="rect">
            <a:avLst/>
          </a:prstGeom>
          <a:solidFill>
            <a:schemeClr val="accent1">
              <a:lumMod val="20000"/>
              <a:lumOff val="80000"/>
            </a:schemeClr>
          </a:solidFill>
        </p:spPr>
        <p:style>
          <a:lnRef idx="0">
            <a:srgbClr val="FFFFFF"/>
          </a:lnRef>
          <a:fillRef idx="1">
            <a:schemeClr val="accent2"/>
          </a:fillRef>
          <a:effectRef idx="0">
            <a:srgbClr val="FFFFFF"/>
          </a:effectRef>
          <a:fontRef idx="minor">
            <a:schemeClr val="lt1"/>
          </a:fontRef>
        </p:style>
        <p:txBody>
          <a:bodyPr wrap="square" rtlCol="0">
            <a:spAutoFit/>
          </a:bodyPr>
          <a:p>
            <a:r>
              <a:rPr lang="zh-CN" altLang="en-US">
                <a:solidFill>
                  <a:srgbClr val="C00000"/>
                </a:solidFill>
                <a:latin typeface="黑体" panose="02010609060101010101" charset="-122"/>
                <a:ea typeface="黑体" panose="02010609060101010101" charset="-122"/>
                <a:cs typeface="黑体" panose="02010609060101010101" charset="-122"/>
                <a:sym typeface="+mn-ea"/>
              </a:rPr>
              <a:t>新型举国体制</a:t>
            </a:r>
            <a:r>
              <a:rPr lang="zh-CN" altLang="en-US">
                <a:solidFill>
                  <a:schemeClr val="tx1"/>
                </a:solidFill>
              </a:rPr>
              <a:t>是社会主义市场经济条件下，政府引导、市场驱动、社会协同，集中力量攻克关键核心技术、实现科技自立自强的创新体制，是集中力量办大事制度优势的新体现。</a:t>
            </a:r>
            <a:endParaRPr lang="zh-CN" altLang="en-US">
              <a:solidFill>
                <a:schemeClr val="tx1"/>
              </a:solidFill>
            </a:endParaRPr>
          </a:p>
        </p:txBody>
      </p:sp>
      <p:cxnSp>
        <p:nvCxnSpPr>
          <p:cNvPr id="6" name="直接箭头连接符 5"/>
          <p:cNvCxnSpPr/>
          <p:nvPr/>
        </p:nvCxnSpPr>
        <p:spPr>
          <a:xfrm flipV="1">
            <a:off x="3369310" y="4244975"/>
            <a:ext cx="5393690" cy="59055"/>
          </a:xfrm>
          <a:prstGeom prst="straightConnector1">
            <a:avLst/>
          </a:prstGeom>
          <a:ln>
            <a:solidFill>
              <a:schemeClr val="accent2"/>
            </a:solidFill>
            <a:tailEnd type="arrow"/>
          </a:ln>
        </p:spPr>
        <p:style>
          <a:lnRef idx="2">
            <a:schemeClr val="accent1"/>
          </a:lnRef>
          <a:fillRef idx="0">
            <a:srgbClr val="FFFFFF"/>
          </a:fillRef>
          <a:effectRef idx="0">
            <a:srgbClr val="FFFFFF"/>
          </a:effectRef>
          <a:fontRef idx="minor">
            <a:schemeClr val="tx1"/>
          </a:fontRef>
        </p:style>
      </p:cxnSp>
      <p:sp>
        <p:nvSpPr>
          <p:cNvPr id="2" name="标题 3"/>
          <p:cNvSpPr txBox="1"/>
          <p:nvPr/>
        </p:nvSpPr>
        <p:spPr>
          <a:xfrm>
            <a:off x="288925" y="0"/>
            <a:ext cx="4175760" cy="750570"/>
          </a:xfrm>
          <a:prstGeom prst="rect">
            <a:avLst/>
          </a:prstGeom>
        </p:spPr>
        <p:txBody>
          <a:bodyPr vert="horz" lIns="91440" tIns="45720" rIns="91440" bIns="4572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四、学生问题及建议</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88925" y="1183640"/>
            <a:ext cx="11303635" cy="4622800"/>
          </a:xfrm>
          <a:prstGeom prst="rect">
            <a:avLst/>
          </a:prstGeom>
          <a:noFill/>
        </p:spPr>
        <p:txBody>
          <a:bodyPr wrap="square" rtlCol="0" anchor="t">
            <a:noAutofit/>
          </a:bodyPr>
          <a:p>
            <a:pPr lvl="0" algn="l">
              <a:lnSpc>
                <a:spcPct val="150000"/>
              </a:lnSpc>
              <a:buClrTx/>
              <a:buSzTx/>
              <a:buFontTx/>
            </a:pPr>
            <a:r>
              <a:rPr lang="zh-CN" altLang="en-US" sz="2400">
                <a:latin typeface="黑体" panose="02010609060101010101" charset="-122"/>
                <a:ea typeface="黑体" panose="02010609060101010101" charset="-122"/>
                <a:cs typeface="黑体" panose="02010609060101010101" charset="-122"/>
                <a:sym typeface="+mn-ea"/>
              </a:rPr>
              <a:t>1.</a:t>
            </a:r>
            <a:r>
              <a:rPr lang="zh-CN" altLang="en-US" sz="2400">
                <a:latin typeface="黑体" panose="02010609060101010101" charset="-122"/>
                <a:ea typeface="黑体" panose="02010609060101010101" charset="-122"/>
                <a:cs typeface="黑体" panose="02010609060101010101" charset="-122"/>
                <a:sym typeface="+mn-ea"/>
              </a:rPr>
              <a:t>强化限时训练，优化答题时间分配，</a:t>
            </a:r>
            <a:r>
              <a:rPr lang="zh-CN" altLang="en-US" sz="2400">
                <a:latin typeface="黑体" panose="02010609060101010101" charset="-122"/>
                <a:ea typeface="黑体" panose="02010609060101010101" charset="-122"/>
                <a:cs typeface="黑体" panose="02010609060101010101" charset="-122"/>
                <a:sym typeface="+mn-ea"/>
              </a:rPr>
              <a:t>难题不纠结，</a:t>
            </a:r>
            <a:r>
              <a:rPr lang="zh-CN" altLang="en-US" sz="2400">
                <a:latin typeface="黑体" panose="02010609060101010101" charset="-122"/>
                <a:ea typeface="黑体" panose="02010609060101010101" charset="-122"/>
                <a:cs typeface="黑体" panose="02010609060101010101" charset="-122"/>
                <a:sym typeface="+mn-ea"/>
              </a:rPr>
              <a:t>重点提升书写速度与完卷意识，减少空白卷。</a:t>
            </a:r>
            <a:endParaRPr lang="zh-CN" altLang="en-US" sz="2400">
              <a:latin typeface="黑体" panose="02010609060101010101" charset="-122"/>
              <a:ea typeface="黑体" panose="02010609060101010101" charset="-122"/>
              <a:cs typeface="黑体" panose="02010609060101010101" charset="-122"/>
              <a:sym typeface="+mn-ea"/>
            </a:endParaRPr>
          </a:p>
          <a:p>
            <a:pPr lvl="0" algn="l">
              <a:lnSpc>
                <a:spcPct val="150000"/>
              </a:lnSpc>
              <a:buClrTx/>
              <a:buSzTx/>
              <a:buFontTx/>
            </a:pPr>
            <a:r>
              <a:rPr lang="en-US" altLang="zh-CN" sz="2400">
                <a:latin typeface="黑体" panose="02010609060101010101" charset="-122"/>
                <a:ea typeface="黑体" panose="02010609060101010101" charset="-122"/>
                <a:cs typeface="黑体" panose="02010609060101010101" charset="-122"/>
                <a:sym typeface="+mn-ea"/>
              </a:rPr>
              <a:t>2</a:t>
            </a:r>
            <a:r>
              <a:rPr lang="en-US" altLang="zh-CN" sz="2400">
                <a:latin typeface="黑体" panose="02010609060101010101" charset="-122"/>
                <a:ea typeface="黑体" panose="02010609060101010101" charset="-122"/>
                <a:cs typeface="黑体" panose="02010609060101010101" charset="-122"/>
                <a:sym typeface="+mn-ea"/>
              </a:rPr>
              <a:t>.</a:t>
            </a:r>
            <a:r>
              <a:rPr lang="zh-CN" altLang="en-US" sz="2400">
                <a:latin typeface="黑体" panose="02010609060101010101" charset="-122"/>
                <a:ea typeface="黑体" panose="02010609060101010101" charset="-122"/>
                <a:cs typeface="黑体" panose="02010609060101010101" charset="-122"/>
                <a:sym typeface="+mn-ea"/>
              </a:rPr>
              <a:t>规范答题结构，</a:t>
            </a:r>
            <a:r>
              <a:rPr lang="zh-CN" altLang="en-US" sz="2400">
                <a:latin typeface="黑体" panose="02010609060101010101" charset="-122"/>
                <a:ea typeface="黑体" panose="02010609060101010101" charset="-122"/>
                <a:cs typeface="黑体" panose="02010609060101010101" charset="-122"/>
                <a:sym typeface="+mn-ea"/>
              </a:rPr>
              <a:t>提醒学生</a:t>
            </a:r>
            <a:r>
              <a:rPr lang="zh-CN" altLang="en-US" sz="2400">
                <a:latin typeface="黑体" panose="02010609060101010101" charset="-122"/>
                <a:ea typeface="黑体" panose="02010609060101010101" charset="-122"/>
                <a:cs typeface="黑体" panose="02010609060101010101" charset="-122"/>
                <a:sym typeface="+mn-ea"/>
              </a:rPr>
              <a:t>分段，训练“总—分—总”</a:t>
            </a:r>
            <a:r>
              <a:rPr lang="zh-CN" altLang="en-US" sz="2400">
                <a:latin typeface="黑体" panose="02010609060101010101" charset="-122"/>
                <a:ea typeface="黑体" panose="02010609060101010101" charset="-122"/>
                <a:cs typeface="黑体" panose="02010609060101010101" charset="-122"/>
                <a:sym typeface="+mn-ea"/>
              </a:rPr>
              <a:t>和</a:t>
            </a:r>
            <a:r>
              <a:rPr lang="zh-CN" altLang="en-US" sz="2400">
                <a:latin typeface="黑体" panose="02010609060101010101" charset="-122"/>
                <a:ea typeface="黑体" panose="02010609060101010101" charset="-122"/>
                <a:cs typeface="黑体" panose="02010609060101010101" charset="-122"/>
                <a:sym typeface="+mn-ea"/>
              </a:rPr>
              <a:t>“是—为—怎” 逻辑。</a:t>
            </a:r>
            <a:endParaRPr lang="zh-CN" altLang="en-US" sz="2400">
              <a:latin typeface="黑体" panose="02010609060101010101" charset="-122"/>
              <a:ea typeface="黑体" panose="02010609060101010101" charset="-122"/>
              <a:cs typeface="黑体" panose="02010609060101010101" charset="-122"/>
              <a:sym typeface="+mn-ea"/>
            </a:endParaRPr>
          </a:p>
          <a:p>
            <a:pPr lvl="0" algn="l">
              <a:lnSpc>
                <a:spcPct val="150000"/>
              </a:lnSpc>
              <a:buClrTx/>
              <a:buSzTx/>
              <a:buFontTx/>
            </a:pPr>
            <a:r>
              <a:rPr lang="en-US" altLang="zh-CN" sz="2400">
                <a:latin typeface="黑体" panose="02010609060101010101" charset="-122"/>
                <a:ea typeface="黑体" panose="02010609060101010101" charset="-122"/>
                <a:cs typeface="黑体" panose="02010609060101010101" charset="-122"/>
                <a:sym typeface="+mn-ea"/>
              </a:rPr>
              <a:t>3</a:t>
            </a:r>
            <a:r>
              <a:rPr lang="en-US" altLang="zh-CN" sz="2400">
                <a:latin typeface="黑体" panose="02010609060101010101" charset="-122"/>
                <a:ea typeface="黑体" panose="02010609060101010101" charset="-122"/>
                <a:cs typeface="黑体" panose="02010609060101010101" charset="-122"/>
                <a:sym typeface="+mn-ea"/>
              </a:rPr>
              <a:t>.</a:t>
            </a:r>
            <a:r>
              <a:rPr lang="zh-CN" altLang="en-US" sz="2400">
                <a:latin typeface="黑体" panose="02010609060101010101" charset="-122"/>
                <a:ea typeface="黑体" panose="02010609060101010101" charset="-122"/>
                <a:cs typeface="黑体" panose="02010609060101010101" charset="-122"/>
                <a:sym typeface="+mn-ea"/>
              </a:rPr>
              <a:t>抓审题训练，紧扣设问关键词，明确答题指向，避免偏离主题、答非所问。</a:t>
            </a:r>
            <a:endParaRPr lang="zh-CN" altLang="en-US" sz="2400">
              <a:latin typeface="黑体" panose="02010609060101010101" charset="-122"/>
              <a:ea typeface="黑体" panose="02010609060101010101" charset="-122"/>
              <a:cs typeface="黑体" panose="02010609060101010101" charset="-122"/>
              <a:sym typeface="+mn-ea"/>
            </a:endParaRPr>
          </a:p>
          <a:p>
            <a:pPr lvl="0" algn="l">
              <a:lnSpc>
                <a:spcPct val="150000"/>
              </a:lnSpc>
              <a:buClrTx/>
              <a:buSzTx/>
              <a:buFontTx/>
            </a:pPr>
            <a:r>
              <a:rPr lang="en-US" altLang="zh-CN" sz="2400">
                <a:latin typeface="黑体" panose="02010609060101010101" charset="-122"/>
                <a:ea typeface="黑体" panose="02010609060101010101" charset="-122"/>
                <a:cs typeface="黑体" panose="02010609060101010101" charset="-122"/>
                <a:sym typeface="+mn-ea"/>
              </a:rPr>
              <a:t>4</a:t>
            </a:r>
            <a:r>
              <a:rPr lang="en-US" altLang="zh-CN" sz="2400">
                <a:latin typeface="黑体" panose="02010609060101010101" charset="-122"/>
                <a:ea typeface="黑体" panose="02010609060101010101" charset="-122"/>
                <a:cs typeface="黑体" panose="02010609060101010101" charset="-122"/>
                <a:sym typeface="+mn-ea"/>
              </a:rPr>
              <a:t>.</a:t>
            </a:r>
            <a:r>
              <a:rPr lang="zh-CN" altLang="en-US" sz="2400">
                <a:latin typeface="黑体" panose="02010609060101010101" charset="-122"/>
                <a:ea typeface="黑体" panose="02010609060101010101" charset="-122"/>
                <a:cs typeface="黑体" panose="02010609060101010101" charset="-122"/>
                <a:sym typeface="+mn-ea"/>
              </a:rPr>
              <a:t>加强跨模块整合教学，讲透核心概念，</a:t>
            </a:r>
            <a:r>
              <a:rPr lang="zh-CN" altLang="en-US" sz="2400">
                <a:latin typeface="黑体" panose="02010609060101010101" charset="-122"/>
                <a:ea typeface="黑体" panose="02010609060101010101" charset="-122"/>
                <a:cs typeface="黑体" panose="02010609060101010101" charset="-122"/>
                <a:sym typeface="+mn-ea"/>
              </a:rPr>
              <a:t>根据材料，适当发散，</a:t>
            </a:r>
            <a:r>
              <a:rPr lang="zh-CN" altLang="en-US" sz="2400">
                <a:latin typeface="黑体" panose="02010609060101010101" charset="-122"/>
                <a:ea typeface="黑体" panose="02010609060101010101" charset="-122"/>
                <a:cs typeface="黑体" panose="02010609060101010101" charset="-122"/>
                <a:sym typeface="+mn-ea"/>
              </a:rPr>
              <a:t>引导多角度、系统性作答。</a:t>
            </a:r>
            <a:endParaRPr lang="zh-CN" altLang="en-US" sz="2400">
              <a:latin typeface="黑体" panose="02010609060101010101" charset="-122"/>
              <a:ea typeface="黑体" panose="02010609060101010101" charset="-122"/>
              <a:cs typeface="黑体" panose="02010609060101010101" charset="-122"/>
              <a:sym typeface="+mn-ea"/>
            </a:endParaRPr>
          </a:p>
          <a:p>
            <a:pPr lvl="0" algn="l">
              <a:lnSpc>
                <a:spcPct val="150000"/>
              </a:lnSpc>
              <a:buClrTx/>
              <a:buSzTx/>
              <a:buFontTx/>
            </a:pPr>
            <a:r>
              <a:rPr lang="en-US" altLang="zh-CN" sz="2400">
                <a:latin typeface="黑体" panose="02010609060101010101" charset="-122"/>
                <a:ea typeface="黑体" panose="02010609060101010101" charset="-122"/>
                <a:cs typeface="黑体" panose="02010609060101010101" charset="-122"/>
                <a:sym typeface="+mn-ea"/>
              </a:rPr>
              <a:t>5</a:t>
            </a:r>
            <a:r>
              <a:rPr lang="en-US" altLang="zh-CN" sz="2400">
                <a:latin typeface="黑体" panose="02010609060101010101" charset="-122"/>
                <a:ea typeface="黑体" panose="02010609060101010101" charset="-122"/>
                <a:cs typeface="黑体" panose="02010609060101010101" charset="-122"/>
                <a:sym typeface="+mn-ea"/>
              </a:rPr>
              <a:t>.</a:t>
            </a:r>
            <a:r>
              <a:rPr lang="zh-CN" altLang="en-US" sz="2400">
                <a:latin typeface="黑体" panose="02010609060101010101" charset="-122"/>
                <a:ea typeface="黑体" panose="02010609060101010101" charset="-122"/>
                <a:cs typeface="黑体" panose="02010609060101010101" charset="-122"/>
                <a:sym typeface="+mn-ea"/>
              </a:rPr>
              <a:t>落实错题复盘与分层指导，规范学科术语，通过反复精修答案提升论证与知识迁移能力。</a:t>
            </a:r>
            <a:endParaRPr lang="zh-CN" altLang="en-US" sz="2400">
              <a:latin typeface="黑体" panose="02010609060101010101" charset="-122"/>
              <a:ea typeface="黑体" panose="02010609060101010101" charset="-122"/>
              <a:cs typeface="黑体" panose="02010609060101010101" charset="-122"/>
              <a:sym typeface="+mn-ea"/>
            </a:endParaRPr>
          </a:p>
        </p:txBody>
      </p:sp>
      <p:sp>
        <p:nvSpPr>
          <p:cNvPr id="3" name="标题 3"/>
          <p:cNvSpPr txBox="1"/>
          <p:nvPr/>
        </p:nvSpPr>
        <p:spPr>
          <a:xfrm>
            <a:off x="288925" y="0"/>
            <a:ext cx="4175760" cy="750570"/>
          </a:xfrm>
          <a:prstGeom prst="rect">
            <a:avLst/>
          </a:prstGeom>
        </p:spPr>
        <p:txBody>
          <a:bodyPr vert="horz" lIns="91440" tIns="45720" rIns="91440" bIns="4572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四、学生问题及建议</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文本框 10"/>
          <p:cNvSpPr txBox="1"/>
          <p:nvPr/>
        </p:nvSpPr>
        <p:spPr>
          <a:xfrm>
            <a:off x="3556000" y="7341235"/>
            <a:ext cx="5080000" cy="737235"/>
          </a:xfrm>
          <a:prstGeom prst="rect">
            <a:avLst/>
          </a:prstGeom>
        </p:spPr>
        <p:txBody>
          <a:bodyPr>
            <a:spAutoFit/>
          </a:bodyPr>
          <a:p>
            <a:endParaRPr lang="en-US" altLang="zh-CN" sz="2600"/>
          </a:p>
          <a:p>
            <a:pPr marL="200025" indent="0" algn="l" defTabSz="266700" fontAlgn="ctr">
              <a:spcBef>
                <a:spcPct val="0"/>
              </a:spcBef>
              <a:spcAft>
                <a:spcPct val="0"/>
              </a:spcAft>
            </a:pPr>
            <a:r>
              <a:rPr lang="en-US" altLang="zh-CN" sz="1600">
                <a:solidFill>
                  <a:srgbClr val="FF0000"/>
                </a:solidFill>
                <a:latin typeface="宋体" panose="02010600030101010101" pitchFamily="2" charset="-122"/>
                <a:ea typeface="宋体" panose="02010600030101010101" pitchFamily="2" charset="-122"/>
              </a:rPr>
              <a:t> </a:t>
            </a:r>
            <a:endParaRPr lang="en-US" altLang="zh-CN" sz="1600">
              <a:solidFill>
                <a:srgbClr val="FF0000"/>
              </a:solidFill>
              <a:latin typeface="宋体" panose="02010600030101010101" pitchFamily="2" charset="-122"/>
              <a:ea typeface="宋体" panose="02010600030101010101" pitchFamily="2" charset="-122"/>
            </a:endParaRPr>
          </a:p>
        </p:txBody>
      </p:sp>
      <p:sp>
        <p:nvSpPr>
          <p:cNvPr id="13" name="文本框 12"/>
          <p:cNvSpPr txBox="1"/>
          <p:nvPr/>
        </p:nvSpPr>
        <p:spPr>
          <a:xfrm>
            <a:off x="146685" y="702945"/>
            <a:ext cx="11643360" cy="645160"/>
          </a:xfrm>
          <a:prstGeom prst="rect">
            <a:avLst/>
          </a:prstGeom>
        </p:spPr>
        <p:txBody>
          <a:bodyPr wrap="square">
            <a:spAutoFit/>
          </a:bodyPr>
          <a:p>
            <a:pPr marL="200025" indent="0" algn="l" defTabSz="266700" fontAlgn="ctr">
              <a:spcBef>
                <a:spcPct val="0"/>
              </a:spcBef>
              <a:spcAft>
                <a:spcPct val="0"/>
              </a:spcAft>
            </a:pPr>
            <a:r>
              <a:rPr lang="zh-CN" altLang="en-US">
                <a:solidFill>
                  <a:srgbClr val="1015E0"/>
                </a:solidFill>
                <a:latin typeface="宋体" panose="02010600030101010101" pitchFamily="2" charset="-122"/>
                <a:ea typeface="宋体" panose="02010600030101010101" pitchFamily="2" charset="-122"/>
                <a:cs typeface="宋体" panose="02010600030101010101" pitchFamily="2" charset="-122"/>
              </a:rPr>
              <a:t>（</a:t>
            </a:r>
            <a:r>
              <a:rPr lang="en-US" altLang="zh-CN">
                <a:solidFill>
                  <a:srgbClr val="1015E0"/>
                </a:solidFill>
                <a:latin typeface="宋体" panose="02010600030101010101" pitchFamily="2" charset="-122"/>
                <a:ea typeface="宋体" panose="02010600030101010101" pitchFamily="2" charset="-122"/>
                <a:cs typeface="宋体" panose="02010600030101010101" pitchFamily="2" charset="-122"/>
              </a:rPr>
              <a:t>2025·</a:t>
            </a:r>
            <a:r>
              <a:rPr lang="zh-CN" altLang="en-US">
                <a:solidFill>
                  <a:srgbClr val="1015E0"/>
                </a:solidFill>
                <a:latin typeface="宋体" panose="02010600030101010101" pitchFamily="2" charset="-122"/>
                <a:ea typeface="宋体" panose="02010600030101010101" pitchFamily="2" charset="-122"/>
                <a:cs typeface="宋体" panose="02010600030101010101" pitchFamily="2" charset="-122"/>
              </a:rPr>
              <a:t>北京</a:t>
            </a:r>
            <a:r>
              <a:rPr lang="en-US" altLang="zh-CN">
                <a:solidFill>
                  <a:srgbClr val="1015E0"/>
                </a:solidFill>
                <a:latin typeface="宋体" panose="02010600030101010101" pitchFamily="2" charset="-122"/>
                <a:ea typeface="宋体" panose="02010600030101010101" pitchFamily="2" charset="-122"/>
                <a:cs typeface="宋体" panose="02010600030101010101" pitchFamily="2" charset="-122"/>
              </a:rPr>
              <a:t>·</a:t>
            </a:r>
            <a:r>
              <a:rPr lang="zh-CN" altLang="en-US">
                <a:solidFill>
                  <a:srgbClr val="1015E0"/>
                </a:solidFill>
                <a:latin typeface="宋体" panose="02010600030101010101" pitchFamily="2" charset="-122"/>
                <a:ea typeface="宋体" panose="02010600030101010101" pitchFamily="2" charset="-122"/>
                <a:cs typeface="宋体" panose="02010600030101010101" pitchFamily="2" charset="-122"/>
              </a:rPr>
              <a:t>高考真题）</a:t>
            </a:r>
            <a:r>
              <a:rPr lang="zh-CN" altLang="en-US">
                <a:latin typeface="宋体" panose="02010600030101010101" pitchFamily="2" charset="-122"/>
                <a:ea typeface="宋体" panose="02010600030101010101" pitchFamily="2" charset="-122"/>
                <a:cs typeface="宋体" panose="02010600030101010101" pitchFamily="2" charset="-122"/>
              </a:rPr>
              <a:t>某中学开展“青年视角与中国式现代化”系列教育活动，思政教师与同学们围绕“促进城乡融合发展”这一主题展开讨论。</a:t>
            </a:r>
            <a:endParaRPr lang="zh-CN" altLang="en-US">
              <a:latin typeface="宋体" panose="02010600030101010101" pitchFamily="2" charset="-122"/>
              <a:ea typeface="宋体" panose="02010600030101010101" pitchFamily="2" charset="-122"/>
              <a:cs typeface="宋体" panose="02010600030101010101" pitchFamily="2" charset="-122"/>
            </a:endParaRPr>
          </a:p>
        </p:txBody>
      </p:sp>
      <p:graphicFrame>
        <p:nvGraphicFramePr>
          <p:cNvPr id="14" name="表格 13"/>
          <p:cNvGraphicFramePr/>
          <p:nvPr>
            <p:custDataLst>
              <p:tags r:id="rId1"/>
            </p:custDataLst>
          </p:nvPr>
        </p:nvGraphicFramePr>
        <p:xfrm>
          <a:off x="268605" y="1348105"/>
          <a:ext cx="11520805" cy="4883150"/>
        </p:xfrm>
        <a:graphic>
          <a:graphicData uri="http://schemas.openxmlformats.org/drawingml/2006/table">
            <a:tbl>
              <a:tblPr/>
              <a:tblGrid>
                <a:gridCol w="1204595"/>
                <a:gridCol w="10316210"/>
              </a:tblGrid>
              <a:tr h="1192530">
                <a:tc>
                  <a:txBody>
                    <a:bodyPr/>
                    <a:p>
                      <a:pPr marL="0" indent="0" algn="l" fontAlgn="ctr">
                        <a:spcBef>
                          <a:spcPct val="0"/>
                        </a:spcBef>
                        <a:spcAft>
                          <a:spcPct val="0"/>
                        </a:spcAft>
                      </a:pPr>
                      <a:r>
                        <a:rPr lang="en-US" altLang="zh-CN" sz="1100">
                          <a:latin typeface="楷体" panose="02010609060101010101" charset="-122"/>
                          <a:ea typeface="楷体" panose="02010609060101010101" charset="-122"/>
                        </a:rPr>
                        <a:t> </a:t>
                      </a:r>
                      <a:endParaRPr lang="en-US" altLang="zh-CN" sz="1100">
                        <a:latin typeface="楷体" panose="02010609060101010101" charset="-122"/>
                        <a:ea typeface="楷体" panose="02010609060101010101" charset="-122"/>
                      </a:endParaRPr>
                    </a:p>
                  </a:txBody>
                  <a:tcPr marL="76200" marR="76200" marT="47625" marB="47625"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p>
                      <a:pPr marL="0" indent="0" algn="l" fontAlgn="ctr">
                        <a:spcBef>
                          <a:spcPct val="0"/>
                        </a:spcBef>
                        <a:spcAft>
                          <a:spcPct val="0"/>
                        </a:spcAft>
                      </a:pPr>
                      <a:r>
                        <a:rPr lang="zh-CN" sz="1800">
                          <a:latin typeface="楷体" panose="02010609060101010101" charset="-122"/>
                          <a:ea typeface="楷体" panose="02010609060101010101" charset="-122"/>
                        </a:rPr>
                        <a:t>党的十八大以来，以习近平同志为核心的党中央高度重视解决城乡发展不平衡问题，从</a:t>
                      </a:r>
                      <a:r>
                        <a:rPr lang="zh-CN" altLang="en-US" sz="1800">
                          <a:latin typeface="楷体" panose="02010609060101010101" charset="-122"/>
                          <a:ea typeface="楷体" panose="02010609060101010101" charset="-122"/>
                        </a:rPr>
                        <a:t>“统筹城乡发展”到“健全城乡发展一体化体制机制”，再到“建立健全城乡融合发展体制机制和政策体系”，特别是党的二十届三中全会提出“完善城乡融合发展体制机制”，强调“城乡融合发展是中国式现代化的必然要求”，不断深化对城乡融合发展的认识。</a:t>
                      </a:r>
                      <a:endParaRPr lang="zh-CN" altLang="en-US" sz="1800">
                        <a:latin typeface="楷体" panose="02010609060101010101" charset="-122"/>
                        <a:ea typeface="楷体" panose="02010609060101010101" charset="-122"/>
                      </a:endParaRPr>
                    </a:p>
                  </a:txBody>
                  <a:tcPr marL="76200" marR="76200" marT="47625" marB="47625"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r>
              <a:tr h="1028065">
                <a:tc>
                  <a:txBody>
                    <a:bodyPr/>
                    <a:p>
                      <a:pPr marL="0" indent="0" algn="l" fontAlgn="ctr">
                        <a:spcBef>
                          <a:spcPct val="0"/>
                        </a:spcBef>
                        <a:spcAft>
                          <a:spcPct val="0"/>
                        </a:spcAft>
                      </a:pPr>
                      <a:r>
                        <a:rPr lang="en-US" altLang="zh-CN" sz="1100">
                          <a:latin typeface="楷体" panose="02010609060101010101" charset="-122"/>
                          <a:ea typeface="楷体" panose="02010609060101010101" charset="-122"/>
                        </a:rPr>
                        <a:t> </a:t>
                      </a:r>
                      <a:endParaRPr lang="en-US" altLang="zh-CN" sz="1100">
                        <a:latin typeface="楷体" panose="02010609060101010101" charset="-122"/>
                        <a:ea typeface="楷体" panose="02010609060101010101" charset="-122"/>
                      </a:endParaRPr>
                    </a:p>
                  </a:txBody>
                  <a:tcPr marL="76200" marR="76200" marT="47625" marB="47625"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p>
                      <a:pPr marL="0" indent="0" algn="l" fontAlgn="ctr">
                        <a:spcBef>
                          <a:spcPct val="0"/>
                        </a:spcBef>
                        <a:spcAft>
                          <a:spcPct val="0"/>
                        </a:spcAft>
                      </a:pPr>
                      <a:r>
                        <a:rPr lang="zh-CN" sz="1800">
                          <a:latin typeface="楷体" panose="02010609060101010101" charset="-122"/>
                          <a:ea typeface="楷体" panose="02010609060101010101" charset="-122"/>
                        </a:rPr>
                        <a:t>确实，咱们国家直面城乡发展不平衡问题，在这方面下了不少功夫。城乡融合发展工作机制不断健全，城乡要素流动更加顺畅高效，城乡基础设施一体化水平显著提升，城乡基本公共服务均等化深入推进，城乡产业协同发展加快推进，城乡居民收入差距持续缩小。</a:t>
                      </a:r>
                      <a:endParaRPr lang="zh-CN" sz="1800">
                        <a:latin typeface="楷体" panose="02010609060101010101" charset="-122"/>
                        <a:ea typeface="楷体" panose="02010609060101010101" charset="-122"/>
                      </a:endParaRPr>
                    </a:p>
                  </a:txBody>
                  <a:tcPr marL="76200" marR="76200" marT="47625" marB="47625"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r>
              <a:tr h="2662555">
                <a:tc>
                  <a:txBody>
                    <a:bodyPr/>
                    <a:p>
                      <a:pPr marL="0" indent="0" algn="l" fontAlgn="ctr">
                        <a:spcBef>
                          <a:spcPct val="0"/>
                        </a:spcBef>
                        <a:spcAft>
                          <a:spcPct val="0"/>
                        </a:spcAft>
                      </a:pPr>
                      <a:r>
                        <a:rPr lang="en-US" altLang="zh-CN" sz="1100">
                          <a:latin typeface="楷体" panose="02010609060101010101" charset="-122"/>
                          <a:ea typeface="楷体" panose="02010609060101010101" charset="-122"/>
                        </a:rPr>
                        <a:t> </a:t>
                      </a:r>
                      <a:endParaRPr lang="en-US" altLang="zh-CN" sz="1100">
                        <a:latin typeface="楷体" panose="02010609060101010101" charset="-122"/>
                        <a:ea typeface="楷体" panose="02010609060101010101" charset="-122"/>
                      </a:endParaRPr>
                    </a:p>
                  </a:txBody>
                  <a:tcPr marL="76200" marR="76200" marT="47625" marB="47625"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p>
                      <a:pPr marL="0" indent="0" algn="l" fontAlgn="ctr">
                        <a:spcBef>
                          <a:spcPct val="0"/>
                        </a:spcBef>
                        <a:spcAft>
                          <a:spcPct val="0"/>
                        </a:spcAft>
                      </a:pPr>
                      <a:r>
                        <a:rPr lang="zh-CN" sz="1800">
                          <a:latin typeface="楷体" panose="02010609060101010101" charset="-122"/>
                          <a:ea typeface="楷体" panose="02010609060101010101" charset="-122"/>
                        </a:rPr>
                        <a:t>我注意到党的二十届三中全会提出</a:t>
                      </a:r>
                      <a:r>
                        <a:rPr lang="zh-CN" altLang="en-US" sz="1800">
                          <a:latin typeface="楷体" panose="02010609060101010101" charset="-122"/>
                          <a:ea typeface="楷体" panose="02010609060101010101" charset="-122"/>
                        </a:rPr>
                        <a:t>“必须统筹新型工业化、新型城镇化和乡村全面振兴”，促进城乡共同繁荣发展。对此，我收集到以下资料：</a:t>
                      </a:r>
                      <a:endParaRPr lang="zh-CN" altLang="en-US" sz="1800">
                        <a:latin typeface="楷体" panose="02010609060101010101" charset="-122"/>
                        <a:ea typeface="楷体" panose="02010609060101010101" charset="-122"/>
                      </a:endParaRPr>
                    </a:p>
                    <a:p>
                      <a:pPr marL="0" indent="0" algn="l" fontAlgn="ctr">
                        <a:spcBef>
                          <a:spcPct val="0"/>
                        </a:spcBef>
                        <a:spcAft>
                          <a:spcPct val="0"/>
                        </a:spcAft>
                      </a:pPr>
                      <a:r>
                        <a:rPr lang="en-US" altLang="zh-CN" sz="1800">
                          <a:latin typeface="楷体" panose="02010609060101010101" charset="-122"/>
                          <a:ea typeface="楷体" panose="02010609060101010101" charset="-122"/>
                        </a:rPr>
                        <a:t>◇</a:t>
                      </a:r>
                      <a:r>
                        <a:rPr lang="zh-CN" altLang="en-US" sz="1800">
                          <a:latin typeface="楷体" panose="02010609060101010101" charset="-122"/>
                          <a:ea typeface="楷体" panose="02010609060101010101" charset="-122"/>
                        </a:rPr>
                        <a:t>新型工业化是构建城乡融合发展新格局的重要途径。新型工业化驱动新一代信息技术在乡村振兴领域深入应用，深刻改变农业生产方式、农村治理方式和农民生活方式。</a:t>
                      </a:r>
                      <a:endParaRPr lang="zh-CN" altLang="en-US" sz="1800">
                        <a:latin typeface="楷体" panose="02010609060101010101" charset="-122"/>
                        <a:ea typeface="楷体" panose="02010609060101010101" charset="-122"/>
                      </a:endParaRPr>
                    </a:p>
                    <a:p>
                      <a:pPr marL="0" indent="0" algn="l" fontAlgn="ctr">
                        <a:spcBef>
                          <a:spcPct val="0"/>
                        </a:spcBef>
                        <a:spcAft>
                          <a:spcPct val="0"/>
                        </a:spcAft>
                      </a:pPr>
                      <a:r>
                        <a:rPr lang="en-US" altLang="zh-CN" sz="1800">
                          <a:latin typeface="楷体" panose="02010609060101010101" charset="-122"/>
                          <a:ea typeface="楷体" panose="02010609060101010101" charset="-122"/>
                        </a:rPr>
                        <a:t>◇</a:t>
                      </a:r>
                      <a:r>
                        <a:rPr lang="zh-CN" altLang="en-US" sz="1800">
                          <a:latin typeface="楷体" panose="02010609060101010101" charset="-122"/>
                          <a:ea typeface="楷体" panose="02010609060101010101" charset="-122"/>
                        </a:rPr>
                        <a:t>新型城镇化是构建城乡融合发展新格局的关键举措。发挥县城连接城市、服务乡村作用，促进大中小城市和小城镇协调发展，推动形成疏密有致、分工协作、功能完善的城镇化空间格局。</a:t>
                      </a:r>
                      <a:endParaRPr lang="zh-CN" altLang="en-US" sz="1800">
                        <a:latin typeface="楷体" panose="02010609060101010101" charset="-122"/>
                        <a:ea typeface="楷体" panose="02010609060101010101" charset="-122"/>
                      </a:endParaRPr>
                    </a:p>
                    <a:p>
                      <a:pPr marL="0" indent="0" algn="l" fontAlgn="ctr">
                        <a:spcBef>
                          <a:spcPct val="0"/>
                        </a:spcBef>
                        <a:spcAft>
                          <a:spcPct val="0"/>
                        </a:spcAft>
                      </a:pPr>
                      <a:r>
                        <a:rPr lang="en-US" altLang="zh-CN" sz="1800">
                          <a:latin typeface="楷体" panose="02010609060101010101" charset="-122"/>
                          <a:ea typeface="楷体" panose="02010609060101010101" charset="-122"/>
                        </a:rPr>
                        <a:t>◇</a:t>
                      </a:r>
                      <a:r>
                        <a:rPr lang="zh-CN" altLang="en-US" sz="1800">
                          <a:latin typeface="楷体" panose="02010609060101010101" charset="-122"/>
                          <a:ea typeface="楷体" panose="02010609060101010101" charset="-122"/>
                        </a:rPr>
                        <a:t>乡村全面振兴是构建城乡融合发展新格局的有效检验。一方面，城乡融合发展是让农业农村在现代化进程中不掉队赶上来的战略回应和必然选择，是推进乡村全面振兴的重要保障。另一方面，只有实现了乡村全面振兴，才能真正形成高水平的城乡融合发展格局。</a:t>
                      </a:r>
                      <a:endParaRPr lang="zh-CN" altLang="en-US" sz="1800">
                        <a:latin typeface="楷体" panose="02010609060101010101" charset="-122"/>
                        <a:ea typeface="楷体" panose="02010609060101010101" charset="-122"/>
                      </a:endParaRPr>
                    </a:p>
                  </a:txBody>
                  <a:tcPr marL="76200" marR="76200" marT="47625" marB="47625"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r>
            </a:tbl>
          </a:graphicData>
        </a:graphic>
      </p:graphicFrame>
      <p:pic>
        <p:nvPicPr>
          <p:cNvPr id="15" name="图片 14"/>
          <p:cNvPicPr/>
          <p:nvPr/>
        </p:nvPicPr>
        <p:blipFill>
          <a:blip r:embed="rId2"/>
          <a:stretch>
            <a:fillRect/>
          </a:stretch>
        </p:blipFill>
        <p:spPr>
          <a:xfrm>
            <a:off x="608330" y="1608455"/>
            <a:ext cx="564197" cy="754697"/>
          </a:xfrm>
          <a:prstGeom prst="rect">
            <a:avLst/>
          </a:prstGeom>
        </p:spPr>
      </p:pic>
      <p:pic>
        <p:nvPicPr>
          <p:cNvPr id="16" name="图片 15"/>
          <p:cNvPicPr/>
          <p:nvPr/>
        </p:nvPicPr>
        <p:blipFill>
          <a:blip r:embed="rId3"/>
          <a:stretch>
            <a:fillRect/>
          </a:stretch>
        </p:blipFill>
        <p:spPr>
          <a:xfrm>
            <a:off x="608330" y="2557145"/>
            <a:ext cx="564197" cy="998537"/>
          </a:xfrm>
          <a:prstGeom prst="rect">
            <a:avLst/>
          </a:prstGeom>
        </p:spPr>
      </p:pic>
      <p:pic>
        <p:nvPicPr>
          <p:cNvPr id="17" name="图片 16"/>
          <p:cNvPicPr/>
          <p:nvPr/>
        </p:nvPicPr>
        <p:blipFill>
          <a:blip r:embed="rId4"/>
          <a:stretch>
            <a:fillRect/>
          </a:stretch>
        </p:blipFill>
        <p:spPr>
          <a:xfrm>
            <a:off x="608330" y="4276725"/>
            <a:ext cx="564197" cy="914717"/>
          </a:xfrm>
          <a:prstGeom prst="rect">
            <a:avLst/>
          </a:prstGeom>
        </p:spPr>
      </p:pic>
      <p:sp>
        <p:nvSpPr>
          <p:cNvPr id="18" name="文本框 17"/>
          <p:cNvSpPr txBox="1"/>
          <p:nvPr/>
        </p:nvSpPr>
        <p:spPr>
          <a:xfrm>
            <a:off x="268605" y="5786755"/>
            <a:ext cx="10332720" cy="1076325"/>
          </a:xfrm>
          <a:prstGeom prst="rect">
            <a:avLst/>
          </a:prstGeom>
        </p:spPr>
        <p:txBody>
          <a:bodyPr wrap="square">
            <a:spAutoFit/>
          </a:bodyPr>
          <a:p>
            <a:endParaRPr lang="en-US" altLang="zh-CN" sz="2800"/>
          </a:p>
          <a:p>
            <a:pPr marL="200025" indent="0" algn="l" defTabSz="266700" fontAlgn="ctr">
              <a:spcBef>
                <a:spcPct val="0"/>
              </a:spcBef>
              <a:spcAft>
                <a:spcPct val="0"/>
              </a:spcAft>
            </a:pPr>
            <a:r>
              <a:rPr lang="zh-CN" altLang="en-US">
                <a:latin typeface="宋体" panose="02010600030101010101" pitchFamily="2" charset="-122"/>
                <a:ea typeface="宋体" panose="02010600030101010101" pitchFamily="2" charset="-122"/>
              </a:rPr>
              <a:t>请你参与他们的讨论，综合运用所学，谈谈对“城乡融合发展是中国式现代化的必然要求”的认识。</a:t>
            </a:r>
            <a:endParaRPr lang="zh-CN" altLang="en-US">
              <a:latin typeface="宋体" panose="02010600030101010101" pitchFamily="2" charset="-122"/>
              <a:ea typeface="宋体" panose="02010600030101010101" pitchFamily="2" charset="-122"/>
            </a:endParaRPr>
          </a:p>
          <a:p>
            <a:pPr marL="200025" indent="0" algn="l" defTabSz="266700" fontAlgn="ctr">
              <a:spcBef>
                <a:spcPct val="0"/>
              </a:spcBef>
              <a:spcAft>
                <a:spcPct val="0"/>
              </a:spcAft>
            </a:pPr>
            <a:r>
              <a:rPr lang="en-US" altLang="zh-CN">
                <a:latin typeface="宋体" panose="02010600030101010101" pitchFamily="2" charset="-122"/>
                <a:ea typeface="宋体" panose="02010600030101010101" pitchFamily="2" charset="-122"/>
              </a:rPr>
              <a:t> </a:t>
            </a:r>
            <a:endParaRPr lang="en-US" altLang="zh-CN">
              <a:latin typeface="宋体" panose="02010600030101010101" pitchFamily="2" charset="-122"/>
              <a:ea typeface="宋体" panose="02010600030101010101" pitchFamily="2" charset="-122"/>
            </a:endParaRPr>
          </a:p>
        </p:txBody>
      </p:sp>
      <p:sp>
        <p:nvSpPr>
          <p:cNvPr id="3" name="标题 3"/>
          <p:cNvSpPr txBox="1"/>
          <p:nvPr/>
        </p:nvSpPr>
        <p:spPr>
          <a:xfrm>
            <a:off x="547370" y="100330"/>
            <a:ext cx="3070225" cy="750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rPr>
              <a:t>五、复练试题</a:t>
            </a:r>
            <a:endParaRPr lang="zh-CN" altLang="en-US" sz="2800" b="1" dirty="0">
              <a:gradFill>
                <a:gsLst>
                  <a:gs pos="50000">
                    <a:srgbClr val="1F5FBF"/>
                  </a:gs>
                  <a:gs pos="0">
                    <a:srgbClr val="1486CB"/>
                  </a:gs>
                  <a:gs pos="100000">
                    <a:srgbClr val="2A34B2"/>
                  </a:gs>
                </a:gsLst>
                <a:lin ang="5400000" scaled="1"/>
              </a:gradFill>
              <a:latin typeface="黑体" panose="02010609060101010101" charset="-122"/>
              <a:ea typeface="黑体" panose="02010609060101010101" charset="-122"/>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6"/>
          <p:cNvSpPr/>
          <p:nvPr>
            <p:custDataLst>
              <p:tags r:id="rId1"/>
            </p:custDataLst>
          </p:nvPr>
        </p:nvSpPr>
        <p:spPr>
          <a:xfrm>
            <a:off x="17779" y="652621"/>
            <a:ext cx="12192000" cy="43348"/>
          </a:xfrm>
          <a:prstGeom prst="rect">
            <a:avLst/>
          </a:prstGeom>
          <a:solidFill>
            <a:srgbClr val="0170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spcBef>
                <a:spcPct val="0"/>
              </a:spcBef>
              <a:spcAft>
                <a:spcPct val="0"/>
              </a:spcAft>
            </a:pPr>
            <a:endParaRPr lang="zh-CN" altLang="en-US" sz="1705">
              <a:solidFill>
                <a:prstClr val="white"/>
              </a:solidFill>
              <a:latin typeface="Arial" panose="020B0604020202020204"/>
              <a:ea typeface="微软雅黑" panose="020B0503020204020204" charset="-122"/>
            </a:endParaRPr>
          </a:p>
        </p:txBody>
      </p:sp>
      <p:sp>
        <p:nvSpPr>
          <p:cNvPr id="8" name="矩形 7"/>
          <p:cNvSpPr/>
          <p:nvPr>
            <p:custDataLst>
              <p:tags r:id="rId2"/>
            </p:custDataLst>
          </p:nvPr>
        </p:nvSpPr>
        <p:spPr>
          <a:xfrm>
            <a:off x="0" y="6472555"/>
            <a:ext cx="12192000" cy="385445"/>
          </a:xfrm>
          <a:prstGeom prst="rect">
            <a:avLst/>
          </a:prstGeom>
          <a:solidFill>
            <a:srgbClr val="0170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spcBef>
                <a:spcPct val="0"/>
              </a:spcBef>
              <a:spcAft>
                <a:spcPct val="0"/>
              </a:spcAft>
            </a:pPr>
            <a:endParaRPr lang="zh-CN" altLang="en-US" sz="1705">
              <a:solidFill>
                <a:prstClr val="white"/>
              </a:solidFill>
              <a:latin typeface="Arial" panose="020B0604020202020204"/>
              <a:ea typeface="微软雅黑" panose="020B0503020204020204" charset="-122"/>
            </a:endParaRPr>
          </a:p>
        </p:txBody>
      </p:sp>
      <p:pic>
        <p:nvPicPr>
          <p:cNvPr id="12" name="图片 11"/>
          <p:cNvPicPr>
            <a:picLocks noChangeAspect="1"/>
          </p:cNvPicPr>
          <p:nvPr>
            <p:custDataLst>
              <p:tags r:id="rId3"/>
            </p:custDataLst>
          </p:nvPr>
        </p:nvPicPr>
        <p:blipFill>
          <a:blip r:embed="rId4">
            <a:biLevel thresh="25000"/>
            <a:extLst>
              <a:ext uri="{28A0092B-C50C-407E-A947-70E740481C1C}">
                <a14:useLocalDpi xmlns:a14="http://schemas.microsoft.com/office/drawing/2010/main" val="0"/>
              </a:ext>
            </a:extLst>
          </a:blip>
          <a:stretch>
            <a:fillRect/>
          </a:stretch>
        </p:blipFill>
        <p:spPr>
          <a:xfrm>
            <a:off x="4671360" y="6376242"/>
            <a:ext cx="2885444" cy="630668"/>
          </a:xfrm>
          <a:prstGeom prst="rect">
            <a:avLst/>
          </a:prstGeom>
        </p:spPr>
      </p:pic>
      <p:sp>
        <p:nvSpPr>
          <p:cNvPr id="2" name="文本框 1"/>
          <p:cNvSpPr txBox="1"/>
          <p:nvPr/>
        </p:nvSpPr>
        <p:spPr>
          <a:xfrm>
            <a:off x="915670" y="1010920"/>
            <a:ext cx="9850755" cy="1017270"/>
          </a:xfrm>
          <a:prstGeom prst="rect">
            <a:avLst/>
          </a:prstGeom>
        </p:spPr>
        <p:txBody>
          <a:bodyPr wrap="square">
            <a:noAutofit/>
          </a:bodyPr>
          <a:p>
            <a:pPr marL="200025" indent="0" algn="l" defTabSz="266700" fontAlgn="ctr">
              <a:spcBef>
                <a:spcPct val="0"/>
              </a:spcBef>
              <a:spcAft>
                <a:spcPct val="0"/>
              </a:spcAft>
            </a:pPr>
            <a:r>
              <a:rPr lang="zh-CN" altLang="en-US" sz="2400">
                <a:solidFill>
                  <a:schemeClr val="tx1"/>
                </a:solidFill>
                <a:latin typeface="宋体" panose="02010600030101010101" pitchFamily="2" charset="-122"/>
                <a:ea typeface="宋体" panose="02010600030101010101" pitchFamily="2" charset="-122"/>
              </a:rPr>
              <a:t>参考答案：</a:t>
            </a:r>
            <a:endParaRPr lang="zh-CN" altLang="en-US" sz="2400">
              <a:solidFill>
                <a:schemeClr val="tx1"/>
              </a:solidFill>
              <a:latin typeface="宋体" panose="02010600030101010101" pitchFamily="2" charset="-122"/>
              <a:ea typeface="宋体" panose="02010600030101010101" pitchFamily="2" charset="-122"/>
            </a:endParaRPr>
          </a:p>
          <a:p>
            <a:pPr marL="200025" indent="0" algn="l" defTabSz="266700" fontAlgn="ctr">
              <a:spcBef>
                <a:spcPct val="0"/>
              </a:spcBef>
              <a:spcAft>
                <a:spcPct val="0"/>
              </a:spcAft>
            </a:pPr>
            <a:r>
              <a:rPr lang="en-US" altLang="zh-CN" sz="2400">
                <a:solidFill>
                  <a:schemeClr val="tx1"/>
                </a:solidFill>
                <a:latin typeface="宋体" panose="02010600030101010101" pitchFamily="2" charset="-122"/>
                <a:ea typeface="宋体" panose="02010600030101010101" pitchFamily="2" charset="-122"/>
              </a:rPr>
              <a:t>    </a:t>
            </a:r>
            <a:r>
              <a:rPr lang="zh-CN" altLang="en-US" sz="2400">
                <a:solidFill>
                  <a:schemeClr val="tx1"/>
                </a:solidFill>
                <a:latin typeface="宋体" panose="02010600030101010101" pitchFamily="2" charset="-122"/>
                <a:ea typeface="宋体" panose="02010600030101010101" pitchFamily="2" charset="-122"/>
              </a:rPr>
              <a:t>可从党的领导、社会主义本质要求、人民当家作主、高质量发展等角度作答。</a:t>
            </a:r>
            <a:endParaRPr lang="zh-CN" altLang="en-US" sz="2400">
              <a:solidFill>
                <a:schemeClr val="tx1"/>
              </a:solidFill>
              <a:latin typeface="宋体" panose="02010600030101010101" pitchFamily="2" charset="-122"/>
              <a:ea typeface="宋体" panose="02010600030101010101" pitchFamily="2" charset="-122"/>
            </a:endParaRPr>
          </a:p>
        </p:txBody>
      </p:sp>
      <p:graphicFrame>
        <p:nvGraphicFramePr>
          <p:cNvPr id="3" name="表格 2"/>
          <p:cNvGraphicFramePr/>
          <p:nvPr>
            <p:custDataLst>
              <p:tags r:id="rId5"/>
            </p:custDataLst>
          </p:nvPr>
        </p:nvGraphicFramePr>
        <p:xfrm>
          <a:off x="1187450" y="2248535"/>
          <a:ext cx="9578340" cy="4118610"/>
        </p:xfrm>
        <a:graphic>
          <a:graphicData uri="http://schemas.openxmlformats.org/drawingml/2006/table">
            <a:tbl>
              <a:tblPr/>
              <a:tblGrid>
                <a:gridCol w="1436370"/>
                <a:gridCol w="8141970"/>
              </a:tblGrid>
              <a:tr h="748665">
                <a:tc>
                  <a:txBody>
                    <a:bodyPr/>
                    <a:p>
                      <a:pPr marL="0" indent="0" algn="ctr" defTabSz="914400">
                        <a:spcBef>
                          <a:spcPct val="0"/>
                        </a:spcBef>
                        <a:spcAft>
                          <a:spcPct val="0"/>
                        </a:spcAft>
                        <a:tabLst>
                          <a:tab pos="1200150" algn="l"/>
                          <a:tab pos="2133600" algn="l"/>
                          <a:tab pos="3067050" algn="l"/>
                          <a:tab pos="4000500" algn="l"/>
                        </a:tabLst>
                      </a:pPr>
                      <a:r>
                        <a:rPr lang="zh-CN" sz="2400">
                          <a:solidFill>
                            <a:schemeClr val="tx1"/>
                          </a:solidFill>
                          <a:latin typeface="宋体" panose="02010600030101010101" pitchFamily="2" charset="-122"/>
                          <a:ea typeface="宋体" panose="02010600030101010101" pitchFamily="2" charset="-122"/>
                        </a:rPr>
                        <a:t>等级水平</a:t>
                      </a:r>
                      <a:endParaRPr lang="zh-CN" sz="2400">
                        <a:solidFill>
                          <a:schemeClr val="tx1"/>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defTabSz="914400">
                        <a:spcBef>
                          <a:spcPct val="0"/>
                        </a:spcBef>
                        <a:spcAft>
                          <a:spcPct val="0"/>
                        </a:spcAft>
                        <a:tabLst>
                          <a:tab pos="1200150" algn="l"/>
                          <a:tab pos="2133600" algn="l"/>
                          <a:tab pos="3067050" algn="l"/>
                          <a:tab pos="4000500" algn="l"/>
                        </a:tabLst>
                      </a:pPr>
                      <a:r>
                        <a:rPr lang="zh-CN" sz="2400">
                          <a:solidFill>
                            <a:schemeClr val="tx1"/>
                          </a:solidFill>
                          <a:latin typeface="宋体" panose="02010600030101010101" pitchFamily="2" charset="-122"/>
                          <a:ea typeface="宋体" panose="02010600030101010101" pitchFamily="2" charset="-122"/>
                          <a:cs typeface="宋体" panose="02010600030101010101" pitchFamily="2" charset="-122"/>
                        </a:rPr>
                        <a:t>等</a:t>
                      </a:r>
                      <a:r>
                        <a:rPr lang="zh-CN" altLang="en-US" sz="2400">
                          <a:solidFill>
                            <a:schemeClr val="tx1"/>
                          </a:solidFill>
                          <a:latin typeface="宋体" panose="02010600030101010101" pitchFamily="2" charset="-122"/>
                          <a:ea typeface="宋体" panose="02010600030101010101" pitchFamily="2" charset="-122"/>
                          <a:cs typeface="宋体" panose="02010600030101010101" pitchFamily="2" charset="-122"/>
                        </a:rPr>
                        <a:t>  </a:t>
                      </a:r>
                      <a:r>
                        <a:rPr lang="zh-CN" sz="2400">
                          <a:solidFill>
                            <a:schemeClr val="tx1"/>
                          </a:solidFill>
                          <a:latin typeface="宋体" panose="02010600030101010101" pitchFamily="2" charset="-122"/>
                          <a:ea typeface="宋体" panose="02010600030101010101" pitchFamily="2" charset="-122"/>
                          <a:cs typeface="宋体" panose="02010600030101010101" pitchFamily="2" charset="-122"/>
                        </a:rPr>
                        <a:t>级</a:t>
                      </a:r>
                      <a:r>
                        <a:rPr lang="zh-CN" altLang="en-US" sz="2400">
                          <a:solidFill>
                            <a:schemeClr val="tx1"/>
                          </a:solidFill>
                          <a:latin typeface="宋体" panose="02010600030101010101" pitchFamily="2" charset="-122"/>
                          <a:ea typeface="宋体" panose="02010600030101010101" pitchFamily="2" charset="-122"/>
                          <a:cs typeface="宋体" panose="02010600030101010101" pitchFamily="2" charset="-122"/>
                        </a:rPr>
                        <a:t>  </a:t>
                      </a:r>
                      <a:r>
                        <a:rPr lang="zh-CN" sz="2400">
                          <a:solidFill>
                            <a:schemeClr val="tx1"/>
                          </a:solidFill>
                          <a:latin typeface="宋体" panose="02010600030101010101" pitchFamily="2" charset="-122"/>
                          <a:ea typeface="宋体" panose="02010600030101010101" pitchFamily="2" charset="-122"/>
                          <a:cs typeface="宋体" panose="02010600030101010101" pitchFamily="2" charset="-122"/>
                        </a:rPr>
                        <a:t>描</a:t>
                      </a:r>
                      <a:r>
                        <a:rPr lang="zh-CN" altLang="en-US" sz="2400">
                          <a:solidFill>
                            <a:schemeClr val="tx1"/>
                          </a:solidFill>
                          <a:latin typeface="宋体" panose="02010600030101010101" pitchFamily="2" charset="-122"/>
                          <a:ea typeface="宋体" panose="02010600030101010101" pitchFamily="2" charset="-122"/>
                          <a:cs typeface="宋体" panose="02010600030101010101" pitchFamily="2" charset="-122"/>
                        </a:rPr>
                        <a:t>  </a:t>
                      </a:r>
                      <a:r>
                        <a:rPr lang="zh-CN" sz="2400">
                          <a:solidFill>
                            <a:schemeClr val="tx1"/>
                          </a:solidFill>
                          <a:latin typeface="宋体" panose="02010600030101010101" pitchFamily="2" charset="-122"/>
                          <a:ea typeface="宋体" panose="02010600030101010101" pitchFamily="2" charset="-122"/>
                          <a:cs typeface="宋体" panose="02010600030101010101" pitchFamily="2" charset="-122"/>
                        </a:rPr>
                        <a:t>述</a:t>
                      </a:r>
                      <a:endParaRPr lang="zh-CN" sz="2400">
                        <a:solidFill>
                          <a:schemeClr val="tx1"/>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123315">
                <a:tc>
                  <a:txBody>
                    <a:bodyPr/>
                    <a:p>
                      <a:pPr marL="0" indent="0" algn="ctr" defTabSz="914400">
                        <a:spcBef>
                          <a:spcPct val="0"/>
                        </a:spcBef>
                        <a:spcAft>
                          <a:spcPct val="0"/>
                        </a:spcAft>
                        <a:tabLst>
                          <a:tab pos="1200150" algn="l"/>
                          <a:tab pos="2133600" algn="l"/>
                          <a:tab pos="3067050" algn="l"/>
                          <a:tab pos="4000500" algn="l"/>
                        </a:tabLst>
                      </a:pPr>
                      <a:r>
                        <a:rPr lang="zh-CN" sz="2400">
                          <a:solidFill>
                            <a:schemeClr val="tx1"/>
                          </a:solidFill>
                          <a:latin typeface="宋体" panose="02010600030101010101" pitchFamily="2" charset="-122"/>
                          <a:ea typeface="宋体" panose="02010600030101010101" pitchFamily="2" charset="-122"/>
                          <a:cs typeface="宋体" panose="02010600030101010101" pitchFamily="2" charset="-122"/>
                        </a:rPr>
                        <a:t>水平</a:t>
                      </a:r>
                      <a:r>
                        <a:rPr lang="en-US" altLang="zh-CN" sz="2400">
                          <a:solidFill>
                            <a:schemeClr val="tx1"/>
                          </a:solidFill>
                          <a:latin typeface="宋体" panose="02010600030101010101" pitchFamily="2" charset="-122"/>
                          <a:ea typeface="宋体" panose="02010600030101010101" pitchFamily="2" charset="-122"/>
                          <a:cs typeface="宋体" panose="02010600030101010101" pitchFamily="2" charset="-122"/>
                        </a:rPr>
                        <a:t>4</a:t>
                      </a:r>
                      <a:endParaRPr lang="en-US" altLang="zh-CN" sz="2400">
                        <a:solidFill>
                          <a:schemeClr val="tx1"/>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defTabSz="914400">
                        <a:spcBef>
                          <a:spcPct val="0"/>
                        </a:spcBef>
                        <a:spcAft>
                          <a:spcPct val="0"/>
                        </a:spcAft>
                        <a:tabLst>
                          <a:tab pos="1200150" algn="l"/>
                          <a:tab pos="2133600" algn="l"/>
                          <a:tab pos="3067050" algn="l"/>
                          <a:tab pos="4000500" algn="l"/>
                        </a:tabLst>
                      </a:pPr>
                      <a:r>
                        <a:rPr lang="zh-CN" sz="2400">
                          <a:solidFill>
                            <a:schemeClr val="tx1"/>
                          </a:solidFill>
                          <a:latin typeface="宋体" panose="02010600030101010101" pitchFamily="2" charset="-122"/>
                          <a:ea typeface="宋体" panose="02010600030101010101" pitchFamily="2" charset="-122"/>
                        </a:rPr>
                        <a:t>观点鲜明，能明确表达自己的见解；紧扣问题，综合运用所学知识展开论述；逻辑严密，条理清晰</a:t>
                      </a:r>
                      <a:endParaRPr lang="zh-CN" sz="2400">
                        <a:solidFill>
                          <a:schemeClr val="tx1"/>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123315">
                <a:tc>
                  <a:txBody>
                    <a:bodyPr/>
                    <a:p>
                      <a:pPr marL="0" indent="0" algn="ctr" defTabSz="914400">
                        <a:spcBef>
                          <a:spcPct val="0"/>
                        </a:spcBef>
                        <a:spcAft>
                          <a:spcPct val="0"/>
                        </a:spcAft>
                        <a:tabLst>
                          <a:tab pos="1200150" algn="l"/>
                          <a:tab pos="2133600" algn="l"/>
                          <a:tab pos="3067050" algn="l"/>
                          <a:tab pos="4000500" algn="l"/>
                        </a:tabLst>
                      </a:pPr>
                      <a:r>
                        <a:rPr lang="zh-CN" sz="2400">
                          <a:solidFill>
                            <a:schemeClr val="tx1"/>
                          </a:solidFill>
                          <a:latin typeface="宋体" panose="02010600030101010101" pitchFamily="2" charset="-122"/>
                          <a:ea typeface="宋体" panose="02010600030101010101" pitchFamily="2" charset="-122"/>
                          <a:cs typeface="宋体" panose="02010600030101010101" pitchFamily="2" charset="-122"/>
                        </a:rPr>
                        <a:t>水平</a:t>
                      </a:r>
                      <a:r>
                        <a:rPr lang="en-US" altLang="zh-CN" sz="2400">
                          <a:solidFill>
                            <a:schemeClr val="tx1"/>
                          </a:solidFill>
                          <a:latin typeface="宋体" panose="02010600030101010101" pitchFamily="2" charset="-122"/>
                          <a:ea typeface="宋体" panose="02010600030101010101" pitchFamily="2" charset="-122"/>
                          <a:cs typeface="宋体" panose="02010600030101010101" pitchFamily="2" charset="-122"/>
                        </a:rPr>
                        <a:t>3</a:t>
                      </a:r>
                      <a:endParaRPr lang="en-US" altLang="zh-CN" sz="2400">
                        <a:solidFill>
                          <a:schemeClr val="tx1"/>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defTabSz="914400">
                        <a:spcBef>
                          <a:spcPct val="0"/>
                        </a:spcBef>
                        <a:spcAft>
                          <a:spcPct val="0"/>
                        </a:spcAft>
                        <a:tabLst>
                          <a:tab pos="1200150" algn="l"/>
                          <a:tab pos="2133600" algn="l"/>
                          <a:tab pos="3067050" algn="l"/>
                          <a:tab pos="4000500" algn="l"/>
                        </a:tabLst>
                      </a:pPr>
                      <a:r>
                        <a:rPr lang="zh-CN" sz="2400">
                          <a:solidFill>
                            <a:schemeClr val="tx1"/>
                          </a:solidFill>
                          <a:latin typeface="宋体" panose="02010600030101010101" pitchFamily="2" charset="-122"/>
                          <a:ea typeface="宋体" panose="02010600030101010101" pitchFamily="2" charset="-122"/>
                        </a:rPr>
                        <a:t>观点比较明确，能表达自己的见解；能扣住问题展开论述，知识运用比较准确；逻辑性较强，有条理</a:t>
                      </a:r>
                      <a:endParaRPr lang="zh-CN" sz="2400">
                        <a:solidFill>
                          <a:schemeClr val="tx1"/>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749300">
                <a:tc>
                  <a:txBody>
                    <a:bodyPr/>
                    <a:p>
                      <a:pPr marL="0" indent="0" algn="ctr" defTabSz="914400">
                        <a:spcBef>
                          <a:spcPct val="0"/>
                        </a:spcBef>
                        <a:spcAft>
                          <a:spcPct val="0"/>
                        </a:spcAft>
                        <a:tabLst>
                          <a:tab pos="1200150" algn="l"/>
                          <a:tab pos="2133600" algn="l"/>
                          <a:tab pos="3067050" algn="l"/>
                          <a:tab pos="4000500" algn="l"/>
                        </a:tabLst>
                      </a:pPr>
                      <a:r>
                        <a:rPr lang="zh-CN" sz="2400">
                          <a:solidFill>
                            <a:schemeClr val="tx1"/>
                          </a:solidFill>
                          <a:latin typeface="宋体" panose="02010600030101010101" pitchFamily="2" charset="-122"/>
                          <a:ea typeface="宋体" panose="02010600030101010101" pitchFamily="2" charset="-122"/>
                          <a:cs typeface="宋体" panose="02010600030101010101" pitchFamily="2" charset="-122"/>
                        </a:rPr>
                        <a:t>水平</a:t>
                      </a:r>
                      <a:r>
                        <a:rPr lang="en-US" altLang="zh-CN" sz="2400">
                          <a:solidFill>
                            <a:schemeClr val="tx1"/>
                          </a:solidFill>
                          <a:latin typeface="宋体" panose="02010600030101010101" pitchFamily="2" charset="-122"/>
                          <a:ea typeface="宋体" panose="02010600030101010101" pitchFamily="2" charset="-122"/>
                          <a:cs typeface="宋体" panose="02010600030101010101" pitchFamily="2" charset="-122"/>
                        </a:rPr>
                        <a:t>2</a:t>
                      </a:r>
                      <a:endParaRPr lang="en-US" altLang="zh-CN" sz="2400">
                        <a:solidFill>
                          <a:schemeClr val="tx1"/>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defTabSz="914400">
                        <a:spcBef>
                          <a:spcPct val="0"/>
                        </a:spcBef>
                        <a:spcAft>
                          <a:spcPct val="0"/>
                        </a:spcAft>
                        <a:tabLst>
                          <a:tab pos="1200150" algn="l"/>
                          <a:tab pos="2133600" algn="l"/>
                          <a:tab pos="3067050" algn="l"/>
                          <a:tab pos="4000500" algn="l"/>
                        </a:tabLst>
                      </a:pPr>
                      <a:r>
                        <a:rPr lang="zh-CN" sz="2400">
                          <a:solidFill>
                            <a:schemeClr val="tx1"/>
                          </a:solidFill>
                          <a:latin typeface="宋体" panose="02010600030101010101" pitchFamily="2" charset="-122"/>
                          <a:ea typeface="宋体" panose="02010600030101010101" pitchFamily="2" charset="-122"/>
                        </a:rPr>
                        <a:t>观点不明确；论述不能集中指向问题，罗列知识；知识运用不正确；论述缺乏逻辑，条理性差</a:t>
                      </a:r>
                      <a:endParaRPr lang="zh-CN" sz="2400">
                        <a:solidFill>
                          <a:schemeClr val="tx1"/>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74015">
                <a:tc>
                  <a:txBody>
                    <a:bodyPr/>
                    <a:p>
                      <a:pPr marL="0" indent="0" algn="ctr" defTabSz="914400">
                        <a:spcBef>
                          <a:spcPct val="0"/>
                        </a:spcBef>
                        <a:spcAft>
                          <a:spcPct val="0"/>
                        </a:spcAft>
                        <a:tabLst>
                          <a:tab pos="1200150" algn="l"/>
                          <a:tab pos="2133600" algn="l"/>
                          <a:tab pos="3067050" algn="l"/>
                          <a:tab pos="4000500" algn="l"/>
                        </a:tabLst>
                      </a:pPr>
                      <a:r>
                        <a:rPr lang="zh-CN" sz="2400">
                          <a:solidFill>
                            <a:schemeClr val="tx1"/>
                          </a:solidFill>
                          <a:latin typeface="宋体" panose="02010600030101010101" pitchFamily="2" charset="-122"/>
                          <a:ea typeface="宋体" panose="02010600030101010101" pitchFamily="2" charset="-122"/>
                          <a:cs typeface="宋体" panose="02010600030101010101" pitchFamily="2" charset="-122"/>
                        </a:rPr>
                        <a:t>水平</a:t>
                      </a:r>
                      <a:r>
                        <a:rPr lang="en-US" altLang="zh-CN" sz="2400">
                          <a:solidFill>
                            <a:schemeClr val="tx1"/>
                          </a:solidFill>
                          <a:latin typeface="宋体" panose="02010600030101010101" pitchFamily="2" charset="-122"/>
                          <a:ea typeface="宋体" panose="02010600030101010101" pitchFamily="2" charset="-122"/>
                          <a:cs typeface="宋体" panose="02010600030101010101" pitchFamily="2" charset="-122"/>
                        </a:rPr>
                        <a:t>1</a:t>
                      </a:r>
                      <a:endParaRPr lang="en-US" altLang="zh-CN" sz="2400">
                        <a:solidFill>
                          <a:schemeClr val="tx1"/>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defTabSz="914400">
                        <a:lnSpc>
                          <a:spcPts val="1630"/>
                        </a:lnSpc>
                        <a:spcBef>
                          <a:spcPct val="0"/>
                        </a:spcBef>
                        <a:spcAft>
                          <a:spcPct val="0"/>
                        </a:spcAft>
                        <a:tabLst>
                          <a:tab pos="1200150" algn="l"/>
                          <a:tab pos="2133600" algn="l"/>
                          <a:tab pos="3067050" algn="l"/>
                          <a:tab pos="4000500" algn="l"/>
                        </a:tabLst>
                      </a:pPr>
                      <a:r>
                        <a:rPr lang="zh-CN" sz="2400">
                          <a:solidFill>
                            <a:schemeClr val="tx1"/>
                          </a:solidFill>
                          <a:latin typeface="宋体" panose="02010600030101010101" pitchFamily="2" charset="-122"/>
                          <a:ea typeface="宋体" panose="02010600030101010101" pitchFamily="2" charset="-122"/>
                        </a:rPr>
                        <a:t>应答与试题无关；或重复试题内容；或没有应答</a:t>
                      </a:r>
                      <a:endParaRPr lang="zh-CN" sz="2400">
                        <a:solidFill>
                          <a:schemeClr val="tx1"/>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TABLE_ENDDRAG_ORIGIN_RECT" val="948*504"/>
  <p:tag name="TABLE_ENDDRAG_RECT" val="5*69*948*504"/>
</p:tagLst>
</file>

<file path=ppt/tags/tag2.xml><?xml version="1.0" encoding="utf-8"?>
<p:tagLst xmlns:p="http://schemas.openxmlformats.org/presentationml/2006/main">
  <p:tag name="KSO_WM_BEAUTIFY_FLAG" val="#wm#"/>
  <p:tag name="KSO_WM_TEMPLATE_CATEGORY" val="custom"/>
  <p:tag name="KSO_WM_TEMPLATE_INDEX" val="20205081"/>
</p:tagLst>
</file>

<file path=ppt/tags/tag3.xml><?xml version="1.0" encoding="utf-8"?>
<p:tagLst xmlns:p="http://schemas.openxmlformats.org/presentationml/2006/main">
  <p:tag name="KSO_WM_DIAGRAM_VIRTUALLY_FRAME" val="{&quot;height&quot;:228.8,&quot;left&quot;:590.15,&quot;top&quot;:159.45,&quot;width&quot;:356.95}"/>
</p:tagLst>
</file>

<file path=ppt/tags/tag4.xml><?xml version="1.0" encoding="utf-8"?>
<p:tagLst xmlns:p="http://schemas.openxmlformats.org/presentationml/2006/main">
  <p:tag name="KSO_WM_DIAGRAM_VIRTUALLY_FRAME" val="{&quot;height&quot;:228.8,&quot;left&quot;:590.15,&quot;top&quot;:159.45,&quot;width&quot;:356.95}"/>
</p:tagLst>
</file>

<file path=ppt/tags/tag5.xml><?xml version="1.0" encoding="utf-8"?>
<p:tagLst xmlns:p="http://schemas.openxmlformats.org/presentationml/2006/main">
  <p:tag name="KSO_WM_DIAGRAM_VIRTUALLY_FRAME" val="{&quot;height&quot;:228.8,&quot;left&quot;:590.15,&quot;top&quot;:159.45,&quot;width&quot;:356.95}"/>
</p:tagLst>
</file>

<file path=ppt/tags/tag6.xml><?xml version="1.0" encoding="utf-8"?>
<p:tagLst xmlns:p="http://schemas.openxmlformats.org/presentationml/2006/main">
  <p:tag name="KSO_WM_DIAGRAM_VIRTUALLY_FRAME" val="{&quot;height&quot;:228.8,&quot;left&quot;:590.15,&quot;top&quot;:159.45,&quot;width&quot;:356.95}"/>
</p:tagLst>
</file>

<file path=ppt/tags/tag7.xml><?xml version="1.0" encoding="utf-8"?>
<p:tagLst xmlns:p="http://schemas.openxmlformats.org/presentationml/2006/main">
  <p:tag name="KSO_WM_DIAGRAM_VIRTUALLY_FRAME" val="{&quot;height&quot;:228.8,&quot;left&quot;:590.15,&quot;top&quot;:159.45,&quot;width&quot;:356.95}"/>
</p:tagLst>
</file>

<file path=ppt/tags/tag8.xml><?xml version="1.0" encoding="utf-8"?>
<p:tagLst xmlns:p="http://schemas.openxmlformats.org/presentationml/2006/main">
  <p:tag name="KSO_WM_DIAGRAM_VIRTUALLY_FRAME" val="{&quot;height&quot;:228.8,&quot;left&quot;:590.15,&quot;top&quot;:159.45,&quot;width&quot;:356.95}"/>
</p:tagLst>
</file>

<file path=ppt/tags/tag9.xml><?xml version="1.0" encoding="utf-8"?>
<p:tagLst xmlns:p="http://schemas.openxmlformats.org/presentationml/2006/main">
  <p:tag name="KSO_WM_DIAGRAM_VIRTUALLY_FRAME" val="{&quot;height&quot;:228.8,&quot;left&quot;:590.15,&quot;top&quot;:159.45,&quot;width&quot;:356.95}"/>
</p:tagLst>
</file>

<file path=ppt/tags/tag10.xml><?xml version="1.0" encoding="utf-8"?>
<p:tagLst xmlns:p="http://schemas.openxmlformats.org/presentationml/2006/main">
  <p:tag name="KSO_WM_DIAGRAM_VIRTUALLY_FRAME" val="{&quot;height&quot;:228.8,&quot;left&quot;:590.15,&quot;top&quot;:159.45,&quot;width&quot;:356.95}"/>
</p:tagLst>
</file>

<file path=ppt/tags/tag11.xml><?xml version="1.0" encoding="utf-8"?>
<p:tagLst xmlns:p="http://schemas.openxmlformats.org/presentationml/2006/main">
  <p:tag name="KSO_WM_DIAGRAM_VIRTUALLY_FRAME" val="{&quot;height&quot;:228.8,&quot;left&quot;:590.15,&quot;top&quot;:159.45,&quot;width&quot;:356.95}"/>
</p:tagLst>
</file>

<file path=ppt/tags/tag12.xml><?xml version="1.0" encoding="utf-8"?>
<p:tagLst xmlns:p="http://schemas.openxmlformats.org/presentationml/2006/main">
  <p:tag name="KSO_WM_DIAGRAM_VIRTUALLY_FRAME" val="{&quot;height&quot;:228.8,&quot;left&quot;:590.15,&quot;top&quot;:159.45,&quot;width&quot;:356.95}"/>
</p:tagLst>
</file>

<file path=ppt/tags/tag13.xml><?xml version="1.0" encoding="utf-8"?>
<p:tagLst xmlns:p="http://schemas.openxmlformats.org/presentationml/2006/main">
  <p:tag name="KSO_WM_DIAGRAM_VIRTUALLY_FRAME" val="{&quot;height&quot;:228.8,&quot;left&quot;:590.15,&quot;top&quot;:159.45,&quot;width&quot;:356.95}"/>
</p:tagLst>
</file>

<file path=ppt/tags/tag14.xml><?xml version="1.0" encoding="utf-8"?>
<p:tagLst xmlns:p="http://schemas.openxmlformats.org/presentationml/2006/main">
  <p:tag name="KSO_WM_DIAGRAM_VIRTUALLY_FRAME" val="{&quot;height&quot;:228.8,&quot;left&quot;:590.15,&quot;top&quot;:159.45,&quot;width&quot;:356.95}"/>
</p:tagLst>
</file>

<file path=ppt/tags/tag15.xml><?xml version="1.0" encoding="utf-8"?>
<p:tagLst xmlns:p="http://schemas.openxmlformats.org/presentationml/2006/main">
  <p:tag name="KSO_WM_DIAGRAM_VIRTUALLY_FRAME" val="{&quot;height&quot;:228.8,&quot;left&quot;:590.15,&quot;top&quot;:159.45,&quot;width&quot;:356.95}"/>
</p:tagLst>
</file>

<file path=ppt/tags/tag16.xml><?xml version="1.0" encoding="utf-8"?>
<p:tagLst xmlns:p="http://schemas.openxmlformats.org/presentationml/2006/main">
  <p:tag name="KSO_WM_DIAGRAM_VIRTUALLY_FRAME" val="{&quot;height&quot;:228.8,&quot;left&quot;:590.15,&quot;top&quot;:159.45,&quot;width&quot;:356.95}"/>
</p:tagLst>
</file>

<file path=ppt/tags/tag17.xml><?xml version="1.0" encoding="utf-8"?>
<p:tagLst xmlns:p="http://schemas.openxmlformats.org/presentationml/2006/main">
  <p:tag name="KSO_WM_DIAGRAM_VIRTUALLY_FRAME" val="{&quot;height&quot;:228.8,&quot;left&quot;:590.15,&quot;top&quot;:159.45,&quot;width&quot;:356.95}"/>
</p:tagLst>
</file>

<file path=ppt/tags/tag18.xml><?xml version="1.0" encoding="utf-8"?>
<p:tagLst xmlns:p="http://schemas.openxmlformats.org/presentationml/2006/main">
  <p:tag name="KSO_WM_DIAGRAM_VIRTUALLY_FRAME" val="{&quot;height&quot;:228.8,&quot;left&quot;:590.15,&quot;top&quot;:159.45,&quot;width&quot;:356.95}"/>
</p:tagLst>
</file>

<file path=ppt/tags/tag19.xml><?xml version="1.0" encoding="utf-8"?>
<p:tagLst xmlns:p="http://schemas.openxmlformats.org/presentationml/2006/main">
  <p:tag name="KSO_WM_DIAGRAM_VIRTUALLY_FRAME" val="{&quot;height&quot;:228.8,&quot;left&quot;:590.15,&quot;top&quot;:159.45,&quot;width&quot;:356.95}"/>
</p:tagLst>
</file>

<file path=ppt/tags/tag20.xml><?xml version="1.0" encoding="utf-8"?>
<p:tagLst xmlns:p="http://schemas.openxmlformats.org/presentationml/2006/main">
  <p:tag name="KSO_WM_DIAGRAM_VIRTUALLY_FRAME" val="{&quot;height&quot;:228.8,&quot;left&quot;:590.15,&quot;top&quot;:159.45,&quot;width&quot;:356.95}"/>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wm#"/>
  <p:tag name="KSO_WM_TEMPLATE_CATEGORY" val="custom"/>
  <p:tag name="KSO_WM_TEMPLATE_INDEX" val="20205081"/>
</p:tagLst>
</file>

<file path=ppt/tags/tag23.xml><?xml version="1.0" encoding="utf-8"?>
<p:tagLst xmlns:p="http://schemas.openxmlformats.org/presentationml/2006/main">
  <p:tag name="KSO_WM_DIAGRAM_VIRTUALLY_FRAME" val="{&quot;height&quot;:336.55,&quot;left&quot;:624.9,&quot;top&quot;:89.4,&quot;width&quot;:296.7}"/>
</p:tagLst>
</file>

<file path=ppt/tags/tag24.xml><?xml version="1.0" encoding="utf-8"?>
<p:tagLst xmlns:p="http://schemas.openxmlformats.org/presentationml/2006/main">
  <p:tag name="KSO_WM_DIAGRAM_VIRTUALLY_FRAME" val="{&quot;height&quot;:336.55,&quot;left&quot;:624.9,&quot;top&quot;:89.4,&quot;width&quot;:296.7}"/>
</p:tagLst>
</file>

<file path=ppt/tags/tag25.xml><?xml version="1.0" encoding="utf-8"?>
<p:tagLst xmlns:p="http://schemas.openxmlformats.org/presentationml/2006/main">
  <p:tag name="KSO_WM_DIAGRAM_VIRTUALLY_FRAME" val="{&quot;height&quot;:336.55,&quot;left&quot;:624.9,&quot;top&quot;:89.4,&quot;width&quot;:296.7}"/>
</p:tagLst>
</file>

<file path=ppt/tags/tag26.xml><?xml version="1.0" encoding="utf-8"?>
<p:tagLst xmlns:p="http://schemas.openxmlformats.org/presentationml/2006/main">
  <p:tag name="KSO_WM_DIAGRAM_VIRTUALLY_FRAME" val="{&quot;height&quot;:336.55,&quot;left&quot;:624.9,&quot;top&quot;:89.4,&quot;width&quot;:296.7}"/>
</p:tagLst>
</file>

<file path=ppt/tags/tag27.xml><?xml version="1.0" encoding="utf-8"?>
<p:tagLst xmlns:p="http://schemas.openxmlformats.org/presentationml/2006/main">
  <p:tag name="KSO_WM_DIAGRAM_VIRTUALLY_FRAME" val="{&quot;height&quot;:336.55,&quot;left&quot;:624.9,&quot;top&quot;:89.4,&quot;width&quot;:296.7}"/>
</p:tagLst>
</file>

<file path=ppt/tags/tag28.xml><?xml version="1.0" encoding="utf-8"?>
<p:tagLst xmlns:p="http://schemas.openxmlformats.org/presentationml/2006/main">
  <p:tag name="KSO_WM_DIAGRAM_VIRTUALLY_FRAME" val="{&quot;height&quot;:336.55,&quot;left&quot;:624.9,&quot;top&quot;:89.4,&quot;width&quot;:296.7}"/>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TABLE_ENDDRAG_ORIGIN_RECT" val="870*326"/>
  <p:tag name="TABLE_ENDDRAG_RECT" val="44*129*870*326"/>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TABLE_ENDDRAG_ORIGIN_RECT" val="907*370"/>
  <p:tag name="TABLE_ENDDRAG_RECT" val="21*112*907*370"/>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TABLE_ENDDRAG_ORIGIN_RECT" val="754*324"/>
  <p:tag name="TABLE_ENDDRAG_RECT" val="93*177*754*32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11753</Words>
  <Application>WPS 演示</Application>
  <PresentationFormat>宽屏</PresentationFormat>
  <Paragraphs>666</Paragraphs>
  <Slides>70</Slides>
  <Notes>0</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70</vt:i4>
      </vt:variant>
    </vt:vector>
  </HeadingPairs>
  <TitlesOfParts>
    <vt:vector size="90" baseType="lpstr">
      <vt:lpstr>Arial</vt:lpstr>
      <vt:lpstr>宋体</vt:lpstr>
      <vt:lpstr>Wingdings</vt:lpstr>
      <vt:lpstr>华文中宋</vt:lpstr>
      <vt:lpstr>Wingdings</vt:lpstr>
      <vt:lpstr>华文楷体</vt:lpstr>
      <vt:lpstr>黑体</vt:lpstr>
      <vt:lpstr>微软雅黑</vt:lpstr>
      <vt:lpstr>Arial Unicode MS</vt:lpstr>
      <vt:lpstr>Arial Black</vt:lpstr>
      <vt:lpstr>quote-cjk-patch</vt:lpstr>
      <vt:lpstr>Segoe Print</vt:lpstr>
      <vt:lpstr>等线</vt:lpstr>
      <vt:lpstr>Times New Roman</vt:lpstr>
      <vt:lpstr>Arial</vt:lpstr>
      <vt:lpstr>Calibri Light</vt:lpstr>
      <vt:lpstr>Calibri</vt:lpstr>
      <vt:lpstr>Times New Roman</vt:lpstr>
      <vt:lpstr>楷体</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具体评标:</vt:lpstr>
      <vt:lpstr>PowerPoint 演示文稿</vt:lpstr>
      <vt:lpstr>PowerPoint 演示文稿</vt:lpstr>
      <vt:lpstr>学生问题: </vt:lpstr>
      <vt:lpstr>教学建议: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uos</dc:creator>
  <cp:lastModifiedBy>寇哥</cp:lastModifiedBy>
  <cp:revision>42</cp:revision>
  <dcterms:created xsi:type="dcterms:W3CDTF">2026-05-10T09:04:00Z</dcterms:created>
  <dcterms:modified xsi:type="dcterms:W3CDTF">2026-05-10T11:32:57Z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B694AFC2FF1E0931E07CFD69D0CF6EAE</vt:lpwstr>
  </property>
</Properties>
</file>