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33" r:id="rId2"/>
    <p:sldId id="262" r:id="rId3"/>
    <p:sldId id="396" r:id="rId4"/>
    <p:sldId id="397" r:id="rId5"/>
    <p:sldId id="398" r:id="rId6"/>
    <p:sldId id="399" r:id="rId7"/>
    <p:sldId id="258" r:id="rId8"/>
    <p:sldId id="400" r:id="rId9"/>
    <p:sldId id="401" r:id="rId10"/>
    <p:sldId id="10852" r:id="rId11"/>
    <p:sldId id="402" r:id="rId12"/>
    <p:sldId id="403" r:id="rId13"/>
    <p:sldId id="404" r:id="rId14"/>
    <p:sldId id="405" r:id="rId15"/>
    <p:sldId id="412" r:id="rId16"/>
    <p:sldId id="414" r:id="rId17"/>
    <p:sldId id="413" r:id="rId18"/>
    <p:sldId id="406" r:id="rId19"/>
    <p:sldId id="256" r:id="rId20"/>
    <p:sldId id="407" r:id="rId21"/>
    <p:sldId id="408" r:id="rId22"/>
    <p:sldId id="409" r:id="rId23"/>
    <p:sldId id="410" r:id="rId24"/>
    <p:sldId id="10756" r:id="rId25"/>
    <p:sldId id="294" r:id="rId26"/>
    <p:sldId id="10757" r:id="rId27"/>
    <p:sldId id="10758" r:id="rId28"/>
    <p:sldId id="10801" r:id="rId29"/>
    <p:sldId id="10802" r:id="rId30"/>
    <p:sldId id="10803" r:id="rId31"/>
    <p:sldId id="298" r:id="rId32"/>
    <p:sldId id="422" r:id="rId33"/>
    <p:sldId id="360" r:id="rId34"/>
    <p:sldId id="362" r:id="rId35"/>
    <p:sldId id="10804" r:id="rId36"/>
    <p:sldId id="10720" r:id="rId37"/>
    <p:sldId id="10721" r:id="rId38"/>
    <p:sldId id="2242" r:id="rId39"/>
    <p:sldId id="2243" r:id="rId40"/>
    <p:sldId id="368" r:id="rId41"/>
    <p:sldId id="370" r:id="rId42"/>
    <p:sldId id="10805" r:id="rId43"/>
    <p:sldId id="371" r:id="rId44"/>
    <p:sldId id="394" r:id="rId45"/>
    <p:sldId id="374" r:id="rId46"/>
    <p:sldId id="10806" r:id="rId47"/>
    <p:sldId id="10807" r:id="rId48"/>
    <p:sldId id="375" r:id="rId49"/>
    <p:sldId id="395" r:id="rId50"/>
    <p:sldId id="378" r:id="rId51"/>
    <p:sldId id="10808" r:id="rId52"/>
    <p:sldId id="10809" r:id="rId53"/>
    <p:sldId id="259" r:id="rId54"/>
    <p:sldId id="392" r:id="rId55"/>
    <p:sldId id="260" r:id="rId56"/>
    <p:sldId id="393" r:id="rId57"/>
    <p:sldId id="382" r:id="rId58"/>
    <p:sldId id="10810" r:id="rId59"/>
    <p:sldId id="10725" r:id="rId60"/>
    <p:sldId id="10726" r:id="rId61"/>
    <p:sldId id="10728" r:id="rId62"/>
    <p:sldId id="10724" r:id="rId63"/>
    <p:sldId id="10812" r:id="rId64"/>
    <p:sldId id="10813" r:id="rId65"/>
    <p:sldId id="10811" r:id="rId66"/>
    <p:sldId id="387" r:id="rId67"/>
    <p:sldId id="10727" r:id="rId68"/>
    <p:sldId id="10709" r:id="rId69"/>
    <p:sldId id="10710" r:id="rId70"/>
    <p:sldId id="389" r:id="rId71"/>
    <p:sldId id="10814" r:id="rId72"/>
    <p:sldId id="10849" r:id="rId73"/>
    <p:sldId id="10850" r:id="rId74"/>
    <p:sldId id="10851" r:id="rId75"/>
  </p:sldIdLst>
  <p:sldSz cx="12192000" cy="6858000"/>
  <p:notesSz cx="6858000" cy="9144000"/>
  <p:custDataLst>
    <p:tags r:id="rId7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631" autoAdjust="0"/>
    <p:restoredTop sz="94660"/>
  </p:normalViewPr>
  <p:slideViewPr>
    <p:cSldViewPr snapToGrid="0">
      <p:cViewPr varScale="1">
        <p:scale>
          <a:sx n="107" d="100"/>
          <a:sy n="107" d="100"/>
        </p:scale>
        <p:origin x="62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gs" Target="tags/tag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22134472-57D9-4869-805E-A90ACACF7FB8}" type="datetimeFigureOut">
              <a:rPr lang="zh-CN" altLang="en-US" smtClean="0"/>
              <a:t>2025/5/18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F0261BD-84AD-4BB6-87D7-A157149ABD6F}"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2134472-57D9-4869-805E-A90ACACF7FB8}" type="datetimeFigureOut">
              <a:rPr lang="zh-CN" altLang="en-US" smtClean="0"/>
              <a:t>2025/5/18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F0261BD-84AD-4BB6-87D7-A157149ABD6F}"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22134472-57D9-4869-805E-A90ACACF7FB8}" type="datetimeFigureOut">
              <a:rPr lang="zh-CN" altLang="en-US" smtClean="0"/>
              <a:t>2025/5/18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F0261BD-84AD-4BB6-87D7-A157149ABD6F}"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22134472-57D9-4869-805E-A90ACACF7FB8}" type="datetimeFigureOut">
              <a:rPr lang="zh-CN" altLang="en-US" smtClean="0"/>
              <a:t>2025/5/18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F0261BD-84AD-4BB6-87D7-A157149ABD6F}"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22134472-57D9-4869-805E-A90ACACF7FB8}" type="datetimeFigureOut">
              <a:rPr lang="zh-CN" altLang="en-US" smtClean="0"/>
              <a:t>2025/5/18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F0261BD-84AD-4BB6-87D7-A157149ABD6F}"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22134472-57D9-4869-805E-A90ACACF7FB8}" type="datetimeFigureOut">
              <a:rPr lang="zh-CN" altLang="en-US" smtClean="0"/>
              <a:t>2025/5/18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F0261BD-84AD-4BB6-87D7-A157149ABD6F}"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2134472-57D9-4869-805E-A90ACACF7FB8}" type="datetimeFigureOut">
              <a:rPr lang="zh-CN" altLang="en-US" smtClean="0"/>
              <a:t>2025/5/18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F0261BD-84AD-4BB6-87D7-A157149ABD6F}"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2134472-57D9-4869-805E-A90ACACF7FB8}" type="datetimeFigureOut">
              <a:rPr lang="zh-CN" altLang="en-US" smtClean="0"/>
              <a:t>2025/5/18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F0261BD-84AD-4BB6-87D7-A157149ABD6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2134472-57D9-4869-805E-A90ACACF7FB8}" type="datetimeFigureOut">
              <a:rPr lang="zh-CN" altLang="en-US" smtClean="0"/>
              <a:t>2025/5/18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F0261BD-84AD-4BB6-87D7-A157149ABD6F}"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2134472-57D9-4869-805E-A90ACACF7FB8}" type="datetimeFigureOut">
              <a:rPr lang="zh-CN" altLang="en-US" smtClean="0"/>
              <a:t>2025/5/18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F0261BD-84AD-4BB6-87D7-A157149ABD6F}"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2134472-57D9-4869-805E-A90ACACF7FB8}" type="datetimeFigureOut">
              <a:rPr lang="zh-CN" altLang="en-US" smtClean="0"/>
              <a:t>2025/5/18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F0261BD-84AD-4BB6-87D7-A157149ABD6F}"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cSld name="1_两栏内容">
    <p:bg>
      <p:bgPr>
        <a:gradFill>
          <a:gsLst>
            <a:gs pos="0">
              <a:srgbClr val="C2E7E6"/>
            </a:gs>
            <a:gs pos="100000">
              <a:srgbClr val="6ACECC"/>
            </a:gs>
          </a:gsLst>
          <a:lin ang="0" scaled="0"/>
        </a:gradFill>
        <a:effectLst/>
      </p:bgPr>
    </p:bg>
    <p:spTree>
      <p:nvGrpSpPr>
        <p:cNvPr id="1" name=""/>
        <p:cNvGrpSpPr/>
        <p:nvPr/>
      </p:nvGrpSpPr>
      <p:grpSpPr>
        <a:xfrm>
          <a:off x="0" y="0"/>
          <a:ext cx="0" cy="0"/>
          <a:chOff x="0" y="0"/>
          <a:chExt cx="0" cy="0"/>
        </a:xfrm>
      </p:grpSpPr>
      <p:sp>
        <p:nvSpPr>
          <p:cNvPr id="8" name="圆角矩形 7"/>
          <p:cNvSpPr/>
          <p:nvPr userDrawn="1"/>
        </p:nvSpPr>
        <p:spPr>
          <a:xfrm>
            <a:off x="299402" y="244792"/>
            <a:ext cx="11593195" cy="6368415"/>
          </a:xfrm>
          <a:prstGeom prst="roundRect">
            <a:avLst>
              <a:gd name="adj" fmla="val 577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2134472-57D9-4869-805E-A90ACACF7FB8}" type="datetimeFigureOut">
              <a:rPr lang="zh-CN" altLang="en-US" smtClean="0"/>
              <a:t>2025/5/18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F0261BD-84AD-4BB6-87D7-A157149ABD6F}"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0" y="2280425"/>
            <a:ext cx="12192000" cy="1454244"/>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defPPr>
              <a:defRPr lang="zh-CN"/>
            </a:defPPr>
            <a:lvl1pPr algn="ctr">
              <a:lnSpc>
                <a:spcPct val="150000"/>
              </a:lnSpc>
              <a:defRPr sz="3200" b="1">
                <a:solidFill>
                  <a:srgbClr val="0070C0"/>
                </a:solidFill>
                <a:latin typeface="黑体" panose="02010609060101010101" pitchFamily="49" charset="-122"/>
                <a:ea typeface="黑体" panose="02010609060101010101" pitchFamily="49" charset="-122"/>
              </a:defRPr>
            </a:lvl1pPr>
          </a:lstStyle>
          <a:p>
            <a:r>
              <a:rPr lang="zh-CN" altLang="en-US" dirty="0">
                <a:solidFill>
                  <a:srgbClr val="FFFF00"/>
                </a:solidFill>
              </a:rPr>
              <a:t>东城区</a:t>
            </a:r>
            <a:r>
              <a:rPr lang="en-US" altLang="zh-CN" dirty="0">
                <a:solidFill>
                  <a:srgbClr val="FFFF00"/>
                </a:solidFill>
              </a:rPr>
              <a:t>2023-2024</a:t>
            </a:r>
            <a:r>
              <a:rPr lang="zh-CN" altLang="en-US" dirty="0">
                <a:solidFill>
                  <a:srgbClr val="FFFF00"/>
                </a:solidFill>
              </a:rPr>
              <a:t>学年度第二学期</a:t>
            </a:r>
            <a:r>
              <a:rPr lang="zh-CN" altLang="zh-CN" dirty="0">
                <a:solidFill>
                  <a:srgbClr val="FFFF00"/>
                </a:solidFill>
              </a:rPr>
              <a:t>高三综合练习（一）</a:t>
            </a:r>
            <a:endParaRPr lang="en-US" altLang="zh-CN" dirty="0">
              <a:solidFill>
                <a:srgbClr val="FFFF00"/>
              </a:solidFill>
            </a:endParaRPr>
          </a:p>
          <a:p>
            <a:r>
              <a:rPr lang="zh-CN" altLang="en-US" dirty="0">
                <a:solidFill>
                  <a:srgbClr val="FFFF00"/>
                </a:solidFill>
              </a:rPr>
              <a:t>高三政治  试题分析</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918498" y="614529"/>
            <a:ext cx="7654824" cy="3165414"/>
          </a:xfrm>
          <a:prstGeom prst="rect">
            <a:avLst/>
          </a:prstGeom>
        </p:spPr>
      </p:pic>
      <p:pic>
        <p:nvPicPr>
          <p:cNvPr id="7" name="图片 6"/>
          <p:cNvPicPr>
            <a:picLocks noChangeAspect="1"/>
          </p:cNvPicPr>
          <p:nvPr/>
        </p:nvPicPr>
        <p:blipFill>
          <a:blip r:embed="rId3"/>
          <a:stretch>
            <a:fillRect/>
          </a:stretch>
        </p:blipFill>
        <p:spPr>
          <a:xfrm>
            <a:off x="1918498" y="3779943"/>
            <a:ext cx="7654824" cy="2873210"/>
          </a:xfrm>
          <a:prstGeom prst="rect">
            <a:avLst/>
          </a:prstGeom>
        </p:spPr>
      </p:pic>
      <p:sp>
        <p:nvSpPr>
          <p:cNvPr id="8" name="文本框 7"/>
          <p:cNvSpPr txBox="1"/>
          <p:nvPr/>
        </p:nvSpPr>
        <p:spPr>
          <a:xfrm>
            <a:off x="0" y="139390"/>
            <a:ext cx="12192000" cy="461665"/>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zh-CN" altLang="en-US" sz="2400" b="1" dirty="0">
                <a:solidFill>
                  <a:srgbClr val="FFFF00"/>
                </a:solidFill>
                <a:latin typeface="黑体" panose="02010609060101010101" pitchFamily="49" charset="-122"/>
                <a:ea typeface="黑体" panose="02010609060101010101" pitchFamily="49" charset="-122"/>
              </a:rPr>
              <a:t>试卷结构</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667313" y="761237"/>
            <a:ext cx="9390971" cy="3926756"/>
          </a:xfrm>
          <a:prstGeom prst="rect">
            <a:avLst/>
          </a:prstGeom>
        </p:spPr>
      </p:pic>
      <p:sp>
        <p:nvSpPr>
          <p:cNvPr id="2" name="椭圆 1"/>
          <p:cNvSpPr/>
          <p:nvPr/>
        </p:nvSpPr>
        <p:spPr>
          <a:xfrm>
            <a:off x="3704795" y="2143120"/>
            <a:ext cx="2259454" cy="30511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9335836" y="1274931"/>
            <a:ext cx="651845" cy="30609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981367" y="1722299"/>
            <a:ext cx="651845" cy="30609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5265695" y="3014258"/>
            <a:ext cx="1813531" cy="30511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488209" y="736140"/>
            <a:ext cx="8913961" cy="4160727"/>
          </a:xfrm>
          <a:prstGeom prst="rect">
            <a:avLst/>
          </a:prstGeom>
        </p:spPr>
      </p:pic>
      <p:sp>
        <p:nvSpPr>
          <p:cNvPr id="2" name="椭圆 1"/>
          <p:cNvSpPr/>
          <p:nvPr/>
        </p:nvSpPr>
        <p:spPr>
          <a:xfrm>
            <a:off x="4218039" y="760377"/>
            <a:ext cx="3162054" cy="27727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5573906" y="1200765"/>
            <a:ext cx="3828263" cy="34486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3202367" y="2057251"/>
            <a:ext cx="856389" cy="290691"/>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170901" y="519739"/>
            <a:ext cx="11315048" cy="5346671"/>
          </a:xfrm>
          <a:prstGeom prst="rect">
            <a:avLst/>
          </a:prstGeom>
        </p:spPr>
      </p:pic>
      <p:sp>
        <p:nvSpPr>
          <p:cNvPr id="2" name="椭圆 1"/>
          <p:cNvSpPr/>
          <p:nvPr/>
        </p:nvSpPr>
        <p:spPr>
          <a:xfrm>
            <a:off x="4860608" y="4371499"/>
            <a:ext cx="820011" cy="25957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415913" y="262904"/>
            <a:ext cx="11253473" cy="5829137"/>
          </a:xfrm>
          <a:prstGeom prst="rect">
            <a:avLst/>
          </a:prstGeom>
        </p:spPr>
      </p:pic>
      <p:sp>
        <p:nvSpPr>
          <p:cNvPr id="2" name="椭圆 1"/>
          <p:cNvSpPr/>
          <p:nvPr/>
        </p:nvSpPr>
        <p:spPr>
          <a:xfrm>
            <a:off x="1043420" y="5183695"/>
            <a:ext cx="3457328" cy="40705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7573347" y="189553"/>
            <a:ext cx="4192858" cy="6311608"/>
            <a:chOff x="830766" y="159870"/>
            <a:chExt cx="4956716" cy="6538259"/>
          </a:xfrm>
        </p:grpSpPr>
        <p:pic>
          <p:nvPicPr>
            <p:cNvPr id="3" name="图片 2"/>
            <p:cNvPicPr>
              <a:picLocks noChangeAspect="1"/>
            </p:cNvPicPr>
            <p:nvPr/>
          </p:nvPicPr>
          <p:blipFill>
            <a:blip r:embed="rId2"/>
            <a:stretch>
              <a:fillRect/>
            </a:stretch>
          </p:blipFill>
          <p:spPr>
            <a:xfrm>
              <a:off x="924740" y="159870"/>
              <a:ext cx="4862742" cy="6538259"/>
            </a:xfrm>
            <a:prstGeom prst="rect">
              <a:avLst/>
            </a:prstGeom>
          </p:spPr>
        </p:pic>
        <p:grpSp>
          <p:nvGrpSpPr>
            <p:cNvPr id="6" name="组合 5"/>
            <p:cNvGrpSpPr/>
            <p:nvPr/>
          </p:nvGrpSpPr>
          <p:grpSpPr>
            <a:xfrm>
              <a:off x="830766" y="3646449"/>
              <a:ext cx="4817327" cy="1828800"/>
              <a:chOff x="830766" y="3646449"/>
              <a:chExt cx="4817327" cy="1828800"/>
            </a:xfrm>
          </p:grpSpPr>
          <p:sp>
            <p:nvSpPr>
              <p:cNvPr id="4" name="椭圆 3"/>
              <p:cNvSpPr/>
              <p:nvPr/>
            </p:nvSpPr>
            <p:spPr>
              <a:xfrm>
                <a:off x="1343722" y="3646449"/>
                <a:ext cx="3295185" cy="2286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830766" y="4867507"/>
                <a:ext cx="4817327" cy="60774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pic>
        <p:nvPicPr>
          <p:cNvPr id="10" name="图片 9"/>
          <p:cNvPicPr>
            <a:picLocks noChangeAspect="1"/>
          </p:cNvPicPr>
          <p:nvPr/>
        </p:nvPicPr>
        <p:blipFill>
          <a:blip r:embed="rId3"/>
          <a:stretch>
            <a:fillRect/>
          </a:stretch>
        </p:blipFill>
        <p:spPr>
          <a:xfrm>
            <a:off x="613347" y="762730"/>
            <a:ext cx="6858215" cy="1766144"/>
          </a:xfrm>
          <a:prstGeom prst="rect">
            <a:avLst/>
          </a:prstGeom>
        </p:spPr>
      </p:pic>
      <p:sp>
        <p:nvSpPr>
          <p:cNvPr id="12" name="文本框 11"/>
          <p:cNvSpPr txBox="1"/>
          <p:nvPr/>
        </p:nvSpPr>
        <p:spPr>
          <a:xfrm>
            <a:off x="511562" y="301065"/>
            <a:ext cx="6096928" cy="461665"/>
          </a:xfrm>
          <a:prstGeom prst="rect">
            <a:avLst/>
          </a:prstGeom>
          <a:noFill/>
        </p:spPr>
        <p:txBody>
          <a:bodyPr wrap="square">
            <a:spAutoFit/>
          </a:bodyPr>
          <a:lstStyle/>
          <a:p>
            <a:pPr indent="266700" algn="just"/>
            <a:r>
              <a:rPr lang="zh-CN" altLang="zh-CN" sz="2400" b="1" kern="100" dirty="0">
                <a:effectLst/>
                <a:latin typeface="黑体" panose="02010609060101010101" pitchFamily="49" charset="-122"/>
                <a:ea typeface="黑体" panose="02010609060101010101" pitchFamily="49" charset="-122"/>
                <a:cs typeface="Times New Roman" panose="02020603050405020304" pitchFamily="18" charset="0"/>
              </a:rPr>
              <a:t>让市民出行更美好、更舒心。回答</a:t>
            </a:r>
            <a:r>
              <a:rPr lang="en-US" altLang="zh-CN" sz="2400" b="1" kern="100" dirty="0">
                <a:effectLst/>
                <a:latin typeface="黑体" panose="02010609060101010101" pitchFamily="49" charset="-122"/>
                <a:ea typeface="黑体" panose="02010609060101010101" pitchFamily="49" charset="-122"/>
                <a:cs typeface="Times New Roman" panose="02020603050405020304" pitchFamily="18" charset="0"/>
              </a:rPr>
              <a:t>4</a:t>
            </a:r>
            <a:r>
              <a:rPr lang="zh-CN" altLang="zh-CN" sz="2400" b="1" kern="100" dirty="0">
                <a:effectLst/>
                <a:latin typeface="黑体" panose="02010609060101010101" pitchFamily="49" charset="-122"/>
                <a:ea typeface="黑体" panose="02010609060101010101" pitchFamily="49" charset="-122"/>
                <a:cs typeface="Times New Roman" panose="02020603050405020304" pitchFamily="18" charset="0"/>
              </a:rPr>
              <a:t>、</a:t>
            </a:r>
            <a:r>
              <a:rPr lang="en-US" altLang="zh-CN" sz="2400" b="1" kern="100" dirty="0">
                <a:effectLst/>
                <a:latin typeface="黑体" panose="02010609060101010101" pitchFamily="49" charset="-122"/>
                <a:ea typeface="黑体" panose="02010609060101010101" pitchFamily="49" charset="-122"/>
                <a:cs typeface="Times New Roman" panose="02020603050405020304" pitchFamily="18" charset="0"/>
              </a:rPr>
              <a:t>5</a:t>
            </a:r>
            <a:r>
              <a:rPr lang="zh-CN" altLang="zh-CN" sz="2400" b="1" kern="100" dirty="0">
                <a:effectLst/>
                <a:latin typeface="黑体" panose="02010609060101010101" pitchFamily="49" charset="-122"/>
                <a:ea typeface="黑体" panose="02010609060101010101" pitchFamily="49" charset="-122"/>
                <a:cs typeface="Times New Roman" panose="02020603050405020304" pitchFamily="18" charset="0"/>
              </a:rPr>
              <a:t>题。</a:t>
            </a:r>
          </a:p>
        </p:txBody>
      </p:sp>
      <p:sp>
        <p:nvSpPr>
          <p:cNvPr id="14" name="文本框 13"/>
          <p:cNvSpPr txBox="1"/>
          <p:nvPr/>
        </p:nvSpPr>
        <p:spPr>
          <a:xfrm>
            <a:off x="472070" y="2590206"/>
            <a:ext cx="6858215" cy="3713517"/>
          </a:xfrm>
          <a:prstGeom prst="rect">
            <a:avLst/>
          </a:prstGeom>
          <a:noFill/>
        </p:spPr>
        <p:txBody>
          <a:bodyPr wrap="square">
            <a:spAutoFit/>
          </a:bodyPr>
          <a:lstStyle/>
          <a:p>
            <a:pPr marL="133350" algn="just">
              <a:lnSpc>
                <a:spcPct val="150000"/>
              </a:lnSpc>
            </a:pPr>
            <a:r>
              <a:rPr lang="zh-CN" altLang="zh-CN" sz="2000" dirty="0">
                <a:latin typeface="黑体" panose="02010609060101010101" pitchFamily="49" charset="-122"/>
                <a:ea typeface="黑体" panose="02010609060101010101" pitchFamily="49" charset="-122"/>
              </a:rPr>
              <a:t>某校学生围绕学校周边交通状况进行了调研</a:t>
            </a:r>
            <a:r>
              <a:rPr lang="zh-CN" altLang="zh-CN" dirty="0">
                <a:latin typeface="黑体" panose="02010609060101010101" pitchFamily="49" charset="-122"/>
                <a:ea typeface="黑体" panose="02010609060101010101" pitchFamily="49" charset="-122"/>
              </a:rPr>
              <a:t>（调研结果见上）</a:t>
            </a:r>
            <a:r>
              <a:rPr lang="zh-CN" altLang="zh-CN" sz="2000" dirty="0">
                <a:latin typeface="黑体" panose="02010609060101010101" pitchFamily="49" charset="-122"/>
                <a:ea typeface="黑体" panose="02010609060101010101" pitchFamily="49" charset="-122"/>
              </a:rPr>
              <a:t>。针对上述情况，下列建议最适合的是 </a:t>
            </a:r>
          </a:p>
          <a:p>
            <a:pPr indent="133350" algn="just">
              <a:lnSpc>
                <a:spcPct val="150000"/>
              </a:lnSpc>
            </a:pPr>
            <a:r>
              <a:rPr lang="zh-CN" altLang="zh-CN" sz="2000" dirty="0">
                <a:latin typeface="黑体" panose="02010609060101010101" pitchFamily="49" charset="-122"/>
                <a:ea typeface="黑体" panose="02010609060101010101" pitchFamily="49" charset="-122"/>
              </a:rPr>
              <a:t>①加强校园周边交通勤务部署和指挥，引导车辆即停即走</a:t>
            </a:r>
          </a:p>
          <a:p>
            <a:pPr indent="133350" algn="just">
              <a:lnSpc>
                <a:spcPct val="150000"/>
              </a:lnSpc>
            </a:pPr>
            <a:r>
              <a:rPr lang="zh-CN" altLang="zh-CN" sz="2000" dirty="0">
                <a:latin typeface="黑体" panose="02010609060101010101" pitchFamily="49" charset="-122"/>
                <a:ea typeface="黑体" panose="02010609060101010101" pitchFamily="49" charset="-122"/>
              </a:rPr>
              <a:t>②推进智慧交通建设，公交公司及时推送交通信息</a:t>
            </a:r>
          </a:p>
          <a:p>
            <a:pPr indent="133350" algn="just">
              <a:lnSpc>
                <a:spcPct val="150000"/>
              </a:lnSpc>
            </a:pPr>
            <a:r>
              <a:rPr lang="zh-CN" altLang="zh-CN" sz="2000" dirty="0">
                <a:latin typeface="黑体" panose="02010609060101010101" pitchFamily="49" charset="-122"/>
                <a:ea typeface="黑体" panose="02010609060101010101" pitchFamily="49" charset="-122"/>
              </a:rPr>
              <a:t>③推出通学公交车服务，为学生上下学提供新选择</a:t>
            </a:r>
          </a:p>
          <a:p>
            <a:pPr indent="133350" algn="just">
              <a:lnSpc>
                <a:spcPct val="150000"/>
              </a:lnSpc>
            </a:pPr>
            <a:r>
              <a:rPr lang="zh-CN" altLang="zh-CN" sz="2000" dirty="0">
                <a:latin typeface="黑体" panose="02010609060101010101" pitchFamily="49" charset="-122"/>
                <a:ea typeface="黑体" panose="02010609060101010101" pitchFamily="49" charset="-122"/>
              </a:rPr>
              <a:t>④人大代表应行使国家权力，督促相关部门完善相关交通基础设施</a:t>
            </a:r>
          </a:p>
          <a:p>
            <a:pPr indent="133350" algn="just">
              <a:lnSpc>
                <a:spcPct val="150000"/>
              </a:lnSpc>
            </a:pPr>
            <a:r>
              <a:rPr lang="en-US" altLang="zh-CN" sz="2000" dirty="0">
                <a:latin typeface="黑体" panose="02010609060101010101" pitchFamily="49" charset="-122"/>
                <a:ea typeface="黑体" panose="02010609060101010101" pitchFamily="49" charset="-122"/>
              </a:rPr>
              <a:t>A</a:t>
            </a:r>
            <a:r>
              <a:rPr lang="zh-CN" altLang="zh-CN" sz="2000" dirty="0">
                <a:latin typeface="黑体" panose="02010609060101010101" pitchFamily="49" charset="-122"/>
                <a:ea typeface="黑体" panose="02010609060101010101" pitchFamily="49" charset="-122"/>
              </a:rPr>
              <a:t>．①③</a:t>
            </a:r>
            <a:r>
              <a:rPr lang="en-US" altLang="zh-CN" sz="2000" dirty="0">
                <a:latin typeface="黑体" panose="02010609060101010101" pitchFamily="49" charset="-122"/>
                <a:ea typeface="黑体" panose="02010609060101010101" pitchFamily="49" charset="-122"/>
              </a:rPr>
              <a:t>     B</a:t>
            </a:r>
            <a:r>
              <a:rPr lang="zh-CN" altLang="zh-CN" sz="2000" dirty="0">
                <a:latin typeface="黑体" panose="02010609060101010101" pitchFamily="49" charset="-122"/>
                <a:ea typeface="黑体" panose="02010609060101010101" pitchFamily="49" charset="-122"/>
              </a:rPr>
              <a:t>．①④</a:t>
            </a:r>
            <a:r>
              <a:rPr lang="en-US" altLang="zh-CN" sz="2000" dirty="0">
                <a:latin typeface="黑体" panose="02010609060101010101" pitchFamily="49" charset="-122"/>
                <a:ea typeface="黑体" panose="02010609060101010101" pitchFamily="49" charset="-122"/>
              </a:rPr>
              <a:t>	   C</a:t>
            </a:r>
            <a:r>
              <a:rPr lang="zh-CN" altLang="zh-CN" sz="2000" dirty="0">
                <a:latin typeface="黑体" panose="02010609060101010101" pitchFamily="49" charset="-122"/>
                <a:ea typeface="黑体" panose="02010609060101010101" pitchFamily="49" charset="-122"/>
              </a:rPr>
              <a:t>．②③</a:t>
            </a:r>
            <a:r>
              <a:rPr lang="en-US" altLang="zh-CN" sz="2000" dirty="0">
                <a:latin typeface="黑体" panose="02010609060101010101" pitchFamily="49" charset="-122"/>
                <a:ea typeface="黑体" panose="02010609060101010101" pitchFamily="49" charset="-122"/>
              </a:rPr>
              <a:t>	   D</a:t>
            </a:r>
            <a:r>
              <a:rPr lang="zh-CN" altLang="zh-CN" sz="2000" dirty="0">
                <a:latin typeface="黑体" panose="02010609060101010101" pitchFamily="49" charset="-122"/>
                <a:ea typeface="黑体" panose="02010609060101010101" pitchFamily="49" charset="-122"/>
              </a:rPr>
              <a:t>．②④</a:t>
            </a:r>
          </a:p>
        </p:txBody>
      </p:sp>
      <p:sp>
        <p:nvSpPr>
          <p:cNvPr id="2" name="椭圆 1"/>
          <p:cNvSpPr/>
          <p:nvPr/>
        </p:nvSpPr>
        <p:spPr>
          <a:xfrm>
            <a:off x="908824" y="5051502"/>
            <a:ext cx="3072161" cy="31781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254847" y="957783"/>
            <a:ext cx="10790764" cy="4142388"/>
          </a:xfrm>
          <a:prstGeom prst="rect">
            <a:avLst/>
          </a:prstGeom>
        </p:spPr>
      </p:pic>
      <p:sp>
        <p:nvSpPr>
          <p:cNvPr id="2" name="椭圆 1"/>
          <p:cNvSpPr/>
          <p:nvPr/>
        </p:nvSpPr>
        <p:spPr>
          <a:xfrm>
            <a:off x="778715" y="1669517"/>
            <a:ext cx="2041177" cy="218277"/>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854423" y="2154698"/>
            <a:ext cx="2041177" cy="218277"/>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4058756" y="3174688"/>
            <a:ext cx="1952687" cy="254311"/>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3746090" y="2671767"/>
            <a:ext cx="2265353" cy="254311"/>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153578" y="-47126"/>
            <a:ext cx="8905493" cy="3562197"/>
          </a:xfrm>
          <a:prstGeom prst="rect">
            <a:avLst/>
          </a:prstGeom>
        </p:spPr>
      </p:pic>
      <p:sp>
        <p:nvSpPr>
          <p:cNvPr id="5" name="文本框 4"/>
          <p:cNvSpPr txBox="1"/>
          <p:nvPr/>
        </p:nvSpPr>
        <p:spPr>
          <a:xfrm>
            <a:off x="107328" y="3733717"/>
            <a:ext cx="11679583" cy="2520370"/>
          </a:xfrm>
          <a:prstGeom prst="rect">
            <a:avLst/>
          </a:prstGeom>
          <a:noFill/>
          <a:ln>
            <a:solidFill>
              <a:schemeClr val="tx1"/>
            </a:solidFill>
            <a:prstDash val="dashDot"/>
          </a:ln>
        </p:spPr>
        <p:txBody>
          <a:bodyPr wrap="square">
            <a:spAutoFit/>
          </a:bodyPr>
          <a:lstStyle/>
          <a:p>
            <a:pPr lvl="0" algn="just">
              <a:lnSpc>
                <a:spcPct val="150000"/>
              </a:lnSpc>
              <a:tabLst>
                <a:tab pos="457200" algn="l"/>
              </a:tabLst>
            </a:pPr>
            <a:r>
              <a:rPr lang="zh-CN" altLang="en-US" sz="1800" b="1" kern="100" dirty="0">
                <a:effectLst/>
                <a:latin typeface="仿宋" panose="02010609060101010101" pitchFamily="49" charset="-122"/>
                <a:ea typeface="仿宋" panose="02010609060101010101" pitchFamily="49" charset="-122"/>
                <a:cs typeface="Times New Roman" panose="02020603050405020304" pitchFamily="18" charset="0"/>
              </a:rPr>
              <a:t>解析：时尚是开始流行的生活方式。或者说是流行生活方式的初始阶段。</a:t>
            </a:r>
            <a:endParaRPr lang="en-US" altLang="zh-CN" sz="1800" b="1" kern="100" dirty="0">
              <a:effectLst/>
              <a:latin typeface="仿宋" panose="02010609060101010101" pitchFamily="49" charset="-122"/>
              <a:ea typeface="仿宋" panose="02010609060101010101" pitchFamily="49" charset="-122"/>
              <a:cs typeface="Times New Roman" panose="02020603050405020304" pitchFamily="18" charset="0"/>
            </a:endParaRPr>
          </a:p>
          <a:p>
            <a:pPr lvl="0" algn="just">
              <a:lnSpc>
                <a:spcPct val="150000"/>
              </a:lnSpc>
              <a:tabLst>
                <a:tab pos="457200" algn="l"/>
              </a:tabLst>
            </a:pPr>
            <a:r>
              <a:rPr lang="zh-CN" altLang="en-US" b="1" kern="100" dirty="0">
                <a:latin typeface="仿宋" panose="02010609060101010101" pitchFamily="49" charset="-122"/>
                <a:ea typeface="仿宋" panose="02010609060101010101" pitchFamily="49" charset="-122"/>
                <a:cs typeface="Times New Roman" panose="02020603050405020304" pitchFamily="18" charset="0"/>
              </a:rPr>
              <a:t>    判断是通过语句表达的。判断是语句的思想内容，语句是判断的语言形式。但是，不作断定、没有真假的语句并不表达判断。</a:t>
            </a:r>
            <a:r>
              <a:rPr lang="en-US" altLang="zh-CN" b="1" kern="100" dirty="0">
                <a:latin typeface="仿宋" panose="02010609060101010101" pitchFamily="49" charset="-122"/>
                <a:ea typeface="仿宋" panose="02010609060101010101" pitchFamily="49" charset="-122"/>
                <a:cs typeface="Times New Roman" panose="02020603050405020304" pitchFamily="18" charset="0"/>
              </a:rPr>
              <a:t>P31</a:t>
            </a:r>
            <a:r>
              <a:rPr lang="zh-CN" altLang="en-US" b="1" kern="100" dirty="0">
                <a:latin typeface="仿宋" panose="02010609060101010101" pitchFamily="49" charset="-122"/>
                <a:ea typeface="仿宋" panose="02010609060101010101" pitchFamily="49" charset="-122"/>
                <a:cs typeface="Times New Roman" panose="02020603050405020304" pitchFamily="18" charset="0"/>
              </a:rPr>
              <a:t>、</a:t>
            </a:r>
            <a:r>
              <a:rPr lang="en-US" altLang="zh-CN" b="1" kern="100" dirty="0">
                <a:latin typeface="仿宋" panose="02010609060101010101" pitchFamily="49" charset="-122"/>
                <a:ea typeface="仿宋" panose="02010609060101010101" pitchFamily="49" charset="-122"/>
                <a:cs typeface="Times New Roman" panose="02020603050405020304" pitchFamily="18" charset="0"/>
              </a:rPr>
              <a:t>32</a:t>
            </a:r>
          </a:p>
          <a:p>
            <a:pPr lvl="0" algn="just">
              <a:lnSpc>
                <a:spcPct val="150000"/>
              </a:lnSpc>
              <a:tabLst>
                <a:tab pos="457200" algn="l"/>
              </a:tabLst>
            </a:pPr>
            <a:r>
              <a:rPr lang="en-US" altLang="zh-CN" b="1" kern="100" dirty="0">
                <a:latin typeface="仿宋" panose="02010609060101010101" pitchFamily="49" charset="-122"/>
                <a:ea typeface="仿宋" panose="02010609060101010101" pitchFamily="49" charset="-122"/>
                <a:cs typeface="Times New Roman" panose="02020603050405020304" pitchFamily="18" charset="0"/>
              </a:rPr>
              <a:t>   </a:t>
            </a:r>
            <a:r>
              <a:rPr lang="zh-CN" altLang="zh-CN" sz="1800" b="1" kern="100" dirty="0">
                <a:effectLst/>
                <a:latin typeface="仿宋" panose="02010609060101010101" pitchFamily="49" charset="-122"/>
                <a:ea typeface="仿宋" panose="02010609060101010101" pitchFamily="49" charset="-122"/>
                <a:cs typeface="Times New Roman" panose="02020603050405020304" pitchFamily="18" charset="0"/>
              </a:rPr>
              <a:t>包含逻辑矛盾的判断，即自相矛盾的判断都是</a:t>
            </a:r>
            <a:r>
              <a:rPr lang="zh-CN" altLang="zh-CN" sz="1800" b="1" kern="100" dirty="0">
                <a:effectLst/>
                <a:highlight>
                  <a:srgbClr val="FFFF00"/>
                </a:highlight>
                <a:latin typeface="仿宋" panose="02010609060101010101" pitchFamily="49" charset="-122"/>
                <a:ea typeface="仿宋" panose="02010609060101010101" pitchFamily="49" charset="-122"/>
                <a:cs typeface="Times New Roman" panose="02020603050405020304" pitchFamily="18" charset="0"/>
              </a:rPr>
              <a:t>直接或间接地</a:t>
            </a:r>
            <a:r>
              <a:rPr lang="zh-CN" altLang="zh-CN" sz="1800" b="1" kern="100" dirty="0">
                <a:effectLst/>
                <a:latin typeface="仿宋" panose="02010609060101010101" pitchFamily="49" charset="-122"/>
                <a:ea typeface="仿宋" panose="02010609060101010101" pitchFamily="49" charset="-122"/>
                <a:cs typeface="Times New Roman" panose="02020603050405020304" pitchFamily="18" charset="0"/>
              </a:rPr>
              <a:t>既断定某事物具有某种属性，同时又断定该事物不具有这种属性；</a:t>
            </a:r>
            <a:r>
              <a:rPr lang="zh-CN" altLang="zh-CN" sz="1800" b="1" dirty="0">
                <a:effectLst/>
                <a:latin typeface="仿宋" panose="02010609060101010101" pitchFamily="49" charset="-122"/>
                <a:ea typeface="仿宋" panose="02010609060101010101" pitchFamily="49" charset="-122"/>
                <a:cs typeface="Times New Roman" panose="02020603050405020304" pitchFamily="18" charset="0"/>
              </a:rPr>
              <a:t>比如：可以利用韩非子的“矛盾”故事，说明那个同时卖“矛”和“盾”的人的断言显然是“逻辑矛盾”，其所断言的内容“不可同世而立”</a:t>
            </a:r>
            <a:r>
              <a:rPr lang="zh-CN" altLang="en-US" sz="1800" b="1" dirty="0">
                <a:effectLst/>
                <a:latin typeface="仿宋" panose="02010609060101010101" pitchFamily="49" charset="-122"/>
                <a:ea typeface="仿宋" panose="02010609060101010101" pitchFamily="49" charset="-122"/>
                <a:cs typeface="Times New Roman" panose="02020603050405020304" pitchFamily="18" charset="0"/>
              </a:rPr>
              <a:t>。</a:t>
            </a:r>
            <a:r>
              <a:rPr lang="zh-CN" altLang="en-US" sz="1800" b="1" dirty="0">
                <a:solidFill>
                  <a:srgbClr val="FF0000"/>
                </a:solidFill>
                <a:effectLst/>
                <a:latin typeface="仿宋" panose="02010609060101010101" pitchFamily="49" charset="-122"/>
                <a:ea typeface="仿宋" panose="02010609060101010101" pitchFamily="49" charset="-122"/>
                <a:cs typeface="Times New Roman" panose="02020603050405020304" pitchFamily="18" charset="0"/>
              </a:rPr>
              <a:t>（选择，必须比较。不加比较，何以选择？）</a:t>
            </a:r>
            <a:endParaRPr lang="zh-CN" altLang="en-US" b="1" dirty="0">
              <a:solidFill>
                <a:srgbClr val="FF0000"/>
              </a:solidFill>
              <a:latin typeface="仿宋" panose="02010609060101010101" pitchFamily="49" charset="-122"/>
              <a:ea typeface="仿宋" panose="02010609060101010101" pitchFamily="49" charset="-122"/>
            </a:endParaRPr>
          </a:p>
        </p:txBody>
      </p:sp>
      <p:sp>
        <p:nvSpPr>
          <p:cNvPr id="7" name="文本框 6"/>
          <p:cNvSpPr txBox="1"/>
          <p:nvPr/>
        </p:nvSpPr>
        <p:spPr>
          <a:xfrm>
            <a:off x="9156696" y="612154"/>
            <a:ext cx="1620203" cy="400110"/>
          </a:xfrm>
          <a:prstGeom prst="rect">
            <a:avLst/>
          </a:prstGeom>
          <a:noFill/>
        </p:spPr>
        <p:txBody>
          <a:bodyPr wrap="square">
            <a:spAutoFit/>
          </a:bodyPr>
          <a:lstStyle/>
          <a:p>
            <a:r>
              <a:rPr lang="zh-CN" altLang="en-US" sz="2000" b="1" kern="100" dirty="0">
                <a:solidFill>
                  <a:srgbClr val="FF0000"/>
                </a:solidFill>
                <a:effectLst/>
                <a:latin typeface="仿宋" panose="02010609060101010101" pitchFamily="49" charset="-122"/>
                <a:ea typeface="仿宋" panose="02010609060101010101" pitchFamily="49" charset="-122"/>
                <a:cs typeface="Times New Roman" panose="02020603050405020304" pitchFamily="18" charset="0"/>
              </a:rPr>
              <a:t>（定义过宽）</a:t>
            </a:r>
            <a:endParaRPr lang="zh-CN" altLang="en-US" sz="2000" b="1" dirty="0">
              <a:solidFill>
                <a:srgbClr val="FF0000"/>
              </a:solidFill>
            </a:endParaRPr>
          </a:p>
        </p:txBody>
      </p:sp>
      <p:sp>
        <p:nvSpPr>
          <p:cNvPr id="8" name="文本框 7"/>
          <p:cNvSpPr txBox="1"/>
          <p:nvPr/>
        </p:nvSpPr>
        <p:spPr>
          <a:xfrm>
            <a:off x="9059071" y="1149196"/>
            <a:ext cx="2384815" cy="400110"/>
          </a:xfrm>
          <a:prstGeom prst="rect">
            <a:avLst/>
          </a:prstGeom>
          <a:noFill/>
        </p:spPr>
        <p:txBody>
          <a:bodyPr wrap="square">
            <a:spAutoFit/>
          </a:bodyPr>
          <a:lstStyle/>
          <a:p>
            <a:r>
              <a:rPr lang="zh-CN" altLang="en-US" sz="2000" b="1" kern="100" dirty="0">
                <a:solidFill>
                  <a:srgbClr val="FF0000"/>
                </a:solidFill>
                <a:effectLst/>
                <a:latin typeface="仿宋" panose="02010609060101010101" pitchFamily="49" charset="-122"/>
                <a:ea typeface="仿宋" panose="02010609060101010101" pitchFamily="49" charset="-122"/>
                <a:cs typeface="Times New Roman" panose="02020603050405020304" pitchFamily="18" charset="0"/>
              </a:rPr>
              <a:t>（分解而非划分）</a:t>
            </a:r>
            <a:endParaRPr lang="zh-CN" altLang="en-US" sz="2000" b="1" dirty="0">
              <a:solidFill>
                <a:srgbClr val="FF0000"/>
              </a:solidFill>
            </a:endParaRPr>
          </a:p>
        </p:txBody>
      </p:sp>
      <p:sp>
        <p:nvSpPr>
          <p:cNvPr id="9" name="文本框 8"/>
          <p:cNvSpPr txBox="1"/>
          <p:nvPr/>
        </p:nvSpPr>
        <p:spPr>
          <a:xfrm>
            <a:off x="9040389" y="1767952"/>
            <a:ext cx="2746522" cy="707886"/>
          </a:xfrm>
          <a:prstGeom prst="rect">
            <a:avLst/>
          </a:prstGeom>
          <a:noFill/>
        </p:spPr>
        <p:txBody>
          <a:bodyPr wrap="square">
            <a:spAutoFit/>
          </a:bodyPr>
          <a:lstStyle/>
          <a:p>
            <a:r>
              <a:rPr lang="zh-CN" altLang="en-US" sz="2000" b="1" kern="100" dirty="0">
                <a:solidFill>
                  <a:srgbClr val="FF0000"/>
                </a:solidFill>
                <a:effectLst/>
                <a:latin typeface="仿宋" panose="02010609060101010101" pitchFamily="49" charset="-122"/>
                <a:ea typeface="仿宋" panose="02010609060101010101" pitchFamily="49" charset="-122"/>
                <a:cs typeface="Times New Roman" panose="02020603050405020304" pitchFamily="18" charset="0"/>
              </a:rPr>
              <a:t>（语句中的概念搭配不当）</a:t>
            </a:r>
            <a:endParaRPr lang="zh-CN" altLang="en-US" sz="20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P spid="8" grpId="0"/>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153578" y="-47126"/>
            <a:ext cx="8905493" cy="3562197"/>
          </a:xfrm>
          <a:prstGeom prst="rect">
            <a:avLst/>
          </a:prstGeom>
        </p:spPr>
      </p:pic>
      <p:sp>
        <p:nvSpPr>
          <p:cNvPr id="5" name="文本框 4"/>
          <p:cNvSpPr txBox="1"/>
          <p:nvPr/>
        </p:nvSpPr>
        <p:spPr>
          <a:xfrm>
            <a:off x="107328" y="3733717"/>
            <a:ext cx="11679583" cy="2520370"/>
          </a:xfrm>
          <a:prstGeom prst="rect">
            <a:avLst/>
          </a:prstGeom>
          <a:noFill/>
          <a:ln>
            <a:solidFill>
              <a:schemeClr val="tx1"/>
            </a:solidFill>
            <a:prstDash val="dashDot"/>
          </a:ln>
        </p:spPr>
        <p:txBody>
          <a:bodyPr wrap="square">
            <a:spAutoFit/>
          </a:bodyPr>
          <a:lstStyle/>
          <a:p>
            <a:pPr lvl="0" algn="just">
              <a:lnSpc>
                <a:spcPct val="150000"/>
              </a:lnSpc>
              <a:tabLst>
                <a:tab pos="457200" algn="l"/>
              </a:tabLst>
            </a:pPr>
            <a:r>
              <a:rPr lang="zh-CN" altLang="en-US" sz="1800" b="1" kern="100" dirty="0">
                <a:effectLst/>
                <a:latin typeface="仿宋" panose="02010609060101010101" pitchFamily="49" charset="-122"/>
                <a:ea typeface="仿宋" panose="02010609060101010101" pitchFamily="49" charset="-122"/>
                <a:cs typeface="Times New Roman" panose="02020603050405020304" pitchFamily="18" charset="0"/>
              </a:rPr>
              <a:t>解析：时尚是开始流行的生活方式。或者说是流行生活方式的初始阶段。</a:t>
            </a:r>
            <a:endParaRPr lang="en-US" altLang="zh-CN" sz="1800" b="1" kern="100" dirty="0">
              <a:effectLst/>
              <a:latin typeface="仿宋" panose="02010609060101010101" pitchFamily="49" charset="-122"/>
              <a:ea typeface="仿宋" panose="02010609060101010101" pitchFamily="49" charset="-122"/>
              <a:cs typeface="Times New Roman" panose="02020603050405020304" pitchFamily="18" charset="0"/>
            </a:endParaRPr>
          </a:p>
          <a:p>
            <a:pPr lvl="0" algn="just">
              <a:lnSpc>
                <a:spcPct val="150000"/>
              </a:lnSpc>
              <a:tabLst>
                <a:tab pos="457200" algn="l"/>
              </a:tabLst>
            </a:pPr>
            <a:r>
              <a:rPr lang="zh-CN" altLang="en-US" b="1" kern="100" dirty="0">
                <a:latin typeface="仿宋" panose="02010609060101010101" pitchFamily="49" charset="-122"/>
                <a:ea typeface="仿宋" panose="02010609060101010101" pitchFamily="49" charset="-122"/>
                <a:cs typeface="Times New Roman" panose="02020603050405020304" pitchFamily="18" charset="0"/>
              </a:rPr>
              <a:t>    判断是通过语句表达的。判断是语句的思想内容，语句是判断的语言形式。但是，不作断定、没有真假的语句并不表达判断。</a:t>
            </a:r>
            <a:r>
              <a:rPr lang="en-US" altLang="zh-CN" b="1" kern="100" dirty="0">
                <a:latin typeface="仿宋" panose="02010609060101010101" pitchFamily="49" charset="-122"/>
                <a:ea typeface="仿宋" panose="02010609060101010101" pitchFamily="49" charset="-122"/>
                <a:cs typeface="Times New Roman" panose="02020603050405020304" pitchFamily="18" charset="0"/>
              </a:rPr>
              <a:t>P31</a:t>
            </a:r>
            <a:r>
              <a:rPr lang="zh-CN" altLang="en-US" b="1" kern="100" dirty="0">
                <a:latin typeface="仿宋" panose="02010609060101010101" pitchFamily="49" charset="-122"/>
                <a:ea typeface="仿宋" panose="02010609060101010101" pitchFamily="49" charset="-122"/>
                <a:cs typeface="Times New Roman" panose="02020603050405020304" pitchFamily="18" charset="0"/>
              </a:rPr>
              <a:t>、</a:t>
            </a:r>
            <a:r>
              <a:rPr lang="en-US" altLang="zh-CN" b="1" kern="100" dirty="0">
                <a:latin typeface="仿宋" panose="02010609060101010101" pitchFamily="49" charset="-122"/>
                <a:ea typeface="仿宋" panose="02010609060101010101" pitchFamily="49" charset="-122"/>
                <a:cs typeface="Times New Roman" panose="02020603050405020304" pitchFamily="18" charset="0"/>
              </a:rPr>
              <a:t>32</a:t>
            </a:r>
          </a:p>
          <a:p>
            <a:pPr lvl="0" algn="just">
              <a:lnSpc>
                <a:spcPct val="150000"/>
              </a:lnSpc>
              <a:tabLst>
                <a:tab pos="457200" algn="l"/>
              </a:tabLst>
            </a:pPr>
            <a:r>
              <a:rPr lang="en-US" altLang="zh-CN" b="1" kern="100" dirty="0">
                <a:latin typeface="仿宋" panose="02010609060101010101" pitchFamily="49" charset="-122"/>
                <a:ea typeface="仿宋" panose="02010609060101010101" pitchFamily="49" charset="-122"/>
                <a:cs typeface="Times New Roman" panose="02020603050405020304" pitchFamily="18" charset="0"/>
              </a:rPr>
              <a:t>   </a:t>
            </a:r>
            <a:r>
              <a:rPr lang="zh-CN" altLang="zh-CN" sz="1800" b="1" kern="100" dirty="0">
                <a:effectLst/>
                <a:latin typeface="仿宋" panose="02010609060101010101" pitchFamily="49" charset="-122"/>
                <a:ea typeface="仿宋" panose="02010609060101010101" pitchFamily="49" charset="-122"/>
                <a:cs typeface="Times New Roman" panose="02020603050405020304" pitchFamily="18" charset="0"/>
              </a:rPr>
              <a:t>包含逻辑矛盾的判断，即自相矛盾的判断都是</a:t>
            </a:r>
            <a:r>
              <a:rPr lang="zh-CN" altLang="zh-CN" sz="1800" b="1" kern="100" dirty="0">
                <a:effectLst/>
                <a:highlight>
                  <a:srgbClr val="FFFF00"/>
                </a:highlight>
                <a:latin typeface="仿宋" panose="02010609060101010101" pitchFamily="49" charset="-122"/>
                <a:ea typeface="仿宋" panose="02010609060101010101" pitchFamily="49" charset="-122"/>
                <a:cs typeface="Times New Roman" panose="02020603050405020304" pitchFamily="18" charset="0"/>
              </a:rPr>
              <a:t>直接或间接地</a:t>
            </a:r>
            <a:r>
              <a:rPr lang="zh-CN" altLang="zh-CN" sz="1800" b="1" kern="100" dirty="0">
                <a:effectLst/>
                <a:latin typeface="仿宋" panose="02010609060101010101" pitchFamily="49" charset="-122"/>
                <a:ea typeface="仿宋" panose="02010609060101010101" pitchFamily="49" charset="-122"/>
                <a:cs typeface="Times New Roman" panose="02020603050405020304" pitchFamily="18" charset="0"/>
              </a:rPr>
              <a:t>既断定某事物具有某种属性，同时又断定该事物不具有这种属性；</a:t>
            </a:r>
            <a:r>
              <a:rPr lang="zh-CN" altLang="zh-CN" sz="1800" b="1" dirty="0">
                <a:effectLst/>
                <a:latin typeface="仿宋" panose="02010609060101010101" pitchFamily="49" charset="-122"/>
                <a:ea typeface="仿宋" panose="02010609060101010101" pitchFamily="49" charset="-122"/>
                <a:cs typeface="Times New Roman" panose="02020603050405020304" pitchFamily="18" charset="0"/>
              </a:rPr>
              <a:t>比如：可以利用韩非子的“矛盾”故事，说明那个同时卖“矛”和“盾”的人的断言显然是“逻辑矛盾”，其所断言的内容“不可同世而立”</a:t>
            </a:r>
            <a:r>
              <a:rPr lang="zh-CN" altLang="en-US" sz="1800" b="1" dirty="0">
                <a:effectLst/>
                <a:latin typeface="仿宋" panose="02010609060101010101" pitchFamily="49" charset="-122"/>
                <a:ea typeface="仿宋" panose="02010609060101010101" pitchFamily="49" charset="-122"/>
                <a:cs typeface="Times New Roman" panose="02020603050405020304" pitchFamily="18" charset="0"/>
              </a:rPr>
              <a:t>。</a:t>
            </a:r>
            <a:r>
              <a:rPr lang="zh-CN" altLang="en-US" sz="1800" b="1" dirty="0">
                <a:solidFill>
                  <a:srgbClr val="FF0000"/>
                </a:solidFill>
                <a:effectLst/>
                <a:latin typeface="仿宋" panose="02010609060101010101" pitchFamily="49" charset="-122"/>
                <a:ea typeface="仿宋" panose="02010609060101010101" pitchFamily="49" charset="-122"/>
                <a:cs typeface="Times New Roman" panose="02020603050405020304" pitchFamily="18" charset="0"/>
              </a:rPr>
              <a:t>（选择，必须比较。不加比较，何以选择？）</a:t>
            </a:r>
            <a:endParaRPr lang="zh-CN" altLang="en-US" b="1" dirty="0">
              <a:solidFill>
                <a:srgbClr val="FF0000"/>
              </a:solidFill>
              <a:latin typeface="仿宋" panose="02010609060101010101" pitchFamily="49" charset="-122"/>
              <a:ea typeface="仿宋" panose="02010609060101010101" pitchFamily="49" charset="-122"/>
            </a:endParaRPr>
          </a:p>
        </p:txBody>
      </p:sp>
      <p:sp>
        <p:nvSpPr>
          <p:cNvPr id="7" name="文本框 6"/>
          <p:cNvSpPr txBox="1"/>
          <p:nvPr/>
        </p:nvSpPr>
        <p:spPr>
          <a:xfrm>
            <a:off x="9156696" y="612154"/>
            <a:ext cx="1620203" cy="400110"/>
          </a:xfrm>
          <a:prstGeom prst="rect">
            <a:avLst/>
          </a:prstGeom>
          <a:noFill/>
        </p:spPr>
        <p:txBody>
          <a:bodyPr wrap="square">
            <a:spAutoFit/>
          </a:bodyPr>
          <a:lstStyle/>
          <a:p>
            <a:r>
              <a:rPr lang="zh-CN" altLang="en-US" sz="2000" b="1" kern="100" dirty="0">
                <a:solidFill>
                  <a:srgbClr val="FF0000"/>
                </a:solidFill>
                <a:effectLst/>
                <a:latin typeface="仿宋" panose="02010609060101010101" pitchFamily="49" charset="-122"/>
                <a:ea typeface="仿宋" panose="02010609060101010101" pitchFamily="49" charset="-122"/>
                <a:cs typeface="Times New Roman" panose="02020603050405020304" pitchFamily="18" charset="0"/>
              </a:rPr>
              <a:t>（定义过宽）</a:t>
            </a:r>
            <a:endParaRPr lang="zh-CN" altLang="en-US" sz="2000" b="1" dirty="0">
              <a:solidFill>
                <a:srgbClr val="FF0000"/>
              </a:solidFill>
            </a:endParaRPr>
          </a:p>
        </p:txBody>
      </p:sp>
      <p:sp>
        <p:nvSpPr>
          <p:cNvPr id="8" name="文本框 7"/>
          <p:cNvSpPr txBox="1"/>
          <p:nvPr/>
        </p:nvSpPr>
        <p:spPr>
          <a:xfrm>
            <a:off x="9059071" y="1149196"/>
            <a:ext cx="2384815" cy="400110"/>
          </a:xfrm>
          <a:prstGeom prst="rect">
            <a:avLst/>
          </a:prstGeom>
          <a:noFill/>
        </p:spPr>
        <p:txBody>
          <a:bodyPr wrap="square">
            <a:spAutoFit/>
          </a:bodyPr>
          <a:lstStyle/>
          <a:p>
            <a:r>
              <a:rPr lang="zh-CN" altLang="en-US" sz="2000" b="1" kern="100" dirty="0">
                <a:solidFill>
                  <a:srgbClr val="FF0000"/>
                </a:solidFill>
                <a:effectLst/>
                <a:latin typeface="仿宋" panose="02010609060101010101" pitchFamily="49" charset="-122"/>
                <a:ea typeface="仿宋" panose="02010609060101010101" pitchFamily="49" charset="-122"/>
                <a:cs typeface="Times New Roman" panose="02020603050405020304" pitchFamily="18" charset="0"/>
              </a:rPr>
              <a:t>（分解而非划分）</a:t>
            </a:r>
            <a:endParaRPr lang="zh-CN" altLang="en-US" sz="2000" b="1" dirty="0">
              <a:solidFill>
                <a:srgbClr val="FF0000"/>
              </a:solidFill>
            </a:endParaRPr>
          </a:p>
        </p:txBody>
      </p:sp>
      <p:sp>
        <p:nvSpPr>
          <p:cNvPr id="9" name="文本框 8"/>
          <p:cNvSpPr txBox="1"/>
          <p:nvPr/>
        </p:nvSpPr>
        <p:spPr>
          <a:xfrm>
            <a:off x="9040389" y="1767952"/>
            <a:ext cx="2746522" cy="707886"/>
          </a:xfrm>
          <a:prstGeom prst="rect">
            <a:avLst/>
          </a:prstGeom>
          <a:noFill/>
        </p:spPr>
        <p:txBody>
          <a:bodyPr wrap="square">
            <a:spAutoFit/>
          </a:bodyPr>
          <a:lstStyle/>
          <a:p>
            <a:r>
              <a:rPr lang="zh-CN" altLang="en-US" sz="2000" b="1" kern="100" dirty="0">
                <a:solidFill>
                  <a:srgbClr val="FF0000"/>
                </a:solidFill>
                <a:effectLst/>
                <a:latin typeface="仿宋" panose="02010609060101010101" pitchFamily="49" charset="-122"/>
                <a:ea typeface="仿宋" panose="02010609060101010101" pitchFamily="49" charset="-122"/>
                <a:cs typeface="Times New Roman" panose="02020603050405020304" pitchFamily="18" charset="0"/>
              </a:rPr>
              <a:t>（语句中的概念搭配不当）</a:t>
            </a:r>
            <a:endParaRPr lang="zh-CN" altLang="en-US" sz="2000" b="1" dirty="0">
              <a:solidFill>
                <a:srgbClr val="FF0000"/>
              </a:solidFill>
            </a:endParaRPr>
          </a:p>
        </p:txBody>
      </p:sp>
    </p:spTree>
    <p:extLst>
      <p:ext uri="{BB962C8B-B14F-4D97-AF65-F5344CB8AC3E}">
        <p14:creationId xmlns:p14="http://schemas.microsoft.com/office/powerpoint/2010/main" val="191181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P spid="8" grpId="0"/>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383268" y="453756"/>
            <a:ext cx="9876524" cy="359642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768019" y="249682"/>
            <a:ext cx="9353076" cy="372752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102501" y="147399"/>
            <a:ext cx="9783085" cy="2588181"/>
          </a:xfrm>
          <a:prstGeom prst="rect">
            <a:avLst/>
          </a:prstGeom>
        </p:spPr>
      </p:pic>
      <p:pic>
        <p:nvPicPr>
          <p:cNvPr id="5" name="图片 4"/>
          <p:cNvPicPr>
            <a:picLocks noChangeAspect="1"/>
          </p:cNvPicPr>
          <p:nvPr/>
        </p:nvPicPr>
        <p:blipFill>
          <a:blip r:embed="rId3"/>
          <a:stretch>
            <a:fillRect/>
          </a:stretch>
        </p:blipFill>
        <p:spPr>
          <a:xfrm>
            <a:off x="6032243" y="584386"/>
            <a:ext cx="5462224" cy="2096600"/>
          </a:xfrm>
          <a:prstGeom prst="rect">
            <a:avLst/>
          </a:prstGeom>
        </p:spPr>
      </p:pic>
      <p:sp>
        <p:nvSpPr>
          <p:cNvPr id="6" name="文本框 5"/>
          <p:cNvSpPr txBox="1"/>
          <p:nvPr/>
        </p:nvSpPr>
        <p:spPr>
          <a:xfrm>
            <a:off x="102501" y="2855245"/>
            <a:ext cx="11859485" cy="3766865"/>
          </a:xfrm>
          <a:prstGeom prst="rect">
            <a:avLst/>
          </a:prstGeom>
          <a:noFill/>
          <a:ln>
            <a:solidFill>
              <a:schemeClr val="tx1"/>
            </a:solidFill>
            <a:prstDash val="dashDot"/>
          </a:ln>
        </p:spPr>
        <p:txBody>
          <a:bodyPr wrap="square">
            <a:spAutoFit/>
          </a:bodyPr>
          <a:lstStyle>
            <a:defPPr>
              <a:defRPr lang="zh-CN"/>
            </a:defPPr>
            <a:lvl1pPr lvl="0" algn="just">
              <a:lnSpc>
                <a:spcPct val="150000"/>
              </a:lnSpc>
              <a:tabLst>
                <a:tab pos="457200" algn="l"/>
              </a:tabLst>
              <a:defRPr b="1" kern="100">
                <a:effectLst/>
                <a:latin typeface="仿宋" panose="02010609060101010101" pitchFamily="49" charset="-122"/>
                <a:ea typeface="仿宋" panose="02010609060101010101" pitchFamily="49" charset="-122"/>
                <a:cs typeface="Times New Roman" panose="02020603050405020304" pitchFamily="18" charset="0"/>
              </a:defRPr>
            </a:lvl1pPr>
          </a:lstStyle>
          <a:p>
            <a:r>
              <a:rPr lang="zh-CN" altLang="en-US" sz="1800" b="1" kern="100" dirty="0">
                <a:effectLst/>
                <a:latin typeface="黑体" panose="02010609060101010101" pitchFamily="49" charset="-122"/>
                <a:ea typeface="黑体" panose="02010609060101010101" pitchFamily="49" charset="-122"/>
              </a:rPr>
              <a:t>解析</a:t>
            </a:r>
            <a:r>
              <a:rPr lang="zh-CN" altLang="en-US" sz="1800" kern="100" dirty="0">
                <a:effectLst/>
                <a:latin typeface="仿宋" panose="02010609060101010101" pitchFamily="49" charset="-122"/>
                <a:ea typeface="仿宋" panose="02010609060101010101" pitchFamily="49" charset="-122"/>
                <a:cs typeface="Times New Roman" panose="02020603050405020304" pitchFamily="18" charset="0"/>
              </a:rPr>
              <a:t>：</a:t>
            </a:r>
            <a:r>
              <a:rPr lang="zh-CN" altLang="zh-CN" dirty="0"/>
              <a:t>依据人民法院的法律文书取得不动产所有权属于不经登记即可取得不动产所有权的特殊情形（</a:t>
            </a:r>
            <a:r>
              <a:rPr lang="en-US" altLang="zh-CN" dirty="0"/>
              <a:t>22</a:t>
            </a:r>
            <a:r>
              <a:rPr lang="zh-CN" altLang="zh-CN" dirty="0"/>
              <a:t>版教材第</a:t>
            </a:r>
            <a:r>
              <a:rPr lang="en-US" altLang="zh-CN" dirty="0"/>
              <a:t>14</a:t>
            </a:r>
            <a:r>
              <a:rPr lang="zh-CN" altLang="zh-CN" dirty="0"/>
              <a:t>页相关链接）。</a:t>
            </a:r>
            <a:r>
              <a:rPr lang="en-US" altLang="zh-CN" dirty="0"/>
              <a:t>A</a:t>
            </a:r>
            <a:r>
              <a:rPr lang="zh-CN" altLang="zh-CN" dirty="0"/>
              <a:t>选项排除</a:t>
            </a:r>
          </a:p>
          <a:p>
            <a:r>
              <a:rPr lang="en-US" altLang="zh-CN" dirty="0"/>
              <a:t>    </a:t>
            </a:r>
            <a:r>
              <a:rPr lang="zh-CN" altLang="zh-CN" dirty="0"/>
              <a:t>由建设用地使用权“人们……拥有商品房的所有权，又合法享有该商品房所在地块的建设用地使用权”，可知若房屋所有权不明晰，则该房相关的建设用地使用权份额也不明晰。所以</a:t>
            </a:r>
            <a:r>
              <a:rPr lang="en-US" altLang="zh-CN" dirty="0"/>
              <a:t>B</a:t>
            </a:r>
            <a:r>
              <a:rPr lang="zh-CN" altLang="zh-CN" dirty="0"/>
              <a:t>选项所称“该案所涉他物权”指的是建设用地使用权，属于用益物权。用益物权对应物的使用价值。</a:t>
            </a:r>
            <a:r>
              <a:rPr lang="en-US" altLang="zh-CN" dirty="0"/>
              <a:t>B</a:t>
            </a:r>
            <a:r>
              <a:rPr lang="zh-CN" altLang="zh-CN" dirty="0"/>
              <a:t>说法正确</a:t>
            </a:r>
          </a:p>
          <a:p>
            <a:r>
              <a:rPr lang="en-US" altLang="zh-CN" dirty="0"/>
              <a:t>   </a:t>
            </a:r>
            <a:r>
              <a:rPr lang="zh-CN" altLang="zh-CN" dirty="0"/>
              <a:t>法律关系的内容指的是权利</a:t>
            </a:r>
            <a:r>
              <a:rPr lang="en-US" altLang="zh-CN" dirty="0"/>
              <a:t>&amp;</a:t>
            </a:r>
            <a:r>
              <a:rPr lang="zh-CN" altLang="zh-CN" dirty="0"/>
              <a:t>义务，房产——所有权，占地——用益物权（建设用地使用权），二者权利内容分别是：占有 使用 收益 处分</a:t>
            </a:r>
            <a:r>
              <a:rPr lang="en-US" altLang="zh-CN" dirty="0"/>
              <a:t> VS </a:t>
            </a:r>
            <a:r>
              <a:rPr lang="zh-CN" altLang="zh-CN" dirty="0"/>
              <a:t>占有 使用 收益，法律关系内容不一致。</a:t>
            </a:r>
            <a:r>
              <a:rPr lang="en-US" altLang="zh-CN" dirty="0"/>
              <a:t>C</a:t>
            </a:r>
            <a:r>
              <a:rPr lang="zh-CN" altLang="zh-CN" dirty="0"/>
              <a:t>说法错误</a:t>
            </a:r>
          </a:p>
          <a:p>
            <a:r>
              <a:rPr lang="en-US" altLang="zh-CN" dirty="0"/>
              <a:t>   </a:t>
            </a:r>
            <a:r>
              <a:rPr lang="zh-CN" altLang="zh-CN" dirty="0"/>
              <a:t>一审判决宣告时法律文书并未生效，可能涉及上诉问题，即使不上诉，也应该在上诉期届满时生效。所以</a:t>
            </a:r>
            <a:r>
              <a:rPr lang="en-US" altLang="zh-CN" dirty="0"/>
              <a:t>D</a:t>
            </a:r>
            <a:r>
              <a:rPr lang="zh-CN" altLang="zh-CN" dirty="0"/>
              <a:t>说法错误</a:t>
            </a:r>
            <a:r>
              <a:rPr lang="zh-CN" altLang="en-US" dirty="0"/>
              <a:t>。</a:t>
            </a:r>
            <a:endParaRPr lang="zh-CN"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323358" y="425647"/>
            <a:ext cx="9359365" cy="4010667"/>
          </a:xfrm>
          <a:prstGeom prst="rect">
            <a:avLst/>
          </a:prstGeom>
        </p:spPr>
      </p:pic>
      <p:sp>
        <p:nvSpPr>
          <p:cNvPr id="2" name="椭圆 1"/>
          <p:cNvSpPr/>
          <p:nvPr/>
        </p:nvSpPr>
        <p:spPr>
          <a:xfrm>
            <a:off x="2379491" y="2974750"/>
            <a:ext cx="1622322" cy="311191"/>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4182643" y="3429000"/>
            <a:ext cx="1722611" cy="21090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5521796" y="4094152"/>
            <a:ext cx="2513125" cy="27137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392942" y="174222"/>
            <a:ext cx="6264642" cy="2955717"/>
          </a:xfrm>
          <a:prstGeom prst="rect">
            <a:avLst/>
          </a:prstGeom>
        </p:spPr>
      </p:pic>
      <p:sp>
        <p:nvSpPr>
          <p:cNvPr id="3" name="文本框 2"/>
          <p:cNvSpPr txBox="1"/>
          <p:nvPr/>
        </p:nvSpPr>
        <p:spPr>
          <a:xfrm>
            <a:off x="62576" y="3476432"/>
            <a:ext cx="12054699" cy="3358612"/>
          </a:xfrm>
          <a:prstGeom prst="rect">
            <a:avLst/>
          </a:prstGeom>
          <a:noFill/>
          <a:ln>
            <a:solidFill>
              <a:schemeClr val="tx1"/>
            </a:solidFill>
            <a:prstDash val="dashDot"/>
          </a:ln>
        </p:spPr>
        <p:txBody>
          <a:bodyPr wrap="square">
            <a:spAutoFit/>
          </a:bodyPr>
          <a:lstStyle/>
          <a:p>
            <a:pPr indent="304800" algn="just">
              <a:lnSpc>
                <a:spcPct val="150000"/>
              </a:lnSpc>
            </a:pPr>
            <a:r>
              <a:rPr lang="zh-CN" altLang="en-US" sz="1600" b="1" dirty="0">
                <a:latin typeface="仿宋" panose="02010609060101010101" pitchFamily="49" charset="-122"/>
                <a:ea typeface="仿宋" panose="02010609060101010101" pitchFamily="49" charset="-122"/>
              </a:rPr>
              <a:t>解析：</a:t>
            </a:r>
            <a:r>
              <a:rPr lang="zh-CN" altLang="zh-CN" sz="1600" b="1" dirty="0">
                <a:latin typeface="仿宋" panose="02010609060101010101" pitchFamily="49" charset="-122"/>
                <a:ea typeface="仿宋" panose="02010609060101010101" pitchFamily="49" charset="-122"/>
              </a:rPr>
              <a:t>题干中有两个信息：</a:t>
            </a:r>
            <a:r>
              <a:rPr lang="en-US" altLang="zh-CN" sz="1600" b="1" dirty="0">
                <a:latin typeface="仿宋" panose="02010609060101010101" pitchFamily="49" charset="-122"/>
                <a:ea typeface="仿宋" panose="02010609060101010101" pitchFamily="49" charset="-122"/>
              </a:rPr>
              <a:t>1.</a:t>
            </a:r>
            <a:r>
              <a:rPr lang="zh-CN" altLang="zh-CN" sz="1600" b="1" dirty="0">
                <a:latin typeface="仿宋" panose="02010609060101010101" pitchFamily="49" charset="-122"/>
                <a:ea typeface="仿宋" panose="02010609060101010101" pitchFamily="49" charset="-122"/>
              </a:rPr>
              <a:t>高某翔对《遗嘱》毫不知情；</a:t>
            </a:r>
            <a:r>
              <a:rPr lang="en-US" altLang="zh-CN" sz="1600" b="1" dirty="0">
                <a:latin typeface="仿宋" panose="02010609060101010101" pitchFamily="49" charset="-122"/>
                <a:ea typeface="仿宋" panose="02010609060101010101" pitchFamily="49" charset="-122"/>
              </a:rPr>
              <a:t>2.</a:t>
            </a:r>
            <a:r>
              <a:rPr lang="zh-CN" altLang="zh-CN" sz="1600" b="1" dirty="0">
                <a:latin typeface="仿宋" panose="02010609060101010101" pitchFamily="49" charset="-122"/>
                <a:ea typeface="仿宋" panose="02010609060101010101" pitchFamily="49" charset="-122"/>
              </a:rPr>
              <a:t>先有高某翔的“专职照顾”，后有《遗嘱》签署。</a:t>
            </a:r>
            <a:r>
              <a:rPr lang="zh-CN" altLang="zh-CN" sz="1600" b="1" dirty="0">
                <a:solidFill>
                  <a:srgbClr val="FF0000"/>
                </a:solidFill>
                <a:latin typeface="仿宋" panose="02010609060101010101" pitchFamily="49" charset="-122"/>
                <a:ea typeface="仿宋" panose="02010609060101010101" pitchFamily="49" charset="-122"/>
              </a:rPr>
              <a:t>遗赠抚养协议是“协议”，其本质是合同行为</a:t>
            </a:r>
            <a:r>
              <a:rPr lang="zh-CN" altLang="zh-CN" sz="1600" b="1" dirty="0">
                <a:latin typeface="仿宋" panose="02010609060101010101" pitchFamily="49" charset="-122"/>
                <a:ea typeface="仿宋" panose="02010609060101010101" pitchFamily="49" charset="-122"/>
              </a:rPr>
              <a:t>。不存在一方当事人毫不知情的协议；另一方面，应先有协议，后有双方对于协议所约定的义务的承担。因此，</a:t>
            </a:r>
            <a:r>
              <a:rPr lang="en-US" altLang="zh-CN" sz="1600" b="1" dirty="0">
                <a:latin typeface="仿宋" panose="02010609060101010101" pitchFamily="49" charset="-122"/>
                <a:ea typeface="仿宋" panose="02010609060101010101" pitchFamily="49" charset="-122"/>
              </a:rPr>
              <a:t>A</a:t>
            </a:r>
            <a:r>
              <a:rPr lang="zh-CN" altLang="zh-CN" sz="1600" b="1" dirty="0">
                <a:latin typeface="仿宋" panose="02010609060101010101" pitchFamily="49" charset="-122"/>
                <a:ea typeface="仿宋" panose="02010609060101010101" pitchFamily="49" charset="-122"/>
              </a:rPr>
              <a:t>选项错误，该《遗嘱》并非遗赠扶养协议。</a:t>
            </a:r>
            <a:endParaRPr lang="en-US" altLang="zh-CN" sz="1600" b="1" dirty="0">
              <a:latin typeface="仿宋" panose="02010609060101010101" pitchFamily="49" charset="-122"/>
              <a:ea typeface="仿宋" panose="02010609060101010101" pitchFamily="49" charset="-122"/>
            </a:endParaRPr>
          </a:p>
          <a:p>
            <a:pPr>
              <a:lnSpc>
                <a:spcPct val="150000"/>
              </a:lnSpc>
            </a:pPr>
            <a:r>
              <a:rPr lang="en-US" altLang="zh-CN" sz="1600" b="1" dirty="0">
                <a:latin typeface="仿宋" panose="02010609060101010101" pitchFamily="49" charset="-122"/>
                <a:ea typeface="仿宋" panose="02010609060101010101" pitchFamily="49" charset="-122"/>
              </a:rPr>
              <a:t>    </a:t>
            </a:r>
            <a:r>
              <a:rPr lang="zh-CN" altLang="zh-CN" sz="1600" b="1" dirty="0">
                <a:latin typeface="仿宋" panose="02010609060101010101" pitchFamily="49" charset="-122"/>
                <a:ea typeface="仿宋" panose="02010609060101010101" pitchFamily="49" charset="-122"/>
              </a:rPr>
              <a:t>高某翔并无继承权，不能“继承”遗产，</a:t>
            </a:r>
            <a:r>
              <a:rPr lang="zh-CN" altLang="zh-CN" sz="1600" b="1" dirty="0">
                <a:solidFill>
                  <a:srgbClr val="FF0000"/>
                </a:solidFill>
                <a:latin typeface="仿宋" panose="02010609060101010101" pitchFamily="49" charset="-122"/>
                <a:ea typeface="仿宋" panose="02010609060101010101" pitchFamily="49" charset="-122"/>
              </a:rPr>
              <a:t>只有继承人（有继承权的人）可以继承遗产</a:t>
            </a:r>
            <a:r>
              <a:rPr lang="zh-CN" altLang="zh-CN" sz="1600" b="1" dirty="0">
                <a:latin typeface="仿宋" panose="02010609060101010101" pitchFamily="49" charset="-122"/>
                <a:ea typeface="仿宋" panose="02010609060101010101" pitchFamily="49" charset="-122"/>
              </a:rPr>
              <a:t>。而无继承权的人（如高某翔作为侄子）只能“被分得”</a:t>
            </a:r>
            <a:r>
              <a:rPr lang="en-US" altLang="zh-CN" sz="1600" b="1" dirty="0">
                <a:latin typeface="仿宋" panose="02010609060101010101" pitchFamily="49" charset="-122"/>
                <a:ea typeface="仿宋" panose="02010609060101010101" pitchFamily="49" charset="-122"/>
              </a:rPr>
              <a:t>/</a:t>
            </a:r>
            <a:r>
              <a:rPr lang="zh-CN" altLang="zh-CN" sz="1600" b="1" dirty="0">
                <a:latin typeface="仿宋" panose="02010609060101010101" pitchFamily="49" charset="-122"/>
                <a:ea typeface="仿宋" panose="02010609060101010101" pitchFamily="49" charset="-122"/>
              </a:rPr>
              <a:t>“被分给”遗产，资料卡中的法条也有明确的描述——“分给适当的遗产”。因此</a:t>
            </a:r>
            <a:r>
              <a:rPr lang="en-US" altLang="zh-CN" sz="1600" b="1" dirty="0">
                <a:latin typeface="仿宋" panose="02010609060101010101" pitchFamily="49" charset="-122"/>
                <a:ea typeface="仿宋" panose="02010609060101010101" pitchFamily="49" charset="-122"/>
              </a:rPr>
              <a:t>B</a:t>
            </a:r>
            <a:r>
              <a:rPr lang="zh-CN" altLang="zh-CN" sz="1600" b="1" dirty="0">
                <a:latin typeface="仿宋" panose="02010609060101010101" pitchFamily="49" charset="-122"/>
                <a:ea typeface="仿宋" panose="02010609060101010101" pitchFamily="49" charset="-122"/>
              </a:rPr>
              <a:t>选项“继承适当的遗产”表述错误</a:t>
            </a:r>
            <a:r>
              <a:rPr lang="zh-CN" altLang="en-US" sz="1600" b="1" dirty="0">
                <a:latin typeface="仿宋" panose="02010609060101010101" pitchFamily="49" charset="-122"/>
                <a:ea typeface="仿宋" panose="02010609060101010101" pitchFamily="49" charset="-122"/>
              </a:rPr>
              <a:t>。</a:t>
            </a:r>
            <a:endParaRPr lang="en-US" altLang="zh-CN" sz="1600" b="1" dirty="0">
              <a:latin typeface="仿宋" panose="02010609060101010101" pitchFamily="49" charset="-122"/>
              <a:ea typeface="仿宋" panose="02010609060101010101" pitchFamily="49" charset="-122"/>
            </a:endParaRPr>
          </a:p>
          <a:p>
            <a:pPr>
              <a:lnSpc>
                <a:spcPct val="150000"/>
              </a:lnSpc>
            </a:pPr>
            <a:r>
              <a:rPr lang="en-US" altLang="zh-CN" sz="1600" b="1" dirty="0">
                <a:latin typeface="仿宋" panose="02010609060101010101" pitchFamily="49" charset="-122"/>
                <a:ea typeface="仿宋" panose="02010609060101010101" pitchFamily="49" charset="-122"/>
              </a:rPr>
              <a:t>   </a:t>
            </a:r>
            <a:r>
              <a:rPr lang="zh-CN" altLang="en-US" sz="1600" b="1" dirty="0">
                <a:latin typeface="仿宋" panose="02010609060101010101" pitchFamily="49" charset="-122"/>
                <a:ea typeface="仿宋" panose="02010609060101010101" pitchFamily="49" charset="-122"/>
              </a:rPr>
              <a:t>取得继承权的根据有两种：一是基于法律的直接规定，称为法定继承，即基于婚姻关系、血缘关系、扶养关系获得继承权；二是基于合法有效遗嘱的指定，称为遗嘱继承。遗嘱继承只能在法定继承人范围内指定继承人。（</a:t>
            </a:r>
            <a:r>
              <a:rPr lang="en-US" altLang="zh-CN" sz="1600" b="1" dirty="0">
                <a:latin typeface="仿宋" panose="02010609060101010101" pitchFamily="49" charset="-122"/>
                <a:ea typeface="仿宋" panose="02010609060101010101" pitchFamily="49" charset="-122"/>
              </a:rPr>
              <a:t>P46</a:t>
            </a:r>
            <a:r>
              <a:rPr lang="zh-CN" altLang="en-US" sz="1600" b="1" dirty="0">
                <a:latin typeface="仿宋" panose="02010609060101010101" pitchFamily="49" charset="-122"/>
                <a:ea typeface="仿宋" panose="02010609060101010101" pitchFamily="49" charset="-122"/>
              </a:rPr>
              <a:t>）法定继承的范围和顺序是：配偶、子女、父母（第一顺序）。此外，法律也规定，丧偶儿媳对公婆，丧偶女婿对岳父母，尽了主要赡养义务的，作为第一顺序继承人。</a:t>
            </a:r>
            <a:endParaRPr lang="zh-CN" altLang="zh-CN" sz="1600" b="1" dirty="0">
              <a:latin typeface="仿宋" panose="02010609060101010101" pitchFamily="49" charset="-122"/>
              <a:ea typeface="仿宋" panose="02010609060101010101" pitchFamily="49" charset="-122"/>
            </a:endParaRPr>
          </a:p>
        </p:txBody>
      </p:sp>
      <p:sp>
        <p:nvSpPr>
          <p:cNvPr id="6" name="椭圆 5"/>
          <p:cNvSpPr/>
          <p:nvPr/>
        </p:nvSpPr>
        <p:spPr>
          <a:xfrm>
            <a:off x="2395138" y="1031748"/>
            <a:ext cx="1486638" cy="19467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3067664" y="520715"/>
            <a:ext cx="1303758" cy="141584"/>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0" y="0"/>
            <a:ext cx="2419814" cy="461665"/>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defPPr>
              <a:defRPr lang="zh-CN"/>
            </a:defPPr>
            <a:lvl1pPr>
              <a:defRPr sz="2400" b="1">
                <a:solidFill>
                  <a:srgbClr val="FFFF00"/>
                </a:solidFill>
                <a:latin typeface="黑体" panose="02010609060101010101" pitchFamily="49" charset="-122"/>
                <a:ea typeface="黑体" panose="02010609060101010101" pitchFamily="49" charset="-122"/>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altLang="zh-CN" dirty="0"/>
              <a:t>【</a:t>
            </a:r>
            <a:r>
              <a:rPr lang="zh-CN" altLang="en-US" dirty="0"/>
              <a:t>经典试题回顾</a:t>
            </a:r>
            <a:r>
              <a:rPr lang="en-US" altLang="zh-CN" dirty="0"/>
              <a:t>】</a:t>
            </a:r>
            <a:endParaRPr lang="zh-CN" altLang="en-US" dirty="0"/>
          </a:p>
        </p:txBody>
      </p:sp>
      <p:sp>
        <p:nvSpPr>
          <p:cNvPr id="4" name="文本框 3"/>
          <p:cNvSpPr txBox="1"/>
          <p:nvPr/>
        </p:nvSpPr>
        <p:spPr>
          <a:xfrm>
            <a:off x="411478" y="2660313"/>
            <a:ext cx="10986075" cy="3251852"/>
          </a:xfrm>
          <a:prstGeom prst="rect">
            <a:avLst/>
          </a:prstGeom>
          <a:noFill/>
        </p:spPr>
        <p:txBody>
          <a:bodyPr wrap="square">
            <a:spAutoFit/>
          </a:bodyPr>
          <a:lstStyle/>
          <a:p>
            <a:pPr marL="257810" indent="-3810" algn="just">
              <a:lnSpc>
                <a:spcPct val="150000"/>
              </a:lnSpc>
            </a:pPr>
            <a:r>
              <a:rPr lang="zh-CN" altLang="en-US" sz="1200" dirty="0">
                <a:latin typeface="黑体" panose="02010609060101010101" pitchFamily="49" charset="-122"/>
                <a:ea typeface="黑体" panose="02010609060101010101" pitchFamily="49" charset="-122"/>
              </a:rPr>
              <a:t>（</a:t>
            </a:r>
            <a:r>
              <a:rPr lang="en-US" altLang="zh-CN" sz="1200" dirty="0">
                <a:latin typeface="黑体" panose="02010609060101010101" pitchFamily="49" charset="-122"/>
                <a:ea typeface="黑体" panose="02010609060101010101" pitchFamily="49" charset="-122"/>
              </a:rPr>
              <a:t>24</a:t>
            </a:r>
            <a:r>
              <a:rPr lang="zh-CN" altLang="en-US" sz="1200" dirty="0">
                <a:latin typeface="黑体" panose="02010609060101010101" pitchFamily="49" charset="-122"/>
                <a:ea typeface="黑体" panose="02010609060101010101" pitchFamily="49" charset="-122"/>
              </a:rPr>
              <a:t>西城期末）</a:t>
            </a:r>
            <a:r>
              <a:rPr lang="zh-CN" altLang="zh-CN" sz="2000" dirty="0">
                <a:latin typeface="黑体" panose="02010609060101010101" pitchFamily="49" charset="-122"/>
                <a:ea typeface="黑体" panose="02010609060101010101" pitchFamily="49" charset="-122"/>
              </a:rPr>
              <a:t>我国已进入老龄化社会，为防止老年人的合法权益受损，民法典专门规定了成年意定监护制度。对于这一制度，下列理解正确的是</a:t>
            </a:r>
          </a:p>
          <a:p>
            <a:pPr marL="400050" indent="-146050" algn="just">
              <a:lnSpc>
                <a:spcPct val="150000"/>
              </a:lnSpc>
            </a:pPr>
            <a:r>
              <a:rPr lang="zh-CN" altLang="zh-CN" sz="2000" dirty="0">
                <a:latin typeface="黑体" panose="02010609060101010101" pitchFamily="49" charset="-122"/>
                <a:ea typeface="黑体" panose="02010609060101010101" pitchFamily="49" charset="-122"/>
              </a:rPr>
              <a:t>①具有完全民事行为能力的成年人，只可以与其近亲属事先协商确定自己的监护人</a:t>
            </a:r>
          </a:p>
          <a:p>
            <a:pPr marL="400050" indent="-146050" algn="just">
              <a:lnSpc>
                <a:spcPct val="150000"/>
              </a:lnSpc>
            </a:pPr>
            <a:r>
              <a:rPr lang="zh-CN" altLang="zh-CN" sz="2000" dirty="0">
                <a:latin typeface="黑体" panose="02010609060101010101" pitchFamily="49" charset="-122"/>
                <a:ea typeface="黑体" panose="02010609060101010101" pitchFamily="49" charset="-122"/>
              </a:rPr>
              <a:t>②</a:t>
            </a:r>
            <a:r>
              <a:rPr lang="zh-CN" altLang="zh-CN" sz="2000" dirty="0">
                <a:highlight>
                  <a:srgbClr val="FFFF00"/>
                </a:highlight>
                <a:latin typeface="黑体" panose="02010609060101010101" pitchFamily="49" charset="-122"/>
                <a:ea typeface="黑体" panose="02010609060101010101" pitchFamily="49" charset="-122"/>
              </a:rPr>
              <a:t>意定监护人可以在被监护人去世后继承被监护人的遗产</a:t>
            </a:r>
          </a:p>
          <a:p>
            <a:pPr marL="400050" indent="-146050" algn="just">
              <a:lnSpc>
                <a:spcPct val="150000"/>
              </a:lnSpc>
            </a:pPr>
            <a:r>
              <a:rPr lang="zh-CN" altLang="zh-CN" sz="2000" dirty="0">
                <a:latin typeface="黑体" panose="02010609060101010101" pitchFamily="49" charset="-122"/>
                <a:ea typeface="黑体" panose="02010609060101010101" pitchFamily="49" charset="-122"/>
              </a:rPr>
              <a:t>③监护人在被监护人丧失或者部分丧失民事行为能力时，履行监护职责</a:t>
            </a:r>
          </a:p>
          <a:p>
            <a:pPr marL="400050" indent="-146050" algn="just">
              <a:lnSpc>
                <a:spcPct val="150000"/>
              </a:lnSpc>
            </a:pPr>
            <a:r>
              <a:rPr lang="zh-CN" altLang="zh-CN" sz="2000" dirty="0">
                <a:latin typeface="黑体" panose="02010609060101010101" pitchFamily="49" charset="-122"/>
                <a:ea typeface="黑体" panose="02010609060101010101" pitchFamily="49" charset="-122"/>
              </a:rPr>
              <a:t>④成年意定监护制度可以更好地保障老年人的合法权益</a:t>
            </a:r>
          </a:p>
          <a:p>
            <a:pPr marL="266700" algn="just">
              <a:lnSpc>
                <a:spcPct val="150000"/>
              </a:lnSpc>
            </a:pPr>
            <a:r>
              <a:rPr lang="en-US" altLang="zh-CN" sz="2000" dirty="0">
                <a:latin typeface="黑体" panose="02010609060101010101" pitchFamily="49" charset="-122"/>
                <a:ea typeface="黑体" panose="02010609060101010101" pitchFamily="49" charset="-122"/>
              </a:rPr>
              <a:t>A</a:t>
            </a:r>
            <a:r>
              <a:rPr lang="zh-CN" altLang="zh-CN" sz="2000" dirty="0">
                <a:latin typeface="黑体" panose="02010609060101010101" pitchFamily="49" charset="-122"/>
                <a:ea typeface="黑体" panose="02010609060101010101" pitchFamily="49" charset="-122"/>
              </a:rPr>
              <a:t>．①②</a:t>
            </a:r>
            <a:r>
              <a:rPr lang="en-US" altLang="zh-CN" sz="2000" dirty="0">
                <a:latin typeface="黑体" panose="02010609060101010101" pitchFamily="49" charset="-122"/>
                <a:ea typeface="黑体" panose="02010609060101010101" pitchFamily="49" charset="-122"/>
              </a:rPr>
              <a:t>			B</a:t>
            </a:r>
            <a:r>
              <a:rPr lang="zh-CN" altLang="zh-CN" sz="2000" dirty="0">
                <a:latin typeface="黑体" panose="02010609060101010101" pitchFamily="49" charset="-122"/>
                <a:ea typeface="黑体" panose="02010609060101010101" pitchFamily="49" charset="-122"/>
              </a:rPr>
              <a:t>．①④</a:t>
            </a:r>
            <a:r>
              <a:rPr lang="en-US" altLang="zh-CN" sz="2000" dirty="0">
                <a:latin typeface="黑体" panose="02010609060101010101" pitchFamily="49" charset="-122"/>
                <a:ea typeface="黑体" panose="02010609060101010101" pitchFamily="49" charset="-122"/>
              </a:rPr>
              <a:t>			C</a:t>
            </a:r>
            <a:r>
              <a:rPr lang="zh-CN" altLang="zh-CN" sz="2000" dirty="0">
                <a:latin typeface="黑体" panose="02010609060101010101" pitchFamily="49" charset="-122"/>
                <a:ea typeface="黑体" panose="02010609060101010101" pitchFamily="49" charset="-122"/>
              </a:rPr>
              <a:t>．②③</a:t>
            </a:r>
            <a:r>
              <a:rPr lang="en-US" altLang="zh-CN" sz="2000" dirty="0">
                <a:latin typeface="黑体" panose="02010609060101010101" pitchFamily="49" charset="-122"/>
                <a:ea typeface="黑体" panose="02010609060101010101" pitchFamily="49" charset="-122"/>
              </a:rPr>
              <a:t>			D</a:t>
            </a:r>
            <a:r>
              <a:rPr lang="zh-CN" altLang="zh-CN" sz="2000" dirty="0">
                <a:latin typeface="黑体" panose="02010609060101010101" pitchFamily="49" charset="-122"/>
                <a:ea typeface="黑体" panose="02010609060101010101" pitchFamily="49" charset="-122"/>
              </a:rPr>
              <a:t>．③④</a:t>
            </a:r>
          </a:p>
        </p:txBody>
      </p:sp>
      <p:sp>
        <p:nvSpPr>
          <p:cNvPr id="5" name="横卷形 7"/>
          <p:cNvSpPr/>
          <p:nvPr/>
        </p:nvSpPr>
        <p:spPr>
          <a:xfrm>
            <a:off x="2419814" y="953673"/>
            <a:ext cx="5930204" cy="1407538"/>
          </a:xfrm>
          <a:prstGeom prst="horizontalScroll">
            <a:avLst/>
          </a:prstGeom>
          <a:noFill/>
          <a:ln w="9525">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noAutofit/>
          </a:bodyPr>
          <a:lstStyle/>
          <a:p>
            <a:pPr>
              <a:lnSpc>
                <a:spcPct val="150000"/>
              </a:lnSpc>
            </a:pPr>
            <a:r>
              <a:rPr lang="zh-CN" sz="2000" dirty="0">
                <a:effectLst/>
                <a:latin typeface="Calibri" panose="020F0502020204030204" charset="0"/>
                <a:ea typeface="楷体" panose="02010609060101010101" pitchFamily="49" charset="-122"/>
                <a:cs typeface="Times New Roman" panose="02020603050405020304" pitchFamily="18" charset="0"/>
              </a:rPr>
              <a:t>人人亲其亲、长其长，而天下平。</a:t>
            </a:r>
            <a:endParaRPr lang="zh-CN" sz="2000" dirty="0">
              <a:effectLst/>
              <a:latin typeface="Calibri" panose="020F0502020204030204" charset="0"/>
              <a:ea typeface="宋体" panose="02010600030101010101" pitchFamily="2" charset="-122"/>
              <a:cs typeface="Times New Roman" panose="02020603050405020304" pitchFamily="18" charset="0"/>
            </a:endParaRPr>
          </a:p>
          <a:p>
            <a:pPr>
              <a:lnSpc>
                <a:spcPct val="150000"/>
              </a:lnSpc>
            </a:pPr>
            <a:r>
              <a:rPr lang="en-US" altLang="zh-CN" sz="2000" dirty="0">
                <a:effectLst/>
                <a:latin typeface="Calibri" panose="020F0502020204030204" charset="0"/>
                <a:ea typeface="楷体" panose="02010609060101010101" pitchFamily="49" charset="-122"/>
                <a:cs typeface="Times New Roman" panose="02020603050405020304" pitchFamily="18" charset="0"/>
              </a:rPr>
              <a:t>                                                                 </a:t>
            </a:r>
            <a:r>
              <a:rPr lang="zh-CN" sz="2000" dirty="0">
                <a:effectLst/>
                <a:latin typeface="Calibri" panose="020F0502020204030204" charset="0"/>
                <a:ea typeface="楷体" panose="02010609060101010101" pitchFamily="49" charset="-122"/>
                <a:cs typeface="Times New Roman" panose="02020603050405020304" pitchFamily="18" charset="0"/>
              </a:rPr>
              <a:t>——《孟子》</a:t>
            </a:r>
            <a:endParaRPr lang="zh-CN" sz="2000" dirty="0">
              <a:effectLst/>
              <a:latin typeface="Calibri" panose="020F0502020204030204" charset="0"/>
              <a:ea typeface="宋体" panose="02010600030101010101" pitchFamily="2" charset="-122"/>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1253992" y="732862"/>
            <a:ext cx="9382544" cy="2840785"/>
          </a:xfrm>
          <a:prstGeom prst="rect">
            <a:avLst/>
          </a:prstGeom>
        </p:spPr>
      </p:pic>
      <p:sp>
        <p:nvSpPr>
          <p:cNvPr id="4" name="文本框 3"/>
          <p:cNvSpPr txBox="1"/>
          <p:nvPr/>
        </p:nvSpPr>
        <p:spPr>
          <a:xfrm>
            <a:off x="418853" y="914401"/>
            <a:ext cx="1272295" cy="276999"/>
          </a:xfrm>
          <a:prstGeom prst="rect">
            <a:avLst/>
          </a:prstGeom>
          <a:noFill/>
        </p:spPr>
        <p:txBody>
          <a:bodyPr wrap="square" rtlCol="0">
            <a:spAutoFit/>
          </a:bodyPr>
          <a:lstStyle/>
          <a:p>
            <a:r>
              <a:rPr lang="zh-CN" altLang="en-US" sz="1200" dirty="0"/>
              <a:t>（</a:t>
            </a:r>
            <a:r>
              <a:rPr lang="en-US" altLang="zh-CN" sz="1200" dirty="0"/>
              <a:t>23</a:t>
            </a:r>
            <a:r>
              <a:rPr lang="zh-CN" altLang="en-US" sz="1200" dirty="0"/>
              <a:t>北京卷）</a:t>
            </a:r>
          </a:p>
        </p:txBody>
      </p:sp>
      <p:pic>
        <p:nvPicPr>
          <p:cNvPr id="6" name="图片 5"/>
          <p:cNvPicPr>
            <a:picLocks noChangeAspect="1"/>
          </p:cNvPicPr>
          <p:nvPr/>
        </p:nvPicPr>
        <p:blipFill>
          <a:blip r:embed="rId3"/>
          <a:stretch>
            <a:fillRect/>
          </a:stretch>
        </p:blipFill>
        <p:spPr>
          <a:xfrm>
            <a:off x="960645" y="3755186"/>
            <a:ext cx="9675891" cy="2591994"/>
          </a:xfrm>
          <a:prstGeom prst="rect">
            <a:avLst/>
          </a:prstGeom>
        </p:spPr>
      </p:pic>
      <p:sp>
        <p:nvSpPr>
          <p:cNvPr id="7" name="文本框 6"/>
          <p:cNvSpPr txBox="1"/>
          <p:nvPr/>
        </p:nvSpPr>
        <p:spPr>
          <a:xfrm>
            <a:off x="0" y="0"/>
            <a:ext cx="2419814" cy="461665"/>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defPPr>
              <a:defRPr lang="zh-CN"/>
            </a:defPPr>
            <a:lvl1pPr>
              <a:defRPr sz="2400" b="1">
                <a:solidFill>
                  <a:srgbClr val="FFFF00"/>
                </a:solidFill>
                <a:latin typeface="黑体" panose="02010609060101010101" pitchFamily="49" charset="-122"/>
                <a:ea typeface="黑体" panose="02010609060101010101" pitchFamily="49" charset="-122"/>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altLang="zh-CN" dirty="0"/>
              <a:t>【</a:t>
            </a:r>
            <a:r>
              <a:rPr lang="zh-CN" altLang="en-US" dirty="0"/>
              <a:t>经典试题回顾</a:t>
            </a:r>
            <a:r>
              <a:rPr lang="en-US" altLang="zh-CN" dirty="0"/>
              <a:t>】</a:t>
            </a:r>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505379" y="553390"/>
            <a:ext cx="9313016" cy="3718283"/>
          </a:xfrm>
          <a:prstGeom prst="rect">
            <a:avLst/>
          </a:prstGeom>
        </p:spPr>
      </p:pic>
      <p:sp>
        <p:nvSpPr>
          <p:cNvPr id="2" name="椭圆 1"/>
          <p:cNvSpPr/>
          <p:nvPr/>
        </p:nvSpPr>
        <p:spPr>
          <a:xfrm>
            <a:off x="1687216" y="2725502"/>
            <a:ext cx="1002890" cy="27727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5" name="椭圆 4"/>
          <p:cNvSpPr/>
          <p:nvPr/>
        </p:nvSpPr>
        <p:spPr>
          <a:xfrm>
            <a:off x="1268361" y="3143716"/>
            <a:ext cx="3162054" cy="27727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1194727" y="3561930"/>
            <a:ext cx="1625165" cy="35524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443434" y="4492346"/>
            <a:ext cx="8783157" cy="1866858"/>
          </a:xfrm>
          <a:prstGeom prst="rect">
            <a:avLst/>
          </a:prstGeom>
          <a:noFill/>
          <a:ln>
            <a:solidFill>
              <a:schemeClr val="tx1"/>
            </a:solidFill>
            <a:prstDash val="dashDot"/>
          </a:ln>
        </p:spPr>
        <p:txBody>
          <a:bodyPr wrap="square">
            <a:spAutoFit/>
          </a:bodyPr>
          <a:lstStyle>
            <a:defPPr>
              <a:defRPr lang="zh-CN"/>
            </a:defPPr>
            <a:lvl1pPr lvl="0" algn="just">
              <a:lnSpc>
                <a:spcPct val="150000"/>
              </a:lnSpc>
              <a:tabLst>
                <a:tab pos="457200" algn="l"/>
              </a:tabLst>
              <a:defRPr b="1" kern="100">
                <a:effectLst/>
                <a:latin typeface="黑体" panose="02010609060101010101" pitchFamily="49" charset="-122"/>
                <a:ea typeface="黑体" panose="02010609060101010101" pitchFamily="49" charset="-122"/>
                <a:cs typeface="Times New Roman" panose="02020603050405020304" pitchFamily="18" charset="0"/>
              </a:defRPr>
            </a:lvl1pPr>
          </a:lstStyle>
          <a:p>
            <a:r>
              <a:rPr lang="zh-CN" altLang="en-US" sz="2000" dirty="0"/>
              <a:t>解析</a:t>
            </a:r>
            <a:r>
              <a:rPr lang="zh-CN" altLang="en-US" sz="2000" dirty="0">
                <a:latin typeface="仿宋" panose="02010609060101010101" pitchFamily="49" charset="-122"/>
                <a:ea typeface="仿宋" panose="02010609060101010101" pitchFamily="49" charset="-122"/>
              </a:rPr>
              <a:t>：盗割毁坏闽楠刑事附带民事责任，可以合并审理也可以分别审理。远远达不到污染环境，破坏生态，是一般过错责任。</a:t>
            </a:r>
            <a:endParaRPr lang="en-US" altLang="zh-CN" sz="2000" dirty="0">
              <a:latin typeface="仿宋" panose="02010609060101010101" pitchFamily="49" charset="-122"/>
              <a:ea typeface="仿宋" panose="02010609060101010101" pitchFamily="49" charset="-122"/>
            </a:endParaRPr>
          </a:p>
          <a:p>
            <a:r>
              <a:rPr lang="zh-CN" altLang="en-US" sz="2000" dirty="0">
                <a:latin typeface="仿宋" panose="02010609060101010101" pitchFamily="49" charset="-122"/>
                <a:ea typeface="仿宋" panose="02010609060101010101" pitchFamily="49" charset="-122"/>
              </a:rPr>
              <a:t>   政府对同级人大负责，司法机关只能对行政行为的合法性作出判决，并不能强制干涉行政权行使。</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02273" y="2040311"/>
            <a:ext cx="2669207" cy="3662028"/>
          </a:xfrm>
          <a:prstGeom prst="rect">
            <a:avLst/>
          </a:prstGeom>
          <a:noFill/>
          <a:ln w="6350">
            <a:solidFill>
              <a:schemeClr val="tx1"/>
            </a:solidFill>
            <a:prstDash val="dash"/>
          </a:ln>
        </p:spPr>
        <p:txBody>
          <a:bodyPr wrap="square">
            <a:spAutoFit/>
          </a:bodyPr>
          <a:lstStyle/>
          <a:p>
            <a:pPr algn="l">
              <a:lnSpc>
                <a:spcPct val="150000"/>
              </a:lnSpc>
            </a:pPr>
            <a:r>
              <a:rPr lang="zh-CN" altLang="en-US" sz="2000" b="1" dirty="0">
                <a:latin typeface="仿宋" panose="02010609060101010101" pitchFamily="49" charset="-122"/>
                <a:ea typeface="仿宋" panose="02010609060101010101" pitchFamily="49" charset="-122"/>
              </a:rPr>
              <a:t>    “能动”的内涵比较丰富，主要表现在</a:t>
            </a:r>
            <a:r>
              <a:rPr lang="zh-CN" altLang="en-US" sz="2000" b="1" dirty="0">
                <a:solidFill>
                  <a:srgbClr val="FF0000"/>
                </a:solidFill>
                <a:latin typeface="仿宋" panose="02010609060101010101" pitchFamily="49" charset="-122"/>
                <a:ea typeface="仿宋" panose="02010609060101010101" pitchFamily="49" charset="-122"/>
              </a:rPr>
              <a:t>服务大局、促进治理、个案审理和履职方式</a:t>
            </a:r>
            <a:r>
              <a:rPr lang="zh-CN" altLang="en-US" sz="2000" b="1" dirty="0">
                <a:latin typeface="仿宋" panose="02010609060101010101" pitchFamily="49" charset="-122"/>
                <a:ea typeface="仿宋" panose="02010609060101010101" pitchFamily="49" charset="-122"/>
              </a:rPr>
              <a:t>四个方面上的“能动”。</a:t>
            </a:r>
            <a:endParaRPr lang="en-US" altLang="zh-CN" sz="2000" b="1" dirty="0">
              <a:latin typeface="仿宋" panose="02010609060101010101" pitchFamily="49" charset="-122"/>
              <a:ea typeface="仿宋" panose="02010609060101010101" pitchFamily="49" charset="-122"/>
            </a:endParaRPr>
          </a:p>
          <a:p>
            <a:pPr algn="l">
              <a:lnSpc>
                <a:spcPct val="150000"/>
              </a:lnSpc>
            </a:pPr>
            <a:r>
              <a:rPr lang="en-US" altLang="zh-CN" sz="1200" b="1" dirty="0">
                <a:latin typeface="仿宋" panose="02010609060101010101" pitchFamily="49" charset="-122"/>
                <a:ea typeface="仿宋" panose="02010609060101010101" pitchFamily="49" charset="-122"/>
              </a:rPr>
              <a:t>---</a:t>
            </a:r>
            <a:r>
              <a:rPr lang="zh-CN" altLang="en-US" sz="1200" b="0" i="0" dirty="0">
                <a:solidFill>
                  <a:srgbClr val="000000"/>
                </a:solidFill>
                <a:effectLst/>
                <a:latin typeface="PingFang SC"/>
              </a:rPr>
              <a:t>最高人民法院办公厅副主任、最高人民法院工作报告起草组负责人余茂玉</a:t>
            </a:r>
            <a:r>
              <a:rPr lang="zh-CN" altLang="en-US" sz="1200" b="1" i="0" dirty="0">
                <a:solidFill>
                  <a:srgbClr val="000000"/>
                </a:solidFill>
                <a:effectLst/>
                <a:latin typeface="仿宋" panose="02010609060101010101" pitchFamily="49" charset="-122"/>
                <a:ea typeface="仿宋" panose="02010609060101010101" pitchFamily="49" charset="-122"/>
              </a:rPr>
              <a:t>新华社专访</a:t>
            </a:r>
            <a:endParaRPr lang="zh-CN" altLang="en-US" sz="1200" b="1" dirty="0">
              <a:latin typeface="仿宋" panose="02010609060101010101" pitchFamily="49" charset="-122"/>
              <a:ea typeface="仿宋" panose="02010609060101010101" pitchFamily="49" charset="-122"/>
            </a:endParaRPr>
          </a:p>
        </p:txBody>
      </p:sp>
      <p:sp>
        <p:nvSpPr>
          <p:cNvPr id="6" name="文本框 5"/>
          <p:cNvSpPr txBox="1"/>
          <p:nvPr/>
        </p:nvSpPr>
        <p:spPr>
          <a:xfrm>
            <a:off x="356839" y="367991"/>
            <a:ext cx="2246971" cy="523220"/>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defPPr>
              <a:defRPr lang="zh-CN"/>
            </a:defPPr>
            <a:lvl1pPr algn="ctr">
              <a:defRPr sz="2800">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zh-CN" altLang="en-US" dirty="0"/>
              <a:t>名词点击</a:t>
            </a:r>
          </a:p>
        </p:txBody>
      </p:sp>
      <p:pic>
        <p:nvPicPr>
          <p:cNvPr id="3" name="图片 2"/>
          <p:cNvPicPr>
            <a:picLocks noChangeAspect="1"/>
          </p:cNvPicPr>
          <p:nvPr/>
        </p:nvPicPr>
        <p:blipFill>
          <a:blip r:embed="rId2"/>
          <a:stretch>
            <a:fillRect/>
          </a:stretch>
        </p:blipFill>
        <p:spPr>
          <a:xfrm>
            <a:off x="2771480" y="480767"/>
            <a:ext cx="9145641" cy="6115897"/>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423305" y="446338"/>
            <a:ext cx="8980267" cy="3995876"/>
          </a:xfrm>
          <a:prstGeom prst="rect">
            <a:avLst/>
          </a:prstGeom>
        </p:spPr>
      </p:pic>
      <p:sp>
        <p:nvSpPr>
          <p:cNvPr id="5" name="文本框 4"/>
          <p:cNvSpPr txBox="1"/>
          <p:nvPr/>
        </p:nvSpPr>
        <p:spPr>
          <a:xfrm>
            <a:off x="423305" y="5005589"/>
            <a:ext cx="11316929" cy="943528"/>
          </a:xfrm>
          <a:prstGeom prst="rect">
            <a:avLst/>
          </a:prstGeom>
          <a:noFill/>
          <a:ln>
            <a:solidFill>
              <a:schemeClr val="tx1"/>
            </a:solidFill>
            <a:prstDash val="dashDot"/>
          </a:ln>
        </p:spPr>
        <p:txBody>
          <a:bodyPr wrap="square">
            <a:spAutoFit/>
          </a:bodyPr>
          <a:lstStyle>
            <a:defPPr>
              <a:defRPr lang="zh-CN"/>
            </a:defPPr>
            <a:lvl1pPr lvl="0" algn="just">
              <a:lnSpc>
                <a:spcPct val="150000"/>
              </a:lnSpc>
              <a:tabLst>
                <a:tab pos="457200" algn="l"/>
              </a:tabLst>
              <a:defRPr b="1" kern="100">
                <a:effectLst/>
                <a:latin typeface="黑体" panose="02010609060101010101" pitchFamily="49" charset="-122"/>
                <a:ea typeface="黑体" panose="02010609060101010101" pitchFamily="49" charset="-122"/>
                <a:cs typeface="Times New Roman" panose="02020603050405020304" pitchFamily="18" charset="0"/>
              </a:defRPr>
            </a:lvl1pPr>
          </a:lstStyle>
          <a:p>
            <a:r>
              <a:rPr lang="zh-CN" altLang="en-US" sz="2000" dirty="0"/>
              <a:t>    </a:t>
            </a:r>
            <a:r>
              <a:rPr lang="zh-CN" altLang="en-US" sz="2000" dirty="0">
                <a:latin typeface="仿宋" panose="02010609060101010101" pitchFamily="49" charset="-122"/>
                <a:ea typeface="仿宋" panose="02010609060101010101" pitchFamily="49" charset="-122"/>
              </a:rPr>
              <a:t>全面落实促进民营经济发展壮大的意见及配套举措，进一步解决</a:t>
            </a:r>
            <a:r>
              <a:rPr lang="zh-CN" altLang="en-US" sz="2000" dirty="0">
                <a:solidFill>
                  <a:srgbClr val="FF0000"/>
                </a:solidFill>
              </a:rPr>
              <a:t>市场准入、要素获取、公平执法、权益保护</a:t>
            </a:r>
            <a:r>
              <a:rPr lang="zh-CN" altLang="en-US" sz="2000" dirty="0">
                <a:latin typeface="仿宋" panose="02010609060101010101" pitchFamily="49" charset="-122"/>
                <a:ea typeface="仿宋" panose="02010609060101010101" pitchFamily="49" charset="-122"/>
              </a:rPr>
              <a:t>等方面存在的突出问题。</a:t>
            </a:r>
            <a:r>
              <a:rPr lang="en-US" altLang="zh-CN" sz="2000" dirty="0">
                <a:latin typeface="仿宋" panose="02010609060101010101" pitchFamily="49" charset="-122"/>
                <a:ea typeface="仿宋" panose="02010609060101010101" pitchFamily="49" charset="-122"/>
              </a:rPr>
              <a:t>---2024</a:t>
            </a:r>
            <a:r>
              <a:rPr lang="zh-CN" altLang="en-US" sz="2000" dirty="0">
                <a:latin typeface="仿宋" panose="02010609060101010101" pitchFamily="49" charset="-122"/>
                <a:ea typeface="仿宋" panose="02010609060101010101" pitchFamily="49" charset="-122"/>
              </a:rPr>
              <a:t>年政府工作报告</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533077" y="456722"/>
            <a:ext cx="10300658" cy="3740885"/>
          </a:xfrm>
          <a:prstGeom prst="rect">
            <a:avLst/>
          </a:prstGeom>
        </p:spPr>
      </p:pic>
      <p:sp>
        <p:nvSpPr>
          <p:cNvPr id="6" name="椭圆 5"/>
          <p:cNvSpPr/>
          <p:nvPr/>
        </p:nvSpPr>
        <p:spPr>
          <a:xfrm>
            <a:off x="1539732" y="2524284"/>
            <a:ext cx="1964485" cy="201217"/>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3816882" y="2052336"/>
            <a:ext cx="1203469" cy="21301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485881" y="4532854"/>
            <a:ext cx="3702661" cy="1654748"/>
          </a:xfrm>
          <a:prstGeom prst="rect">
            <a:avLst/>
          </a:prstGeom>
          <a:noFill/>
          <a:ln>
            <a:solidFill>
              <a:schemeClr val="tx1"/>
            </a:solidFill>
            <a:prstDash val="sysDash"/>
          </a:ln>
        </p:spPr>
        <p:txBody>
          <a:bodyPr wrap="square">
            <a:spAutoFit/>
          </a:bodyPr>
          <a:lstStyle/>
          <a:p>
            <a:pPr>
              <a:lnSpc>
                <a:spcPct val="200000"/>
              </a:lnSpc>
            </a:pPr>
            <a:r>
              <a:rPr lang="zh-CN" altLang="en-US" dirty="0">
                <a:latin typeface="仿宋" panose="02010609060101010101" pitchFamily="49" charset="-122"/>
                <a:ea typeface="仿宋" panose="02010609060101010101" pitchFamily="49" charset="-122"/>
              </a:rPr>
              <a:t>    劳动是财富的源泉，我们获取的任何收入归根结底都来自劳动创造。（</a:t>
            </a:r>
            <a:r>
              <a:rPr lang="en-US" altLang="zh-CN" dirty="0">
                <a:latin typeface="仿宋" panose="02010609060101010101" pitchFamily="49" charset="-122"/>
                <a:ea typeface="仿宋" panose="02010609060101010101" pitchFamily="49" charset="-122"/>
              </a:rPr>
              <a:t>P47</a:t>
            </a:r>
            <a:r>
              <a:rPr lang="zh-CN" altLang="en-US" dirty="0">
                <a:latin typeface="仿宋" panose="02010609060101010101" pitchFamily="49" charset="-122"/>
                <a:ea typeface="仿宋" panose="02010609060101010101" pitchFamily="49" charset="-122"/>
              </a:rPr>
              <a:t>）</a:t>
            </a:r>
          </a:p>
        </p:txBody>
      </p:sp>
      <p:pic>
        <p:nvPicPr>
          <p:cNvPr id="11" name="图片 10"/>
          <p:cNvPicPr>
            <a:picLocks noChangeAspect="1"/>
          </p:cNvPicPr>
          <p:nvPr/>
        </p:nvPicPr>
        <p:blipFill>
          <a:blip r:embed="rId3"/>
          <a:stretch>
            <a:fillRect/>
          </a:stretch>
        </p:blipFill>
        <p:spPr>
          <a:xfrm>
            <a:off x="4418616" y="4380291"/>
            <a:ext cx="6955340" cy="2162093"/>
          </a:xfrm>
          <a:prstGeom prst="rect">
            <a:avLst/>
          </a:prstGeom>
          <a:noFill/>
          <a:ln>
            <a:solidFill>
              <a:schemeClr val="tx1"/>
            </a:solidFill>
            <a:prstDash val="sysDash"/>
          </a:ln>
        </p:spPr>
      </p:pic>
      <p:sp>
        <p:nvSpPr>
          <p:cNvPr id="14" name="椭圆 13"/>
          <p:cNvSpPr/>
          <p:nvPr/>
        </p:nvSpPr>
        <p:spPr>
          <a:xfrm>
            <a:off x="9113521" y="1533753"/>
            <a:ext cx="520126" cy="26555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42407" y="236873"/>
            <a:ext cx="11411898" cy="3131659"/>
          </a:xfrm>
          <a:prstGeom prst="rect">
            <a:avLst/>
          </a:prstGeom>
        </p:spPr>
      </p:pic>
      <p:sp>
        <p:nvSpPr>
          <p:cNvPr id="2" name="椭圆 1"/>
          <p:cNvSpPr/>
          <p:nvPr/>
        </p:nvSpPr>
        <p:spPr>
          <a:xfrm>
            <a:off x="4877783" y="1651944"/>
            <a:ext cx="2436433" cy="212377"/>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2170963" y="2809162"/>
            <a:ext cx="2471829" cy="199509"/>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84352" y="3441320"/>
            <a:ext cx="11821816" cy="3351367"/>
          </a:xfrm>
          <a:prstGeom prst="rect">
            <a:avLst/>
          </a:prstGeom>
          <a:noFill/>
          <a:ln>
            <a:solidFill>
              <a:schemeClr val="tx1"/>
            </a:solidFill>
            <a:prstDash val="dashDot"/>
          </a:ln>
        </p:spPr>
        <p:txBody>
          <a:bodyPr wrap="square">
            <a:spAutoFit/>
          </a:bodyPr>
          <a:lstStyle/>
          <a:p>
            <a:pPr>
              <a:lnSpc>
                <a:spcPct val="150000"/>
              </a:lnSpc>
            </a:pPr>
            <a:r>
              <a:rPr lang="zh-CN" altLang="en-US" b="1" dirty="0">
                <a:latin typeface="仿宋" panose="02010609060101010101" pitchFamily="49" charset="-122"/>
                <a:ea typeface="仿宋" panose="02010609060101010101" pitchFamily="49" charset="-122"/>
              </a:rPr>
              <a:t>阅读：</a:t>
            </a:r>
            <a:r>
              <a:rPr lang="zh-CN" altLang="en-US" dirty="0">
                <a:latin typeface="仿宋" panose="02010609060101010101" pitchFamily="49" charset="-122"/>
                <a:ea typeface="仿宋" panose="02010609060101010101" pitchFamily="49" charset="-122"/>
              </a:rPr>
              <a:t>我们坚持总体国家安全观，必须坚持</a:t>
            </a:r>
            <a:r>
              <a:rPr lang="zh-CN" altLang="en-US" dirty="0">
                <a:solidFill>
                  <a:srgbClr val="FF0000"/>
                </a:solidFill>
                <a:latin typeface="仿宋" panose="02010609060101010101" pitchFamily="49" charset="-122"/>
                <a:ea typeface="仿宋" panose="02010609060101010101" pitchFamily="49" charset="-122"/>
              </a:rPr>
              <a:t>以人民安全为宗旨、以政治安全为根本、以经济安全为基础、以军事科技文化社会安全为保障、以促进国际安全为依托</a:t>
            </a:r>
            <a:r>
              <a:rPr lang="zh-CN" altLang="en-US" dirty="0">
                <a:latin typeface="仿宋" panose="02010609060101010101" pitchFamily="49" charset="-122"/>
                <a:ea typeface="仿宋" panose="02010609060101010101" pitchFamily="49" charset="-122"/>
              </a:rPr>
              <a:t>，统筹外部安全和内部安全、国土安全和国民安全、传统安全和非传统安全、自身安全和共同安全，统筹维护和塑造国家安全，夯实国家安全和社会稳定基层基础，完善参与全球安全治理机制，建设更高水平的平安中国，以新安全格局保障新发展格局。（</a:t>
            </a:r>
            <a:r>
              <a:rPr lang="en-US" altLang="zh-CN" dirty="0">
                <a:latin typeface="仿宋" panose="02010609060101010101" pitchFamily="49" charset="-122"/>
                <a:ea typeface="仿宋" panose="02010609060101010101" pitchFamily="49" charset="-122"/>
              </a:rPr>
              <a:t>P24</a:t>
            </a:r>
            <a:r>
              <a:rPr lang="zh-CN" altLang="en-US" dirty="0">
                <a:latin typeface="仿宋" panose="02010609060101010101" pitchFamily="49" charset="-122"/>
                <a:ea typeface="仿宋" panose="02010609060101010101" pitchFamily="49" charset="-122"/>
              </a:rPr>
              <a:t>）</a:t>
            </a:r>
            <a:endParaRPr lang="en-US" altLang="zh-CN" dirty="0">
              <a:latin typeface="仿宋" panose="02010609060101010101" pitchFamily="49" charset="-122"/>
              <a:ea typeface="仿宋" panose="02010609060101010101" pitchFamily="49" charset="-122"/>
            </a:endParaRPr>
          </a:p>
          <a:p>
            <a:pPr>
              <a:lnSpc>
                <a:spcPct val="150000"/>
              </a:lnSpc>
            </a:pPr>
            <a:r>
              <a:rPr lang="zh-CN" altLang="en-US" dirty="0">
                <a:latin typeface="仿宋" panose="02010609060101010101" pitchFamily="49" charset="-122"/>
                <a:ea typeface="仿宋" panose="02010609060101010101" pitchFamily="49" charset="-122"/>
              </a:rPr>
              <a:t>    国际交往中，各国逐渐</a:t>
            </a:r>
            <a:r>
              <a:rPr lang="zh-CN" altLang="en-US" dirty="0">
                <a:solidFill>
                  <a:srgbClr val="FF0000"/>
                </a:solidFill>
                <a:latin typeface="仿宋" panose="02010609060101010101" pitchFamily="49" charset="-122"/>
                <a:ea typeface="仿宋" panose="02010609060101010101" pitchFamily="49" charset="-122"/>
              </a:rPr>
              <a:t>以条约和习惯做法为基础</a:t>
            </a:r>
            <a:r>
              <a:rPr lang="zh-CN" altLang="en-US" dirty="0">
                <a:latin typeface="仿宋" panose="02010609060101010101" pitchFamily="49" charset="-122"/>
                <a:ea typeface="仿宋" panose="02010609060101010101" pitchFamily="49" charset="-122"/>
              </a:rPr>
              <a:t>，发展出的一些被普遍遵守的行为规则，被称作国际法。当前，国际法规范着国际交往的各个方面和人类活动的各个领域，对维护国际关系稳定、促进世界和平与发展发挥着重要作用。世界各国的联系越来越紧密，日益形成你中有我、我中有你的命运共同体。遵守国际法符合各国的共同利益。（</a:t>
            </a:r>
            <a:r>
              <a:rPr lang="en-US" altLang="zh-CN" dirty="0">
                <a:latin typeface="仿宋" panose="02010609060101010101" pitchFamily="49" charset="-122"/>
                <a:ea typeface="仿宋" panose="02010609060101010101" pitchFamily="49" charset="-122"/>
              </a:rPr>
              <a:t>P31</a:t>
            </a:r>
            <a:r>
              <a:rPr lang="zh-CN" altLang="en-US" dirty="0">
                <a:latin typeface="仿宋" panose="02010609060101010101" pitchFamily="49" charset="-122"/>
                <a:ea typeface="仿宋" panose="02010609060101010101" pitchFamily="49" charset="-122"/>
              </a:rPr>
              <a:t>）</a:t>
            </a:r>
          </a:p>
        </p:txBody>
      </p:sp>
      <p:sp>
        <p:nvSpPr>
          <p:cNvPr id="6" name="椭圆 5"/>
          <p:cNvSpPr/>
          <p:nvPr/>
        </p:nvSpPr>
        <p:spPr>
          <a:xfrm>
            <a:off x="3716716" y="2059422"/>
            <a:ext cx="3303516" cy="212377"/>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521455" y="789228"/>
            <a:ext cx="9659413" cy="4533273"/>
          </a:xfrm>
          <a:prstGeom prst="rect">
            <a:avLst/>
          </a:prstGeom>
        </p:spPr>
      </p:pic>
      <p:sp>
        <p:nvSpPr>
          <p:cNvPr id="5" name="椭圆 4"/>
          <p:cNvSpPr/>
          <p:nvPr/>
        </p:nvSpPr>
        <p:spPr>
          <a:xfrm>
            <a:off x="3993863" y="3061765"/>
            <a:ext cx="2283051" cy="36723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3099574" y="4484736"/>
            <a:ext cx="5861546" cy="27727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471420" y="2262450"/>
            <a:ext cx="6623685" cy="922020"/>
          </a:xfrm>
          <a:prstGeom prst="rect">
            <a:avLst/>
          </a:prstGeom>
          <a:noFill/>
        </p:spPr>
        <p:txBody>
          <a:bodyPr wrap="square" rtlCol="0">
            <a:spAutoFit/>
          </a:bodyPr>
          <a:lstStyle/>
          <a:p>
            <a:pPr algn="ctr"/>
            <a:r>
              <a:rPr lang="zh-CN" altLang="en-US" sz="5400" dirty="0"/>
              <a:t>主观题分析</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0"/>
            <a:ext cx="2419814" cy="461665"/>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defPPr>
              <a:defRPr lang="zh-CN"/>
            </a:defPPr>
            <a:lvl1pPr>
              <a:defRPr sz="2400" b="1">
                <a:solidFill>
                  <a:srgbClr val="FFFF00"/>
                </a:solidFill>
                <a:latin typeface="黑体" panose="02010609060101010101" pitchFamily="49" charset="-122"/>
                <a:ea typeface="黑体" panose="02010609060101010101" pitchFamily="49" charset="-122"/>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altLang="zh-CN"/>
              <a:t>【</a:t>
            </a:r>
            <a:r>
              <a:rPr lang="zh-CN" altLang="en-US"/>
              <a:t>试题分析</a:t>
            </a:r>
            <a:r>
              <a:rPr lang="en-US" altLang="zh-CN" dirty="0"/>
              <a:t>】</a:t>
            </a:r>
            <a:endParaRPr lang="zh-CN" altLang="en-US" dirty="0"/>
          </a:p>
        </p:txBody>
      </p:sp>
      <p:pic>
        <p:nvPicPr>
          <p:cNvPr id="7" name="图片 6"/>
          <p:cNvPicPr>
            <a:picLocks noChangeAspect="1"/>
          </p:cNvPicPr>
          <p:nvPr/>
        </p:nvPicPr>
        <p:blipFill>
          <a:blip r:embed="rId2"/>
          <a:stretch>
            <a:fillRect/>
          </a:stretch>
        </p:blipFill>
        <p:spPr>
          <a:xfrm>
            <a:off x="2034162" y="245097"/>
            <a:ext cx="8613231" cy="6275096"/>
          </a:xfrm>
          <a:prstGeom prst="rect">
            <a:avLst/>
          </a:prstGeom>
        </p:spPr>
      </p:pic>
      <p:sp>
        <p:nvSpPr>
          <p:cNvPr id="2" name="椭圆 1"/>
          <p:cNvSpPr/>
          <p:nvPr/>
        </p:nvSpPr>
        <p:spPr>
          <a:xfrm>
            <a:off x="6206579" y="4484468"/>
            <a:ext cx="1715281" cy="294967"/>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椭圆 3"/>
          <p:cNvSpPr/>
          <p:nvPr/>
        </p:nvSpPr>
        <p:spPr>
          <a:xfrm>
            <a:off x="3852380" y="4860607"/>
            <a:ext cx="1417203" cy="32413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7352081" y="6177912"/>
            <a:ext cx="1139558" cy="29496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85850" y="1387928"/>
            <a:ext cx="10020299" cy="4844596"/>
          </a:xfrm>
          <a:prstGeom prst="rect">
            <a:avLst/>
          </a:prstGeom>
          <a:noFill/>
        </p:spPr>
        <p:txBody>
          <a:bodyPr wrap="square" rtlCol="0">
            <a:spAutoFit/>
          </a:bodyPr>
          <a:lstStyle/>
          <a:p>
            <a:pPr>
              <a:lnSpc>
                <a:spcPct val="120000"/>
              </a:lnSpc>
            </a:pPr>
            <a:r>
              <a:rPr lang="zh-CN" altLang="en-US" sz="2000" dirty="0">
                <a:solidFill>
                  <a:srgbClr val="FF0000"/>
                </a:solidFill>
                <a:latin typeface="黑体" panose="02010609060101010101" pitchFamily="49" charset="-122"/>
                <a:ea typeface="黑体" panose="02010609060101010101" pitchFamily="49" charset="-122"/>
              </a:rPr>
              <a:t>解释：</a:t>
            </a:r>
            <a:r>
              <a:rPr lang="zh-CN" altLang="en-US" sz="2000" dirty="0">
                <a:latin typeface="楷体" panose="02010609060101010101" pitchFamily="49" charset="-122"/>
                <a:ea typeface="楷体" panose="02010609060101010101" pitchFamily="49" charset="-122"/>
              </a:rPr>
              <a:t>坚持共性和个性的统一（普特统一或整体与部分）。各具特色民族文化构成世界文化</a:t>
            </a:r>
            <a:r>
              <a:rPr lang="zh-CN" altLang="en-US" sz="2000" dirty="0">
                <a:solidFill>
                  <a:srgbClr val="FF0000"/>
                </a:solidFill>
                <a:latin typeface="楷体" panose="02010609060101010101" pitchFamily="49" charset="-122"/>
                <a:ea typeface="楷体" panose="02010609060101010101" pitchFamily="49" charset="-122"/>
              </a:rPr>
              <a:t>多样性，</a:t>
            </a:r>
            <a:r>
              <a:rPr lang="zh-CN" altLang="en-US" sz="2000" dirty="0">
                <a:latin typeface="楷体" panose="02010609060101010101" pitchFamily="49" charset="-122"/>
                <a:ea typeface="楷体" panose="02010609060101010101" pitchFamily="49" charset="-122"/>
              </a:rPr>
              <a:t>一个民族文化成就既属于本民族，也属于整个世界；既是本民族人民劳动智慧的结晶，也融入了其他民族文化有益成果。（</a:t>
            </a:r>
            <a:r>
              <a:rPr lang="en-US" altLang="zh-CN" sz="2000" dirty="0">
                <a:latin typeface="楷体" panose="02010609060101010101" pitchFamily="49" charset="-122"/>
                <a:ea typeface="楷体" panose="02010609060101010101" pitchFamily="49" charset="-122"/>
              </a:rPr>
              <a:t>2</a:t>
            </a:r>
            <a:r>
              <a:rPr lang="zh-CN" altLang="en-US" sz="2000" dirty="0">
                <a:latin typeface="楷体" panose="02010609060101010101" pitchFamily="49" charset="-122"/>
                <a:ea typeface="楷体" panose="02010609060101010101" pitchFamily="49" charset="-122"/>
              </a:rPr>
              <a:t>分，哲学</a:t>
            </a:r>
            <a:r>
              <a:rPr lang="en-US" altLang="zh-CN" sz="2000" dirty="0">
                <a:latin typeface="楷体" panose="02010609060101010101" pitchFamily="49" charset="-122"/>
                <a:ea typeface="楷体" panose="02010609060101010101" pitchFamily="49" charset="-122"/>
              </a:rPr>
              <a:t>1</a:t>
            </a:r>
            <a:r>
              <a:rPr lang="zh-CN" altLang="en-US" sz="2000" dirty="0">
                <a:latin typeface="楷体" panose="02010609060101010101" pitchFamily="49" charset="-122"/>
                <a:ea typeface="楷体" panose="02010609060101010101" pitchFamily="49" charset="-122"/>
              </a:rPr>
              <a:t>分，文化</a:t>
            </a:r>
            <a:r>
              <a:rPr lang="en-US" altLang="zh-CN" sz="2000" dirty="0">
                <a:latin typeface="楷体" panose="02010609060101010101" pitchFamily="49" charset="-122"/>
                <a:ea typeface="楷体" panose="02010609060101010101" pitchFamily="49" charset="-122"/>
              </a:rPr>
              <a:t>1</a:t>
            </a:r>
            <a:r>
              <a:rPr lang="zh-CN" altLang="en-US" sz="2000" dirty="0">
                <a:latin typeface="楷体" panose="02010609060101010101" pitchFamily="49" charset="-122"/>
                <a:ea typeface="楷体" panose="02010609060101010101" pitchFamily="49" charset="-122"/>
              </a:rPr>
              <a:t>分）</a:t>
            </a:r>
            <a:endParaRPr lang="en-US" altLang="zh-CN" sz="2000" dirty="0">
              <a:latin typeface="楷体" panose="02010609060101010101" pitchFamily="49" charset="-122"/>
              <a:ea typeface="楷体" panose="02010609060101010101" pitchFamily="49" charset="-122"/>
            </a:endParaRPr>
          </a:p>
          <a:p>
            <a:pPr>
              <a:lnSpc>
                <a:spcPct val="120000"/>
              </a:lnSpc>
            </a:pPr>
            <a:endParaRPr lang="en-US" altLang="zh-CN" sz="2000" dirty="0">
              <a:solidFill>
                <a:srgbClr val="FF0000"/>
              </a:solidFill>
              <a:latin typeface="黑体" panose="02010609060101010101" pitchFamily="49" charset="-122"/>
              <a:ea typeface="黑体" panose="02010609060101010101" pitchFamily="49" charset="-122"/>
            </a:endParaRPr>
          </a:p>
          <a:p>
            <a:pPr>
              <a:lnSpc>
                <a:spcPct val="120000"/>
              </a:lnSpc>
            </a:pPr>
            <a:r>
              <a:rPr lang="zh-CN" altLang="en-US" sz="2000" dirty="0">
                <a:solidFill>
                  <a:srgbClr val="FF0000"/>
                </a:solidFill>
                <a:latin typeface="黑体" panose="02010609060101010101" pitchFamily="49" charset="-122"/>
                <a:ea typeface="黑体" panose="02010609060101010101" pitchFamily="49" charset="-122"/>
              </a:rPr>
              <a:t>论证：</a:t>
            </a:r>
            <a:r>
              <a:rPr lang="zh-CN" altLang="en-US" sz="2000" dirty="0">
                <a:latin typeface="楷体" panose="02010609060101010101" pitchFamily="49" charset="-122"/>
                <a:ea typeface="楷体" panose="02010609060101010101" pitchFamily="49" charset="-122"/>
              </a:rPr>
              <a:t>联系观点，文化交流和交融是文化发展的动力。社会生活本质上是实践。文化与文明都是</a:t>
            </a:r>
            <a:r>
              <a:rPr lang="zh-CN" altLang="en-US" sz="2000" dirty="0">
                <a:solidFill>
                  <a:srgbClr val="FF0000"/>
                </a:solidFill>
                <a:latin typeface="楷体" panose="02010609060101010101" pitchFamily="49" charset="-122"/>
                <a:ea typeface="楷体" panose="02010609060101010101" pitchFamily="49" charset="-122"/>
              </a:rPr>
              <a:t>实践的产物</a:t>
            </a:r>
            <a:r>
              <a:rPr lang="zh-CN" altLang="en-US" sz="2000" dirty="0">
                <a:latin typeface="楷体" panose="02010609060101010101" pitchFamily="49" charset="-122"/>
                <a:ea typeface="楷体" panose="02010609060101010101" pitchFamily="49" charset="-122"/>
              </a:rPr>
              <a:t>。党领导中国人民在革命和建设的实践中创造人类文明新形态，</a:t>
            </a:r>
            <a:r>
              <a:rPr lang="zh-CN" altLang="en-US" sz="2000" dirty="0">
                <a:solidFill>
                  <a:srgbClr val="FF0000"/>
                </a:solidFill>
                <a:latin typeface="楷体" panose="02010609060101010101" pitchFamily="49" charset="-122"/>
                <a:ea typeface="楷体" panose="02010609060101010101" pitchFamily="49" charset="-122"/>
              </a:rPr>
              <a:t>推动人类文明繁荣</a:t>
            </a:r>
            <a:r>
              <a:rPr lang="zh-CN" altLang="en-US" sz="2000" dirty="0">
                <a:latin typeface="楷体" panose="02010609060101010101" pitchFamily="49" charset="-122"/>
                <a:ea typeface="楷体" panose="02010609060101010101" pitchFamily="49" charset="-122"/>
              </a:rPr>
              <a:t>。要维护各民族文化多样性，相互交流、借鉴。推进构建新型国际关系（国际关系民主化），推动构建人类命运共同体。（</a:t>
            </a:r>
            <a:r>
              <a:rPr lang="en-US" altLang="zh-CN" sz="2000" dirty="0">
                <a:latin typeface="楷体" panose="02010609060101010101" pitchFamily="49" charset="-122"/>
                <a:ea typeface="楷体" panose="02010609060101010101" pitchFamily="49" charset="-122"/>
              </a:rPr>
              <a:t>3</a:t>
            </a:r>
            <a:r>
              <a:rPr lang="zh-CN" altLang="en-US" sz="2000" dirty="0">
                <a:latin typeface="楷体" panose="02010609060101010101" pitchFamily="49" charset="-122"/>
                <a:ea typeface="楷体" panose="02010609060101010101" pitchFamily="49" charset="-122"/>
              </a:rPr>
              <a:t>分，哲学</a:t>
            </a:r>
            <a:r>
              <a:rPr lang="en-US" altLang="zh-CN" sz="2000" dirty="0">
                <a:latin typeface="楷体" panose="02010609060101010101" pitchFamily="49" charset="-122"/>
                <a:ea typeface="楷体" panose="02010609060101010101" pitchFamily="49" charset="-122"/>
              </a:rPr>
              <a:t>1</a:t>
            </a:r>
            <a:r>
              <a:rPr lang="zh-CN" altLang="en-US" sz="2000" dirty="0">
                <a:latin typeface="楷体" panose="02010609060101010101" pitchFamily="49" charset="-122"/>
                <a:ea typeface="楷体" panose="02010609060101010101" pitchFamily="49" charset="-122"/>
              </a:rPr>
              <a:t>分；论证</a:t>
            </a:r>
            <a:r>
              <a:rPr lang="en-US" altLang="zh-CN" sz="2000" dirty="0">
                <a:latin typeface="楷体" panose="02010609060101010101" pitchFamily="49" charset="-122"/>
                <a:ea typeface="楷体" panose="02010609060101010101" pitchFamily="49" charset="-122"/>
              </a:rPr>
              <a:t>2</a:t>
            </a:r>
            <a:r>
              <a:rPr lang="zh-CN" altLang="en-US" sz="2000" dirty="0">
                <a:latin typeface="楷体" panose="02010609060101010101" pitchFamily="49" charset="-122"/>
                <a:ea typeface="楷体" panose="02010609060101010101" pitchFamily="49" charset="-122"/>
              </a:rPr>
              <a:t>分：文化</a:t>
            </a:r>
            <a:r>
              <a:rPr lang="en-US" altLang="zh-CN" sz="2000" dirty="0">
                <a:latin typeface="楷体" panose="02010609060101010101" pitchFamily="49" charset="-122"/>
                <a:ea typeface="楷体" panose="02010609060101010101" pitchFamily="49" charset="-122"/>
              </a:rPr>
              <a:t>1</a:t>
            </a:r>
            <a:r>
              <a:rPr lang="zh-CN" altLang="en-US" sz="2000" dirty="0">
                <a:latin typeface="楷体" panose="02010609060101010101" pitchFamily="49" charset="-122"/>
                <a:ea typeface="楷体" panose="02010609060101010101" pitchFamily="49" charset="-122"/>
              </a:rPr>
              <a:t>分，写出国际关系或共同体也可得</a:t>
            </a:r>
            <a:r>
              <a:rPr lang="en-US" altLang="zh-CN" sz="2000" dirty="0">
                <a:latin typeface="楷体" panose="02010609060101010101" pitchFamily="49" charset="-122"/>
                <a:ea typeface="楷体" panose="02010609060101010101" pitchFamily="49" charset="-122"/>
              </a:rPr>
              <a:t>1</a:t>
            </a:r>
            <a:r>
              <a:rPr lang="zh-CN" altLang="en-US" sz="2000" dirty="0">
                <a:latin typeface="楷体" panose="02010609060101010101" pitchFamily="49" charset="-122"/>
                <a:ea typeface="楷体" panose="02010609060101010101" pitchFamily="49" charset="-122"/>
              </a:rPr>
              <a:t>分）</a:t>
            </a:r>
            <a:endParaRPr lang="en-US" altLang="zh-CN" sz="2000" dirty="0">
              <a:latin typeface="楷体" panose="02010609060101010101" pitchFamily="49" charset="-122"/>
              <a:ea typeface="楷体" panose="02010609060101010101" pitchFamily="49" charset="-122"/>
            </a:endParaRPr>
          </a:p>
          <a:p>
            <a:pPr>
              <a:lnSpc>
                <a:spcPct val="120000"/>
              </a:lnSpc>
            </a:pPr>
            <a:endParaRPr lang="en-US" altLang="zh-CN" sz="2000" dirty="0">
              <a:solidFill>
                <a:srgbClr val="FF0000"/>
              </a:solidFill>
              <a:latin typeface="黑体" panose="02010609060101010101" pitchFamily="49" charset="-122"/>
              <a:ea typeface="黑体" panose="02010609060101010101" pitchFamily="49" charset="-122"/>
            </a:endParaRPr>
          </a:p>
          <a:p>
            <a:pPr>
              <a:lnSpc>
                <a:spcPct val="120000"/>
              </a:lnSpc>
            </a:pPr>
            <a:r>
              <a:rPr lang="zh-CN" altLang="en-US" sz="2000" dirty="0">
                <a:solidFill>
                  <a:srgbClr val="FF0000"/>
                </a:solidFill>
                <a:latin typeface="黑体" panose="02010609060101010101" pitchFamily="49" charset="-122"/>
                <a:ea typeface="黑体" panose="02010609060101010101" pitchFamily="49" charset="-122"/>
              </a:rPr>
              <a:t>要求：</a:t>
            </a:r>
            <a:r>
              <a:rPr lang="zh-CN" altLang="en-US" sz="2000" dirty="0">
                <a:latin typeface="楷体" panose="02010609060101010101" pitchFamily="49" charset="-122"/>
                <a:ea typeface="楷体" panose="02010609060101010101" pitchFamily="49" charset="-122"/>
              </a:rPr>
              <a:t>科学的价值观符合社会发展规律和人民根本利益。中华文明新形态蕴含全人类</a:t>
            </a:r>
            <a:r>
              <a:rPr lang="zh-CN" altLang="en-US" sz="2000" dirty="0">
                <a:solidFill>
                  <a:srgbClr val="FF0000"/>
                </a:solidFill>
                <a:latin typeface="楷体" panose="02010609060101010101" pitchFamily="49" charset="-122"/>
                <a:ea typeface="楷体" panose="02010609060101010101" pitchFamily="49" charset="-122"/>
              </a:rPr>
              <a:t>共同价值</a:t>
            </a:r>
            <a:r>
              <a:rPr lang="zh-CN" altLang="en-US" sz="2000" dirty="0">
                <a:latin typeface="楷体" panose="02010609060101010101" pitchFamily="49" charset="-122"/>
                <a:ea typeface="楷体" panose="02010609060101010101" pitchFamily="49" charset="-122"/>
              </a:rPr>
              <a:t>，坚持</a:t>
            </a:r>
            <a:r>
              <a:rPr lang="zh-CN" altLang="en-US" sz="2000" dirty="0">
                <a:solidFill>
                  <a:srgbClr val="FF0000"/>
                </a:solidFill>
                <a:latin typeface="楷体" panose="02010609060101010101" pitchFamily="49" charset="-122"/>
                <a:ea typeface="楷体" panose="02010609060101010101" pitchFamily="49" charset="-122"/>
              </a:rPr>
              <a:t>人民为中心，坚守中华文化立场</a:t>
            </a:r>
            <a:r>
              <a:rPr lang="zh-CN" altLang="en-US" sz="2000" dirty="0">
                <a:latin typeface="楷体" panose="02010609060101010101" pitchFamily="49" charset="-122"/>
                <a:ea typeface="楷体" panose="02010609060101010101" pitchFamily="49" charset="-122"/>
              </a:rPr>
              <a:t>，为世界文化繁荣做出贡献。文化自信，走出去（</a:t>
            </a:r>
            <a:r>
              <a:rPr lang="en-US" altLang="zh-CN" sz="2000" dirty="0">
                <a:latin typeface="楷体" panose="02010609060101010101" pitchFamily="49" charset="-122"/>
                <a:ea typeface="楷体" panose="02010609060101010101" pitchFamily="49" charset="-122"/>
              </a:rPr>
              <a:t>2</a:t>
            </a:r>
            <a:r>
              <a:rPr lang="zh-CN" altLang="en-US" sz="2000" dirty="0">
                <a:latin typeface="楷体" panose="02010609060101010101" pitchFamily="49" charset="-122"/>
                <a:ea typeface="楷体" panose="02010609060101010101" pitchFamily="49" charset="-122"/>
              </a:rPr>
              <a:t>分，哲学</a:t>
            </a:r>
            <a:r>
              <a:rPr lang="en-US" altLang="zh-CN" sz="2000" dirty="0">
                <a:latin typeface="楷体" panose="02010609060101010101" pitchFamily="49" charset="-122"/>
                <a:ea typeface="楷体" panose="02010609060101010101" pitchFamily="49" charset="-122"/>
              </a:rPr>
              <a:t>1</a:t>
            </a:r>
            <a:r>
              <a:rPr lang="zh-CN" altLang="en-US" sz="2000" dirty="0">
                <a:latin typeface="楷体" panose="02010609060101010101" pitchFamily="49" charset="-122"/>
                <a:ea typeface="楷体" panose="02010609060101010101" pitchFamily="49" charset="-122"/>
              </a:rPr>
              <a:t>分，文化</a:t>
            </a:r>
            <a:r>
              <a:rPr lang="en-US" altLang="zh-CN" sz="2000" dirty="0">
                <a:latin typeface="楷体" panose="02010609060101010101" pitchFamily="49" charset="-122"/>
                <a:ea typeface="楷体" panose="02010609060101010101" pitchFamily="49" charset="-122"/>
              </a:rPr>
              <a:t>1</a:t>
            </a:r>
            <a:r>
              <a:rPr lang="zh-CN" altLang="en-US" sz="2000" dirty="0">
                <a:latin typeface="楷体" panose="02010609060101010101" pitchFamily="49" charset="-122"/>
                <a:ea typeface="楷体" panose="02010609060101010101" pitchFamily="49" charset="-122"/>
              </a:rPr>
              <a:t>分。“人民”“立场”“自信”</a:t>
            </a:r>
            <a:r>
              <a:rPr lang="zh-CN" altLang="en-US" sz="2000">
                <a:latin typeface="楷体" panose="02010609060101010101" pitchFamily="49" charset="-122"/>
                <a:ea typeface="楷体" panose="02010609060101010101" pitchFamily="49" charset="-122"/>
              </a:rPr>
              <a:t>等）</a:t>
            </a:r>
            <a:endParaRPr lang="en-US" altLang="zh-CN" sz="2000" dirty="0">
              <a:latin typeface="楷体" panose="02010609060101010101" pitchFamily="49" charset="-122"/>
              <a:ea typeface="楷体" panose="02010609060101010101" pitchFamily="49" charset="-122"/>
            </a:endParaRPr>
          </a:p>
        </p:txBody>
      </p:sp>
      <p:sp>
        <p:nvSpPr>
          <p:cNvPr id="5" name="文本框 4"/>
          <p:cNvSpPr txBox="1"/>
          <p:nvPr/>
        </p:nvSpPr>
        <p:spPr>
          <a:xfrm>
            <a:off x="957942" y="538843"/>
            <a:ext cx="10020299" cy="707886"/>
          </a:xfrm>
          <a:prstGeom prst="rect">
            <a:avLst/>
          </a:prstGeom>
          <a:noFill/>
        </p:spPr>
        <p:txBody>
          <a:bodyPr wrap="square" rtlCol="0">
            <a:spAutoFit/>
          </a:bodyPr>
          <a:lstStyle/>
          <a:p>
            <a:r>
              <a:rPr lang="en-US" altLang="zh-CN" sz="2000" dirty="0">
                <a:latin typeface="黑体" panose="02010609060101010101" pitchFamily="49" charset="-122"/>
                <a:ea typeface="黑体" panose="02010609060101010101" pitchFamily="49" charset="-122"/>
              </a:rPr>
              <a:t>16</a:t>
            </a:r>
            <a:r>
              <a:rPr lang="zh-CN" altLang="en-US" sz="2000" dirty="0">
                <a:latin typeface="黑体" panose="02010609060101010101" pitchFamily="49" charset="-122"/>
                <a:ea typeface="黑体" panose="02010609060101010101" pitchFamily="49" charset="-122"/>
              </a:rPr>
              <a:t>题阅卷细则</a:t>
            </a:r>
            <a:r>
              <a:rPr lang="zh-CN" altLang="en-US" sz="2000" dirty="0">
                <a:latin typeface="楷体" panose="02010609060101010101" pitchFamily="49" charset="-122"/>
                <a:ea typeface="楷体" panose="02010609060101010101" pitchFamily="49" charset="-122"/>
              </a:rPr>
              <a:t>（哲学</a:t>
            </a:r>
            <a:r>
              <a:rPr lang="en-US" altLang="zh-CN" sz="2000" dirty="0">
                <a:latin typeface="楷体" panose="02010609060101010101" pitchFamily="49" charset="-122"/>
                <a:ea typeface="楷体" panose="02010609060101010101" pitchFamily="49" charset="-122"/>
              </a:rPr>
              <a:t>3</a:t>
            </a:r>
            <a:r>
              <a:rPr lang="zh-CN" altLang="en-US" sz="2000" dirty="0">
                <a:latin typeface="楷体" panose="02010609060101010101" pitchFamily="49" charset="-122"/>
                <a:ea typeface="楷体" panose="02010609060101010101" pitchFamily="49" charset="-122"/>
              </a:rPr>
              <a:t>分，任意</a:t>
            </a:r>
            <a:r>
              <a:rPr lang="en-US" altLang="zh-CN" sz="2000" dirty="0">
                <a:latin typeface="楷体" panose="02010609060101010101" pitchFamily="49" charset="-122"/>
                <a:ea typeface="楷体" panose="02010609060101010101" pitchFamily="49" charset="-122"/>
              </a:rPr>
              <a:t>2</a:t>
            </a:r>
            <a:r>
              <a:rPr lang="zh-CN" altLang="en-US" sz="2000" dirty="0">
                <a:latin typeface="楷体" panose="02010609060101010101" pitchFamily="49" charset="-122"/>
                <a:ea typeface="楷体" panose="02010609060101010101" pitchFamily="49" charset="-122"/>
              </a:rPr>
              <a:t>个哲学观点的</a:t>
            </a:r>
            <a:r>
              <a:rPr lang="en-US" altLang="zh-CN" sz="2000" dirty="0">
                <a:latin typeface="楷体" panose="02010609060101010101" pitchFamily="49" charset="-122"/>
                <a:ea typeface="楷体" panose="02010609060101010101" pitchFamily="49" charset="-122"/>
              </a:rPr>
              <a:t>3</a:t>
            </a:r>
            <a:r>
              <a:rPr lang="zh-CN" altLang="en-US" sz="2000" dirty="0">
                <a:latin typeface="楷体" panose="02010609060101010101" pitchFamily="49" charset="-122"/>
                <a:ea typeface="楷体" panose="02010609060101010101" pitchFamily="49" charset="-122"/>
              </a:rPr>
              <a:t>分，</a:t>
            </a:r>
            <a:r>
              <a:rPr lang="en-US" altLang="zh-CN" sz="2000" dirty="0">
                <a:latin typeface="楷体" panose="02010609060101010101" pitchFamily="49" charset="-122"/>
                <a:ea typeface="楷体" panose="02010609060101010101" pitchFamily="49" charset="-122"/>
              </a:rPr>
              <a:t>1</a:t>
            </a:r>
            <a:r>
              <a:rPr lang="zh-CN" altLang="en-US" sz="2000" dirty="0">
                <a:latin typeface="楷体" panose="02010609060101010101" pitchFamily="49" charset="-122"/>
                <a:ea typeface="楷体" panose="02010609060101010101" pitchFamily="49" charset="-122"/>
              </a:rPr>
              <a:t>个观点</a:t>
            </a:r>
            <a:r>
              <a:rPr lang="en-US" altLang="zh-CN" sz="2000" dirty="0">
                <a:latin typeface="楷体" panose="02010609060101010101" pitchFamily="49" charset="-122"/>
                <a:ea typeface="楷体" panose="02010609060101010101" pitchFamily="49" charset="-122"/>
              </a:rPr>
              <a:t>2</a:t>
            </a:r>
            <a:r>
              <a:rPr lang="zh-CN" altLang="en-US" sz="2000" dirty="0">
                <a:latin typeface="楷体" panose="02010609060101010101" pitchFamily="49" charset="-122"/>
                <a:ea typeface="楷体" panose="02010609060101010101" pitchFamily="49" charset="-122"/>
              </a:rPr>
              <a:t>分；文化</a:t>
            </a:r>
            <a:r>
              <a:rPr lang="en-US" altLang="zh-CN" sz="2000" dirty="0">
                <a:latin typeface="楷体" panose="02010609060101010101" pitchFamily="49" charset="-122"/>
                <a:ea typeface="楷体" panose="02010609060101010101" pitchFamily="49" charset="-122"/>
              </a:rPr>
              <a:t>4</a:t>
            </a:r>
            <a:r>
              <a:rPr lang="zh-CN" altLang="en-US" sz="2000" dirty="0">
                <a:latin typeface="楷体" panose="02010609060101010101" pitchFamily="49" charset="-122"/>
                <a:ea typeface="楷体" panose="02010609060101010101" pitchFamily="49" charset="-122"/>
              </a:rPr>
              <a:t>分，解释关系</a:t>
            </a:r>
            <a:r>
              <a:rPr lang="en-US" altLang="zh-CN" sz="2000" dirty="0">
                <a:latin typeface="楷体" panose="02010609060101010101" pitchFamily="49" charset="-122"/>
                <a:ea typeface="楷体" panose="02010609060101010101" pitchFamily="49" charset="-122"/>
              </a:rPr>
              <a:t>1</a:t>
            </a:r>
            <a:r>
              <a:rPr lang="zh-CN" altLang="en-US" sz="2000" dirty="0">
                <a:latin typeface="楷体" panose="02010609060101010101" pitchFamily="49" charset="-122"/>
                <a:ea typeface="楷体" panose="02010609060101010101" pitchFamily="49" charset="-122"/>
              </a:rPr>
              <a:t>分，分析论证</a:t>
            </a:r>
            <a:r>
              <a:rPr lang="en-US" altLang="zh-CN" sz="2000" dirty="0">
                <a:latin typeface="楷体" panose="02010609060101010101" pitchFamily="49" charset="-122"/>
                <a:ea typeface="楷体" panose="02010609060101010101" pitchFamily="49" charset="-122"/>
              </a:rPr>
              <a:t>2</a:t>
            </a:r>
            <a:r>
              <a:rPr lang="zh-CN" altLang="en-US" sz="2000" dirty="0">
                <a:latin typeface="楷体" panose="02010609060101010101" pitchFamily="49" charset="-122"/>
                <a:ea typeface="楷体" panose="02010609060101010101" pitchFamily="49" charset="-122"/>
              </a:rPr>
              <a:t>分，要求举措</a:t>
            </a:r>
            <a:r>
              <a:rPr lang="en-US" altLang="zh-CN" sz="2000" dirty="0">
                <a:latin typeface="楷体" panose="02010609060101010101" pitchFamily="49" charset="-122"/>
                <a:ea typeface="楷体" panose="02010609060101010101" pitchFamily="49" charset="-122"/>
              </a:rPr>
              <a:t>1</a:t>
            </a:r>
            <a:r>
              <a:rPr lang="zh-CN" altLang="en-US" sz="2000" dirty="0">
                <a:latin typeface="楷体" panose="02010609060101010101" pitchFamily="49" charset="-122"/>
                <a:ea typeface="楷体" panose="02010609060101010101" pitchFamily="49" charset="-122"/>
              </a:rPr>
              <a:t>分）</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88620" y="457200"/>
            <a:ext cx="11414760" cy="6145530"/>
          </a:xfrm>
          <a:prstGeom prst="rect">
            <a:avLst/>
          </a:prstGeom>
          <a:noFill/>
        </p:spPr>
        <p:txBody>
          <a:bodyPr wrap="square" rtlCol="0">
            <a:spAutoFit/>
          </a:bodyPr>
          <a:lstStyle/>
          <a:p>
            <a:pPr>
              <a:lnSpc>
                <a:spcPct val="120000"/>
              </a:lnSpc>
            </a:pPr>
            <a:r>
              <a:rPr lang="en-US" altLang="zh-CN" sz="2000" dirty="0">
                <a:latin typeface="黑体" panose="02010609060101010101" pitchFamily="49" charset="-122"/>
                <a:ea typeface="黑体" panose="02010609060101010101" pitchFamily="49" charset="-122"/>
              </a:rPr>
              <a:t>16</a:t>
            </a:r>
            <a:r>
              <a:rPr lang="zh-CN" altLang="en-US" sz="2000" dirty="0">
                <a:latin typeface="黑体" panose="02010609060101010101" pitchFamily="49" charset="-122"/>
                <a:ea typeface="黑体" panose="02010609060101010101" pitchFamily="49" charset="-122"/>
              </a:rPr>
              <a:t>题答案示例</a:t>
            </a:r>
          </a:p>
          <a:p>
            <a:pPr>
              <a:lnSpc>
                <a:spcPct val="120000"/>
              </a:lnSpc>
            </a:pPr>
            <a:r>
              <a:rPr lang="zh-CN" altLang="en-US" dirty="0">
                <a:latin typeface="楷体" panose="02010609060101010101" pitchFamily="49" charset="-122"/>
                <a:ea typeface="楷体" panose="02010609060101010101" pitchFamily="49" charset="-122"/>
              </a:rPr>
              <a:t>   </a:t>
            </a:r>
            <a:r>
              <a:rPr lang="zh-CN" altLang="en-US" sz="2800" dirty="0">
                <a:latin typeface="楷体" panose="02010609060101010101" pitchFamily="49" charset="-122"/>
                <a:ea typeface="楷体" panose="02010609060101010101" pitchFamily="49" charset="-122"/>
              </a:rPr>
              <a:t> 坚持共性和个性的统一（普特统一）。各具特色民族文化构成世界文化</a:t>
            </a:r>
            <a:r>
              <a:rPr lang="zh-CN" altLang="en-US" sz="2800" dirty="0">
                <a:solidFill>
                  <a:srgbClr val="FF0000"/>
                </a:solidFill>
                <a:latin typeface="楷体" panose="02010609060101010101" pitchFamily="49" charset="-122"/>
                <a:ea typeface="楷体" panose="02010609060101010101" pitchFamily="49" charset="-122"/>
              </a:rPr>
              <a:t>多样性（</a:t>
            </a:r>
            <a:r>
              <a:rPr lang="en-US" altLang="zh-CN" sz="2800" dirty="0">
                <a:solidFill>
                  <a:srgbClr val="FF0000"/>
                </a:solidFill>
                <a:latin typeface="楷体" panose="02010609060101010101" pitchFamily="49" charset="-122"/>
                <a:ea typeface="楷体" panose="02010609060101010101" pitchFamily="49" charset="-122"/>
              </a:rPr>
              <a:t>2</a:t>
            </a:r>
            <a:r>
              <a:rPr lang="zh-CN" altLang="en-US" sz="2800" dirty="0">
                <a:solidFill>
                  <a:srgbClr val="FF0000"/>
                </a:solidFill>
                <a:latin typeface="楷体" panose="02010609060101010101" pitchFamily="49" charset="-122"/>
                <a:ea typeface="楷体" panose="02010609060101010101" pitchFamily="49" charset="-122"/>
              </a:rPr>
              <a:t>分）</a:t>
            </a:r>
            <a:r>
              <a:rPr lang="zh-CN" altLang="en-US" sz="2800" dirty="0">
                <a:latin typeface="楷体" panose="02010609060101010101" pitchFamily="49" charset="-122"/>
                <a:ea typeface="楷体" panose="02010609060101010101" pitchFamily="49" charset="-122"/>
              </a:rPr>
              <a:t>，文化成就既是民族的，也是世界的；既是本民族人民劳动智慧的结晶，也融入了其他民族文化有益成果。</a:t>
            </a:r>
            <a:endParaRPr lang="en-US" altLang="zh-CN" sz="2800" dirty="0">
              <a:latin typeface="楷体" panose="02010609060101010101" pitchFamily="49" charset="-122"/>
              <a:ea typeface="楷体" panose="02010609060101010101" pitchFamily="49" charset="-122"/>
            </a:endParaRPr>
          </a:p>
          <a:p>
            <a:pPr>
              <a:lnSpc>
                <a:spcPct val="120000"/>
              </a:lnSpc>
            </a:pPr>
            <a:r>
              <a:rPr lang="zh-CN" altLang="en-US" sz="2800" dirty="0">
                <a:solidFill>
                  <a:srgbClr val="FF0000"/>
                </a:solidFill>
                <a:latin typeface="楷体" panose="02010609060101010101" pitchFamily="49" charset="-122"/>
                <a:ea typeface="楷体" panose="02010609060101010101" pitchFamily="49" charset="-122"/>
              </a:rPr>
              <a:t>   </a:t>
            </a:r>
            <a:r>
              <a:rPr lang="zh-CN" altLang="en-US" sz="2800" dirty="0">
                <a:latin typeface="楷体" panose="02010609060101010101" pitchFamily="49" charset="-122"/>
                <a:ea typeface="楷体" panose="02010609060101010101" pitchFamily="49" charset="-122"/>
              </a:rPr>
              <a:t>文化交流和交融是文化发展的动力（</a:t>
            </a:r>
            <a:r>
              <a:rPr lang="en-US" altLang="zh-CN" sz="2800" dirty="0">
                <a:latin typeface="楷体" panose="02010609060101010101" pitchFamily="49" charset="-122"/>
                <a:ea typeface="楷体" panose="02010609060101010101" pitchFamily="49" charset="-122"/>
              </a:rPr>
              <a:t>2</a:t>
            </a:r>
            <a:r>
              <a:rPr lang="zh-CN" altLang="en-US" sz="2800" dirty="0">
                <a:latin typeface="楷体" panose="02010609060101010101" pitchFamily="49" charset="-122"/>
                <a:ea typeface="楷体" panose="02010609060101010101" pitchFamily="49" charset="-122"/>
              </a:rPr>
              <a:t>分）。社会生活本质上是实践。文化与文明都是</a:t>
            </a:r>
            <a:r>
              <a:rPr lang="zh-CN" altLang="en-US" sz="2800" dirty="0">
                <a:solidFill>
                  <a:srgbClr val="FF0000"/>
                </a:solidFill>
                <a:latin typeface="楷体" panose="02010609060101010101" pitchFamily="49" charset="-122"/>
                <a:ea typeface="楷体" panose="02010609060101010101" pitchFamily="49" charset="-122"/>
              </a:rPr>
              <a:t>实践的产物</a:t>
            </a:r>
            <a:r>
              <a:rPr lang="zh-CN" altLang="en-US" sz="2800" dirty="0">
                <a:latin typeface="楷体" panose="02010609060101010101" pitchFamily="49" charset="-122"/>
                <a:ea typeface="楷体" panose="02010609060101010101" pitchFamily="49" charset="-122"/>
              </a:rPr>
              <a:t>。党领导中国人民在革命和建设的实践中创造人类文明新形态，</a:t>
            </a:r>
            <a:r>
              <a:rPr lang="zh-CN" altLang="en-US" sz="2800" dirty="0">
                <a:solidFill>
                  <a:srgbClr val="FF0000"/>
                </a:solidFill>
                <a:latin typeface="楷体" panose="02010609060101010101" pitchFamily="49" charset="-122"/>
                <a:ea typeface="楷体" panose="02010609060101010101" pitchFamily="49" charset="-122"/>
              </a:rPr>
              <a:t>推动人类文明繁荣</a:t>
            </a:r>
            <a:r>
              <a:rPr lang="zh-CN" altLang="en-US" sz="2800" dirty="0">
                <a:latin typeface="楷体" panose="02010609060101010101" pitchFamily="49" charset="-122"/>
                <a:ea typeface="楷体" panose="02010609060101010101" pitchFamily="49" charset="-122"/>
              </a:rPr>
              <a:t>。要维护各民族文化多样性，相互交流、借鉴。推进构建新型国际关系（国际关系民主化），推动构建人类命运共同体。</a:t>
            </a:r>
            <a:endParaRPr lang="en-US" altLang="zh-CN" sz="2800" dirty="0">
              <a:latin typeface="楷体" panose="02010609060101010101" pitchFamily="49" charset="-122"/>
              <a:ea typeface="楷体" panose="02010609060101010101" pitchFamily="49" charset="-122"/>
            </a:endParaRPr>
          </a:p>
          <a:p>
            <a:pPr>
              <a:lnSpc>
                <a:spcPct val="120000"/>
              </a:lnSpc>
            </a:pPr>
            <a:r>
              <a:rPr lang="zh-CN" altLang="en-US" sz="2800" dirty="0">
                <a:solidFill>
                  <a:srgbClr val="FF0000"/>
                </a:solidFill>
                <a:latin typeface="楷体" panose="02010609060101010101" pitchFamily="49" charset="-122"/>
                <a:ea typeface="楷体" panose="02010609060101010101" pitchFamily="49" charset="-122"/>
              </a:rPr>
              <a:t>    </a:t>
            </a:r>
            <a:r>
              <a:rPr lang="zh-CN" altLang="en-US" sz="2800" dirty="0">
                <a:latin typeface="楷体" panose="02010609060101010101" pitchFamily="49" charset="-122"/>
                <a:ea typeface="楷体" panose="02010609060101010101" pitchFamily="49" charset="-122"/>
              </a:rPr>
              <a:t>科学的价值观符合社会发展规律和人民根本利益。中华文明新形态蕴含全人类</a:t>
            </a:r>
            <a:r>
              <a:rPr lang="zh-CN" altLang="en-US" sz="2800" dirty="0">
                <a:solidFill>
                  <a:srgbClr val="FF0000"/>
                </a:solidFill>
                <a:latin typeface="楷体" panose="02010609060101010101" pitchFamily="49" charset="-122"/>
                <a:ea typeface="楷体" panose="02010609060101010101" pitchFamily="49" charset="-122"/>
              </a:rPr>
              <a:t>共同价值</a:t>
            </a:r>
            <a:r>
              <a:rPr lang="zh-CN" altLang="en-US" sz="2800" dirty="0">
                <a:latin typeface="楷体" panose="02010609060101010101" pitchFamily="49" charset="-122"/>
                <a:ea typeface="楷体" panose="02010609060101010101" pitchFamily="49" charset="-122"/>
              </a:rPr>
              <a:t>，坚持</a:t>
            </a:r>
            <a:r>
              <a:rPr lang="zh-CN" altLang="en-US" sz="2800" dirty="0">
                <a:solidFill>
                  <a:srgbClr val="FF0000"/>
                </a:solidFill>
                <a:latin typeface="楷体" panose="02010609060101010101" pitchFamily="49" charset="-122"/>
                <a:ea typeface="楷体" panose="02010609060101010101" pitchFamily="49" charset="-122"/>
              </a:rPr>
              <a:t>人民为中心，坚守中华文化立场</a:t>
            </a:r>
            <a:r>
              <a:rPr lang="zh-CN" altLang="en-US" sz="2800" dirty="0">
                <a:latin typeface="楷体" panose="02010609060101010101" pitchFamily="49" charset="-122"/>
                <a:ea typeface="楷体" panose="02010609060101010101" pitchFamily="49" charset="-122"/>
              </a:rPr>
              <a:t>，坚持</a:t>
            </a:r>
            <a:r>
              <a:rPr lang="zh-CN" altLang="en-US" sz="2800" dirty="0">
                <a:latin typeface="楷体" panose="02010609060101010101" pitchFamily="49" charset="-122"/>
                <a:ea typeface="楷体" panose="02010609060101010101" pitchFamily="49" charset="-122"/>
                <a:sym typeface="+mn-ea"/>
              </a:rPr>
              <a:t>文化自信，</a:t>
            </a:r>
            <a:r>
              <a:rPr lang="zh-CN" altLang="en-US" sz="2800" dirty="0">
                <a:latin typeface="楷体" panose="02010609060101010101" pitchFamily="49" charset="-122"/>
                <a:ea typeface="楷体" panose="02010609060101010101" pitchFamily="49" charset="-122"/>
              </a:rPr>
              <a:t>为世界文化繁荣做出贡献。（</a:t>
            </a:r>
            <a:r>
              <a:rPr lang="en-US" altLang="zh-CN" sz="2800" dirty="0">
                <a:latin typeface="楷体" panose="02010609060101010101" pitchFamily="49" charset="-122"/>
                <a:ea typeface="楷体" panose="02010609060101010101" pitchFamily="49" charset="-122"/>
              </a:rPr>
              <a:t>2</a:t>
            </a:r>
            <a:r>
              <a:rPr lang="zh-CN" altLang="en-US" sz="2800" dirty="0">
                <a:latin typeface="楷体" panose="02010609060101010101" pitchFamily="49" charset="-122"/>
                <a:ea typeface="楷体" panose="02010609060101010101" pitchFamily="49" charset="-122"/>
              </a:rPr>
              <a:t>分）</a:t>
            </a:r>
            <a:endParaRPr lang="en-US" altLang="zh-CN" sz="2800" dirty="0">
              <a:latin typeface="楷体" panose="02010609060101010101" pitchFamily="49" charset="-122"/>
              <a:ea typeface="楷体" panose="02010609060101010101" pitchFamily="49"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18" name="内容占位符 17"/>
          <p:cNvPicPr>
            <a:picLocks noGrp="1" noChangeAspect="1"/>
          </p:cNvPicPr>
          <p:nvPr>
            <p:ph idx="1"/>
          </p:nvPr>
        </p:nvPicPr>
        <p:blipFill>
          <a:blip r:embed="rId2" cstate="print">
            <a:extLst>
              <a:ext uri="{28A0092B-C50C-407E-A947-70E740481C1C}">
                <a14:useLocalDpi xmlns:a14="http://schemas.microsoft.com/office/drawing/2010/main" val="0"/>
              </a:ext>
            </a:extLst>
          </a:blip>
          <a:srcRect l="7407" t="13809" r="9909" b="25952"/>
          <a:stretch>
            <a:fillRect/>
          </a:stretch>
        </p:blipFill>
        <p:spPr>
          <a:xfrm>
            <a:off x="1196340" y="143510"/>
            <a:ext cx="9458960" cy="646303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7" name="内容占位符 6"/>
          <p:cNvPicPr>
            <a:picLocks noGrp="1" noChangeAspect="1"/>
          </p:cNvPicPr>
          <p:nvPr>
            <p:ph idx="1"/>
          </p:nvPr>
        </p:nvPicPr>
        <p:blipFill>
          <a:blip r:embed="rId2" cstate="print">
            <a:extLst>
              <a:ext uri="{28A0092B-C50C-407E-A947-70E740481C1C}">
                <a14:useLocalDpi xmlns:a14="http://schemas.microsoft.com/office/drawing/2010/main" val="0"/>
              </a:ext>
            </a:extLst>
          </a:blip>
          <a:srcRect l="7407" t="13095" b="10079"/>
          <a:stretch>
            <a:fillRect/>
          </a:stretch>
        </p:blipFill>
        <p:spPr>
          <a:xfrm>
            <a:off x="1788160" y="158115"/>
            <a:ext cx="8643620" cy="647890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2" cstate="print">
            <a:extLst>
              <a:ext uri="{28A0092B-C50C-407E-A947-70E740481C1C}">
                <a14:useLocalDpi xmlns:a14="http://schemas.microsoft.com/office/drawing/2010/main" val="0"/>
              </a:ext>
            </a:extLst>
          </a:blip>
          <a:srcRect l="3750" t="21745" b="9207"/>
          <a:stretch>
            <a:fillRect/>
          </a:stretch>
        </p:blipFill>
        <p:spPr>
          <a:xfrm>
            <a:off x="1797050" y="205105"/>
            <a:ext cx="8597900" cy="644842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0"/>
            <a:ext cx="2419814" cy="461665"/>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defPPr>
              <a:defRPr lang="zh-CN"/>
            </a:defPPr>
            <a:lvl1pPr>
              <a:defRPr sz="2400" b="1">
                <a:solidFill>
                  <a:srgbClr val="FFFF00"/>
                </a:solidFill>
                <a:latin typeface="黑体" panose="02010609060101010101" pitchFamily="49" charset="-122"/>
                <a:ea typeface="黑体" panose="02010609060101010101" pitchFamily="49" charset="-122"/>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altLang="zh-CN" dirty="0"/>
              <a:t>【</a:t>
            </a:r>
            <a:r>
              <a:rPr lang="zh-CN" altLang="en-US" dirty="0"/>
              <a:t>经典试题回顾</a:t>
            </a:r>
            <a:r>
              <a:rPr lang="en-US" altLang="zh-CN" dirty="0"/>
              <a:t>】</a:t>
            </a:r>
            <a:endParaRPr lang="zh-CN" altLang="en-US" dirty="0"/>
          </a:p>
        </p:txBody>
      </p:sp>
      <p:pic>
        <p:nvPicPr>
          <p:cNvPr id="4" name="图片 3"/>
          <p:cNvPicPr>
            <a:picLocks noChangeAspect="1"/>
          </p:cNvPicPr>
          <p:nvPr/>
        </p:nvPicPr>
        <p:blipFill>
          <a:blip r:embed="rId2"/>
          <a:stretch>
            <a:fillRect/>
          </a:stretch>
        </p:blipFill>
        <p:spPr>
          <a:xfrm>
            <a:off x="821786" y="1176917"/>
            <a:ext cx="10321583" cy="3343943"/>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5983" y="418079"/>
            <a:ext cx="11340034" cy="6021841"/>
          </a:xfrm>
          <a:prstGeom prst="rect">
            <a:avLst/>
          </a:prstGeom>
          <a:noFill/>
        </p:spPr>
        <p:txBody>
          <a:bodyPr wrap="square">
            <a:spAutoFit/>
          </a:bodyPr>
          <a:lstStyle/>
          <a:p>
            <a:pPr algn="just">
              <a:lnSpc>
                <a:spcPct val="150000"/>
              </a:lnSpc>
            </a:pPr>
            <a:r>
              <a:rPr lang="zh-CN" altLang="zh-CN" sz="2000" dirty="0">
                <a:solidFill>
                  <a:srgbClr val="0070C0"/>
                </a:solidFill>
                <a:effectLst/>
                <a:latin typeface="宋体" panose="02010600030101010101" pitchFamily="2" charset="-122"/>
                <a:ea typeface="楷体" panose="02010609060101010101" pitchFamily="49" charset="-122"/>
                <a:cs typeface="楷体" panose="02010609060101010101" pitchFamily="49" charset="-122"/>
              </a:rPr>
              <a:t>文化：</a:t>
            </a:r>
            <a:endParaRPr lang="zh-CN" altLang="zh-CN" sz="2000" dirty="0">
              <a:effectLst/>
              <a:latin typeface="宋体" panose="02010600030101010101" pitchFamily="2" charset="-122"/>
              <a:ea typeface="宋体" panose="02010600030101010101" pitchFamily="2" charset="-122"/>
              <a:cs typeface="宋体" panose="02010600030101010101" pitchFamily="2" charset="-122"/>
            </a:endParaRPr>
          </a:p>
          <a:p>
            <a:pPr marL="285750" lvl="0" indent="-285750" algn="just">
              <a:lnSpc>
                <a:spcPct val="150000"/>
              </a:lnSpc>
              <a:buFont typeface="Wingdings" panose="05000000000000000000" pitchFamily="2" charset="2"/>
              <a:buChar char="Ø"/>
            </a:pPr>
            <a:r>
              <a:rPr lang="en-US" altLang="zh-CN" sz="2000" dirty="0">
                <a:solidFill>
                  <a:srgbClr val="0070C0"/>
                </a:solidFill>
                <a:effectLst/>
                <a:latin typeface="宋体" panose="02010600030101010101" pitchFamily="2" charset="-122"/>
                <a:ea typeface="楷体" panose="02010609060101010101" pitchFamily="49" charset="-122"/>
                <a:cs typeface="楷体" panose="02010609060101010101" pitchFamily="49" charset="-122"/>
              </a:rPr>
              <a:t> </a:t>
            </a:r>
            <a:r>
              <a:rPr lang="zh-CN" altLang="zh-CN" sz="2000" dirty="0">
                <a:solidFill>
                  <a:srgbClr val="0070C0"/>
                </a:solidFill>
                <a:effectLst/>
                <a:latin typeface="宋体" panose="02010600030101010101" pitchFamily="2" charset="-122"/>
                <a:ea typeface="楷体" panose="02010609060101010101" pitchFamily="49" charset="-122"/>
                <a:cs typeface="楷体" panose="02010609060101010101" pitchFamily="49" charset="-122"/>
              </a:rPr>
              <a:t>手稿本身的独特性</a:t>
            </a:r>
            <a:endParaRPr lang="zh-CN" altLang="zh-CN" sz="2000" dirty="0">
              <a:effectLst/>
              <a:latin typeface="宋体" panose="02010600030101010101" pitchFamily="2" charset="-122"/>
              <a:ea typeface="宋体" panose="02010600030101010101" pitchFamily="2" charset="-122"/>
              <a:cs typeface="宋体" panose="02010600030101010101" pitchFamily="2" charset="-122"/>
            </a:endParaRPr>
          </a:p>
          <a:p>
            <a:pPr algn="just">
              <a:lnSpc>
                <a:spcPct val="150000"/>
              </a:lnSpc>
            </a:pPr>
            <a:r>
              <a:rPr lang="en-US" altLang="zh-CN" sz="2000" dirty="0">
                <a:solidFill>
                  <a:srgbClr val="0070C0"/>
                </a:solidFill>
                <a:effectLst/>
                <a:latin typeface="宋体" panose="02010600030101010101" pitchFamily="2" charset="-122"/>
                <a:ea typeface="楷体" panose="02010609060101010101" pitchFamily="49" charset="-122"/>
                <a:cs typeface="楷体" panose="02010609060101010101" pitchFamily="49" charset="-122"/>
              </a:rPr>
              <a:t>    </a:t>
            </a:r>
            <a:r>
              <a:rPr lang="zh-CN" altLang="zh-CN" sz="2000" dirty="0">
                <a:solidFill>
                  <a:srgbClr val="0070C0"/>
                </a:solidFill>
                <a:effectLst/>
                <a:latin typeface="宋体" panose="02010600030101010101" pitchFamily="2" charset="-122"/>
                <a:ea typeface="楷体" panose="02010609060101010101" pitchFamily="49" charset="-122"/>
                <a:cs typeface="楷体" panose="02010609060101010101" pitchFamily="49" charset="-122"/>
              </a:rPr>
              <a:t>手稿的载体功能、反映时代特征、连接思想、体现认识过程、学术价值等；</a:t>
            </a:r>
            <a:endParaRPr lang="zh-CN" altLang="zh-CN" sz="2000" dirty="0">
              <a:effectLst/>
              <a:latin typeface="宋体" panose="02010600030101010101" pitchFamily="2" charset="-122"/>
              <a:ea typeface="宋体" panose="02010600030101010101" pitchFamily="2" charset="-122"/>
              <a:cs typeface="宋体" panose="02010600030101010101" pitchFamily="2" charset="-122"/>
            </a:endParaRPr>
          </a:p>
          <a:p>
            <a:pPr marL="285750" lvl="0" indent="-285750" algn="just">
              <a:lnSpc>
                <a:spcPct val="150000"/>
              </a:lnSpc>
              <a:buFont typeface="Wingdings" panose="05000000000000000000" pitchFamily="2" charset="2"/>
              <a:buChar char="Ø"/>
            </a:pPr>
            <a:r>
              <a:rPr lang="zh-CN" altLang="zh-CN" sz="2000" dirty="0">
                <a:solidFill>
                  <a:srgbClr val="0070C0"/>
                </a:solidFill>
                <a:effectLst/>
                <a:latin typeface="宋体" panose="02010600030101010101" pitchFamily="2" charset="-122"/>
                <a:ea typeface="楷体" panose="02010609060101010101" pitchFamily="49" charset="-122"/>
                <a:cs typeface="楷体" panose="02010609060101010101" pitchFamily="49" charset="-122"/>
              </a:rPr>
              <a:t>手稿的当代价值</a:t>
            </a:r>
            <a:endParaRPr lang="zh-CN" altLang="zh-CN" sz="2000" dirty="0">
              <a:effectLst/>
              <a:latin typeface="宋体" panose="02010600030101010101" pitchFamily="2" charset="-122"/>
              <a:ea typeface="宋体" panose="02010600030101010101" pitchFamily="2" charset="-122"/>
              <a:cs typeface="宋体" panose="02010600030101010101" pitchFamily="2" charset="-122"/>
            </a:endParaRPr>
          </a:p>
          <a:p>
            <a:pPr algn="just">
              <a:lnSpc>
                <a:spcPct val="150000"/>
              </a:lnSpc>
            </a:pPr>
            <a:r>
              <a:rPr lang="en-US" altLang="zh-CN" sz="2000" dirty="0">
                <a:solidFill>
                  <a:srgbClr val="0070C0"/>
                </a:solidFill>
                <a:effectLst/>
                <a:latin typeface="宋体" panose="02010600030101010101" pitchFamily="2" charset="-122"/>
                <a:ea typeface="楷体" panose="02010609060101010101" pitchFamily="49" charset="-122"/>
                <a:cs typeface="楷体" panose="02010609060101010101" pitchFamily="49" charset="-122"/>
              </a:rPr>
              <a:t>    </a:t>
            </a:r>
            <a:r>
              <a:rPr lang="zh-CN" altLang="zh-CN" sz="2000" dirty="0">
                <a:solidFill>
                  <a:srgbClr val="0070C0"/>
                </a:solidFill>
                <a:effectLst/>
                <a:latin typeface="宋体" panose="02010600030101010101" pitchFamily="2" charset="-122"/>
                <a:ea typeface="楷体" panose="02010609060101010101" pitchFamily="49" charset="-122"/>
                <a:cs typeface="楷体" panose="02010609060101010101" pitchFamily="49" charset="-122"/>
              </a:rPr>
              <a:t>手稿的功能（引领风尚、教育人民、推动社会发展）、优秀文化传承、丰富精神世界、传递精神力量；</a:t>
            </a:r>
            <a:endParaRPr lang="zh-CN" altLang="zh-CN" sz="2000" dirty="0">
              <a:effectLst/>
              <a:latin typeface="宋体" panose="02010600030101010101" pitchFamily="2" charset="-122"/>
              <a:ea typeface="宋体" panose="02010600030101010101" pitchFamily="2" charset="-122"/>
              <a:cs typeface="宋体" panose="02010600030101010101" pitchFamily="2" charset="-122"/>
            </a:endParaRPr>
          </a:p>
          <a:p>
            <a:pPr marL="285750" lvl="0" indent="-285750" algn="just">
              <a:lnSpc>
                <a:spcPct val="150000"/>
              </a:lnSpc>
              <a:buFont typeface="Wingdings" panose="05000000000000000000" pitchFamily="2" charset="2"/>
              <a:buChar char="Ø"/>
            </a:pPr>
            <a:r>
              <a:rPr lang="zh-CN" altLang="zh-CN" sz="2000" dirty="0">
                <a:solidFill>
                  <a:srgbClr val="0070C0"/>
                </a:solidFill>
                <a:effectLst/>
                <a:latin typeface="宋体" panose="02010600030101010101" pitchFamily="2" charset="-122"/>
                <a:ea typeface="楷体" panose="02010609060101010101" pitchFamily="49" charset="-122"/>
                <a:cs typeface="楷体" panose="02010609060101010101" pitchFamily="49" charset="-122"/>
              </a:rPr>
              <a:t>《共产党宣言》的价值</a:t>
            </a:r>
            <a:r>
              <a:rPr lang="en-US" altLang="zh-CN" sz="2000" dirty="0">
                <a:solidFill>
                  <a:srgbClr val="0070C0"/>
                </a:solidFill>
                <a:effectLst/>
                <a:latin typeface="宋体" panose="02010600030101010101" pitchFamily="2" charset="-122"/>
                <a:ea typeface="楷体" panose="02010609060101010101" pitchFamily="49" charset="-122"/>
                <a:cs typeface="楷体" panose="02010609060101010101" pitchFamily="49" charset="-122"/>
              </a:rPr>
              <a:t>/</a:t>
            </a:r>
            <a:r>
              <a:rPr lang="zh-CN" altLang="zh-CN" sz="2000" dirty="0">
                <a:solidFill>
                  <a:srgbClr val="0070C0"/>
                </a:solidFill>
                <a:effectLst/>
                <a:latin typeface="宋体" panose="02010600030101010101" pitchFamily="2" charset="-122"/>
                <a:ea typeface="楷体" panose="02010609060101010101" pitchFamily="49" charset="-122"/>
                <a:cs typeface="楷体" panose="02010609060101010101" pitchFamily="49" charset="-122"/>
              </a:rPr>
              <a:t>作用（非必要内容，作为加分项）</a:t>
            </a:r>
            <a:endParaRPr lang="zh-CN" altLang="zh-CN" sz="2000" dirty="0">
              <a:effectLst/>
              <a:latin typeface="宋体" panose="02010600030101010101" pitchFamily="2" charset="-122"/>
              <a:ea typeface="宋体" panose="02010600030101010101" pitchFamily="2" charset="-122"/>
              <a:cs typeface="宋体" panose="02010600030101010101" pitchFamily="2" charset="-122"/>
            </a:endParaRPr>
          </a:p>
          <a:p>
            <a:pPr algn="just">
              <a:lnSpc>
                <a:spcPct val="150000"/>
              </a:lnSpc>
            </a:pPr>
            <a:r>
              <a:rPr lang="en-US" altLang="zh-CN" sz="2000" dirty="0">
                <a:solidFill>
                  <a:srgbClr val="0070C0"/>
                </a:solidFill>
                <a:effectLst/>
                <a:latin typeface="楷体" panose="02010609060101010101" pitchFamily="49" charset="-122"/>
                <a:ea typeface="宋体" panose="02010600030101010101" pitchFamily="2" charset="-122"/>
                <a:cs typeface="楷体" panose="02010609060101010101" pitchFamily="49" charset="-122"/>
              </a:rPr>
              <a:t> </a:t>
            </a:r>
            <a:endParaRPr lang="zh-CN" altLang="zh-CN" sz="2000" dirty="0">
              <a:effectLst/>
              <a:latin typeface="宋体" panose="02010600030101010101" pitchFamily="2" charset="-122"/>
              <a:ea typeface="宋体" panose="02010600030101010101" pitchFamily="2" charset="-122"/>
              <a:cs typeface="宋体" panose="02010600030101010101" pitchFamily="2" charset="-122"/>
            </a:endParaRPr>
          </a:p>
          <a:p>
            <a:pPr algn="just">
              <a:lnSpc>
                <a:spcPct val="150000"/>
              </a:lnSpc>
            </a:pPr>
            <a:r>
              <a:rPr lang="zh-CN" altLang="zh-CN" sz="2000" dirty="0">
                <a:solidFill>
                  <a:srgbClr val="0070C0"/>
                </a:solidFill>
                <a:effectLst/>
                <a:latin typeface="宋体" panose="02010600030101010101" pitchFamily="2" charset="-122"/>
                <a:ea typeface="楷体" panose="02010609060101010101" pitchFamily="49" charset="-122"/>
                <a:cs typeface="楷体" panose="02010609060101010101" pitchFamily="49" charset="-122"/>
              </a:rPr>
              <a:t>哲学：</a:t>
            </a:r>
            <a:endParaRPr lang="zh-CN" altLang="zh-CN" sz="2000" dirty="0">
              <a:effectLst/>
              <a:latin typeface="宋体" panose="02010600030101010101" pitchFamily="2" charset="-122"/>
              <a:ea typeface="宋体" panose="02010600030101010101" pitchFamily="2" charset="-122"/>
              <a:cs typeface="宋体" panose="02010600030101010101" pitchFamily="2" charset="-122"/>
            </a:endParaRPr>
          </a:p>
          <a:p>
            <a:pPr marL="285750" lvl="0" indent="-285750" algn="just">
              <a:lnSpc>
                <a:spcPct val="150000"/>
              </a:lnSpc>
              <a:buFont typeface="Wingdings" panose="05000000000000000000" pitchFamily="2" charset="2"/>
              <a:buChar char="Ø"/>
            </a:pPr>
            <a:r>
              <a:rPr lang="zh-CN" altLang="zh-CN" sz="2000" dirty="0">
                <a:solidFill>
                  <a:srgbClr val="0070C0"/>
                </a:solidFill>
                <a:effectLst/>
                <a:latin typeface="宋体" panose="02010600030101010101" pitchFamily="2" charset="-122"/>
                <a:ea typeface="楷体" panose="02010609060101010101" pitchFamily="49" charset="-122"/>
                <a:cs typeface="楷体" panose="02010609060101010101" pitchFamily="49" charset="-122"/>
              </a:rPr>
              <a:t>联系</a:t>
            </a:r>
            <a:endParaRPr lang="zh-CN" altLang="zh-CN" sz="2000" dirty="0">
              <a:effectLst/>
              <a:latin typeface="宋体" panose="02010600030101010101" pitchFamily="2" charset="-122"/>
              <a:ea typeface="宋体" panose="02010600030101010101" pitchFamily="2" charset="-122"/>
              <a:cs typeface="宋体" panose="02010600030101010101" pitchFamily="2" charset="-122"/>
            </a:endParaRPr>
          </a:p>
          <a:p>
            <a:pPr algn="just">
              <a:lnSpc>
                <a:spcPct val="150000"/>
              </a:lnSpc>
            </a:pPr>
            <a:r>
              <a:rPr lang="en-US" altLang="zh-CN" sz="2000" dirty="0">
                <a:solidFill>
                  <a:srgbClr val="0070C0"/>
                </a:solidFill>
                <a:effectLst/>
                <a:latin typeface="宋体" panose="02010600030101010101" pitchFamily="2" charset="-122"/>
                <a:ea typeface="楷体" panose="02010609060101010101" pitchFamily="49" charset="-122"/>
                <a:cs typeface="楷体" panose="02010609060101010101" pitchFamily="49" charset="-122"/>
              </a:rPr>
              <a:t>  </a:t>
            </a:r>
            <a:r>
              <a:rPr lang="zh-CN" altLang="zh-CN" sz="2000" dirty="0">
                <a:solidFill>
                  <a:srgbClr val="0070C0"/>
                </a:solidFill>
                <a:effectLst/>
                <a:latin typeface="宋体" panose="02010600030101010101" pitchFamily="2" charset="-122"/>
                <a:ea typeface="楷体" panose="02010609060101010101" pitchFamily="49" charset="-122"/>
                <a:cs typeface="楷体" panose="02010609060101010101" pitchFamily="49" charset="-122"/>
              </a:rPr>
              <a:t>手稿将读者与作者连接起来，有助于增进对作者的理解，促进思想传承；</a:t>
            </a:r>
            <a:endParaRPr lang="zh-CN" altLang="zh-CN" sz="2000" dirty="0">
              <a:effectLst/>
              <a:latin typeface="宋体" panose="02010600030101010101" pitchFamily="2" charset="-122"/>
              <a:ea typeface="宋体" panose="02010600030101010101" pitchFamily="2" charset="-122"/>
              <a:cs typeface="宋体" panose="02010600030101010101" pitchFamily="2" charset="-122"/>
            </a:endParaRPr>
          </a:p>
          <a:p>
            <a:pPr marL="285750" lvl="0" indent="-285750" algn="just">
              <a:lnSpc>
                <a:spcPct val="150000"/>
              </a:lnSpc>
              <a:buFont typeface="Wingdings" panose="05000000000000000000" pitchFamily="2" charset="2"/>
              <a:buChar char="Ø"/>
            </a:pPr>
            <a:r>
              <a:rPr lang="zh-CN" altLang="zh-CN" sz="2000" dirty="0">
                <a:solidFill>
                  <a:srgbClr val="0070C0"/>
                </a:solidFill>
                <a:effectLst/>
                <a:latin typeface="宋体" panose="02010600030101010101" pitchFamily="2" charset="-122"/>
                <a:ea typeface="楷体" panose="02010609060101010101" pitchFamily="49" charset="-122"/>
                <a:cs typeface="楷体" panose="02010609060101010101" pitchFamily="49" charset="-122"/>
              </a:rPr>
              <a:t>认识</a:t>
            </a:r>
            <a:endParaRPr lang="zh-CN" altLang="zh-CN" sz="2000" dirty="0">
              <a:effectLst/>
              <a:latin typeface="宋体" panose="02010600030101010101" pitchFamily="2" charset="-122"/>
              <a:ea typeface="宋体" panose="02010600030101010101" pitchFamily="2" charset="-122"/>
              <a:cs typeface="宋体" panose="02010600030101010101" pitchFamily="2" charset="-122"/>
            </a:endParaRPr>
          </a:p>
          <a:p>
            <a:pPr algn="just">
              <a:lnSpc>
                <a:spcPct val="150000"/>
              </a:lnSpc>
            </a:pPr>
            <a:r>
              <a:rPr lang="en-US" altLang="zh-CN" sz="2000" dirty="0">
                <a:solidFill>
                  <a:srgbClr val="0070C0"/>
                </a:solidFill>
                <a:effectLst/>
                <a:latin typeface="宋体" panose="02010600030101010101" pitchFamily="2" charset="-122"/>
                <a:ea typeface="楷体" panose="02010609060101010101" pitchFamily="49" charset="-122"/>
                <a:cs typeface="楷体" panose="02010609060101010101" pitchFamily="49" charset="-122"/>
              </a:rPr>
              <a:t>  </a:t>
            </a:r>
            <a:r>
              <a:rPr lang="zh-CN" altLang="zh-CN" sz="2000" dirty="0">
                <a:solidFill>
                  <a:srgbClr val="0070C0"/>
                </a:solidFill>
                <a:effectLst/>
                <a:latin typeface="宋体" panose="02010600030101010101" pitchFamily="2" charset="-122"/>
                <a:ea typeface="楷体" panose="02010609060101010101" pitchFamily="49" charset="-122"/>
                <a:cs typeface="楷体" panose="02010609060101010101" pitchFamily="49" charset="-122"/>
              </a:rPr>
              <a:t>手稿见证作者创作过程，呈现认识发展；</a:t>
            </a:r>
            <a:endParaRPr lang="zh-CN" altLang="zh-CN" sz="2000" dirty="0">
              <a:effectLst/>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544830" y="0"/>
            <a:ext cx="11049635" cy="3404235"/>
          </a:xfrm>
          <a:prstGeom prst="rect">
            <a:avLst/>
          </a:prstGeom>
        </p:spPr>
      </p:pic>
      <p:sp>
        <p:nvSpPr>
          <p:cNvPr id="100" name="文本框 99"/>
          <p:cNvSpPr txBox="1"/>
          <p:nvPr/>
        </p:nvSpPr>
        <p:spPr>
          <a:xfrm>
            <a:off x="544195" y="3904615"/>
            <a:ext cx="10706100" cy="2861310"/>
          </a:xfrm>
          <a:prstGeom prst="rect">
            <a:avLst/>
          </a:prstGeom>
          <a:noFill/>
          <a:ln w="9525">
            <a:noFill/>
          </a:ln>
        </p:spPr>
        <p:txBody>
          <a:bodyPr wrap="square">
            <a:spAutoFit/>
          </a:bodyPr>
          <a:lstStyle/>
          <a:p>
            <a:pPr indent="0">
              <a:lnSpc>
                <a:spcPct val="150000"/>
              </a:lnSpc>
            </a:pPr>
            <a:r>
              <a:rPr lang="zh-CN" sz="2400" b="0">
                <a:ea typeface="微软雅黑" panose="020B0503020204020204" charset="-122"/>
              </a:rPr>
              <a:t>参考答案：这一做法</a:t>
            </a:r>
            <a:r>
              <a:rPr lang="zh-CN" sz="2400" b="0">
                <a:solidFill>
                  <a:srgbClr val="FF0000"/>
                </a:solidFill>
                <a:ea typeface="微软雅黑" panose="020B0503020204020204" charset="-122"/>
              </a:rPr>
              <a:t>滥用了行政权力</a:t>
            </a:r>
            <a:r>
              <a:rPr lang="zh-CN" sz="2400" b="0">
                <a:ea typeface="微软雅黑" panose="020B0503020204020204" charset="-122"/>
              </a:rPr>
              <a:t>，限制其他共享单车企业准入经营，违反了市场准入负面清单。</a:t>
            </a:r>
            <a:r>
              <a:rPr lang="zh-CN" sz="2400" b="0">
                <a:highlight>
                  <a:srgbClr val="FFFF00"/>
                </a:highlight>
                <a:ea typeface="微软雅黑" panose="020B0503020204020204" charset="-122"/>
              </a:rPr>
              <a:t>在一定程度上遏制了共享单车无序投放，但阻碍了正常的市场竞争，损害了经营者和消费者合法权益。</a:t>
            </a:r>
            <a:r>
              <a:rPr lang="zh-CN" sz="2400" b="0">
                <a:ea typeface="微软雅黑" panose="020B0503020204020204" charset="-122"/>
              </a:rPr>
              <a:t>政府应运用法治思维和法治方式履行职责，确保行政权在法治框架内运行，维护公平公正的市场竞争秩序，创新监管方式，引导经营者有序规范投放。</a:t>
            </a:r>
            <a:endParaRPr lang="zh-CN" altLang="en-US" sz="2400" b="0">
              <a:ea typeface="微软雅黑" panose="020B0503020204020204"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0"/>
            <a:ext cx="2419814" cy="461665"/>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defPPr>
              <a:defRPr lang="zh-CN"/>
            </a:defPPr>
            <a:lvl1pPr>
              <a:defRPr sz="2400" b="1">
                <a:solidFill>
                  <a:srgbClr val="FFFF00"/>
                </a:solidFill>
                <a:latin typeface="黑体" panose="02010609060101010101" pitchFamily="49" charset="-122"/>
                <a:ea typeface="黑体" panose="02010609060101010101" pitchFamily="49" charset="-122"/>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altLang="zh-CN"/>
              <a:t>【</a:t>
            </a:r>
            <a:r>
              <a:rPr lang="zh-CN" altLang="en-US"/>
              <a:t>试题分析</a:t>
            </a:r>
            <a:r>
              <a:rPr lang="en-US" altLang="zh-CN" dirty="0"/>
              <a:t>】</a:t>
            </a:r>
            <a:endParaRPr lang="zh-CN" altLang="en-US" dirty="0"/>
          </a:p>
        </p:txBody>
      </p:sp>
      <p:pic>
        <p:nvPicPr>
          <p:cNvPr id="2" name="图片 1"/>
          <p:cNvPicPr>
            <a:picLocks noChangeAspect="1"/>
          </p:cNvPicPr>
          <p:nvPr/>
        </p:nvPicPr>
        <p:blipFill>
          <a:blip r:embed="rId2"/>
          <a:stretch>
            <a:fillRect/>
          </a:stretch>
        </p:blipFill>
        <p:spPr>
          <a:xfrm>
            <a:off x="419735" y="1092200"/>
            <a:ext cx="6761480" cy="3999230"/>
          </a:xfrm>
          <a:prstGeom prst="rect">
            <a:avLst/>
          </a:prstGeom>
        </p:spPr>
      </p:pic>
      <p:sp>
        <p:nvSpPr>
          <p:cNvPr id="4" name="椭圆 3"/>
          <p:cNvSpPr/>
          <p:nvPr/>
        </p:nvSpPr>
        <p:spPr>
          <a:xfrm>
            <a:off x="4736199" y="2796295"/>
            <a:ext cx="2679290" cy="29540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5332034" y="3940769"/>
            <a:ext cx="2083455" cy="23597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1757025" y="2577579"/>
            <a:ext cx="1717695" cy="29540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630248" y="2946354"/>
            <a:ext cx="856389" cy="290691"/>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2234872" y="3650078"/>
            <a:ext cx="1334238" cy="290691"/>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4954475" y="4735119"/>
            <a:ext cx="856389" cy="290691"/>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1728626" y="4735119"/>
            <a:ext cx="1020473" cy="290691"/>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570762" y="5614521"/>
            <a:ext cx="6144178" cy="360933"/>
          </a:xfrm>
          <a:prstGeom prst="rect">
            <a:avLst/>
          </a:prstGeom>
          <a:noFill/>
        </p:spPr>
        <p:txBody>
          <a:bodyPr wrap="square">
            <a:spAutoFit/>
          </a:bodyPr>
          <a:lstStyle/>
          <a:p>
            <a:pPr marL="269240" indent="31750" algn="just">
              <a:lnSpc>
                <a:spcPts val="2200"/>
              </a:lnSpc>
            </a:pPr>
            <a:r>
              <a:rPr lang="zh-CN" altLang="zh-CN" kern="100" dirty="0">
                <a:solidFill>
                  <a:srgbClr val="FF0000"/>
                </a:solidFill>
                <a:latin typeface="等线" panose="02010600030101010101" charset="-122"/>
                <a:ea typeface="宋体" panose="02010600030101010101" pitchFamily="2" charset="-122"/>
                <a:cs typeface="Times New Roman" panose="02020603050405020304" pitchFamily="18" charset="0"/>
              </a:rPr>
              <a:t>逻辑思路：是何</a:t>
            </a:r>
            <a:r>
              <a:rPr lang="en-US" altLang="zh-CN" kern="100" dirty="0">
                <a:solidFill>
                  <a:srgbClr val="FF0000"/>
                </a:solidFill>
                <a:latin typeface="等线" panose="02010600030101010101" charset="-122"/>
                <a:ea typeface="宋体" panose="02010600030101010101" pitchFamily="2" charset="-122"/>
                <a:cs typeface="Times New Roman" panose="02020603050405020304" pitchFamily="18" charset="0"/>
              </a:rPr>
              <a:t>+</a:t>
            </a:r>
            <a:r>
              <a:rPr lang="zh-CN" altLang="zh-CN" kern="100" dirty="0">
                <a:solidFill>
                  <a:srgbClr val="FF0000"/>
                </a:solidFill>
                <a:latin typeface="等线" panose="02010600030101010101" charset="-122"/>
                <a:ea typeface="宋体" panose="02010600030101010101" pitchFamily="2" charset="-122"/>
                <a:cs typeface="Times New Roman" panose="02020603050405020304" pitchFamily="18" charset="0"/>
              </a:rPr>
              <a:t>影响</a:t>
            </a:r>
            <a:r>
              <a:rPr lang="en-US" altLang="zh-CN" kern="100" dirty="0">
                <a:solidFill>
                  <a:srgbClr val="FF0000"/>
                </a:solidFill>
                <a:latin typeface="等线" panose="02010600030101010101" charset="-122"/>
                <a:ea typeface="宋体" panose="02010600030101010101" pitchFamily="2" charset="-122"/>
                <a:cs typeface="Times New Roman" panose="02020603050405020304" pitchFamily="18" charset="0"/>
              </a:rPr>
              <a:t>+</a:t>
            </a:r>
            <a:r>
              <a:rPr lang="zh-CN" altLang="zh-CN" kern="100" dirty="0">
                <a:solidFill>
                  <a:srgbClr val="FF0000"/>
                </a:solidFill>
                <a:latin typeface="等线" panose="02010600030101010101" charset="-122"/>
                <a:ea typeface="宋体" panose="02010600030101010101" pitchFamily="2" charset="-122"/>
                <a:cs typeface="Times New Roman" panose="02020603050405020304" pitchFamily="18" charset="0"/>
              </a:rPr>
              <a:t>措施。</a:t>
            </a:r>
            <a:endParaRPr lang="zh-CN" altLang="zh-CN" kern="100" dirty="0">
              <a:latin typeface="等线" panose="02010600030101010101" charset="-122"/>
              <a:ea typeface="等线" panose="02010600030101010101" charset="-122"/>
              <a:cs typeface="Times New Roman" panose="02020603050405020304" pitchFamily="18" charset="0"/>
            </a:endParaRPr>
          </a:p>
        </p:txBody>
      </p:sp>
      <p:sp>
        <p:nvSpPr>
          <p:cNvPr id="100" name="文本框 99"/>
          <p:cNvSpPr txBox="1"/>
          <p:nvPr/>
        </p:nvSpPr>
        <p:spPr>
          <a:xfrm>
            <a:off x="6889750" y="158115"/>
            <a:ext cx="5204460" cy="5867400"/>
          </a:xfrm>
          <a:prstGeom prst="rect">
            <a:avLst/>
          </a:prstGeom>
          <a:noFill/>
          <a:ln w="9525">
            <a:noFill/>
          </a:ln>
        </p:spPr>
        <p:txBody>
          <a:bodyPr>
            <a:noAutofit/>
          </a:bodyPr>
          <a:lstStyle/>
          <a:p>
            <a:pPr marL="279400" indent="-279400"/>
            <a:r>
              <a:rPr lang="en-US" sz="1900" b="0" dirty="0">
                <a:latin typeface="Wingdings" panose="05000000000000000000" charset="0"/>
                <a:ea typeface="宋体" panose="02010600030101010101" pitchFamily="2" charset="-122"/>
              </a:rPr>
              <a:t>  </a:t>
            </a:r>
            <a:r>
              <a:rPr lang="zh-CN" sz="2400" b="0" dirty="0">
                <a:highlight>
                  <a:srgbClr val="FFFF00"/>
                </a:highlight>
                <a:ea typeface="微软雅黑" panose="020B0503020204020204" charset="-122"/>
              </a:rPr>
              <a:t>是何</a:t>
            </a:r>
            <a:r>
              <a:rPr lang="zh-CN" sz="2400" b="0" dirty="0">
                <a:ea typeface="微软雅黑" panose="020B0503020204020204" charset="-122"/>
              </a:rPr>
              <a:t>（2分）：这一做法</a:t>
            </a:r>
            <a:r>
              <a:rPr lang="zh-CN" sz="2400" b="0" u="sng" dirty="0">
                <a:ea typeface="微软雅黑" panose="020B0503020204020204" charset="-122"/>
              </a:rPr>
              <a:t>滥用了行政权力</a:t>
            </a:r>
            <a:r>
              <a:rPr lang="zh-CN" sz="2400" b="0" dirty="0">
                <a:ea typeface="微软雅黑" panose="020B0503020204020204" charset="-122"/>
              </a:rPr>
              <a:t>，限制其他共享单车企业准入经营，</a:t>
            </a:r>
            <a:r>
              <a:rPr lang="zh-CN" sz="2400" b="0" u="sng" dirty="0">
                <a:ea typeface="微软雅黑" panose="020B0503020204020204" charset="-122"/>
              </a:rPr>
              <a:t>违反了市场准入负面清单（违反了……的法律规定）</a:t>
            </a:r>
            <a:r>
              <a:rPr lang="zh-CN" sz="2400" b="0" dirty="0">
                <a:ea typeface="微软雅黑" panose="020B0503020204020204" charset="-122"/>
              </a:rPr>
              <a:t>。</a:t>
            </a:r>
            <a:endParaRPr lang="en-US" sz="2400" b="0" dirty="0">
              <a:latin typeface="Wingdings" panose="05000000000000000000" charset="0"/>
              <a:ea typeface="宋体" panose="02010600030101010101" pitchFamily="2" charset="-122"/>
            </a:endParaRPr>
          </a:p>
          <a:p>
            <a:pPr marL="279400" indent="-279400"/>
            <a:r>
              <a:rPr lang="en-US" sz="2400" b="0" dirty="0">
                <a:latin typeface="Wingdings" panose="05000000000000000000" charset="0"/>
                <a:ea typeface="宋体" panose="02010600030101010101" pitchFamily="2" charset="-122"/>
              </a:rPr>
              <a:t> </a:t>
            </a:r>
            <a:r>
              <a:rPr lang="zh-CN" sz="2400" b="0" dirty="0">
                <a:highlight>
                  <a:srgbClr val="FFFF00"/>
                </a:highlight>
                <a:ea typeface="微软雅黑" panose="020B0503020204020204" charset="-122"/>
              </a:rPr>
              <a:t>影响</a:t>
            </a:r>
            <a:r>
              <a:rPr lang="zh-CN" sz="2400" b="0" dirty="0">
                <a:ea typeface="微软雅黑" panose="020B0503020204020204" charset="-122"/>
              </a:rPr>
              <a:t>（2分）：在</a:t>
            </a:r>
            <a:r>
              <a:rPr lang="zh-CN" sz="2400" b="0" u="sng" dirty="0">
                <a:ea typeface="微软雅黑" panose="020B0503020204020204" charset="-122"/>
              </a:rPr>
              <a:t>一定程度上遏制了共享单车无序投放</a:t>
            </a:r>
            <a:r>
              <a:rPr lang="zh-CN" sz="2400" b="0" dirty="0">
                <a:ea typeface="微软雅黑" panose="020B0503020204020204" charset="-122"/>
              </a:rPr>
              <a:t>，但</a:t>
            </a:r>
            <a:r>
              <a:rPr lang="zh-CN" sz="2400" b="0" u="sng" dirty="0">
                <a:ea typeface="微软雅黑" panose="020B0503020204020204" charset="-122"/>
              </a:rPr>
              <a:t>阻碍了正常的市场竞争，损害了经营者和消费者合法权益</a:t>
            </a:r>
            <a:r>
              <a:rPr lang="zh-CN" sz="2400" b="0" dirty="0">
                <a:ea typeface="微软雅黑" panose="020B0503020204020204" charset="-122"/>
              </a:rPr>
              <a:t>。（只要较准确写出不利影响即得2分）</a:t>
            </a:r>
            <a:endParaRPr lang="en-US" sz="2400" b="0" dirty="0">
              <a:latin typeface="Wingdings" panose="05000000000000000000" charset="0"/>
              <a:ea typeface="宋体" panose="02010600030101010101" pitchFamily="2" charset="-122"/>
            </a:endParaRPr>
          </a:p>
          <a:p>
            <a:pPr marL="279400" indent="-279400"/>
            <a:r>
              <a:rPr lang="en-US" sz="2400" b="0" dirty="0">
                <a:latin typeface="Wingdings" panose="05000000000000000000" charset="0"/>
                <a:ea typeface="宋体" panose="02010600030101010101" pitchFamily="2" charset="-122"/>
              </a:rPr>
              <a:t> </a:t>
            </a:r>
            <a:r>
              <a:rPr lang="zh-CN" sz="2400" b="0" dirty="0">
                <a:highlight>
                  <a:srgbClr val="FFFF00"/>
                </a:highlight>
                <a:ea typeface="微软雅黑" panose="020B0503020204020204" charset="-122"/>
              </a:rPr>
              <a:t>措施</a:t>
            </a:r>
            <a:r>
              <a:rPr lang="zh-CN" sz="2400" b="0" dirty="0">
                <a:ea typeface="微软雅黑" panose="020B0503020204020204" charset="-122"/>
              </a:rPr>
              <a:t>(3分)：政府应运用</a:t>
            </a:r>
            <a:r>
              <a:rPr lang="zh-CN" sz="2400" b="0" u="sng" dirty="0">
                <a:ea typeface="微软雅黑" panose="020B0503020204020204" charset="-122"/>
              </a:rPr>
              <a:t>法治</a:t>
            </a:r>
            <a:r>
              <a:rPr lang="zh-CN" sz="2400" b="0" dirty="0">
                <a:ea typeface="微软雅黑" panose="020B0503020204020204" charset="-122"/>
              </a:rPr>
              <a:t>思维和</a:t>
            </a:r>
            <a:r>
              <a:rPr lang="zh-CN" sz="2400" b="0" u="sng" dirty="0">
                <a:ea typeface="微软雅黑" panose="020B0503020204020204" charset="-122"/>
              </a:rPr>
              <a:t>法治</a:t>
            </a:r>
            <a:r>
              <a:rPr lang="zh-CN" sz="2400" b="0" dirty="0">
                <a:ea typeface="微软雅黑" panose="020B0503020204020204" charset="-122"/>
              </a:rPr>
              <a:t>方式履行职责，确保行政权在</a:t>
            </a:r>
            <a:r>
              <a:rPr lang="zh-CN" sz="2400" b="0" u="sng" dirty="0">
                <a:ea typeface="微软雅黑" panose="020B0503020204020204" charset="-122"/>
              </a:rPr>
              <a:t>法治</a:t>
            </a:r>
            <a:r>
              <a:rPr lang="zh-CN" sz="2400" b="0" dirty="0">
                <a:ea typeface="微软雅黑" panose="020B0503020204020204" charset="-122"/>
              </a:rPr>
              <a:t>框架内运行</a:t>
            </a:r>
            <a:r>
              <a:rPr lang="zh-CN" sz="2400" b="0" u="sng" dirty="0">
                <a:ea typeface="微软雅黑" panose="020B0503020204020204" charset="-122"/>
              </a:rPr>
              <a:t>（或依法行政）</a:t>
            </a:r>
            <a:r>
              <a:rPr lang="zh-CN" sz="2400" b="0" dirty="0">
                <a:ea typeface="微软雅黑" panose="020B0503020204020204" charset="-122"/>
              </a:rPr>
              <a:t>，</a:t>
            </a:r>
            <a:r>
              <a:rPr lang="zh-CN" sz="2400" b="0" u="sng" dirty="0">
                <a:ea typeface="微软雅黑" panose="020B0503020204020204" charset="-122"/>
              </a:rPr>
              <a:t>维护公平公正的市场竞争秩序</a:t>
            </a:r>
            <a:r>
              <a:rPr lang="zh-CN" sz="2400" b="0" dirty="0">
                <a:ea typeface="微软雅黑" panose="020B0503020204020204" charset="-122"/>
              </a:rPr>
              <a:t>，</a:t>
            </a:r>
            <a:r>
              <a:rPr lang="zh-CN" sz="2400" b="0" u="sng" dirty="0">
                <a:ea typeface="微软雅黑" panose="020B0503020204020204" charset="-122"/>
              </a:rPr>
              <a:t>创新监管方式</a:t>
            </a:r>
            <a:r>
              <a:rPr lang="zh-CN" sz="2400" b="0" dirty="0">
                <a:ea typeface="微软雅黑" panose="020B0503020204020204" charset="-122"/>
              </a:rPr>
              <a:t>，引导经营者有序规范投放。（经济和法治两个角度都有给3分，任写一个角度给2分）</a:t>
            </a:r>
            <a:endParaRPr lang="zh-CN" sz="2400" b="0" dirty="0">
              <a:solidFill>
                <a:srgbClr val="000000"/>
              </a:solidFill>
              <a:ea typeface="微软雅黑" panose="020B0503020204020204" charset="-122"/>
            </a:endParaRPr>
          </a:p>
          <a:p>
            <a:pPr marL="279400" indent="-279400"/>
            <a:r>
              <a:rPr lang="zh-CN" sz="2400" b="0" dirty="0">
                <a:solidFill>
                  <a:srgbClr val="000000"/>
                </a:solidFill>
                <a:ea typeface="微软雅黑" panose="020B0503020204020204" charset="-122"/>
              </a:rPr>
              <a:t>另：通篇肯定政府行为，给1分 </a:t>
            </a:r>
            <a:endParaRPr lang="zh-CN" altLang="en-US" sz="2400" b="0" dirty="0">
              <a:solidFill>
                <a:srgbClr val="000000"/>
              </a:solidFill>
              <a:ea typeface="微软雅黑" panose="020B0503020204020204"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1224533" name="图片 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a:xfrm>
            <a:off x="640715" y="254635"/>
            <a:ext cx="11413490" cy="634873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002" name="图片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6054" y="947689"/>
            <a:ext cx="10679891" cy="539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0" y="54938"/>
            <a:ext cx="2419814" cy="461665"/>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defPPr>
              <a:defRPr lang="zh-CN"/>
            </a:defPPr>
            <a:lvl1pPr>
              <a:defRPr sz="2400" b="1">
                <a:solidFill>
                  <a:srgbClr val="FFFF00"/>
                </a:solidFill>
                <a:latin typeface="黑体" panose="02010609060101010101" pitchFamily="49" charset="-122"/>
                <a:ea typeface="黑体" panose="02010609060101010101" pitchFamily="49" charset="-122"/>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altLang="zh-CN" dirty="0"/>
              <a:t>【</a:t>
            </a:r>
            <a:r>
              <a:rPr lang="zh-CN" altLang="en-US" dirty="0"/>
              <a:t>经典试题回顾</a:t>
            </a:r>
            <a:r>
              <a:rPr lang="en-US" altLang="zh-CN" dirty="0"/>
              <a:t>】</a:t>
            </a:r>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文本框 2"/>
          <p:cNvSpPr txBox="1">
            <a:spLocks noChangeArrowheads="1"/>
          </p:cNvSpPr>
          <p:nvPr/>
        </p:nvSpPr>
        <p:spPr bwMode="auto">
          <a:xfrm>
            <a:off x="584200" y="2000250"/>
            <a:ext cx="11225213" cy="2776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charset="-122"/>
                <a:ea typeface="等线" panose="02010600030101010101" charset="-122"/>
              </a:defRPr>
            </a:lvl1pPr>
            <a:lvl2pPr marL="742950" indent="-285750">
              <a:defRPr>
                <a:solidFill>
                  <a:schemeClr val="tx1"/>
                </a:solidFill>
                <a:latin typeface="等线" panose="02010600030101010101" charset="-122"/>
                <a:ea typeface="等线" panose="02010600030101010101" charset="-122"/>
              </a:defRPr>
            </a:lvl2pPr>
            <a:lvl3pPr marL="1143000" indent="-228600">
              <a:defRPr>
                <a:solidFill>
                  <a:schemeClr val="tx1"/>
                </a:solidFill>
                <a:latin typeface="等线" panose="02010600030101010101" charset="-122"/>
                <a:ea typeface="等线" panose="02010600030101010101" charset="-122"/>
              </a:defRPr>
            </a:lvl3pPr>
            <a:lvl4pPr marL="1600200" indent="-228600">
              <a:defRPr>
                <a:solidFill>
                  <a:schemeClr val="tx1"/>
                </a:solidFill>
                <a:latin typeface="等线" panose="02010600030101010101" charset="-122"/>
                <a:ea typeface="等线" panose="02010600030101010101" charset="-122"/>
              </a:defRPr>
            </a:lvl4pPr>
            <a:lvl5pPr marL="2057400" indent="-228600">
              <a:defRPr>
                <a:solidFill>
                  <a:schemeClr val="tx1"/>
                </a:solidFill>
                <a:latin typeface="等线" panose="02010600030101010101" charset="-122"/>
                <a:ea typeface="等线" panose="02010600030101010101" charset="-122"/>
              </a:defRPr>
            </a:lvl5pPr>
            <a:lvl6pPr marL="2514600" indent="-228600" fontAlgn="base">
              <a:spcBef>
                <a:spcPct val="0"/>
              </a:spcBef>
              <a:spcAft>
                <a:spcPct val="0"/>
              </a:spcAft>
              <a:defRPr>
                <a:solidFill>
                  <a:schemeClr val="tx1"/>
                </a:solidFill>
                <a:latin typeface="等线" panose="02010600030101010101" charset="-122"/>
                <a:ea typeface="等线" panose="02010600030101010101" charset="-122"/>
              </a:defRPr>
            </a:lvl6pPr>
            <a:lvl7pPr marL="2971800" indent="-228600" fontAlgn="base">
              <a:spcBef>
                <a:spcPct val="0"/>
              </a:spcBef>
              <a:spcAft>
                <a:spcPct val="0"/>
              </a:spcAft>
              <a:defRPr>
                <a:solidFill>
                  <a:schemeClr val="tx1"/>
                </a:solidFill>
                <a:latin typeface="等线" panose="02010600030101010101" charset="-122"/>
                <a:ea typeface="等线" panose="02010600030101010101" charset="-122"/>
              </a:defRPr>
            </a:lvl7pPr>
            <a:lvl8pPr marL="3429000" indent="-228600" fontAlgn="base">
              <a:spcBef>
                <a:spcPct val="0"/>
              </a:spcBef>
              <a:spcAft>
                <a:spcPct val="0"/>
              </a:spcAft>
              <a:defRPr>
                <a:solidFill>
                  <a:schemeClr val="tx1"/>
                </a:solidFill>
                <a:latin typeface="等线" panose="02010600030101010101" charset="-122"/>
                <a:ea typeface="等线" panose="02010600030101010101" charset="-122"/>
              </a:defRPr>
            </a:lvl8pPr>
            <a:lvl9pPr marL="3886200" indent="-228600" fontAlgn="base">
              <a:spcBef>
                <a:spcPct val="0"/>
              </a:spcBef>
              <a:spcAft>
                <a:spcPct val="0"/>
              </a:spcAft>
              <a:defRPr>
                <a:solidFill>
                  <a:schemeClr val="tx1"/>
                </a:solidFill>
                <a:latin typeface="等线" panose="02010600030101010101" charset="-122"/>
                <a:ea typeface="等线" panose="02010600030101010101" charset="-122"/>
              </a:defRPr>
            </a:lvl9pPr>
          </a:lstStyle>
          <a:p>
            <a:pPr eaLnBrk="1" hangingPunct="1">
              <a:lnSpc>
                <a:spcPct val="150000"/>
              </a:lnSpc>
            </a:pPr>
            <a:r>
              <a:rPr lang="zh-CN" altLang="zh-CN" sz="2400" b="1">
                <a:latin typeface="黑体" panose="02010609060101010101" pitchFamily="49" charset="-122"/>
                <a:ea typeface="黑体" panose="02010609060101010101" pitchFamily="49" charset="-122"/>
              </a:rPr>
              <a:t>该观点是片面的。用服务机器人替代人工，确会降低一些岗位的用工需求，但随着劳动年龄人口数量下降，可部分缓解劳动力供需矛盾；服务机器人的广泛使用，会促进相关产业的发展，同时科技进步和社会发展也会催生新的产业，创造新的就业岗位；可以通过教育培训，引导劳动者不断提升劳动技能，优化劳动力供给结构，更好契合社会对劳动力的需求。</a:t>
            </a:r>
            <a:endParaRPr lang="zh-CN" altLang="en-US" sz="2400" b="1">
              <a:latin typeface="黑体" panose="02010609060101010101" pitchFamily="49" charset="-122"/>
              <a:ea typeface="黑体" panose="02010609060101010101" pitchFamily="49" charset="-122"/>
            </a:endParaRPr>
          </a:p>
        </p:txBody>
      </p:sp>
      <p:sp>
        <p:nvSpPr>
          <p:cNvPr id="5" name="文本框 4"/>
          <p:cNvSpPr txBox="1"/>
          <p:nvPr/>
        </p:nvSpPr>
        <p:spPr>
          <a:xfrm>
            <a:off x="360363" y="450850"/>
            <a:ext cx="11069637" cy="1130300"/>
          </a:xfrm>
          <a:prstGeom prst="rect">
            <a:avLst/>
          </a:prstGeom>
          <a:noFill/>
        </p:spPr>
        <p:txBody>
          <a:bodyPr>
            <a:spAutoFit/>
          </a:bodyPr>
          <a:lstStyle>
            <a:lvl1pPr indent="459105">
              <a:defRPr>
                <a:solidFill>
                  <a:schemeClr val="tx1"/>
                </a:solidFill>
                <a:latin typeface="等线" panose="02010600030101010101" charset="-122"/>
                <a:ea typeface="等线" panose="02010600030101010101" charset="-122"/>
              </a:defRPr>
            </a:lvl1pPr>
            <a:lvl2pPr marL="742950" indent="-285750">
              <a:defRPr>
                <a:solidFill>
                  <a:schemeClr val="tx1"/>
                </a:solidFill>
                <a:latin typeface="等线" panose="02010600030101010101" charset="-122"/>
                <a:ea typeface="等线" panose="02010600030101010101" charset="-122"/>
              </a:defRPr>
            </a:lvl2pPr>
            <a:lvl3pPr marL="1143000" indent="-228600">
              <a:defRPr>
                <a:solidFill>
                  <a:schemeClr val="tx1"/>
                </a:solidFill>
                <a:latin typeface="等线" panose="02010600030101010101" charset="-122"/>
                <a:ea typeface="等线" panose="02010600030101010101" charset="-122"/>
              </a:defRPr>
            </a:lvl3pPr>
            <a:lvl4pPr marL="1600200" indent="-228600">
              <a:defRPr>
                <a:solidFill>
                  <a:schemeClr val="tx1"/>
                </a:solidFill>
                <a:latin typeface="等线" panose="02010600030101010101" charset="-122"/>
                <a:ea typeface="等线" panose="02010600030101010101" charset="-122"/>
              </a:defRPr>
            </a:lvl4pPr>
            <a:lvl5pPr marL="2057400" indent="-228600">
              <a:defRPr>
                <a:solidFill>
                  <a:schemeClr val="tx1"/>
                </a:solidFill>
                <a:latin typeface="等线" panose="02010600030101010101" charset="-122"/>
                <a:ea typeface="等线" panose="02010600030101010101" charset="-122"/>
              </a:defRPr>
            </a:lvl5pPr>
            <a:lvl6pPr marL="2514600" indent="-228600" fontAlgn="base">
              <a:spcBef>
                <a:spcPct val="0"/>
              </a:spcBef>
              <a:spcAft>
                <a:spcPct val="0"/>
              </a:spcAft>
              <a:defRPr>
                <a:solidFill>
                  <a:schemeClr val="tx1"/>
                </a:solidFill>
                <a:latin typeface="等线" panose="02010600030101010101" charset="-122"/>
                <a:ea typeface="等线" panose="02010600030101010101" charset="-122"/>
              </a:defRPr>
            </a:lvl6pPr>
            <a:lvl7pPr marL="2971800" indent="-228600" fontAlgn="base">
              <a:spcBef>
                <a:spcPct val="0"/>
              </a:spcBef>
              <a:spcAft>
                <a:spcPct val="0"/>
              </a:spcAft>
              <a:defRPr>
                <a:solidFill>
                  <a:schemeClr val="tx1"/>
                </a:solidFill>
                <a:latin typeface="等线" panose="02010600030101010101" charset="-122"/>
                <a:ea typeface="等线" panose="02010600030101010101" charset="-122"/>
              </a:defRPr>
            </a:lvl7pPr>
            <a:lvl8pPr marL="3429000" indent="-228600" fontAlgn="base">
              <a:spcBef>
                <a:spcPct val="0"/>
              </a:spcBef>
              <a:spcAft>
                <a:spcPct val="0"/>
              </a:spcAft>
              <a:defRPr>
                <a:solidFill>
                  <a:schemeClr val="tx1"/>
                </a:solidFill>
                <a:latin typeface="等线" panose="02010600030101010101" charset="-122"/>
                <a:ea typeface="等线" panose="02010600030101010101" charset="-122"/>
              </a:defRPr>
            </a:lvl8pPr>
            <a:lvl9pPr marL="3886200" indent="-228600" fontAlgn="base">
              <a:spcBef>
                <a:spcPct val="0"/>
              </a:spcBef>
              <a:spcAft>
                <a:spcPct val="0"/>
              </a:spcAft>
              <a:defRPr>
                <a:solidFill>
                  <a:schemeClr val="tx1"/>
                </a:solidFill>
                <a:latin typeface="等线" panose="02010600030101010101" charset="-122"/>
                <a:ea typeface="等线" panose="02010600030101010101" charset="-122"/>
              </a:defRPr>
            </a:lvl9pPr>
          </a:lstStyle>
          <a:p>
            <a:pPr algn="just" eaLnBrk="1" hangingPunct="1">
              <a:lnSpc>
                <a:spcPct val="150000"/>
              </a:lnSpc>
            </a:pPr>
            <a:r>
              <a:rPr lang="zh-CN" altLang="zh-CN" sz="2400" b="1">
                <a:latin typeface="Times New Roman" panose="02020603050405020304" pitchFamily="18" charset="0"/>
                <a:ea typeface="黑体" panose="02010609060101010101" pitchFamily="49" charset="-122"/>
                <a:cs typeface="宋体" panose="02010600030101010101" pitchFamily="2" charset="-122"/>
              </a:rPr>
              <a:t>有人说，广泛使用服务机器人，会引发失业潮，不利于就业稳定。结合材料一和材料二，运用经济知识对该观点加以评析。</a:t>
            </a:r>
            <a:endParaRPr lang="zh-CN" altLang="zh-CN" sz="2400">
              <a:latin typeface="Times New Roman" panose="02020603050405020304" pitchFamily="18" charset="0"/>
              <a:ea typeface="黑体" panose="02010609060101010101" pitchFamily="49" charset="-122"/>
              <a:cs typeface="宋体" panose="02010600030101010101" pitchFamily="2" charset="-122"/>
            </a:endParaRPr>
          </a:p>
        </p:txBody>
      </p:sp>
      <p:sp>
        <p:nvSpPr>
          <p:cNvPr id="3" name="文本框 2"/>
          <p:cNvSpPr txBox="1"/>
          <p:nvPr/>
        </p:nvSpPr>
        <p:spPr>
          <a:xfrm>
            <a:off x="584200" y="5338380"/>
            <a:ext cx="8506706" cy="360933"/>
          </a:xfrm>
          <a:prstGeom prst="rect">
            <a:avLst/>
          </a:prstGeom>
          <a:noFill/>
        </p:spPr>
        <p:txBody>
          <a:bodyPr wrap="square">
            <a:spAutoFit/>
          </a:bodyPr>
          <a:lstStyle/>
          <a:p>
            <a:pPr marL="269240" indent="31750" algn="just">
              <a:lnSpc>
                <a:spcPts val="2200"/>
              </a:lnSpc>
            </a:pPr>
            <a:r>
              <a:rPr lang="zh-CN" altLang="zh-CN" sz="1800" kern="100" dirty="0">
                <a:solidFill>
                  <a:srgbClr val="FF0000"/>
                </a:solidFill>
                <a:effectLst/>
                <a:latin typeface="等线" panose="02010600030101010101" charset="-122"/>
                <a:ea typeface="宋体" panose="02010600030101010101" pitchFamily="2" charset="-122"/>
                <a:cs typeface="Times New Roman" panose="02020603050405020304" pitchFamily="18" charset="0"/>
              </a:rPr>
              <a:t>逻辑思路：</a:t>
            </a:r>
            <a:r>
              <a:rPr lang="zh-CN" altLang="en-US" sz="1800" kern="100" dirty="0">
                <a:solidFill>
                  <a:srgbClr val="FF0000"/>
                </a:solidFill>
                <a:effectLst/>
                <a:latin typeface="等线" panose="02010600030101010101" charset="-122"/>
                <a:ea typeface="宋体" panose="02010600030101010101" pitchFamily="2" charset="-122"/>
                <a:cs typeface="Times New Roman" panose="02020603050405020304" pitchFamily="18" charset="0"/>
              </a:rPr>
              <a:t>表态</a:t>
            </a:r>
            <a:r>
              <a:rPr lang="en-US" altLang="zh-CN" sz="1800" kern="100" dirty="0">
                <a:solidFill>
                  <a:srgbClr val="FF0000"/>
                </a:solidFill>
                <a:effectLst/>
                <a:latin typeface="等线" panose="02010600030101010101" charset="-122"/>
                <a:ea typeface="宋体" panose="02010600030101010101" pitchFamily="2" charset="-122"/>
                <a:cs typeface="Times New Roman" panose="02020603050405020304" pitchFamily="18" charset="0"/>
              </a:rPr>
              <a:t>+</a:t>
            </a:r>
            <a:r>
              <a:rPr lang="zh-CN" altLang="en-US" kern="100" dirty="0">
                <a:solidFill>
                  <a:srgbClr val="FF0000"/>
                </a:solidFill>
                <a:latin typeface="等线" panose="02010600030101010101" charset="-122"/>
                <a:ea typeface="宋体" panose="02010600030101010101" pitchFamily="2" charset="-122"/>
                <a:cs typeface="Times New Roman" panose="02020603050405020304" pitchFamily="18" charset="0"/>
              </a:rPr>
              <a:t>观点层次逐一分析</a:t>
            </a:r>
            <a:r>
              <a:rPr lang="en-US" altLang="zh-CN" sz="1800" kern="100" dirty="0">
                <a:solidFill>
                  <a:srgbClr val="FF0000"/>
                </a:solidFill>
                <a:effectLst/>
                <a:latin typeface="等线" panose="02010600030101010101" charset="-122"/>
                <a:ea typeface="宋体" panose="02010600030101010101" pitchFamily="2" charset="-122"/>
                <a:cs typeface="Times New Roman" panose="02020603050405020304" pitchFamily="18" charset="0"/>
              </a:rPr>
              <a:t>+</a:t>
            </a:r>
            <a:r>
              <a:rPr lang="zh-CN" altLang="zh-CN" sz="1800" kern="100" dirty="0">
                <a:solidFill>
                  <a:srgbClr val="FF0000"/>
                </a:solidFill>
                <a:effectLst/>
                <a:latin typeface="等线" panose="02010600030101010101" charset="-122"/>
                <a:ea typeface="宋体" panose="02010600030101010101" pitchFamily="2" charset="-122"/>
                <a:cs typeface="Times New Roman" panose="02020603050405020304" pitchFamily="18" charset="0"/>
              </a:rPr>
              <a:t>措施</a:t>
            </a:r>
            <a:r>
              <a:rPr lang="zh-CN" altLang="en-US" sz="1800" kern="100" dirty="0">
                <a:solidFill>
                  <a:srgbClr val="FF0000"/>
                </a:solidFill>
                <a:effectLst/>
                <a:latin typeface="等线" panose="02010600030101010101" charset="-122"/>
                <a:ea typeface="宋体" panose="02010600030101010101" pitchFamily="2" charset="-122"/>
                <a:cs typeface="Times New Roman" panose="02020603050405020304" pitchFamily="18" charset="0"/>
              </a:rPr>
              <a:t>（是否需要，由材料决定）</a:t>
            </a:r>
            <a:r>
              <a:rPr lang="zh-CN" altLang="zh-CN" sz="1800" kern="100" dirty="0">
                <a:solidFill>
                  <a:srgbClr val="FF0000"/>
                </a:solidFill>
                <a:effectLst/>
                <a:latin typeface="等线" panose="02010600030101010101" charset="-122"/>
                <a:ea typeface="宋体" panose="02010600030101010101" pitchFamily="2" charset="-122"/>
                <a:cs typeface="Times New Roman" panose="02020603050405020304" pitchFamily="18" charset="0"/>
              </a:rPr>
              <a:t>。</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813704" y="1165235"/>
            <a:ext cx="10895296" cy="5333336"/>
          </a:xfrm>
          <a:prstGeom prst="rect">
            <a:avLst/>
          </a:prstGeom>
        </p:spPr>
      </p:pic>
      <p:sp>
        <p:nvSpPr>
          <p:cNvPr id="5" name="文本框 4"/>
          <p:cNvSpPr txBox="1"/>
          <p:nvPr/>
        </p:nvSpPr>
        <p:spPr>
          <a:xfrm>
            <a:off x="0" y="54938"/>
            <a:ext cx="2419814" cy="461665"/>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defPPr>
              <a:defRPr lang="zh-CN"/>
            </a:defPPr>
            <a:lvl1pPr>
              <a:defRPr sz="2400" b="1">
                <a:solidFill>
                  <a:srgbClr val="FFFF00"/>
                </a:solidFill>
                <a:latin typeface="黑体" panose="02010609060101010101" pitchFamily="49" charset="-122"/>
                <a:ea typeface="黑体" panose="02010609060101010101" pitchFamily="49" charset="-122"/>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altLang="zh-CN" dirty="0"/>
              <a:t>【</a:t>
            </a:r>
            <a:r>
              <a:rPr lang="zh-CN" altLang="en-US" dirty="0"/>
              <a:t>经典试题回顾</a:t>
            </a:r>
            <a:r>
              <a:rPr lang="en-US" altLang="zh-CN" dirty="0"/>
              <a:t>】</a:t>
            </a:r>
            <a:endParaRPr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4"/>
          <p:cNvSpPr txBox="1"/>
          <p:nvPr/>
        </p:nvSpPr>
        <p:spPr>
          <a:xfrm>
            <a:off x="450850" y="1195705"/>
            <a:ext cx="11091863" cy="332295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just" eaLnBrk="1" hangingPunct="1">
              <a:lnSpc>
                <a:spcPct val="150000"/>
              </a:lnSpc>
              <a:spcBef>
                <a:spcPct val="0"/>
              </a:spcBef>
              <a:buFontTx/>
              <a:buNone/>
            </a:pPr>
            <a:r>
              <a:rPr lang="zh-CN" altLang="zh-CN" dirty="0">
                <a:latin typeface="微软雅黑" panose="020B0503020204020204" charset="-122"/>
                <a:ea typeface="微软雅黑" panose="020B0503020204020204" charset="-122"/>
              </a:rPr>
              <a:t>文化是经济和政治的反映，随着经济和社会的发展，文化也会变化发展。传统村落具有鲜明的地域文化和民族文化特色；随着工业化、城镇化的发展，传统村落的生存和发展面临困难；顺应时代要求和人们对美好生活的向往，进行创造性地保护和利用，传统村落就能焕发出新的生机和活力。</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1110438" y="611568"/>
            <a:ext cx="9594138" cy="5634863"/>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0"/>
            <a:ext cx="2419814" cy="461665"/>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defPPr>
              <a:defRPr lang="zh-CN"/>
            </a:defPPr>
            <a:lvl1pPr>
              <a:defRPr sz="2400" b="1">
                <a:solidFill>
                  <a:srgbClr val="FFFF00"/>
                </a:solidFill>
                <a:latin typeface="黑体" panose="02010609060101010101" pitchFamily="49" charset="-122"/>
                <a:ea typeface="黑体" panose="02010609060101010101" pitchFamily="49" charset="-122"/>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altLang="zh-CN"/>
              <a:t>【</a:t>
            </a:r>
            <a:r>
              <a:rPr lang="zh-CN" altLang="en-US"/>
              <a:t>试题分析</a:t>
            </a:r>
            <a:r>
              <a:rPr lang="en-US" altLang="zh-CN" dirty="0"/>
              <a:t>】</a:t>
            </a:r>
            <a:endParaRPr lang="zh-CN" altLang="en-US" dirty="0"/>
          </a:p>
        </p:txBody>
      </p:sp>
      <p:pic>
        <p:nvPicPr>
          <p:cNvPr id="2" name="图片 1"/>
          <p:cNvPicPr>
            <a:picLocks noChangeAspect="1"/>
          </p:cNvPicPr>
          <p:nvPr/>
        </p:nvPicPr>
        <p:blipFill>
          <a:blip r:embed="rId2"/>
          <a:stretch>
            <a:fillRect/>
          </a:stretch>
        </p:blipFill>
        <p:spPr>
          <a:xfrm>
            <a:off x="302260" y="1281430"/>
            <a:ext cx="5890260" cy="4295140"/>
          </a:xfrm>
          <a:prstGeom prst="rect">
            <a:avLst/>
          </a:prstGeom>
        </p:spPr>
      </p:pic>
      <p:sp>
        <p:nvSpPr>
          <p:cNvPr id="5" name="文本框 4"/>
          <p:cNvSpPr txBox="1"/>
          <p:nvPr/>
        </p:nvSpPr>
        <p:spPr>
          <a:xfrm>
            <a:off x="302400" y="5788857"/>
            <a:ext cx="7070400" cy="370166"/>
          </a:xfrm>
          <a:prstGeom prst="rect">
            <a:avLst/>
          </a:prstGeom>
          <a:noFill/>
        </p:spPr>
        <p:txBody>
          <a:bodyPr wrap="square">
            <a:spAutoFit/>
          </a:bodyPr>
          <a:lstStyle/>
          <a:p>
            <a:pPr>
              <a:lnSpc>
                <a:spcPct val="115000"/>
              </a:lnSpc>
              <a:spcAft>
                <a:spcPts val="800"/>
              </a:spcAft>
            </a:pPr>
            <a:r>
              <a:rPr lang="zh-CN" altLang="en-US" b="1" dirty="0">
                <a:latin typeface="仿宋" panose="02010609060101010101" pitchFamily="49" charset="-122"/>
                <a:ea typeface="仿宋" panose="02010609060101010101" pitchFamily="49" charset="-122"/>
              </a:rPr>
              <a:t>拓展阅读：</a:t>
            </a:r>
            <a:r>
              <a:rPr lang="zh-CN" altLang="zh-CN" b="1" dirty="0">
                <a:latin typeface="仿宋" panose="02010609060101010101" pitchFamily="49" charset="-122"/>
                <a:ea typeface="仿宋" panose="02010609060101010101" pitchFamily="49" charset="-122"/>
              </a:rPr>
              <a:t>让科技创新为新质生产力发展注入强大动能</a:t>
            </a:r>
            <a:r>
              <a:rPr lang="en-US" altLang="zh-CN" b="1" dirty="0">
                <a:latin typeface="仿宋" panose="02010609060101010101" pitchFamily="49" charset="-122"/>
                <a:ea typeface="仿宋" panose="02010609060101010101" pitchFamily="49" charset="-122"/>
              </a:rPr>
              <a:t>  </a:t>
            </a:r>
            <a:r>
              <a:rPr lang="zh-CN" altLang="zh-CN" b="1" dirty="0">
                <a:latin typeface="仿宋" panose="02010609060101010101" pitchFamily="49" charset="-122"/>
                <a:ea typeface="仿宋" panose="02010609060101010101" pitchFamily="49" charset="-122"/>
              </a:rPr>
              <a:t>阴和俊</a:t>
            </a:r>
          </a:p>
        </p:txBody>
      </p:sp>
      <p:sp>
        <p:nvSpPr>
          <p:cNvPr id="4" name="椭圆 3"/>
          <p:cNvSpPr/>
          <p:nvPr/>
        </p:nvSpPr>
        <p:spPr>
          <a:xfrm>
            <a:off x="4919080" y="4953835"/>
            <a:ext cx="685308" cy="314289"/>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2134584" y="4953835"/>
            <a:ext cx="596817" cy="314289"/>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1945805" y="5268125"/>
            <a:ext cx="2921163" cy="212384"/>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文本框 99"/>
          <p:cNvSpPr txBox="1"/>
          <p:nvPr/>
        </p:nvSpPr>
        <p:spPr>
          <a:xfrm>
            <a:off x="6374130" y="797560"/>
            <a:ext cx="5598160" cy="5262245"/>
          </a:xfrm>
          <a:prstGeom prst="rect">
            <a:avLst/>
          </a:prstGeom>
          <a:noFill/>
          <a:ln w="9525">
            <a:noFill/>
          </a:ln>
        </p:spPr>
        <p:txBody>
          <a:bodyPr wrap="square">
            <a:spAutoFit/>
          </a:bodyPr>
          <a:lstStyle/>
          <a:p>
            <a:pPr indent="266700"/>
            <a:r>
              <a:rPr lang="zh-CN" sz="2400" b="0">
                <a:solidFill>
                  <a:srgbClr val="000000"/>
                </a:solidFill>
                <a:highlight>
                  <a:srgbClr val="FFFF00"/>
                </a:highlight>
                <a:ea typeface="微软雅黑" panose="020B0503020204020204" charset="-122"/>
              </a:rPr>
              <a:t>优势：</a:t>
            </a:r>
            <a:r>
              <a:rPr lang="zh-CN" sz="2400" b="0">
                <a:solidFill>
                  <a:srgbClr val="000000"/>
                </a:solidFill>
                <a:ea typeface="微软雅黑" panose="020B0503020204020204" charset="-122"/>
              </a:rPr>
              <a:t>教育、人才优势突出，研发投入持续增长，数字经济成为重要引擎，科技体制改革持续深化。（2分）</a:t>
            </a:r>
          </a:p>
          <a:p>
            <a:pPr indent="266700"/>
            <a:r>
              <a:rPr lang="zh-CN" sz="2400" b="0">
                <a:solidFill>
                  <a:srgbClr val="000000"/>
                </a:solidFill>
                <a:highlight>
                  <a:srgbClr val="FFFF00"/>
                </a:highlight>
                <a:ea typeface="微软雅黑" panose="020B0503020204020204" charset="-122"/>
              </a:rPr>
              <a:t>如何助力：</a:t>
            </a:r>
          </a:p>
          <a:p>
            <a:pPr indent="266700"/>
            <a:r>
              <a:rPr lang="zh-CN" sz="2400" b="0">
                <a:solidFill>
                  <a:srgbClr val="000000"/>
                </a:solidFill>
                <a:highlight>
                  <a:srgbClr val="FFFF00"/>
                </a:highlight>
                <a:latin typeface="Calibri" panose="020F0502020204030204" charset="0"/>
                <a:ea typeface="微软雅黑" panose="020B0503020204020204" charset="-122"/>
              </a:rPr>
              <a:t>①</a:t>
            </a:r>
            <a:r>
              <a:rPr lang="zh-CN" sz="2400" b="0">
                <a:solidFill>
                  <a:srgbClr val="000000"/>
                </a:solidFill>
                <a:ea typeface="微软雅黑" panose="020B0503020204020204" charset="-122"/>
              </a:rPr>
              <a:t>教育、人才优势提高劳动者素质，为新质生产力提供创新型人才（人才支撑）；</a:t>
            </a:r>
          </a:p>
          <a:p>
            <a:pPr indent="266700"/>
            <a:r>
              <a:rPr lang="zh-CN" sz="2400" b="0">
                <a:solidFill>
                  <a:srgbClr val="000000"/>
                </a:solidFill>
                <a:latin typeface="Calibri" panose="020F0502020204030204" charset="0"/>
                <a:ea typeface="微软雅黑" panose="020B0503020204020204" charset="-122"/>
              </a:rPr>
              <a:t>②</a:t>
            </a:r>
            <a:r>
              <a:rPr lang="zh-CN" sz="2400" b="0">
                <a:solidFill>
                  <a:srgbClr val="000000"/>
                </a:solidFill>
                <a:ea typeface="微软雅黑" panose="020B0503020204020204" charset="-122"/>
              </a:rPr>
              <a:t>研发投入的增长提高原始创新能力，有助于形成颠覆性技术和重大原创成果；</a:t>
            </a:r>
            <a:r>
              <a:rPr lang="en-US" altLang="zh-CN" sz="2400" b="0">
                <a:solidFill>
                  <a:srgbClr val="000000"/>
                </a:solidFill>
                <a:ea typeface="微软雅黑" panose="020B0503020204020204" charset="-122"/>
              </a:rPr>
              <a:t>    </a:t>
            </a:r>
            <a:r>
              <a:rPr lang="zh-CN" sz="2400" b="0">
                <a:solidFill>
                  <a:srgbClr val="000000"/>
                </a:solidFill>
                <a:latin typeface="Calibri" panose="020F0502020204030204" charset="0"/>
                <a:ea typeface="微软雅黑" panose="020B0503020204020204" charset="-122"/>
              </a:rPr>
              <a:t>③</a:t>
            </a:r>
            <a:r>
              <a:rPr lang="zh-CN" sz="2400" b="0">
                <a:solidFill>
                  <a:srgbClr val="000000"/>
                </a:solidFill>
                <a:ea typeface="微软雅黑" panose="020B0503020204020204" charset="-122"/>
              </a:rPr>
              <a:t>数字经济赋能产业发展，与实体经济深度融合，推动新型工业化；</a:t>
            </a:r>
          </a:p>
          <a:p>
            <a:pPr indent="266700"/>
            <a:r>
              <a:rPr lang="zh-CN" sz="2400" b="0">
                <a:solidFill>
                  <a:srgbClr val="000000"/>
                </a:solidFill>
                <a:latin typeface="微软雅黑" panose="020B0503020204020204" charset="-122"/>
                <a:ea typeface="微软雅黑" panose="020B0503020204020204" charset="-122"/>
              </a:rPr>
              <a:t>④</a:t>
            </a:r>
            <a:r>
              <a:rPr lang="zh-CN" sz="2400" b="0">
                <a:solidFill>
                  <a:srgbClr val="000000"/>
                </a:solidFill>
                <a:ea typeface="微软雅黑" panose="020B0503020204020204" charset="-122"/>
              </a:rPr>
              <a:t>科技体制改革推动形成与新质生产力相适应的生产关系，以体制机制创新带动科技创新。（6分）</a:t>
            </a:r>
            <a:endParaRPr lang="zh-CN" altLang="en-US" sz="2400" b="0">
              <a:solidFill>
                <a:srgbClr val="000000"/>
              </a:solidFill>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C:\Users\user\Documents\WeChat Files\woshishunu666\FileStorage\Temp\b0d2a0e95bfcec956989696251c3839.jpg"/>
          <p:cNvPicPr>
            <a:picLocks noChangeAspect="1" noChangeArrowheads="1"/>
          </p:cNvPicPr>
          <p:nvPr/>
        </p:nvPicPr>
        <p:blipFill>
          <a:blip r:embed="rId2" cstate="print">
            <a:extLst>
              <a:ext uri="{28A0092B-C50C-407E-A947-70E740481C1C}">
                <a14:useLocalDpi xmlns:a14="http://schemas.microsoft.com/office/drawing/2010/main" val="0"/>
              </a:ext>
            </a:extLst>
          </a:blip>
          <a:srcRect b="14241"/>
          <a:stretch>
            <a:fillRect/>
          </a:stretch>
        </p:blipFill>
        <p:spPr>
          <a:xfrm>
            <a:off x="328882" y="0"/>
            <a:ext cx="10655641" cy="6853366"/>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0"/>
            <a:ext cx="2419814" cy="461665"/>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defPPr>
              <a:defRPr lang="zh-CN"/>
            </a:defPPr>
            <a:lvl1pPr>
              <a:defRPr sz="2400" b="1">
                <a:solidFill>
                  <a:srgbClr val="FFFF00"/>
                </a:solidFill>
                <a:latin typeface="黑体" panose="02010609060101010101" pitchFamily="49" charset="-122"/>
                <a:ea typeface="黑体" panose="02010609060101010101" pitchFamily="49" charset="-122"/>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altLang="zh-CN" dirty="0"/>
              <a:t>【</a:t>
            </a:r>
            <a:r>
              <a:rPr lang="zh-CN" altLang="en-US" dirty="0"/>
              <a:t>经典试题回顾</a:t>
            </a:r>
            <a:r>
              <a:rPr lang="en-US" altLang="zh-CN" dirty="0"/>
              <a:t>】</a:t>
            </a:r>
            <a:endParaRPr lang="zh-CN" altLang="en-US" dirty="0"/>
          </a:p>
        </p:txBody>
      </p:sp>
      <p:sp>
        <p:nvSpPr>
          <p:cNvPr id="4" name="文本框 3"/>
          <p:cNvSpPr txBox="1"/>
          <p:nvPr/>
        </p:nvSpPr>
        <p:spPr>
          <a:xfrm>
            <a:off x="411666" y="1276373"/>
            <a:ext cx="11368668" cy="3353803"/>
          </a:xfrm>
          <a:prstGeom prst="rect">
            <a:avLst/>
          </a:prstGeom>
          <a:noFill/>
        </p:spPr>
        <p:txBody>
          <a:bodyPr wrap="square">
            <a:spAutoFit/>
          </a:bodyPr>
          <a:lstStyle/>
          <a:p>
            <a:pPr algn="just">
              <a:lnSpc>
                <a:spcPct val="150000"/>
              </a:lnSpc>
            </a:pPr>
            <a:r>
              <a:rPr lang="zh-CN" altLang="zh-CN" sz="1200" b="1" kern="100" dirty="0">
                <a:effectLst/>
                <a:latin typeface="等线" panose="02010600030101010101" charset="-122"/>
                <a:ea typeface="黑体" panose="02010609060101010101" pitchFamily="49" charset="-122"/>
                <a:cs typeface="Times New Roman" panose="02020603050405020304" pitchFamily="18" charset="0"/>
              </a:rPr>
              <a:t>（</a:t>
            </a:r>
            <a:r>
              <a:rPr lang="en-US" altLang="zh-CN" sz="1200" b="1" kern="100" dirty="0">
                <a:effectLst/>
                <a:latin typeface="等线" panose="02010600030101010101" charset="-122"/>
                <a:ea typeface="黑体" panose="02010609060101010101" pitchFamily="49" charset="-122"/>
                <a:cs typeface="Times New Roman" panose="02020603050405020304" pitchFamily="18" charset="0"/>
              </a:rPr>
              <a:t>23</a:t>
            </a:r>
            <a:r>
              <a:rPr lang="zh-CN" altLang="zh-CN" sz="1200" b="1" kern="100" dirty="0">
                <a:effectLst/>
                <a:latin typeface="等线" panose="02010600030101010101" charset="-122"/>
                <a:ea typeface="黑体" panose="02010609060101010101" pitchFamily="49" charset="-122"/>
                <a:cs typeface="Times New Roman" panose="02020603050405020304" pitchFamily="18" charset="0"/>
              </a:rPr>
              <a:t>年北京卷）</a:t>
            </a:r>
            <a:r>
              <a:rPr lang="zh-CN" altLang="zh-CN" sz="2400" b="1" kern="100" dirty="0">
                <a:effectLst/>
                <a:latin typeface="等线" panose="02010600030101010101" charset="-122"/>
                <a:ea typeface="黑体" panose="02010609060101010101" pitchFamily="49" charset="-122"/>
                <a:cs typeface="Times New Roman" panose="02020603050405020304" pitchFamily="18" charset="0"/>
              </a:rPr>
              <a:t>【读数看优势】经过改革开放</a:t>
            </a:r>
            <a:r>
              <a:rPr lang="en-US" altLang="zh-CN" sz="2400" b="1" kern="100" dirty="0">
                <a:effectLst/>
                <a:latin typeface="等线" panose="02010600030101010101" charset="-122"/>
                <a:ea typeface="黑体" panose="02010609060101010101" pitchFamily="49" charset="-122"/>
                <a:cs typeface="Times New Roman" panose="02020603050405020304" pitchFamily="18" charset="0"/>
              </a:rPr>
              <a:t>40</a:t>
            </a:r>
            <a:r>
              <a:rPr lang="zh-CN" altLang="zh-CN" sz="2400" b="1" kern="100" dirty="0">
                <a:effectLst/>
                <a:latin typeface="等线" panose="02010600030101010101" charset="-122"/>
                <a:ea typeface="黑体" panose="02010609060101010101" pitchFamily="49" charset="-122"/>
                <a:cs typeface="Times New Roman" panose="02020603050405020304" pitchFamily="18" charset="0"/>
              </a:rPr>
              <a:t>多年的发展，我国已拥有</a:t>
            </a:r>
            <a:r>
              <a:rPr lang="en-US" altLang="zh-CN" sz="2400" b="1" kern="100" dirty="0">
                <a:effectLst/>
                <a:latin typeface="等线" panose="02010600030101010101" charset="-122"/>
                <a:ea typeface="黑体" panose="02010609060101010101" pitchFamily="49" charset="-122"/>
                <a:cs typeface="Times New Roman" panose="02020603050405020304" pitchFamily="18" charset="0"/>
              </a:rPr>
              <a:t>14</a:t>
            </a:r>
            <a:r>
              <a:rPr lang="zh-CN" altLang="zh-CN" sz="2400" b="1" kern="100" dirty="0">
                <a:effectLst/>
                <a:latin typeface="等线" panose="02010600030101010101" charset="-122"/>
                <a:ea typeface="黑体" panose="02010609060101010101" pitchFamily="49" charset="-122"/>
                <a:cs typeface="Times New Roman" panose="02020603050405020304" pitchFamily="18" charset="0"/>
              </a:rPr>
              <a:t>亿多人口，</a:t>
            </a:r>
            <a:r>
              <a:rPr lang="en-US" altLang="zh-CN" sz="2400" b="1" kern="100" dirty="0">
                <a:effectLst/>
                <a:latin typeface="等线" panose="02010600030101010101" charset="-122"/>
                <a:ea typeface="黑体" panose="02010609060101010101" pitchFamily="49" charset="-122"/>
                <a:cs typeface="Times New Roman" panose="02020603050405020304" pitchFamily="18" charset="0"/>
              </a:rPr>
              <a:t>4</a:t>
            </a:r>
            <a:r>
              <a:rPr lang="zh-CN" altLang="zh-CN" sz="2400" b="1" kern="100" dirty="0">
                <a:effectLst/>
                <a:latin typeface="等线" panose="02010600030101010101" charset="-122"/>
                <a:ea typeface="黑体" panose="02010609060101010101" pitchFamily="49" charset="-122"/>
                <a:cs typeface="Times New Roman" panose="02020603050405020304" pitchFamily="18" charset="0"/>
              </a:rPr>
              <a:t>亿多中等收入群体，全国居民年人均可支配收入近</a:t>
            </a:r>
            <a:r>
              <a:rPr lang="en-US" altLang="zh-CN" sz="2400" b="1" kern="100" dirty="0">
                <a:effectLst/>
                <a:latin typeface="等线" panose="02010600030101010101" charset="-122"/>
                <a:ea typeface="黑体" panose="02010609060101010101" pitchFamily="49" charset="-122"/>
                <a:cs typeface="Times New Roman" panose="02020603050405020304" pitchFamily="18" charset="0"/>
              </a:rPr>
              <a:t>3.7</a:t>
            </a:r>
            <a:r>
              <a:rPr lang="zh-CN" altLang="zh-CN" sz="2400" b="1" kern="100" dirty="0">
                <a:effectLst/>
                <a:latin typeface="等线" panose="02010600030101010101" charset="-122"/>
                <a:ea typeface="黑体" panose="02010609060101010101" pitchFamily="49" charset="-122"/>
                <a:cs typeface="Times New Roman" panose="02020603050405020304" pitchFamily="18" charset="0"/>
              </a:rPr>
              <a:t>万元。我国有近</a:t>
            </a:r>
            <a:r>
              <a:rPr lang="en-US" altLang="zh-CN" sz="2400" b="1" kern="100" dirty="0">
                <a:effectLst/>
                <a:latin typeface="等线" panose="02010600030101010101" charset="-122"/>
                <a:ea typeface="黑体" panose="02010609060101010101" pitchFamily="49" charset="-122"/>
                <a:cs typeface="Times New Roman" panose="02020603050405020304" pitchFamily="18" charset="0"/>
              </a:rPr>
              <a:t>9</a:t>
            </a:r>
            <a:r>
              <a:rPr lang="zh-CN" altLang="zh-CN" sz="2400" b="1" kern="100" dirty="0">
                <a:effectLst/>
                <a:latin typeface="等线" panose="02010600030101010101" charset="-122"/>
                <a:ea typeface="黑体" panose="02010609060101010101" pitchFamily="49" charset="-122"/>
                <a:cs typeface="Times New Roman" panose="02020603050405020304" pitchFamily="18" charset="0"/>
              </a:rPr>
              <a:t>亿劳动力，接受高等教育的人口已超过</a:t>
            </a:r>
            <a:r>
              <a:rPr lang="en-US" altLang="zh-CN" sz="2400" b="1" kern="100" dirty="0">
                <a:effectLst/>
                <a:latin typeface="等线" panose="02010600030101010101" charset="-122"/>
                <a:ea typeface="黑体" panose="02010609060101010101" pitchFamily="49" charset="-122"/>
                <a:cs typeface="Times New Roman" panose="02020603050405020304" pitchFamily="18" charset="0"/>
              </a:rPr>
              <a:t>2.4</a:t>
            </a:r>
            <a:r>
              <a:rPr lang="zh-CN" altLang="zh-CN" sz="2400" b="1" kern="100" dirty="0">
                <a:effectLst/>
                <a:latin typeface="等线" panose="02010600030101010101" charset="-122"/>
                <a:ea typeface="黑体" panose="02010609060101010101" pitchFamily="49" charset="-122"/>
                <a:cs typeface="Times New Roman" panose="02020603050405020304" pitchFamily="18" charset="0"/>
              </a:rPr>
              <a:t>亿，每年新增劳动力超过</a:t>
            </a:r>
            <a:r>
              <a:rPr lang="en-US" altLang="zh-CN" sz="2400" b="1" kern="100" dirty="0">
                <a:effectLst/>
                <a:latin typeface="等线" panose="02010600030101010101" charset="-122"/>
                <a:ea typeface="黑体" panose="02010609060101010101" pitchFamily="49" charset="-122"/>
                <a:cs typeface="Times New Roman" panose="02020603050405020304" pitchFamily="18" charset="0"/>
              </a:rPr>
              <a:t>1500</a:t>
            </a:r>
            <a:r>
              <a:rPr lang="zh-CN" altLang="zh-CN" sz="2400" b="1" kern="100" dirty="0">
                <a:effectLst/>
                <a:latin typeface="等线" panose="02010600030101010101" charset="-122"/>
                <a:ea typeface="黑体" panose="02010609060101010101" pitchFamily="49" charset="-122"/>
                <a:cs typeface="Times New Roman" panose="02020603050405020304" pitchFamily="18" charset="0"/>
              </a:rPr>
              <a:t>万，新增劳动力平均受教育年限达到</a:t>
            </a:r>
            <a:r>
              <a:rPr lang="en-US" altLang="zh-CN" sz="2400" b="1" kern="100" dirty="0">
                <a:effectLst/>
                <a:latin typeface="等线" panose="02010600030101010101" charset="-122"/>
                <a:ea typeface="黑体" panose="02010609060101010101" pitchFamily="49" charset="-122"/>
                <a:cs typeface="Times New Roman" panose="02020603050405020304" pitchFamily="18" charset="0"/>
              </a:rPr>
              <a:t>14</a:t>
            </a:r>
            <a:r>
              <a:rPr lang="zh-CN" altLang="zh-CN" sz="2400" b="1" kern="100" dirty="0">
                <a:effectLst/>
                <a:latin typeface="等线" panose="02010600030101010101" charset="-122"/>
                <a:ea typeface="黑体" panose="02010609060101010101" pitchFamily="49" charset="-122"/>
                <a:cs typeface="Times New Roman" panose="02020603050405020304" pitchFamily="18" charset="0"/>
              </a:rPr>
              <a:t>年。</a:t>
            </a:r>
            <a:endParaRPr lang="zh-CN" altLang="zh-CN" sz="2400" kern="100" dirty="0">
              <a:effectLst/>
              <a:latin typeface="等线" panose="02010600030101010101" charset="-122"/>
              <a:ea typeface="等线" panose="02010600030101010101" charset="-122"/>
              <a:cs typeface="Times New Roman" panose="02020603050405020304" pitchFamily="18" charset="0"/>
            </a:endParaRPr>
          </a:p>
          <a:p>
            <a:pPr indent="356870" algn="just">
              <a:lnSpc>
                <a:spcPct val="150000"/>
              </a:lnSpc>
            </a:pPr>
            <a:r>
              <a:rPr lang="zh-CN" altLang="zh-CN" sz="2400" b="1" kern="100" dirty="0">
                <a:effectLst/>
                <a:latin typeface="等线" panose="02010600030101010101" charset="-122"/>
                <a:ea typeface="黑体" panose="02010609060101010101" pitchFamily="49" charset="-122"/>
                <a:cs typeface="Times New Roman" panose="02020603050405020304" pitchFamily="18" charset="0"/>
              </a:rPr>
              <a:t>（</a:t>
            </a:r>
            <a:r>
              <a:rPr lang="en-US" altLang="zh-CN" sz="2400" b="1" kern="100" dirty="0">
                <a:effectLst/>
                <a:latin typeface="等线" panose="02010600030101010101" charset="-122"/>
                <a:ea typeface="黑体" panose="02010609060101010101" pitchFamily="49" charset="-122"/>
                <a:cs typeface="Times New Roman" panose="02020603050405020304" pitchFamily="18" charset="0"/>
              </a:rPr>
              <a:t>1</a:t>
            </a:r>
            <a:r>
              <a:rPr lang="zh-CN" altLang="zh-CN" sz="2400" b="1" kern="100" dirty="0">
                <a:effectLst/>
                <a:latin typeface="等线" panose="02010600030101010101" charset="-122"/>
                <a:ea typeface="黑体" panose="02010609060101010101" pitchFamily="49" charset="-122"/>
                <a:cs typeface="Times New Roman" panose="02020603050405020304" pitchFamily="18" charset="0"/>
              </a:rPr>
              <a:t>）根据材料，运用《经济与社会》知识，概括我国的市场优势，并分析这些优势如何推动国内大循环。（</a:t>
            </a:r>
            <a:r>
              <a:rPr lang="en-US" altLang="zh-CN" sz="2400" b="1" kern="100" dirty="0">
                <a:effectLst/>
                <a:latin typeface="等线" panose="02010600030101010101" charset="-122"/>
                <a:ea typeface="黑体" panose="02010609060101010101" pitchFamily="49" charset="-122"/>
                <a:cs typeface="Times New Roman" panose="02020603050405020304" pitchFamily="18" charset="0"/>
              </a:rPr>
              <a:t>8</a:t>
            </a:r>
            <a:r>
              <a:rPr lang="zh-CN" altLang="zh-CN" sz="2400" b="1" kern="100" dirty="0">
                <a:effectLst/>
                <a:latin typeface="等线" panose="02010600030101010101" charset="-122"/>
                <a:ea typeface="黑体" panose="02010609060101010101" pitchFamily="49" charset="-122"/>
                <a:cs typeface="Times New Roman" panose="02020603050405020304" pitchFamily="18" charset="0"/>
              </a:rPr>
              <a:t>分）</a:t>
            </a:r>
            <a:r>
              <a:rPr lang="en-US" altLang="zh-CN" sz="2400" b="1" kern="100" dirty="0">
                <a:effectLst/>
                <a:latin typeface="等线" panose="02010600030101010101" charset="-122"/>
                <a:ea typeface="黑体" panose="02010609060101010101" pitchFamily="49" charset="-122"/>
                <a:cs typeface="Times New Roman" panose="02020603050405020304" pitchFamily="18" charset="0"/>
              </a:rPr>
              <a:t>0.58</a:t>
            </a:r>
            <a:endParaRPr lang="zh-CN" altLang="zh-CN" sz="2400" kern="100" dirty="0">
              <a:effectLst/>
              <a:latin typeface="等线" panose="02010600030101010101" charset="-122"/>
              <a:ea typeface="等线" panose="02010600030101010101" charset="-122"/>
              <a:cs typeface="Times New Roman" panose="02020603050405020304"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2"/>
          <a:stretch>
            <a:fillRect/>
          </a:stretch>
        </p:blipFill>
        <p:spPr>
          <a:xfrm>
            <a:off x="99918" y="2866162"/>
            <a:ext cx="5564902" cy="3254022"/>
          </a:xfrm>
          <a:prstGeom prst="rect">
            <a:avLst/>
          </a:prstGeom>
          <a:ln>
            <a:solidFill>
              <a:schemeClr val="tx1"/>
            </a:solidFill>
            <a:prstDash val="dashDot"/>
          </a:ln>
        </p:spPr>
      </p:pic>
      <p:pic>
        <p:nvPicPr>
          <p:cNvPr id="13" name="图片 12"/>
          <p:cNvPicPr>
            <a:picLocks noChangeAspect="1"/>
          </p:cNvPicPr>
          <p:nvPr/>
        </p:nvPicPr>
        <p:blipFill>
          <a:blip r:embed="rId3"/>
          <a:stretch>
            <a:fillRect/>
          </a:stretch>
        </p:blipFill>
        <p:spPr>
          <a:xfrm>
            <a:off x="5793108" y="2888763"/>
            <a:ext cx="6087102" cy="3231421"/>
          </a:xfrm>
          <a:prstGeom prst="rect">
            <a:avLst/>
          </a:prstGeom>
          <a:ln>
            <a:solidFill>
              <a:schemeClr val="tx1"/>
            </a:solidFill>
            <a:prstDash val="dashDot"/>
          </a:ln>
        </p:spPr>
      </p:pic>
      <p:sp>
        <p:nvSpPr>
          <p:cNvPr id="15" name="文本框 14"/>
          <p:cNvSpPr txBox="1"/>
          <p:nvPr/>
        </p:nvSpPr>
        <p:spPr>
          <a:xfrm>
            <a:off x="311791" y="122209"/>
            <a:ext cx="11262711" cy="2328523"/>
          </a:xfrm>
          <a:prstGeom prst="rect">
            <a:avLst/>
          </a:prstGeom>
          <a:noFill/>
        </p:spPr>
        <p:txBody>
          <a:bodyPr wrap="square">
            <a:spAutoFit/>
          </a:bodyPr>
          <a:lstStyle/>
          <a:p>
            <a:pPr marL="500380" indent="-300355" algn="just">
              <a:lnSpc>
                <a:spcPct val="150000"/>
              </a:lnSpc>
            </a:pPr>
            <a:r>
              <a:rPr lang="en-US" altLang="zh-CN" sz="2000" dirty="0">
                <a:latin typeface="黑体" panose="02010609060101010101" pitchFamily="49" charset="-122"/>
                <a:ea typeface="黑体" panose="02010609060101010101" pitchFamily="49" charset="-122"/>
              </a:rPr>
              <a:t>   </a:t>
            </a:r>
            <a:r>
              <a:rPr lang="zh-CN" altLang="zh-CN" sz="2000" dirty="0">
                <a:latin typeface="黑体" panose="02010609060101010101" pitchFamily="49" charset="-122"/>
                <a:ea typeface="黑体" panose="02010609060101010101" pitchFamily="49" charset="-122"/>
              </a:rPr>
              <a:t>超大规模市场，人力资源优势突出、人才优势正在形成。</a:t>
            </a:r>
          </a:p>
          <a:p>
            <a:pPr marL="533400" indent="31750" algn="just">
              <a:lnSpc>
                <a:spcPct val="150000"/>
              </a:lnSpc>
            </a:pPr>
            <a:r>
              <a:rPr lang="zh-CN" altLang="zh-CN" sz="2000" dirty="0">
                <a:latin typeface="黑体" panose="02010609060101010101" pitchFamily="49" charset="-122"/>
                <a:ea typeface="黑体" panose="02010609060101010101" pitchFamily="49" charset="-122"/>
              </a:rPr>
              <a:t>需求牵引供给，超大规模市场促进企业规模生产、产业集聚，深化市场分工，延伸产业链，培育新产业。供给创造需求，扩大人力、人才投入，提高劳动生产率，增加企业利润和劳动者收入，扩大需求。人才投入增加，提高创新能力，改进产品质量，加快新产品开发，增强供给结构对需求变化的适应性和灵活性。实现供给和需求的动态平衡，畅通国内大循环。</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0"/>
            <a:ext cx="2419814" cy="461665"/>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defPPr>
              <a:defRPr lang="zh-CN"/>
            </a:defPPr>
            <a:lvl1pPr>
              <a:defRPr sz="2400" b="1">
                <a:solidFill>
                  <a:srgbClr val="FFFF00"/>
                </a:solidFill>
                <a:latin typeface="黑体" panose="02010609060101010101" pitchFamily="49" charset="-122"/>
                <a:ea typeface="黑体" panose="02010609060101010101" pitchFamily="49" charset="-122"/>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altLang="zh-CN"/>
              <a:t>【</a:t>
            </a:r>
            <a:r>
              <a:rPr lang="zh-CN" altLang="en-US"/>
              <a:t>试题分析</a:t>
            </a:r>
            <a:r>
              <a:rPr lang="en-US" altLang="zh-CN" dirty="0"/>
              <a:t>】</a:t>
            </a:r>
            <a:endParaRPr lang="zh-CN" altLang="en-US" dirty="0"/>
          </a:p>
        </p:txBody>
      </p:sp>
      <p:pic>
        <p:nvPicPr>
          <p:cNvPr id="2" name="图片 1"/>
          <p:cNvPicPr>
            <a:picLocks noChangeAspect="1"/>
          </p:cNvPicPr>
          <p:nvPr/>
        </p:nvPicPr>
        <p:blipFill>
          <a:blip r:embed="rId2"/>
          <a:stretch>
            <a:fillRect/>
          </a:stretch>
        </p:blipFill>
        <p:spPr>
          <a:xfrm>
            <a:off x="172720" y="1184910"/>
            <a:ext cx="6340475" cy="4156075"/>
          </a:xfrm>
          <a:prstGeom prst="rect">
            <a:avLst/>
          </a:prstGeom>
        </p:spPr>
      </p:pic>
      <p:sp>
        <p:nvSpPr>
          <p:cNvPr id="4" name="椭圆 3"/>
          <p:cNvSpPr/>
          <p:nvPr/>
        </p:nvSpPr>
        <p:spPr>
          <a:xfrm>
            <a:off x="1935400" y="4948120"/>
            <a:ext cx="579120" cy="28479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4691790" y="1746512"/>
            <a:ext cx="1233948" cy="23759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4954476" y="3262670"/>
            <a:ext cx="708905" cy="223849"/>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0344" y="4023436"/>
            <a:ext cx="490630" cy="26709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966513" y="4355154"/>
            <a:ext cx="791496" cy="26709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4953965" y="4972067"/>
            <a:ext cx="437534" cy="237599"/>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2834927" y="4918975"/>
            <a:ext cx="1735393" cy="34378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281694" y="5883209"/>
            <a:ext cx="6144178" cy="360933"/>
          </a:xfrm>
          <a:prstGeom prst="rect">
            <a:avLst/>
          </a:prstGeom>
          <a:noFill/>
        </p:spPr>
        <p:txBody>
          <a:bodyPr wrap="square">
            <a:spAutoFit/>
          </a:bodyPr>
          <a:lstStyle/>
          <a:p>
            <a:pPr marL="539750" indent="-1270" algn="just">
              <a:lnSpc>
                <a:spcPts val="2200"/>
              </a:lnSpc>
            </a:pPr>
            <a:r>
              <a:rPr lang="zh-CN" altLang="zh-CN" kern="100" dirty="0">
                <a:solidFill>
                  <a:srgbClr val="FF0000"/>
                </a:solidFill>
                <a:latin typeface="等线" panose="02010600030101010101" charset="-122"/>
                <a:ea typeface="宋体" panose="02010600030101010101" pitchFamily="2" charset="-122"/>
                <a:cs typeface="Times New Roman" panose="02020603050405020304" pitchFamily="18" charset="0"/>
              </a:rPr>
              <a:t>逻辑思路：主体</a:t>
            </a:r>
            <a:r>
              <a:rPr lang="en-US" altLang="zh-CN" kern="100" dirty="0">
                <a:solidFill>
                  <a:srgbClr val="FF0000"/>
                </a:solidFill>
                <a:latin typeface="等线" panose="02010600030101010101" charset="-122"/>
                <a:ea typeface="宋体" panose="02010600030101010101" pitchFamily="2" charset="-122"/>
                <a:cs typeface="Times New Roman" panose="02020603050405020304" pitchFamily="18" charset="0"/>
              </a:rPr>
              <a:t>+</a:t>
            </a:r>
            <a:r>
              <a:rPr lang="zh-CN" altLang="zh-CN" kern="100" dirty="0">
                <a:solidFill>
                  <a:srgbClr val="FF0000"/>
                </a:solidFill>
                <a:latin typeface="等线" panose="02010600030101010101" charset="-122"/>
                <a:ea typeface="宋体" panose="02010600030101010101" pitchFamily="2" charset="-122"/>
                <a:cs typeface="Times New Roman" panose="02020603050405020304" pitchFamily="18" charset="0"/>
              </a:rPr>
              <a:t>做法（措施）</a:t>
            </a:r>
            <a:r>
              <a:rPr lang="en-US" altLang="zh-CN" kern="100" dirty="0">
                <a:solidFill>
                  <a:srgbClr val="FF0000"/>
                </a:solidFill>
                <a:latin typeface="等线" panose="02010600030101010101" charset="-122"/>
                <a:ea typeface="宋体" panose="02010600030101010101" pitchFamily="2" charset="-122"/>
                <a:cs typeface="Times New Roman" panose="02020603050405020304" pitchFamily="18" charset="0"/>
              </a:rPr>
              <a:t>+</a:t>
            </a:r>
            <a:r>
              <a:rPr lang="zh-CN" altLang="zh-CN" kern="100" dirty="0">
                <a:solidFill>
                  <a:srgbClr val="FF0000"/>
                </a:solidFill>
                <a:latin typeface="等线" panose="02010600030101010101" charset="-122"/>
                <a:ea typeface="宋体" panose="02010600030101010101" pitchFamily="2" charset="-122"/>
                <a:cs typeface="Times New Roman" panose="02020603050405020304" pitchFamily="18" charset="0"/>
              </a:rPr>
              <a:t>结果</a:t>
            </a:r>
            <a:endParaRPr lang="zh-CN" altLang="zh-CN" kern="100" dirty="0">
              <a:latin typeface="等线" panose="02010600030101010101" charset="-122"/>
              <a:ea typeface="等线" panose="02010600030101010101" charset="-122"/>
              <a:cs typeface="Times New Roman" panose="02020603050405020304" pitchFamily="18" charset="0"/>
            </a:endParaRPr>
          </a:p>
        </p:txBody>
      </p:sp>
      <p:sp>
        <p:nvSpPr>
          <p:cNvPr id="100" name="文本框 99"/>
          <p:cNvSpPr txBox="1"/>
          <p:nvPr/>
        </p:nvSpPr>
        <p:spPr>
          <a:xfrm>
            <a:off x="6881495" y="1013460"/>
            <a:ext cx="5099050" cy="4399915"/>
          </a:xfrm>
          <a:prstGeom prst="rect">
            <a:avLst/>
          </a:prstGeom>
          <a:noFill/>
          <a:ln w="9525">
            <a:noFill/>
          </a:ln>
        </p:spPr>
        <p:txBody>
          <a:bodyPr wrap="square">
            <a:spAutoFit/>
          </a:bodyPr>
          <a:lstStyle/>
          <a:p>
            <a:pPr indent="0"/>
            <a:r>
              <a:rPr lang="zh-CN" sz="2800" b="0">
                <a:solidFill>
                  <a:srgbClr val="FF0000"/>
                </a:solidFill>
                <a:ea typeface="微软雅黑" panose="020B0503020204020204" charset="-122"/>
              </a:rPr>
              <a:t>政协作为社会主义协商民主的重要渠道和专门协商机构</a:t>
            </a:r>
            <a:r>
              <a:rPr lang="zh-CN" sz="2800" b="0">
                <a:ea typeface="微软雅黑" panose="020B0503020204020204" charset="-122"/>
              </a:rPr>
              <a:t>，</a:t>
            </a:r>
          </a:p>
          <a:p>
            <a:pPr indent="0"/>
            <a:r>
              <a:rPr lang="zh-CN" sz="2800" b="0">
                <a:ea typeface="微软雅黑" panose="020B0503020204020204" charset="-122"/>
              </a:rPr>
              <a:t>聚焦党和国家中心任务，</a:t>
            </a:r>
            <a:r>
              <a:rPr lang="zh-CN" sz="2800" b="0">
                <a:solidFill>
                  <a:srgbClr val="0070C0"/>
                </a:solidFill>
                <a:ea typeface="微软雅黑" panose="020B0503020204020204" charset="-122"/>
              </a:rPr>
              <a:t>参政议政</a:t>
            </a:r>
            <a:r>
              <a:rPr lang="zh-CN" sz="2800" b="0">
                <a:ea typeface="微软雅黑" panose="020B0503020204020204" charset="-122"/>
              </a:rPr>
              <a:t>，广泛反映各方建议，为发展新质生产力</a:t>
            </a:r>
            <a:r>
              <a:rPr lang="zh-CN" sz="2800" b="0">
                <a:solidFill>
                  <a:srgbClr val="0070C0"/>
                </a:solidFill>
                <a:ea typeface="微软雅黑" panose="020B0503020204020204" charset="-122"/>
              </a:rPr>
              <a:t>凝心聚力</a:t>
            </a:r>
            <a:r>
              <a:rPr lang="zh-CN" sz="2800" b="0">
                <a:ea typeface="微软雅黑" panose="020B0503020204020204" charset="-122"/>
              </a:rPr>
              <a:t>；</a:t>
            </a:r>
          </a:p>
          <a:p>
            <a:pPr indent="0"/>
            <a:r>
              <a:rPr lang="zh-CN" sz="2800" b="0">
                <a:ea typeface="微软雅黑" panose="020B0503020204020204" charset="-122"/>
              </a:rPr>
              <a:t>政协委员通过调研，形成高质量的提案，为促进新质生产力发展</a:t>
            </a:r>
            <a:r>
              <a:rPr lang="zh-CN" sz="2800" b="0">
                <a:solidFill>
                  <a:srgbClr val="0070C0"/>
                </a:solidFill>
                <a:ea typeface="微软雅黑" panose="020B0503020204020204" charset="-122"/>
              </a:rPr>
              <a:t>建言献策</a:t>
            </a:r>
            <a:r>
              <a:rPr lang="zh-CN" sz="2800" b="0">
                <a:ea typeface="微软雅黑" panose="020B0503020204020204" charset="-122"/>
              </a:rPr>
              <a:t>；</a:t>
            </a:r>
          </a:p>
          <a:p>
            <a:pPr indent="0"/>
            <a:r>
              <a:rPr lang="zh-CN" sz="2800" b="0">
                <a:ea typeface="微软雅黑" panose="020B0503020204020204" charset="-122"/>
              </a:rPr>
              <a:t>政协开展督办协商活动，进行</a:t>
            </a:r>
            <a:r>
              <a:rPr lang="zh-CN" sz="2800" b="0">
                <a:solidFill>
                  <a:srgbClr val="0070C0"/>
                </a:solidFill>
                <a:ea typeface="微软雅黑" panose="020B0503020204020204" charset="-122"/>
              </a:rPr>
              <a:t>民主监督</a:t>
            </a:r>
            <a:r>
              <a:rPr lang="zh-CN" sz="2800" b="0">
                <a:ea typeface="微软雅黑" panose="020B0503020204020204" charset="-122"/>
              </a:rPr>
              <a:t>，推动提案落实。</a:t>
            </a:r>
            <a:endParaRPr lang="zh-CN" altLang="en-US" sz="2800" b="0">
              <a:ea typeface="微软雅黑" panose="020B0503020204020204"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C:\Users\js\AppData\Local\Temp\WeChat Files\b50d04a3c786aea8f4d501da0600e6e.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a:xfrm>
            <a:off x="1283970" y="-21590"/>
            <a:ext cx="8824595" cy="661797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2" descr="C:\Users\js\AppData\Local\Temp\WeChat Files\11435ec1fdfac6db3243e9963620238.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a:xfrm>
            <a:off x="1712595" y="142240"/>
            <a:ext cx="8453755" cy="633984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0"/>
            <a:ext cx="2419814" cy="461665"/>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defPPr>
              <a:defRPr lang="zh-CN"/>
            </a:defPPr>
            <a:lvl1pPr>
              <a:defRPr sz="2400" b="1">
                <a:solidFill>
                  <a:srgbClr val="FFFF00"/>
                </a:solidFill>
                <a:latin typeface="黑体" panose="02010609060101010101" pitchFamily="49" charset="-122"/>
                <a:ea typeface="黑体" panose="02010609060101010101" pitchFamily="49" charset="-122"/>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altLang="zh-CN" dirty="0"/>
              <a:t>【</a:t>
            </a:r>
            <a:r>
              <a:rPr lang="zh-CN" altLang="en-US" dirty="0"/>
              <a:t>经典试题回顾</a:t>
            </a:r>
            <a:r>
              <a:rPr lang="en-US" altLang="zh-CN" dirty="0"/>
              <a:t>】</a:t>
            </a:r>
            <a:endParaRPr lang="zh-CN" altLang="en-US" dirty="0"/>
          </a:p>
        </p:txBody>
      </p:sp>
      <p:pic>
        <p:nvPicPr>
          <p:cNvPr id="4" name="图片 3"/>
          <p:cNvPicPr>
            <a:picLocks noChangeAspect="1"/>
          </p:cNvPicPr>
          <p:nvPr/>
        </p:nvPicPr>
        <p:blipFill>
          <a:blip r:embed="rId2"/>
          <a:stretch>
            <a:fillRect/>
          </a:stretch>
        </p:blipFill>
        <p:spPr>
          <a:xfrm>
            <a:off x="356400" y="761543"/>
            <a:ext cx="11271600" cy="5441743"/>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94964" y="603151"/>
            <a:ext cx="10797157" cy="1405193"/>
          </a:xfrm>
          <a:prstGeom prst="rect">
            <a:avLst/>
          </a:prstGeom>
          <a:noFill/>
        </p:spPr>
        <p:txBody>
          <a:bodyPr wrap="square">
            <a:spAutoFit/>
          </a:bodyPr>
          <a:lstStyle/>
          <a:p>
            <a:pPr>
              <a:lnSpc>
                <a:spcPct val="150000"/>
              </a:lnSpc>
            </a:pPr>
            <a:r>
              <a:rPr lang="zh-CN" altLang="zh-CN" sz="2000" dirty="0">
                <a:latin typeface="黑体" panose="02010609060101010101" pitchFamily="49" charset="-122"/>
                <a:ea typeface="黑体" panose="02010609060101010101" pitchFamily="49" charset="-122"/>
              </a:rPr>
              <a:t>市人大作为地方国家权力机关，调研北京中轴线申遗工作的推进情况，开展执法检查，依法行使对行政机关的监督权。人大代表充分表达民意，依法履行职责，帮助人民政府推进工作。这一系列活动落实了全过程人民民主，推动了申遗工作。</a:t>
            </a:r>
            <a:endParaRPr lang="zh-CN" altLang="en-US" sz="2000" dirty="0">
              <a:latin typeface="黑体" panose="02010609060101010101" pitchFamily="49" charset="-122"/>
              <a:ea typeface="黑体" panose="02010609060101010101" pitchFamily="49" charset="-122"/>
            </a:endParaRPr>
          </a:p>
        </p:txBody>
      </p:sp>
      <p:sp>
        <p:nvSpPr>
          <p:cNvPr id="5" name="文本框 4"/>
          <p:cNvSpPr txBox="1"/>
          <p:nvPr/>
        </p:nvSpPr>
        <p:spPr>
          <a:xfrm>
            <a:off x="594964" y="2464523"/>
            <a:ext cx="10912862" cy="2328523"/>
          </a:xfrm>
          <a:prstGeom prst="rect">
            <a:avLst/>
          </a:prstGeom>
          <a:noFill/>
        </p:spPr>
        <p:txBody>
          <a:bodyPr wrap="square">
            <a:spAutoFit/>
          </a:bodyPr>
          <a:lstStyle/>
          <a:p>
            <a:pPr algn="l">
              <a:lnSpc>
                <a:spcPct val="150000"/>
              </a:lnSpc>
            </a:pPr>
            <a:r>
              <a:rPr lang="zh-CN" altLang="zh-CN" sz="2000" dirty="0">
                <a:latin typeface="黑体" panose="02010609060101010101" pitchFamily="49" charset="-122"/>
                <a:ea typeface="黑体" panose="02010609060101010101" pitchFamily="49" charset="-122"/>
              </a:rPr>
              <a:t>人大是国家权力机关（</a:t>
            </a:r>
            <a:r>
              <a:rPr lang="en-US" altLang="zh-CN" sz="2000" dirty="0">
                <a:latin typeface="黑体" panose="02010609060101010101" pitchFamily="49" charset="-122"/>
                <a:ea typeface="黑体" panose="02010609060101010101" pitchFamily="49" charset="-122"/>
              </a:rPr>
              <a:t>1 </a:t>
            </a:r>
            <a:r>
              <a:rPr lang="zh-CN" altLang="zh-CN" sz="2000" dirty="0">
                <a:latin typeface="黑体" panose="02010609060101010101" pitchFamily="49" charset="-122"/>
                <a:ea typeface="黑体" panose="02010609060101010101" pitchFamily="49" charset="-122"/>
              </a:rPr>
              <a:t>分） </a:t>
            </a:r>
          </a:p>
          <a:p>
            <a:pPr algn="l">
              <a:lnSpc>
                <a:spcPct val="150000"/>
              </a:lnSpc>
            </a:pPr>
            <a:r>
              <a:rPr lang="zh-CN" altLang="zh-CN" sz="2000" dirty="0">
                <a:latin typeface="黑体" panose="02010609060101010101" pitchFamily="49" charset="-122"/>
                <a:ea typeface="黑体" panose="02010609060101010101" pitchFamily="49" charset="-122"/>
              </a:rPr>
              <a:t>通过调研、执法检查，行使监督权（只要出来监督即可拿到</a:t>
            </a:r>
            <a:r>
              <a:rPr lang="en-US" altLang="zh-CN" sz="2000" dirty="0">
                <a:latin typeface="黑体" panose="02010609060101010101" pitchFamily="49" charset="-122"/>
                <a:ea typeface="黑体" panose="02010609060101010101" pitchFamily="49" charset="-122"/>
              </a:rPr>
              <a:t> 2 </a:t>
            </a:r>
            <a:r>
              <a:rPr lang="zh-CN" altLang="zh-CN" sz="2000" dirty="0">
                <a:latin typeface="黑体" panose="02010609060101010101" pitchFamily="49" charset="-122"/>
                <a:ea typeface="黑体" panose="02010609060101010101" pitchFamily="49" charset="-122"/>
              </a:rPr>
              <a:t>分，没出来若有调研可得</a:t>
            </a:r>
            <a:r>
              <a:rPr lang="en-US" altLang="zh-CN" sz="2000" dirty="0">
                <a:latin typeface="黑体" panose="02010609060101010101" pitchFamily="49" charset="-122"/>
                <a:ea typeface="黑体" panose="02010609060101010101" pitchFamily="49" charset="-122"/>
              </a:rPr>
              <a:t> 1 </a:t>
            </a:r>
            <a:r>
              <a:rPr lang="zh-CN" altLang="zh-CN" sz="2000" dirty="0">
                <a:latin typeface="黑体" panose="02010609060101010101" pitchFamily="49" charset="-122"/>
                <a:ea typeface="黑体" panose="02010609060101010101" pitchFamily="49" charset="-122"/>
              </a:rPr>
              <a:t>分）（</a:t>
            </a:r>
            <a:r>
              <a:rPr lang="en-US" altLang="zh-CN" sz="2000" dirty="0">
                <a:latin typeface="黑体" panose="02010609060101010101" pitchFamily="49" charset="-122"/>
                <a:ea typeface="黑体" panose="02010609060101010101" pitchFamily="49" charset="-122"/>
              </a:rPr>
              <a:t>2 </a:t>
            </a:r>
            <a:r>
              <a:rPr lang="zh-CN" altLang="zh-CN" sz="2000" dirty="0">
                <a:latin typeface="黑体" panose="02010609060101010101" pitchFamily="49" charset="-122"/>
                <a:ea typeface="黑体" panose="02010609060101010101" pitchFamily="49" charset="-122"/>
              </a:rPr>
              <a:t>分） </a:t>
            </a:r>
          </a:p>
          <a:p>
            <a:pPr algn="l">
              <a:lnSpc>
                <a:spcPct val="150000"/>
              </a:lnSpc>
            </a:pPr>
            <a:r>
              <a:rPr lang="zh-CN" altLang="zh-CN" sz="2000" dirty="0">
                <a:latin typeface="黑体" panose="02010609060101010101" pitchFamily="49" charset="-122"/>
                <a:ea typeface="黑体" panose="02010609060101010101" pitchFamily="49" charset="-122"/>
              </a:rPr>
              <a:t>人大</a:t>
            </a:r>
            <a:r>
              <a:rPr lang="en-US" altLang="zh-CN" sz="2000" dirty="0">
                <a:latin typeface="黑体" panose="02010609060101010101" pitchFamily="49" charset="-122"/>
                <a:ea typeface="黑体" panose="02010609060101010101" pitchFamily="49" charset="-122"/>
              </a:rPr>
              <a:t>/</a:t>
            </a:r>
            <a:r>
              <a:rPr lang="zh-CN" altLang="zh-CN" sz="2000" dirty="0">
                <a:latin typeface="黑体" panose="02010609060101010101" pitchFamily="49" charset="-122"/>
                <a:ea typeface="黑体" panose="02010609060101010101" pitchFamily="49" charset="-122"/>
              </a:rPr>
              <a:t>人大代表与人民的关系（密切联系群众</a:t>
            </a:r>
            <a:r>
              <a:rPr lang="en-US" altLang="zh-CN" sz="2000" dirty="0">
                <a:latin typeface="黑体" panose="02010609060101010101" pitchFamily="49" charset="-122"/>
                <a:ea typeface="黑体" panose="02010609060101010101" pitchFamily="49" charset="-122"/>
              </a:rPr>
              <a:t>/</a:t>
            </a:r>
            <a:r>
              <a:rPr lang="zh-CN" altLang="zh-CN" sz="2000" dirty="0">
                <a:latin typeface="黑体" panose="02010609060101010101" pitchFamily="49" charset="-122"/>
                <a:ea typeface="黑体" panose="02010609060101010101" pitchFamily="49" charset="-122"/>
              </a:rPr>
              <a:t>反映民意、听取群众意见和建议等）（</a:t>
            </a:r>
            <a:r>
              <a:rPr lang="en-US" altLang="zh-CN" sz="2000" dirty="0">
                <a:latin typeface="黑体" panose="02010609060101010101" pitchFamily="49" charset="-122"/>
                <a:ea typeface="黑体" panose="02010609060101010101" pitchFamily="49" charset="-122"/>
              </a:rPr>
              <a:t>2 </a:t>
            </a:r>
            <a:r>
              <a:rPr lang="zh-CN" altLang="zh-CN" sz="2000" dirty="0">
                <a:latin typeface="黑体" panose="02010609060101010101" pitchFamily="49" charset="-122"/>
                <a:ea typeface="黑体" panose="02010609060101010101" pitchFamily="49" charset="-122"/>
              </a:rPr>
              <a:t>分） </a:t>
            </a:r>
          </a:p>
          <a:p>
            <a:pPr algn="l">
              <a:lnSpc>
                <a:spcPct val="150000"/>
              </a:lnSpc>
            </a:pPr>
            <a:r>
              <a:rPr lang="zh-CN" altLang="zh-CN" sz="2000" dirty="0">
                <a:latin typeface="黑体" panose="02010609060101010101" pitchFamily="49" charset="-122"/>
                <a:ea typeface="黑体" panose="02010609060101010101" pitchFamily="49" charset="-122"/>
              </a:rPr>
              <a:t>帮助政府推进工作</a:t>
            </a:r>
            <a:r>
              <a:rPr lang="en-US" altLang="zh-CN" sz="2000" dirty="0">
                <a:latin typeface="黑体" panose="02010609060101010101" pitchFamily="49" charset="-122"/>
                <a:ea typeface="黑体" panose="02010609060101010101" pitchFamily="49" charset="-122"/>
              </a:rPr>
              <a:t>/</a:t>
            </a:r>
            <a:r>
              <a:rPr lang="zh-CN" altLang="zh-CN" sz="2000" dirty="0">
                <a:latin typeface="黑体" panose="02010609060101010101" pitchFamily="49" charset="-122"/>
                <a:ea typeface="黑体" panose="02010609060101010101" pitchFamily="49" charset="-122"/>
              </a:rPr>
              <a:t>提高行政效率；或全过程人民民主（人民当家作主、发扬民主）（</a:t>
            </a:r>
            <a:r>
              <a:rPr lang="en-US" altLang="zh-CN" sz="2000" dirty="0">
                <a:latin typeface="黑体" panose="02010609060101010101" pitchFamily="49" charset="-122"/>
                <a:ea typeface="黑体" panose="02010609060101010101" pitchFamily="49" charset="-122"/>
              </a:rPr>
              <a:t>1 </a:t>
            </a:r>
            <a:r>
              <a:rPr lang="zh-CN" altLang="zh-CN" sz="2000" dirty="0">
                <a:latin typeface="黑体" panose="02010609060101010101" pitchFamily="49" charset="-122"/>
                <a:ea typeface="黑体" panose="02010609060101010101" pitchFamily="49" charset="-122"/>
              </a:rPr>
              <a:t>分）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0"/>
            <a:ext cx="2419814" cy="461665"/>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defPPr>
              <a:defRPr lang="zh-CN"/>
            </a:defPPr>
            <a:lvl1pPr>
              <a:defRPr sz="2400" b="1">
                <a:solidFill>
                  <a:srgbClr val="FFFF00"/>
                </a:solidFill>
                <a:latin typeface="黑体" panose="02010609060101010101" pitchFamily="49" charset="-122"/>
                <a:ea typeface="黑体" panose="02010609060101010101" pitchFamily="49" charset="-122"/>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altLang="zh-CN"/>
              <a:t>【</a:t>
            </a:r>
            <a:r>
              <a:rPr lang="zh-CN" altLang="en-US"/>
              <a:t>试题分析</a:t>
            </a:r>
            <a:r>
              <a:rPr lang="en-US" altLang="zh-CN" dirty="0"/>
              <a:t>】</a:t>
            </a:r>
            <a:endParaRPr lang="zh-CN" altLang="en-US" dirty="0"/>
          </a:p>
        </p:txBody>
      </p:sp>
      <p:pic>
        <p:nvPicPr>
          <p:cNvPr id="4" name="图片 3"/>
          <p:cNvPicPr>
            <a:picLocks noChangeAspect="1"/>
          </p:cNvPicPr>
          <p:nvPr/>
        </p:nvPicPr>
        <p:blipFill>
          <a:blip r:embed="rId2"/>
          <a:stretch>
            <a:fillRect/>
          </a:stretch>
        </p:blipFill>
        <p:spPr>
          <a:xfrm>
            <a:off x="276185" y="1239393"/>
            <a:ext cx="6715386" cy="3667144"/>
          </a:xfrm>
          <a:prstGeom prst="rect">
            <a:avLst/>
          </a:prstGeom>
        </p:spPr>
      </p:pic>
      <p:sp>
        <p:nvSpPr>
          <p:cNvPr id="2" name="椭圆 1"/>
          <p:cNvSpPr/>
          <p:nvPr/>
        </p:nvSpPr>
        <p:spPr>
          <a:xfrm>
            <a:off x="3308555" y="4523182"/>
            <a:ext cx="496529" cy="272994"/>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2740251" y="4122130"/>
            <a:ext cx="3064714" cy="290691"/>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2187678" y="3785762"/>
            <a:ext cx="552573" cy="226007"/>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157808" y="5323332"/>
            <a:ext cx="6144178" cy="360933"/>
          </a:xfrm>
          <a:prstGeom prst="rect">
            <a:avLst/>
          </a:prstGeom>
          <a:noFill/>
        </p:spPr>
        <p:txBody>
          <a:bodyPr wrap="square">
            <a:spAutoFit/>
          </a:bodyPr>
          <a:lstStyle/>
          <a:p>
            <a:pPr marL="269240" indent="266700" algn="just">
              <a:lnSpc>
                <a:spcPts val="2200"/>
              </a:lnSpc>
            </a:pPr>
            <a:r>
              <a:rPr lang="zh-CN" altLang="zh-CN" kern="100" dirty="0">
                <a:solidFill>
                  <a:srgbClr val="FF0000"/>
                </a:solidFill>
                <a:latin typeface="等线" panose="02010600030101010101" charset="-122"/>
                <a:ea typeface="宋体" panose="02010600030101010101" pitchFamily="2" charset="-122"/>
                <a:cs typeface="Times New Roman" panose="02020603050405020304" pitchFamily="18" charset="0"/>
              </a:rPr>
              <a:t>逻辑思路：紧扣二者关系，从是何</a:t>
            </a:r>
            <a:r>
              <a:rPr lang="en-US" altLang="zh-CN" kern="100" dirty="0">
                <a:solidFill>
                  <a:srgbClr val="FF0000"/>
                </a:solidFill>
                <a:latin typeface="等线" panose="02010600030101010101" charset="-122"/>
                <a:ea typeface="宋体" panose="02010600030101010101" pitchFamily="2" charset="-122"/>
                <a:cs typeface="Times New Roman" panose="02020603050405020304" pitchFamily="18" charset="0"/>
              </a:rPr>
              <a:t>+</a:t>
            </a:r>
            <a:r>
              <a:rPr lang="zh-CN" altLang="zh-CN" kern="100" dirty="0">
                <a:solidFill>
                  <a:srgbClr val="FF0000"/>
                </a:solidFill>
                <a:latin typeface="等线" panose="02010600030101010101" charset="-122"/>
                <a:ea typeface="宋体" panose="02010600030101010101" pitchFamily="2" charset="-122"/>
                <a:cs typeface="Times New Roman" panose="02020603050405020304" pitchFamily="18" charset="0"/>
              </a:rPr>
              <a:t>如何角度阐述。</a:t>
            </a:r>
            <a:endParaRPr lang="zh-CN" altLang="zh-CN" kern="100" dirty="0">
              <a:latin typeface="等线" panose="02010600030101010101" charset="-122"/>
              <a:ea typeface="等线" panose="02010600030101010101" charset="-122"/>
              <a:cs typeface="Times New Roman" panose="02020603050405020304" pitchFamily="18" charset="0"/>
            </a:endParaRPr>
          </a:p>
        </p:txBody>
      </p:sp>
      <p:sp>
        <p:nvSpPr>
          <p:cNvPr id="100" name="文本框 99"/>
          <p:cNvSpPr txBox="1"/>
          <p:nvPr/>
        </p:nvSpPr>
        <p:spPr>
          <a:xfrm>
            <a:off x="7053580" y="1311910"/>
            <a:ext cx="4796790" cy="3784600"/>
          </a:xfrm>
          <a:prstGeom prst="rect">
            <a:avLst/>
          </a:prstGeom>
          <a:noFill/>
          <a:ln w="9525">
            <a:noFill/>
          </a:ln>
        </p:spPr>
        <p:txBody>
          <a:bodyPr wrap="square">
            <a:spAutoFit/>
          </a:bodyPr>
          <a:lstStyle/>
          <a:p>
            <a:pPr indent="0"/>
            <a:r>
              <a:rPr lang="zh-CN" sz="2400" b="0">
                <a:ea typeface="微软雅黑" panose="020B0503020204020204" charset="-122"/>
              </a:rPr>
              <a:t>传统产业与未来产业</a:t>
            </a:r>
            <a:r>
              <a:rPr lang="zh-CN" sz="2400" b="0" u="sng">
                <a:highlight>
                  <a:srgbClr val="FFFF00"/>
                </a:highlight>
                <a:ea typeface="微软雅黑" panose="020B0503020204020204" charset="-122"/>
              </a:rPr>
              <a:t>密不可分、相互促进</a:t>
            </a:r>
            <a:r>
              <a:rPr lang="zh-CN" sz="2400" b="0">
                <a:ea typeface="微软雅黑" panose="020B0503020204020204" charset="-122"/>
              </a:rPr>
              <a:t>。</a:t>
            </a:r>
            <a:r>
              <a:rPr lang="zh-CN" sz="2400" b="0" u="sng">
                <a:ea typeface="微软雅黑" panose="020B0503020204020204" charset="-122"/>
              </a:rPr>
              <a:t>传统产业为未来产业发展提供原材料、零部件等支撑和强大的市场</a:t>
            </a:r>
            <a:r>
              <a:rPr lang="zh-CN" sz="2400" b="0">
                <a:ea typeface="微软雅黑" panose="020B0503020204020204" charset="-122"/>
              </a:rPr>
              <a:t>；</a:t>
            </a:r>
            <a:r>
              <a:rPr lang="zh-CN" sz="2400" b="0" u="sng">
                <a:ea typeface="微软雅黑" panose="020B0503020204020204" charset="-122"/>
              </a:rPr>
              <a:t>未来产业赋能传统产业，引领传统产业转型升级</a:t>
            </a:r>
            <a:r>
              <a:rPr lang="zh-CN" sz="2400" b="0">
                <a:ea typeface="微软雅黑" panose="020B0503020204020204" charset="-122"/>
              </a:rPr>
              <a:t>。</a:t>
            </a:r>
          </a:p>
          <a:p>
            <a:pPr indent="0"/>
            <a:r>
              <a:rPr lang="zh-CN" sz="2400" b="0">
                <a:ea typeface="微软雅黑" panose="020B0503020204020204" charset="-122"/>
              </a:rPr>
              <a:t>发展新质生产力，不是要忽视、放弃传统产业，</a:t>
            </a:r>
            <a:r>
              <a:rPr lang="zh-CN" sz="2400" b="0" u="sng">
                <a:ea typeface="微软雅黑" panose="020B0503020204020204" charset="-122"/>
              </a:rPr>
              <a:t>要</a:t>
            </a:r>
            <a:r>
              <a:rPr lang="zh-CN" sz="2400" b="0" u="sng">
                <a:solidFill>
                  <a:srgbClr val="FF0000"/>
                </a:solidFill>
                <a:ea typeface="微软雅黑" panose="020B0503020204020204" charset="-122"/>
              </a:rPr>
              <a:t>辩证否定，</a:t>
            </a:r>
            <a:r>
              <a:rPr lang="zh-CN" sz="2400" b="0" u="sng">
                <a:ea typeface="微软雅黑" panose="020B0503020204020204" charset="-122"/>
              </a:rPr>
              <a:t>改造提升传统产业</a:t>
            </a:r>
            <a:r>
              <a:rPr lang="zh-CN" sz="2400" b="0">
                <a:ea typeface="微软雅黑" panose="020B0503020204020204" charset="-122"/>
              </a:rPr>
              <a:t>；要</a:t>
            </a:r>
            <a:r>
              <a:rPr lang="zh-CN" sz="2400" b="0" u="sng">
                <a:ea typeface="微软雅黑" panose="020B0503020204020204" charset="-122"/>
              </a:rPr>
              <a:t>运用</a:t>
            </a:r>
            <a:r>
              <a:rPr lang="zh-CN" sz="2400" b="0" u="sng">
                <a:solidFill>
                  <a:srgbClr val="FF0000"/>
                </a:solidFill>
                <a:ea typeface="微软雅黑" panose="020B0503020204020204" charset="-122"/>
              </a:rPr>
              <a:t>超前思维</a:t>
            </a:r>
            <a:r>
              <a:rPr lang="zh-CN" sz="2400" b="0" u="sng">
                <a:ea typeface="微软雅黑" panose="020B0503020204020204" charset="-122"/>
              </a:rPr>
              <a:t>布局建设未来产业，完善现代化产业体系</a:t>
            </a:r>
            <a:r>
              <a:rPr lang="zh-CN" sz="2400" b="0">
                <a:ea typeface="微软雅黑" panose="020B0503020204020204" charset="-122"/>
              </a:rPr>
              <a:t>。（6分）</a:t>
            </a:r>
            <a:endParaRPr lang="zh-CN" altLang="en-US" sz="2400" b="0">
              <a:ea typeface="微软雅黑" panose="020B0503020204020204"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513080" y="140335"/>
            <a:ext cx="8093075" cy="4481830"/>
          </a:xfrm>
          <a:prstGeom prst="rect">
            <a:avLst/>
          </a:prstGeom>
          <a:noFill/>
          <a:ln w="9525">
            <a:noFill/>
          </a:ln>
        </p:spPr>
        <p:txBody>
          <a:bodyPr>
            <a:noAutofit/>
          </a:bodyPr>
          <a:lstStyle/>
          <a:p>
            <a:pPr indent="0"/>
            <a:r>
              <a:rPr lang="zh-CN" b="0">
                <a:ea typeface="微软雅黑" panose="020B0503020204020204" charset="-122"/>
              </a:rPr>
              <a:t>理论+分析 </a:t>
            </a:r>
            <a:r>
              <a:rPr lang="en-US" b="0">
                <a:latin typeface="宋体" panose="02010600030101010101" pitchFamily="2" charset="-122"/>
                <a:ea typeface="微软雅黑" panose="020B0503020204020204" charset="-122"/>
                <a:cs typeface="Times New Roman" panose="02020603050405020304" pitchFamily="18" charset="0"/>
              </a:rPr>
              <a:t>3+3 </a:t>
            </a:r>
            <a:endParaRPr lang="zh-CN" b="0">
              <a:ea typeface="微软雅黑" panose="020B0503020204020204" charset="-122"/>
            </a:endParaRPr>
          </a:p>
          <a:p>
            <a:pPr indent="0"/>
            <a:r>
              <a:rPr lang="zh-CN" b="0">
                <a:ea typeface="微软雅黑" panose="020B0503020204020204" charset="-122"/>
              </a:rPr>
              <a:t>是何：传统产业与未来产业</a:t>
            </a:r>
            <a:r>
              <a:rPr lang="zh-CN" b="0" u="sng">
                <a:ea typeface="微软雅黑" panose="020B0503020204020204" charset="-122"/>
              </a:rPr>
              <a:t>密不可分、相互促进</a:t>
            </a:r>
            <a:r>
              <a:rPr lang="zh-CN" b="0">
                <a:ea typeface="微软雅黑" panose="020B0503020204020204" charset="-122"/>
              </a:rPr>
              <a:t>。</a:t>
            </a:r>
            <a:r>
              <a:rPr lang="zh-CN" b="0" u="sng">
                <a:ea typeface="微软雅黑" panose="020B0503020204020204" charset="-122"/>
              </a:rPr>
              <a:t>传统产业为未来产业发展提供原材料、零部件等支撑和强大的市场</a:t>
            </a:r>
            <a:r>
              <a:rPr lang="zh-CN" b="0">
                <a:ea typeface="微软雅黑" panose="020B0503020204020204" charset="-122"/>
              </a:rPr>
              <a:t>；</a:t>
            </a:r>
            <a:r>
              <a:rPr lang="zh-CN" b="0" u="sng">
                <a:ea typeface="微软雅黑" panose="020B0503020204020204" charset="-122"/>
              </a:rPr>
              <a:t>未来产业赋能传统产业，引领传统产业转型升级</a:t>
            </a:r>
            <a:r>
              <a:rPr lang="zh-CN" b="0">
                <a:ea typeface="微软雅黑" panose="020B0503020204020204" charset="-122"/>
              </a:rPr>
              <a:t>。（2分）</a:t>
            </a:r>
          </a:p>
          <a:p>
            <a:pPr indent="0"/>
            <a:r>
              <a:rPr lang="zh-CN" b="0">
                <a:ea typeface="微软雅黑" panose="020B0503020204020204" charset="-122"/>
              </a:rPr>
              <a:t>如何：发展新质生产力，不是要忽视、放弃传统产业，</a:t>
            </a:r>
            <a:r>
              <a:rPr lang="zh-CN" b="0" u="sng">
                <a:ea typeface="微软雅黑" panose="020B0503020204020204" charset="-122"/>
              </a:rPr>
              <a:t>要</a:t>
            </a:r>
            <a:r>
              <a:rPr lang="zh-CN" b="0" u="sng">
                <a:solidFill>
                  <a:srgbClr val="FF0000"/>
                </a:solidFill>
                <a:ea typeface="微软雅黑" panose="020B0503020204020204" charset="-122"/>
              </a:rPr>
              <a:t>辩证否定，</a:t>
            </a:r>
            <a:r>
              <a:rPr lang="zh-CN" b="0" u="sng">
                <a:ea typeface="微软雅黑" panose="020B0503020204020204" charset="-122"/>
              </a:rPr>
              <a:t>改造提升传统产业；</a:t>
            </a:r>
            <a:r>
              <a:rPr lang="zh-CN" b="0">
                <a:ea typeface="微软雅黑" panose="020B0503020204020204" charset="-122"/>
              </a:rPr>
              <a:t>（2分）要</a:t>
            </a:r>
            <a:r>
              <a:rPr lang="zh-CN" b="0" u="sng">
                <a:ea typeface="微软雅黑" panose="020B0503020204020204" charset="-122"/>
              </a:rPr>
              <a:t>运用</a:t>
            </a:r>
            <a:r>
              <a:rPr lang="zh-CN" b="0" u="sng">
                <a:solidFill>
                  <a:srgbClr val="FF0000"/>
                </a:solidFill>
                <a:ea typeface="微软雅黑" panose="020B0503020204020204" charset="-122"/>
              </a:rPr>
              <a:t>超前思维</a:t>
            </a:r>
            <a:r>
              <a:rPr lang="zh-CN" b="0" u="sng">
                <a:ea typeface="微软雅黑" panose="020B0503020204020204" charset="-122"/>
              </a:rPr>
              <a:t>布局建设未来产业，完善现代化产业体系</a:t>
            </a:r>
            <a:r>
              <a:rPr lang="zh-CN" b="0">
                <a:ea typeface="微软雅黑" panose="020B0503020204020204" charset="-122"/>
              </a:rPr>
              <a:t>。（2分）</a:t>
            </a:r>
          </a:p>
          <a:p>
            <a:pPr indent="0"/>
            <a:r>
              <a:rPr lang="zh-CN" b="0">
                <a:ea typeface="微软雅黑" panose="020B0503020204020204" charset="-122"/>
              </a:rPr>
              <a:t>变通：二者关系：辩证统一、对立统一；传统产业：辩证思维、矛盾观点；</a:t>
            </a:r>
          </a:p>
          <a:p>
            <a:pPr indent="0"/>
            <a:r>
              <a:rPr lang="zh-CN" b="0">
                <a:ea typeface="微软雅黑" panose="020B0503020204020204" charset="-122"/>
              </a:rPr>
              <a:t>未来产业：创新思维、科学思维、矛盾分析法等替代原理分。</a:t>
            </a:r>
            <a:endParaRPr lang="zh-CN" altLang="en-US" b="0">
              <a:ea typeface="微软雅黑" panose="020B0503020204020204" charset="-122"/>
            </a:endParaRPr>
          </a:p>
        </p:txBody>
      </p:sp>
      <p:sp>
        <p:nvSpPr>
          <p:cNvPr id="2" name="文本框 1"/>
          <p:cNvSpPr txBox="1"/>
          <p:nvPr/>
        </p:nvSpPr>
        <p:spPr>
          <a:xfrm>
            <a:off x="3204210" y="3458845"/>
            <a:ext cx="8016240" cy="2599055"/>
          </a:xfrm>
          <a:prstGeom prst="rect">
            <a:avLst/>
          </a:prstGeom>
          <a:noFill/>
          <a:ln w="9525">
            <a:noFill/>
          </a:ln>
        </p:spPr>
        <p:txBody>
          <a:bodyPr wrap="square">
            <a:noAutofit/>
          </a:bodyPr>
          <a:lstStyle/>
          <a:p>
            <a:pPr indent="0"/>
            <a:r>
              <a:rPr lang="zh-CN" b="0">
                <a:solidFill>
                  <a:srgbClr val="000000"/>
                </a:solidFill>
                <a:ea typeface="微软雅黑" panose="020B0503020204020204" charset="-122"/>
              </a:rPr>
              <a:t>1、逻辑思维原理+经济语言分析，学生片面运用逻辑或经济回答。分析不到位，不是围绕二者关系谈。</a:t>
            </a:r>
          </a:p>
          <a:p>
            <a:pPr indent="0"/>
            <a:r>
              <a:rPr lang="zh-CN" b="0">
                <a:solidFill>
                  <a:srgbClr val="000000"/>
                </a:solidFill>
                <a:ea typeface="微软雅黑" panose="020B0503020204020204" charset="-122"/>
              </a:rPr>
              <a:t>2、单一角度运用如创新思维回答，没有从材料中读出辩证思维角度。</a:t>
            </a:r>
          </a:p>
          <a:p>
            <a:pPr indent="0"/>
            <a:r>
              <a:rPr lang="zh-CN" b="0">
                <a:solidFill>
                  <a:srgbClr val="000000"/>
                </a:solidFill>
                <a:ea typeface="微软雅黑" panose="020B0503020204020204" charset="-122"/>
              </a:rPr>
              <a:t>3、对传统产业与未来产业的关系理解有误。如，把二者理解为新旧事物；认为未来产业是传统产业的辩否；认为传统产业经过量的积累实现质的飞跃后变成未来产业等。</a:t>
            </a:r>
          </a:p>
          <a:p>
            <a:pPr indent="0"/>
            <a:r>
              <a:rPr lang="zh-CN" b="0">
                <a:solidFill>
                  <a:srgbClr val="000000"/>
                </a:solidFill>
                <a:ea typeface="微软雅黑" panose="020B0503020204020204" charset="-122"/>
              </a:rPr>
              <a:t>4、关系类试题应该是二者相互作用，学生只谈未来产业引导传统产业转型，不谈传统产业对未来产业的支撑作用。</a:t>
            </a:r>
            <a:endParaRPr lang="zh-CN" altLang="en-US" b="0">
              <a:solidFill>
                <a:srgbClr val="000000"/>
              </a:solidFill>
              <a:ea typeface="微软雅黑" panose="020B0503020204020204"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84332340"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5500" y="464820"/>
            <a:ext cx="10801985" cy="607568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555805" y="747051"/>
            <a:ext cx="11034006" cy="5488149"/>
          </a:xfrm>
          <a:prstGeom prst="rect">
            <a:avLst/>
          </a:prstGeom>
        </p:spPr>
      </p:pic>
      <p:sp>
        <p:nvSpPr>
          <p:cNvPr id="2" name="文本框 1"/>
          <p:cNvSpPr txBox="1"/>
          <p:nvPr/>
        </p:nvSpPr>
        <p:spPr>
          <a:xfrm>
            <a:off x="0" y="0"/>
            <a:ext cx="2419814" cy="461665"/>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defPPr>
              <a:defRPr lang="zh-CN"/>
            </a:defPPr>
            <a:lvl1pPr>
              <a:defRPr sz="2400" b="1">
                <a:solidFill>
                  <a:srgbClr val="FFFF00"/>
                </a:solidFill>
                <a:latin typeface="黑体" panose="02010609060101010101" pitchFamily="49" charset="-122"/>
                <a:ea typeface="黑体" panose="02010609060101010101" pitchFamily="49" charset="-122"/>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altLang="zh-CN" dirty="0"/>
              <a:t>【</a:t>
            </a:r>
            <a:r>
              <a:rPr lang="zh-CN" altLang="en-US" dirty="0"/>
              <a:t>经典试题回顾</a:t>
            </a:r>
            <a:r>
              <a:rPr lang="en-US" altLang="zh-CN" dirty="0"/>
              <a:t>】</a:t>
            </a:r>
            <a:endParaRPr lang="zh-CN" alt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94834" y="782125"/>
            <a:ext cx="10957467" cy="5098512"/>
          </a:xfrm>
          <a:prstGeom prst="rect">
            <a:avLst/>
          </a:prstGeom>
          <a:noFill/>
        </p:spPr>
        <p:txBody>
          <a:bodyPr wrap="square">
            <a:spAutoFit/>
          </a:bodyPr>
          <a:lstStyle/>
          <a:p>
            <a:pPr>
              <a:lnSpc>
                <a:spcPct val="150000"/>
              </a:lnSpc>
            </a:pPr>
            <a:r>
              <a:rPr lang="en-US" altLang="zh-CN" sz="2000" dirty="0">
                <a:latin typeface="黑体" panose="02010609060101010101" pitchFamily="49" charset="-122"/>
                <a:ea typeface="黑体" panose="02010609060101010101" pitchFamily="49" charset="-122"/>
              </a:rPr>
              <a:t>(1)①</a:t>
            </a:r>
            <a:r>
              <a:rPr lang="zh-CN" altLang="en-US" sz="2000" dirty="0">
                <a:latin typeface="黑体" panose="02010609060101010101" pitchFamily="49" charset="-122"/>
                <a:ea typeface="黑体" panose="02010609060101010101" pitchFamily="49" charset="-122"/>
              </a:rPr>
              <a:t>任何事物都要经历肯定、否定，再到否定之否定的辩证发展过程</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或“辩证否定是联系和发展的环节”或“看待事物不能简单的肯定或否定一切”</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分</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全面布局末来产业需要贯彻创新发展理念，要破除一些旧的生产方式、旧模式等，</a:t>
            </a: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分</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但不是完全抛弃，</a:t>
            </a: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分</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而是坚持辩证否定，用扬弃的方式实现传统生产方式、旧式的优化改造。</a:t>
            </a: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分</a:t>
            </a:r>
            <a:r>
              <a:rPr lang="en-US" altLang="zh-CN" sz="2000" dirty="0">
                <a:latin typeface="黑体" panose="02010609060101010101" pitchFamily="49" charset="-122"/>
                <a:ea typeface="黑体" panose="02010609060101010101" pitchFamily="49" charset="-122"/>
              </a:rPr>
              <a:t>)</a:t>
            </a:r>
          </a:p>
          <a:p>
            <a:pPr>
              <a:lnSpc>
                <a:spcPct val="150000"/>
              </a:lnSpc>
            </a:pPr>
            <a:r>
              <a:rPr lang="en-US" altLang="zh-CN" sz="2000" dirty="0">
                <a:latin typeface="黑体" panose="02010609060101010101" pitchFamily="49" charset="-122"/>
                <a:ea typeface="黑体" panose="02010609060101010101" pitchFamily="49" charset="-122"/>
              </a:rPr>
              <a:t>②</a:t>
            </a:r>
            <a:r>
              <a:rPr lang="zh-CN" altLang="en-US" sz="2000" dirty="0">
                <a:latin typeface="黑体" panose="02010609060101010101" pitchFamily="49" charset="-122"/>
                <a:ea typeface="黑体" panose="02010609060101010101" pitchFamily="49" charset="-122"/>
              </a:rPr>
              <a:t>坚持用发展的观点看问题，应热情支持和悉心保护新事物。</a:t>
            </a: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分</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全面布局未来产业要积极探索和支持新赛道、新技术、新生产方式，新模式等，</a:t>
            </a: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分</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要符合人民群众的根本利益和要求</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或“以市场为导向”</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分</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推进供给侧结构性改革和扩大内需相结合，发展未来产业。</a:t>
            </a: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分</a:t>
            </a:r>
            <a:r>
              <a:rPr lang="en-US" altLang="zh-CN" sz="2000" dirty="0">
                <a:latin typeface="黑体" panose="02010609060101010101" pitchFamily="49" charset="-122"/>
                <a:ea typeface="黑体" panose="02010609060101010101" pitchFamily="49" charset="-122"/>
              </a:rPr>
              <a:t>)</a:t>
            </a:r>
          </a:p>
          <a:p>
            <a:pPr>
              <a:lnSpc>
                <a:spcPct val="150000"/>
              </a:lnSpc>
            </a:pPr>
            <a:r>
              <a:rPr lang="en-US" altLang="zh-CN" sz="2000" dirty="0">
                <a:latin typeface="黑体" panose="02010609060101010101" pitchFamily="49" charset="-122"/>
                <a:ea typeface="黑体" panose="02010609060101010101" pitchFamily="49" charset="-122"/>
              </a:rPr>
              <a:t>③</a:t>
            </a:r>
            <a:r>
              <a:rPr lang="zh-CN" altLang="en-US" sz="2000" dirty="0">
                <a:latin typeface="黑体" panose="02010609060101010101" pitchFamily="49" charset="-122"/>
                <a:ea typeface="黑体" panose="02010609060101010101" pitchFamily="49" charset="-122"/>
              </a:rPr>
              <a:t>系统的基本特征是整体性、有序性和内部结构优化趋向</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或“掌握系统优化的方法”</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分</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全面布局未来产业需要加强人工智能对包括制造业在内的等各种产业进行融合，</a:t>
            </a: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分</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能够提高全要素生产率</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或“打造产业链价值链创新链”</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，建设创新引领、协同发展的未来产业体系</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或“推进新质生产力发展”</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分</a:t>
            </a:r>
            <a:r>
              <a:rPr lang="en-US" altLang="zh-CN" sz="2000" dirty="0">
                <a:latin typeface="黑体" panose="02010609060101010101" pitchFamily="49" charset="-122"/>
                <a:ea typeface="黑体" panose="02010609060101010101" pitchFamily="49" charset="-122"/>
              </a:rPr>
              <a:t>)</a:t>
            </a:r>
            <a:endParaRPr lang="zh-CN" altLang="en-US" sz="2000" dirty="0">
              <a:latin typeface="黑体" panose="02010609060101010101" pitchFamily="49" charset="-122"/>
              <a:ea typeface="黑体" panose="02010609060101010101" pitchFamily="49"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0" y="0"/>
            <a:ext cx="2419814" cy="461665"/>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defPPr>
              <a:defRPr lang="zh-CN"/>
            </a:defPPr>
            <a:lvl1pPr>
              <a:defRPr sz="2400" b="1">
                <a:solidFill>
                  <a:srgbClr val="FFFF00"/>
                </a:solidFill>
                <a:latin typeface="黑体" panose="02010609060101010101" pitchFamily="49" charset="-122"/>
                <a:ea typeface="黑体" panose="02010609060101010101" pitchFamily="49" charset="-122"/>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altLang="zh-CN" dirty="0"/>
              <a:t>【</a:t>
            </a:r>
            <a:r>
              <a:rPr lang="zh-CN" altLang="en-US" dirty="0"/>
              <a:t>经典试题回顾</a:t>
            </a:r>
            <a:r>
              <a:rPr lang="en-US" altLang="zh-CN" dirty="0"/>
              <a:t>】</a:t>
            </a:r>
            <a:endParaRPr lang="zh-CN" altLang="en-US" dirty="0"/>
          </a:p>
        </p:txBody>
      </p:sp>
      <p:pic>
        <p:nvPicPr>
          <p:cNvPr id="5" name="图片 4"/>
          <p:cNvPicPr>
            <a:picLocks noChangeAspect="1"/>
          </p:cNvPicPr>
          <p:nvPr/>
        </p:nvPicPr>
        <p:blipFill>
          <a:blip r:embed="rId2"/>
          <a:stretch>
            <a:fillRect/>
          </a:stretch>
        </p:blipFill>
        <p:spPr>
          <a:xfrm>
            <a:off x="440385" y="735980"/>
            <a:ext cx="10827921" cy="5742745"/>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72532" y="1125371"/>
            <a:ext cx="10829229" cy="3883755"/>
          </a:xfrm>
          <a:prstGeom prst="rect">
            <a:avLst/>
          </a:prstGeom>
          <a:noFill/>
        </p:spPr>
        <p:txBody>
          <a:bodyPr wrap="square">
            <a:spAutoFit/>
          </a:bodyPr>
          <a:lstStyle>
            <a:defPPr>
              <a:defRPr lang="zh-CN"/>
            </a:defPPr>
            <a:lvl1pPr>
              <a:lnSpc>
                <a:spcPct val="150000"/>
              </a:lnSpc>
              <a:defRPr sz="2000">
                <a:latin typeface="黑体" panose="02010609060101010101" pitchFamily="49" charset="-122"/>
                <a:ea typeface="黑体" panose="02010609060101010101" pitchFamily="49" charset="-122"/>
              </a:defRPr>
            </a:lvl1pPr>
          </a:lstStyle>
          <a:p>
            <a:r>
              <a:rPr lang="en-US" altLang="zh-CN" sz="2400" dirty="0"/>
              <a:t>(2)①</a:t>
            </a:r>
            <a:r>
              <a:rPr lang="zh-CN" altLang="en-US" sz="2400" dirty="0"/>
              <a:t>运用类比推理的方法，模仿北极能毛的“核一壳”结构和功能，制作超保暖轻薄的“北极熊毛衣”。</a:t>
            </a:r>
            <a:r>
              <a:rPr lang="en-US" altLang="zh-CN" sz="2400" dirty="0"/>
              <a:t>(2</a:t>
            </a:r>
            <a:r>
              <a:rPr lang="zh-CN" altLang="en-US" sz="2400" dirty="0"/>
              <a:t>分</a:t>
            </a:r>
            <a:r>
              <a:rPr lang="en-US" altLang="zh-CN" sz="2400" dirty="0"/>
              <a:t>)</a:t>
            </a:r>
          </a:p>
          <a:p>
            <a:r>
              <a:rPr lang="en-US" altLang="zh-CN" sz="2400" dirty="0"/>
              <a:t>②</a:t>
            </a:r>
            <a:r>
              <a:rPr lang="zh-CN" altLang="en-US" sz="2400" dirty="0"/>
              <a:t>运用不完全归纳推理的求异法，在其他条件相同的情况下，分别试穿几种衣物得出“北极熊毛衣”会使人体热量流失越少。</a:t>
            </a:r>
            <a:r>
              <a:rPr lang="en-US" altLang="zh-CN" sz="2400" dirty="0"/>
              <a:t>(2</a:t>
            </a:r>
            <a:r>
              <a:rPr lang="zh-CN" altLang="en-US" sz="2400" dirty="0"/>
              <a:t>分</a:t>
            </a:r>
            <a:r>
              <a:rPr lang="en-US" altLang="zh-CN" sz="2400" dirty="0"/>
              <a:t>)</a:t>
            </a:r>
          </a:p>
          <a:p>
            <a:r>
              <a:rPr lang="en-US" altLang="zh-CN" sz="2400" dirty="0"/>
              <a:t>③</a:t>
            </a:r>
            <a:r>
              <a:rPr lang="zh-CN" altLang="en-US" sz="2400" dirty="0"/>
              <a:t>运用联想思维的迁移方法和超前思维的矛盾分析法，将北极能毛的功能变迁移植到“北极熊毛衣”的创新研制中，并对“北极熊毛衣”的未来发展前景做出判断和预测。</a:t>
            </a:r>
            <a:r>
              <a:rPr lang="en-US" altLang="zh-CN" sz="2400" dirty="0"/>
              <a:t>(3</a:t>
            </a:r>
            <a:r>
              <a:rPr lang="zh-CN" altLang="en-US" sz="2400" dirty="0"/>
              <a:t>分</a:t>
            </a:r>
            <a:r>
              <a:rPr lang="en-US" altLang="zh-CN" sz="2400" dirty="0"/>
              <a:t>)</a:t>
            </a:r>
            <a:endParaRPr lang="zh-CN" altLang="en-US" sz="2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0"/>
            <a:ext cx="2419814" cy="461665"/>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defPPr>
              <a:defRPr lang="zh-CN"/>
            </a:defPPr>
            <a:lvl1pPr>
              <a:defRPr sz="2400" b="1">
                <a:solidFill>
                  <a:srgbClr val="FFFF00"/>
                </a:solidFill>
                <a:latin typeface="黑体" panose="02010609060101010101" pitchFamily="49" charset="-122"/>
                <a:ea typeface="黑体" panose="02010609060101010101" pitchFamily="49" charset="-122"/>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altLang="zh-CN"/>
              <a:t>【</a:t>
            </a:r>
            <a:r>
              <a:rPr lang="zh-CN" altLang="en-US"/>
              <a:t>试题分析</a:t>
            </a:r>
            <a:r>
              <a:rPr lang="en-US" altLang="zh-CN" dirty="0"/>
              <a:t>】</a:t>
            </a:r>
            <a:endParaRPr lang="zh-CN" altLang="en-US" dirty="0"/>
          </a:p>
        </p:txBody>
      </p:sp>
      <p:pic>
        <p:nvPicPr>
          <p:cNvPr id="2" name="图片 1"/>
          <p:cNvPicPr>
            <a:picLocks noChangeAspect="1"/>
          </p:cNvPicPr>
          <p:nvPr/>
        </p:nvPicPr>
        <p:blipFill>
          <a:blip r:embed="rId2"/>
          <a:stretch>
            <a:fillRect/>
          </a:stretch>
        </p:blipFill>
        <p:spPr>
          <a:xfrm>
            <a:off x="448310" y="1239520"/>
            <a:ext cx="5153025" cy="4128770"/>
          </a:xfrm>
          <a:prstGeom prst="rect">
            <a:avLst/>
          </a:prstGeom>
        </p:spPr>
      </p:pic>
      <p:sp>
        <p:nvSpPr>
          <p:cNvPr id="4" name="椭圆 3"/>
          <p:cNvSpPr/>
          <p:nvPr/>
        </p:nvSpPr>
        <p:spPr>
          <a:xfrm>
            <a:off x="1775924" y="5120589"/>
            <a:ext cx="644013" cy="247714"/>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376083" y="5618496"/>
            <a:ext cx="6144178" cy="360933"/>
          </a:xfrm>
          <a:prstGeom prst="rect">
            <a:avLst/>
          </a:prstGeom>
          <a:noFill/>
        </p:spPr>
        <p:txBody>
          <a:bodyPr wrap="square">
            <a:spAutoFit/>
          </a:bodyPr>
          <a:lstStyle/>
          <a:p>
            <a:pPr marL="269240" indent="31750" algn="just">
              <a:lnSpc>
                <a:spcPts val="2200"/>
              </a:lnSpc>
            </a:pPr>
            <a:r>
              <a:rPr lang="zh-CN" altLang="zh-CN" kern="100" dirty="0">
                <a:solidFill>
                  <a:srgbClr val="FF0000"/>
                </a:solidFill>
                <a:latin typeface="等线" panose="02010600030101010101" charset="-122"/>
                <a:ea typeface="宋体" panose="02010600030101010101" pitchFamily="2" charset="-122"/>
                <a:cs typeface="Times New Roman" panose="02020603050405020304" pitchFamily="18" charset="0"/>
              </a:rPr>
              <a:t>逻辑思路：理论逻辑</a:t>
            </a:r>
            <a:r>
              <a:rPr lang="en-US" altLang="zh-CN" kern="100" dirty="0">
                <a:solidFill>
                  <a:srgbClr val="FF0000"/>
                </a:solidFill>
                <a:latin typeface="等线" panose="02010600030101010101" charset="-122"/>
                <a:ea typeface="宋体" panose="02010600030101010101" pitchFamily="2" charset="-122"/>
                <a:cs typeface="Times New Roman" panose="02020603050405020304" pitchFamily="18" charset="0"/>
              </a:rPr>
              <a:t>+</a:t>
            </a:r>
            <a:r>
              <a:rPr lang="zh-CN" altLang="zh-CN" kern="100" dirty="0">
                <a:solidFill>
                  <a:srgbClr val="FF0000"/>
                </a:solidFill>
                <a:latin typeface="等线" panose="02010600030101010101" charset="-122"/>
                <a:ea typeface="宋体" panose="02010600030101010101" pitchFamily="2" charset="-122"/>
                <a:cs typeface="Times New Roman" panose="02020603050405020304" pitchFamily="18" charset="0"/>
              </a:rPr>
              <a:t>实践逻辑</a:t>
            </a:r>
            <a:endParaRPr lang="zh-CN" altLang="zh-CN" kern="100" dirty="0">
              <a:latin typeface="等线" panose="02010600030101010101" charset="-122"/>
              <a:ea typeface="等线" panose="02010600030101010101" charset="-122"/>
              <a:cs typeface="Times New Roman" panose="02020603050405020304" pitchFamily="18" charset="0"/>
            </a:endParaRPr>
          </a:p>
        </p:txBody>
      </p:sp>
      <p:sp>
        <p:nvSpPr>
          <p:cNvPr id="100" name="文本框 99"/>
          <p:cNvSpPr txBox="1"/>
          <p:nvPr/>
        </p:nvSpPr>
        <p:spPr>
          <a:xfrm>
            <a:off x="5876925" y="211455"/>
            <a:ext cx="5763260" cy="6185535"/>
          </a:xfrm>
          <a:prstGeom prst="rect">
            <a:avLst/>
          </a:prstGeom>
          <a:noFill/>
          <a:ln w="9525">
            <a:noFill/>
          </a:ln>
        </p:spPr>
        <p:txBody>
          <a:bodyPr wrap="square">
            <a:spAutoFit/>
          </a:bodyPr>
          <a:lstStyle/>
          <a:p>
            <a:pPr marL="342900" indent="-342900">
              <a:lnSpc>
                <a:spcPct val="150000"/>
              </a:lnSpc>
              <a:buFont typeface="Wingdings" panose="05000000000000000000" charset="0"/>
              <a:buChar char="p"/>
            </a:pPr>
            <a:r>
              <a:rPr lang="zh-CN" sz="2400" b="0">
                <a:solidFill>
                  <a:srgbClr val="000000"/>
                </a:solidFill>
                <a:highlight>
                  <a:srgbClr val="FFFF00"/>
                </a:highlight>
                <a:ea typeface="微软雅黑" panose="020B0503020204020204" charset="-122"/>
              </a:rPr>
              <a:t>法律规定诉讼时效</a:t>
            </a:r>
            <a:r>
              <a:rPr lang="zh-CN" sz="2400" b="0">
                <a:solidFill>
                  <a:srgbClr val="000000"/>
                </a:solidFill>
                <a:ea typeface="微软雅黑" panose="020B0503020204020204" charset="-122"/>
              </a:rPr>
              <a:t>有助于督促当事人积极主张权利/行使权利/积极维权/强化当事人依法维权/提高法律意识/积极解决纠纷/节约司法资源（2分）</a:t>
            </a:r>
          </a:p>
          <a:p>
            <a:pPr marL="342900" indent="-342900">
              <a:lnSpc>
                <a:spcPct val="150000"/>
              </a:lnSpc>
              <a:buFont typeface="Wingdings" panose="05000000000000000000" charset="0"/>
              <a:buChar char="p"/>
            </a:pPr>
            <a:r>
              <a:rPr lang="zh-CN" sz="2400" b="0">
                <a:solidFill>
                  <a:srgbClr val="000000"/>
                </a:solidFill>
                <a:highlight>
                  <a:srgbClr val="FFFF00"/>
                </a:highlight>
                <a:ea typeface="微软雅黑" panose="020B0503020204020204" charset="-122"/>
              </a:rPr>
              <a:t>法律对赡养不适用诉讼时效</a:t>
            </a:r>
            <a:r>
              <a:rPr lang="zh-CN" sz="2400" b="0">
                <a:solidFill>
                  <a:srgbClr val="000000"/>
                </a:solidFill>
                <a:ea typeface="微软雅黑" panose="020B0503020204020204" charset="-122"/>
              </a:rPr>
              <a:t>的规定因为：</a:t>
            </a:r>
          </a:p>
          <a:p>
            <a:pPr marL="342900" indent="-342900">
              <a:lnSpc>
                <a:spcPct val="150000"/>
              </a:lnSpc>
              <a:buFont typeface="Wingdings" panose="05000000000000000000" charset="0"/>
              <a:buChar char="p"/>
            </a:pPr>
            <a:r>
              <a:rPr lang="zh-CN" sz="2400" b="0">
                <a:solidFill>
                  <a:srgbClr val="000000"/>
                </a:solidFill>
                <a:ea typeface="微软雅黑" panose="020B0503020204020204" charset="-122"/>
              </a:rPr>
              <a:t>成年人对父母有赡养的义务（2分）。</a:t>
            </a:r>
          </a:p>
          <a:p>
            <a:pPr marL="342900" indent="-342900">
              <a:lnSpc>
                <a:spcPct val="150000"/>
              </a:lnSpc>
              <a:buFont typeface="Wingdings" panose="05000000000000000000" charset="0"/>
              <a:buChar char="p"/>
            </a:pPr>
            <a:r>
              <a:rPr lang="zh-CN" sz="2400" b="0">
                <a:solidFill>
                  <a:srgbClr val="000000"/>
                </a:solidFill>
                <a:ea typeface="微软雅黑" panose="020B0503020204020204" charset="-122"/>
              </a:rPr>
              <a:t>这样做有利于保护老年人的合法权益/保护老年人的基本生存权利/构建和谐家庭（弘扬家庭美德）/彰显公序良俗（社会主义和谐价值观、社会秩序）（2分）</a:t>
            </a:r>
            <a:r>
              <a:rPr lang="zh-CN" b="0">
                <a:solidFill>
                  <a:srgbClr val="000000"/>
                </a:solidFill>
                <a:ea typeface="微软雅黑" panose="020B0503020204020204" charset="-122"/>
              </a:rPr>
              <a:t>。</a:t>
            </a:r>
            <a:endParaRPr lang="zh-CN" altLang="en-US" b="0">
              <a:solidFill>
                <a:srgbClr val="000000"/>
              </a:solidFill>
              <a:ea typeface="微软雅黑" panose="020B0503020204020204"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14125831" name="图片 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a:xfrm>
            <a:off x="254000" y="665480"/>
            <a:ext cx="11458575" cy="5420360"/>
          </a:xfrm>
          <a:prstGeom prst="rect">
            <a:avLst/>
          </a:prstGeom>
          <a:noFill/>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631231" y="841488"/>
            <a:ext cx="11335312" cy="5692872"/>
          </a:xfrm>
          <a:prstGeom prst="rect">
            <a:avLst/>
          </a:prstGeom>
        </p:spPr>
      </p:pic>
      <p:sp>
        <p:nvSpPr>
          <p:cNvPr id="2" name="文本框 1"/>
          <p:cNvSpPr txBox="1"/>
          <p:nvPr/>
        </p:nvSpPr>
        <p:spPr>
          <a:xfrm>
            <a:off x="0" y="0"/>
            <a:ext cx="2419814" cy="461665"/>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defPPr>
              <a:defRPr lang="zh-CN"/>
            </a:defPPr>
            <a:lvl1pPr>
              <a:defRPr sz="2400" b="1">
                <a:solidFill>
                  <a:srgbClr val="FFFF00"/>
                </a:solidFill>
                <a:latin typeface="黑体" panose="02010609060101010101" pitchFamily="49" charset="-122"/>
                <a:ea typeface="黑体" panose="02010609060101010101" pitchFamily="49" charset="-122"/>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altLang="zh-CN" dirty="0"/>
              <a:t>【</a:t>
            </a:r>
            <a:r>
              <a:rPr lang="zh-CN" altLang="en-US" dirty="0"/>
              <a:t>经典试题回顾</a:t>
            </a:r>
            <a:r>
              <a:rPr lang="en-US" altLang="zh-CN" dirty="0"/>
              <a:t>】</a:t>
            </a:r>
            <a:endParaRPr lang="zh-CN"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26561" y="1506314"/>
            <a:ext cx="10938878" cy="2775760"/>
          </a:xfrm>
          <a:prstGeom prst="rect">
            <a:avLst/>
          </a:prstGeom>
          <a:noFill/>
        </p:spPr>
        <p:txBody>
          <a:bodyPr wrap="square">
            <a:spAutoFit/>
          </a:bodyPr>
          <a:lstStyle/>
          <a:p>
            <a:pPr>
              <a:lnSpc>
                <a:spcPct val="150000"/>
              </a:lnSpc>
            </a:pPr>
            <a:r>
              <a:rPr lang="zh-CN" altLang="zh-CN" sz="2400" dirty="0">
                <a:latin typeface="黑体" panose="02010609060101010101" pitchFamily="49" charset="-122"/>
                <a:ea typeface="黑体" panose="02010609060101010101" pitchFamily="49" charset="-122"/>
              </a:rPr>
              <a:t>优秀精神产品是人类的共同财富。为鼓励创新，维护创造者的利益，法律确立了著作权；但为避免阻碍文化传播，法律规定了合理使用和法定许可使用制度，对著作权加以限制。老师在课堂上使用王某的风筝属于合理使用，有利于中华优秀传统文化的传承；而张某的行为超出了合理使用的范围，法律在此情况下保护著作权人的权利，推动文化创新。</a:t>
            </a:r>
            <a:endParaRPr lang="zh-CN" altLang="en-US" sz="2400" dirty="0">
              <a:latin typeface="黑体" panose="02010609060101010101" pitchFamily="49" charset="-122"/>
              <a:ea typeface="黑体" panose="02010609060101010101" pitchFamily="49"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94717" y="874051"/>
            <a:ext cx="10803194" cy="3329758"/>
          </a:xfrm>
          <a:prstGeom prst="rect">
            <a:avLst/>
          </a:prstGeom>
          <a:noFill/>
        </p:spPr>
        <p:txBody>
          <a:bodyPr wrap="square">
            <a:spAutoFit/>
          </a:bodyPr>
          <a:lstStyle/>
          <a:p>
            <a:pPr indent="266700" algn="just">
              <a:lnSpc>
                <a:spcPct val="150000"/>
              </a:lnSpc>
            </a:pPr>
            <a:r>
              <a:rPr lang="zh-CN" altLang="en-US" sz="1200" dirty="0">
                <a:latin typeface="黑体" panose="02010609060101010101" pitchFamily="49" charset="-122"/>
                <a:ea typeface="黑体" panose="02010609060101010101" pitchFamily="49" charset="-122"/>
              </a:rPr>
              <a:t>（</a:t>
            </a:r>
            <a:r>
              <a:rPr lang="en-US" altLang="zh-CN" sz="1200" dirty="0">
                <a:latin typeface="黑体" panose="02010609060101010101" pitchFamily="49" charset="-122"/>
                <a:ea typeface="黑体" panose="02010609060101010101" pitchFamily="49" charset="-122"/>
              </a:rPr>
              <a:t>23</a:t>
            </a:r>
            <a:r>
              <a:rPr lang="zh-CN" altLang="en-US" sz="1200" dirty="0">
                <a:latin typeface="黑体" panose="02010609060101010101" pitchFamily="49" charset="-122"/>
                <a:ea typeface="黑体" panose="02010609060101010101" pitchFamily="49" charset="-122"/>
              </a:rPr>
              <a:t>新课标卷）</a:t>
            </a:r>
            <a:r>
              <a:rPr lang="zh-CN" altLang="zh-CN" sz="2400" dirty="0">
                <a:latin typeface="黑体" panose="02010609060101010101" pitchFamily="49" charset="-122"/>
                <a:ea typeface="黑体" panose="02010609060101010101" pitchFamily="49" charset="-122"/>
              </a:rPr>
              <a:t>小张系成年人，为做生意向父亲老张借款</a:t>
            </a:r>
            <a:r>
              <a:rPr lang="en-US" altLang="zh-CN" sz="2400" dirty="0">
                <a:latin typeface="黑体" panose="02010609060101010101" pitchFamily="49" charset="-122"/>
                <a:ea typeface="黑体" panose="02010609060101010101" pitchFamily="49" charset="-122"/>
              </a:rPr>
              <a:t>10</a:t>
            </a:r>
            <a:r>
              <a:rPr lang="zh-CN" altLang="zh-CN" sz="2400" dirty="0">
                <a:latin typeface="黑体" panose="02010609060101010101" pitchFamily="49" charset="-122"/>
                <a:ea typeface="黑体" panose="02010609060101010101" pitchFamily="49" charset="-122"/>
              </a:rPr>
              <a:t>万元，在借条中承诺</a:t>
            </a:r>
            <a:r>
              <a:rPr lang="en-US" altLang="zh-CN" sz="2400" dirty="0">
                <a:latin typeface="黑体" panose="02010609060101010101" pitchFamily="49" charset="-122"/>
                <a:ea typeface="黑体" panose="02010609060101010101" pitchFamily="49" charset="-122"/>
              </a:rPr>
              <a:t>3</a:t>
            </a:r>
            <a:r>
              <a:rPr lang="zh-CN" altLang="zh-CN" sz="2400" dirty="0">
                <a:latin typeface="黑体" panose="02010609060101010101" pitchFamily="49" charset="-122"/>
                <a:ea typeface="黑体" panose="02010609060101010101" pitchFamily="49" charset="-122"/>
              </a:rPr>
              <a:t>年后归还。借款到期后，老张见小张生意红火，便要求小张还款。小张以父母有义务帮助扶持自己为由拒绝还款，并表示如果一定要还款则以后不照料老张的生活。老张无奈之下向人民调解委员会申请调解。</a:t>
            </a:r>
          </a:p>
          <a:p>
            <a:pPr indent="266700" algn="just">
              <a:lnSpc>
                <a:spcPct val="150000"/>
              </a:lnSpc>
            </a:pPr>
            <a:r>
              <a:rPr lang="zh-CN" altLang="zh-CN" sz="2400" dirty="0">
                <a:latin typeface="黑体" panose="02010609060101010101" pitchFamily="49" charset="-122"/>
                <a:ea typeface="黑体" panose="02010609060101010101" pitchFamily="49" charset="-122"/>
              </a:rPr>
              <a:t>假如你是人民调解员，请运用《法律与生活》的相关知识，分析小张的做法和说法的不当之处，并给当事人提出两条解决纠纷的建议。</a:t>
            </a:r>
          </a:p>
        </p:txBody>
      </p:sp>
      <p:sp>
        <p:nvSpPr>
          <p:cNvPr id="3" name="文本框 2"/>
          <p:cNvSpPr txBox="1"/>
          <p:nvPr/>
        </p:nvSpPr>
        <p:spPr>
          <a:xfrm>
            <a:off x="0" y="0"/>
            <a:ext cx="2419814" cy="461665"/>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defPPr>
              <a:defRPr lang="zh-CN"/>
            </a:defPPr>
            <a:lvl1pPr>
              <a:defRPr sz="2400" b="1">
                <a:solidFill>
                  <a:srgbClr val="FFFF00"/>
                </a:solidFill>
                <a:latin typeface="黑体" panose="02010609060101010101" pitchFamily="49" charset="-122"/>
                <a:ea typeface="黑体" panose="02010609060101010101" pitchFamily="49" charset="-122"/>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altLang="zh-CN" dirty="0"/>
              <a:t>【</a:t>
            </a:r>
            <a:r>
              <a:rPr lang="zh-CN" altLang="en-US" dirty="0"/>
              <a:t>经典试题回顾</a:t>
            </a:r>
            <a:r>
              <a:rPr lang="en-US" altLang="zh-CN" dirty="0"/>
              <a:t>】</a:t>
            </a:r>
            <a:endParaRPr lang="zh-CN" alt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02674" y="885659"/>
            <a:ext cx="11186651" cy="4437753"/>
          </a:xfrm>
          <a:prstGeom prst="rect">
            <a:avLst/>
          </a:prstGeom>
          <a:noFill/>
        </p:spPr>
        <p:txBody>
          <a:bodyPr wrap="square">
            <a:spAutoFit/>
          </a:bodyPr>
          <a:lstStyle/>
          <a:p>
            <a:pPr marL="920115" indent="-653415" algn="just">
              <a:lnSpc>
                <a:spcPct val="150000"/>
              </a:lnSpc>
            </a:pPr>
            <a:r>
              <a:rPr lang="zh-CN" altLang="zh-CN" sz="2400" dirty="0">
                <a:latin typeface="黑体" panose="02010609060101010101" pitchFamily="49" charset="-122"/>
                <a:ea typeface="黑体" panose="02010609060101010101" pitchFamily="49" charset="-122"/>
              </a:rPr>
              <a:t>不当之处：</a:t>
            </a:r>
            <a:endParaRPr lang="en-US" altLang="zh-CN" sz="2400" dirty="0">
              <a:latin typeface="黑体" panose="02010609060101010101" pitchFamily="49" charset="-122"/>
              <a:ea typeface="黑体" panose="02010609060101010101" pitchFamily="49" charset="-122"/>
            </a:endParaRPr>
          </a:p>
          <a:p>
            <a:pPr marL="920115" indent="-653415" algn="just">
              <a:lnSpc>
                <a:spcPct val="150000"/>
              </a:lnSpc>
            </a:pPr>
            <a:r>
              <a:rPr lang="en-US" altLang="zh-CN" sz="2400" dirty="0">
                <a:latin typeface="黑体" panose="02010609060101010101" pitchFamily="49" charset="-122"/>
                <a:ea typeface="黑体" panose="02010609060101010101" pitchFamily="49" charset="-122"/>
              </a:rPr>
              <a:t>     </a:t>
            </a:r>
            <a:r>
              <a:rPr lang="zh-CN" altLang="zh-CN" sz="2400" dirty="0">
                <a:latin typeface="黑体" panose="02010609060101010101" pitchFamily="49" charset="-122"/>
                <a:ea typeface="黑体" panose="02010609060101010101" pitchFamily="49" charset="-122"/>
              </a:rPr>
              <a:t>当事人应当按照承诺履行合同义务，小张借款到期后拒绝还款的做法不当；父母没有帮助扶持成年子女的法定义务，小张关于父母有义务帮助扶持自己的说法不当；成年子女有赡养父母的法定义务，小张关于以后不照料老张生活的说法不当。</a:t>
            </a:r>
          </a:p>
          <a:p>
            <a:pPr marL="666750" indent="-400050" algn="just">
              <a:lnSpc>
                <a:spcPct val="150000"/>
              </a:lnSpc>
            </a:pPr>
            <a:r>
              <a:rPr lang="zh-CN" altLang="zh-CN" sz="2400" dirty="0">
                <a:latin typeface="黑体" panose="02010609060101010101" pitchFamily="49" charset="-122"/>
                <a:ea typeface="黑体" panose="02010609060101010101" pitchFamily="49" charset="-122"/>
              </a:rPr>
              <a:t>建议：</a:t>
            </a:r>
            <a:endParaRPr lang="en-US" altLang="zh-CN" sz="2400" dirty="0">
              <a:latin typeface="黑体" panose="02010609060101010101" pitchFamily="49" charset="-122"/>
              <a:ea typeface="黑体" panose="02010609060101010101" pitchFamily="49" charset="-122"/>
            </a:endParaRPr>
          </a:p>
          <a:p>
            <a:pPr marL="666750" indent="-400050" algn="just">
              <a:lnSpc>
                <a:spcPct val="150000"/>
              </a:lnSpc>
            </a:pPr>
            <a:r>
              <a:rPr lang="en-US" altLang="zh-CN" sz="2400" dirty="0">
                <a:latin typeface="黑体" panose="02010609060101010101" pitchFamily="49" charset="-122"/>
                <a:ea typeface="黑体" panose="02010609060101010101" pitchFamily="49" charset="-122"/>
              </a:rPr>
              <a:t>    </a:t>
            </a:r>
            <a:r>
              <a:rPr lang="zh-CN" altLang="zh-CN" sz="2400" dirty="0">
                <a:latin typeface="黑体" panose="02010609060101010101" pitchFamily="49" charset="-122"/>
                <a:ea typeface="黑体" panose="02010609060101010101" pitchFamily="49" charset="-122"/>
              </a:rPr>
              <a:t>双方应在明确权利义务的基础上友好协商，促进家庭和睦；坚守契约精神，按照承诺归还借款。</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371" y="846667"/>
            <a:ext cx="11482916" cy="51646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5" name="直接连接符 4"/>
          <p:cNvCxnSpPr/>
          <p:nvPr/>
        </p:nvCxnSpPr>
        <p:spPr>
          <a:xfrm>
            <a:off x="7632171" y="2368089"/>
            <a:ext cx="0" cy="57606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10656507" y="3717032"/>
            <a:ext cx="0" cy="57606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0" y="6148458"/>
            <a:ext cx="12192000" cy="481330"/>
          </a:xfrm>
          <a:prstGeom prst="rect">
            <a:avLst/>
          </a:prstGeom>
          <a:solidFill>
            <a:srgbClr val="FFC000"/>
          </a:solidFill>
        </p:spPr>
        <p:txBody>
          <a:bodyPr wrap="square">
            <a:spAutoFit/>
          </a:bodyPr>
          <a:lstStyle/>
          <a:p>
            <a:r>
              <a:rPr lang="zh-CN" altLang="zh-CN" sz="2535"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逻辑思路：起点</a:t>
            </a:r>
            <a:r>
              <a:rPr lang="en-US" altLang="zh-CN" sz="2535"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a:t>
            </a:r>
            <a:r>
              <a:rPr lang="zh-CN" altLang="zh-CN" sz="2535"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路径（发展格局）</a:t>
            </a:r>
            <a:r>
              <a:rPr lang="en-US" altLang="zh-CN" sz="2535"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a:t>
            </a:r>
            <a:r>
              <a:rPr lang="zh-CN" altLang="zh-CN" sz="2535"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效果（</a:t>
            </a:r>
            <a:r>
              <a:rPr lang="zh-CN" altLang="en-US" sz="2535"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产业结构、</a:t>
            </a:r>
            <a:r>
              <a:rPr lang="zh-CN" altLang="zh-CN" sz="2535"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发展理念、人民生活）</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22807" y="68627"/>
            <a:ext cx="11809312" cy="5303520"/>
          </a:xfrm>
          <a:prstGeom prst="rect">
            <a:avLst/>
          </a:prstGeom>
        </p:spPr>
        <p:txBody>
          <a:bodyPr wrap="square">
            <a:spAutoFit/>
          </a:bodyPr>
          <a:lstStyle/>
          <a:p>
            <a:pPr>
              <a:lnSpc>
                <a:spcPct val="110000"/>
              </a:lnSpc>
            </a:pPr>
            <a:r>
              <a:rPr lang="en-US" altLang="zh-CN" sz="2800" dirty="0">
                <a:latin typeface="黑体" panose="02010609060101010101" pitchFamily="49" charset="-122"/>
                <a:ea typeface="黑体" panose="02010609060101010101" pitchFamily="49" charset="-122"/>
              </a:rPr>
              <a:t>   1.</a:t>
            </a:r>
            <a:r>
              <a:rPr lang="zh-CN" altLang="zh-CN" sz="2800" b="1" dirty="0">
                <a:solidFill>
                  <a:srgbClr val="0070C0"/>
                </a:solidFill>
                <a:latin typeface="楷体" panose="02010609060101010101" pitchFamily="49" charset="-122"/>
                <a:ea typeface="楷体" panose="02010609060101010101" pitchFamily="49" charset="-122"/>
              </a:rPr>
              <a:t>推进重点行业设备更新改造和耐用消费品以旧换新</a:t>
            </a:r>
            <a:r>
              <a:rPr lang="zh-CN" altLang="zh-CN" sz="2800" dirty="0">
                <a:latin typeface="黑体" panose="02010609060101010101" pitchFamily="49" charset="-122"/>
                <a:ea typeface="黑体" panose="02010609060101010101" pitchFamily="49" charset="-122"/>
              </a:rPr>
              <a:t>，</a:t>
            </a:r>
            <a:r>
              <a:rPr lang="zh-CN" altLang="zh-CN" sz="2800" dirty="0">
                <a:solidFill>
                  <a:srgbClr val="FF0000"/>
                </a:solidFill>
                <a:latin typeface="黑体" panose="02010609060101010101" pitchFamily="49" charset="-122"/>
                <a:ea typeface="黑体" panose="02010609060101010101" pitchFamily="49" charset="-122"/>
              </a:rPr>
              <a:t>促进消费、拉动投资（</a:t>
            </a:r>
            <a:r>
              <a:rPr lang="zh-CN" altLang="zh-CN" sz="2800" b="1" dirty="0">
                <a:solidFill>
                  <a:srgbClr val="FF0000"/>
                </a:solidFill>
                <a:latin typeface="楷体" panose="02010609060101010101" pitchFamily="49" charset="-122"/>
                <a:ea typeface="楷体" panose="02010609060101010101" pitchFamily="49" charset="-122"/>
              </a:rPr>
              <a:t>扩内需与供给侧相结合</a:t>
            </a:r>
            <a:r>
              <a:rPr lang="zh-CN" altLang="en-US" sz="2800" b="1" dirty="0">
                <a:solidFill>
                  <a:srgbClr val="FF0000"/>
                </a:solidFill>
                <a:latin typeface="楷体" panose="02010609060101010101" pitchFamily="49" charset="-122"/>
                <a:ea typeface="楷体" panose="02010609060101010101" pitchFamily="49" charset="-122"/>
              </a:rPr>
              <a:t>、需求牵引供给</a:t>
            </a:r>
            <a:r>
              <a:rPr lang="zh-CN" altLang="zh-CN" sz="2800" dirty="0">
                <a:solidFill>
                  <a:srgbClr val="FF0000"/>
                </a:solidFill>
                <a:latin typeface="黑体" panose="02010609060101010101" pitchFamily="49" charset="-122"/>
                <a:ea typeface="黑体" panose="02010609060101010101" pitchFamily="49" charset="-122"/>
              </a:rPr>
              <a:t>），</a:t>
            </a:r>
            <a:r>
              <a:rPr lang="zh-CN" altLang="zh-CN" sz="2800" dirty="0">
                <a:solidFill>
                  <a:schemeClr val="tx1">
                    <a:lumMod val="95000"/>
                    <a:lumOff val="5000"/>
                  </a:schemeClr>
                </a:solidFill>
                <a:latin typeface="黑体" panose="02010609060101010101" pitchFamily="49" charset="-122"/>
                <a:ea typeface="黑体" panose="02010609060101010101" pitchFamily="49" charset="-122"/>
              </a:rPr>
              <a:t>推动产业结构升级，提高国民经济循环质量和水平</a:t>
            </a:r>
            <a:r>
              <a:rPr lang="zh-CN" altLang="en-US" sz="2800" dirty="0">
                <a:solidFill>
                  <a:schemeClr val="tx1">
                    <a:lumMod val="95000"/>
                    <a:lumOff val="5000"/>
                  </a:schemeClr>
                </a:solidFill>
                <a:latin typeface="黑体" panose="02010609060101010101" pitchFamily="49" charset="-122"/>
                <a:ea typeface="黑体" panose="02010609060101010101" pitchFamily="49" charset="-122"/>
              </a:rPr>
              <a:t>（新发展理念、人民生活）</a:t>
            </a:r>
            <a:r>
              <a:rPr lang="zh-CN" altLang="zh-CN"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   </a:t>
            </a:r>
          </a:p>
          <a:p>
            <a:pPr>
              <a:lnSpc>
                <a:spcPct val="110000"/>
              </a:lnSpc>
            </a:pPr>
            <a:r>
              <a:rPr lang="en-US" altLang="zh-CN" sz="2800" dirty="0">
                <a:latin typeface="黑体" panose="02010609060101010101" pitchFamily="49" charset="-122"/>
                <a:ea typeface="黑体" panose="02010609060101010101" pitchFamily="49" charset="-122"/>
              </a:rPr>
              <a:t>   2.</a:t>
            </a:r>
            <a:r>
              <a:rPr lang="zh-CN" altLang="zh-CN" sz="2800" b="1" dirty="0">
                <a:solidFill>
                  <a:srgbClr val="0070C0"/>
                </a:solidFill>
                <a:latin typeface="楷体" panose="02010609060101010101" pitchFamily="49" charset="-122"/>
                <a:ea typeface="楷体" panose="02010609060101010101" pitchFamily="49" charset="-122"/>
              </a:rPr>
              <a:t>降低物流成本</a:t>
            </a:r>
            <a:r>
              <a:rPr lang="zh-CN" altLang="zh-CN" sz="2800" dirty="0">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（提高商品流通效率）</a:t>
            </a:r>
            <a:r>
              <a:rPr lang="zh-CN" altLang="zh-CN" sz="2800" dirty="0">
                <a:solidFill>
                  <a:srgbClr val="FF0000"/>
                </a:solidFill>
                <a:latin typeface="黑体" panose="02010609060101010101" pitchFamily="49" charset="-122"/>
                <a:ea typeface="黑体" panose="02010609060101010101" pitchFamily="49" charset="-122"/>
              </a:rPr>
              <a:t>减轻市场主体负担，激发活力，</a:t>
            </a:r>
            <a:r>
              <a:rPr lang="zh-CN" altLang="zh-CN" sz="2800" dirty="0">
                <a:latin typeface="黑体" panose="02010609060101010101" pitchFamily="49" charset="-122"/>
                <a:ea typeface="黑体" panose="02010609060101010101" pitchFamily="49" charset="-122"/>
              </a:rPr>
              <a:t>促进产业链供应链畅通</a:t>
            </a:r>
            <a:r>
              <a:rPr lang="zh-CN" altLang="en-US" sz="2800" dirty="0">
                <a:latin typeface="黑体" panose="02010609060101010101" pitchFamily="49" charset="-122"/>
                <a:ea typeface="黑体" panose="02010609060101010101" pitchFamily="49" charset="-122"/>
              </a:rPr>
              <a:t>，</a:t>
            </a:r>
            <a:r>
              <a:rPr lang="zh-CN" altLang="zh-CN" sz="2800" dirty="0">
                <a:latin typeface="黑体" panose="02010609060101010101" pitchFamily="49" charset="-122"/>
                <a:ea typeface="黑体" panose="02010609060101010101" pitchFamily="49" charset="-122"/>
              </a:rPr>
              <a:t>增强国内大循环内生动力和可靠性。</a:t>
            </a:r>
            <a:r>
              <a:rPr lang="zh-CN" altLang="en-US" sz="2800" dirty="0">
                <a:latin typeface="黑体" panose="02010609060101010101" pitchFamily="49" charset="-122"/>
                <a:ea typeface="黑体" panose="02010609060101010101" pitchFamily="49" charset="-122"/>
              </a:rPr>
              <a:t>有利于建设</a:t>
            </a:r>
            <a:r>
              <a:rPr lang="zh-CN" altLang="zh-CN" sz="2800" dirty="0">
                <a:latin typeface="黑体" panose="02010609060101010101" pitchFamily="49" charset="-122"/>
                <a:ea typeface="黑体" panose="02010609060101010101" pitchFamily="49" charset="-122"/>
              </a:rPr>
              <a:t>全国统一大市场</a:t>
            </a:r>
            <a:r>
              <a:rPr lang="en-US" altLang="zh-CN" sz="2800" dirty="0">
                <a:latin typeface="黑体" panose="02010609060101010101" pitchFamily="49" charset="-122"/>
                <a:ea typeface="黑体" panose="02010609060101010101" pitchFamily="49" charset="-122"/>
              </a:rPr>
              <a:t>/</a:t>
            </a:r>
            <a:r>
              <a:rPr lang="zh-CN" altLang="zh-CN" sz="2800" dirty="0">
                <a:latin typeface="黑体" panose="02010609060101010101" pitchFamily="49" charset="-122"/>
                <a:ea typeface="黑体" panose="02010609060101010101" pitchFamily="49" charset="-122"/>
              </a:rPr>
              <a:t>高</a:t>
            </a:r>
            <a:r>
              <a:rPr lang="zh-CN" altLang="en-US" sz="2800" dirty="0">
                <a:latin typeface="黑体" panose="02010609060101010101" pitchFamily="49" charset="-122"/>
                <a:ea typeface="黑体" panose="02010609060101010101" pitchFamily="49" charset="-122"/>
              </a:rPr>
              <a:t>标准</a:t>
            </a:r>
            <a:r>
              <a:rPr lang="zh-CN" altLang="zh-CN" sz="2800" dirty="0">
                <a:latin typeface="黑体" panose="02010609060101010101" pitchFamily="49" charset="-122"/>
                <a:ea typeface="黑体" panose="02010609060101010101" pitchFamily="49" charset="-122"/>
              </a:rPr>
              <a:t>市场体系</a:t>
            </a:r>
            <a:r>
              <a:rPr lang="zh-CN" altLang="en-US" sz="2800" dirty="0">
                <a:latin typeface="黑体" panose="02010609060101010101" pitchFamily="49" charset="-122"/>
                <a:ea typeface="黑体" panose="02010609060101010101" pitchFamily="49" charset="-122"/>
              </a:rPr>
              <a:t>。</a:t>
            </a:r>
            <a:endParaRPr lang="en-US" altLang="zh-CN" sz="2800" dirty="0">
              <a:latin typeface="黑体" panose="02010609060101010101" pitchFamily="49" charset="-122"/>
              <a:ea typeface="黑体" panose="02010609060101010101" pitchFamily="49" charset="-122"/>
            </a:endParaRPr>
          </a:p>
          <a:p>
            <a:pPr>
              <a:lnSpc>
                <a:spcPct val="110000"/>
              </a:lnSpc>
            </a:pPr>
            <a:r>
              <a:rPr lang="en-US" altLang="zh-CN" sz="2800" dirty="0">
                <a:latin typeface="黑体" panose="02010609060101010101" pitchFamily="49" charset="-122"/>
                <a:ea typeface="黑体" panose="02010609060101010101" pitchFamily="49" charset="-122"/>
              </a:rPr>
              <a:t>   3.</a:t>
            </a:r>
            <a:r>
              <a:rPr lang="zh-CN" altLang="zh-CN" sz="2800" b="1" dirty="0">
                <a:solidFill>
                  <a:srgbClr val="0070C0"/>
                </a:solidFill>
                <a:latin typeface="楷体" panose="02010609060101010101" pitchFamily="49" charset="-122"/>
                <a:ea typeface="楷体" panose="02010609060101010101" pitchFamily="49" charset="-122"/>
              </a:rPr>
              <a:t>对标国际规则</a:t>
            </a:r>
            <a:r>
              <a:rPr lang="zh-CN" altLang="zh-CN" sz="2800" dirty="0">
                <a:latin typeface="黑体" panose="02010609060101010101" pitchFamily="49" charset="-122"/>
                <a:ea typeface="黑体" panose="02010609060101010101" pitchFamily="49" charset="-122"/>
              </a:rPr>
              <a:t>，</a:t>
            </a:r>
            <a:r>
              <a:rPr lang="zh-CN" altLang="zh-CN" sz="2800" dirty="0">
                <a:solidFill>
                  <a:srgbClr val="FF0000"/>
                </a:solidFill>
                <a:latin typeface="黑体" panose="02010609060101010101" pitchFamily="49" charset="-122"/>
                <a:ea typeface="黑体" panose="02010609060101010101" pitchFamily="49" charset="-122"/>
              </a:rPr>
              <a:t>推进制度型开放</a:t>
            </a:r>
            <a:r>
              <a:rPr lang="zh-CN" altLang="zh-CN" sz="2800" dirty="0">
                <a:latin typeface="黑体" panose="02010609060101010101" pitchFamily="49" charset="-122"/>
                <a:ea typeface="黑体" panose="02010609060101010101" pitchFamily="49" charset="-122"/>
              </a:rPr>
              <a:t>，深入融入经济全球化，推进高水平对外开放；</a:t>
            </a:r>
            <a:endParaRPr lang="en-US" altLang="zh-CN" sz="2800" dirty="0">
              <a:latin typeface="黑体" panose="02010609060101010101" pitchFamily="49" charset="-122"/>
              <a:ea typeface="黑体" panose="02010609060101010101" pitchFamily="49" charset="-122"/>
            </a:endParaRPr>
          </a:p>
          <a:p>
            <a:pPr>
              <a:lnSpc>
                <a:spcPct val="110000"/>
              </a:lnSpc>
            </a:pPr>
            <a:r>
              <a:rPr lang="en-US" altLang="zh-CN" sz="2800" dirty="0">
                <a:latin typeface="黑体" panose="02010609060101010101" pitchFamily="49" charset="-122"/>
                <a:ea typeface="黑体" panose="02010609060101010101" pitchFamily="49" charset="-122"/>
              </a:rPr>
              <a:t>   4.</a:t>
            </a:r>
            <a:r>
              <a:rPr lang="zh-CN" altLang="zh-CN" sz="2800" b="1" dirty="0">
                <a:solidFill>
                  <a:srgbClr val="0070C0"/>
                </a:solidFill>
                <a:latin typeface="楷体" panose="02010609060101010101" pitchFamily="49" charset="-122"/>
                <a:ea typeface="楷体" panose="02010609060101010101" pitchFamily="49" charset="-122"/>
              </a:rPr>
              <a:t>逐步放宽市场准入</a:t>
            </a:r>
            <a:r>
              <a:rPr lang="zh-CN" altLang="zh-CN" sz="2800" dirty="0">
                <a:latin typeface="黑体" panose="02010609060101010101" pitchFamily="49" charset="-122"/>
                <a:ea typeface="黑体" panose="02010609060101010101" pitchFamily="49" charset="-122"/>
              </a:rPr>
              <a:t>，</a:t>
            </a:r>
            <a:r>
              <a:rPr lang="zh-CN" altLang="zh-CN" sz="2800" dirty="0">
                <a:solidFill>
                  <a:srgbClr val="FF0000"/>
                </a:solidFill>
                <a:latin typeface="黑体" panose="02010609060101010101" pitchFamily="49" charset="-122"/>
                <a:ea typeface="黑体" panose="02010609060101010101" pitchFamily="49" charset="-122"/>
              </a:rPr>
              <a:t>依托我国超大市场优势，以国内大循环吸引全球资源要素</a:t>
            </a:r>
            <a:r>
              <a:rPr lang="zh-CN" altLang="en-US" sz="2800" dirty="0">
                <a:solidFill>
                  <a:srgbClr val="FF0000"/>
                </a:solidFill>
                <a:latin typeface="黑体" panose="02010609060101010101" pitchFamily="49" charset="-122"/>
                <a:ea typeface="黑体" panose="02010609060101010101" pitchFamily="49" charset="-122"/>
              </a:rPr>
              <a:t>（</a:t>
            </a:r>
            <a:r>
              <a:rPr lang="zh-CN" altLang="zh-CN" sz="2800" b="1" dirty="0">
                <a:solidFill>
                  <a:srgbClr val="FF0000"/>
                </a:solidFill>
                <a:latin typeface="楷体" panose="02010609060101010101" pitchFamily="49" charset="-122"/>
                <a:ea typeface="楷体" panose="02010609060101010101" pitchFamily="49" charset="-122"/>
              </a:rPr>
              <a:t>优化营商环境</a:t>
            </a:r>
            <a:r>
              <a:rPr lang="zh-CN" altLang="en-US" sz="2800" b="1" dirty="0">
                <a:solidFill>
                  <a:srgbClr val="FF0000"/>
                </a:solidFill>
                <a:latin typeface="楷体" panose="02010609060101010101" pitchFamily="49" charset="-122"/>
                <a:ea typeface="楷体" panose="02010609060101010101" pitchFamily="49" charset="-122"/>
              </a:rPr>
              <a:t>，吸引外资</a:t>
            </a:r>
            <a:r>
              <a:rPr lang="zh-CN" altLang="en-US" sz="2800" dirty="0">
                <a:solidFill>
                  <a:srgbClr val="FF0000"/>
                </a:solidFill>
                <a:latin typeface="黑体" panose="02010609060101010101" pitchFamily="49" charset="-122"/>
                <a:ea typeface="黑体" panose="02010609060101010101" pitchFamily="49" charset="-122"/>
              </a:rPr>
              <a:t>）</a:t>
            </a:r>
            <a:r>
              <a:rPr lang="zh-CN" altLang="zh-CN" sz="2800" dirty="0">
                <a:solidFill>
                  <a:srgbClr val="FF0000"/>
                </a:solidFill>
                <a:latin typeface="黑体" panose="02010609060101010101" pitchFamily="49" charset="-122"/>
                <a:ea typeface="黑体" panose="02010609060101010101" pitchFamily="49" charset="-122"/>
              </a:rPr>
              <a:t>，增强国内国际两个市场两种资源联动效应</a:t>
            </a:r>
            <a:r>
              <a:rPr lang="zh-CN" altLang="en-US" sz="2800" dirty="0">
                <a:solidFill>
                  <a:srgbClr val="FF0000"/>
                </a:solidFill>
                <a:latin typeface="黑体" panose="02010609060101010101" pitchFamily="49" charset="-122"/>
                <a:ea typeface="黑体" panose="02010609060101010101" pitchFamily="49" charset="-122"/>
              </a:rPr>
              <a:t>（</a:t>
            </a:r>
            <a:r>
              <a:rPr lang="zh-CN" altLang="en-US" sz="2800" b="1" dirty="0">
                <a:solidFill>
                  <a:srgbClr val="FF0000"/>
                </a:solidFill>
                <a:latin typeface="楷体" panose="02010609060101010101" pitchFamily="49" charset="-122"/>
                <a:ea typeface="楷体" panose="02010609060101010101" pitchFamily="49" charset="-122"/>
              </a:rPr>
              <a:t>资优配</a:t>
            </a:r>
            <a:r>
              <a:rPr lang="zh-CN" altLang="en-US" sz="2800" dirty="0">
                <a:solidFill>
                  <a:srgbClr val="FF0000"/>
                </a:solidFill>
                <a:latin typeface="黑体" panose="02010609060101010101" pitchFamily="49" charset="-122"/>
                <a:ea typeface="黑体" panose="02010609060101010101" pitchFamily="49" charset="-122"/>
              </a:rPr>
              <a:t>）</a:t>
            </a:r>
            <a:r>
              <a:rPr lang="zh-CN" altLang="zh-CN" sz="2800" dirty="0">
                <a:solidFill>
                  <a:srgbClr val="FF0000"/>
                </a:solidFill>
                <a:latin typeface="黑体" panose="02010609060101010101" pitchFamily="49" charset="-122"/>
                <a:ea typeface="黑体" panose="02010609060101010101" pitchFamily="49" charset="-122"/>
              </a:rPr>
              <a:t>，</a:t>
            </a:r>
            <a:r>
              <a:rPr lang="zh-CN" altLang="zh-CN" sz="2800" dirty="0">
                <a:latin typeface="黑体" panose="02010609060101010101" pitchFamily="49" charset="-122"/>
                <a:ea typeface="黑体" panose="02010609060101010101" pitchFamily="49" charset="-122"/>
              </a:rPr>
              <a:t>提升贸易投资合作质量和水平，推动高质量发展。</a:t>
            </a:r>
            <a:endParaRPr lang="zh-CN" altLang="en-US" sz="2800" dirty="0">
              <a:latin typeface="黑体" panose="02010609060101010101" pitchFamily="49" charset="-122"/>
              <a:ea typeface="黑体" panose="02010609060101010101" pitchFamily="49" charset="-122"/>
            </a:endParaRPr>
          </a:p>
        </p:txBody>
      </p:sp>
      <p:sp>
        <p:nvSpPr>
          <p:cNvPr id="4" name="TextBox 3"/>
          <p:cNvSpPr txBox="1"/>
          <p:nvPr/>
        </p:nvSpPr>
        <p:spPr>
          <a:xfrm>
            <a:off x="325093" y="5541235"/>
            <a:ext cx="11404737" cy="911860"/>
          </a:xfrm>
          <a:prstGeom prst="rect">
            <a:avLst/>
          </a:prstGeom>
          <a:solidFill>
            <a:schemeClr val="accent5">
              <a:lumMod val="40000"/>
              <a:lumOff val="60000"/>
            </a:schemeClr>
          </a:solidFill>
        </p:spPr>
        <p:txBody>
          <a:bodyPr wrap="square" rtlCol="0">
            <a:spAutoFit/>
          </a:bodyPr>
          <a:lstStyle/>
          <a:p>
            <a:pPr marL="285750" indent="-285750">
              <a:buFont typeface="Arial" panose="020B0604020202020204" pitchFamily="34" charset="0"/>
              <a:buChar char="•"/>
            </a:pPr>
            <a:r>
              <a:rPr lang="en-US" altLang="zh-CN" sz="2665" dirty="0">
                <a:latin typeface="黑体" panose="02010609060101010101" pitchFamily="49" charset="-122"/>
                <a:ea typeface="黑体" panose="02010609060101010101" pitchFamily="49" charset="-122"/>
              </a:rPr>
              <a:t>4</a:t>
            </a:r>
            <a:r>
              <a:rPr lang="zh-CN" altLang="en-US" sz="2665" dirty="0">
                <a:latin typeface="黑体" panose="02010609060101010101" pitchFamily="49" charset="-122"/>
                <a:ea typeface="黑体" panose="02010609060101010101" pitchFamily="49" charset="-122"/>
              </a:rPr>
              <a:t>点选</a:t>
            </a:r>
            <a:r>
              <a:rPr lang="en-US" altLang="zh-CN" sz="2665" dirty="0">
                <a:latin typeface="黑体" panose="02010609060101010101" pitchFamily="49" charset="-122"/>
                <a:ea typeface="黑体" panose="02010609060101010101" pitchFamily="49" charset="-122"/>
              </a:rPr>
              <a:t>3</a:t>
            </a:r>
            <a:r>
              <a:rPr lang="zh-CN" altLang="en-US" sz="2665" dirty="0">
                <a:latin typeface="黑体" panose="02010609060101010101" pitchFamily="49" charset="-122"/>
                <a:ea typeface="黑体" panose="02010609060101010101" pitchFamily="49" charset="-122"/>
              </a:rPr>
              <a:t>点，</a:t>
            </a:r>
            <a:r>
              <a:rPr lang="en-US" altLang="zh-CN" sz="2665" dirty="0">
                <a:latin typeface="黑体" panose="02010609060101010101" pitchFamily="49" charset="-122"/>
                <a:ea typeface="黑体" panose="02010609060101010101" pitchFamily="49" charset="-122"/>
              </a:rPr>
              <a:t>3+3+2=8   </a:t>
            </a:r>
            <a:r>
              <a:rPr lang="zh-CN" altLang="en-US" sz="2665" dirty="0">
                <a:latin typeface="黑体" panose="02010609060101010101" pitchFamily="49" charset="-122"/>
                <a:ea typeface="黑体" panose="02010609060101010101" pitchFamily="49" charset="-122"/>
              </a:rPr>
              <a:t>起点措施</a:t>
            </a:r>
            <a:r>
              <a:rPr lang="en-US" altLang="zh-CN" sz="2665" dirty="0">
                <a:latin typeface="黑体" panose="02010609060101010101" pitchFamily="49" charset="-122"/>
                <a:ea typeface="黑体" panose="02010609060101010101" pitchFamily="49" charset="-122"/>
              </a:rPr>
              <a:t>+</a:t>
            </a:r>
            <a:r>
              <a:rPr lang="zh-CN" altLang="en-US" sz="2665" dirty="0">
                <a:latin typeface="黑体" panose="02010609060101010101" pitchFamily="49" charset="-122"/>
                <a:ea typeface="黑体" panose="02010609060101010101" pitchFamily="49" charset="-122"/>
              </a:rPr>
              <a:t>路径</a:t>
            </a:r>
            <a:r>
              <a:rPr lang="en-US" altLang="zh-CN" sz="2665" dirty="0">
                <a:latin typeface="黑体" panose="02010609060101010101" pitchFamily="49" charset="-122"/>
                <a:ea typeface="黑体" panose="02010609060101010101" pitchFamily="49" charset="-122"/>
              </a:rPr>
              <a:t>+</a:t>
            </a:r>
            <a:r>
              <a:rPr lang="zh-CN" altLang="en-US" sz="2665" dirty="0">
                <a:latin typeface="黑体" panose="02010609060101010101" pitchFamily="49" charset="-122"/>
                <a:ea typeface="黑体" panose="02010609060101010101" pitchFamily="49" charset="-122"/>
              </a:rPr>
              <a:t>效果终点</a:t>
            </a:r>
            <a:r>
              <a:rPr lang="en-US" altLang="zh-CN" sz="2665" dirty="0">
                <a:latin typeface="黑体" panose="02010609060101010101" pitchFamily="49" charset="-122"/>
                <a:ea typeface="黑体" panose="02010609060101010101" pitchFamily="49" charset="-122"/>
              </a:rPr>
              <a:t>——</a:t>
            </a:r>
            <a:r>
              <a:rPr lang="zh-CN" altLang="en-US" sz="2665" dirty="0">
                <a:latin typeface="黑体" panose="02010609060101010101" pitchFamily="49" charset="-122"/>
                <a:ea typeface="黑体" panose="02010609060101010101" pitchFamily="49" charset="-122"/>
              </a:rPr>
              <a:t>各</a:t>
            </a:r>
            <a:r>
              <a:rPr lang="en-US" altLang="zh-CN" sz="2665" dirty="0">
                <a:latin typeface="黑体" panose="02010609060101010101" pitchFamily="49" charset="-122"/>
                <a:ea typeface="黑体" panose="02010609060101010101" pitchFamily="49" charset="-122"/>
              </a:rPr>
              <a:t>1</a:t>
            </a:r>
            <a:r>
              <a:rPr lang="zh-CN" altLang="en-US" sz="2665" dirty="0">
                <a:latin typeface="黑体" panose="02010609060101010101" pitchFamily="49" charset="-122"/>
                <a:ea typeface="黑体" panose="02010609060101010101" pitchFamily="49" charset="-122"/>
              </a:rPr>
              <a:t>分</a:t>
            </a:r>
            <a:endParaRPr lang="en-US" altLang="zh-CN" sz="2665" dirty="0">
              <a:latin typeface="黑体" panose="02010609060101010101" pitchFamily="49" charset="-122"/>
              <a:ea typeface="黑体" panose="02010609060101010101" pitchFamily="49" charset="-122"/>
            </a:endParaRPr>
          </a:p>
          <a:p>
            <a:pPr marL="285750" indent="-285750">
              <a:buFont typeface="Arial" panose="020B0604020202020204" pitchFamily="34" charset="0"/>
              <a:buChar char="•"/>
            </a:pPr>
            <a:r>
              <a:rPr lang="zh-CN" altLang="en-US" sz="2665" dirty="0">
                <a:latin typeface="黑体" panose="02010609060101010101" pitchFamily="49" charset="-122"/>
                <a:ea typeface="黑体" panose="02010609060101010101" pitchFamily="49" charset="-122"/>
              </a:rPr>
              <a:t>如路径和效果均表述不准确，则起点措施不给分。</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rcRect l="3846" t="5470" r="9230" b="12935"/>
          <a:stretch>
            <a:fillRect/>
          </a:stretch>
        </p:blipFill>
        <p:spPr>
          <a:xfrm>
            <a:off x="442595" y="444500"/>
            <a:ext cx="10506075" cy="5546725"/>
          </a:xfrm>
          <a:prstGeom prst="rect">
            <a:avLst/>
          </a:prstGeom>
          <a:ln>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0"/>
            <a:ext cx="2419814" cy="461665"/>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defPPr>
              <a:defRPr lang="zh-CN"/>
            </a:defPPr>
            <a:lvl1pPr>
              <a:defRPr sz="2400" b="1">
                <a:solidFill>
                  <a:srgbClr val="FFFF00"/>
                </a:solidFill>
                <a:latin typeface="黑体" panose="02010609060101010101" pitchFamily="49" charset="-122"/>
                <a:ea typeface="黑体" panose="02010609060101010101" pitchFamily="49" charset="-122"/>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altLang="zh-CN" dirty="0"/>
              <a:t>【</a:t>
            </a:r>
            <a:r>
              <a:rPr lang="zh-CN" altLang="en-US" dirty="0"/>
              <a:t>经典试题回顾</a:t>
            </a:r>
            <a:r>
              <a:rPr lang="en-US" altLang="zh-CN" dirty="0"/>
              <a:t>】</a:t>
            </a:r>
            <a:endParaRPr lang="zh-CN" altLang="en-US" dirty="0"/>
          </a:p>
        </p:txBody>
      </p:sp>
      <p:sp>
        <p:nvSpPr>
          <p:cNvPr id="2" name="TextBox 4"/>
          <p:cNvSpPr txBox="1"/>
          <p:nvPr/>
        </p:nvSpPr>
        <p:spPr>
          <a:xfrm>
            <a:off x="461962" y="1006274"/>
            <a:ext cx="11268075" cy="3329758"/>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just" eaLnBrk="1" hangingPunct="1">
              <a:lnSpc>
                <a:spcPct val="150000"/>
              </a:lnSpc>
              <a:spcBef>
                <a:spcPct val="0"/>
              </a:spcBef>
              <a:buNone/>
            </a:pPr>
            <a:r>
              <a:rPr lang="zh-CN" altLang="zh-CN" sz="1500" b="1" dirty="0">
                <a:latin typeface="楷体" panose="02010609060101010101" pitchFamily="49" charset="-122"/>
                <a:ea typeface="楷体" panose="02010609060101010101" pitchFamily="49" charset="-122"/>
              </a:rPr>
              <a:t>（</a:t>
            </a:r>
            <a:r>
              <a:rPr lang="en-US" altLang="zh-CN" sz="1500" b="1" dirty="0">
                <a:latin typeface="楷体" panose="02010609060101010101" pitchFamily="49" charset="-122"/>
                <a:ea typeface="楷体" panose="02010609060101010101" pitchFamily="49" charset="-122"/>
              </a:rPr>
              <a:t>2014</a:t>
            </a:r>
            <a:r>
              <a:rPr lang="zh-CN" altLang="zh-CN" sz="1500" b="1" dirty="0">
                <a:latin typeface="楷体" panose="02010609060101010101" pitchFamily="49" charset="-122"/>
                <a:ea typeface="楷体" panose="02010609060101010101" pitchFamily="49" charset="-122"/>
              </a:rPr>
              <a:t>年新课标全国卷Ⅰ•</a:t>
            </a:r>
            <a:r>
              <a:rPr lang="en-US" altLang="zh-CN" sz="1500" b="1" dirty="0">
                <a:latin typeface="楷体" panose="02010609060101010101" pitchFamily="49" charset="-122"/>
                <a:ea typeface="楷体" panose="02010609060101010101" pitchFamily="49" charset="-122"/>
              </a:rPr>
              <a:t>38</a:t>
            </a:r>
            <a:r>
              <a:rPr lang="zh-CN" altLang="zh-CN" sz="1500" b="1" dirty="0">
                <a:latin typeface="楷体" panose="02010609060101010101" pitchFamily="49" charset="-122"/>
                <a:ea typeface="楷体" panose="02010609060101010101" pitchFamily="49" charset="-122"/>
              </a:rPr>
              <a:t>）</a:t>
            </a:r>
            <a:r>
              <a:rPr lang="en-US" altLang="zh-CN" sz="2400" dirty="0">
                <a:latin typeface="黑体" panose="02010609060101010101" pitchFamily="49" charset="-122"/>
                <a:ea typeface="黑体" panose="02010609060101010101" pitchFamily="49" charset="-122"/>
              </a:rPr>
              <a:t>2014</a:t>
            </a:r>
            <a:r>
              <a:rPr lang="zh-CN" altLang="zh-CN" sz="2400" dirty="0">
                <a:latin typeface="黑体" panose="02010609060101010101" pitchFamily="49" charset="-122"/>
                <a:ea typeface="黑体" panose="02010609060101010101" pitchFamily="49" charset="-122"/>
              </a:rPr>
              <a:t>年</a:t>
            </a:r>
            <a:r>
              <a:rPr lang="en-US" altLang="zh-CN" sz="2400" dirty="0">
                <a:latin typeface="黑体" panose="02010609060101010101" pitchFamily="49" charset="-122"/>
                <a:ea typeface="黑体" panose="02010609060101010101" pitchFamily="49" charset="-122"/>
              </a:rPr>
              <a:t>2</a:t>
            </a:r>
            <a:r>
              <a:rPr lang="zh-CN" altLang="zh-CN" sz="2400" dirty="0">
                <a:latin typeface="黑体" panose="02010609060101010101" pitchFamily="49" charset="-122"/>
                <a:ea typeface="黑体" panose="02010609060101010101" pitchFamily="49" charset="-122"/>
              </a:rPr>
              <a:t>月，国务院批准了《注册资本登记制度改革方案》，该方案明确了放宽市场准入规则的总体思路，并提出了一系列措施：放松市场主体准入管制，降低准入门槛；实行注册资本认证登记制；改革年检制度和简化住所（经营场所）登记手续等。</a:t>
            </a:r>
            <a:endParaRPr lang="en-US" altLang="zh-CN" sz="2400" dirty="0">
              <a:latin typeface="黑体" panose="02010609060101010101" pitchFamily="49" charset="-122"/>
              <a:ea typeface="黑体" panose="02010609060101010101" pitchFamily="49" charset="-122"/>
            </a:endParaRPr>
          </a:p>
          <a:p>
            <a:pPr marL="0" lvl="0" indent="0" algn="just" eaLnBrk="1" hangingPunct="1">
              <a:lnSpc>
                <a:spcPct val="150000"/>
              </a:lnSpc>
              <a:spcBef>
                <a:spcPct val="0"/>
              </a:spcBef>
              <a:buNone/>
            </a:pPr>
            <a:r>
              <a:rPr lang="en-US" altLang="zh-CN" sz="2400" dirty="0">
                <a:latin typeface="黑体" panose="02010609060101010101" pitchFamily="49" charset="-122"/>
                <a:ea typeface="黑体" panose="02010609060101010101" pitchFamily="49" charset="-122"/>
              </a:rPr>
              <a:t>    </a:t>
            </a:r>
            <a:r>
              <a:rPr lang="zh-CN" altLang="zh-CN" sz="2400" dirty="0">
                <a:latin typeface="黑体" panose="02010609060101010101" pitchFamily="49" charset="-122"/>
                <a:ea typeface="黑体" panose="02010609060101010101" pitchFamily="49" charset="-122"/>
              </a:rPr>
              <a:t>政府放宽市场准入规则会增加市场活力，最终使消费者受益。结合材料和所学经济知识，分析放宽市场准入规则是如何通过市场机制的作用使消费者受益的。</a:t>
            </a:r>
            <a:endParaRPr lang="zh-CN" altLang="en-US" sz="2400" dirty="0">
              <a:latin typeface="黑体" panose="02010609060101010101" pitchFamily="49" charset="-122"/>
              <a:ea typeface="黑体" panose="02010609060101010101" pitchFamily="49"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3"/>
          <p:cNvSpPr/>
          <p:nvPr/>
        </p:nvSpPr>
        <p:spPr>
          <a:xfrm>
            <a:off x="492125" y="973138"/>
            <a:ext cx="11493500" cy="396938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50000"/>
              </a:lnSpc>
              <a:spcBef>
                <a:spcPct val="0"/>
              </a:spcBef>
              <a:buNone/>
            </a:pPr>
            <a:r>
              <a:rPr lang="zh-CN" altLang="zh-CN" dirty="0">
                <a:latin typeface="微软雅黑" panose="020B0503020204020204" charset="-122"/>
                <a:ea typeface="微软雅黑" panose="020B0503020204020204" charset="-122"/>
              </a:rPr>
              <a:t>①放宽市场准入规则可以降低企业进入市场的成本</a:t>
            </a:r>
            <a:r>
              <a:rPr lang="zh-CN" altLang="zh-CN" dirty="0">
                <a:latin typeface="宋体" panose="02010600030101010101" pitchFamily="2" charset="-122"/>
                <a:ea typeface="宋体" panose="02010600030101010101" pitchFamily="2" charset="-122"/>
              </a:rPr>
              <a:t>，</a:t>
            </a:r>
            <a:r>
              <a:rPr lang="zh-CN" altLang="zh-CN" dirty="0">
                <a:latin typeface="微软雅黑" panose="020B0503020204020204" charset="-122"/>
                <a:ea typeface="微软雅黑" panose="020B0503020204020204" charset="-122"/>
              </a:rPr>
              <a:t>提高企业进入市场的积极性和速度，使市场上企业的数量增加</a:t>
            </a:r>
            <a:r>
              <a:rPr lang="zh-CN" altLang="zh-CN" dirty="0">
                <a:latin typeface="宋体" panose="02010600030101010101" pitchFamily="2" charset="-122"/>
                <a:ea typeface="宋体" panose="02010600030101010101" pitchFamily="2" charset="-122"/>
              </a:rPr>
              <a:t>，</a:t>
            </a:r>
            <a:r>
              <a:rPr lang="zh-CN" altLang="zh-CN" dirty="0">
                <a:latin typeface="微软雅黑" panose="020B0503020204020204" charset="-122"/>
                <a:ea typeface="微软雅黑" panose="020B0503020204020204" charset="-122"/>
              </a:rPr>
              <a:t>从而导致供给增加和竞争加大</a:t>
            </a:r>
            <a:r>
              <a:rPr lang="zh-CN" altLang="zh-CN" dirty="0">
                <a:latin typeface="宋体" panose="02010600030101010101" pitchFamily="2" charset="-122"/>
                <a:ea typeface="宋体" panose="02010600030101010101" pitchFamily="2" charset="-122"/>
              </a:rPr>
              <a:t>；</a:t>
            </a:r>
            <a:endParaRPr lang="zh-CN" altLang="zh-CN" dirty="0">
              <a:latin typeface="微软雅黑" panose="020B0503020204020204" charset="-122"/>
              <a:ea typeface="微软雅黑" panose="020B0503020204020204" charset="-122"/>
            </a:endParaRPr>
          </a:p>
          <a:p>
            <a:pPr marL="0" lvl="0" indent="0" eaLnBrk="1" hangingPunct="1">
              <a:lnSpc>
                <a:spcPct val="150000"/>
              </a:lnSpc>
              <a:spcBef>
                <a:spcPct val="0"/>
              </a:spcBef>
              <a:buNone/>
            </a:pPr>
            <a:r>
              <a:rPr lang="zh-CN" altLang="zh-CN" dirty="0">
                <a:latin typeface="微软雅黑" panose="020B0503020204020204" charset="-122"/>
                <a:ea typeface="微软雅黑" panose="020B0503020204020204" charset="-122"/>
              </a:rPr>
              <a:t>②供给增加意味着商品各类的丰富和数量的增加</a:t>
            </a:r>
            <a:r>
              <a:rPr lang="zh-CN" altLang="zh-CN" dirty="0">
                <a:latin typeface="宋体" panose="02010600030101010101" pitchFamily="2" charset="-122"/>
                <a:ea typeface="宋体" panose="02010600030101010101" pitchFamily="2" charset="-122"/>
              </a:rPr>
              <a:t>，</a:t>
            </a:r>
            <a:r>
              <a:rPr lang="zh-CN" altLang="zh-CN" dirty="0">
                <a:latin typeface="微软雅黑" panose="020B0503020204020204" charset="-122"/>
                <a:ea typeface="微软雅黑" panose="020B0503020204020204" charset="-122"/>
              </a:rPr>
              <a:t>有利于满足消费者的多样化需求</a:t>
            </a:r>
            <a:r>
              <a:rPr lang="zh-CN" altLang="zh-CN" dirty="0">
                <a:latin typeface="宋体" panose="02010600030101010101" pitchFamily="2" charset="-122"/>
                <a:ea typeface="宋体" panose="02010600030101010101" pitchFamily="2" charset="-122"/>
              </a:rPr>
              <a:t>；</a:t>
            </a:r>
            <a:endParaRPr lang="zh-CN" altLang="zh-CN" dirty="0">
              <a:latin typeface="微软雅黑" panose="020B0503020204020204" charset="-122"/>
              <a:ea typeface="微软雅黑" panose="020B0503020204020204" charset="-122"/>
            </a:endParaRPr>
          </a:p>
          <a:p>
            <a:pPr marL="0" lvl="0" indent="0" eaLnBrk="1" hangingPunct="1">
              <a:lnSpc>
                <a:spcPct val="150000"/>
              </a:lnSpc>
              <a:spcBef>
                <a:spcPct val="0"/>
              </a:spcBef>
              <a:buNone/>
            </a:pPr>
            <a:r>
              <a:rPr lang="zh-CN" altLang="zh-CN" dirty="0">
                <a:latin typeface="微软雅黑" panose="020B0503020204020204" charset="-122"/>
                <a:ea typeface="微软雅黑" panose="020B0503020204020204" charset="-122"/>
              </a:rPr>
              <a:t>③竞争加大有利于提高商品质量</a:t>
            </a:r>
            <a:r>
              <a:rPr lang="zh-CN" altLang="zh-CN" dirty="0">
                <a:latin typeface="宋体" panose="02010600030101010101" pitchFamily="2" charset="-122"/>
                <a:ea typeface="宋体" panose="02010600030101010101" pitchFamily="2" charset="-122"/>
              </a:rPr>
              <a:t>，</a:t>
            </a:r>
            <a:r>
              <a:rPr lang="zh-CN" altLang="zh-CN" dirty="0">
                <a:latin typeface="微软雅黑" panose="020B0503020204020204" charset="-122"/>
                <a:ea typeface="微软雅黑" panose="020B0503020204020204" charset="-122"/>
              </a:rPr>
              <a:t>降低商品价格</a:t>
            </a:r>
            <a:r>
              <a:rPr lang="zh-CN" altLang="zh-CN" dirty="0">
                <a:latin typeface="宋体" panose="02010600030101010101" pitchFamily="2" charset="-122"/>
                <a:ea typeface="宋体" panose="02010600030101010101" pitchFamily="2" charset="-122"/>
              </a:rPr>
              <a:t>，</a:t>
            </a:r>
            <a:r>
              <a:rPr lang="zh-CN" altLang="zh-CN" dirty="0">
                <a:latin typeface="微软雅黑" panose="020B0503020204020204" charset="-122"/>
                <a:ea typeface="微软雅黑" panose="020B0503020204020204" charset="-122"/>
              </a:rPr>
              <a:t>最终使消费者受益</a:t>
            </a:r>
            <a:r>
              <a:rPr lang="zh-CN" altLang="zh-CN" dirty="0">
                <a:latin typeface="宋体" panose="02010600030101010101" pitchFamily="2" charset="-122"/>
                <a:ea typeface="宋体" panose="02010600030101010101" pitchFamily="2" charset="-122"/>
              </a:rPr>
              <a:t>。</a:t>
            </a:r>
            <a:endParaRPr lang="zh-CN" altLang="en-US" dirty="0">
              <a:latin typeface="微软雅黑" panose="020B0503020204020204" charset="-122"/>
              <a:ea typeface="微软雅黑" panose="020B0503020204020204"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706709" y="559591"/>
            <a:ext cx="10940740" cy="2790187"/>
          </a:xfrm>
          <a:prstGeom prst="rect">
            <a:avLst/>
          </a:prstGeom>
          <a:noFill/>
        </p:spPr>
        <p:txBody>
          <a:bodyPr wrap="square">
            <a:spAutoFit/>
          </a:bodyPr>
          <a:lstStyle/>
          <a:p>
            <a:pPr algn="just">
              <a:lnSpc>
                <a:spcPct val="150000"/>
              </a:lnSpc>
            </a:pPr>
            <a:r>
              <a:rPr lang="zh-CN" altLang="zh-CN" sz="2000" dirty="0">
                <a:latin typeface="黑体" panose="02010609060101010101" pitchFamily="49" charset="-122"/>
                <a:ea typeface="黑体" panose="02010609060101010101" pitchFamily="49" charset="-122"/>
              </a:rPr>
              <a:t>战略问题是一个政党、一个国家的根本性问题。</a:t>
            </a:r>
          </a:p>
          <a:p>
            <a:pPr indent="304800" algn="just">
              <a:lnSpc>
                <a:spcPct val="150000"/>
              </a:lnSpc>
            </a:pPr>
            <a:r>
              <a:rPr lang="zh-CN" altLang="zh-CN" sz="2000" dirty="0">
                <a:latin typeface="黑体" panose="02010609060101010101" pitchFamily="49" charset="-122"/>
                <a:ea typeface="黑体" panose="02010609060101010101" pitchFamily="49" charset="-122"/>
              </a:rPr>
              <a:t>在党的二十大报告中，多次强调“战略”：“中华民族伟大复兴战略全局”“全面建成社会主义现代化强国，总的战略安排是分两步走”“保持战略定力”“新的战略机遇”“作出科学完整的战略部署”“采取一系列战略性举措”</a:t>
            </a:r>
            <a:r>
              <a:rPr lang="en-US" altLang="zh-CN" sz="2000" dirty="0">
                <a:latin typeface="黑体" panose="02010609060101010101" pitchFamily="49" charset="-122"/>
                <a:ea typeface="黑体" panose="02010609060101010101" pitchFamily="49" charset="-122"/>
              </a:rPr>
              <a:t>……</a:t>
            </a:r>
            <a:endParaRPr lang="zh-CN" altLang="zh-CN" sz="2000" dirty="0">
              <a:latin typeface="黑体" panose="02010609060101010101" pitchFamily="49" charset="-122"/>
              <a:ea typeface="黑体" panose="02010609060101010101" pitchFamily="49" charset="-122"/>
            </a:endParaRPr>
          </a:p>
          <a:p>
            <a:pPr indent="304800" algn="just">
              <a:lnSpc>
                <a:spcPct val="150000"/>
              </a:lnSpc>
            </a:pPr>
            <a:r>
              <a:rPr lang="zh-CN" altLang="zh-CN" sz="2000" dirty="0">
                <a:latin typeface="黑体" panose="02010609060101010101" pitchFamily="49" charset="-122"/>
                <a:ea typeface="黑体" panose="02010609060101010101" pitchFamily="49" charset="-122"/>
              </a:rPr>
              <a:t>把握大趋势、下好“先手棋”，正是战略上的前瞻性思考，使我国在面对不确定性因素时能应对自如。</a:t>
            </a:r>
          </a:p>
        </p:txBody>
      </p:sp>
      <p:sp>
        <p:nvSpPr>
          <p:cNvPr id="4" name="文本框 2"/>
          <p:cNvSpPr>
            <a:spLocks noChangeArrowheads="1"/>
          </p:cNvSpPr>
          <p:nvPr/>
        </p:nvSpPr>
        <p:spPr bwMode="auto">
          <a:xfrm>
            <a:off x="1898579" y="3084954"/>
            <a:ext cx="3402623" cy="1961374"/>
          </a:xfrm>
          <a:prstGeom prst="roundRect">
            <a:avLst>
              <a:gd name="adj" fmla="val 11111"/>
            </a:avLst>
          </a:prstGeom>
          <a:solidFill>
            <a:srgbClr val="FFFFFF"/>
          </a:solidFill>
          <a:ln w="9525">
            <a:solidFill>
              <a:srgbClr val="000000"/>
            </a:solidFill>
            <a:prstDash val="dash"/>
            <a:miter lim="800000"/>
          </a:ln>
        </p:spPr>
        <p:txBody>
          <a:bodyPr vert="horz" wrap="square" lIns="91440" tIns="45720" rIns="91440" bIns="45720" numCol="1" anchor="t" anchorCtr="0" compatLnSpc="1"/>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zh-CN"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我国的一</a:t>
            </a:r>
            <a:r>
              <a:rPr kumimoji="0" lang="zh-CN" altLang="en-US"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系列</a:t>
            </a:r>
            <a:r>
              <a:rPr kumimoji="0" lang="zh-CN" altLang="zh-CN"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重要战略</a:t>
            </a:r>
            <a:endParaRPr kumimoji="0" lang="zh-CN" altLang="zh-CN"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u"/>
            </a:pPr>
            <a:r>
              <a:rPr kumimoji="0" lang="zh-CN" altLang="zh-CN"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科教兴国战略</a:t>
            </a:r>
            <a:endParaRPr lang="en-US" altLang="zh-CN" dirty="0">
              <a:latin typeface="黑体" panose="02010609060101010101" pitchFamily="49" charset="-122"/>
              <a:ea typeface="黑体" panose="02010609060101010101" pitchFamily="49" charset="-122"/>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u"/>
            </a:pPr>
            <a:r>
              <a:rPr kumimoji="0" lang="zh-CN" altLang="zh-CN"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创新驱动战略</a:t>
            </a:r>
            <a:endParaRPr lang="en-US" altLang="zh-CN" dirty="0">
              <a:latin typeface="黑体" panose="02010609060101010101" pitchFamily="49" charset="-122"/>
              <a:ea typeface="黑体" panose="02010609060101010101" pitchFamily="49" charset="-122"/>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u"/>
            </a:pPr>
            <a:r>
              <a:rPr kumimoji="0" lang="zh-CN" altLang="zh-CN"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乡村振兴战略</a:t>
            </a:r>
            <a:endParaRPr lang="en-US" altLang="zh-CN" dirty="0">
              <a:latin typeface="黑体" panose="02010609060101010101" pitchFamily="49" charset="-122"/>
              <a:ea typeface="黑体" panose="02010609060101010101" pitchFamily="49" charset="-122"/>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u"/>
            </a:pPr>
            <a:r>
              <a:rPr kumimoji="0" lang="zh-CN" altLang="zh-CN" b="0" i="0" u="none" strike="noStrike" cap="none" normalizeH="0" baseline="0" dirty="0">
                <a:ln>
                  <a:noFill/>
                </a:ln>
                <a:solidFill>
                  <a:schemeClr val="tx1"/>
                </a:solidFill>
                <a:effectLst/>
                <a:latin typeface="等线" panose="02010600030101010101" charset="-122"/>
                <a:ea typeface="等线" panose="02010600030101010101" charset="-122"/>
                <a:cs typeface="Times New Roman" panose="02020603050405020304" pitchFamily="18" charset="0"/>
              </a:rPr>
              <a:t>……</a:t>
            </a:r>
            <a:endParaRPr kumimoji="0" lang="zh-CN" altLang="zh-CN" b="0" i="0" u="none" strike="noStrike" cap="none" normalizeH="0" baseline="0" dirty="0">
              <a:ln>
                <a:noFill/>
              </a:ln>
              <a:solidFill>
                <a:schemeClr val="tx1"/>
              </a:solidFill>
              <a:effectLst/>
              <a:latin typeface="Arial" panose="020B0604020202020204" pitchFamily="34" charset="0"/>
            </a:endParaRPr>
          </a:p>
        </p:txBody>
      </p:sp>
      <p:sp>
        <p:nvSpPr>
          <p:cNvPr id="5" name="AutoShape 2"/>
          <p:cNvSpPr>
            <a:spLocks noChangeArrowheads="1"/>
          </p:cNvSpPr>
          <p:nvPr/>
        </p:nvSpPr>
        <p:spPr bwMode="auto">
          <a:xfrm>
            <a:off x="5829799" y="3050788"/>
            <a:ext cx="4164801" cy="2062612"/>
          </a:xfrm>
          <a:prstGeom prst="roundRect">
            <a:avLst>
              <a:gd name="adj" fmla="val 11111"/>
            </a:avLst>
          </a:prstGeom>
          <a:solidFill>
            <a:srgbClr val="FFFFFF"/>
          </a:solidFill>
          <a:ln w="9525">
            <a:solidFill>
              <a:srgbClr val="000000"/>
            </a:solidFill>
            <a:prstDash val="dash"/>
            <a:miter lim="800000"/>
          </a:ln>
        </p:spPr>
        <p:txBody>
          <a:bodyPr vert="horz" wrap="square" lIns="91440" tIns="45720" rIns="91440" bIns="45720" numCol="1" anchor="t" anchorCtr="0" compatLnSpc="1"/>
          <a:lstStyle/>
          <a:p>
            <a:pPr algn="ctr" eaLnBrk="0" fontAlgn="base" hangingPunct="0">
              <a:spcBef>
                <a:spcPct val="0"/>
              </a:spcBef>
              <a:spcAft>
                <a:spcPct val="0"/>
              </a:spcAft>
            </a:pPr>
            <a:r>
              <a:rPr lang="zh-CN" altLang="zh-CN" dirty="0">
                <a:latin typeface="黑体" panose="02010609060101010101" pitchFamily="49" charset="-122"/>
                <a:ea typeface="黑体" panose="02010609060101010101" pitchFamily="49" charset="-122"/>
                <a:cs typeface="Times New Roman" panose="02020603050405020304" pitchFamily="18" charset="0"/>
              </a:rPr>
              <a:t>我国发展的</a:t>
            </a:r>
            <a:r>
              <a:rPr lang="zh-CN" altLang="en-US" dirty="0">
                <a:latin typeface="黑体" panose="02010609060101010101" pitchFamily="49" charset="-122"/>
                <a:ea typeface="黑体" panose="02010609060101010101" pitchFamily="49" charset="-122"/>
                <a:cs typeface="Times New Roman" panose="02020603050405020304" pitchFamily="18" charset="0"/>
              </a:rPr>
              <a:t>诸多</a:t>
            </a:r>
            <a:r>
              <a:rPr lang="zh-CN" altLang="zh-CN" dirty="0">
                <a:latin typeface="黑体" panose="02010609060101010101" pitchFamily="49" charset="-122"/>
                <a:ea typeface="黑体" panose="02010609060101010101" pitchFamily="49" charset="-122"/>
                <a:cs typeface="Times New Roman" panose="02020603050405020304" pitchFamily="18" charset="0"/>
              </a:rPr>
              <a:t>战略性有利条件</a:t>
            </a:r>
          </a:p>
          <a:p>
            <a:pPr marL="285750" indent="-285750" eaLnBrk="0" fontAlgn="base" hangingPunct="0">
              <a:spcBef>
                <a:spcPct val="0"/>
              </a:spcBef>
              <a:spcAft>
                <a:spcPct val="0"/>
              </a:spcAft>
              <a:buFont typeface="Wingdings" panose="05000000000000000000" pitchFamily="2" charset="2"/>
              <a:buChar char="u"/>
            </a:pPr>
            <a:r>
              <a:rPr lang="zh-CN" altLang="zh-CN" dirty="0">
                <a:latin typeface="黑体" panose="02010609060101010101" pitchFamily="49" charset="-122"/>
                <a:ea typeface="黑体" panose="02010609060101010101" pitchFamily="49" charset="-122"/>
                <a:cs typeface="Times New Roman" panose="02020603050405020304" pitchFamily="18" charset="0"/>
              </a:rPr>
              <a:t>中国共产党的坚强领导</a:t>
            </a:r>
          </a:p>
          <a:p>
            <a:pPr marL="285750" indent="-285750" eaLnBrk="0" fontAlgn="base" hangingPunct="0">
              <a:spcBef>
                <a:spcPct val="0"/>
              </a:spcBef>
              <a:spcAft>
                <a:spcPct val="0"/>
              </a:spcAft>
              <a:buFont typeface="Wingdings" panose="05000000000000000000" pitchFamily="2" charset="2"/>
              <a:buChar char="u"/>
            </a:pPr>
            <a:r>
              <a:rPr lang="zh-CN" altLang="zh-CN" dirty="0">
                <a:latin typeface="黑体" panose="02010609060101010101" pitchFamily="49" charset="-122"/>
                <a:ea typeface="黑体" panose="02010609060101010101" pitchFamily="49" charset="-122"/>
                <a:cs typeface="Times New Roman" panose="02020603050405020304" pitchFamily="18" charset="0"/>
              </a:rPr>
              <a:t>中国特色社会主义制度的显著优势</a:t>
            </a:r>
          </a:p>
          <a:p>
            <a:pPr marL="285750" indent="-285750" eaLnBrk="0" fontAlgn="base" hangingPunct="0">
              <a:spcBef>
                <a:spcPct val="0"/>
              </a:spcBef>
              <a:spcAft>
                <a:spcPct val="0"/>
              </a:spcAft>
              <a:buFont typeface="Wingdings" panose="05000000000000000000" pitchFamily="2" charset="2"/>
              <a:buChar char="u"/>
            </a:pPr>
            <a:r>
              <a:rPr lang="zh-CN" altLang="en-US" dirty="0">
                <a:latin typeface="黑体" panose="02010609060101010101" pitchFamily="49" charset="-122"/>
                <a:ea typeface="黑体" panose="02010609060101010101" pitchFamily="49" charset="-122"/>
                <a:cs typeface="Times New Roman" panose="02020603050405020304" pitchFamily="18" charset="0"/>
              </a:rPr>
              <a:t>持续快速发展</a:t>
            </a:r>
            <a:r>
              <a:rPr lang="zh-CN" altLang="zh-CN" dirty="0">
                <a:latin typeface="黑体" panose="02010609060101010101" pitchFamily="49" charset="-122"/>
                <a:ea typeface="黑体" panose="02010609060101010101" pitchFamily="49" charset="-122"/>
                <a:cs typeface="Times New Roman" panose="02020603050405020304" pitchFamily="18" charset="0"/>
              </a:rPr>
              <a:t>积累的坚实基础</a:t>
            </a:r>
          </a:p>
          <a:p>
            <a:pPr marL="285750" indent="-285750" eaLnBrk="0" fontAlgn="base" hangingPunct="0">
              <a:spcBef>
                <a:spcPct val="0"/>
              </a:spcBef>
              <a:spcAft>
                <a:spcPct val="0"/>
              </a:spcAft>
              <a:buFont typeface="Wingdings" panose="05000000000000000000" pitchFamily="2" charset="2"/>
              <a:buChar char="u"/>
            </a:pPr>
            <a:r>
              <a:rPr lang="zh-CN" altLang="zh-CN" dirty="0">
                <a:latin typeface="黑体" panose="02010609060101010101" pitchFamily="49" charset="-122"/>
                <a:ea typeface="黑体" panose="02010609060101010101" pitchFamily="49" charset="-122"/>
                <a:cs typeface="Times New Roman" panose="02020603050405020304" pitchFamily="18" charset="0"/>
              </a:rPr>
              <a:t>长期稳定的社会环境</a:t>
            </a:r>
          </a:p>
          <a:p>
            <a:pPr marL="285750" indent="-285750" eaLnBrk="0" fontAlgn="base" hangingPunct="0">
              <a:spcBef>
                <a:spcPct val="0"/>
              </a:spcBef>
              <a:spcAft>
                <a:spcPct val="0"/>
              </a:spcAft>
              <a:buFont typeface="Wingdings" panose="05000000000000000000" pitchFamily="2" charset="2"/>
              <a:buChar char="u"/>
            </a:pPr>
            <a:r>
              <a:rPr lang="zh-CN" altLang="zh-CN" dirty="0">
                <a:latin typeface="黑体" panose="02010609060101010101" pitchFamily="49" charset="-122"/>
                <a:ea typeface="黑体" panose="02010609060101010101" pitchFamily="49" charset="-122"/>
                <a:cs typeface="Times New Roman" panose="02020603050405020304" pitchFamily="18" charset="0"/>
              </a:rPr>
              <a:t>自信自强的精神力量</a:t>
            </a:r>
          </a:p>
        </p:txBody>
      </p:sp>
      <p:sp>
        <p:nvSpPr>
          <p:cNvPr id="8" name="文本框 7"/>
          <p:cNvSpPr txBox="1"/>
          <p:nvPr/>
        </p:nvSpPr>
        <p:spPr>
          <a:xfrm>
            <a:off x="946460" y="5144254"/>
            <a:ext cx="10461238" cy="943528"/>
          </a:xfrm>
          <a:prstGeom prst="rect">
            <a:avLst/>
          </a:prstGeom>
          <a:noFill/>
        </p:spPr>
        <p:txBody>
          <a:bodyPr wrap="square">
            <a:spAutoFit/>
          </a:bodyPr>
          <a:lstStyle/>
          <a:p>
            <a:pPr>
              <a:lnSpc>
                <a:spcPct val="150000"/>
              </a:lnSpc>
            </a:pPr>
            <a:r>
              <a:rPr lang="zh-CN" altLang="zh-CN" sz="2000" dirty="0">
                <a:effectLst/>
                <a:latin typeface="黑体" panose="02010609060101010101" pitchFamily="49" charset="-122"/>
                <a:ea typeface="黑体" panose="02010609060101010101" pitchFamily="49" charset="-122"/>
                <a:cs typeface="Times New Roman" panose="02020603050405020304" pitchFamily="18" charset="0"/>
              </a:rPr>
              <a:t>以</a:t>
            </a:r>
            <a:r>
              <a:rPr lang="zh-CN" altLang="en-US" sz="2000" dirty="0">
                <a:effectLst/>
                <a:latin typeface="黑体" panose="02010609060101010101" pitchFamily="49" charset="-122"/>
                <a:ea typeface="黑体" panose="02010609060101010101" pitchFamily="49" charset="-122"/>
                <a:cs typeface="Times New Roman" panose="02020603050405020304" pitchFamily="18" charset="0"/>
              </a:rPr>
              <a:t>材料中的</a:t>
            </a:r>
            <a:r>
              <a:rPr lang="zh-CN" altLang="zh-CN" sz="2000" dirty="0">
                <a:effectLst/>
                <a:latin typeface="黑体" panose="02010609060101010101" pitchFamily="49" charset="-122"/>
                <a:ea typeface="黑体" panose="02010609060101010101" pitchFamily="49" charset="-122"/>
                <a:cs typeface="Times New Roman" panose="02020603050405020304" pitchFamily="18" charset="0"/>
              </a:rPr>
              <a:t>一个重要战略为例，综合运用所学，分析上述战略性有利条件在全面建设社会主义现代化国家中</a:t>
            </a:r>
            <a:r>
              <a:rPr lang="zh-CN" altLang="en-US" sz="2000" dirty="0">
                <a:effectLst/>
                <a:latin typeface="黑体" panose="02010609060101010101" pitchFamily="49" charset="-122"/>
                <a:ea typeface="黑体" panose="02010609060101010101" pitchFamily="49" charset="-122"/>
                <a:cs typeface="Times New Roman" panose="02020603050405020304" pitchFamily="18" charset="0"/>
              </a:rPr>
              <a:t>是</a:t>
            </a:r>
            <a:r>
              <a:rPr lang="zh-CN" altLang="zh-CN" sz="2000" dirty="0">
                <a:effectLst/>
                <a:latin typeface="黑体" panose="02010609060101010101" pitchFamily="49" charset="-122"/>
                <a:ea typeface="黑体" panose="02010609060101010101" pitchFamily="49" charset="-122"/>
                <a:cs typeface="Times New Roman" panose="02020603050405020304" pitchFamily="18" charset="0"/>
              </a:rPr>
              <a:t>如何发挥作用。</a:t>
            </a:r>
            <a:endParaRPr lang="zh-CN" altLang="en-US" sz="2000" dirty="0">
              <a:latin typeface="黑体" panose="02010609060101010101" pitchFamily="49" charset="-122"/>
              <a:ea typeface="黑体" panose="02010609060101010101" pitchFamily="49" charset="-122"/>
            </a:endParaRPr>
          </a:p>
        </p:txBody>
      </p:sp>
      <p:sp>
        <p:nvSpPr>
          <p:cNvPr id="2" name="文本框 1"/>
          <p:cNvSpPr txBox="1"/>
          <p:nvPr/>
        </p:nvSpPr>
        <p:spPr>
          <a:xfrm>
            <a:off x="0" y="0"/>
            <a:ext cx="2419814" cy="461665"/>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defPPr>
              <a:defRPr lang="zh-CN"/>
            </a:defPPr>
            <a:lvl1pPr>
              <a:defRPr sz="2400" b="1">
                <a:solidFill>
                  <a:srgbClr val="FFFF00"/>
                </a:solidFill>
                <a:latin typeface="黑体" panose="02010609060101010101" pitchFamily="49" charset="-122"/>
                <a:ea typeface="黑体" panose="02010609060101010101" pitchFamily="49" charset="-122"/>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altLang="zh-CN" dirty="0"/>
              <a:t>【</a:t>
            </a:r>
            <a:r>
              <a:rPr lang="zh-CN" altLang="en-US" dirty="0"/>
              <a:t>经典试题回顾</a:t>
            </a:r>
            <a:r>
              <a:rPr lang="en-US" altLang="zh-CN" dirty="0"/>
              <a:t>】</a:t>
            </a:r>
            <a:endParaRPr lang="zh-CN" alt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942438" y="1922335"/>
            <a:ext cx="5623153" cy="481863"/>
          </a:xfrm>
          <a:prstGeom prst="rect">
            <a:avLst/>
          </a:prstGeom>
          <a:noFill/>
        </p:spPr>
        <p:txBody>
          <a:bodyPr wrap="square">
            <a:spAutoFit/>
          </a:bodyPr>
          <a:lstStyle>
            <a:defPPr>
              <a:defRPr lang="zh-CN"/>
            </a:defPPr>
            <a:lvl1pPr>
              <a:lnSpc>
                <a:spcPct val="150000"/>
              </a:lnSpc>
              <a:defRPr sz="2000">
                <a:latin typeface="黑体" panose="02010609060101010101" pitchFamily="49" charset="-122"/>
                <a:ea typeface="黑体" panose="02010609060101010101" pitchFamily="49" charset="-122"/>
              </a:defRPr>
            </a:lvl1pPr>
          </a:lstStyle>
          <a:p>
            <a:r>
              <a:rPr lang="zh-CN" altLang="zh-CN" dirty="0"/>
              <a:t>战略性条件→重要战略（一个）→现代化国家</a:t>
            </a:r>
            <a:endParaRPr lang="zh-CN" altLang="en-US" dirty="0"/>
          </a:p>
        </p:txBody>
      </p:sp>
      <p:pic>
        <p:nvPicPr>
          <p:cNvPr id="5" name="图片 4"/>
          <p:cNvPicPr>
            <a:picLocks noChangeAspect="1"/>
          </p:cNvPicPr>
          <p:nvPr/>
        </p:nvPicPr>
        <p:blipFill>
          <a:blip r:embed="rId2"/>
          <a:stretch>
            <a:fillRect/>
          </a:stretch>
        </p:blipFill>
        <p:spPr>
          <a:xfrm>
            <a:off x="693315" y="1922335"/>
            <a:ext cx="5084794" cy="3201651"/>
          </a:xfrm>
          <a:prstGeom prst="rect">
            <a:avLst/>
          </a:prstGeom>
        </p:spPr>
      </p:pic>
      <p:sp>
        <p:nvSpPr>
          <p:cNvPr id="6" name="文本框 5"/>
          <p:cNvSpPr txBox="1"/>
          <p:nvPr/>
        </p:nvSpPr>
        <p:spPr>
          <a:xfrm>
            <a:off x="873760" y="289560"/>
            <a:ext cx="10577830" cy="1014730"/>
          </a:xfrm>
          <a:prstGeom prst="rect">
            <a:avLst/>
          </a:prstGeom>
          <a:noFill/>
        </p:spPr>
        <p:txBody>
          <a:bodyPr wrap="square">
            <a:spAutoFit/>
          </a:bodyPr>
          <a:lstStyle/>
          <a:p>
            <a:pPr>
              <a:lnSpc>
                <a:spcPct val="150000"/>
              </a:lnSpc>
            </a:pPr>
            <a:r>
              <a:rPr lang="zh-CN" altLang="zh-CN" sz="2000" dirty="0">
                <a:effectLst/>
                <a:latin typeface="黑体" panose="02010609060101010101" pitchFamily="49" charset="-122"/>
                <a:ea typeface="黑体" panose="02010609060101010101" pitchFamily="49" charset="-122"/>
                <a:cs typeface="Times New Roman" panose="02020603050405020304" pitchFamily="18" charset="0"/>
              </a:rPr>
              <a:t>以</a:t>
            </a:r>
            <a:r>
              <a:rPr lang="zh-CN" altLang="en-US" sz="2000" dirty="0">
                <a:effectLst/>
                <a:latin typeface="黑体" panose="02010609060101010101" pitchFamily="49" charset="-122"/>
                <a:ea typeface="黑体" panose="02010609060101010101" pitchFamily="49" charset="-122"/>
                <a:cs typeface="Times New Roman" panose="02020603050405020304" pitchFamily="18" charset="0"/>
              </a:rPr>
              <a:t>材料中的</a:t>
            </a:r>
            <a:r>
              <a:rPr lang="zh-CN" altLang="zh-CN" sz="2000" dirty="0">
                <a:effectLst/>
                <a:latin typeface="黑体" panose="02010609060101010101" pitchFamily="49" charset="-122"/>
                <a:ea typeface="黑体" panose="02010609060101010101" pitchFamily="49" charset="-122"/>
                <a:cs typeface="Times New Roman" panose="02020603050405020304" pitchFamily="18" charset="0"/>
              </a:rPr>
              <a:t>一个重要战略为例，综合运用所学，分析上述战略性有利条件在全面建设社会主义现代化国家中</a:t>
            </a:r>
            <a:r>
              <a:rPr lang="zh-CN" altLang="en-US" sz="2000" dirty="0">
                <a:effectLst/>
                <a:latin typeface="黑体" panose="02010609060101010101" pitchFamily="49" charset="-122"/>
                <a:ea typeface="黑体" panose="02010609060101010101" pitchFamily="49" charset="-122"/>
                <a:cs typeface="Times New Roman" panose="02020603050405020304" pitchFamily="18" charset="0"/>
              </a:rPr>
              <a:t>是</a:t>
            </a:r>
            <a:r>
              <a:rPr lang="zh-CN" altLang="zh-CN" sz="2000" dirty="0">
                <a:effectLst/>
                <a:latin typeface="黑体" panose="02010609060101010101" pitchFamily="49" charset="-122"/>
                <a:ea typeface="黑体" panose="02010609060101010101" pitchFamily="49" charset="-122"/>
                <a:cs typeface="Times New Roman" panose="02020603050405020304" pitchFamily="18" charset="0"/>
              </a:rPr>
              <a:t>如何发挥作用。</a:t>
            </a:r>
            <a:endParaRPr lang="zh-CN" altLang="en-US" sz="2000" dirty="0">
              <a:latin typeface="黑体" panose="02010609060101010101" pitchFamily="49" charset="-122"/>
              <a:ea typeface="黑体" panose="02010609060101010101" pitchFamily="49" charset="-122"/>
            </a:endParaRPr>
          </a:p>
        </p:txBody>
      </p:sp>
      <p:sp>
        <p:nvSpPr>
          <p:cNvPr id="8" name="文本框 7"/>
          <p:cNvSpPr txBox="1"/>
          <p:nvPr/>
        </p:nvSpPr>
        <p:spPr>
          <a:xfrm>
            <a:off x="5942439" y="2653990"/>
            <a:ext cx="5623153" cy="2328523"/>
          </a:xfrm>
          <a:prstGeom prst="rect">
            <a:avLst/>
          </a:prstGeom>
          <a:noFill/>
        </p:spPr>
        <p:txBody>
          <a:bodyPr wrap="square">
            <a:spAutoFit/>
          </a:bodyPr>
          <a:lstStyle/>
          <a:p>
            <a:pPr>
              <a:lnSpc>
                <a:spcPct val="150000"/>
              </a:lnSpc>
            </a:pPr>
            <a:r>
              <a:rPr lang="zh-CN" altLang="en-US" sz="2000" dirty="0">
                <a:latin typeface="黑体" panose="02010609060101010101" pitchFamily="49" charset="-122"/>
                <a:ea typeface="黑体" panose="02010609060101010101" pitchFamily="49" charset="-122"/>
              </a:rPr>
              <a:t>示例：</a:t>
            </a:r>
            <a:r>
              <a:rPr lang="zh-CN" altLang="zh-CN" sz="2000" dirty="0">
                <a:latin typeface="黑体" panose="02010609060101010101" pitchFamily="49" charset="-122"/>
                <a:ea typeface="黑体" panose="02010609060101010101" pitchFamily="49" charset="-122"/>
              </a:rPr>
              <a:t>中国共产党的领导是中国特色社会主义制度的最大优势，中国共产党总揽全局、协调各方，发挥新型举国体制优势，集中人力、物力、财力，攻克重大科研项目，推动技术攻关和经济发展的强大合力，推进社会主义现代化国家建设。</a:t>
            </a:r>
            <a:endParaRPr lang="zh-CN" altLang="en-US" sz="2000" dirty="0">
              <a:latin typeface="黑体" panose="02010609060101010101" pitchFamily="49" charset="-122"/>
              <a:ea typeface="黑体" panose="02010609060101010101" pitchFamily="49" charset="-12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0"/>
            <a:ext cx="2419814" cy="461665"/>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defPPr>
              <a:defRPr lang="zh-CN"/>
            </a:defPPr>
            <a:lvl1pPr>
              <a:defRPr sz="2400" b="1">
                <a:solidFill>
                  <a:srgbClr val="FFFF00"/>
                </a:solidFill>
                <a:latin typeface="黑体" panose="02010609060101010101" pitchFamily="49" charset="-122"/>
                <a:ea typeface="黑体" panose="02010609060101010101" pitchFamily="49" charset="-122"/>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altLang="zh-CN"/>
              <a:t>【</a:t>
            </a:r>
            <a:r>
              <a:rPr lang="zh-CN" altLang="en-US"/>
              <a:t>试题分析</a:t>
            </a:r>
            <a:r>
              <a:rPr lang="en-US" altLang="zh-CN" dirty="0"/>
              <a:t>】</a:t>
            </a:r>
            <a:endParaRPr lang="zh-CN" altLang="en-US" dirty="0"/>
          </a:p>
        </p:txBody>
      </p:sp>
      <p:pic>
        <p:nvPicPr>
          <p:cNvPr id="4" name="图片 3"/>
          <p:cNvPicPr>
            <a:picLocks noChangeAspect="1"/>
          </p:cNvPicPr>
          <p:nvPr/>
        </p:nvPicPr>
        <p:blipFill>
          <a:blip r:embed="rId2"/>
          <a:stretch>
            <a:fillRect/>
          </a:stretch>
        </p:blipFill>
        <p:spPr>
          <a:xfrm>
            <a:off x="901700" y="530225"/>
            <a:ext cx="9286875" cy="5448300"/>
          </a:xfrm>
          <a:prstGeom prst="rect">
            <a:avLst/>
          </a:prstGeom>
        </p:spPr>
      </p:pic>
      <p:sp>
        <p:nvSpPr>
          <p:cNvPr id="2" name="椭圆 1"/>
          <p:cNvSpPr/>
          <p:nvPr/>
        </p:nvSpPr>
        <p:spPr>
          <a:xfrm>
            <a:off x="2908465" y="5291224"/>
            <a:ext cx="856389" cy="290691"/>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4635910" y="5291223"/>
            <a:ext cx="1817984" cy="290691"/>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2419985" y="6127750"/>
            <a:ext cx="7317105" cy="373380"/>
          </a:xfrm>
          <a:prstGeom prst="rect">
            <a:avLst/>
          </a:prstGeom>
          <a:noFill/>
        </p:spPr>
        <p:txBody>
          <a:bodyPr wrap="square">
            <a:spAutoFit/>
          </a:bodyPr>
          <a:lstStyle/>
          <a:p>
            <a:pPr marL="269240" indent="1270" algn="just">
              <a:lnSpc>
                <a:spcPts val="2200"/>
              </a:lnSpc>
            </a:pPr>
            <a:r>
              <a:rPr lang="zh-CN" altLang="zh-CN" sz="2400" b="1" kern="100" dirty="0">
                <a:solidFill>
                  <a:srgbClr val="FF0000"/>
                </a:solidFill>
                <a:effectLst/>
                <a:latin typeface="等线" panose="02010600030101010101" charset="-122"/>
                <a:ea typeface="宋体" panose="02010600030101010101" pitchFamily="2" charset="-122"/>
                <a:cs typeface="Times New Roman" panose="02020603050405020304" pitchFamily="18" charset="0"/>
              </a:rPr>
              <a:t>逻辑思路：起点</a:t>
            </a:r>
            <a:r>
              <a:rPr lang="en-US" altLang="zh-CN" sz="2400" b="1" kern="100" dirty="0">
                <a:solidFill>
                  <a:srgbClr val="FF0000"/>
                </a:solidFill>
                <a:effectLst/>
                <a:latin typeface="等线" panose="02010600030101010101" charset="-122"/>
                <a:ea typeface="宋体" panose="02010600030101010101" pitchFamily="2" charset="-122"/>
                <a:cs typeface="Times New Roman" panose="02020603050405020304" pitchFamily="18" charset="0"/>
              </a:rPr>
              <a:t>---</a:t>
            </a:r>
            <a:r>
              <a:rPr lang="zh-CN" altLang="zh-CN" sz="2400" b="1" kern="100" dirty="0">
                <a:solidFill>
                  <a:srgbClr val="FF0000"/>
                </a:solidFill>
                <a:effectLst/>
                <a:latin typeface="等线" panose="02010600030101010101" charset="-122"/>
                <a:ea typeface="宋体" panose="02010600030101010101" pitchFamily="2" charset="-122"/>
                <a:cs typeface="Times New Roman" panose="02020603050405020304" pitchFamily="18" charset="0"/>
              </a:rPr>
              <a:t>路径</a:t>
            </a:r>
            <a:r>
              <a:rPr lang="en-US" altLang="zh-CN" sz="2400" b="1" kern="100" dirty="0">
                <a:solidFill>
                  <a:srgbClr val="FF0000"/>
                </a:solidFill>
                <a:effectLst/>
                <a:latin typeface="等线" panose="02010600030101010101" charset="-122"/>
                <a:ea typeface="宋体" panose="02010600030101010101" pitchFamily="2" charset="-122"/>
                <a:cs typeface="Times New Roman" panose="02020603050405020304" pitchFamily="18" charset="0"/>
              </a:rPr>
              <a:t>----</a:t>
            </a:r>
            <a:r>
              <a:rPr lang="zh-CN" altLang="zh-CN" sz="2400" b="1" kern="100" dirty="0">
                <a:solidFill>
                  <a:srgbClr val="FF0000"/>
                </a:solidFill>
                <a:effectLst/>
                <a:latin typeface="等线" panose="02010600030101010101" charset="-122"/>
                <a:ea typeface="宋体" panose="02010600030101010101" pitchFamily="2" charset="-122"/>
                <a:cs typeface="Times New Roman" panose="02020603050405020304" pitchFamily="18" charset="0"/>
              </a:rPr>
              <a:t>效果（分总维度）</a:t>
            </a:r>
            <a:endParaRPr lang="zh-CN" altLang="zh-CN" sz="2400" b="1" kern="100" dirty="0">
              <a:effectLst/>
              <a:latin typeface="等线" panose="02010600030101010101" charset="-122"/>
              <a:ea typeface="等线" panose="02010600030101010101" charset="-122"/>
              <a:cs typeface="Times New Roman" panose="02020603050405020304" pitchFamily="18"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362585" y="948055"/>
            <a:ext cx="11829415" cy="5262245"/>
          </a:xfrm>
          <a:prstGeom prst="rect">
            <a:avLst/>
          </a:prstGeom>
          <a:noFill/>
          <a:ln w="9525">
            <a:noFill/>
          </a:ln>
        </p:spPr>
        <p:txBody>
          <a:bodyPr wrap="square">
            <a:spAutoFit/>
          </a:bodyPr>
          <a:lstStyle/>
          <a:p>
            <a:pPr indent="0"/>
            <a:r>
              <a:rPr lang="zh-CN" sz="2400" b="0">
                <a:solidFill>
                  <a:srgbClr val="000000"/>
                </a:solidFill>
                <a:latin typeface="微软雅黑" panose="020B0503020204020204" charset="-122"/>
                <a:ea typeface="微软雅黑" panose="020B0503020204020204" charset="-122"/>
                <a:cs typeface="微软雅黑" panose="020B0503020204020204" charset="-122"/>
              </a:rPr>
              <a:t>（1）通勤圈角度</a:t>
            </a:r>
            <a:endParaRPr lang="zh-CN" sz="2400" b="0">
              <a:solidFill>
                <a:srgbClr val="FF0000"/>
              </a:solidFill>
              <a:latin typeface="微软雅黑" panose="020B0503020204020204" charset="-122"/>
              <a:ea typeface="微软雅黑" panose="020B0503020204020204" charset="-122"/>
              <a:cs typeface="微软雅黑" panose="020B0503020204020204" charset="-122"/>
            </a:endParaRPr>
          </a:p>
          <a:p>
            <a:pPr indent="0"/>
            <a:r>
              <a:rPr lang="zh-CN" sz="2400" b="0">
                <a:solidFill>
                  <a:srgbClr val="FF0000"/>
                </a:solidFill>
                <a:latin typeface="微软雅黑" panose="020B0503020204020204" charset="-122"/>
                <a:ea typeface="微软雅黑" panose="020B0503020204020204" charset="-122"/>
                <a:cs typeface="微软雅黑" panose="020B0503020204020204" charset="-122"/>
              </a:rPr>
              <a:t>政府</a:t>
            </a:r>
            <a:r>
              <a:rPr lang="en-US" sz="2400" b="0">
                <a:solidFill>
                  <a:srgbClr val="000000"/>
                </a:solidFill>
                <a:latin typeface="微软雅黑" panose="020B0503020204020204" charset="-122"/>
                <a:ea typeface="微软雅黑" panose="020B0503020204020204" charset="-122"/>
                <a:cs typeface="微软雅黑" panose="020B0503020204020204" charset="-122"/>
              </a:rPr>
              <a:t>---</a:t>
            </a:r>
            <a:r>
              <a:rPr lang="zh-CN" sz="2400" b="0">
                <a:solidFill>
                  <a:srgbClr val="4F81BD"/>
                </a:solidFill>
                <a:latin typeface="微软雅黑" panose="020B0503020204020204" charset="-122"/>
                <a:ea typeface="微软雅黑" panose="020B0503020204020204" charset="-122"/>
                <a:cs typeface="微软雅黑" panose="020B0503020204020204" charset="-122"/>
              </a:rPr>
              <a:t>公共服务/基础设施---资源要素流动</a:t>
            </a:r>
            <a:r>
              <a:rPr lang="en-US" sz="2400" b="0">
                <a:solidFill>
                  <a:srgbClr val="000000"/>
                </a:solidFill>
                <a:latin typeface="微软雅黑" panose="020B0503020204020204" charset="-122"/>
                <a:ea typeface="微软雅黑" panose="020B0503020204020204" charset="-122"/>
                <a:cs typeface="微软雅黑" panose="020B0503020204020204" charset="-122"/>
              </a:rPr>
              <a:t>---</a:t>
            </a:r>
            <a:r>
              <a:rPr lang="zh-CN" sz="2400" b="0">
                <a:solidFill>
                  <a:srgbClr val="00B050"/>
                </a:solidFill>
                <a:latin typeface="微软雅黑" panose="020B0503020204020204" charset="-122"/>
                <a:ea typeface="微软雅黑" panose="020B0503020204020204" charset="-122"/>
                <a:cs typeface="微软雅黑" panose="020B0503020204020204" charset="-122"/>
              </a:rPr>
              <a:t>共享发展／资源优化配置</a:t>
            </a:r>
            <a:endParaRPr lang="zh-CN" sz="2400" b="0">
              <a:solidFill>
                <a:srgbClr val="FF0000"/>
              </a:solidFill>
              <a:latin typeface="微软雅黑" panose="020B0503020204020204" charset="-122"/>
              <a:ea typeface="微软雅黑" panose="020B0503020204020204" charset="-122"/>
              <a:cs typeface="微软雅黑" panose="020B0503020204020204" charset="-122"/>
            </a:endParaRPr>
          </a:p>
          <a:p>
            <a:pPr indent="0"/>
            <a:r>
              <a:rPr lang="zh-CN" sz="2400" b="0">
                <a:solidFill>
                  <a:srgbClr val="FF0000"/>
                </a:solidFill>
                <a:latin typeface="微软雅黑" panose="020B0503020204020204" charset="-122"/>
                <a:ea typeface="微软雅黑" panose="020B0503020204020204" charset="-122"/>
                <a:cs typeface="微软雅黑" panose="020B0503020204020204" charset="-122"/>
              </a:rPr>
              <a:t>坚持以人民为中心</a:t>
            </a:r>
            <a:r>
              <a:rPr lang="en-US" sz="2400" b="0">
                <a:solidFill>
                  <a:srgbClr val="FF0000"/>
                </a:solidFill>
                <a:latin typeface="微软雅黑" panose="020B0503020204020204" charset="-122"/>
                <a:ea typeface="微软雅黑" panose="020B0503020204020204" charset="-122"/>
                <a:cs typeface="微软雅黑" panose="020B0503020204020204" charset="-122"/>
              </a:rPr>
              <a:t>---</a:t>
            </a:r>
            <a:r>
              <a:rPr lang="zh-CN" sz="2400" b="0">
                <a:solidFill>
                  <a:srgbClr val="4F81BD"/>
                </a:solidFill>
                <a:latin typeface="微软雅黑" panose="020B0503020204020204" charset="-122"/>
                <a:ea typeface="微软雅黑" panose="020B0503020204020204" charset="-122"/>
                <a:cs typeface="微软雅黑" panose="020B0503020204020204" charset="-122"/>
              </a:rPr>
              <a:t>促进三地人流物流/资源要素流动</a:t>
            </a:r>
            <a:r>
              <a:rPr lang="en-US" sz="2400" b="0">
                <a:solidFill>
                  <a:srgbClr val="000000"/>
                </a:solidFill>
                <a:latin typeface="微软雅黑" panose="020B0503020204020204" charset="-122"/>
                <a:ea typeface="微软雅黑" panose="020B0503020204020204" charset="-122"/>
                <a:cs typeface="微软雅黑" panose="020B0503020204020204" charset="-122"/>
              </a:rPr>
              <a:t>---</a:t>
            </a:r>
            <a:r>
              <a:rPr lang="zh-CN" sz="2400" b="0">
                <a:solidFill>
                  <a:srgbClr val="00B050"/>
                </a:solidFill>
                <a:latin typeface="微软雅黑" panose="020B0503020204020204" charset="-122"/>
                <a:ea typeface="微软雅黑" panose="020B0503020204020204" charset="-122"/>
                <a:cs typeface="微软雅黑" panose="020B0503020204020204" charset="-122"/>
              </a:rPr>
              <a:t>资源优化配置</a:t>
            </a:r>
            <a:endParaRPr lang="zh-CN" sz="2400" b="0">
              <a:solidFill>
                <a:srgbClr val="000000"/>
              </a:solidFill>
              <a:latin typeface="微软雅黑" panose="020B0503020204020204" charset="-122"/>
              <a:ea typeface="微软雅黑" panose="020B0503020204020204" charset="-122"/>
              <a:cs typeface="微软雅黑" panose="020B0503020204020204" charset="-122"/>
            </a:endParaRPr>
          </a:p>
          <a:p>
            <a:pPr indent="0"/>
            <a:r>
              <a:rPr lang="zh-CN" sz="2400" b="0">
                <a:solidFill>
                  <a:srgbClr val="000000"/>
                </a:solidFill>
                <a:latin typeface="微软雅黑" panose="020B0503020204020204" charset="-122"/>
                <a:ea typeface="微软雅黑" panose="020B0503020204020204" charset="-122"/>
                <a:cs typeface="微软雅黑" panose="020B0503020204020204" charset="-122"/>
              </a:rPr>
              <a:t>（2）功能圈</a:t>
            </a:r>
            <a:endParaRPr lang="zh-CN" sz="2400" b="0">
              <a:solidFill>
                <a:srgbClr val="FF0000"/>
              </a:solidFill>
              <a:latin typeface="微软雅黑" panose="020B0503020204020204" charset="-122"/>
              <a:ea typeface="微软雅黑" panose="020B0503020204020204" charset="-122"/>
              <a:cs typeface="微软雅黑" panose="020B0503020204020204" charset="-122"/>
            </a:endParaRPr>
          </a:p>
          <a:p>
            <a:pPr indent="0"/>
            <a:r>
              <a:rPr lang="zh-CN" sz="2400" b="0">
                <a:solidFill>
                  <a:srgbClr val="FF0000"/>
                </a:solidFill>
                <a:latin typeface="微软雅黑" panose="020B0503020204020204" charset="-122"/>
                <a:ea typeface="微软雅黑" panose="020B0503020204020204" charset="-122"/>
                <a:cs typeface="微软雅黑" panose="020B0503020204020204" charset="-122"/>
              </a:rPr>
              <a:t>主次矛盾／两点论／整体部分等</a:t>
            </a:r>
            <a:r>
              <a:rPr lang="en-US" sz="2400" b="0">
                <a:solidFill>
                  <a:srgbClr val="000000"/>
                </a:solidFill>
                <a:latin typeface="微软雅黑" panose="020B0503020204020204" charset="-122"/>
                <a:ea typeface="微软雅黑" panose="020B0503020204020204" charset="-122"/>
                <a:cs typeface="微软雅黑" panose="020B0503020204020204" charset="-122"/>
              </a:rPr>
              <a:t>----</a:t>
            </a:r>
            <a:r>
              <a:rPr lang="zh-CN" sz="2400" b="0">
                <a:solidFill>
                  <a:srgbClr val="4F81BD"/>
                </a:solidFill>
                <a:latin typeface="微软雅黑" panose="020B0503020204020204" charset="-122"/>
                <a:ea typeface="微软雅黑" panose="020B0503020204020204" charset="-122"/>
                <a:cs typeface="微软雅黑" panose="020B0503020204020204" charset="-122"/>
              </a:rPr>
              <a:t>结合材料意思</a:t>
            </a:r>
            <a:r>
              <a:rPr lang="en-US" sz="2400" b="0">
                <a:solidFill>
                  <a:srgbClr val="000000"/>
                </a:solidFill>
                <a:latin typeface="微软雅黑" panose="020B0503020204020204" charset="-122"/>
                <a:ea typeface="微软雅黑" panose="020B0503020204020204" charset="-122"/>
                <a:cs typeface="微软雅黑" panose="020B0503020204020204" charset="-122"/>
              </a:rPr>
              <a:t>---</a:t>
            </a:r>
            <a:r>
              <a:rPr lang="zh-CN" sz="2400" b="0">
                <a:solidFill>
                  <a:srgbClr val="00B050"/>
                </a:solidFill>
                <a:latin typeface="微软雅黑" panose="020B0503020204020204" charset="-122"/>
                <a:ea typeface="微软雅黑" panose="020B0503020204020204" charset="-122"/>
                <a:cs typeface="微软雅黑" panose="020B0503020204020204" charset="-122"/>
              </a:rPr>
              <a:t>区域协调</a:t>
            </a:r>
            <a:endParaRPr lang="zh-CN" sz="2400" b="0">
              <a:solidFill>
                <a:srgbClr val="000000"/>
              </a:solidFill>
              <a:latin typeface="微软雅黑" panose="020B0503020204020204" charset="-122"/>
              <a:ea typeface="微软雅黑" panose="020B0503020204020204" charset="-122"/>
              <a:cs typeface="微软雅黑" panose="020B0503020204020204" charset="-122"/>
            </a:endParaRPr>
          </a:p>
          <a:p>
            <a:pPr indent="0"/>
            <a:r>
              <a:rPr lang="zh-CN" sz="2400" b="0">
                <a:solidFill>
                  <a:srgbClr val="000000"/>
                </a:solidFill>
                <a:latin typeface="微软雅黑" panose="020B0503020204020204" charset="-122"/>
                <a:ea typeface="微软雅黑" panose="020B0503020204020204" charset="-122"/>
                <a:cs typeface="微软雅黑" panose="020B0503020204020204" charset="-122"/>
              </a:rPr>
              <a:t>（3）产业圈</a:t>
            </a:r>
            <a:endParaRPr lang="zh-CN" sz="2400" b="0">
              <a:solidFill>
                <a:srgbClr val="FF0000"/>
              </a:solidFill>
              <a:latin typeface="微软雅黑" panose="020B0503020204020204" charset="-122"/>
              <a:ea typeface="微软雅黑" panose="020B0503020204020204" charset="-122"/>
              <a:cs typeface="微软雅黑" panose="020B0503020204020204" charset="-122"/>
            </a:endParaRPr>
          </a:p>
          <a:p>
            <a:pPr indent="0"/>
            <a:r>
              <a:rPr lang="zh-CN" sz="2400" b="0">
                <a:solidFill>
                  <a:srgbClr val="FF0000"/>
                </a:solidFill>
                <a:latin typeface="微软雅黑" panose="020B0503020204020204" charset="-122"/>
                <a:ea typeface="微软雅黑" panose="020B0503020204020204" charset="-122"/>
                <a:cs typeface="微软雅黑" panose="020B0503020204020204" charset="-122"/>
              </a:rPr>
              <a:t>创新发展/绿色发展/发展新兴产业</a:t>
            </a:r>
            <a:r>
              <a:rPr lang="en-US" sz="2400" b="0">
                <a:solidFill>
                  <a:srgbClr val="000000"/>
                </a:solidFill>
                <a:latin typeface="微软雅黑" panose="020B0503020204020204" charset="-122"/>
                <a:ea typeface="微软雅黑" panose="020B0503020204020204" charset="-122"/>
                <a:cs typeface="微软雅黑" panose="020B0503020204020204" charset="-122"/>
              </a:rPr>
              <a:t>---</a:t>
            </a:r>
            <a:r>
              <a:rPr lang="zh-CN" sz="2400" b="0">
                <a:solidFill>
                  <a:srgbClr val="4F81BD"/>
                </a:solidFill>
                <a:latin typeface="微软雅黑" panose="020B0503020204020204" charset="-122"/>
                <a:ea typeface="微软雅黑" panose="020B0503020204020204" charset="-122"/>
                <a:cs typeface="微软雅黑" panose="020B0503020204020204" charset="-122"/>
              </a:rPr>
              <a:t>三地优势互补／发挥比较优势</a:t>
            </a:r>
            <a:r>
              <a:rPr lang="en-US" sz="2400" b="0">
                <a:solidFill>
                  <a:srgbClr val="000000"/>
                </a:solidFill>
                <a:latin typeface="微软雅黑" panose="020B0503020204020204" charset="-122"/>
                <a:ea typeface="微软雅黑" panose="020B0503020204020204" charset="-122"/>
                <a:cs typeface="微软雅黑" panose="020B0503020204020204" charset="-122"/>
              </a:rPr>
              <a:t>---</a:t>
            </a:r>
            <a:r>
              <a:rPr lang="zh-CN" sz="2400" b="0">
                <a:solidFill>
                  <a:srgbClr val="00B050"/>
                </a:solidFill>
                <a:latin typeface="微软雅黑" panose="020B0503020204020204" charset="-122"/>
                <a:ea typeface="微软雅黑" panose="020B0503020204020204" charset="-122"/>
                <a:cs typeface="微软雅黑" panose="020B0503020204020204" charset="-122"/>
              </a:rPr>
              <a:t>促进产业升级／现化产业体系</a:t>
            </a:r>
            <a:endParaRPr lang="zh-CN" sz="2400" b="0">
              <a:solidFill>
                <a:srgbClr val="000000"/>
              </a:solidFill>
              <a:latin typeface="微软雅黑" panose="020B0503020204020204" charset="-122"/>
              <a:ea typeface="微软雅黑" panose="020B0503020204020204" charset="-122"/>
              <a:cs typeface="微软雅黑" panose="020B0503020204020204" charset="-122"/>
            </a:endParaRPr>
          </a:p>
          <a:p>
            <a:pPr indent="0"/>
            <a:r>
              <a:rPr lang="zh-CN" sz="2400" b="0">
                <a:solidFill>
                  <a:srgbClr val="000000"/>
                </a:solidFill>
                <a:latin typeface="微软雅黑" panose="020B0503020204020204" charset="-122"/>
                <a:ea typeface="微软雅黑" panose="020B0503020204020204" charset="-122"/>
                <a:cs typeface="微软雅黑" panose="020B0503020204020204" charset="-122"/>
              </a:rPr>
              <a:t>（4）三圈总说</a:t>
            </a:r>
            <a:endParaRPr lang="zh-CN" sz="2400" b="0">
              <a:solidFill>
                <a:srgbClr val="FF0000"/>
              </a:solidFill>
              <a:latin typeface="微软雅黑" panose="020B0503020204020204" charset="-122"/>
              <a:ea typeface="微软雅黑" panose="020B0503020204020204" charset="-122"/>
              <a:cs typeface="微软雅黑" panose="020B0503020204020204" charset="-122"/>
            </a:endParaRPr>
          </a:p>
          <a:p>
            <a:pPr indent="0"/>
            <a:r>
              <a:rPr lang="zh-CN" sz="2400" b="0">
                <a:solidFill>
                  <a:srgbClr val="FF0000"/>
                </a:solidFill>
                <a:latin typeface="微软雅黑" panose="020B0503020204020204" charset="-122"/>
                <a:ea typeface="微软雅黑" panose="020B0503020204020204" charset="-122"/>
                <a:cs typeface="微软雅黑" panose="020B0503020204020204" charset="-122"/>
              </a:rPr>
              <a:t>立足全局／整体／系统优化／规律／以人民为中心等</a:t>
            </a:r>
            <a:r>
              <a:rPr lang="en-US" sz="2400" b="0">
                <a:solidFill>
                  <a:srgbClr val="000000"/>
                </a:solidFill>
                <a:latin typeface="微软雅黑" panose="020B0503020204020204" charset="-122"/>
                <a:ea typeface="微软雅黑" panose="020B0503020204020204" charset="-122"/>
                <a:cs typeface="微软雅黑" panose="020B0503020204020204" charset="-122"/>
              </a:rPr>
              <a:t>---</a:t>
            </a:r>
            <a:r>
              <a:rPr lang="zh-CN" sz="2400" b="0">
                <a:solidFill>
                  <a:srgbClr val="4F81BD"/>
                </a:solidFill>
                <a:latin typeface="微软雅黑" panose="020B0503020204020204" charset="-122"/>
                <a:ea typeface="微软雅黑" panose="020B0503020204020204" charset="-122"/>
                <a:cs typeface="微软雅黑" panose="020B0503020204020204" charset="-122"/>
              </a:rPr>
              <a:t>结合材料意思</a:t>
            </a:r>
            <a:r>
              <a:rPr lang="en-US" sz="2400" b="0">
                <a:solidFill>
                  <a:srgbClr val="000000"/>
                </a:solidFill>
                <a:latin typeface="微软雅黑" panose="020B0503020204020204" charset="-122"/>
                <a:ea typeface="微软雅黑" panose="020B0503020204020204" charset="-122"/>
                <a:cs typeface="微软雅黑" panose="020B0503020204020204" charset="-122"/>
              </a:rPr>
              <a:t>---</a:t>
            </a:r>
            <a:r>
              <a:rPr lang="zh-CN" sz="2400" b="0">
                <a:solidFill>
                  <a:srgbClr val="00B050"/>
                </a:solidFill>
                <a:latin typeface="微软雅黑" panose="020B0503020204020204" charset="-122"/>
                <a:ea typeface="微软雅黑" panose="020B0503020204020204" charset="-122"/>
                <a:cs typeface="微软雅黑" panose="020B0503020204020204" charset="-122"/>
              </a:rPr>
              <a:t>资源优化配置/区域协调/产业升级／现化产业体系等</a:t>
            </a:r>
            <a:endParaRPr lang="zh-CN" sz="2400" b="0">
              <a:solidFill>
                <a:srgbClr val="000000"/>
              </a:solidFill>
              <a:latin typeface="微软雅黑" panose="020B0503020204020204" charset="-122"/>
              <a:ea typeface="微软雅黑" panose="020B0503020204020204" charset="-122"/>
              <a:cs typeface="微软雅黑" panose="020B0503020204020204" charset="-122"/>
            </a:endParaRPr>
          </a:p>
          <a:p>
            <a:pPr indent="0"/>
            <a:r>
              <a:rPr lang="zh-CN" sz="2400" b="0">
                <a:solidFill>
                  <a:srgbClr val="000000"/>
                </a:solidFill>
                <a:latin typeface="微软雅黑" panose="020B0503020204020204" charset="-122"/>
                <a:ea typeface="微软雅黑" panose="020B0503020204020204" charset="-122"/>
                <a:cs typeface="微软雅黑" panose="020B0503020204020204" charset="-122"/>
              </a:rPr>
              <a:t>（每一层2分，满分7分）</a:t>
            </a:r>
          </a:p>
          <a:p>
            <a:pPr indent="0"/>
            <a:endParaRPr lang="zh-CN" sz="2400" b="0">
              <a:solidFill>
                <a:srgbClr val="000000"/>
              </a:solidFill>
              <a:latin typeface="微软雅黑" panose="020B0503020204020204" charset="-122"/>
              <a:ea typeface="微软雅黑" panose="020B0503020204020204" charset="-122"/>
              <a:cs typeface="微软雅黑" panose="020B0503020204020204" charset="-122"/>
            </a:endParaRPr>
          </a:p>
          <a:p>
            <a:pPr indent="0"/>
            <a:endParaRPr lang="zh-CN" altLang="en-US" sz="2400"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2" name="文本框 1"/>
          <p:cNvSpPr txBox="1"/>
          <p:nvPr/>
        </p:nvSpPr>
        <p:spPr>
          <a:xfrm>
            <a:off x="861060" y="168910"/>
            <a:ext cx="3098165" cy="521970"/>
          </a:xfrm>
          <a:prstGeom prst="rect">
            <a:avLst/>
          </a:prstGeom>
          <a:noFill/>
        </p:spPr>
        <p:txBody>
          <a:bodyPr wrap="square" rtlCol="0">
            <a:spAutoFit/>
          </a:bodyPr>
          <a:lstStyle/>
          <a:p>
            <a:r>
              <a:rPr lang="zh-CN" altLang="en-US" sz="2800" b="1"/>
              <a:t>细则：</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14045" y="1129030"/>
            <a:ext cx="10704195" cy="5046345"/>
          </a:xfrm>
          <a:prstGeom prst="rect">
            <a:avLst/>
          </a:prstGeom>
          <a:noFill/>
        </p:spPr>
        <p:txBody>
          <a:bodyPr wrap="square" rtlCol="0" anchor="t">
            <a:spAutoFit/>
          </a:bodyPr>
          <a:lstStyle/>
          <a:p>
            <a:pPr indent="0"/>
            <a:r>
              <a:rPr lang="zh-CN" sz="2800">
                <a:solidFill>
                  <a:srgbClr val="000000"/>
                </a:solidFill>
                <a:latin typeface="微软雅黑" panose="020B0503020204020204" charset="-122"/>
                <a:ea typeface="微软雅黑" panose="020B0503020204020204" charset="-122"/>
                <a:cs typeface="微软雅黑" panose="020B0503020204020204" charset="-122"/>
                <a:sym typeface="+mn-ea"/>
              </a:rPr>
              <a:t>示例：</a:t>
            </a:r>
            <a:endParaRPr lang="zh-CN" sz="2800" b="0">
              <a:solidFill>
                <a:srgbClr val="000000"/>
              </a:solidFill>
              <a:latin typeface="微软雅黑" panose="020B0503020204020204" charset="-122"/>
              <a:ea typeface="微软雅黑" panose="020B0503020204020204" charset="-122"/>
              <a:cs typeface="微软雅黑" panose="020B0503020204020204" charset="-122"/>
            </a:endParaRPr>
          </a:p>
          <a:p>
            <a:pPr indent="0">
              <a:lnSpc>
                <a:spcPct val="150000"/>
              </a:lnSpc>
            </a:pPr>
            <a:r>
              <a:rPr lang="zh-CN" sz="2800">
                <a:solidFill>
                  <a:srgbClr val="FF0000"/>
                </a:solidFill>
                <a:latin typeface="微软雅黑" panose="020B0503020204020204" charset="-122"/>
                <a:ea typeface="微软雅黑" panose="020B0503020204020204" charset="-122"/>
                <a:cs typeface="微软雅黑" panose="020B0503020204020204" charset="-122"/>
                <a:sym typeface="+mn-ea"/>
              </a:rPr>
              <a:t>坚持以人民为中心／新发展理念</a:t>
            </a:r>
            <a:r>
              <a:rPr lang="zh-CN" sz="2800">
                <a:solidFill>
                  <a:srgbClr val="000000"/>
                </a:solidFill>
                <a:latin typeface="微软雅黑" panose="020B0503020204020204" charset="-122"/>
                <a:ea typeface="微软雅黑" panose="020B0503020204020204" charset="-122"/>
                <a:cs typeface="微软雅黑" panose="020B0503020204020204" charset="-122"/>
                <a:sym typeface="+mn-ea"/>
              </a:rPr>
              <a:t>，</a:t>
            </a:r>
            <a:r>
              <a:rPr lang="zh-CN" sz="2800">
                <a:solidFill>
                  <a:srgbClr val="4F81BD"/>
                </a:solidFill>
                <a:latin typeface="微软雅黑" panose="020B0503020204020204" charset="-122"/>
                <a:ea typeface="微软雅黑" panose="020B0503020204020204" charset="-122"/>
                <a:cs typeface="微软雅黑" panose="020B0503020204020204" charset="-122"/>
                <a:sym typeface="+mn-ea"/>
              </a:rPr>
              <a:t>发挥有为政府公共服务职能，完善交通基础设施，促进区域内资源要素流动</a:t>
            </a:r>
            <a:r>
              <a:rPr lang="zh-CN" sz="2800">
                <a:solidFill>
                  <a:srgbClr val="000000"/>
                </a:solidFill>
                <a:latin typeface="微软雅黑" panose="020B0503020204020204" charset="-122"/>
                <a:ea typeface="微软雅黑" panose="020B0503020204020204" charset="-122"/>
                <a:cs typeface="微软雅黑" panose="020B0503020204020204" charset="-122"/>
                <a:sym typeface="+mn-ea"/>
              </a:rPr>
              <a:t>，</a:t>
            </a:r>
            <a:r>
              <a:rPr lang="zh-CN" sz="2800">
                <a:solidFill>
                  <a:srgbClr val="00B050"/>
                </a:solidFill>
                <a:latin typeface="微软雅黑" panose="020B0503020204020204" charset="-122"/>
                <a:ea typeface="微软雅黑" panose="020B0503020204020204" charset="-122"/>
                <a:cs typeface="微软雅黑" panose="020B0503020204020204" charset="-122"/>
                <a:sym typeface="+mn-ea"/>
              </a:rPr>
              <a:t>优化资源配置，促进共享发展</a:t>
            </a:r>
            <a:r>
              <a:rPr lang="zh-CN" sz="2800">
                <a:solidFill>
                  <a:srgbClr val="000000"/>
                </a:solidFill>
                <a:latin typeface="微软雅黑" panose="020B0503020204020204" charset="-122"/>
                <a:ea typeface="微软雅黑" panose="020B0503020204020204" charset="-122"/>
                <a:cs typeface="微软雅黑" panose="020B0503020204020204" charset="-122"/>
                <a:sym typeface="+mn-ea"/>
              </a:rPr>
              <a:t>，助推首都都市圈高质量发展；</a:t>
            </a:r>
            <a:endParaRPr lang="zh-CN" sz="2800">
              <a:solidFill>
                <a:srgbClr val="FF0000"/>
              </a:solidFill>
              <a:latin typeface="微软雅黑" panose="020B0503020204020204" charset="-122"/>
              <a:ea typeface="微软雅黑" panose="020B0503020204020204" charset="-122"/>
              <a:cs typeface="微软雅黑" panose="020B0503020204020204" charset="-122"/>
              <a:sym typeface="+mn-ea"/>
            </a:endParaRPr>
          </a:p>
          <a:p>
            <a:pPr indent="0">
              <a:lnSpc>
                <a:spcPct val="150000"/>
              </a:lnSpc>
            </a:pPr>
            <a:r>
              <a:rPr lang="zh-CN" sz="2800">
                <a:solidFill>
                  <a:srgbClr val="FF0000"/>
                </a:solidFill>
                <a:latin typeface="微软雅黑" panose="020B0503020204020204" charset="-122"/>
                <a:ea typeface="微软雅黑" panose="020B0503020204020204" charset="-122"/>
                <a:cs typeface="微软雅黑" panose="020B0503020204020204" charset="-122"/>
                <a:sym typeface="+mn-ea"/>
              </a:rPr>
              <a:t>坚持系统优化的方法</a:t>
            </a:r>
            <a:r>
              <a:rPr lang="zh-CN" sz="2800">
                <a:solidFill>
                  <a:srgbClr val="000000"/>
                </a:solidFill>
                <a:latin typeface="微软雅黑" panose="020B0503020204020204" charset="-122"/>
                <a:ea typeface="微软雅黑" panose="020B0503020204020204" charset="-122"/>
                <a:cs typeface="微软雅黑" panose="020B0503020204020204" charset="-122"/>
                <a:sym typeface="+mn-ea"/>
              </a:rPr>
              <a:t>，</a:t>
            </a:r>
            <a:r>
              <a:rPr lang="zh-CN" sz="2800">
                <a:solidFill>
                  <a:srgbClr val="4F81BD"/>
                </a:solidFill>
                <a:latin typeface="微软雅黑" panose="020B0503020204020204" charset="-122"/>
                <a:ea typeface="微软雅黑" panose="020B0503020204020204" charset="-122"/>
                <a:cs typeface="微软雅黑" panose="020B0503020204020204" charset="-122"/>
                <a:sym typeface="+mn-ea"/>
              </a:rPr>
              <a:t>既疏解非首都功能又发挥一核两翼的作用</a:t>
            </a:r>
            <a:r>
              <a:rPr lang="zh-CN" sz="2800">
                <a:solidFill>
                  <a:srgbClr val="000000"/>
                </a:solidFill>
                <a:latin typeface="微软雅黑" panose="020B0503020204020204" charset="-122"/>
                <a:ea typeface="微软雅黑" panose="020B0503020204020204" charset="-122"/>
                <a:cs typeface="微软雅黑" panose="020B0503020204020204" charset="-122"/>
                <a:sym typeface="+mn-ea"/>
              </a:rPr>
              <a:t>，促进</a:t>
            </a:r>
            <a:r>
              <a:rPr lang="zh-CN" sz="2800">
                <a:solidFill>
                  <a:srgbClr val="00B050"/>
                </a:solidFill>
                <a:latin typeface="微软雅黑" panose="020B0503020204020204" charset="-122"/>
                <a:ea typeface="微软雅黑" panose="020B0503020204020204" charset="-122"/>
                <a:cs typeface="微软雅黑" panose="020B0503020204020204" charset="-122"/>
                <a:sym typeface="+mn-ea"/>
              </a:rPr>
              <a:t>区域协调发展</a:t>
            </a:r>
            <a:r>
              <a:rPr lang="zh-CN" sz="2800">
                <a:solidFill>
                  <a:srgbClr val="000000"/>
                </a:solidFill>
                <a:latin typeface="微软雅黑" panose="020B0503020204020204" charset="-122"/>
                <a:ea typeface="微软雅黑" panose="020B0503020204020204" charset="-122"/>
                <a:cs typeface="微软雅黑" panose="020B0503020204020204" charset="-122"/>
                <a:sym typeface="+mn-ea"/>
              </a:rPr>
              <a:t>，助推首都都市圈高质量发展；</a:t>
            </a:r>
          </a:p>
          <a:p>
            <a:pPr indent="0">
              <a:lnSpc>
                <a:spcPct val="150000"/>
              </a:lnSpc>
            </a:pPr>
            <a:r>
              <a:rPr lang="zh-CN" sz="2800">
                <a:solidFill>
                  <a:srgbClr val="000000"/>
                </a:solidFill>
                <a:latin typeface="微软雅黑" panose="020B0503020204020204" charset="-122"/>
                <a:ea typeface="微软雅黑" panose="020B0503020204020204" charset="-122"/>
                <a:cs typeface="微软雅黑" panose="020B0503020204020204" charset="-122"/>
                <a:sym typeface="+mn-ea"/>
              </a:rPr>
              <a:t>坚</a:t>
            </a:r>
            <a:r>
              <a:rPr lang="zh-CN" sz="2800">
                <a:solidFill>
                  <a:srgbClr val="FF0000"/>
                </a:solidFill>
                <a:latin typeface="微软雅黑" panose="020B0503020204020204" charset="-122"/>
                <a:ea typeface="微软雅黑" panose="020B0503020204020204" charset="-122"/>
                <a:cs typeface="微软雅黑" panose="020B0503020204020204" charset="-122"/>
                <a:sym typeface="+mn-ea"/>
              </a:rPr>
              <a:t>持创新绿色发展</a:t>
            </a:r>
            <a:r>
              <a:rPr lang="zh-CN" sz="2800">
                <a:solidFill>
                  <a:srgbClr val="000000"/>
                </a:solidFill>
                <a:latin typeface="微软雅黑" panose="020B0503020204020204" charset="-122"/>
                <a:ea typeface="微软雅黑" panose="020B0503020204020204" charset="-122"/>
                <a:cs typeface="微软雅黑" panose="020B0503020204020204" charset="-122"/>
                <a:sym typeface="+mn-ea"/>
              </a:rPr>
              <a:t>，</a:t>
            </a:r>
            <a:r>
              <a:rPr lang="zh-CN" sz="2800">
                <a:solidFill>
                  <a:srgbClr val="4F81BD"/>
                </a:solidFill>
                <a:latin typeface="微软雅黑" panose="020B0503020204020204" charset="-122"/>
                <a:ea typeface="微软雅黑" panose="020B0503020204020204" charset="-122"/>
                <a:cs typeface="微软雅黑" panose="020B0503020204020204" charset="-122"/>
                <a:sym typeface="+mn-ea"/>
              </a:rPr>
              <a:t>发挥三地比较优势，促进产业优化升级</a:t>
            </a:r>
            <a:r>
              <a:rPr lang="zh-CN" sz="2800">
                <a:solidFill>
                  <a:srgbClr val="000000"/>
                </a:solidFill>
                <a:latin typeface="微软雅黑" panose="020B0503020204020204" charset="-122"/>
                <a:ea typeface="微软雅黑" panose="020B0503020204020204" charset="-122"/>
                <a:cs typeface="微软雅黑" panose="020B0503020204020204" charset="-122"/>
                <a:sym typeface="+mn-ea"/>
              </a:rPr>
              <a:t>，构建</a:t>
            </a:r>
            <a:r>
              <a:rPr lang="zh-CN" sz="2800">
                <a:solidFill>
                  <a:srgbClr val="00B050"/>
                </a:solidFill>
                <a:latin typeface="微软雅黑" panose="020B0503020204020204" charset="-122"/>
                <a:ea typeface="微软雅黑" panose="020B0503020204020204" charset="-122"/>
                <a:cs typeface="微软雅黑" panose="020B0503020204020204" charset="-122"/>
                <a:sym typeface="+mn-ea"/>
              </a:rPr>
              <a:t>创新引领协调发展的现化化产业体系</a:t>
            </a:r>
            <a:r>
              <a:rPr lang="zh-CN" sz="2800">
                <a:solidFill>
                  <a:srgbClr val="000000"/>
                </a:solidFill>
                <a:latin typeface="微软雅黑" panose="020B0503020204020204" charset="-122"/>
                <a:ea typeface="微软雅黑" panose="020B0503020204020204" charset="-122"/>
                <a:cs typeface="微软雅黑" panose="020B0503020204020204" charset="-122"/>
                <a:sym typeface="+mn-ea"/>
              </a:rPr>
              <a:t>，助推首都都市圈高质量发展。</a:t>
            </a:r>
            <a:endParaRPr lang="zh-CN" altLang="en-US" sz="2800">
              <a:solidFill>
                <a:srgbClr val="000000"/>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71675" y="335915"/>
            <a:ext cx="8555990" cy="6416675"/>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27200" y="153670"/>
            <a:ext cx="8815070" cy="6609080"/>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jk5ODM0YmMxOWJiYWQyNDU4MGIzYWRmYTA0ZmI5NDcifQ=="/>
  <p:tag name="KSO_WPP_MARK_KEY" val="41a24e4f-fba0-4c04-8506-1aa95575cade"/>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973</TotalTime>
  <Words>5411</Words>
  <Application>Microsoft Macintosh PowerPoint</Application>
  <PresentationFormat>宽屏</PresentationFormat>
  <Paragraphs>196</Paragraphs>
  <Slides>74</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74</vt:i4>
      </vt:variant>
    </vt:vector>
  </HeadingPairs>
  <TitlesOfParts>
    <vt:vector size="87" baseType="lpstr">
      <vt:lpstr>等线</vt:lpstr>
      <vt:lpstr>等线 Light</vt:lpstr>
      <vt:lpstr>仿宋</vt:lpstr>
      <vt:lpstr>黑体</vt:lpstr>
      <vt:lpstr>楷体</vt:lpstr>
      <vt:lpstr>宋体</vt:lpstr>
      <vt:lpstr>微软雅黑</vt:lpstr>
      <vt:lpstr>PingFang SC</vt:lpstr>
      <vt:lpstr>Arial</vt:lpstr>
      <vt:lpstr>Calibri</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jiamei zhang</dc:creator>
  <cp:lastModifiedBy>吴 岩</cp:lastModifiedBy>
  <cp:revision>130</cp:revision>
  <dcterms:created xsi:type="dcterms:W3CDTF">2024-03-18T05:15:00Z</dcterms:created>
  <dcterms:modified xsi:type="dcterms:W3CDTF">2025-05-18T00:30:39Z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54568BDD870D4082B36AE000B46388AE</vt:lpwstr>
  </property>
  <property fmtid="{D5CDD505-2E9C-101B-9397-08002B2CF9AE}" pid="3" name="KSOProductBuildVer">
    <vt:lpwstr>2052-11.1.0.12651</vt:lpwstr>
  </property>
</Properties>
</file>