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5716754" r:id="rId2"/>
    <p:sldId id="26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15716755" r:id="rId13"/>
    <p:sldId id="15716756" r:id="rId14"/>
    <p:sldId id="15716757" r:id="rId15"/>
    <p:sldId id="15716758" r:id="rId16"/>
    <p:sldId id="15716759" r:id="rId17"/>
    <p:sldId id="1571676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6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7FBEB-4D5F-4136-8419-830BF9A739F2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9A9D-4F26-453A-8A34-73AEA8677247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344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7FBEB-4D5F-4136-8419-830BF9A739F2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9A9D-4F26-453A-8A34-73AEA8677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983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7FBEB-4D5F-4136-8419-830BF9A739F2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9A9D-4F26-453A-8A34-73AEA8677247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296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7FBEB-4D5F-4136-8419-830BF9A739F2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9A9D-4F26-453A-8A34-73AEA8677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733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7FBEB-4D5F-4136-8419-830BF9A739F2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9A9D-4F26-453A-8A34-73AEA8677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273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7FBEB-4D5F-4136-8419-830BF9A739F2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9A9D-4F26-453A-8A34-73AEA8677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15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7FBEB-4D5F-4136-8419-830BF9A739F2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9A9D-4F26-453A-8A34-73AEA8677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875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A07FBEB-4D5F-4136-8419-830BF9A739F2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509A9D-4F26-453A-8A34-73AEA8677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198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7FBEB-4D5F-4136-8419-830BF9A739F2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9A9D-4F26-453A-8A34-73AEA8677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038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7FBEB-4D5F-4136-8419-830BF9A739F2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9A9D-4F26-453A-8A34-73AEA8677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986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7FBEB-4D5F-4136-8419-830BF9A739F2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9A9D-4F26-453A-8A34-73AEA8677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67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A07FBEB-4D5F-4136-8419-830BF9A739F2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D509A9D-4F26-453A-8A34-73AEA8677247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954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DC167-0B98-E0F2-DCA2-31C503E67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39" y="286603"/>
            <a:ext cx="10729291" cy="1450757"/>
          </a:xfrm>
        </p:spPr>
        <p:txBody>
          <a:bodyPr/>
          <a:lstStyle/>
          <a:p>
            <a:pPr algn="ctr"/>
            <a:r>
              <a:rPr lang="en-US" altLang="zh-CN" dirty="0"/>
              <a:t>0516</a:t>
            </a:r>
            <a:r>
              <a:rPr lang="zh-CN" altLang="en-US" dirty="0"/>
              <a:t>默写说明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ECE92-7902-A2CB-4EE8-EEA508CBD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39" y="1737360"/>
            <a:ext cx="10729291" cy="4131734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3200" dirty="0"/>
              <a:t>1</a:t>
            </a:r>
            <a:r>
              <a:rPr lang="zh-CN" altLang="en-US" sz="3200" dirty="0"/>
              <a:t>、社会主义社会基本矛盾的性质（非对抗性矛盾）？如何解决（改革</a:t>
            </a:r>
            <a:r>
              <a:rPr lang="en-US" altLang="zh-CN" sz="3200" dirty="0"/>
              <a:t>——</a:t>
            </a:r>
            <a:r>
              <a:rPr lang="zh-CN" altLang="en-US" sz="3200" dirty="0"/>
              <a:t>社会主义制度的自我完善和发展）？这一解决方式的地位作用（</a:t>
            </a:r>
            <a:r>
              <a:rPr lang="zh-CN" altLang="en-US" sz="3200" dirty="0">
                <a:solidFill>
                  <a:srgbClr val="FF0000"/>
                </a:solidFill>
              </a:rPr>
              <a:t>改革</a:t>
            </a:r>
            <a:r>
              <a:rPr lang="zh-CN" altLang="en-US" sz="3200" dirty="0"/>
              <a:t>是社会主义社会发展的</a:t>
            </a:r>
            <a:r>
              <a:rPr lang="zh-CN" altLang="en-US" sz="3200" dirty="0">
                <a:solidFill>
                  <a:srgbClr val="FF0000"/>
                </a:solidFill>
              </a:rPr>
              <a:t>直接动力</a:t>
            </a:r>
            <a:r>
              <a:rPr lang="zh-CN" altLang="en-US" sz="3200" dirty="0"/>
              <a:t>）和根本目的（两个相适应）？</a:t>
            </a:r>
            <a:endParaRPr lang="en-US" altLang="zh-CN" sz="3200" dirty="0"/>
          </a:p>
          <a:p>
            <a:r>
              <a:rPr lang="en-US" altLang="zh-CN" sz="3200" dirty="0"/>
              <a:t>2</a:t>
            </a:r>
            <a:r>
              <a:rPr lang="zh-CN" altLang="en-US" sz="3200" dirty="0"/>
              <a:t>、如何做出正确的价值判断和选择（四条）？</a:t>
            </a:r>
            <a:endParaRPr lang="en-US" altLang="zh-CN" sz="3200" dirty="0"/>
          </a:p>
          <a:p>
            <a:r>
              <a:rPr lang="zh-CN" altLang="en-US" sz="3200" dirty="0"/>
              <a:t>①须坚持真理，遵循</a:t>
            </a:r>
            <a:r>
              <a:rPr lang="zh-CN" altLang="en-US" sz="3200" dirty="0">
                <a:solidFill>
                  <a:srgbClr val="FF0000"/>
                </a:solidFill>
              </a:rPr>
              <a:t>社会发展的客观规律</a:t>
            </a:r>
            <a:r>
              <a:rPr lang="zh-CN" altLang="en-US" sz="3200" dirty="0"/>
              <a:t>，走历史的必由之路。</a:t>
            </a:r>
            <a:endParaRPr lang="en-US" altLang="zh-CN" sz="3200" dirty="0"/>
          </a:p>
          <a:p>
            <a:r>
              <a:rPr lang="zh-CN" altLang="en-US" sz="3200" dirty="0"/>
              <a:t>②自觉站在最广大</a:t>
            </a:r>
            <a:r>
              <a:rPr lang="zh-CN" altLang="en-US" sz="3200" dirty="0">
                <a:solidFill>
                  <a:srgbClr val="FF0000"/>
                </a:solidFill>
              </a:rPr>
              <a:t>人民的立场</a:t>
            </a:r>
            <a:r>
              <a:rPr lang="zh-CN" altLang="en-US" sz="3200" dirty="0"/>
              <a:t>上。</a:t>
            </a:r>
            <a:endParaRPr lang="en-US" altLang="zh-CN" sz="3200" dirty="0"/>
          </a:p>
          <a:p>
            <a:r>
              <a:rPr lang="zh-CN" altLang="en-US" sz="3200" dirty="0"/>
              <a:t>③把握</a:t>
            </a:r>
            <a:r>
              <a:rPr lang="zh-CN" altLang="en-US" sz="3200" dirty="0">
                <a:solidFill>
                  <a:srgbClr val="FF0000"/>
                </a:solidFill>
              </a:rPr>
              <a:t>价值判断和价值选择的社会历史性</a:t>
            </a:r>
            <a:r>
              <a:rPr lang="zh-CN" altLang="en-US" sz="3200" dirty="0"/>
              <a:t>。</a:t>
            </a:r>
            <a:endParaRPr lang="en-US" altLang="zh-CN" sz="3200" dirty="0"/>
          </a:p>
          <a:p>
            <a:r>
              <a:rPr lang="zh-CN" altLang="en-US" sz="3200" dirty="0"/>
              <a:t>④在</a:t>
            </a:r>
            <a:r>
              <a:rPr lang="zh-CN" altLang="en-US" sz="3200" dirty="0">
                <a:solidFill>
                  <a:srgbClr val="FF0000"/>
                </a:solidFill>
              </a:rPr>
              <a:t>实践</a:t>
            </a:r>
            <a:r>
              <a:rPr lang="zh-CN" altLang="en-US" sz="3200" dirty="0"/>
              <a:t>的基础上做出正确的价值判断和选择。</a:t>
            </a:r>
          </a:p>
          <a:p>
            <a:endParaRPr lang="en-US" altLang="zh-CN" sz="3200" dirty="0"/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756196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B06B9-B9C9-5BB2-9ED4-2E8C53B2D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17</a:t>
            </a:r>
            <a:r>
              <a:rPr lang="zh-CN" altLang="en-US" dirty="0"/>
              <a:t>默写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45A544-8FB0-5DC1-D947-F8FD03D23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1</a:t>
            </a:r>
            <a:r>
              <a:rPr lang="zh-CN" altLang="en-US" sz="2800" dirty="0"/>
              <a:t>、唯物辩证法的总特征、根本观点、实质与核心？</a:t>
            </a:r>
            <a:endParaRPr lang="en-US" altLang="zh-CN" sz="2800" dirty="0"/>
          </a:p>
          <a:p>
            <a:r>
              <a:rPr lang="en-US" altLang="zh-CN" sz="2800" dirty="0"/>
              <a:t>2</a:t>
            </a:r>
            <a:r>
              <a:rPr lang="zh-CN" altLang="en-US" sz="2800" dirty="0"/>
              <a:t>、发展的观点包括哪些原理方法论？</a:t>
            </a:r>
            <a:endParaRPr lang="en-US" altLang="zh-CN" sz="2800" dirty="0"/>
          </a:p>
          <a:p>
            <a:r>
              <a:rPr lang="en-US" altLang="zh-CN" sz="2800" dirty="0"/>
              <a:t>3</a:t>
            </a:r>
            <a:r>
              <a:rPr lang="zh-CN" altLang="en-US" sz="2800" dirty="0"/>
              <a:t>、矛盾问题的精髓？</a:t>
            </a:r>
          </a:p>
        </p:txBody>
      </p:sp>
    </p:spTree>
    <p:extLst>
      <p:ext uri="{BB962C8B-B14F-4D97-AF65-F5344CB8AC3E}">
        <p14:creationId xmlns:p14="http://schemas.microsoft.com/office/powerpoint/2010/main" val="4266562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5A2AA7-A94A-77D9-BD8C-BA62DB2AF4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6000" dirty="0"/>
              <a:t>西城、东城二模选择题讲评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3E8860-9A2C-26EF-B147-806160A41C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025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B06B9-B9C9-5BB2-9ED4-2E8C53B2D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43" y="354190"/>
            <a:ext cx="11226247" cy="117444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错肢：两个半句逻辑关系（因果、充分必要等）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68C5D98-72EF-E8AA-2E9D-FEB4219843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0622" y="1737360"/>
            <a:ext cx="9372786" cy="4022725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DC1EE1A-06BA-D883-3BEB-44ACD73A22EA}"/>
              </a:ext>
            </a:extLst>
          </p:cNvPr>
          <p:cNvSpPr/>
          <p:nvPr/>
        </p:nvSpPr>
        <p:spPr>
          <a:xfrm>
            <a:off x="1654865" y="4248978"/>
            <a:ext cx="5560944" cy="4422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71E2A8E-419E-D246-ECD2-4E6F0BE95656}"/>
              </a:ext>
            </a:extLst>
          </p:cNvPr>
          <p:cNvCxnSpPr/>
          <p:nvPr/>
        </p:nvCxnSpPr>
        <p:spPr>
          <a:xfrm>
            <a:off x="4517335" y="4482548"/>
            <a:ext cx="54168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18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B06B9-B9C9-5BB2-9ED4-2E8C53B2D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4868" y="187211"/>
            <a:ext cx="10058400" cy="1450757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B54836F-D949-1FF7-AC3E-FD5565D222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8334" y="131761"/>
            <a:ext cx="10296824" cy="6338612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EF7210C-ED10-DEBC-0C54-D69FFF934822}"/>
              </a:ext>
            </a:extLst>
          </p:cNvPr>
          <p:cNvSpPr/>
          <p:nvPr/>
        </p:nvSpPr>
        <p:spPr>
          <a:xfrm>
            <a:off x="6737131" y="1306995"/>
            <a:ext cx="2609021" cy="3876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63A08A-9E10-E6B0-AB2A-A3032C8FAFD4}"/>
              </a:ext>
            </a:extLst>
          </p:cNvPr>
          <p:cNvSpPr/>
          <p:nvPr/>
        </p:nvSpPr>
        <p:spPr>
          <a:xfrm>
            <a:off x="2602453" y="4149586"/>
            <a:ext cx="5014292" cy="4422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45FF5-43B9-D7DE-ED48-5B6D9433D0C9}"/>
              </a:ext>
            </a:extLst>
          </p:cNvPr>
          <p:cNvSpPr/>
          <p:nvPr/>
        </p:nvSpPr>
        <p:spPr>
          <a:xfrm>
            <a:off x="6737132" y="861827"/>
            <a:ext cx="1813892" cy="3507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4351AA-A10E-6615-CD25-574F616D08FA}"/>
              </a:ext>
            </a:extLst>
          </p:cNvPr>
          <p:cNvSpPr/>
          <p:nvPr/>
        </p:nvSpPr>
        <p:spPr>
          <a:xfrm>
            <a:off x="6901127" y="4522304"/>
            <a:ext cx="715618" cy="4422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9FFA6D1-368B-62A6-2729-EB4663608C1E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7258936" y="1431234"/>
            <a:ext cx="561561" cy="30910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CD725D04-A8B9-0E1D-0FCE-7DF488E7654D}"/>
              </a:ext>
            </a:extLst>
          </p:cNvPr>
          <p:cNvSpPr txBox="1"/>
          <p:nvPr/>
        </p:nvSpPr>
        <p:spPr>
          <a:xfrm>
            <a:off x="116432" y="2044941"/>
            <a:ext cx="60951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宏观调控</a:t>
            </a:r>
            <a:endParaRPr lang="en-US" altLang="zh-CN" sz="3600" dirty="0"/>
          </a:p>
          <a:p>
            <a:r>
              <a:rPr lang="zh-CN" altLang="en-US" sz="3600" dirty="0"/>
              <a:t>公共服务</a:t>
            </a:r>
            <a:endParaRPr lang="en-US" altLang="zh-CN" sz="3600" dirty="0"/>
          </a:p>
          <a:p>
            <a:r>
              <a:rPr lang="zh-CN" altLang="en-US" sz="3600" dirty="0"/>
              <a:t>市场监管</a:t>
            </a:r>
          </a:p>
        </p:txBody>
      </p:sp>
    </p:spTree>
    <p:extLst>
      <p:ext uri="{BB962C8B-B14F-4D97-AF65-F5344CB8AC3E}">
        <p14:creationId xmlns:p14="http://schemas.microsoft.com/office/powerpoint/2010/main" val="3652714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B06B9-B9C9-5BB2-9ED4-2E8C53B2D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题肢判断：明确句子主干法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CF9E2CC-E0DE-5D20-1AC0-779F3AF3CC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255" y="1941351"/>
            <a:ext cx="11379490" cy="3987340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2D572C3-DB32-DBF0-7251-49067173AE3E}"/>
              </a:ext>
            </a:extLst>
          </p:cNvPr>
          <p:cNvSpPr/>
          <p:nvPr/>
        </p:nvSpPr>
        <p:spPr>
          <a:xfrm>
            <a:off x="997282" y="5396947"/>
            <a:ext cx="7436069" cy="5317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5DA621-280D-8BBD-58A9-3FC65BD8AD31}"/>
              </a:ext>
            </a:extLst>
          </p:cNvPr>
          <p:cNvSpPr/>
          <p:nvPr/>
        </p:nvSpPr>
        <p:spPr>
          <a:xfrm>
            <a:off x="4715316" y="4944206"/>
            <a:ext cx="1813892" cy="3507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4D1E98C-779B-516B-A95C-3AD43E726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6030686"/>
            <a:ext cx="8364607" cy="7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902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B06B9-B9C9-5BB2-9ED4-2E8C53B2D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FBEB282-3ED1-F913-B128-2573EB4D9C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0491" y="1811904"/>
            <a:ext cx="10979177" cy="4082001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616CB9A-9810-088E-4446-D0B24911CDA8}"/>
              </a:ext>
            </a:extLst>
          </p:cNvPr>
          <p:cNvSpPr/>
          <p:nvPr/>
        </p:nvSpPr>
        <p:spPr>
          <a:xfrm>
            <a:off x="800100" y="5252829"/>
            <a:ext cx="8671891" cy="4373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583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B06B9-B9C9-5BB2-9ED4-2E8C53B2D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219" y="167333"/>
            <a:ext cx="10058400" cy="761976"/>
          </a:xfrm>
        </p:spPr>
        <p:txBody>
          <a:bodyPr>
            <a:normAutofit/>
          </a:bodyPr>
          <a:lstStyle/>
          <a:p>
            <a:r>
              <a:rPr lang="zh-CN" altLang="en-US" dirty="0"/>
              <a:t>判断的真假与前后件之间的必然关系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D2C8325-4297-097E-FC46-110FB8329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7172" y="813376"/>
            <a:ext cx="9829800" cy="2809875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097957E-1836-EB8C-8A27-9EC4523D4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235" y="3429000"/>
            <a:ext cx="5736140" cy="325067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2CD3352-B325-9F4F-8546-07BFD2BD9D29}"/>
              </a:ext>
            </a:extLst>
          </p:cNvPr>
          <p:cNvSpPr/>
          <p:nvPr/>
        </p:nvSpPr>
        <p:spPr>
          <a:xfrm>
            <a:off x="3347346" y="4757196"/>
            <a:ext cx="1115324" cy="8832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30E925-7399-1697-745D-E2D90AD34531}"/>
              </a:ext>
            </a:extLst>
          </p:cNvPr>
          <p:cNvSpPr/>
          <p:nvPr/>
        </p:nvSpPr>
        <p:spPr>
          <a:xfrm>
            <a:off x="4701209" y="3945835"/>
            <a:ext cx="1182756" cy="280987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E64595-67DD-BC87-AB08-25B65F8C6621}"/>
              </a:ext>
            </a:extLst>
          </p:cNvPr>
          <p:cNvSpPr/>
          <p:nvPr/>
        </p:nvSpPr>
        <p:spPr>
          <a:xfrm>
            <a:off x="7318514" y="3869799"/>
            <a:ext cx="1182756" cy="280987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4551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B06B9-B9C9-5BB2-9ED4-2E8C53B2D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C1C6D53-4D2F-5CFA-E1E0-0D685A791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489" y="1965503"/>
            <a:ext cx="10058400" cy="3496010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B5093B7-C59B-9B38-1F1A-5AB25DB86E79}"/>
              </a:ext>
            </a:extLst>
          </p:cNvPr>
          <p:cNvSpPr/>
          <p:nvPr/>
        </p:nvSpPr>
        <p:spPr>
          <a:xfrm>
            <a:off x="949187" y="4189342"/>
            <a:ext cx="6057900" cy="8845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726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B06B9-B9C9-5BB2-9ED4-2E8C53B2D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86E0DD2-A756-71BF-B2CA-F5E67CAED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663" y="1885913"/>
            <a:ext cx="10058400" cy="3724763"/>
          </a:xfrm>
        </p:spPr>
      </p:pic>
    </p:spTree>
    <p:extLst>
      <p:ext uri="{BB962C8B-B14F-4D97-AF65-F5344CB8AC3E}">
        <p14:creationId xmlns:p14="http://schemas.microsoft.com/office/powerpoint/2010/main" val="379605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B06B9-B9C9-5BB2-9ED4-2E8C53B2D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4D6824C-6462-CF42-703D-020990DB2C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1156" y="3887597"/>
            <a:ext cx="8351380" cy="2929959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FB841B3-985C-28D2-9603-00F16C866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424" y="0"/>
            <a:ext cx="8422378" cy="366929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CB8936E-6C4A-D2AD-9E2B-662BBD5BF961}"/>
              </a:ext>
            </a:extLst>
          </p:cNvPr>
          <p:cNvSpPr/>
          <p:nvPr/>
        </p:nvSpPr>
        <p:spPr>
          <a:xfrm>
            <a:off x="2468217" y="2946950"/>
            <a:ext cx="2446683" cy="3130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3F126A-399A-872F-7711-D1CE67C97A44}"/>
              </a:ext>
            </a:extLst>
          </p:cNvPr>
          <p:cNvSpPr/>
          <p:nvPr/>
        </p:nvSpPr>
        <p:spPr>
          <a:xfrm>
            <a:off x="1784902" y="5456581"/>
            <a:ext cx="1366630" cy="8845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254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B06B9-B9C9-5BB2-9ED4-2E8C53B2D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90C34C1-C9F7-17E7-6DDA-CB38A971EE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865" y="385211"/>
            <a:ext cx="9839700" cy="4022725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95BC005-8E30-A82C-687C-F669047BAD6B}"/>
              </a:ext>
            </a:extLst>
          </p:cNvPr>
          <p:cNvSpPr/>
          <p:nvPr/>
        </p:nvSpPr>
        <p:spPr>
          <a:xfrm>
            <a:off x="4639434" y="3185489"/>
            <a:ext cx="2909336" cy="3677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022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B06B9-B9C9-5BB2-9ED4-2E8C53B2D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对比：</a:t>
            </a:r>
            <a:r>
              <a:rPr lang="zh-CN" altLang="en-US" dirty="0">
                <a:solidFill>
                  <a:srgbClr val="FF0000"/>
                </a:solidFill>
              </a:rPr>
              <a:t>侵犯商标专用权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FF0000"/>
                </a:solidFill>
              </a:rPr>
              <a:t>混淆</a:t>
            </a:r>
            <a:r>
              <a:rPr lang="zh-CN" altLang="en-US" dirty="0"/>
              <a:t>行为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36175FC-030C-8A04-77E8-2192716AF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093" y="1962872"/>
            <a:ext cx="10493963" cy="4169572"/>
          </a:xfrm>
        </p:spPr>
      </p:pic>
    </p:spTree>
    <p:extLst>
      <p:ext uri="{BB962C8B-B14F-4D97-AF65-F5344CB8AC3E}">
        <p14:creationId xmlns:p14="http://schemas.microsoft.com/office/powerpoint/2010/main" val="3197207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B46E49-7A24-CF93-ACA8-319ECE6A1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7649982-1A18-3AAB-72D8-F0D85F17B8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9085" y="1773779"/>
            <a:ext cx="9444603" cy="4797618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5516E91-C1FB-7014-7AF8-7FA925956E7A}"/>
              </a:ext>
            </a:extLst>
          </p:cNvPr>
          <p:cNvSpPr/>
          <p:nvPr/>
        </p:nvSpPr>
        <p:spPr>
          <a:xfrm>
            <a:off x="8779082" y="5054046"/>
            <a:ext cx="2909336" cy="3677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BD362A-1D3B-1B2E-C7C0-38A934C53760}"/>
              </a:ext>
            </a:extLst>
          </p:cNvPr>
          <p:cNvSpPr/>
          <p:nvPr/>
        </p:nvSpPr>
        <p:spPr>
          <a:xfrm>
            <a:off x="1988998" y="5421795"/>
            <a:ext cx="9214690" cy="10386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403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B9E05B1-7B27-9AB2-D2EA-0BB3FA2AA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0054" y="1846263"/>
            <a:ext cx="9452218" cy="4022725"/>
          </a:xfr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2101904-D2D2-467A-6BC0-1A591A4F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DC995B-C898-8AC9-7989-03563F3414C6}"/>
              </a:ext>
            </a:extLst>
          </p:cNvPr>
          <p:cNvSpPr/>
          <p:nvPr/>
        </p:nvSpPr>
        <p:spPr>
          <a:xfrm>
            <a:off x="1856477" y="5451610"/>
            <a:ext cx="7824235" cy="4721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409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CD0A83-392C-001D-9A69-0CE74FC80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3A0B2B4-FF8E-C7D4-DC10-A5F5C82F91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1268" y="668476"/>
            <a:ext cx="7748206" cy="5493785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5D045F9-7A91-0122-637A-ED286D7C2375}"/>
              </a:ext>
            </a:extLst>
          </p:cNvPr>
          <p:cNvSpPr/>
          <p:nvPr/>
        </p:nvSpPr>
        <p:spPr>
          <a:xfrm>
            <a:off x="2454965" y="4825448"/>
            <a:ext cx="5640457" cy="7673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807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E8BAC6-824C-8ED6-5976-3A3B75D9A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53A403A-7D22-A82D-7D5A-179AC1133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2071046"/>
            <a:ext cx="10058400" cy="3573158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2471B83-191D-8024-A259-5A390D2ED8B8}"/>
              </a:ext>
            </a:extLst>
          </p:cNvPr>
          <p:cNvSpPr/>
          <p:nvPr/>
        </p:nvSpPr>
        <p:spPr>
          <a:xfrm>
            <a:off x="7046844" y="4422910"/>
            <a:ext cx="1540564" cy="4721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A3B679-D16D-CE6D-1FAB-36275CBB712A}"/>
              </a:ext>
            </a:extLst>
          </p:cNvPr>
          <p:cNvSpPr/>
          <p:nvPr/>
        </p:nvSpPr>
        <p:spPr>
          <a:xfrm>
            <a:off x="1550504" y="4879501"/>
            <a:ext cx="2582517" cy="4721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125384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373</TotalTime>
  <Words>209</Words>
  <Application>Microsoft Office PowerPoint</Application>
  <PresentationFormat>宽屏</PresentationFormat>
  <Paragraphs>19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Calibri</vt:lpstr>
      <vt:lpstr>Calibri Light</vt:lpstr>
      <vt:lpstr>回顾</vt:lpstr>
      <vt:lpstr>0516默写说明</vt:lpstr>
      <vt:lpstr>5月17默写</vt:lpstr>
      <vt:lpstr>西城、东城二模选择题讲评</vt:lpstr>
      <vt:lpstr>错肢：两个半句逻辑关系（因果、充分必要等）</vt:lpstr>
      <vt:lpstr>PowerPoint 演示文稿</vt:lpstr>
      <vt:lpstr>题肢判断：明确句子主干法</vt:lpstr>
      <vt:lpstr>PowerPoint 演示文稿</vt:lpstr>
      <vt:lpstr>判断的真假与前后件之间的必然关系</vt:lpstr>
      <vt:lpstr>PowerPoint 演示文稿</vt:lpstr>
      <vt:lpstr>PowerPoint 演示文稿</vt:lpstr>
      <vt:lpstr>PowerPoint 演示文稿</vt:lpstr>
      <vt:lpstr>PowerPoint 演示文稿</vt:lpstr>
      <vt:lpstr>对比：侵犯商标专用权与混淆行为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0516默写说明</dc:title>
  <dc:creator>东沣 井</dc:creator>
  <cp:lastModifiedBy>东沣 井</cp:lastModifiedBy>
  <cp:revision>17</cp:revision>
  <dcterms:created xsi:type="dcterms:W3CDTF">2024-05-17T01:20:04Z</dcterms:created>
  <dcterms:modified xsi:type="dcterms:W3CDTF">2024-05-18T00:05:03Z</dcterms:modified>
</cp:coreProperties>
</file>