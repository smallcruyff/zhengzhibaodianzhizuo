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2.svg" ContentType="image/svg+xml"/>
  <Override PartName="/ppt/media/image14.svg" ContentType="image/svg+xml"/>
  <Override PartName="/ppt/media/image1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3">
  <p:sldMasterIdLst>
    <p:sldMasterId id="2147483648" r:id="rId1"/>
  </p:sldMasterIdLst>
  <p:notesMasterIdLst>
    <p:notesMasterId r:id="rId6"/>
  </p:notesMasterIdLst>
  <p:handoutMasterIdLst>
    <p:handoutMasterId r:id="rId54"/>
  </p:handoutMasterIdLst>
  <p:sldIdLst>
    <p:sldId id="256" r:id="rId3"/>
    <p:sldId id="3123" r:id="rId4"/>
    <p:sldId id="315" r:id="rId5"/>
    <p:sldId id="324" r:id="rId7"/>
    <p:sldId id="3149" r:id="rId8"/>
    <p:sldId id="3201" r:id="rId9"/>
    <p:sldId id="3202" r:id="rId10"/>
    <p:sldId id="3127" r:id="rId11"/>
    <p:sldId id="3203" r:id="rId12"/>
    <p:sldId id="3204" r:id="rId13"/>
    <p:sldId id="3219" r:id="rId14"/>
    <p:sldId id="3205" r:id="rId15"/>
    <p:sldId id="3206" r:id="rId16"/>
    <p:sldId id="3207" r:id="rId17"/>
    <p:sldId id="3208" r:id="rId18"/>
    <p:sldId id="3209" r:id="rId19"/>
    <p:sldId id="3210" r:id="rId20"/>
    <p:sldId id="3211" r:id="rId21"/>
    <p:sldId id="3212" r:id="rId22"/>
    <p:sldId id="3220" r:id="rId23"/>
    <p:sldId id="3221" r:id="rId24"/>
    <p:sldId id="3213" r:id="rId25"/>
    <p:sldId id="3214" r:id="rId26"/>
    <p:sldId id="3215" r:id="rId27"/>
    <p:sldId id="3216" r:id="rId28"/>
    <p:sldId id="3128" r:id="rId29"/>
    <p:sldId id="3129" r:id="rId30"/>
    <p:sldId id="3222" r:id="rId31"/>
    <p:sldId id="17275" r:id="rId32"/>
    <p:sldId id="17282" r:id="rId33"/>
    <p:sldId id="3223" r:id="rId34"/>
    <p:sldId id="17277" r:id="rId35"/>
    <p:sldId id="17278" r:id="rId36"/>
    <p:sldId id="17279" r:id="rId37"/>
    <p:sldId id="17280" r:id="rId38"/>
    <p:sldId id="17281" r:id="rId39"/>
    <p:sldId id="17284" r:id="rId40"/>
    <p:sldId id="17283" r:id="rId41"/>
    <p:sldId id="17285" r:id="rId42"/>
    <p:sldId id="17291" r:id="rId43"/>
    <p:sldId id="17286" r:id="rId44"/>
    <p:sldId id="17266" r:id="rId45"/>
    <p:sldId id="17287" r:id="rId46"/>
    <p:sldId id="17288" r:id="rId47"/>
    <p:sldId id="17292" r:id="rId48"/>
    <p:sldId id="17289" r:id="rId49"/>
    <p:sldId id="17290" r:id="rId50"/>
    <p:sldId id="17293" r:id="rId51"/>
    <p:sldId id="17294" r:id="rId52"/>
    <p:sldId id="3179" r:id="rId53"/>
  </p:sldIdLst>
  <p:sldSz cx="12192000" cy="6858000"/>
  <p:notesSz cx="6858000" cy="9144000"/>
  <p:custDataLst>
    <p:tags r:id="rId5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15" userDrawn="1">
          <p15:clr>
            <a:srgbClr val="A4A3A4"/>
          </p15:clr>
        </p15:guide>
        <p15:guide id="2" pos="7129" userDrawn="1">
          <p15:clr>
            <a:srgbClr val="A4A3A4"/>
          </p15:clr>
        </p15:guide>
        <p15:guide id="3" orient="horz" pos="1162" userDrawn="1">
          <p15:clr>
            <a:srgbClr val="A4A3A4"/>
          </p15:clr>
        </p15:guide>
        <p15:guide id="5" orient="horz" pos="392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115BD8"/>
    <a:srgbClr val="000000"/>
    <a:srgbClr val="1057CE"/>
    <a:srgbClr val="051C41"/>
    <a:srgbClr val="FBBD06"/>
    <a:srgbClr val="4382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359" autoAdjust="0"/>
    <p:restoredTop sz="93452" autoAdjust="0"/>
  </p:normalViewPr>
  <p:slideViewPr>
    <p:cSldViewPr snapToGrid="0" showGuides="1">
      <p:cViewPr varScale="1">
        <p:scale>
          <a:sx n="62" d="100"/>
          <a:sy n="62" d="100"/>
        </p:scale>
        <p:origin x="1084" y="36"/>
      </p:cViewPr>
      <p:guideLst>
        <p:guide pos="415"/>
        <p:guide pos="7129"/>
        <p:guide orient="horz" pos="1162"/>
        <p:guide orient="horz" pos="3929"/>
      </p:guideLst>
    </p:cSldViewPr>
  </p:slideViewPr>
  <p:notesTextViewPr>
    <p:cViewPr>
      <p:scale>
        <a:sx n="1" d="1"/>
        <a:sy n="1" d="1"/>
      </p:scale>
      <p:origin x="0" y="0"/>
    </p:cViewPr>
  </p:notesTextViewPr>
  <p:sorterViewPr>
    <p:cViewPr>
      <p:scale>
        <a:sx n="125" d="100"/>
        <a:sy n="125" d="100"/>
      </p:scale>
      <p:origin x="0" y="0"/>
    </p:cViewPr>
  </p:sorterViewPr>
  <p:notesViewPr>
    <p:cSldViewPr snapToGrid="0">
      <p:cViewPr varScale="1">
        <p:scale>
          <a:sx n="88" d="100"/>
          <a:sy n="88" d="100"/>
        </p:scale>
        <p:origin x="2131" y="86"/>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8" Type="http://schemas.openxmlformats.org/officeDocument/2006/relationships/tags" Target="tags/tag27.xml"/><Relationship Id="rId57" Type="http://schemas.openxmlformats.org/officeDocument/2006/relationships/tableStyles" Target="tableStyles.xml"/><Relationship Id="rId56" Type="http://schemas.openxmlformats.org/officeDocument/2006/relationships/viewProps" Target="viewProps.xml"/><Relationship Id="rId55" Type="http://schemas.openxmlformats.org/officeDocument/2006/relationships/presProps" Target="presProps.xml"/><Relationship Id="rId54" Type="http://schemas.openxmlformats.org/officeDocument/2006/relationships/handoutMaster" Target="handoutMasters/handoutMaster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3C3195A-ED01-4EDB-AA7A-A28706909EE1}"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766CF6E-6D36-4AEF-82CC-2BC78FA5E455}"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2D67AE-BB6E-4E73-B371-3C214823FA55}"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751ED4-6AA8-42CC-B2A4-B42EC1B64CF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8751ED4-6AA8-42CC-B2A4-B42EC1B64CF0}"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8751ED4-6AA8-42CC-B2A4-B42EC1B64CF0}"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8751ED4-6AA8-42CC-B2A4-B42EC1B64CF0}"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8751ED4-6AA8-42CC-B2A4-B42EC1B64CF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image3.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4" Type="http://schemas.openxmlformats.org/officeDocument/2006/relationships/image" Target="../media/image6.png"/><Relationship Id="rId3" Type="http://schemas.microsoft.com/office/2007/relationships/hdphoto" Target="../media/image5.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页">
    <p:spTree>
      <p:nvGrpSpPr>
        <p:cNvPr id="1" name=""/>
        <p:cNvGrpSpPr/>
        <p:nvPr/>
      </p:nvGrpSpPr>
      <p:grpSpPr>
        <a:xfrm>
          <a:off x="0" y="0"/>
          <a:ext cx="0" cy="0"/>
          <a:chOff x="0" y="0"/>
          <a:chExt cx="0" cy="0"/>
        </a:xfrm>
      </p:grpSpPr>
      <p:sp>
        <p:nvSpPr>
          <p:cNvPr id="5" name="矩形: 圆角 4"/>
          <p:cNvSpPr/>
          <p:nvPr userDrawn="1"/>
        </p:nvSpPr>
        <p:spPr>
          <a:xfrm>
            <a:off x="0" y="0"/>
            <a:ext cx="12192000" cy="6858000"/>
          </a:xfrm>
          <a:prstGeom prst="roundRect">
            <a:avLst>
              <a:gd name="adj" fmla="val 0"/>
            </a:avLst>
          </a:prstGeom>
          <a:gradFill flip="none" rotWithShape="1">
            <a:gsLst>
              <a:gs pos="100000">
                <a:schemeClr val="accent1"/>
              </a:gs>
              <a:gs pos="0">
                <a:schemeClr val="accent1">
                  <a:lumMod val="75000"/>
                </a:schemeClr>
              </a:gs>
            </a:gsLst>
            <a:lin ang="0" scaled="1"/>
            <a:tileRect/>
          </a:gra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任意多边形: 形状 7"/>
          <p:cNvSpPr/>
          <p:nvPr userDrawn="1"/>
        </p:nvSpPr>
        <p:spPr>
          <a:xfrm>
            <a:off x="0" y="2362200"/>
            <a:ext cx="12192000" cy="3017520"/>
          </a:xfrm>
          <a:custGeom>
            <a:avLst/>
            <a:gdLst>
              <a:gd name="connsiteX0" fmla="*/ 6096001 w 12192000"/>
              <a:gd name="connsiteY0" fmla="*/ 0 h 3017520"/>
              <a:gd name="connsiteX1" fmla="*/ 11912335 w 12192000"/>
              <a:gd name="connsiteY1" fmla="*/ 665198 h 3017520"/>
              <a:gd name="connsiteX2" fmla="*/ 12192000 w 12192000"/>
              <a:gd name="connsiteY2" fmla="*/ 764218 h 3017520"/>
              <a:gd name="connsiteX3" fmla="*/ 12192000 w 12192000"/>
              <a:gd name="connsiteY3" fmla="*/ 2253303 h 3017520"/>
              <a:gd name="connsiteX4" fmla="*/ 11912335 w 12192000"/>
              <a:gd name="connsiteY4" fmla="*/ 2352322 h 3017520"/>
              <a:gd name="connsiteX5" fmla="*/ 6096001 w 12192000"/>
              <a:gd name="connsiteY5" fmla="*/ 3017520 h 3017520"/>
              <a:gd name="connsiteX6" fmla="*/ 279667 w 12192000"/>
              <a:gd name="connsiteY6" fmla="*/ 2352322 h 3017520"/>
              <a:gd name="connsiteX7" fmla="*/ 0 w 12192000"/>
              <a:gd name="connsiteY7" fmla="*/ 2253302 h 3017520"/>
              <a:gd name="connsiteX8" fmla="*/ 0 w 12192000"/>
              <a:gd name="connsiteY8" fmla="*/ 764218 h 3017520"/>
              <a:gd name="connsiteX9" fmla="*/ 279667 w 12192000"/>
              <a:gd name="connsiteY9" fmla="*/ 665198 h 3017520"/>
              <a:gd name="connsiteX10" fmla="*/ 6096001 w 12192000"/>
              <a:gd name="connsiteY10" fmla="*/ 0 h 3017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92000" h="3017520">
                <a:moveTo>
                  <a:pt x="6096001" y="0"/>
                </a:moveTo>
                <a:cubicBezTo>
                  <a:pt x="8517168" y="0"/>
                  <a:pt x="10651822" y="263865"/>
                  <a:pt x="11912335" y="665198"/>
                </a:cubicBezTo>
                <a:lnTo>
                  <a:pt x="12192000" y="764218"/>
                </a:lnTo>
                <a:lnTo>
                  <a:pt x="12192000" y="2253303"/>
                </a:lnTo>
                <a:lnTo>
                  <a:pt x="11912335" y="2352322"/>
                </a:lnTo>
                <a:cubicBezTo>
                  <a:pt x="10651822" y="2753655"/>
                  <a:pt x="8517168" y="3017520"/>
                  <a:pt x="6096001" y="3017520"/>
                </a:cubicBezTo>
                <a:cubicBezTo>
                  <a:pt x="3674834" y="3017520"/>
                  <a:pt x="1540181" y="2753655"/>
                  <a:pt x="279667" y="2352322"/>
                </a:cubicBezTo>
                <a:lnTo>
                  <a:pt x="0" y="2253302"/>
                </a:lnTo>
                <a:lnTo>
                  <a:pt x="0" y="764218"/>
                </a:lnTo>
                <a:lnTo>
                  <a:pt x="279667" y="665198"/>
                </a:lnTo>
                <a:cubicBezTo>
                  <a:pt x="1540181" y="263865"/>
                  <a:pt x="3674834" y="0"/>
                  <a:pt x="6096001"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 name="任意多边形: 形状 8"/>
          <p:cNvSpPr/>
          <p:nvPr userDrawn="1"/>
        </p:nvSpPr>
        <p:spPr>
          <a:xfrm>
            <a:off x="0" y="0"/>
            <a:ext cx="12192000" cy="5379720"/>
          </a:xfrm>
          <a:custGeom>
            <a:avLst/>
            <a:gdLst>
              <a:gd name="connsiteX0" fmla="*/ 0 w 12192000"/>
              <a:gd name="connsiteY0" fmla="*/ 0 h 5379720"/>
              <a:gd name="connsiteX1" fmla="*/ 12192000 w 12192000"/>
              <a:gd name="connsiteY1" fmla="*/ 0 h 5379720"/>
              <a:gd name="connsiteX2" fmla="*/ 12192000 w 12192000"/>
              <a:gd name="connsiteY2" fmla="*/ 1760780 h 5379720"/>
              <a:gd name="connsiteX3" fmla="*/ 12192000 w 12192000"/>
              <a:gd name="connsiteY3" fmla="*/ 4152341 h 5379720"/>
              <a:gd name="connsiteX4" fmla="*/ 11912335 w 12192000"/>
              <a:gd name="connsiteY4" fmla="*/ 4311372 h 5379720"/>
              <a:gd name="connsiteX5" fmla="*/ 6096001 w 12192000"/>
              <a:gd name="connsiteY5" fmla="*/ 5379720 h 5379720"/>
              <a:gd name="connsiteX6" fmla="*/ 279667 w 12192000"/>
              <a:gd name="connsiteY6" fmla="*/ 4311372 h 5379720"/>
              <a:gd name="connsiteX7" fmla="*/ 0 w 12192000"/>
              <a:gd name="connsiteY7" fmla="*/ 4152340 h 5379720"/>
              <a:gd name="connsiteX8" fmla="*/ 0 w 12192000"/>
              <a:gd name="connsiteY8" fmla="*/ 1760781 h 5379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5379720">
                <a:moveTo>
                  <a:pt x="0" y="0"/>
                </a:moveTo>
                <a:lnTo>
                  <a:pt x="12192000" y="0"/>
                </a:lnTo>
                <a:lnTo>
                  <a:pt x="12192000" y="1760780"/>
                </a:lnTo>
                <a:lnTo>
                  <a:pt x="12192000" y="4152341"/>
                </a:lnTo>
                <a:lnTo>
                  <a:pt x="11912335" y="4311372"/>
                </a:lnTo>
                <a:cubicBezTo>
                  <a:pt x="10651822" y="4955937"/>
                  <a:pt x="8517168" y="5379720"/>
                  <a:pt x="6096001" y="5379720"/>
                </a:cubicBezTo>
                <a:cubicBezTo>
                  <a:pt x="3674834" y="5379720"/>
                  <a:pt x="1540181" y="4955937"/>
                  <a:pt x="279667" y="4311372"/>
                </a:cubicBezTo>
                <a:lnTo>
                  <a:pt x="0" y="4152340"/>
                </a:lnTo>
                <a:lnTo>
                  <a:pt x="0" y="1760781"/>
                </a:lnTo>
                <a:close/>
              </a:path>
            </a:pathLst>
          </a:custGeom>
          <a:blipFill>
            <a:blip r:embed="rId2">
              <a:lum bright="70000" contrast="-70000"/>
            </a:blip>
            <a:srcRect/>
            <a:stretch>
              <a:fillRect l="-1282" r="-1282" b="-5495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页">
    <p:spTree>
      <p:nvGrpSpPr>
        <p:cNvPr id="1" name=""/>
        <p:cNvGrpSpPr/>
        <p:nvPr/>
      </p:nvGrpSpPr>
      <p:grpSpPr>
        <a:xfrm>
          <a:off x="0" y="0"/>
          <a:ext cx="0" cy="0"/>
          <a:chOff x="0" y="0"/>
          <a:chExt cx="0" cy="0"/>
        </a:xfrm>
      </p:grpSpPr>
      <p:pic>
        <p:nvPicPr>
          <p:cNvPr id="7" name="图片 6" descr="建筑的设计&#10;&#10;低可信度描述已自动生成"/>
          <p:cNvPicPr>
            <a:picLocks noChangeAspect="1"/>
          </p:cNvPicPr>
          <p:nvPr userDrawn="1"/>
        </p:nvPicPr>
        <p:blipFill rotWithShape="1">
          <a:blip r:embed="rId2">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rcRect l="20486"/>
          <a:stretch>
            <a:fillRect/>
          </a:stretch>
        </p:blipFill>
        <p:spPr>
          <a:xfrm rot="5400000" flipH="1">
            <a:off x="2677105" y="-2672683"/>
            <a:ext cx="6858001" cy="12212208"/>
          </a:xfrm>
          <a:prstGeom prst="rect">
            <a:avLst/>
          </a:prstGeom>
        </p:spPr>
      </p:pic>
      <p:grpSp>
        <p:nvGrpSpPr>
          <p:cNvPr id="8" name="组合 7"/>
          <p:cNvGrpSpPr/>
          <p:nvPr userDrawn="1"/>
        </p:nvGrpSpPr>
        <p:grpSpPr>
          <a:xfrm>
            <a:off x="-1147290" y="-1078618"/>
            <a:ext cx="6926281" cy="8574702"/>
            <a:chOff x="-1147290" y="-1078618"/>
            <a:chExt cx="6926281" cy="8574702"/>
          </a:xfrm>
        </p:grpSpPr>
        <p:sp>
          <p:nvSpPr>
            <p:cNvPr id="9" name="任意多边形: 形状 8"/>
            <p:cNvSpPr/>
            <p:nvPr/>
          </p:nvSpPr>
          <p:spPr>
            <a:xfrm rot="1486949">
              <a:off x="-1130992" y="-1078618"/>
              <a:ext cx="6909983" cy="8574702"/>
            </a:xfrm>
            <a:custGeom>
              <a:avLst/>
              <a:gdLst>
                <a:gd name="connsiteX0" fmla="*/ 0 w 6909983"/>
                <a:gd name="connsiteY0" fmla="*/ 2348286 h 8574702"/>
                <a:gd name="connsiteX1" fmla="*/ 5086239 w 6909983"/>
                <a:gd name="connsiteY1" fmla="*/ 0 h 8574702"/>
                <a:gd name="connsiteX2" fmla="*/ 5218286 w 6909983"/>
                <a:gd name="connsiteY2" fmla="*/ 98136 h 8574702"/>
                <a:gd name="connsiteX3" fmla="*/ 6909983 w 6909983"/>
                <a:gd name="connsiteY3" fmla="*/ 3990408 h 8574702"/>
                <a:gd name="connsiteX4" fmla="*/ 5913200 w 6909983"/>
                <a:gd name="connsiteY4" fmla="*/ 7146493 h 8574702"/>
                <a:gd name="connsiteX5" fmla="*/ 5882337 w 6909983"/>
                <a:gd name="connsiteY5" fmla="*/ 7186094 h 8574702"/>
                <a:gd name="connsiteX6" fmla="*/ 2874699 w 6909983"/>
                <a:gd name="connsiteY6" fmla="*/ 8574702 h 8574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09983" h="8574702">
                  <a:moveTo>
                    <a:pt x="0" y="2348286"/>
                  </a:moveTo>
                  <a:lnTo>
                    <a:pt x="5086239" y="0"/>
                  </a:lnTo>
                  <a:lnTo>
                    <a:pt x="5218286" y="98136"/>
                  </a:lnTo>
                  <a:cubicBezTo>
                    <a:pt x="6238934" y="941668"/>
                    <a:pt x="6909983" y="2370171"/>
                    <a:pt x="6909983" y="3990408"/>
                  </a:cubicBezTo>
                  <a:cubicBezTo>
                    <a:pt x="6909983" y="5205586"/>
                    <a:pt x="6532519" y="6312914"/>
                    <a:pt x="5913200" y="7146493"/>
                  </a:cubicBezTo>
                  <a:lnTo>
                    <a:pt x="5882337" y="7186094"/>
                  </a:lnTo>
                  <a:lnTo>
                    <a:pt x="2874699" y="857470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 name="任意多边形: 形状 9"/>
            <p:cNvSpPr/>
            <p:nvPr/>
          </p:nvSpPr>
          <p:spPr>
            <a:xfrm rot="1486949">
              <a:off x="-1147290" y="-1004432"/>
              <a:ext cx="6803194" cy="8473474"/>
            </a:xfrm>
            <a:custGeom>
              <a:avLst/>
              <a:gdLst>
                <a:gd name="connsiteX0" fmla="*/ 0 w 6803194"/>
                <a:gd name="connsiteY0" fmla="*/ 2247057 h 8473474"/>
                <a:gd name="connsiteX1" fmla="*/ 4866985 w 6803194"/>
                <a:gd name="connsiteY1" fmla="*/ 0 h 8473474"/>
                <a:gd name="connsiteX2" fmla="*/ 5062929 w 6803194"/>
                <a:gd name="connsiteY2" fmla="*/ 141559 h 8473474"/>
                <a:gd name="connsiteX3" fmla="*/ 6803194 w 6803194"/>
                <a:gd name="connsiteY3" fmla="*/ 4033831 h 8473474"/>
                <a:gd name="connsiteX4" fmla="*/ 5901855 w 6803194"/>
                <a:gd name="connsiteY4" fmla="*/ 7019600 h 8473474"/>
                <a:gd name="connsiteX5" fmla="*/ 5840114 w 6803194"/>
                <a:gd name="connsiteY5" fmla="*/ 7104360 h 8473474"/>
                <a:gd name="connsiteX6" fmla="*/ 2874699 w 6803194"/>
                <a:gd name="connsiteY6" fmla="*/ 8473474 h 8473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03194" h="8473474">
                  <a:moveTo>
                    <a:pt x="0" y="2247057"/>
                  </a:moveTo>
                  <a:lnTo>
                    <a:pt x="4866985" y="0"/>
                  </a:lnTo>
                  <a:lnTo>
                    <a:pt x="5062929" y="141559"/>
                  </a:lnTo>
                  <a:cubicBezTo>
                    <a:pt x="6112880" y="985090"/>
                    <a:pt x="6803194" y="2413593"/>
                    <a:pt x="6803194" y="4033831"/>
                  </a:cubicBezTo>
                  <a:cubicBezTo>
                    <a:pt x="6803194" y="5167997"/>
                    <a:pt x="6464941" y="6208214"/>
                    <a:pt x="5901855" y="7019600"/>
                  </a:cubicBezTo>
                  <a:lnTo>
                    <a:pt x="5840114" y="7104360"/>
                  </a:lnTo>
                  <a:lnTo>
                    <a:pt x="2874699" y="8473474"/>
                  </a:lnTo>
                  <a:close/>
                </a:path>
              </a:pathLst>
            </a:custGeom>
            <a:gradFill flip="none" rotWithShape="1">
              <a:gsLst>
                <a:gs pos="100000">
                  <a:schemeClr val="accent1"/>
                </a:gs>
                <a:gs pos="0">
                  <a:schemeClr val="accent1">
                    <a:lumMod val="7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
        <p:nvSpPr>
          <p:cNvPr id="11" name="文本框 10"/>
          <p:cNvSpPr txBox="1"/>
          <p:nvPr userDrawn="1"/>
        </p:nvSpPr>
        <p:spPr>
          <a:xfrm>
            <a:off x="7511970" y="-219919"/>
            <a:ext cx="184731" cy="369332"/>
          </a:xfrm>
          <a:prstGeom prst="rect">
            <a:avLst/>
          </a:prstGeom>
          <a:noFill/>
        </p:spPr>
        <p:txBody>
          <a:bodyPr wrap="none" rtlCol="0">
            <a:spAutoFit/>
          </a:bodyPr>
          <a:lstStyle/>
          <a:p>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过渡页">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531" y="-297"/>
            <a:ext cx="12193057" cy="6858594"/>
          </a:xfrm>
          <a:prstGeom prst="rect">
            <a:avLst/>
          </a:prstGeom>
        </p:spPr>
      </p:pic>
      <p:sp>
        <p:nvSpPr>
          <p:cNvPr id="8" name="矩形 7"/>
          <p:cNvSpPr/>
          <p:nvPr userDrawn="1"/>
        </p:nvSpPr>
        <p:spPr>
          <a:xfrm>
            <a:off x="666750" y="2625969"/>
            <a:ext cx="10858500" cy="3206433"/>
          </a:xfrm>
          <a:prstGeom prst="rect">
            <a:avLst/>
          </a:prstGeom>
          <a:gradFill>
            <a:gsLst>
              <a:gs pos="100000">
                <a:schemeClr val="accent1"/>
              </a:gs>
              <a:gs pos="0">
                <a:schemeClr val="accent1">
                  <a:lumMod val="75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userDrawn="1"/>
        </p:nvSpPr>
        <p:spPr>
          <a:xfrm>
            <a:off x="8356243" y="1399036"/>
            <a:ext cx="2642842" cy="264284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endParaRPr>
          </a:p>
        </p:txBody>
      </p:sp>
      <p:sp>
        <p:nvSpPr>
          <p:cNvPr id="11" name="矩形 10"/>
          <p:cNvSpPr/>
          <p:nvPr userDrawn="1"/>
        </p:nvSpPr>
        <p:spPr>
          <a:xfrm flipV="1">
            <a:off x="8267675" y="1304548"/>
            <a:ext cx="2642842" cy="2642842"/>
          </a:xfrm>
          <a:prstGeom prst="rect">
            <a:avLst/>
          </a:prstGeom>
          <a:blipFill>
            <a:blip r:embed="rId4"/>
            <a:srcRect/>
            <a:stretch>
              <a:fillRect l="-39021" r="-3902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userDrawn="1"/>
        </p:nvSpPr>
        <p:spPr>
          <a:xfrm>
            <a:off x="408710" y="737173"/>
            <a:ext cx="7601376" cy="3154710"/>
          </a:xfrm>
          <a:prstGeom prst="rect">
            <a:avLst/>
          </a:prstGeom>
          <a:noFill/>
        </p:spPr>
        <p:txBody>
          <a:bodyPr wrap="none" rtlCol="0">
            <a:spAutoFit/>
          </a:bodyPr>
          <a:lstStyle/>
          <a:p>
            <a:r>
              <a:rPr lang="en-US" altLang="zh-CN" sz="19900" dirty="0">
                <a:gradFill flip="none" rotWithShape="1">
                  <a:gsLst>
                    <a:gs pos="64000">
                      <a:schemeClr val="accent1">
                        <a:alpha val="0"/>
                      </a:schemeClr>
                    </a:gs>
                    <a:gs pos="0">
                      <a:schemeClr val="accent1">
                        <a:alpha val="17000"/>
                      </a:schemeClr>
                    </a:gs>
                    <a:gs pos="60000">
                      <a:schemeClr val="accent1">
                        <a:lumMod val="75000"/>
                        <a:alpha val="3000"/>
                      </a:schemeClr>
                    </a:gs>
                  </a:gsLst>
                  <a:lin ang="5400000" scaled="1"/>
                  <a:tileRect/>
                </a:gradFill>
                <a:latin typeface="+mj-lt"/>
              </a:rPr>
              <a:t>PART</a:t>
            </a:r>
            <a:endParaRPr lang="zh-CN" altLang="en-US" sz="19900" dirty="0">
              <a:gradFill flip="none" rotWithShape="1">
                <a:gsLst>
                  <a:gs pos="64000">
                    <a:schemeClr val="accent1">
                      <a:alpha val="0"/>
                    </a:schemeClr>
                  </a:gs>
                  <a:gs pos="0">
                    <a:schemeClr val="accent1">
                      <a:alpha val="17000"/>
                    </a:schemeClr>
                  </a:gs>
                  <a:gs pos="60000">
                    <a:schemeClr val="accent1">
                      <a:lumMod val="75000"/>
                      <a:alpha val="3000"/>
                    </a:schemeClr>
                  </a:gs>
                </a:gsLst>
                <a:lin ang="5400000" scaled="1"/>
                <a:tileRect/>
              </a:gradFill>
              <a:latin typeface="+mj-l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内容页">
    <p:spTree>
      <p:nvGrpSpPr>
        <p:cNvPr id="1" name=""/>
        <p:cNvGrpSpPr/>
        <p:nvPr/>
      </p:nvGrpSpPr>
      <p:grpSpPr>
        <a:xfrm>
          <a:off x="0" y="0"/>
          <a:ext cx="0" cy="0"/>
          <a:chOff x="0" y="0"/>
          <a:chExt cx="0" cy="0"/>
        </a:xfrm>
      </p:grpSpPr>
      <p:pic>
        <p:nvPicPr>
          <p:cNvPr id="8" name="图片 7" descr="背景图案&#10;&#10;描述已自动生成"/>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9" name="组合 8"/>
          <p:cNvGrpSpPr/>
          <p:nvPr userDrawn="1"/>
        </p:nvGrpSpPr>
        <p:grpSpPr>
          <a:xfrm>
            <a:off x="987275" y="576421"/>
            <a:ext cx="1435049" cy="904558"/>
            <a:chOff x="660400" y="459740"/>
            <a:chExt cx="1435049" cy="904558"/>
          </a:xfrm>
        </p:grpSpPr>
        <p:sp>
          <p:nvSpPr>
            <p:cNvPr id="11" name="任意多边形: 形状 10"/>
            <p:cNvSpPr/>
            <p:nvPr/>
          </p:nvSpPr>
          <p:spPr>
            <a:xfrm>
              <a:off x="660400" y="459740"/>
              <a:ext cx="1007745" cy="904558"/>
            </a:xfrm>
            <a:custGeom>
              <a:avLst/>
              <a:gdLst>
                <a:gd name="connsiteX0" fmla="*/ 0 w 1007745"/>
                <a:gd name="connsiteY0" fmla="*/ 0 h 904558"/>
                <a:gd name="connsiteX1" fmla="*/ 1007745 w 1007745"/>
                <a:gd name="connsiteY1" fmla="*/ 0 h 904558"/>
                <a:gd name="connsiteX2" fmla="*/ 1007745 w 1007745"/>
                <a:gd name="connsiteY2" fmla="*/ 130810 h 904558"/>
                <a:gd name="connsiteX3" fmla="*/ 995135 w 1007745"/>
                <a:gd name="connsiteY3" fmla="*/ 130810 h 904558"/>
                <a:gd name="connsiteX4" fmla="*/ 995135 w 1007745"/>
                <a:gd name="connsiteY4" fmla="*/ 12610 h 904558"/>
                <a:gd name="connsiteX5" fmla="*/ 12610 w 1007745"/>
                <a:gd name="connsiteY5" fmla="*/ 12610 h 904558"/>
                <a:gd name="connsiteX6" fmla="*/ 12610 w 1007745"/>
                <a:gd name="connsiteY6" fmla="*/ 891948 h 904558"/>
                <a:gd name="connsiteX7" fmla="*/ 995135 w 1007745"/>
                <a:gd name="connsiteY7" fmla="*/ 891948 h 904558"/>
                <a:gd name="connsiteX8" fmla="*/ 995135 w 1007745"/>
                <a:gd name="connsiteY8" fmla="*/ 810895 h 904558"/>
                <a:gd name="connsiteX9" fmla="*/ 1007745 w 1007745"/>
                <a:gd name="connsiteY9" fmla="*/ 810895 h 904558"/>
                <a:gd name="connsiteX10" fmla="*/ 1007745 w 1007745"/>
                <a:gd name="connsiteY10" fmla="*/ 904558 h 904558"/>
                <a:gd name="connsiteX11" fmla="*/ 0 w 1007745"/>
                <a:gd name="connsiteY11" fmla="*/ 904558 h 90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07745" h="904558">
                  <a:moveTo>
                    <a:pt x="0" y="0"/>
                  </a:moveTo>
                  <a:lnTo>
                    <a:pt x="1007745" y="0"/>
                  </a:lnTo>
                  <a:lnTo>
                    <a:pt x="1007745" y="130810"/>
                  </a:lnTo>
                  <a:lnTo>
                    <a:pt x="995135" y="130810"/>
                  </a:lnTo>
                  <a:lnTo>
                    <a:pt x="995135" y="12610"/>
                  </a:lnTo>
                  <a:lnTo>
                    <a:pt x="12610" y="12610"/>
                  </a:lnTo>
                  <a:lnTo>
                    <a:pt x="12610" y="891948"/>
                  </a:lnTo>
                  <a:lnTo>
                    <a:pt x="995135" y="891948"/>
                  </a:lnTo>
                  <a:lnTo>
                    <a:pt x="995135" y="810895"/>
                  </a:lnTo>
                  <a:lnTo>
                    <a:pt x="1007745" y="810895"/>
                  </a:lnTo>
                  <a:lnTo>
                    <a:pt x="1007745" y="904558"/>
                  </a:lnTo>
                  <a:lnTo>
                    <a:pt x="0" y="904558"/>
                  </a:lnTo>
                  <a:close/>
                </a:path>
              </a:pathLst>
            </a:custGeom>
            <a:gradFill flip="none" rotWithShape="1">
              <a:gsLst>
                <a:gs pos="100000">
                  <a:schemeClr val="accent1"/>
                </a:gs>
                <a:gs pos="0">
                  <a:schemeClr val="accent1">
                    <a:lumMod val="7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sp>
          <p:nvSpPr>
            <p:cNvPr id="12" name="文本框 11"/>
            <p:cNvSpPr txBox="1"/>
            <p:nvPr/>
          </p:nvSpPr>
          <p:spPr>
            <a:xfrm>
              <a:off x="737064" y="542115"/>
              <a:ext cx="1358385" cy="307777"/>
            </a:xfrm>
            <a:prstGeom prst="rect">
              <a:avLst/>
            </a:prstGeom>
            <a:noFill/>
          </p:spPr>
          <p:txBody>
            <a:bodyPr wrap="none" rtlCol="0">
              <a:spAutoFit/>
            </a:bodyPr>
            <a:lstStyle/>
            <a:p>
              <a:r>
                <a:rPr lang="en-US" altLang="zh-CN" sz="1400" dirty="0">
                  <a:latin typeface="+mj-lt"/>
                </a:rPr>
                <a:t>Work report</a:t>
              </a:r>
              <a:endParaRPr lang="zh-CN" altLang="en-US" sz="1400" dirty="0">
                <a:latin typeface="+mj-lt"/>
              </a:endParaRPr>
            </a:p>
          </p:txBody>
        </p:sp>
      </p:grpSp>
      <p:grpSp>
        <p:nvGrpSpPr>
          <p:cNvPr id="13" name="组合 12"/>
          <p:cNvGrpSpPr/>
          <p:nvPr userDrawn="1"/>
        </p:nvGrpSpPr>
        <p:grpSpPr>
          <a:xfrm>
            <a:off x="10922722" y="989433"/>
            <a:ext cx="428861" cy="428861"/>
            <a:chOff x="10913630" y="820437"/>
            <a:chExt cx="428861" cy="428861"/>
          </a:xfrm>
        </p:grpSpPr>
        <p:sp>
          <p:nvSpPr>
            <p:cNvPr id="14" name="椭圆 13"/>
            <p:cNvSpPr/>
            <p:nvPr/>
          </p:nvSpPr>
          <p:spPr>
            <a:xfrm>
              <a:off x="10913630" y="820437"/>
              <a:ext cx="428861" cy="428861"/>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任意多边形: 形状 14"/>
            <p:cNvSpPr/>
            <p:nvPr/>
          </p:nvSpPr>
          <p:spPr>
            <a:xfrm rot="13500000">
              <a:off x="11070018" y="967670"/>
              <a:ext cx="120267" cy="106821"/>
            </a:xfrm>
            <a:custGeom>
              <a:avLst/>
              <a:gdLst>
                <a:gd name="connsiteX0" fmla="*/ 120267 w 120267"/>
                <a:gd name="connsiteY0" fmla="*/ 23593 h 106821"/>
                <a:gd name="connsiteX1" fmla="*/ 120265 w 120267"/>
                <a:gd name="connsiteY1" fmla="*/ 23593 h 106821"/>
                <a:gd name="connsiteX2" fmla="*/ 115056 w 120267"/>
                <a:gd name="connsiteY2" fmla="*/ 18384 h 106821"/>
                <a:gd name="connsiteX3" fmla="*/ 106821 w 120267"/>
                <a:gd name="connsiteY3" fmla="*/ 10149 h 106821"/>
                <a:gd name="connsiteX4" fmla="*/ 10147 w 120267"/>
                <a:gd name="connsiteY4" fmla="*/ 10149 h 106821"/>
                <a:gd name="connsiteX5" fmla="*/ 10147 w 120267"/>
                <a:gd name="connsiteY5" fmla="*/ 106821 h 106821"/>
                <a:gd name="connsiteX6" fmla="*/ 8235 w 120267"/>
                <a:gd name="connsiteY6" fmla="*/ 104909 h 106821"/>
                <a:gd name="connsiteX7" fmla="*/ 0 w 120267"/>
                <a:gd name="connsiteY7" fmla="*/ 96674 h 106821"/>
                <a:gd name="connsiteX8" fmla="*/ 0 w 120267"/>
                <a:gd name="connsiteY8" fmla="*/ 0 h 106821"/>
                <a:gd name="connsiteX9" fmla="*/ 96674 w 120267"/>
                <a:gd name="connsiteY9" fmla="*/ 0 h 106821"/>
                <a:gd name="connsiteX10" fmla="*/ 104909 w 120267"/>
                <a:gd name="connsiteY10" fmla="*/ 8235 h 106821"/>
                <a:gd name="connsiteX11" fmla="*/ 112032 w 120267"/>
                <a:gd name="connsiteY11" fmla="*/ 15358 h 106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0267" h="106821">
                  <a:moveTo>
                    <a:pt x="120267" y="23593"/>
                  </a:moveTo>
                  <a:lnTo>
                    <a:pt x="120265" y="23593"/>
                  </a:lnTo>
                  <a:lnTo>
                    <a:pt x="115056" y="18384"/>
                  </a:lnTo>
                  <a:lnTo>
                    <a:pt x="106821" y="10149"/>
                  </a:lnTo>
                  <a:lnTo>
                    <a:pt x="10147" y="10149"/>
                  </a:lnTo>
                  <a:lnTo>
                    <a:pt x="10147" y="106821"/>
                  </a:lnTo>
                  <a:lnTo>
                    <a:pt x="8235" y="104909"/>
                  </a:lnTo>
                  <a:lnTo>
                    <a:pt x="0" y="96674"/>
                  </a:lnTo>
                  <a:lnTo>
                    <a:pt x="0" y="0"/>
                  </a:lnTo>
                  <a:lnTo>
                    <a:pt x="96674" y="0"/>
                  </a:lnTo>
                  <a:lnTo>
                    <a:pt x="104909" y="8235"/>
                  </a:lnTo>
                  <a:lnTo>
                    <a:pt x="112032" y="15358"/>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空白页">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目录页">
    <p:spTree>
      <p:nvGrpSpPr>
        <p:cNvPr id="1" name=""/>
        <p:cNvGrpSpPr/>
        <p:nvPr/>
      </p:nvGrpSpPr>
      <p:grpSpPr>
        <a:xfrm>
          <a:off x="0" y="0"/>
          <a:ext cx="0" cy="0"/>
          <a:chOff x="0" y="0"/>
          <a:chExt cx="0" cy="0"/>
        </a:xfrm>
      </p:grpSpPr>
      <p:pic>
        <p:nvPicPr>
          <p:cNvPr id="6" name="图片 5" descr="背景图案&#10;&#10;描述已自动生成"/>
          <p:cNvPicPr>
            <a:picLocks noChangeAspect="1"/>
          </p:cNvPicPr>
          <p:nvPr userDrawn="1"/>
        </p:nvPicPr>
        <p:blipFill>
          <a:blip r:embed="rId2" cstate="print">
            <a:alphaModFix amt="12000"/>
            <a:extLst>
              <a:ext uri="{28A0092B-C50C-407E-A947-70E740481C1C}">
                <a14:useLocalDpi xmlns:a14="http://schemas.microsoft.com/office/drawing/2010/main" val="0"/>
              </a:ext>
            </a:extLst>
          </a:blip>
          <a:srcRect l="16894" t="446" r="988" b="2230"/>
          <a:stretch>
            <a:fillRect/>
          </a:stretch>
        </p:blipFill>
        <p:spPr>
          <a:xfrm rot="16200000">
            <a:off x="2667000" y="-2667001"/>
            <a:ext cx="6858000" cy="12192000"/>
          </a:xfrm>
          <a:custGeom>
            <a:avLst/>
            <a:gdLst>
              <a:gd name="connsiteX0" fmla="*/ 6858000 w 6858000"/>
              <a:gd name="connsiteY0" fmla="*/ 0 h 12192000"/>
              <a:gd name="connsiteX1" fmla="*/ 6858000 w 6858000"/>
              <a:gd name="connsiteY1" fmla="*/ 12192000 h 12192000"/>
              <a:gd name="connsiteX2" fmla="*/ 0 w 6858000"/>
              <a:gd name="connsiteY2" fmla="*/ 12192000 h 12192000"/>
              <a:gd name="connsiteX3" fmla="*/ 0 w 6858000"/>
              <a:gd name="connsiteY3" fmla="*/ 0 h 12192000"/>
            </a:gdLst>
            <a:ahLst/>
            <a:cxnLst>
              <a:cxn ang="0">
                <a:pos x="connsiteX0" y="connsiteY0"/>
              </a:cxn>
              <a:cxn ang="0">
                <a:pos x="connsiteX1" y="connsiteY1"/>
              </a:cxn>
              <a:cxn ang="0">
                <a:pos x="connsiteX2" y="connsiteY2"/>
              </a:cxn>
              <a:cxn ang="0">
                <a:pos x="connsiteX3" y="connsiteY3"/>
              </a:cxn>
            </a:cxnLst>
            <a:rect l="l" t="t" r="r" b="b"/>
            <a:pathLst>
              <a:path w="6858000" h="12192000">
                <a:moveTo>
                  <a:pt x="6858000" y="0"/>
                </a:moveTo>
                <a:lnTo>
                  <a:pt x="6858000" y="12192000"/>
                </a:lnTo>
                <a:lnTo>
                  <a:pt x="0" y="12192000"/>
                </a:lnTo>
                <a:lnTo>
                  <a:pt x="0" y="0"/>
                </a:lnTo>
                <a:close/>
              </a:path>
            </a:pathLst>
          </a:custGeom>
        </p:spPr>
      </p:pic>
      <p:sp>
        <p:nvSpPr>
          <p:cNvPr id="7" name="矩形: 圆角 6"/>
          <p:cNvSpPr/>
          <p:nvPr userDrawn="1"/>
        </p:nvSpPr>
        <p:spPr>
          <a:xfrm>
            <a:off x="365125" y="-546206"/>
            <a:ext cx="11461750" cy="2838556"/>
          </a:xfrm>
          <a:prstGeom prst="roundRect">
            <a:avLst>
              <a:gd name="adj" fmla="val 8712"/>
            </a:avLst>
          </a:prstGeom>
          <a:gradFill>
            <a:gsLst>
              <a:gs pos="0">
                <a:schemeClr val="accent1"/>
              </a:gs>
              <a:gs pos="100000">
                <a:schemeClr val="accent2"/>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 name="组合 7"/>
          <p:cNvGrpSpPr/>
          <p:nvPr userDrawn="1"/>
        </p:nvGrpSpPr>
        <p:grpSpPr>
          <a:xfrm>
            <a:off x="9757081" y="5020735"/>
            <a:ext cx="3664103" cy="2774251"/>
            <a:chOff x="3019636" y="7821571"/>
            <a:chExt cx="3533638" cy="2675470"/>
          </a:xfrm>
          <a:solidFill>
            <a:schemeClr val="accent1">
              <a:alpha val="20000"/>
            </a:schemeClr>
          </a:solidFill>
        </p:grpSpPr>
        <p:grpSp>
          <p:nvGrpSpPr>
            <p:cNvPr id="9" name="组合 8"/>
            <p:cNvGrpSpPr/>
            <p:nvPr/>
          </p:nvGrpSpPr>
          <p:grpSpPr>
            <a:xfrm>
              <a:off x="3019636" y="7821571"/>
              <a:ext cx="3533638" cy="45795"/>
              <a:chOff x="3019636" y="7821571"/>
              <a:chExt cx="3533638" cy="45795"/>
            </a:xfrm>
            <a:grpFill/>
          </p:grpSpPr>
          <p:sp>
            <p:nvSpPr>
              <p:cNvPr id="127" name="椭圆 126"/>
              <p:cNvSpPr/>
              <p:nvPr/>
            </p:nvSpPr>
            <p:spPr>
              <a:xfrm>
                <a:off x="3019636" y="7821571"/>
                <a:ext cx="45795" cy="4579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椭圆 127"/>
              <p:cNvSpPr/>
              <p:nvPr/>
            </p:nvSpPr>
            <p:spPr>
              <a:xfrm>
                <a:off x="3336713"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29" name="椭圆 128"/>
              <p:cNvSpPr/>
              <p:nvPr/>
            </p:nvSpPr>
            <p:spPr>
              <a:xfrm>
                <a:off x="3653789"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30" name="椭圆 129"/>
              <p:cNvSpPr/>
              <p:nvPr/>
            </p:nvSpPr>
            <p:spPr>
              <a:xfrm>
                <a:off x="3970866"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31" name="椭圆 130"/>
              <p:cNvSpPr/>
              <p:nvPr/>
            </p:nvSpPr>
            <p:spPr>
              <a:xfrm>
                <a:off x="4287943"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32" name="椭圆 131"/>
              <p:cNvSpPr/>
              <p:nvPr/>
            </p:nvSpPr>
            <p:spPr>
              <a:xfrm>
                <a:off x="4605019"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33" name="椭圆 132"/>
              <p:cNvSpPr/>
              <p:nvPr/>
            </p:nvSpPr>
            <p:spPr>
              <a:xfrm>
                <a:off x="4922096"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34" name="椭圆 133"/>
              <p:cNvSpPr/>
              <p:nvPr/>
            </p:nvSpPr>
            <p:spPr>
              <a:xfrm>
                <a:off x="5239172"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35" name="椭圆 134"/>
              <p:cNvSpPr/>
              <p:nvPr/>
            </p:nvSpPr>
            <p:spPr>
              <a:xfrm>
                <a:off x="5556249"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36" name="椭圆 135"/>
              <p:cNvSpPr/>
              <p:nvPr/>
            </p:nvSpPr>
            <p:spPr>
              <a:xfrm>
                <a:off x="5873326"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37" name="椭圆 136"/>
              <p:cNvSpPr/>
              <p:nvPr/>
            </p:nvSpPr>
            <p:spPr>
              <a:xfrm>
                <a:off x="6190402"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38" name="椭圆 137"/>
              <p:cNvSpPr/>
              <p:nvPr/>
            </p:nvSpPr>
            <p:spPr>
              <a:xfrm>
                <a:off x="6507479" y="7821571"/>
                <a:ext cx="45795" cy="4579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 name="组合 9"/>
            <p:cNvGrpSpPr/>
            <p:nvPr/>
          </p:nvGrpSpPr>
          <p:grpSpPr>
            <a:xfrm>
              <a:off x="3019636" y="8405943"/>
              <a:ext cx="3533638" cy="45795"/>
              <a:chOff x="3019636" y="7821571"/>
              <a:chExt cx="3533638" cy="45795"/>
            </a:xfrm>
            <a:grpFill/>
          </p:grpSpPr>
          <p:sp>
            <p:nvSpPr>
              <p:cNvPr id="115" name="椭圆 114"/>
              <p:cNvSpPr/>
              <p:nvPr/>
            </p:nvSpPr>
            <p:spPr>
              <a:xfrm>
                <a:off x="3019636" y="7821571"/>
                <a:ext cx="45795" cy="4579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 name="椭圆 115"/>
              <p:cNvSpPr/>
              <p:nvPr/>
            </p:nvSpPr>
            <p:spPr>
              <a:xfrm>
                <a:off x="3336713"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17" name="椭圆 116"/>
              <p:cNvSpPr/>
              <p:nvPr/>
            </p:nvSpPr>
            <p:spPr>
              <a:xfrm>
                <a:off x="3653789"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18" name="椭圆 117"/>
              <p:cNvSpPr/>
              <p:nvPr/>
            </p:nvSpPr>
            <p:spPr>
              <a:xfrm>
                <a:off x="3970866"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19" name="椭圆 118"/>
              <p:cNvSpPr/>
              <p:nvPr/>
            </p:nvSpPr>
            <p:spPr>
              <a:xfrm>
                <a:off x="4287943"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20" name="椭圆 119"/>
              <p:cNvSpPr/>
              <p:nvPr/>
            </p:nvSpPr>
            <p:spPr>
              <a:xfrm>
                <a:off x="4605019"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21" name="椭圆 120"/>
              <p:cNvSpPr/>
              <p:nvPr/>
            </p:nvSpPr>
            <p:spPr>
              <a:xfrm>
                <a:off x="4922096"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22" name="椭圆 121"/>
              <p:cNvSpPr/>
              <p:nvPr/>
            </p:nvSpPr>
            <p:spPr>
              <a:xfrm>
                <a:off x="5239172"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23" name="椭圆 122"/>
              <p:cNvSpPr/>
              <p:nvPr/>
            </p:nvSpPr>
            <p:spPr>
              <a:xfrm>
                <a:off x="5556249"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24" name="椭圆 123"/>
              <p:cNvSpPr/>
              <p:nvPr/>
            </p:nvSpPr>
            <p:spPr>
              <a:xfrm>
                <a:off x="5873326"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25" name="椭圆 124"/>
              <p:cNvSpPr/>
              <p:nvPr/>
            </p:nvSpPr>
            <p:spPr>
              <a:xfrm>
                <a:off x="6190402"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26" name="椭圆 125"/>
              <p:cNvSpPr/>
              <p:nvPr/>
            </p:nvSpPr>
            <p:spPr>
              <a:xfrm>
                <a:off x="6507479" y="7821571"/>
                <a:ext cx="45795" cy="4579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10"/>
            <p:cNvGrpSpPr/>
            <p:nvPr/>
          </p:nvGrpSpPr>
          <p:grpSpPr>
            <a:xfrm>
              <a:off x="3019636" y="9282501"/>
              <a:ext cx="3533638" cy="45795"/>
              <a:chOff x="3019636" y="7821571"/>
              <a:chExt cx="3533638" cy="45795"/>
            </a:xfrm>
            <a:grpFill/>
          </p:grpSpPr>
          <p:sp>
            <p:nvSpPr>
              <p:cNvPr id="103" name="椭圆 102"/>
              <p:cNvSpPr/>
              <p:nvPr/>
            </p:nvSpPr>
            <p:spPr>
              <a:xfrm>
                <a:off x="3019636" y="7821571"/>
                <a:ext cx="45795" cy="4579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3336713"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05" name="椭圆 104"/>
              <p:cNvSpPr/>
              <p:nvPr/>
            </p:nvSpPr>
            <p:spPr>
              <a:xfrm>
                <a:off x="3653789"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06" name="椭圆 105"/>
              <p:cNvSpPr/>
              <p:nvPr/>
            </p:nvSpPr>
            <p:spPr>
              <a:xfrm>
                <a:off x="3970866"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07" name="椭圆 106"/>
              <p:cNvSpPr/>
              <p:nvPr/>
            </p:nvSpPr>
            <p:spPr>
              <a:xfrm>
                <a:off x="4287943"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08" name="椭圆 107"/>
              <p:cNvSpPr/>
              <p:nvPr/>
            </p:nvSpPr>
            <p:spPr>
              <a:xfrm>
                <a:off x="4605019"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09" name="椭圆 108"/>
              <p:cNvSpPr/>
              <p:nvPr/>
            </p:nvSpPr>
            <p:spPr>
              <a:xfrm>
                <a:off x="4922096"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10" name="椭圆 109"/>
              <p:cNvSpPr/>
              <p:nvPr/>
            </p:nvSpPr>
            <p:spPr>
              <a:xfrm>
                <a:off x="5239172"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11" name="椭圆 110"/>
              <p:cNvSpPr/>
              <p:nvPr/>
            </p:nvSpPr>
            <p:spPr>
              <a:xfrm>
                <a:off x="5556249"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12" name="椭圆 111"/>
              <p:cNvSpPr/>
              <p:nvPr/>
            </p:nvSpPr>
            <p:spPr>
              <a:xfrm>
                <a:off x="5873326"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13" name="椭圆 112"/>
              <p:cNvSpPr/>
              <p:nvPr/>
            </p:nvSpPr>
            <p:spPr>
              <a:xfrm>
                <a:off x="6190402"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14" name="椭圆 113"/>
              <p:cNvSpPr/>
              <p:nvPr/>
            </p:nvSpPr>
            <p:spPr>
              <a:xfrm>
                <a:off x="6507479" y="7821571"/>
                <a:ext cx="45795" cy="4579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 name="组合 11"/>
            <p:cNvGrpSpPr/>
            <p:nvPr/>
          </p:nvGrpSpPr>
          <p:grpSpPr>
            <a:xfrm>
              <a:off x="3019636" y="8113757"/>
              <a:ext cx="3533638" cy="45795"/>
              <a:chOff x="3019636" y="7821571"/>
              <a:chExt cx="3533638" cy="45795"/>
            </a:xfrm>
            <a:grpFill/>
          </p:grpSpPr>
          <p:sp>
            <p:nvSpPr>
              <p:cNvPr id="91" name="椭圆 90"/>
              <p:cNvSpPr/>
              <p:nvPr/>
            </p:nvSpPr>
            <p:spPr>
              <a:xfrm>
                <a:off x="3019636" y="7821571"/>
                <a:ext cx="45795" cy="4579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椭圆 91"/>
              <p:cNvSpPr/>
              <p:nvPr/>
            </p:nvSpPr>
            <p:spPr>
              <a:xfrm>
                <a:off x="3336713"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93" name="椭圆 92"/>
              <p:cNvSpPr/>
              <p:nvPr/>
            </p:nvSpPr>
            <p:spPr>
              <a:xfrm>
                <a:off x="3653789"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94" name="椭圆 93"/>
              <p:cNvSpPr/>
              <p:nvPr/>
            </p:nvSpPr>
            <p:spPr>
              <a:xfrm>
                <a:off x="3970866"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95" name="椭圆 94"/>
              <p:cNvSpPr/>
              <p:nvPr/>
            </p:nvSpPr>
            <p:spPr>
              <a:xfrm>
                <a:off x="4287943"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96" name="椭圆 95"/>
              <p:cNvSpPr/>
              <p:nvPr/>
            </p:nvSpPr>
            <p:spPr>
              <a:xfrm>
                <a:off x="4605019"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97" name="椭圆 96"/>
              <p:cNvSpPr/>
              <p:nvPr/>
            </p:nvSpPr>
            <p:spPr>
              <a:xfrm>
                <a:off x="4922096"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98" name="椭圆 97"/>
              <p:cNvSpPr/>
              <p:nvPr/>
            </p:nvSpPr>
            <p:spPr>
              <a:xfrm>
                <a:off x="5239172"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99" name="椭圆 98"/>
              <p:cNvSpPr/>
              <p:nvPr/>
            </p:nvSpPr>
            <p:spPr>
              <a:xfrm>
                <a:off x="5556249"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00" name="椭圆 99"/>
              <p:cNvSpPr/>
              <p:nvPr/>
            </p:nvSpPr>
            <p:spPr>
              <a:xfrm>
                <a:off x="5873326"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01" name="椭圆 100"/>
              <p:cNvSpPr/>
              <p:nvPr/>
            </p:nvSpPr>
            <p:spPr>
              <a:xfrm>
                <a:off x="6190402"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02" name="椭圆 101"/>
              <p:cNvSpPr/>
              <p:nvPr/>
            </p:nvSpPr>
            <p:spPr>
              <a:xfrm>
                <a:off x="6507479" y="7821571"/>
                <a:ext cx="45795" cy="4579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3" name="组合 12"/>
            <p:cNvGrpSpPr/>
            <p:nvPr/>
          </p:nvGrpSpPr>
          <p:grpSpPr>
            <a:xfrm>
              <a:off x="3019636" y="8698129"/>
              <a:ext cx="3533638" cy="45795"/>
              <a:chOff x="3019636" y="7821571"/>
              <a:chExt cx="3533638" cy="45795"/>
            </a:xfrm>
            <a:grpFill/>
          </p:grpSpPr>
          <p:sp>
            <p:nvSpPr>
              <p:cNvPr id="79" name="椭圆 78"/>
              <p:cNvSpPr/>
              <p:nvPr/>
            </p:nvSpPr>
            <p:spPr>
              <a:xfrm>
                <a:off x="3019636" y="7821571"/>
                <a:ext cx="45795" cy="4579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椭圆 79"/>
              <p:cNvSpPr/>
              <p:nvPr/>
            </p:nvSpPr>
            <p:spPr>
              <a:xfrm>
                <a:off x="3336713"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81" name="椭圆 80"/>
              <p:cNvSpPr/>
              <p:nvPr/>
            </p:nvSpPr>
            <p:spPr>
              <a:xfrm>
                <a:off x="3653789"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82" name="椭圆 81"/>
              <p:cNvSpPr/>
              <p:nvPr/>
            </p:nvSpPr>
            <p:spPr>
              <a:xfrm>
                <a:off x="3970866"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83" name="椭圆 82"/>
              <p:cNvSpPr/>
              <p:nvPr/>
            </p:nvSpPr>
            <p:spPr>
              <a:xfrm>
                <a:off x="4287943"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84" name="椭圆 83"/>
              <p:cNvSpPr/>
              <p:nvPr/>
            </p:nvSpPr>
            <p:spPr>
              <a:xfrm>
                <a:off x="4605019"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85" name="椭圆 84"/>
              <p:cNvSpPr/>
              <p:nvPr/>
            </p:nvSpPr>
            <p:spPr>
              <a:xfrm>
                <a:off x="4922096"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86" name="椭圆 85"/>
              <p:cNvSpPr/>
              <p:nvPr/>
            </p:nvSpPr>
            <p:spPr>
              <a:xfrm>
                <a:off x="5239172"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87" name="椭圆 86"/>
              <p:cNvSpPr/>
              <p:nvPr/>
            </p:nvSpPr>
            <p:spPr>
              <a:xfrm>
                <a:off x="5556249"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88" name="椭圆 87"/>
              <p:cNvSpPr/>
              <p:nvPr/>
            </p:nvSpPr>
            <p:spPr>
              <a:xfrm>
                <a:off x="5873326"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89" name="椭圆 88"/>
              <p:cNvSpPr/>
              <p:nvPr/>
            </p:nvSpPr>
            <p:spPr>
              <a:xfrm>
                <a:off x="6190402"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90" name="椭圆 89"/>
              <p:cNvSpPr/>
              <p:nvPr/>
            </p:nvSpPr>
            <p:spPr>
              <a:xfrm>
                <a:off x="6507479" y="7821571"/>
                <a:ext cx="45795" cy="4579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4" name="组合 13"/>
            <p:cNvGrpSpPr/>
            <p:nvPr/>
          </p:nvGrpSpPr>
          <p:grpSpPr>
            <a:xfrm>
              <a:off x="3019636" y="8990315"/>
              <a:ext cx="3533638" cy="45795"/>
              <a:chOff x="3019636" y="7821571"/>
              <a:chExt cx="3533638" cy="45795"/>
            </a:xfrm>
            <a:grpFill/>
          </p:grpSpPr>
          <p:sp>
            <p:nvSpPr>
              <p:cNvPr id="67" name="椭圆 66"/>
              <p:cNvSpPr/>
              <p:nvPr/>
            </p:nvSpPr>
            <p:spPr>
              <a:xfrm>
                <a:off x="3019636" y="7821571"/>
                <a:ext cx="45795" cy="4579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椭圆 67"/>
              <p:cNvSpPr/>
              <p:nvPr/>
            </p:nvSpPr>
            <p:spPr>
              <a:xfrm>
                <a:off x="3336713"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69" name="椭圆 68"/>
              <p:cNvSpPr/>
              <p:nvPr/>
            </p:nvSpPr>
            <p:spPr>
              <a:xfrm>
                <a:off x="3653789"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70" name="椭圆 69"/>
              <p:cNvSpPr/>
              <p:nvPr/>
            </p:nvSpPr>
            <p:spPr>
              <a:xfrm>
                <a:off x="3970866"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71" name="椭圆 70"/>
              <p:cNvSpPr/>
              <p:nvPr/>
            </p:nvSpPr>
            <p:spPr>
              <a:xfrm>
                <a:off x="4287943"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72" name="椭圆 71"/>
              <p:cNvSpPr/>
              <p:nvPr/>
            </p:nvSpPr>
            <p:spPr>
              <a:xfrm>
                <a:off x="4605019"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73" name="椭圆 72"/>
              <p:cNvSpPr/>
              <p:nvPr/>
            </p:nvSpPr>
            <p:spPr>
              <a:xfrm>
                <a:off x="4922096"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74" name="椭圆 73"/>
              <p:cNvSpPr/>
              <p:nvPr/>
            </p:nvSpPr>
            <p:spPr>
              <a:xfrm>
                <a:off x="5239172"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75" name="椭圆 74"/>
              <p:cNvSpPr/>
              <p:nvPr/>
            </p:nvSpPr>
            <p:spPr>
              <a:xfrm>
                <a:off x="5556249"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76" name="椭圆 75"/>
              <p:cNvSpPr/>
              <p:nvPr/>
            </p:nvSpPr>
            <p:spPr>
              <a:xfrm>
                <a:off x="5873326"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77" name="椭圆 76"/>
              <p:cNvSpPr/>
              <p:nvPr/>
            </p:nvSpPr>
            <p:spPr>
              <a:xfrm>
                <a:off x="6190402"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78" name="椭圆 77"/>
              <p:cNvSpPr/>
              <p:nvPr/>
            </p:nvSpPr>
            <p:spPr>
              <a:xfrm>
                <a:off x="6507479" y="7821571"/>
                <a:ext cx="45795" cy="4579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合 14"/>
            <p:cNvGrpSpPr/>
            <p:nvPr/>
          </p:nvGrpSpPr>
          <p:grpSpPr>
            <a:xfrm>
              <a:off x="3019636" y="9574687"/>
              <a:ext cx="3533638" cy="45795"/>
              <a:chOff x="3019636" y="7821571"/>
              <a:chExt cx="3533638" cy="45795"/>
            </a:xfrm>
            <a:grpFill/>
          </p:grpSpPr>
          <p:sp>
            <p:nvSpPr>
              <p:cNvPr id="55" name="椭圆 54"/>
              <p:cNvSpPr/>
              <p:nvPr/>
            </p:nvSpPr>
            <p:spPr>
              <a:xfrm>
                <a:off x="3019636" y="7821571"/>
                <a:ext cx="45795" cy="4579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p:nvSpPr>
            <p:spPr>
              <a:xfrm>
                <a:off x="3336713"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7" name="椭圆 56"/>
              <p:cNvSpPr/>
              <p:nvPr/>
            </p:nvSpPr>
            <p:spPr>
              <a:xfrm>
                <a:off x="3653789"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8" name="椭圆 57"/>
              <p:cNvSpPr/>
              <p:nvPr/>
            </p:nvSpPr>
            <p:spPr>
              <a:xfrm>
                <a:off x="3970866"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9" name="椭圆 58"/>
              <p:cNvSpPr/>
              <p:nvPr/>
            </p:nvSpPr>
            <p:spPr>
              <a:xfrm>
                <a:off x="4287943"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60" name="椭圆 59"/>
              <p:cNvSpPr/>
              <p:nvPr/>
            </p:nvSpPr>
            <p:spPr>
              <a:xfrm>
                <a:off x="4605019"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61" name="椭圆 60"/>
              <p:cNvSpPr/>
              <p:nvPr/>
            </p:nvSpPr>
            <p:spPr>
              <a:xfrm>
                <a:off x="4922096"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62" name="椭圆 61"/>
              <p:cNvSpPr/>
              <p:nvPr/>
            </p:nvSpPr>
            <p:spPr>
              <a:xfrm>
                <a:off x="5239172"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63" name="椭圆 62"/>
              <p:cNvSpPr/>
              <p:nvPr/>
            </p:nvSpPr>
            <p:spPr>
              <a:xfrm>
                <a:off x="5556249"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64" name="椭圆 63"/>
              <p:cNvSpPr/>
              <p:nvPr/>
            </p:nvSpPr>
            <p:spPr>
              <a:xfrm>
                <a:off x="5873326"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65" name="椭圆 64"/>
              <p:cNvSpPr/>
              <p:nvPr/>
            </p:nvSpPr>
            <p:spPr>
              <a:xfrm>
                <a:off x="6190402"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66" name="椭圆 65"/>
              <p:cNvSpPr/>
              <p:nvPr/>
            </p:nvSpPr>
            <p:spPr>
              <a:xfrm>
                <a:off x="6507479" y="7821571"/>
                <a:ext cx="45795" cy="4579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6" name="组合 15"/>
            <p:cNvGrpSpPr/>
            <p:nvPr/>
          </p:nvGrpSpPr>
          <p:grpSpPr>
            <a:xfrm>
              <a:off x="3019636" y="9866873"/>
              <a:ext cx="3533638" cy="45795"/>
              <a:chOff x="3019636" y="7821571"/>
              <a:chExt cx="3533638" cy="45795"/>
            </a:xfrm>
            <a:grpFill/>
          </p:grpSpPr>
          <p:sp>
            <p:nvSpPr>
              <p:cNvPr id="43" name="椭圆 42"/>
              <p:cNvSpPr/>
              <p:nvPr/>
            </p:nvSpPr>
            <p:spPr>
              <a:xfrm>
                <a:off x="3019636" y="7821571"/>
                <a:ext cx="45795" cy="4579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nvSpPr>
            <p:spPr>
              <a:xfrm>
                <a:off x="3336713"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5" name="椭圆 44"/>
              <p:cNvSpPr/>
              <p:nvPr/>
            </p:nvSpPr>
            <p:spPr>
              <a:xfrm>
                <a:off x="3653789"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6" name="椭圆 45"/>
              <p:cNvSpPr/>
              <p:nvPr/>
            </p:nvSpPr>
            <p:spPr>
              <a:xfrm>
                <a:off x="3970866"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7" name="椭圆 46"/>
              <p:cNvSpPr/>
              <p:nvPr/>
            </p:nvSpPr>
            <p:spPr>
              <a:xfrm>
                <a:off x="4287943"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8" name="椭圆 47"/>
              <p:cNvSpPr/>
              <p:nvPr/>
            </p:nvSpPr>
            <p:spPr>
              <a:xfrm>
                <a:off x="4605019"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9" name="椭圆 48"/>
              <p:cNvSpPr/>
              <p:nvPr/>
            </p:nvSpPr>
            <p:spPr>
              <a:xfrm>
                <a:off x="4922096"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0" name="椭圆 49"/>
              <p:cNvSpPr/>
              <p:nvPr/>
            </p:nvSpPr>
            <p:spPr>
              <a:xfrm>
                <a:off x="5239172"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1" name="椭圆 50"/>
              <p:cNvSpPr/>
              <p:nvPr/>
            </p:nvSpPr>
            <p:spPr>
              <a:xfrm>
                <a:off x="5556249"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2" name="椭圆 51"/>
              <p:cNvSpPr/>
              <p:nvPr/>
            </p:nvSpPr>
            <p:spPr>
              <a:xfrm>
                <a:off x="5873326"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3" name="椭圆 52"/>
              <p:cNvSpPr/>
              <p:nvPr/>
            </p:nvSpPr>
            <p:spPr>
              <a:xfrm>
                <a:off x="6190402"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4" name="椭圆 53"/>
              <p:cNvSpPr/>
              <p:nvPr/>
            </p:nvSpPr>
            <p:spPr>
              <a:xfrm>
                <a:off x="6507479" y="7821571"/>
                <a:ext cx="45795" cy="4579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7" name="组合 16"/>
            <p:cNvGrpSpPr/>
            <p:nvPr/>
          </p:nvGrpSpPr>
          <p:grpSpPr>
            <a:xfrm>
              <a:off x="3019636" y="10159059"/>
              <a:ext cx="3533638" cy="45795"/>
              <a:chOff x="3019636" y="7821571"/>
              <a:chExt cx="3533638" cy="45795"/>
            </a:xfrm>
            <a:grpFill/>
          </p:grpSpPr>
          <p:sp>
            <p:nvSpPr>
              <p:cNvPr id="31" name="椭圆 30"/>
              <p:cNvSpPr/>
              <p:nvPr/>
            </p:nvSpPr>
            <p:spPr>
              <a:xfrm>
                <a:off x="3019636" y="7821571"/>
                <a:ext cx="45795" cy="4579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p:cNvSpPr/>
              <p:nvPr/>
            </p:nvSpPr>
            <p:spPr>
              <a:xfrm>
                <a:off x="3336713"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33" name="椭圆 32"/>
              <p:cNvSpPr/>
              <p:nvPr/>
            </p:nvSpPr>
            <p:spPr>
              <a:xfrm>
                <a:off x="3653789"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34" name="椭圆 33"/>
              <p:cNvSpPr/>
              <p:nvPr/>
            </p:nvSpPr>
            <p:spPr>
              <a:xfrm>
                <a:off x="3970866"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35" name="椭圆 34"/>
              <p:cNvSpPr/>
              <p:nvPr/>
            </p:nvSpPr>
            <p:spPr>
              <a:xfrm>
                <a:off x="4287943"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36" name="椭圆 35"/>
              <p:cNvSpPr/>
              <p:nvPr/>
            </p:nvSpPr>
            <p:spPr>
              <a:xfrm>
                <a:off x="4605019"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37" name="椭圆 36"/>
              <p:cNvSpPr/>
              <p:nvPr/>
            </p:nvSpPr>
            <p:spPr>
              <a:xfrm>
                <a:off x="4922096"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38" name="椭圆 37"/>
              <p:cNvSpPr/>
              <p:nvPr/>
            </p:nvSpPr>
            <p:spPr>
              <a:xfrm>
                <a:off x="5239172"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39" name="椭圆 38"/>
              <p:cNvSpPr/>
              <p:nvPr/>
            </p:nvSpPr>
            <p:spPr>
              <a:xfrm>
                <a:off x="5556249"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0" name="椭圆 39"/>
              <p:cNvSpPr/>
              <p:nvPr/>
            </p:nvSpPr>
            <p:spPr>
              <a:xfrm>
                <a:off x="5873326"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1" name="椭圆 40"/>
              <p:cNvSpPr/>
              <p:nvPr/>
            </p:nvSpPr>
            <p:spPr>
              <a:xfrm>
                <a:off x="6190402"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2" name="椭圆 41"/>
              <p:cNvSpPr/>
              <p:nvPr/>
            </p:nvSpPr>
            <p:spPr>
              <a:xfrm>
                <a:off x="6507479" y="7821571"/>
                <a:ext cx="45795" cy="4579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p:cNvGrpSpPr/>
            <p:nvPr/>
          </p:nvGrpSpPr>
          <p:grpSpPr>
            <a:xfrm>
              <a:off x="3019636" y="10451246"/>
              <a:ext cx="3533638" cy="45795"/>
              <a:chOff x="3019636" y="7821571"/>
              <a:chExt cx="3533638" cy="45795"/>
            </a:xfrm>
            <a:grpFill/>
          </p:grpSpPr>
          <p:sp>
            <p:nvSpPr>
              <p:cNvPr id="19" name="椭圆 18"/>
              <p:cNvSpPr/>
              <p:nvPr/>
            </p:nvSpPr>
            <p:spPr>
              <a:xfrm>
                <a:off x="3019636" y="7821571"/>
                <a:ext cx="45795" cy="4579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3336713"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1" name="椭圆 20"/>
              <p:cNvSpPr/>
              <p:nvPr/>
            </p:nvSpPr>
            <p:spPr>
              <a:xfrm>
                <a:off x="3653789"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2" name="椭圆 21"/>
              <p:cNvSpPr/>
              <p:nvPr/>
            </p:nvSpPr>
            <p:spPr>
              <a:xfrm>
                <a:off x="3970866"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3" name="椭圆 22"/>
              <p:cNvSpPr/>
              <p:nvPr/>
            </p:nvSpPr>
            <p:spPr>
              <a:xfrm>
                <a:off x="4287943"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4" name="椭圆 23"/>
              <p:cNvSpPr/>
              <p:nvPr/>
            </p:nvSpPr>
            <p:spPr>
              <a:xfrm>
                <a:off x="4605019"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5" name="椭圆 24"/>
              <p:cNvSpPr/>
              <p:nvPr/>
            </p:nvSpPr>
            <p:spPr>
              <a:xfrm>
                <a:off x="4922096"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6" name="椭圆 25"/>
              <p:cNvSpPr/>
              <p:nvPr/>
            </p:nvSpPr>
            <p:spPr>
              <a:xfrm>
                <a:off x="5239172"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7" name="椭圆 26"/>
              <p:cNvSpPr/>
              <p:nvPr/>
            </p:nvSpPr>
            <p:spPr>
              <a:xfrm>
                <a:off x="5556249"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8" name="椭圆 27"/>
              <p:cNvSpPr/>
              <p:nvPr/>
            </p:nvSpPr>
            <p:spPr>
              <a:xfrm>
                <a:off x="5873326"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9" name="椭圆 28"/>
              <p:cNvSpPr/>
              <p:nvPr/>
            </p:nvSpPr>
            <p:spPr>
              <a:xfrm>
                <a:off x="6190402" y="7821571"/>
                <a:ext cx="45795" cy="4579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30" name="椭圆 29"/>
              <p:cNvSpPr/>
              <p:nvPr/>
            </p:nvSpPr>
            <p:spPr>
              <a:xfrm>
                <a:off x="6507479" y="7821571"/>
                <a:ext cx="45795" cy="4579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39" name="椭圆 138"/>
          <p:cNvSpPr/>
          <p:nvPr userDrawn="1"/>
        </p:nvSpPr>
        <p:spPr>
          <a:xfrm rot="12716709">
            <a:off x="-1073381" y="5660880"/>
            <a:ext cx="2249670" cy="2217475"/>
          </a:xfrm>
          <a:prstGeom prst="ellipse">
            <a:avLst/>
          </a:prstGeom>
          <a:gradFill>
            <a:gsLst>
              <a:gs pos="0">
                <a:schemeClr val="accent1">
                  <a:alpha val="0"/>
                </a:schemeClr>
              </a:gs>
              <a:gs pos="91000">
                <a:schemeClr val="accent2">
                  <a:alpha val="18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4"/>
              </a:solidFill>
            </a:endParaRPr>
          </a:p>
        </p:txBody>
      </p:sp>
      <p:sp>
        <p:nvSpPr>
          <p:cNvPr id="140" name="椭圆 139"/>
          <p:cNvSpPr/>
          <p:nvPr userDrawn="1"/>
        </p:nvSpPr>
        <p:spPr>
          <a:xfrm rot="12716709">
            <a:off x="702172" y="6428731"/>
            <a:ext cx="751371" cy="740618"/>
          </a:xfrm>
          <a:prstGeom prst="ellipse">
            <a:avLst/>
          </a:prstGeom>
          <a:gradFill>
            <a:gsLst>
              <a:gs pos="0">
                <a:schemeClr val="accent1">
                  <a:alpha val="0"/>
                </a:schemeClr>
              </a:gs>
              <a:gs pos="91000">
                <a:schemeClr val="accent2">
                  <a:alpha val="18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4"/>
              </a:solidFill>
            </a:endParaRPr>
          </a:p>
        </p:txBody>
      </p:sp>
      <p:sp>
        <p:nvSpPr>
          <p:cNvPr id="141" name="矩形: 圆角 140"/>
          <p:cNvSpPr/>
          <p:nvPr userDrawn="1"/>
        </p:nvSpPr>
        <p:spPr>
          <a:xfrm>
            <a:off x="227017" y="-580409"/>
            <a:ext cx="11737966" cy="3015652"/>
          </a:xfrm>
          <a:prstGeom prst="roundRect">
            <a:avLst>
              <a:gd name="adj" fmla="val 8712"/>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2" name="图片 141" descr="高楼大厦的城市&#10;&#10;描述已自动生成"/>
          <p:cNvPicPr>
            <a:picLocks noChangeAspect="1"/>
          </p:cNvPicPr>
          <p:nvPr userDrawn="1"/>
        </p:nvPicPr>
        <p:blipFill>
          <a:blip r:embed="rId3">
            <a:alphaModFix amt="12000"/>
            <a:extLst>
              <a:ext uri="{28A0092B-C50C-407E-A947-70E740481C1C}">
                <a14:useLocalDpi xmlns:a14="http://schemas.microsoft.com/office/drawing/2010/main" val="0"/>
              </a:ext>
            </a:extLst>
          </a:blip>
          <a:srcRect l="1182" t="32386" r="734" b="35100"/>
          <a:stretch>
            <a:fillRect/>
          </a:stretch>
        </p:blipFill>
        <p:spPr>
          <a:xfrm>
            <a:off x="365125" y="-546206"/>
            <a:ext cx="11461750" cy="2838556"/>
          </a:xfrm>
          <a:custGeom>
            <a:avLst/>
            <a:gdLst>
              <a:gd name="connsiteX0" fmla="*/ 247295 w 11461750"/>
              <a:gd name="connsiteY0" fmla="*/ 0 h 2838556"/>
              <a:gd name="connsiteX1" fmla="*/ 11214455 w 11461750"/>
              <a:gd name="connsiteY1" fmla="*/ 0 h 2838556"/>
              <a:gd name="connsiteX2" fmla="*/ 11461750 w 11461750"/>
              <a:gd name="connsiteY2" fmla="*/ 247295 h 2838556"/>
              <a:gd name="connsiteX3" fmla="*/ 11461750 w 11461750"/>
              <a:gd name="connsiteY3" fmla="*/ 2591261 h 2838556"/>
              <a:gd name="connsiteX4" fmla="*/ 11214455 w 11461750"/>
              <a:gd name="connsiteY4" fmla="*/ 2838556 h 2838556"/>
              <a:gd name="connsiteX5" fmla="*/ 247295 w 11461750"/>
              <a:gd name="connsiteY5" fmla="*/ 2838556 h 2838556"/>
              <a:gd name="connsiteX6" fmla="*/ 0 w 11461750"/>
              <a:gd name="connsiteY6" fmla="*/ 2591261 h 2838556"/>
              <a:gd name="connsiteX7" fmla="*/ 0 w 11461750"/>
              <a:gd name="connsiteY7" fmla="*/ 247295 h 2838556"/>
              <a:gd name="connsiteX8" fmla="*/ 247295 w 11461750"/>
              <a:gd name="connsiteY8" fmla="*/ 0 h 2838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61750" h="2838556">
                <a:moveTo>
                  <a:pt x="247295" y="0"/>
                </a:moveTo>
                <a:lnTo>
                  <a:pt x="11214455" y="0"/>
                </a:lnTo>
                <a:cubicBezTo>
                  <a:pt x="11351032" y="0"/>
                  <a:pt x="11461750" y="110718"/>
                  <a:pt x="11461750" y="247295"/>
                </a:cubicBezTo>
                <a:lnTo>
                  <a:pt x="11461750" y="2591261"/>
                </a:lnTo>
                <a:cubicBezTo>
                  <a:pt x="11461750" y="2727838"/>
                  <a:pt x="11351032" y="2838556"/>
                  <a:pt x="11214455" y="2838556"/>
                </a:cubicBezTo>
                <a:lnTo>
                  <a:pt x="247295" y="2838556"/>
                </a:lnTo>
                <a:cubicBezTo>
                  <a:pt x="110718" y="2838556"/>
                  <a:pt x="0" y="2727838"/>
                  <a:pt x="0" y="2591261"/>
                </a:cubicBezTo>
                <a:lnTo>
                  <a:pt x="0" y="247295"/>
                </a:lnTo>
                <a:cubicBezTo>
                  <a:pt x="0" y="110718"/>
                  <a:pt x="110718" y="0"/>
                  <a:pt x="247295" y="0"/>
                </a:cubicBezTo>
                <a:close/>
              </a:path>
            </a:pathLst>
          </a:cu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8400" y="608400"/>
            <a:ext cx="10969200" cy="705600"/>
          </a:xfrm>
        </p:spPr>
        <p:txBody>
          <a:bodyPr vert="horz" lIns="90000" tIns="46800" rIns="90000" bIns="46800" rtlCol="0" anchor="ctr" anchorCtr="0">
            <a:normAutofit/>
          </a:bodyPr>
          <a:lstStyle/>
          <a:p>
            <a:pPr lvl="0"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608400" y="1490400"/>
            <a:ext cx="10969200" cy="4759200"/>
          </a:xfrm>
        </p:spPr>
        <p:txBody>
          <a:bodyPr vert="horz" lIns="90000" tIns="46800" rIns="90000" bIns="46800" rtlCol="0">
            <a:normAutofit/>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日期占位符 3"/>
          <p:cNvSpPr>
            <a:spLocks noGrp="1"/>
          </p:cNvSpPr>
          <p:nvPr>
            <p:ph type="dt" sz="half" idx="10"/>
          </p:nvPr>
        </p:nvSpPr>
        <p:spPr>
          <a:xfrm>
            <a:off x="838200" y="6400413"/>
            <a:ext cx="2743200" cy="276999"/>
          </a:xfrm>
        </p:spPr>
        <p:txBody>
          <a:bodyPr/>
          <a:lstStyle/>
          <a:p>
            <a:pPr fontAlgn="auto"/>
            <a:fld id="{760FBDFE-C587-4B4C-A407-44438C67B59E}" type="datetime1">
              <a:rPr lang="zh-CN" altLang="en-US" strike="noStrike" noProof="1" smtClean="0">
                <a:latin typeface="+mn-lt"/>
                <a:ea typeface="+mn-ea"/>
                <a:cs typeface="+mn-cs"/>
              </a:rPr>
            </a:fld>
            <a:endParaRPr lang="zh-CN" altLang="en-US" strike="noStrike" noProof="1"/>
          </a:p>
        </p:txBody>
      </p:sp>
      <p:sp>
        <p:nvSpPr>
          <p:cNvPr id="5" name="页脚占位符 4"/>
          <p:cNvSpPr>
            <a:spLocks noGrp="1"/>
          </p:cNvSpPr>
          <p:nvPr>
            <p:ph type="ftr" sz="quarter" idx="11"/>
          </p:nvPr>
        </p:nvSpPr>
        <p:spPr>
          <a:xfrm>
            <a:off x="4038600" y="6400413"/>
            <a:ext cx="4114800" cy="276999"/>
          </a:xfrm>
        </p:spPr>
        <p:txBody>
          <a:bodyPr/>
          <a:lstStyle/>
          <a:p>
            <a:pPr fontAlgn="auto"/>
            <a:endParaRPr lang="zh-CN" altLang="en-US" strike="noStrike" noProof="1"/>
          </a:p>
        </p:txBody>
      </p:sp>
      <p:sp>
        <p:nvSpPr>
          <p:cNvPr id="6" name="灯片编号占位符 5"/>
          <p:cNvSpPr>
            <a:spLocks noGrp="1"/>
          </p:cNvSpPr>
          <p:nvPr>
            <p:ph type="sldNum" sz="quarter" idx="12"/>
          </p:nvPr>
        </p:nvSpPr>
        <p:spPr>
          <a:xfrm>
            <a:off x="8610600" y="6400413"/>
            <a:ext cx="2743200" cy="276999"/>
          </a:xfrm>
        </p:spPr>
        <p:txBody>
          <a:bodyPr/>
          <a:lstStyle/>
          <a:p>
            <a:pPr fontAlgn="auto"/>
            <a:fld id="{49AE70B2-8BF9-45C0-BB95-33D1B9D3A854}" type="slidenum">
              <a:rPr lang="zh-CN" altLang="en-US" strike="noStrike" noProof="1" smtClean="0">
                <a:latin typeface="+mn-lt"/>
                <a:ea typeface="+mn-ea"/>
                <a:cs typeface="+mn-cs"/>
              </a:rPr>
            </a:fld>
            <a:endParaRPr lang="zh-CN" altLang="en-US" strike="noStrike" noProof="1"/>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sp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sp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spAutoFit/>
          </a:bodyPr>
          <a:lstStyle>
            <a:lvl1pPr algn="l">
              <a:defRPr sz="1200">
                <a:solidFill>
                  <a:schemeClr val="tx1">
                    <a:tint val="75000"/>
                  </a:schemeClr>
                </a:solidFill>
              </a:defRPr>
            </a:lvl1pPr>
          </a:lstStyle>
          <a:p>
            <a:fld id="{658FBD9E-AB09-417E-A78E-EBA5D0816614}"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sp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spAutoFit/>
          </a:bodyPr>
          <a:lstStyle>
            <a:lvl1pPr algn="r">
              <a:defRPr sz="1200">
                <a:solidFill>
                  <a:schemeClr val="tx1">
                    <a:tint val="75000"/>
                  </a:schemeClr>
                </a:solidFill>
              </a:defRPr>
            </a:lvl1pPr>
          </a:lstStyle>
          <a:p>
            <a:fld id="{0A762C5A-1C7E-4BE9-93D6-CA28F925142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image" Target="../media/image10.png"/></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4.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9.png"/><Relationship Id="rId1"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21.png"/><Relationship Id="rId1"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5.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28.png"/><Relationship Id="rId1" Type="http://schemas.openxmlformats.org/officeDocument/2006/relationships/image" Target="../media/image27.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4.xml"/><Relationship Id="rId2" Type="http://schemas.openxmlformats.org/officeDocument/2006/relationships/image" Target="../media/image17.png"/><Relationship Id="rId1" Type="http://schemas.openxmlformats.org/officeDocument/2006/relationships/tags" Target="../tags/tag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2.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4.png"/></Relationships>
</file>

<file path=ppt/slides/_rels/slide40.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image" Target="../media/image3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9" Type="http://schemas.openxmlformats.org/officeDocument/2006/relationships/tags" Target="../tags/tag10.xml"/><Relationship Id="rId8" Type="http://schemas.openxmlformats.org/officeDocument/2006/relationships/tags" Target="../tags/tag9.xml"/><Relationship Id="rId7" Type="http://schemas.openxmlformats.org/officeDocument/2006/relationships/tags" Target="../tags/tag8.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3" Type="http://schemas.openxmlformats.org/officeDocument/2006/relationships/tags" Target="../tags/tag4.xml"/><Relationship Id="rId26" Type="http://schemas.openxmlformats.org/officeDocument/2006/relationships/slideLayout" Target="../slideLayouts/slideLayout8.xml"/><Relationship Id="rId25" Type="http://schemas.openxmlformats.org/officeDocument/2006/relationships/tags" Target="../tags/tag26.xml"/><Relationship Id="rId24" Type="http://schemas.openxmlformats.org/officeDocument/2006/relationships/tags" Target="../tags/tag25.xml"/><Relationship Id="rId23" Type="http://schemas.openxmlformats.org/officeDocument/2006/relationships/tags" Target="../tags/tag24.xml"/><Relationship Id="rId22" Type="http://schemas.openxmlformats.org/officeDocument/2006/relationships/tags" Target="../tags/tag23.xml"/><Relationship Id="rId21" Type="http://schemas.openxmlformats.org/officeDocument/2006/relationships/tags" Target="../tags/tag22.xml"/><Relationship Id="rId20" Type="http://schemas.openxmlformats.org/officeDocument/2006/relationships/tags" Target="../tags/tag21.xml"/><Relationship Id="rId2" Type="http://schemas.openxmlformats.org/officeDocument/2006/relationships/tags" Target="../tags/tag3.xml"/><Relationship Id="rId19" Type="http://schemas.openxmlformats.org/officeDocument/2006/relationships/tags" Target="../tags/tag20.xml"/><Relationship Id="rId18" Type="http://schemas.openxmlformats.org/officeDocument/2006/relationships/tags" Target="../tags/tag19.xml"/><Relationship Id="rId17" Type="http://schemas.openxmlformats.org/officeDocument/2006/relationships/tags" Target="../tags/tag18.xml"/><Relationship Id="rId16" Type="http://schemas.openxmlformats.org/officeDocument/2006/relationships/tags" Target="../tags/tag17.xml"/><Relationship Id="rId15" Type="http://schemas.openxmlformats.org/officeDocument/2006/relationships/tags" Target="../tags/tag16.xml"/><Relationship Id="rId14" Type="http://schemas.openxmlformats.org/officeDocument/2006/relationships/tags" Target="../tags/tag15.xml"/><Relationship Id="rId13" Type="http://schemas.openxmlformats.org/officeDocument/2006/relationships/tags" Target="../tags/tag14.xml"/><Relationship Id="rId12" Type="http://schemas.openxmlformats.org/officeDocument/2006/relationships/tags" Target="../tags/tag13.xml"/><Relationship Id="rId11" Type="http://schemas.openxmlformats.org/officeDocument/2006/relationships/tags" Target="../tags/tag12.xml"/><Relationship Id="rId10" Type="http://schemas.openxmlformats.org/officeDocument/2006/relationships/tags" Target="../tags/tag11.xml"/><Relationship Id="rId1" Type="http://schemas.openxmlformats.org/officeDocument/2006/relationships/tags" Target="../tags/tag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5" name="任意多边形: 形状 24"/>
          <p:cNvSpPr/>
          <p:nvPr/>
        </p:nvSpPr>
        <p:spPr>
          <a:xfrm>
            <a:off x="0" y="2362200"/>
            <a:ext cx="12192000" cy="3017520"/>
          </a:xfrm>
          <a:custGeom>
            <a:avLst/>
            <a:gdLst>
              <a:gd name="connsiteX0" fmla="*/ 6096001 w 12192000"/>
              <a:gd name="connsiteY0" fmla="*/ 0 h 3017520"/>
              <a:gd name="connsiteX1" fmla="*/ 11912335 w 12192000"/>
              <a:gd name="connsiteY1" fmla="*/ 665198 h 3017520"/>
              <a:gd name="connsiteX2" fmla="*/ 12192000 w 12192000"/>
              <a:gd name="connsiteY2" fmla="*/ 764218 h 3017520"/>
              <a:gd name="connsiteX3" fmla="*/ 12192000 w 12192000"/>
              <a:gd name="connsiteY3" fmla="*/ 2253303 h 3017520"/>
              <a:gd name="connsiteX4" fmla="*/ 11912335 w 12192000"/>
              <a:gd name="connsiteY4" fmla="*/ 2352322 h 3017520"/>
              <a:gd name="connsiteX5" fmla="*/ 6096001 w 12192000"/>
              <a:gd name="connsiteY5" fmla="*/ 3017520 h 3017520"/>
              <a:gd name="connsiteX6" fmla="*/ 279667 w 12192000"/>
              <a:gd name="connsiteY6" fmla="*/ 2352322 h 3017520"/>
              <a:gd name="connsiteX7" fmla="*/ 0 w 12192000"/>
              <a:gd name="connsiteY7" fmla="*/ 2253302 h 3017520"/>
              <a:gd name="connsiteX8" fmla="*/ 0 w 12192000"/>
              <a:gd name="connsiteY8" fmla="*/ 764218 h 3017520"/>
              <a:gd name="connsiteX9" fmla="*/ 279667 w 12192000"/>
              <a:gd name="connsiteY9" fmla="*/ 665198 h 3017520"/>
              <a:gd name="connsiteX10" fmla="*/ 6096001 w 12192000"/>
              <a:gd name="connsiteY10" fmla="*/ 0 h 3017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92000" h="3017520">
                <a:moveTo>
                  <a:pt x="6096001" y="0"/>
                </a:moveTo>
                <a:cubicBezTo>
                  <a:pt x="8517168" y="0"/>
                  <a:pt x="10651822" y="263865"/>
                  <a:pt x="11912335" y="665198"/>
                </a:cubicBezTo>
                <a:lnTo>
                  <a:pt x="12192000" y="764218"/>
                </a:lnTo>
                <a:lnTo>
                  <a:pt x="12192000" y="2253303"/>
                </a:lnTo>
                <a:lnTo>
                  <a:pt x="11912335" y="2352322"/>
                </a:lnTo>
                <a:cubicBezTo>
                  <a:pt x="10651822" y="2753655"/>
                  <a:pt x="8517168" y="3017520"/>
                  <a:pt x="6096001" y="3017520"/>
                </a:cubicBezTo>
                <a:cubicBezTo>
                  <a:pt x="3674834" y="3017520"/>
                  <a:pt x="1540181" y="2753655"/>
                  <a:pt x="279667" y="2352322"/>
                </a:cubicBezTo>
                <a:lnTo>
                  <a:pt x="0" y="2253302"/>
                </a:lnTo>
                <a:lnTo>
                  <a:pt x="0" y="764218"/>
                </a:lnTo>
                <a:lnTo>
                  <a:pt x="279667" y="665198"/>
                </a:lnTo>
                <a:cubicBezTo>
                  <a:pt x="1540181" y="263865"/>
                  <a:pt x="3674834" y="0"/>
                  <a:pt x="6096001"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a:p>
        </p:txBody>
      </p:sp>
      <p:sp>
        <p:nvSpPr>
          <p:cNvPr id="12" name="任意多边形: 形状 11"/>
          <p:cNvSpPr/>
          <p:nvPr/>
        </p:nvSpPr>
        <p:spPr>
          <a:xfrm>
            <a:off x="0" y="0"/>
            <a:ext cx="12192000" cy="5256304"/>
          </a:xfrm>
          <a:custGeom>
            <a:avLst/>
            <a:gdLst>
              <a:gd name="connsiteX0" fmla="*/ 0 w 12192000"/>
              <a:gd name="connsiteY0" fmla="*/ 0 h 5256304"/>
              <a:gd name="connsiteX1" fmla="*/ 12192000 w 12192000"/>
              <a:gd name="connsiteY1" fmla="*/ 0 h 5256304"/>
              <a:gd name="connsiteX2" fmla="*/ 12192000 w 12192000"/>
              <a:gd name="connsiteY2" fmla="*/ 1637364 h 5256304"/>
              <a:gd name="connsiteX3" fmla="*/ 12192000 w 12192000"/>
              <a:gd name="connsiteY3" fmla="*/ 4028925 h 5256304"/>
              <a:gd name="connsiteX4" fmla="*/ 11912335 w 12192000"/>
              <a:gd name="connsiteY4" fmla="*/ 4187956 h 5256304"/>
              <a:gd name="connsiteX5" fmla="*/ 6096001 w 12192000"/>
              <a:gd name="connsiteY5" fmla="*/ 5256304 h 5256304"/>
              <a:gd name="connsiteX6" fmla="*/ 279667 w 12192000"/>
              <a:gd name="connsiteY6" fmla="*/ 4187956 h 5256304"/>
              <a:gd name="connsiteX7" fmla="*/ 0 w 12192000"/>
              <a:gd name="connsiteY7" fmla="*/ 4028924 h 5256304"/>
              <a:gd name="connsiteX8" fmla="*/ 0 w 12192000"/>
              <a:gd name="connsiteY8" fmla="*/ 1637365 h 5256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5256304">
                <a:moveTo>
                  <a:pt x="0" y="0"/>
                </a:moveTo>
                <a:lnTo>
                  <a:pt x="12192000" y="0"/>
                </a:lnTo>
                <a:lnTo>
                  <a:pt x="12192000" y="1637364"/>
                </a:lnTo>
                <a:lnTo>
                  <a:pt x="12192000" y="4028925"/>
                </a:lnTo>
                <a:lnTo>
                  <a:pt x="11912335" y="4187956"/>
                </a:lnTo>
                <a:cubicBezTo>
                  <a:pt x="10651822" y="4832521"/>
                  <a:pt x="8517168" y="5256304"/>
                  <a:pt x="6096001" y="5256304"/>
                </a:cubicBezTo>
                <a:cubicBezTo>
                  <a:pt x="3674834" y="5256304"/>
                  <a:pt x="1540181" y="4832521"/>
                  <a:pt x="279667" y="4187956"/>
                </a:cubicBezTo>
                <a:lnTo>
                  <a:pt x="0" y="4028924"/>
                </a:lnTo>
                <a:lnTo>
                  <a:pt x="0" y="1637365"/>
                </a:lnTo>
                <a:close/>
              </a:path>
            </a:pathLst>
          </a:custGeom>
          <a:blipFill>
            <a:blip r:embed="rId1">
              <a:lum bright="70000" contrast="-70000"/>
            </a:blip>
            <a:srcRect/>
            <a:stretch>
              <a:fillRect l="-1282" r="-1282" b="-5495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a:p>
        </p:txBody>
      </p:sp>
      <p:sp>
        <p:nvSpPr>
          <p:cNvPr id="23" name="文本框 22"/>
          <p:cNvSpPr txBox="1"/>
          <p:nvPr/>
        </p:nvSpPr>
        <p:spPr>
          <a:xfrm>
            <a:off x="10160" y="1343493"/>
            <a:ext cx="12191999" cy="2085507"/>
          </a:xfrm>
          <a:prstGeom prst="rect">
            <a:avLst/>
          </a:prstGeom>
          <a:noFill/>
        </p:spPr>
        <p:txBody>
          <a:bodyPr wrap="square" rtlCol="0">
            <a:spAutoFit/>
          </a:bodyPr>
          <a:lstStyle/>
          <a:p>
            <a:pPr algn="ctr">
              <a:lnSpc>
                <a:spcPct val="150000"/>
              </a:lnSpc>
            </a:pPr>
            <a:r>
              <a:rPr lang="zh-CN" altLang="en-US" sz="4400" b="1" dirty="0">
                <a:gradFill flip="none" rotWithShape="1">
                  <a:gsLst>
                    <a:gs pos="100000">
                      <a:schemeClr val="accent1"/>
                    </a:gs>
                    <a:gs pos="18000">
                      <a:schemeClr val="accent1">
                        <a:lumMod val="75000"/>
                      </a:schemeClr>
                    </a:gs>
                  </a:gsLst>
                  <a:lin ang="5400000" scaled="1"/>
                  <a:tileRect/>
                </a:gradFill>
                <a:latin typeface="+mj-ea"/>
                <a:ea typeface="+mj-ea"/>
              </a:rPr>
              <a:t>朝阳区高三年级第二学期质量检测一</a:t>
            </a:r>
            <a:endParaRPr lang="en-US" altLang="zh-CN" sz="4400" b="1" dirty="0">
              <a:gradFill flip="none" rotWithShape="1">
                <a:gsLst>
                  <a:gs pos="100000">
                    <a:schemeClr val="accent1"/>
                  </a:gs>
                  <a:gs pos="18000">
                    <a:schemeClr val="accent1">
                      <a:lumMod val="75000"/>
                    </a:schemeClr>
                  </a:gs>
                </a:gsLst>
                <a:lin ang="5400000" scaled="1"/>
                <a:tileRect/>
              </a:gradFill>
              <a:latin typeface="+mj-ea"/>
              <a:ea typeface="+mj-ea"/>
            </a:endParaRPr>
          </a:p>
          <a:p>
            <a:pPr algn="ctr">
              <a:lnSpc>
                <a:spcPct val="150000"/>
              </a:lnSpc>
            </a:pPr>
            <a:r>
              <a:rPr lang="zh-CN" altLang="en-US" sz="4800" b="1" dirty="0">
                <a:gradFill flip="none" rotWithShape="1">
                  <a:gsLst>
                    <a:gs pos="100000">
                      <a:schemeClr val="accent1"/>
                    </a:gs>
                    <a:gs pos="18000">
                      <a:schemeClr val="accent1">
                        <a:lumMod val="75000"/>
                      </a:schemeClr>
                    </a:gs>
                  </a:gsLst>
                  <a:lin ang="5400000" scaled="1"/>
                  <a:tileRect/>
                </a:gradFill>
                <a:latin typeface="+mj-ea"/>
                <a:ea typeface="+mj-ea"/>
              </a:rPr>
              <a:t>思想政治 试卷讲评</a:t>
            </a:r>
            <a:endParaRPr lang="zh-CN" altLang="en-US" sz="4800" b="1" dirty="0">
              <a:gradFill flip="none" rotWithShape="1">
                <a:gsLst>
                  <a:gs pos="100000">
                    <a:schemeClr val="accent1"/>
                  </a:gs>
                  <a:gs pos="18000">
                    <a:schemeClr val="accent1">
                      <a:lumMod val="75000"/>
                    </a:schemeClr>
                  </a:gs>
                </a:gsLst>
                <a:lin ang="5400000" scaled="1"/>
                <a:tileRect/>
              </a:gradFill>
              <a:latin typeface="+mj-ea"/>
              <a:ea typeface="+mj-ea"/>
            </a:endParaRPr>
          </a:p>
        </p:txBody>
      </p:sp>
      <p:sp>
        <p:nvSpPr>
          <p:cNvPr id="28" name="文本框 27"/>
          <p:cNvSpPr txBox="1"/>
          <p:nvPr/>
        </p:nvSpPr>
        <p:spPr>
          <a:xfrm>
            <a:off x="4618161" y="6285173"/>
            <a:ext cx="184731" cy="369332"/>
          </a:xfrm>
          <a:prstGeom prst="rect">
            <a:avLst/>
          </a:prstGeom>
          <a:noFill/>
        </p:spPr>
        <p:txBody>
          <a:bodyPr wrap="none" rtlCol="0">
            <a:spAutoFit/>
          </a:bodyPr>
          <a:lstStyle/>
          <a:p>
            <a:endParaRPr lang="zh-CN" altLang="en-US" dirty="0">
              <a:solidFill>
                <a:schemeClr val="bg1"/>
              </a:solidFill>
              <a:latin typeface="+mj-ea"/>
              <a:ea typeface="+mj-ea"/>
            </a:endParaRPr>
          </a:p>
        </p:txBody>
      </p:sp>
      <p:sp>
        <p:nvSpPr>
          <p:cNvPr id="30" name="文本框 29"/>
          <p:cNvSpPr txBox="1"/>
          <p:nvPr/>
        </p:nvSpPr>
        <p:spPr>
          <a:xfrm>
            <a:off x="-10161" y="5613766"/>
            <a:ext cx="12191999" cy="523220"/>
          </a:xfrm>
          <a:prstGeom prst="rect">
            <a:avLst/>
          </a:prstGeom>
          <a:noFill/>
        </p:spPr>
        <p:txBody>
          <a:bodyPr wrap="square" rtlCol="0">
            <a:spAutoFit/>
          </a:bodyPr>
          <a:lstStyle/>
          <a:p>
            <a:pPr algn="ctr"/>
            <a:r>
              <a:rPr lang="en-US" altLang="zh-CN" sz="2800" dirty="0">
                <a:solidFill>
                  <a:schemeClr val="bg1"/>
                </a:solidFill>
                <a:latin typeface="+mj-ea"/>
                <a:ea typeface="+mj-ea"/>
              </a:rPr>
              <a:t>2024</a:t>
            </a:r>
            <a:r>
              <a:rPr lang="zh-CN" altLang="en-US" sz="2800" dirty="0">
                <a:solidFill>
                  <a:schemeClr val="bg1"/>
                </a:solidFill>
                <a:latin typeface="+mj-ea"/>
                <a:ea typeface="+mj-ea"/>
              </a:rPr>
              <a:t>年</a:t>
            </a:r>
            <a:r>
              <a:rPr lang="en-US" altLang="zh-CN" sz="2800" dirty="0">
                <a:solidFill>
                  <a:schemeClr val="bg1"/>
                </a:solidFill>
                <a:latin typeface="+mj-ea"/>
                <a:ea typeface="+mj-ea"/>
              </a:rPr>
              <a:t>4</a:t>
            </a:r>
            <a:r>
              <a:rPr lang="zh-CN" altLang="en-US" sz="2800" dirty="0">
                <a:solidFill>
                  <a:schemeClr val="bg1"/>
                </a:solidFill>
                <a:latin typeface="+mj-ea"/>
                <a:ea typeface="+mj-ea"/>
              </a:rPr>
              <a:t>月</a:t>
            </a:r>
            <a:endParaRPr lang="zh-CN" altLang="en-US" sz="2800" dirty="0">
              <a:solidFill>
                <a:schemeClr val="bg1"/>
              </a:solidFill>
            </a:endParaRPr>
          </a:p>
        </p:txBody>
      </p:sp>
      <p:grpSp>
        <p:nvGrpSpPr>
          <p:cNvPr id="8" name="组合 7"/>
          <p:cNvGrpSpPr/>
          <p:nvPr/>
        </p:nvGrpSpPr>
        <p:grpSpPr>
          <a:xfrm>
            <a:off x="2804971" y="4029492"/>
            <a:ext cx="6591029" cy="148132"/>
            <a:chOff x="2804971" y="4029492"/>
            <a:chExt cx="6591029" cy="148132"/>
          </a:xfrm>
        </p:grpSpPr>
        <p:sp>
          <p:nvSpPr>
            <p:cNvPr id="2" name="矩形 1"/>
            <p:cNvSpPr/>
            <p:nvPr/>
          </p:nvSpPr>
          <p:spPr>
            <a:xfrm rot="2700000">
              <a:off x="6032094" y="4029492"/>
              <a:ext cx="148132" cy="148132"/>
            </a:xfrm>
            <a:prstGeom prst="rect">
              <a:avLst/>
            </a:prstGeom>
            <a:gradFill flip="none" rotWithShape="1">
              <a:gsLst>
                <a:gs pos="100000">
                  <a:schemeClr val="accent1"/>
                </a:gs>
                <a:gs pos="0">
                  <a:schemeClr val="accent1">
                    <a:lumMod val="7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cxnSp>
          <p:nvCxnSpPr>
            <p:cNvPr id="5" name="直接连接符 4"/>
            <p:cNvCxnSpPr/>
            <p:nvPr/>
          </p:nvCxnSpPr>
          <p:spPr>
            <a:xfrm>
              <a:off x="6343200" y="4103558"/>
              <a:ext cx="30528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2804971" y="4103558"/>
              <a:ext cx="30528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105647" y="676249"/>
            <a:ext cx="2646878" cy="584775"/>
          </a:xfrm>
          <a:prstGeom prst="rect">
            <a:avLst/>
          </a:prstGeom>
          <a:solidFill>
            <a:schemeClr val="bg1"/>
          </a:solidFill>
        </p:spPr>
        <p:txBody>
          <a:bodyPr wrap="none" rtlCol="0">
            <a:spAutoFit/>
          </a:bodyPr>
          <a:lstStyle/>
          <a:p>
            <a:r>
              <a:rPr lang="zh-CN" altLang="en-US" sz="3200" b="1" dirty="0">
                <a:gradFill>
                  <a:gsLst>
                    <a:gs pos="100000">
                      <a:schemeClr val="accent1"/>
                    </a:gs>
                    <a:gs pos="0">
                      <a:schemeClr val="accent1">
                        <a:lumMod val="75000"/>
                      </a:schemeClr>
                    </a:gs>
                  </a:gsLst>
                  <a:lin ang="0" scaled="1"/>
                </a:gradFill>
                <a:latin typeface="+mj-ea"/>
                <a:ea typeface="+mj-ea"/>
              </a:rPr>
              <a:t>一、命题说明</a:t>
            </a:r>
            <a:endParaRPr lang="zh-CN" altLang="en-US" sz="3200" b="1" dirty="0">
              <a:gradFill>
                <a:gsLst>
                  <a:gs pos="100000">
                    <a:schemeClr val="accent1"/>
                  </a:gs>
                  <a:gs pos="0">
                    <a:schemeClr val="accent1">
                      <a:lumMod val="75000"/>
                    </a:schemeClr>
                  </a:gs>
                </a:gsLst>
                <a:lin ang="0" scaled="1"/>
              </a:gradFill>
              <a:latin typeface="+mj-ea"/>
              <a:ea typeface="+mj-ea"/>
            </a:endParaRPr>
          </a:p>
        </p:txBody>
      </p:sp>
      <p:sp>
        <p:nvSpPr>
          <p:cNvPr id="5" name="文本框 4"/>
          <p:cNvSpPr txBox="1"/>
          <p:nvPr/>
        </p:nvSpPr>
        <p:spPr>
          <a:xfrm>
            <a:off x="972083" y="1474618"/>
            <a:ext cx="9549653" cy="523220"/>
          </a:xfrm>
          <a:prstGeom prst="rect">
            <a:avLst/>
          </a:prstGeom>
          <a:noFill/>
        </p:spPr>
        <p:txBody>
          <a:bodyPr wrap="square">
            <a:spAutoFit/>
          </a:bodyPr>
          <a:lstStyle/>
          <a:p>
            <a:pPr>
              <a:defRPr/>
            </a:pPr>
            <a:r>
              <a:rPr lang="en-US" altLang="zh-CN" sz="2800" b="1" dirty="0">
                <a:solidFill>
                  <a:srgbClr val="FF0000"/>
                </a:solidFill>
                <a:latin typeface="+mn-ea"/>
                <a:ea typeface="+mn-ea"/>
              </a:rPr>
              <a:t>1.</a:t>
            </a:r>
            <a:r>
              <a:rPr lang="zh-CN" altLang="en-US" sz="2800" b="1" dirty="0">
                <a:solidFill>
                  <a:srgbClr val="FF0000"/>
                </a:solidFill>
                <a:latin typeface="+mn-ea"/>
                <a:ea typeface="+mn-ea"/>
              </a:rPr>
              <a:t>功能定位：</a:t>
            </a:r>
            <a:r>
              <a:rPr lang="zh-CN" altLang="en-US" sz="2800" b="1" dirty="0">
                <a:solidFill>
                  <a:schemeClr val="tx1"/>
                </a:solidFill>
                <a:latin typeface="+mn-ea"/>
                <a:ea typeface="+mn-ea"/>
              </a:rPr>
              <a:t>调研诊断  改进激励</a:t>
            </a:r>
            <a:endParaRPr lang="zh-CN" altLang="en-US" sz="2800" b="1" dirty="0">
              <a:solidFill>
                <a:schemeClr val="tx1"/>
              </a:solidFill>
              <a:latin typeface="+mn-ea"/>
              <a:ea typeface="+mn-ea"/>
            </a:endParaRPr>
          </a:p>
        </p:txBody>
      </p:sp>
      <p:sp>
        <p:nvSpPr>
          <p:cNvPr id="6" name="文本框 5"/>
          <p:cNvSpPr txBox="1"/>
          <p:nvPr/>
        </p:nvSpPr>
        <p:spPr>
          <a:xfrm>
            <a:off x="441158" y="2000326"/>
            <a:ext cx="11309684" cy="4524315"/>
          </a:xfrm>
          <a:prstGeom prst="rect">
            <a:avLst/>
          </a:prstGeom>
          <a:noFill/>
        </p:spPr>
        <p:txBody>
          <a:bodyPr wrap="square" rtlCol="0">
            <a:spAutoFit/>
          </a:bodyPr>
          <a:lstStyle/>
          <a:p>
            <a:pPr algn="ctr"/>
            <a:r>
              <a:rPr lang="zh-CN" altLang="en-US" sz="3200" b="1" dirty="0">
                <a:solidFill>
                  <a:srgbClr val="0000CC"/>
                </a:solidFill>
                <a:latin typeface="楷体" panose="02010609060101010101" pitchFamily="49" charset="-122"/>
                <a:ea typeface="楷体" panose="02010609060101010101" pitchFamily="49" charset="-122"/>
              </a:rPr>
              <a:t>在高考之前的每一场考试，都不是考试，</a:t>
            </a:r>
            <a:endParaRPr lang="en-US" altLang="zh-CN" sz="3200" b="1" dirty="0">
              <a:solidFill>
                <a:srgbClr val="0000CC"/>
              </a:solidFill>
              <a:latin typeface="楷体" panose="02010609060101010101" pitchFamily="49" charset="-122"/>
              <a:ea typeface="楷体" panose="02010609060101010101" pitchFamily="49" charset="-122"/>
            </a:endParaRPr>
          </a:p>
          <a:p>
            <a:pPr algn="ctr"/>
            <a:r>
              <a:rPr lang="zh-CN" altLang="en-US" sz="3200" b="1" dirty="0">
                <a:solidFill>
                  <a:srgbClr val="0000CC"/>
                </a:solidFill>
                <a:latin typeface="楷体" panose="02010609060101010101" pitchFamily="49" charset="-122"/>
                <a:ea typeface="楷体" panose="02010609060101010101" pitchFamily="49" charset="-122"/>
              </a:rPr>
              <a:t>而是一次严肃认真的检查</a:t>
            </a:r>
            <a:endParaRPr lang="en-US" altLang="zh-CN" sz="3200" b="1" dirty="0">
              <a:solidFill>
                <a:srgbClr val="0000CC"/>
              </a:solidFill>
              <a:latin typeface="楷体" panose="02010609060101010101" pitchFamily="49" charset="-122"/>
              <a:ea typeface="楷体" panose="02010609060101010101" pitchFamily="49" charset="-122"/>
            </a:endParaRPr>
          </a:p>
          <a:p>
            <a:pPr algn="ctr"/>
            <a:endParaRPr lang="en-US" altLang="zh-CN" sz="2800" b="1" dirty="0">
              <a:latin typeface="楷体" panose="02010609060101010101" pitchFamily="49" charset="-122"/>
              <a:ea typeface="楷体" panose="02010609060101010101" pitchFamily="49" charset="-122"/>
            </a:endParaRPr>
          </a:p>
          <a:p>
            <a:pPr algn="ctr"/>
            <a:r>
              <a:rPr lang="zh-CN" altLang="en-US" sz="2800" b="1" dirty="0">
                <a:latin typeface="楷体" panose="02010609060101010101" pitchFamily="49" charset="-122"/>
                <a:ea typeface="楷体" panose="02010609060101010101" pitchFamily="49" charset="-122"/>
              </a:rPr>
              <a:t>期中、期末、一模、二模</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一张蓝图绘到底</a:t>
            </a:r>
            <a:endParaRPr lang="en-US" altLang="zh-CN" sz="2800" b="1" dirty="0">
              <a:latin typeface="楷体" panose="02010609060101010101" pitchFamily="49" charset="-122"/>
              <a:ea typeface="楷体" panose="02010609060101010101" pitchFamily="49" charset="-122"/>
            </a:endParaRPr>
          </a:p>
          <a:p>
            <a:pPr algn="ctr"/>
            <a:r>
              <a:rPr lang="zh-CN" altLang="en-US" sz="2800" b="1" dirty="0">
                <a:solidFill>
                  <a:srgbClr val="0000CC"/>
                </a:solidFill>
                <a:latin typeface="楷体" panose="02010609060101010101" pitchFamily="49" charset="-122"/>
                <a:ea typeface="楷体" panose="02010609060101010101" pitchFamily="49" charset="-122"/>
              </a:rPr>
              <a:t>共同构建</a:t>
            </a:r>
            <a:r>
              <a:rPr lang="zh-CN" altLang="en-US" sz="2800" b="1" dirty="0">
                <a:latin typeface="楷体" panose="02010609060101010101" pitchFamily="49" charset="-122"/>
                <a:ea typeface="楷体" panose="02010609060101010101" pitchFamily="49" charset="-122"/>
              </a:rPr>
              <a:t>一个</a:t>
            </a:r>
            <a:r>
              <a:rPr lang="zh-CN" altLang="en-US" sz="2800" b="1" dirty="0">
                <a:solidFill>
                  <a:srgbClr val="0000CC"/>
                </a:solidFill>
                <a:latin typeface="楷体" panose="02010609060101010101" pitchFamily="49" charset="-122"/>
                <a:ea typeface="楷体" panose="02010609060101010101" pitchFamily="49" charset="-122"/>
              </a:rPr>
              <a:t>相对完整的、</a:t>
            </a:r>
            <a:r>
              <a:rPr lang="zh-CN" altLang="en-US" sz="2800" b="1" dirty="0">
                <a:latin typeface="楷体" panose="02010609060101010101" pitchFamily="49" charset="-122"/>
                <a:ea typeface="楷体" panose="02010609060101010101" pitchFamily="49" charset="-122"/>
              </a:rPr>
              <a:t>考查</a:t>
            </a:r>
            <a:r>
              <a:rPr lang="zh-CN" altLang="en-US" sz="2800" b="1" dirty="0">
                <a:solidFill>
                  <a:srgbClr val="0000CC"/>
                </a:solidFill>
                <a:latin typeface="楷体" panose="02010609060101010101" pitchFamily="49" charset="-122"/>
                <a:ea typeface="楷体" panose="02010609060101010101" pitchFamily="49" charset="-122"/>
              </a:rPr>
              <a:t>一轮复习质量和效果的</a:t>
            </a:r>
            <a:r>
              <a:rPr lang="zh-CN" altLang="en-US" sz="2800" b="1" dirty="0">
                <a:latin typeface="楷体" panose="02010609060101010101" pitchFamily="49" charset="-122"/>
                <a:ea typeface="楷体" panose="02010609060101010101" pitchFamily="49" charset="-122"/>
              </a:rPr>
              <a:t>试题系统。</a:t>
            </a:r>
            <a:endParaRPr lang="en-US" altLang="zh-CN" sz="2800" b="1" dirty="0">
              <a:latin typeface="楷体" panose="02010609060101010101" pitchFamily="49" charset="-122"/>
              <a:ea typeface="楷体" panose="02010609060101010101" pitchFamily="49" charset="-122"/>
            </a:endParaRPr>
          </a:p>
          <a:p>
            <a:pPr algn="ctr"/>
            <a:endParaRPr lang="en-US" altLang="zh-CN" sz="2800" b="1" dirty="0">
              <a:solidFill>
                <a:srgbClr val="FF0000"/>
              </a:solidFill>
              <a:latin typeface="楷体" panose="02010609060101010101" pitchFamily="49" charset="-122"/>
              <a:ea typeface="楷体" panose="02010609060101010101" pitchFamily="49" charset="-122"/>
            </a:endParaRPr>
          </a:p>
          <a:p>
            <a:pPr algn="ctr"/>
            <a:r>
              <a:rPr lang="zh-CN" altLang="en-US" sz="2800" b="1" dirty="0">
                <a:solidFill>
                  <a:srgbClr val="FF0000"/>
                </a:solidFill>
                <a:latin typeface="楷体" panose="02010609060101010101" pitchFamily="49" charset="-122"/>
                <a:ea typeface="楷体" panose="02010609060101010101" pitchFamily="49" charset="-122"/>
              </a:rPr>
              <a:t>旨在</a:t>
            </a:r>
            <a:r>
              <a:rPr lang="zh-CN" altLang="en-US" sz="2800" b="1" dirty="0">
                <a:solidFill>
                  <a:srgbClr val="0000CC"/>
                </a:solidFill>
                <a:latin typeface="楷体" panose="02010609060101010101" pitchFamily="49" charset="-122"/>
                <a:ea typeface="楷体" panose="02010609060101010101" pitchFamily="49" charset="-122"/>
              </a:rPr>
              <a:t>帮助师生</a:t>
            </a:r>
            <a:endParaRPr lang="en-US" altLang="zh-CN" sz="2800" b="1" dirty="0">
              <a:solidFill>
                <a:srgbClr val="0000CC"/>
              </a:solidFill>
              <a:latin typeface="楷体" panose="02010609060101010101" pitchFamily="49" charset="-122"/>
              <a:ea typeface="楷体" panose="02010609060101010101" pitchFamily="49" charset="-122"/>
            </a:endParaRPr>
          </a:p>
          <a:p>
            <a:pPr algn="ctr"/>
            <a:r>
              <a:rPr lang="zh-CN" altLang="en-US" sz="2800" b="1" dirty="0">
                <a:latin typeface="楷体" panose="02010609060101010101" pitchFamily="49" charset="-122"/>
                <a:ea typeface="楷体" panose="02010609060101010101" pitchFamily="49" charset="-122"/>
              </a:rPr>
              <a:t>逐渐</a:t>
            </a:r>
            <a:r>
              <a:rPr lang="zh-CN" altLang="en-US" sz="2800" b="1" dirty="0">
                <a:solidFill>
                  <a:srgbClr val="0000CC"/>
                </a:solidFill>
                <a:latin typeface="楷体" panose="02010609060101010101" pitchFamily="49" charset="-122"/>
                <a:ea typeface="楷体" panose="02010609060101010101" pitchFamily="49" charset="-122"/>
              </a:rPr>
              <a:t>适应高考</a:t>
            </a:r>
            <a:r>
              <a:rPr lang="zh-CN" altLang="en-US" sz="2800" b="1" dirty="0">
                <a:latin typeface="楷体" panose="02010609060101010101" pitchFamily="49" charset="-122"/>
                <a:ea typeface="楷体" panose="02010609060101010101" pitchFamily="49" charset="-122"/>
              </a:rPr>
              <a:t>节奏、感受试题</a:t>
            </a:r>
            <a:r>
              <a:rPr lang="zh-CN" altLang="en-US" sz="2800" b="1" dirty="0">
                <a:solidFill>
                  <a:srgbClr val="0000CC"/>
                </a:solidFill>
                <a:latin typeface="楷体" panose="02010609060101010101" pitchFamily="49" charset="-122"/>
                <a:ea typeface="楷体" panose="02010609060101010101" pitchFamily="49" charset="-122"/>
              </a:rPr>
              <a:t>应用性、综合性</a:t>
            </a:r>
            <a:endParaRPr lang="en-US" altLang="zh-CN" sz="2800" b="1" dirty="0">
              <a:solidFill>
                <a:srgbClr val="0000CC"/>
              </a:solidFill>
              <a:latin typeface="楷体" panose="02010609060101010101" pitchFamily="49" charset="-122"/>
              <a:ea typeface="楷体" panose="02010609060101010101" pitchFamily="49" charset="-122"/>
            </a:endParaRPr>
          </a:p>
          <a:p>
            <a:pPr algn="ctr"/>
            <a:r>
              <a:rPr lang="zh-CN" altLang="en-US" sz="2800" b="1" dirty="0">
                <a:solidFill>
                  <a:srgbClr val="0000CC"/>
                </a:solidFill>
                <a:latin typeface="楷体" panose="02010609060101010101" pitchFamily="49" charset="-122"/>
                <a:ea typeface="楷体" panose="02010609060101010101" pitchFamily="49" charset="-122"/>
              </a:rPr>
              <a:t>诊断</a:t>
            </a:r>
            <a:r>
              <a:rPr lang="zh-CN" altLang="en-US" sz="2800" b="1" dirty="0">
                <a:latin typeface="楷体" panose="02010609060101010101" pitchFamily="49" charset="-122"/>
                <a:ea typeface="楷体" panose="02010609060101010101" pitchFamily="49" charset="-122"/>
              </a:rPr>
              <a:t>学生</a:t>
            </a:r>
            <a:r>
              <a:rPr lang="zh-CN" altLang="en-US" sz="2800" b="1" dirty="0">
                <a:solidFill>
                  <a:srgbClr val="FF0000"/>
                </a:solidFill>
                <a:latin typeface="楷体" panose="02010609060101010101" pitchFamily="49" charset="-122"/>
                <a:ea typeface="楷体" panose="02010609060101010101" pitchFamily="49" charset="-122"/>
              </a:rPr>
              <a:t>综合运用知识</a:t>
            </a:r>
            <a:r>
              <a:rPr lang="zh-CN" altLang="en-US" sz="2800" b="1" dirty="0">
                <a:latin typeface="楷体" panose="02010609060101010101" pitchFamily="49" charset="-122"/>
                <a:ea typeface="楷体" panose="02010609060101010101" pitchFamily="49" charset="-122"/>
              </a:rPr>
              <a:t>、</a:t>
            </a:r>
            <a:r>
              <a:rPr lang="zh-CN" altLang="en-US" sz="2800" b="1" dirty="0">
                <a:solidFill>
                  <a:srgbClr val="FF0000"/>
                </a:solidFill>
                <a:latin typeface="楷体" panose="02010609060101010101" pitchFamily="49" charset="-122"/>
                <a:ea typeface="楷体" panose="02010609060101010101" pitchFamily="49" charset="-122"/>
              </a:rPr>
              <a:t>解决问题</a:t>
            </a:r>
            <a:r>
              <a:rPr lang="zh-CN" altLang="en-US" sz="2800" b="1" dirty="0">
                <a:latin typeface="楷体" panose="02010609060101010101" pitchFamily="49" charset="-122"/>
                <a:ea typeface="楷体" panose="02010609060101010101" pitchFamily="49" charset="-122"/>
              </a:rPr>
              <a:t>的</a:t>
            </a:r>
            <a:r>
              <a:rPr lang="zh-CN" altLang="en-US" sz="2800" b="1" dirty="0">
                <a:solidFill>
                  <a:srgbClr val="0000CC"/>
                </a:solidFill>
                <a:latin typeface="楷体" panose="02010609060101010101" pitchFamily="49" charset="-122"/>
                <a:ea typeface="楷体" panose="02010609060101010101" pitchFamily="49" charset="-122"/>
              </a:rPr>
              <a:t>能力水平</a:t>
            </a:r>
            <a:endParaRPr lang="en-US" altLang="zh-CN" sz="2800" b="1" dirty="0">
              <a:solidFill>
                <a:srgbClr val="0000CC"/>
              </a:solidFill>
              <a:latin typeface="楷体" panose="02010609060101010101" pitchFamily="49" charset="-122"/>
              <a:ea typeface="楷体" panose="02010609060101010101" pitchFamily="49" charset="-122"/>
            </a:endParaRPr>
          </a:p>
          <a:p>
            <a:pPr algn="ctr"/>
            <a:r>
              <a:rPr lang="zh-CN" altLang="en-US" sz="2800" b="1" dirty="0">
                <a:latin typeface="楷体" panose="02010609060101010101" pitchFamily="49" charset="-122"/>
                <a:ea typeface="楷体" panose="02010609060101010101" pitchFamily="49" charset="-122"/>
              </a:rPr>
              <a:t>分析</a:t>
            </a:r>
            <a:r>
              <a:rPr lang="zh-CN" altLang="en-US" sz="2800" b="1" dirty="0">
                <a:solidFill>
                  <a:srgbClr val="0000CC"/>
                </a:solidFill>
                <a:latin typeface="楷体" panose="02010609060101010101" pitchFamily="49" charset="-122"/>
                <a:ea typeface="楷体" panose="02010609060101010101" pitchFamily="49" charset="-122"/>
              </a:rPr>
              <a:t>优化改进</a:t>
            </a:r>
            <a:r>
              <a:rPr lang="zh-CN" altLang="en-US" sz="2800" b="1" dirty="0">
                <a:latin typeface="楷体" panose="02010609060101010101" pitchFamily="49" charset="-122"/>
                <a:ea typeface="楷体" panose="02010609060101010101" pitchFamily="49" charset="-122"/>
              </a:rPr>
              <a:t>教学，</a:t>
            </a:r>
            <a:r>
              <a:rPr lang="zh-CN" altLang="en-US" sz="2800" b="1" dirty="0">
                <a:solidFill>
                  <a:srgbClr val="0000CC"/>
                </a:solidFill>
                <a:latin typeface="楷体" panose="02010609060101010101" pitchFamily="49" charset="-122"/>
                <a:ea typeface="楷体" panose="02010609060101010101" pitchFamily="49" charset="-122"/>
              </a:rPr>
              <a:t>激发</a:t>
            </a:r>
            <a:r>
              <a:rPr lang="zh-CN" altLang="en-US" sz="2800" b="1" dirty="0">
                <a:latin typeface="楷体" panose="02010609060101010101" pitchFamily="49" charset="-122"/>
                <a:ea typeface="楷体" panose="02010609060101010101" pitchFamily="49" charset="-122"/>
              </a:rPr>
              <a:t>师生教与学的</a:t>
            </a:r>
            <a:r>
              <a:rPr lang="zh-CN" altLang="en-US" sz="2800" b="1" dirty="0">
                <a:solidFill>
                  <a:srgbClr val="0000CC"/>
                </a:solidFill>
                <a:latin typeface="楷体" panose="02010609060101010101" pitchFamily="49" charset="-122"/>
                <a:ea typeface="楷体" panose="02010609060101010101" pitchFamily="49" charset="-122"/>
              </a:rPr>
              <a:t>动力</a:t>
            </a:r>
            <a:endParaRPr lang="zh-CN" altLang="en-US" sz="2800" b="1" dirty="0">
              <a:solidFill>
                <a:srgbClr val="0000CC"/>
              </a:solidFill>
              <a:latin typeface="楷体" panose="02010609060101010101" pitchFamily="49" charset="-122"/>
              <a:ea typeface="楷体" panose="02010609060101010101" pitchFamily="49"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05647" y="676249"/>
            <a:ext cx="2646878" cy="584775"/>
          </a:xfrm>
          <a:prstGeom prst="rect">
            <a:avLst/>
          </a:prstGeom>
          <a:solidFill>
            <a:schemeClr val="bg1"/>
          </a:solidFill>
        </p:spPr>
        <p:txBody>
          <a:bodyPr wrap="none" rtlCol="0">
            <a:spAutoFit/>
          </a:bodyPr>
          <a:lstStyle/>
          <a:p>
            <a:r>
              <a:rPr lang="zh-CN" altLang="en-US" sz="3200" b="1" dirty="0">
                <a:gradFill>
                  <a:gsLst>
                    <a:gs pos="100000">
                      <a:schemeClr val="accent1"/>
                    </a:gs>
                    <a:gs pos="0">
                      <a:schemeClr val="accent1">
                        <a:lumMod val="75000"/>
                      </a:schemeClr>
                    </a:gs>
                  </a:gsLst>
                  <a:lin ang="0" scaled="1"/>
                </a:gradFill>
                <a:latin typeface="+mj-ea"/>
                <a:ea typeface="+mj-ea"/>
              </a:rPr>
              <a:t>一、命题说明</a:t>
            </a:r>
            <a:endParaRPr lang="zh-CN" altLang="en-US" sz="3200" b="1" dirty="0">
              <a:gradFill>
                <a:gsLst>
                  <a:gs pos="100000">
                    <a:schemeClr val="accent1"/>
                  </a:gs>
                  <a:gs pos="0">
                    <a:schemeClr val="accent1">
                      <a:lumMod val="75000"/>
                    </a:schemeClr>
                  </a:gs>
                </a:gsLst>
                <a:lin ang="0" scaled="1"/>
              </a:gradFill>
              <a:latin typeface="+mj-ea"/>
              <a:ea typeface="+mj-ea"/>
            </a:endParaRPr>
          </a:p>
        </p:txBody>
      </p:sp>
      <p:sp>
        <p:nvSpPr>
          <p:cNvPr id="3" name="文本框 2"/>
          <p:cNvSpPr txBox="1"/>
          <p:nvPr/>
        </p:nvSpPr>
        <p:spPr>
          <a:xfrm>
            <a:off x="934197" y="1582705"/>
            <a:ext cx="9549653" cy="523220"/>
          </a:xfrm>
          <a:prstGeom prst="rect">
            <a:avLst/>
          </a:prstGeom>
          <a:noFill/>
        </p:spPr>
        <p:txBody>
          <a:bodyPr wrap="square">
            <a:spAutoFit/>
          </a:bodyPr>
          <a:lstStyle/>
          <a:p>
            <a:pPr>
              <a:defRPr/>
            </a:pPr>
            <a:r>
              <a:rPr lang="en-US" altLang="zh-CN" sz="2800" b="1" dirty="0">
                <a:solidFill>
                  <a:srgbClr val="FF0000"/>
                </a:solidFill>
                <a:latin typeface="+mn-ea"/>
                <a:ea typeface="+mn-ea"/>
              </a:rPr>
              <a:t>1.</a:t>
            </a:r>
            <a:r>
              <a:rPr lang="zh-CN" altLang="en-US" sz="2800" b="1" dirty="0">
                <a:solidFill>
                  <a:srgbClr val="FF0000"/>
                </a:solidFill>
                <a:latin typeface="+mn-ea"/>
                <a:ea typeface="+mn-ea"/>
              </a:rPr>
              <a:t>命题指导：</a:t>
            </a:r>
            <a:r>
              <a:rPr lang="zh-CN" altLang="en-US" sz="2800" b="1" dirty="0">
                <a:solidFill>
                  <a:schemeClr val="tx1"/>
                </a:solidFill>
                <a:latin typeface="+mn-ea"/>
                <a:ea typeface="+mn-ea"/>
              </a:rPr>
              <a:t>中国高考评价体系的考查内容</a:t>
            </a:r>
            <a:endParaRPr lang="zh-CN" altLang="en-US" sz="2800" b="1" dirty="0">
              <a:solidFill>
                <a:schemeClr val="tx1"/>
              </a:solidFill>
              <a:latin typeface="+mn-ea"/>
              <a:ea typeface="+mn-ea"/>
            </a:endParaRPr>
          </a:p>
        </p:txBody>
      </p:sp>
      <p:pic>
        <p:nvPicPr>
          <p:cNvPr id="4" name="图片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99423" y="2282203"/>
            <a:ext cx="4317253" cy="3874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箭头: 右 4"/>
          <p:cNvSpPr/>
          <p:nvPr/>
        </p:nvSpPr>
        <p:spPr>
          <a:xfrm>
            <a:off x="5258468" y="5633680"/>
            <a:ext cx="1123101" cy="203783"/>
          </a:xfrm>
          <a:prstGeom prst="rightArrow">
            <a:avLst/>
          </a:prstGeom>
          <a:noFill/>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zh-CN" altLang="en-US"/>
          </a:p>
        </p:txBody>
      </p:sp>
      <p:sp>
        <p:nvSpPr>
          <p:cNvPr id="6" name="箭头: 右 5"/>
          <p:cNvSpPr/>
          <p:nvPr/>
        </p:nvSpPr>
        <p:spPr>
          <a:xfrm>
            <a:off x="5245768" y="4747319"/>
            <a:ext cx="1123101" cy="203783"/>
          </a:xfrm>
          <a:prstGeom prst="rightArrow">
            <a:avLst/>
          </a:prstGeom>
          <a:noFill/>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zh-CN" altLang="en-US"/>
          </a:p>
        </p:txBody>
      </p:sp>
      <p:sp>
        <p:nvSpPr>
          <p:cNvPr id="7" name="箭头: 右 6"/>
          <p:cNvSpPr/>
          <p:nvPr/>
        </p:nvSpPr>
        <p:spPr>
          <a:xfrm>
            <a:off x="5245768" y="3796208"/>
            <a:ext cx="1123101" cy="203783"/>
          </a:xfrm>
          <a:prstGeom prst="rightArrow">
            <a:avLst/>
          </a:prstGeom>
          <a:noFill/>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zh-CN" altLang="en-US"/>
          </a:p>
        </p:txBody>
      </p:sp>
      <p:sp>
        <p:nvSpPr>
          <p:cNvPr id="8" name="文本框 7"/>
          <p:cNvSpPr txBox="1"/>
          <p:nvPr/>
        </p:nvSpPr>
        <p:spPr>
          <a:xfrm>
            <a:off x="6642424" y="5393769"/>
            <a:ext cx="4816140" cy="1464231"/>
          </a:xfrm>
          <a:prstGeom prst="flowChartAlternateProcess">
            <a:avLst/>
          </a:prstGeom>
          <a:ln w="12700"/>
        </p:spPr>
        <p:style>
          <a:lnRef idx="2">
            <a:schemeClr val="dk1"/>
          </a:lnRef>
          <a:fillRef idx="1">
            <a:schemeClr val="lt1"/>
          </a:fillRef>
          <a:effectRef idx="0">
            <a:schemeClr val="dk1"/>
          </a:effectRef>
          <a:fontRef idx="minor">
            <a:schemeClr val="dk1"/>
          </a:fontRef>
        </p:style>
        <p:txBody>
          <a:bodyPr wrap="square">
            <a:spAutoFit/>
          </a:bodyPr>
          <a:lstStyle/>
          <a:p>
            <a:pPr>
              <a:defRPr/>
            </a:pPr>
            <a:r>
              <a:rPr lang="zh-CN" altLang="en-US" sz="2000" b="1" dirty="0">
                <a:solidFill>
                  <a:schemeClr val="tx1"/>
                </a:solidFill>
                <a:latin typeface="楷体" panose="02010609060101010101" pitchFamily="49" charset="-122"/>
                <a:ea typeface="楷体" panose="02010609060101010101" pitchFamily="49" charset="-122"/>
              </a:rPr>
              <a:t>必修</a:t>
            </a:r>
            <a:r>
              <a:rPr lang="en-US" altLang="zh-CN" sz="2000" b="1" dirty="0">
                <a:solidFill>
                  <a:schemeClr val="tx1"/>
                </a:solidFill>
                <a:latin typeface="楷体" panose="02010609060101010101" pitchFamily="49" charset="-122"/>
                <a:ea typeface="楷体" panose="02010609060101010101" pitchFamily="49" charset="-122"/>
              </a:rPr>
              <a:t>1</a:t>
            </a:r>
            <a:r>
              <a:rPr lang="zh-CN" altLang="en-US" sz="2000" b="1" dirty="0">
                <a:solidFill>
                  <a:schemeClr val="tx1"/>
                </a:solidFill>
                <a:latin typeface="楷体" panose="02010609060101010101" pitchFamily="49" charset="-122"/>
                <a:ea typeface="楷体" panose="02010609060101010101" pitchFamily="49" charset="-122"/>
              </a:rPr>
              <a:t>占</a:t>
            </a:r>
            <a:r>
              <a:rPr lang="en-US" altLang="zh-CN" sz="2000" b="1" dirty="0">
                <a:solidFill>
                  <a:schemeClr val="tx1"/>
                </a:solidFill>
                <a:latin typeface="楷体" panose="02010609060101010101" pitchFamily="49" charset="-122"/>
                <a:ea typeface="楷体" panose="02010609060101010101" pitchFamily="49" charset="-122"/>
              </a:rPr>
              <a:t>10%</a:t>
            </a:r>
            <a:r>
              <a:rPr lang="zh-CN" altLang="en-US" sz="2000" b="1" dirty="0">
                <a:solidFill>
                  <a:schemeClr val="tx1"/>
                </a:solidFill>
                <a:latin typeface="楷体" panose="02010609060101010101" pitchFamily="49" charset="-122"/>
                <a:ea typeface="楷体" panose="02010609060101010101" pitchFamily="49" charset="-122"/>
              </a:rPr>
              <a:t>、必修</a:t>
            </a:r>
            <a:r>
              <a:rPr lang="en-US" altLang="zh-CN" sz="2000" b="1" dirty="0">
                <a:solidFill>
                  <a:schemeClr val="tx1"/>
                </a:solidFill>
                <a:latin typeface="楷体" panose="02010609060101010101" pitchFamily="49" charset="-122"/>
                <a:ea typeface="楷体" panose="02010609060101010101" pitchFamily="49" charset="-122"/>
              </a:rPr>
              <a:t>2</a:t>
            </a:r>
            <a:r>
              <a:rPr lang="zh-CN" altLang="en-US" sz="2000" b="1" dirty="0">
                <a:solidFill>
                  <a:schemeClr val="tx1"/>
                </a:solidFill>
                <a:latin typeface="楷体" panose="02010609060101010101" pitchFamily="49" charset="-122"/>
                <a:ea typeface="楷体" panose="02010609060101010101" pitchFamily="49" charset="-122"/>
              </a:rPr>
              <a:t>占</a:t>
            </a:r>
            <a:r>
              <a:rPr lang="en-US" altLang="zh-CN" sz="2000" b="1" dirty="0">
                <a:solidFill>
                  <a:schemeClr val="tx1"/>
                </a:solidFill>
                <a:latin typeface="楷体" panose="02010609060101010101" pitchFamily="49" charset="-122"/>
                <a:ea typeface="楷体" panose="02010609060101010101" pitchFamily="49" charset="-122"/>
              </a:rPr>
              <a:t>10%</a:t>
            </a:r>
            <a:r>
              <a:rPr lang="zh-CN" altLang="en-US" sz="2000" b="1" dirty="0">
                <a:solidFill>
                  <a:schemeClr val="tx1"/>
                </a:solidFill>
                <a:latin typeface="楷体" panose="02010609060101010101" pitchFamily="49" charset="-122"/>
                <a:ea typeface="楷体" panose="02010609060101010101" pitchFamily="49" charset="-122"/>
              </a:rPr>
              <a:t>、必修</a:t>
            </a:r>
            <a:r>
              <a:rPr lang="en-US" altLang="zh-CN" sz="2000" b="1" dirty="0">
                <a:solidFill>
                  <a:schemeClr val="tx1"/>
                </a:solidFill>
                <a:latin typeface="楷体" panose="02010609060101010101" pitchFamily="49" charset="-122"/>
                <a:ea typeface="楷体" panose="02010609060101010101" pitchFamily="49" charset="-122"/>
              </a:rPr>
              <a:t>3</a:t>
            </a:r>
            <a:r>
              <a:rPr lang="zh-CN" altLang="en-US" sz="2000" b="1" dirty="0">
                <a:solidFill>
                  <a:schemeClr val="tx1"/>
                </a:solidFill>
                <a:latin typeface="楷体" panose="02010609060101010101" pitchFamily="49" charset="-122"/>
                <a:ea typeface="楷体" panose="02010609060101010101" pitchFamily="49" charset="-122"/>
              </a:rPr>
              <a:t>占</a:t>
            </a:r>
            <a:r>
              <a:rPr lang="en-US" altLang="zh-CN" sz="2000" b="1" dirty="0">
                <a:solidFill>
                  <a:schemeClr val="tx1"/>
                </a:solidFill>
                <a:latin typeface="楷体" panose="02010609060101010101" pitchFamily="49" charset="-122"/>
                <a:ea typeface="楷体" panose="02010609060101010101" pitchFamily="49" charset="-122"/>
              </a:rPr>
              <a:t>14%</a:t>
            </a:r>
            <a:r>
              <a:rPr lang="zh-CN" altLang="en-US" sz="2000" b="1" dirty="0">
                <a:solidFill>
                  <a:schemeClr val="tx1"/>
                </a:solidFill>
                <a:latin typeface="楷体" panose="02010609060101010101" pitchFamily="49" charset="-122"/>
                <a:ea typeface="楷体" panose="02010609060101010101" pitchFamily="49" charset="-122"/>
              </a:rPr>
              <a:t>、</a:t>
            </a:r>
            <a:r>
              <a:rPr lang="zh-CN" altLang="en-US" sz="2000" b="1" dirty="0">
                <a:solidFill>
                  <a:srgbClr val="115BD8"/>
                </a:solidFill>
                <a:latin typeface="楷体" panose="02010609060101010101" pitchFamily="49" charset="-122"/>
                <a:ea typeface="楷体" panose="02010609060101010101" pitchFamily="49" charset="-122"/>
              </a:rPr>
              <a:t>必修</a:t>
            </a:r>
            <a:r>
              <a:rPr lang="en-US" altLang="zh-CN" sz="2000" b="1" dirty="0">
                <a:solidFill>
                  <a:srgbClr val="115BD8"/>
                </a:solidFill>
                <a:latin typeface="楷体" panose="02010609060101010101" pitchFamily="49" charset="-122"/>
                <a:ea typeface="楷体" panose="02010609060101010101" pitchFamily="49" charset="-122"/>
              </a:rPr>
              <a:t>4</a:t>
            </a:r>
            <a:r>
              <a:rPr lang="zh-CN" altLang="en-US" sz="2000" b="1" dirty="0">
                <a:solidFill>
                  <a:srgbClr val="115BD8"/>
                </a:solidFill>
                <a:latin typeface="楷体" panose="02010609060101010101" pitchFamily="49" charset="-122"/>
                <a:ea typeface="楷体" panose="02010609060101010101" pitchFamily="49" charset="-122"/>
              </a:rPr>
              <a:t>占</a:t>
            </a:r>
            <a:r>
              <a:rPr lang="en-US" altLang="zh-CN" sz="2000" b="1" dirty="0">
                <a:solidFill>
                  <a:srgbClr val="115BD8"/>
                </a:solidFill>
                <a:latin typeface="楷体" panose="02010609060101010101" pitchFamily="49" charset="-122"/>
                <a:ea typeface="楷体" panose="02010609060101010101" pitchFamily="49" charset="-122"/>
              </a:rPr>
              <a:t>20%</a:t>
            </a:r>
            <a:r>
              <a:rPr lang="zh-CN" altLang="en-US" sz="2000" b="1" dirty="0">
                <a:solidFill>
                  <a:schemeClr val="tx1"/>
                </a:solidFill>
                <a:latin typeface="楷体" panose="02010609060101010101" pitchFamily="49" charset="-122"/>
                <a:ea typeface="楷体" panose="02010609060101010101" pitchFamily="49" charset="-122"/>
              </a:rPr>
              <a:t>、选必</a:t>
            </a:r>
            <a:r>
              <a:rPr lang="en-US" altLang="zh-CN" sz="2000" b="1" dirty="0">
                <a:solidFill>
                  <a:schemeClr val="tx1"/>
                </a:solidFill>
                <a:latin typeface="楷体" panose="02010609060101010101" pitchFamily="49" charset="-122"/>
                <a:ea typeface="楷体" panose="02010609060101010101" pitchFamily="49" charset="-122"/>
              </a:rPr>
              <a:t>1</a:t>
            </a:r>
            <a:r>
              <a:rPr lang="zh-CN" altLang="en-US" sz="2000" b="1" dirty="0">
                <a:solidFill>
                  <a:schemeClr val="tx1"/>
                </a:solidFill>
                <a:latin typeface="楷体" panose="02010609060101010101" pitchFamily="49" charset="-122"/>
                <a:ea typeface="楷体" panose="02010609060101010101" pitchFamily="49" charset="-122"/>
              </a:rPr>
              <a:t>占</a:t>
            </a:r>
            <a:r>
              <a:rPr lang="en-US" altLang="zh-CN" sz="2000" b="1" dirty="0">
                <a:solidFill>
                  <a:schemeClr val="tx1"/>
                </a:solidFill>
                <a:latin typeface="楷体" panose="02010609060101010101" pitchFamily="49" charset="-122"/>
                <a:ea typeface="楷体" panose="02010609060101010101" pitchFamily="49" charset="-122"/>
              </a:rPr>
              <a:t>15%</a:t>
            </a:r>
            <a:r>
              <a:rPr lang="zh-CN" altLang="en-US" sz="2000" b="1" dirty="0">
                <a:solidFill>
                  <a:schemeClr val="tx1"/>
                </a:solidFill>
                <a:latin typeface="楷体" panose="02010609060101010101" pitchFamily="49" charset="-122"/>
                <a:ea typeface="楷体" panose="02010609060101010101" pitchFamily="49" charset="-122"/>
              </a:rPr>
              <a:t>、</a:t>
            </a:r>
            <a:r>
              <a:rPr lang="zh-CN" altLang="en-US" sz="2000" b="1" dirty="0">
                <a:solidFill>
                  <a:srgbClr val="115BD8"/>
                </a:solidFill>
                <a:latin typeface="楷体" panose="02010609060101010101" pitchFamily="49" charset="-122"/>
                <a:ea typeface="楷体" panose="02010609060101010101" pitchFamily="49" charset="-122"/>
              </a:rPr>
              <a:t>选必</a:t>
            </a:r>
            <a:r>
              <a:rPr lang="en-US" altLang="zh-CN" sz="2000" b="1" dirty="0">
                <a:solidFill>
                  <a:srgbClr val="115BD8"/>
                </a:solidFill>
                <a:latin typeface="楷体" panose="02010609060101010101" pitchFamily="49" charset="-122"/>
                <a:ea typeface="楷体" panose="02010609060101010101" pitchFamily="49" charset="-122"/>
              </a:rPr>
              <a:t>2</a:t>
            </a:r>
            <a:r>
              <a:rPr lang="zh-CN" altLang="en-US" sz="2000" b="1" dirty="0">
                <a:solidFill>
                  <a:srgbClr val="115BD8"/>
                </a:solidFill>
                <a:latin typeface="楷体" panose="02010609060101010101" pitchFamily="49" charset="-122"/>
                <a:ea typeface="楷体" panose="02010609060101010101" pitchFamily="49" charset="-122"/>
              </a:rPr>
              <a:t>占</a:t>
            </a:r>
            <a:r>
              <a:rPr lang="en-US" altLang="zh-CN" sz="2000" b="1" dirty="0">
                <a:solidFill>
                  <a:srgbClr val="115BD8"/>
                </a:solidFill>
                <a:latin typeface="楷体" panose="02010609060101010101" pitchFamily="49" charset="-122"/>
                <a:ea typeface="楷体" panose="02010609060101010101" pitchFamily="49" charset="-122"/>
              </a:rPr>
              <a:t>16%</a:t>
            </a:r>
            <a:r>
              <a:rPr lang="zh-CN" altLang="en-US" sz="2000" b="1" dirty="0">
                <a:solidFill>
                  <a:schemeClr val="tx1"/>
                </a:solidFill>
                <a:latin typeface="楷体" panose="02010609060101010101" pitchFamily="49" charset="-122"/>
                <a:ea typeface="楷体" panose="02010609060101010101" pitchFamily="49" charset="-122"/>
              </a:rPr>
              <a:t>、选必</a:t>
            </a:r>
            <a:r>
              <a:rPr lang="en-US" altLang="zh-CN" sz="2000" b="1" dirty="0">
                <a:solidFill>
                  <a:schemeClr val="tx1"/>
                </a:solidFill>
                <a:latin typeface="楷体" panose="02010609060101010101" pitchFamily="49" charset="-122"/>
                <a:ea typeface="楷体" panose="02010609060101010101" pitchFamily="49" charset="-122"/>
              </a:rPr>
              <a:t>3</a:t>
            </a:r>
            <a:r>
              <a:rPr lang="zh-CN" altLang="en-US" sz="2000" b="1" dirty="0">
                <a:solidFill>
                  <a:schemeClr val="tx1"/>
                </a:solidFill>
                <a:latin typeface="楷体" panose="02010609060101010101" pitchFamily="49" charset="-122"/>
                <a:ea typeface="楷体" panose="02010609060101010101" pitchFamily="49" charset="-122"/>
              </a:rPr>
              <a:t>占</a:t>
            </a:r>
            <a:r>
              <a:rPr lang="en-US" altLang="zh-CN" sz="2000" b="1" dirty="0">
                <a:solidFill>
                  <a:schemeClr val="tx1"/>
                </a:solidFill>
                <a:latin typeface="楷体" panose="02010609060101010101" pitchFamily="49" charset="-122"/>
                <a:ea typeface="楷体" panose="02010609060101010101" pitchFamily="49" charset="-122"/>
              </a:rPr>
              <a:t>15%</a:t>
            </a:r>
            <a:r>
              <a:rPr lang="zh-CN" altLang="en-US" sz="2000" b="1" dirty="0">
                <a:solidFill>
                  <a:srgbClr val="115BD8"/>
                </a:solidFill>
                <a:latin typeface="楷体" panose="02010609060101010101" pitchFamily="49" charset="-122"/>
                <a:ea typeface="楷体" panose="02010609060101010101" pitchFamily="49" charset="-122"/>
              </a:rPr>
              <a:t>主干知识</a:t>
            </a:r>
            <a:r>
              <a:rPr lang="zh-CN" altLang="en-US" sz="2000" b="1" dirty="0">
                <a:solidFill>
                  <a:schemeClr val="tx1"/>
                </a:solidFill>
                <a:latin typeface="楷体" panose="02010609060101010101" pitchFamily="49" charset="-122"/>
                <a:ea typeface="楷体" panose="02010609060101010101" pitchFamily="49" charset="-122"/>
              </a:rPr>
              <a:t>，包括</a:t>
            </a:r>
            <a:r>
              <a:rPr lang="zh-CN" altLang="en-US" sz="2000" b="1" dirty="0">
                <a:solidFill>
                  <a:srgbClr val="115BD8"/>
                </a:solidFill>
                <a:latin typeface="楷体" panose="02010609060101010101" pitchFamily="49" charset="-122"/>
                <a:ea typeface="楷体" panose="02010609060101010101" pitchFamily="49" charset="-122"/>
              </a:rPr>
              <a:t>核心概念、主要原理、基本理论观点、 重要论断</a:t>
            </a:r>
            <a:r>
              <a:rPr lang="zh-CN" altLang="en-US" sz="2000" b="1" dirty="0">
                <a:solidFill>
                  <a:schemeClr val="tx1"/>
                </a:solidFill>
                <a:latin typeface="楷体" panose="02010609060101010101" pitchFamily="49" charset="-122"/>
                <a:ea typeface="楷体" panose="02010609060101010101" pitchFamily="49" charset="-122"/>
              </a:rPr>
              <a:t>等</a:t>
            </a:r>
            <a:endParaRPr lang="zh-CN" altLang="en-US" sz="2000" b="1" dirty="0">
              <a:solidFill>
                <a:schemeClr val="tx1"/>
              </a:solidFill>
              <a:latin typeface="楷体" panose="02010609060101010101" pitchFamily="49" charset="-122"/>
              <a:ea typeface="楷体" panose="02010609060101010101" pitchFamily="49" charset="-122"/>
            </a:endParaRPr>
          </a:p>
        </p:txBody>
      </p:sp>
      <p:sp>
        <p:nvSpPr>
          <p:cNvPr id="9" name="文本框 8"/>
          <p:cNvSpPr txBox="1"/>
          <p:nvPr/>
        </p:nvSpPr>
        <p:spPr>
          <a:xfrm>
            <a:off x="6612484" y="4454819"/>
            <a:ext cx="4786200" cy="783193"/>
          </a:xfrm>
          <a:prstGeom prst="flowChartAlternateProcess">
            <a:avLst/>
          </a:prstGeom>
          <a:ln w="12700"/>
        </p:spPr>
        <p:style>
          <a:lnRef idx="2">
            <a:schemeClr val="dk1"/>
          </a:lnRef>
          <a:fillRef idx="1">
            <a:schemeClr val="lt1"/>
          </a:fillRef>
          <a:effectRef idx="0">
            <a:schemeClr val="dk1"/>
          </a:effectRef>
          <a:fontRef idx="minor">
            <a:schemeClr val="dk1"/>
          </a:fontRef>
        </p:style>
        <p:txBody>
          <a:bodyPr wrap="square">
            <a:spAutoFit/>
          </a:bodyPr>
          <a:lstStyle>
            <a:defPPr>
              <a:defRPr lang="en-GB"/>
            </a:defPPr>
            <a:lvl1pPr>
              <a:defRPr sz="1600">
                <a:solidFill>
                  <a:schemeClr val="tx1"/>
                </a:solidFill>
              </a:defRPr>
            </a:lvl1pPr>
          </a:lstStyle>
          <a:p>
            <a:pPr>
              <a:defRPr/>
            </a:pPr>
            <a:r>
              <a:rPr lang="zh-CN" altLang="en-US" sz="2000" b="1" dirty="0">
                <a:latin typeface="楷体" panose="02010609060101010101" pitchFamily="49" charset="-122"/>
                <a:ea typeface="楷体" panose="02010609060101010101" pitchFamily="49" charset="-122"/>
              </a:rPr>
              <a:t>辨识与判断 </a:t>
            </a:r>
            <a:r>
              <a:rPr lang="zh-CN" altLang="en-US" sz="2000" b="1" dirty="0">
                <a:solidFill>
                  <a:srgbClr val="115BD8"/>
                </a:solidFill>
                <a:latin typeface="楷体" panose="02010609060101010101" pitchFamily="49" charset="-122"/>
                <a:ea typeface="楷体" panose="02010609060101010101" pitchFamily="49" charset="-122"/>
              </a:rPr>
              <a:t>阐释与论证 探究与建构 </a:t>
            </a:r>
            <a:endParaRPr lang="en-US" altLang="zh-CN" sz="2000" b="1" dirty="0">
              <a:solidFill>
                <a:srgbClr val="115BD8"/>
              </a:solidFill>
              <a:latin typeface="楷体" panose="02010609060101010101" pitchFamily="49" charset="-122"/>
              <a:ea typeface="楷体" panose="02010609060101010101" pitchFamily="49" charset="-122"/>
            </a:endParaRPr>
          </a:p>
          <a:p>
            <a:pPr>
              <a:defRPr/>
            </a:pPr>
            <a:r>
              <a:rPr lang="zh-CN" altLang="en-US" sz="2000" b="1" dirty="0">
                <a:latin typeface="楷体" panose="02010609060101010101" pitchFamily="49" charset="-122"/>
                <a:ea typeface="楷体" panose="02010609060101010101" pitchFamily="49" charset="-122"/>
              </a:rPr>
              <a:t>反思与评价</a:t>
            </a:r>
            <a:endParaRPr lang="zh-CN" altLang="en-US" sz="2000" b="1" dirty="0">
              <a:latin typeface="楷体" panose="02010609060101010101" pitchFamily="49" charset="-122"/>
              <a:ea typeface="楷体" panose="02010609060101010101" pitchFamily="49" charset="-122"/>
            </a:endParaRPr>
          </a:p>
        </p:txBody>
      </p:sp>
      <p:sp>
        <p:nvSpPr>
          <p:cNvPr id="10" name="文本框 9"/>
          <p:cNvSpPr txBox="1"/>
          <p:nvPr/>
        </p:nvSpPr>
        <p:spPr>
          <a:xfrm>
            <a:off x="6642424" y="3711429"/>
            <a:ext cx="4786200" cy="442674"/>
          </a:xfrm>
          <a:prstGeom prst="flowChartAlternateProcess">
            <a:avLst/>
          </a:prstGeom>
          <a:ln w="12700"/>
        </p:spPr>
        <p:style>
          <a:lnRef idx="2">
            <a:schemeClr val="dk1"/>
          </a:lnRef>
          <a:fillRef idx="1">
            <a:schemeClr val="lt1"/>
          </a:fillRef>
          <a:effectRef idx="0">
            <a:schemeClr val="dk1"/>
          </a:effectRef>
          <a:fontRef idx="minor">
            <a:schemeClr val="dk1"/>
          </a:fontRef>
        </p:style>
        <p:txBody>
          <a:bodyPr wrap="square">
            <a:spAutoFit/>
          </a:bodyPr>
          <a:lstStyle/>
          <a:p>
            <a:pPr>
              <a:defRPr/>
            </a:pPr>
            <a:r>
              <a:rPr lang="zh-CN" altLang="en-US" sz="2000" b="1" dirty="0">
                <a:solidFill>
                  <a:srgbClr val="115BD8"/>
                </a:solidFill>
                <a:latin typeface="楷体" panose="02010609060101010101" pitchFamily="49" charset="-122"/>
                <a:ea typeface="楷体" panose="02010609060101010101" pitchFamily="49" charset="-122"/>
              </a:rPr>
              <a:t>政治认同 科学精神 </a:t>
            </a:r>
            <a:r>
              <a:rPr lang="zh-CN" altLang="en-US" sz="2000" b="1" dirty="0">
                <a:solidFill>
                  <a:schemeClr val="tx1"/>
                </a:solidFill>
                <a:latin typeface="楷体" panose="02010609060101010101" pitchFamily="49" charset="-122"/>
                <a:ea typeface="楷体" panose="02010609060101010101" pitchFamily="49" charset="-122"/>
              </a:rPr>
              <a:t>法治意识 公共参与</a:t>
            </a:r>
            <a:endParaRPr lang="zh-CN" altLang="en-US" sz="2000" b="1" dirty="0">
              <a:solidFill>
                <a:schemeClr val="tx1"/>
              </a:solidFill>
              <a:latin typeface="楷体" panose="02010609060101010101" pitchFamily="49" charset="-122"/>
              <a:ea typeface="楷体" panose="02010609060101010101" pitchFamily="49" charset="-122"/>
            </a:endParaRPr>
          </a:p>
        </p:txBody>
      </p:sp>
      <p:sp>
        <p:nvSpPr>
          <p:cNvPr id="11" name="箭头: 右 10"/>
          <p:cNvSpPr/>
          <p:nvPr/>
        </p:nvSpPr>
        <p:spPr>
          <a:xfrm>
            <a:off x="5107916" y="2789609"/>
            <a:ext cx="1260953" cy="244064"/>
          </a:xfrm>
          <a:prstGeom prst="rightArrow">
            <a:avLst/>
          </a:prstGeom>
          <a:noFill/>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zh-CN" altLang="en-US"/>
          </a:p>
        </p:txBody>
      </p:sp>
      <p:sp>
        <p:nvSpPr>
          <p:cNvPr id="12" name="文本框 11"/>
          <p:cNvSpPr txBox="1"/>
          <p:nvPr/>
        </p:nvSpPr>
        <p:spPr>
          <a:xfrm>
            <a:off x="6612484" y="2365478"/>
            <a:ext cx="4786200" cy="1123712"/>
          </a:xfrm>
          <a:prstGeom prst="flowChartAlternateProcess">
            <a:avLst/>
          </a:prstGeom>
          <a:ln w="12700"/>
        </p:spPr>
        <p:style>
          <a:lnRef idx="2">
            <a:schemeClr val="dk1"/>
          </a:lnRef>
          <a:fillRef idx="1">
            <a:schemeClr val="lt1"/>
          </a:fillRef>
          <a:effectRef idx="0">
            <a:schemeClr val="dk1"/>
          </a:effectRef>
          <a:fontRef idx="minor">
            <a:schemeClr val="dk1"/>
          </a:fontRef>
        </p:style>
        <p:txBody>
          <a:bodyPr wrap="square">
            <a:spAutoFit/>
          </a:bodyPr>
          <a:lstStyle/>
          <a:p>
            <a:pPr>
              <a:defRPr/>
            </a:pPr>
            <a:r>
              <a:rPr lang="zh-CN" altLang="en-US" sz="2000" b="1" dirty="0">
                <a:solidFill>
                  <a:srgbClr val="115BD8"/>
                </a:solidFill>
                <a:latin typeface="楷体" panose="02010609060101010101" pitchFamily="49" charset="-122"/>
                <a:ea typeface="楷体" panose="02010609060101010101" pitchFamily="49" charset="-122"/>
              </a:rPr>
              <a:t>正确的政治方向 </a:t>
            </a:r>
            <a:r>
              <a:rPr lang="zh-CN" altLang="en-US" sz="2000" b="1" dirty="0">
                <a:solidFill>
                  <a:schemeClr val="tx1"/>
                </a:solidFill>
                <a:latin typeface="楷体" panose="02010609060101010101" pitchFamily="49" charset="-122"/>
                <a:ea typeface="楷体" panose="02010609060101010101" pitchFamily="49" charset="-122"/>
              </a:rPr>
              <a:t>奋斗精神 劳动观念 </a:t>
            </a:r>
            <a:endParaRPr lang="en-US" altLang="zh-CN" sz="2000" b="1" dirty="0">
              <a:solidFill>
                <a:schemeClr val="tx1"/>
              </a:solidFill>
              <a:latin typeface="楷体" panose="02010609060101010101" pitchFamily="49" charset="-122"/>
              <a:ea typeface="楷体" panose="02010609060101010101" pitchFamily="49" charset="-122"/>
            </a:endParaRPr>
          </a:p>
          <a:p>
            <a:pPr>
              <a:defRPr/>
            </a:pPr>
            <a:r>
              <a:rPr lang="zh-CN" altLang="en-US" sz="2000" b="1" dirty="0">
                <a:solidFill>
                  <a:schemeClr val="tx1"/>
                </a:solidFill>
                <a:latin typeface="楷体" panose="02010609060101010101" pitchFamily="49" charset="-122"/>
                <a:ea typeface="楷体" panose="02010609060101010101" pitchFamily="49" charset="-122"/>
              </a:rPr>
              <a:t>健康意识</a:t>
            </a:r>
            <a:r>
              <a:rPr lang="en-US" altLang="zh-CN" sz="2000" b="1" dirty="0">
                <a:solidFill>
                  <a:schemeClr val="tx1"/>
                </a:solidFill>
                <a:latin typeface="楷体" panose="02010609060101010101" pitchFamily="49" charset="-122"/>
                <a:ea typeface="楷体" panose="02010609060101010101" pitchFamily="49" charset="-122"/>
              </a:rPr>
              <a:t> </a:t>
            </a:r>
            <a:r>
              <a:rPr lang="zh-CN" altLang="en-US" sz="2000" b="1" dirty="0">
                <a:solidFill>
                  <a:srgbClr val="115BD8"/>
                </a:solidFill>
                <a:latin typeface="楷体" panose="02010609060101010101" pitchFamily="49" charset="-122"/>
                <a:ea typeface="楷体" panose="02010609060101010101" pitchFamily="49" charset="-122"/>
              </a:rPr>
              <a:t>社会责任 追求真理 探索创新 </a:t>
            </a:r>
            <a:r>
              <a:rPr lang="zh-CN" altLang="en-US" sz="2000" b="1" dirty="0">
                <a:solidFill>
                  <a:schemeClr val="tx1"/>
                </a:solidFill>
                <a:latin typeface="楷体" panose="02010609060101010101" pitchFamily="49" charset="-122"/>
                <a:ea typeface="楷体" panose="02010609060101010101" pitchFamily="49" charset="-122"/>
              </a:rPr>
              <a:t>德智体美劳全面发展</a:t>
            </a:r>
            <a:endParaRPr lang="zh-CN" altLang="en-US" sz="2000" b="1" dirty="0">
              <a:solidFill>
                <a:schemeClr val="tx1"/>
              </a:solidFill>
              <a:latin typeface="楷体" panose="02010609060101010101" pitchFamily="49" charset="-122"/>
              <a:ea typeface="楷体" panose="02010609060101010101" pitchFamily="49"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p:cNvSpPr/>
          <p:nvPr/>
        </p:nvSpPr>
        <p:spPr>
          <a:xfrm>
            <a:off x="-28810" y="2939456"/>
            <a:ext cx="12220810" cy="3918544"/>
          </a:xfrm>
          <a:prstGeom prst="rect">
            <a:avLst/>
          </a:prstGeom>
          <a:gradFill flip="none" rotWithShape="1">
            <a:gsLst>
              <a:gs pos="100000">
                <a:schemeClr val="accent1"/>
              </a:gs>
              <a:gs pos="0">
                <a:schemeClr val="accent1">
                  <a:lumMod val="7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2" name="文本框 1"/>
          <p:cNvSpPr txBox="1"/>
          <p:nvPr/>
        </p:nvSpPr>
        <p:spPr>
          <a:xfrm>
            <a:off x="1073538" y="683907"/>
            <a:ext cx="2646878" cy="584775"/>
          </a:xfrm>
          <a:prstGeom prst="rect">
            <a:avLst/>
          </a:prstGeom>
          <a:solidFill>
            <a:schemeClr val="bg1"/>
          </a:solidFill>
        </p:spPr>
        <p:txBody>
          <a:bodyPr wrap="none" rtlCol="0">
            <a:spAutoFit/>
          </a:bodyPr>
          <a:lstStyle/>
          <a:p>
            <a:r>
              <a:rPr lang="zh-CN" altLang="en-US" sz="3200" b="1" dirty="0">
                <a:gradFill>
                  <a:gsLst>
                    <a:gs pos="100000">
                      <a:schemeClr val="accent1"/>
                    </a:gs>
                    <a:gs pos="0">
                      <a:schemeClr val="accent1">
                        <a:lumMod val="75000"/>
                      </a:schemeClr>
                    </a:gs>
                  </a:gsLst>
                  <a:lin ang="0" scaled="1"/>
                </a:gradFill>
                <a:latin typeface="+mj-ea"/>
                <a:ea typeface="+mj-ea"/>
              </a:rPr>
              <a:t>一、命题说明</a:t>
            </a:r>
            <a:endParaRPr lang="zh-CN" altLang="en-US" sz="3200" b="1" dirty="0">
              <a:gradFill>
                <a:gsLst>
                  <a:gs pos="100000">
                    <a:schemeClr val="accent1"/>
                  </a:gs>
                  <a:gs pos="0">
                    <a:schemeClr val="accent1">
                      <a:lumMod val="75000"/>
                    </a:schemeClr>
                  </a:gs>
                </a:gsLst>
                <a:lin ang="0" scaled="1"/>
              </a:gradFill>
              <a:latin typeface="+mj-ea"/>
              <a:ea typeface="+mj-ea"/>
            </a:endParaRPr>
          </a:p>
        </p:txBody>
      </p:sp>
      <p:grpSp>
        <p:nvGrpSpPr>
          <p:cNvPr id="171" name="组合 170"/>
          <p:cNvGrpSpPr/>
          <p:nvPr/>
        </p:nvGrpSpPr>
        <p:grpSpPr>
          <a:xfrm>
            <a:off x="874714" y="1819934"/>
            <a:ext cx="3343188" cy="4391025"/>
            <a:chOff x="874714" y="1819934"/>
            <a:chExt cx="3343188" cy="4391025"/>
          </a:xfrm>
        </p:grpSpPr>
        <p:sp>
          <p:nvSpPr>
            <p:cNvPr id="155" name="矩形 154"/>
            <p:cNvSpPr/>
            <p:nvPr/>
          </p:nvSpPr>
          <p:spPr>
            <a:xfrm>
              <a:off x="874714" y="1819934"/>
              <a:ext cx="3343188" cy="4391025"/>
            </a:xfrm>
            <a:prstGeom prst="rect">
              <a:avLst/>
            </a:prstGeom>
            <a:solidFill>
              <a:schemeClr val="bg1"/>
            </a:solidFill>
            <a:ln>
              <a:noFill/>
            </a:ln>
            <a:effectLst>
              <a:outerShdw blurRad="520700" dist="495300" dir="16200000" sx="94000" sy="94000" rotWithShape="0">
                <a:schemeClr val="accent1">
                  <a:lumMod val="75000"/>
                  <a:alpha val="1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cxnSp>
          <p:nvCxnSpPr>
            <p:cNvPr id="164" name="直接连接符 163"/>
            <p:cNvCxnSpPr/>
            <p:nvPr/>
          </p:nvCxnSpPr>
          <p:spPr>
            <a:xfrm>
              <a:off x="874714" y="1844675"/>
              <a:ext cx="3343188" cy="0"/>
            </a:xfrm>
            <a:prstGeom prst="line">
              <a:avLst/>
            </a:prstGeom>
            <a:ln w="508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68" name="直接连接符 167"/>
            <p:cNvCxnSpPr/>
            <p:nvPr/>
          </p:nvCxnSpPr>
          <p:spPr>
            <a:xfrm>
              <a:off x="1320143" y="3072652"/>
              <a:ext cx="2595282" cy="0"/>
            </a:xfrm>
            <a:prstGeom prst="line">
              <a:avLst/>
            </a:prstGeom>
            <a:ln>
              <a:solidFill>
                <a:schemeClr val="tx1">
                  <a:alpha val="32000"/>
                </a:schemeClr>
              </a:solidFill>
            </a:ln>
          </p:spPr>
          <p:style>
            <a:lnRef idx="1">
              <a:schemeClr val="accent1"/>
            </a:lnRef>
            <a:fillRef idx="0">
              <a:schemeClr val="accent1"/>
            </a:fillRef>
            <a:effectRef idx="0">
              <a:schemeClr val="accent1"/>
            </a:effectRef>
            <a:fontRef idx="minor">
              <a:schemeClr val="tx1"/>
            </a:fontRef>
          </p:style>
        </p:cxnSp>
      </p:grpSp>
      <p:grpSp>
        <p:nvGrpSpPr>
          <p:cNvPr id="172" name="组合 171"/>
          <p:cNvGrpSpPr/>
          <p:nvPr/>
        </p:nvGrpSpPr>
        <p:grpSpPr>
          <a:xfrm>
            <a:off x="7974100" y="1819934"/>
            <a:ext cx="3343188" cy="4391025"/>
            <a:chOff x="874714" y="1819934"/>
            <a:chExt cx="3343188" cy="4391025"/>
          </a:xfrm>
        </p:grpSpPr>
        <p:sp>
          <p:nvSpPr>
            <p:cNvPr id="173" name="矩形 172"/>
            <p:cNvSpPr/>
            <p:nvPr/>
          </p:nvSpPr>
          <p:spPr>
            <a:xfrm>
              <a:off x="874714" y="1819934"/>
              <a:ext cx="3343188" cy="4391025"/>
            </a:xfrm>
            <a:prstGeom prst="rect">
              <a:avLst/>
            </a:prstGeom>
            <a:solidFill>
              <a:schemeClr val="bg1"/>
            </a:solidFill>
            <a:ln>
              <a:noFill/>
            </a:ln>
            <a:effectLst>
              <a:outerShdw blurRad="520700" dist="495300" dir="16200000" sx="94000" sy="94000" rotWithShape="0">
                <a:schemeClr val="accent1">
                  <a:lumMod val="75000"/>
                  <a:alpha val="1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cxnSp>
          <p:nvCxnSpPr>
            <p:cNvPr id="174" name="直接连接符 173"/>
            <p:cNvCxnSpPr/>
            <p:nvPr/>
          </p:nvCxnSpPr>
          <p:spPr>
            <a:xfrm>
              <a:off x="874714" y="1844675"/>
              <a:ext cx="3343188" cy="0"/>
            </a:xfrm>
            <a:prstGeom prst="line">
              <a:avLst/>
            </a:prstGeom>
            <a:ln w="508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5" name="直接连接符 174"/>
            <p:cNvCxnSpPr/>
            <p:nvPr/>
          </p:nvCxnSpPr>
          <p:spPr>
            <a:xfrm>
              <a:off x="1320143" y="3072652"/>
              <a:ext cx="2595282" cy="0"/>
            </a:xfrm>
            <a:prstGeom prst="line">
              <a:avLst/>
            </a:prstGeom>
            <a:ln>
              <a:solidFill>
                <a:schemeClr val="tx1">
                  <a:alpha val="32000"/>
                </a:schemeClr>
              </a:solidFill>
            </a:ln>
          </p:spPr>
          <p:style>
            <a:lnRef idx="1">
              <a:schemeClr val="accent1"/>
            </a:lnRef>
            <a:fillRef idx="0">
              <a:schemeClr val="accent1"/>
            </a:fillRef>
            <a:effectRef idx="0">
              <a:schemeClr val="accent1"/>
            </a:effectRef>
            <a:fontRef idx="minor">
              <a:schemeClr val="tx1"/>
            </a:fontRef>
          </p:style>
        </p:cxnSp>
      </p:grpSp>
      <p:grpSp>
        <p:nvGrpSpPr>
          <p:cNvPr id="176" name="组合 175"/>
          <p:cNvGrpSpPr/>
          <p:nvPr/>
        </p:nvGrpSpPr>
        <p:grpSpPr>
          <a:xfrm>
            <a:off x="4424407" y="1819934"/>
            <a:ext cx="3343188" cy="4391025"/>
            <a:chOff x="874714" y="1819934"/>
            <a:chExt cx="3343188" cy="4391025"/>
          </a:xfrm>
        </p:grpSpPr>
        <p:sp>
          <p:nvSpPr>
            <p:cNvPr id="177" name="矩形 176"/>
            <p:cNvSpPr/>
            <p:nvPr/>
          </p:nvSpPr>
          <p:spPr>
            <a:xfrm>
              <a:off x="874714" y="1819934"/>
              <a:ext cx="3343188" cy="4391025"/>
            </a:xfrm>
            <a:prstGeom prst="rect">
              <a:avLst/>
            </a:prstGeom>
            <a:solidFill>
              <a:schemeClr val="bg1"/>
            </a:solidFill>
            <a:ln>
              <a:noFill/>
            </a:ln>
            <a:effectLst>
              <a:outerShdw blurRad="520700" dist="495300" dir="16200000" sx="94000" sy="94000" rotWithShape="0">
                <a:schemeClr val="accent1">
                  <a:lumMod val="75000"/>
                  <a:alpha val="1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cxnSp>
          <p:nvCxnSpPr>
            <p:cNvPr id="178" name="直接连接符 177"/>
            <p:cNvCxnSpPr/>
            <p:nvPr/>
          </p:nvCxnSpPr>
          <p:spPr>
            <a:xfrm>
              <a:off x="874714" y="1844675"/>
              <a:ext cx="3343188" cy="0"/>
            </a:xfrm>
            <a:prstGeom prst="line">
              <a:avLst/>
            </a:prstGeom>
            <a:ln w="508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1320143" y="3072652"/>
              <a:ext cx="2595282" cy="0"/>
            </a:xfrm>
            <a:prstGeom prst="line">
              <a:avLst/>
            </a:prstGeom>
            <a:ln>
              <a:solidFill>
                <a:schemeClr val="tx1">
                  <a:alpha val="32000"/>
                </a:schemeClr>
              </a:solidFill>
            </a:ln>
          </p:spPr>
          <p:style>
            <a:lnRef idx="1">
              <a:schemeClr val="accent1"/>
            </a:lnRef>
            <a:fillRef idx="0">
              <a:schemeClr val="accent1"/>
            </a:fillRef>
            <a:effectRef idx="0">
              <a:schemeClr val="accent1"/>
            </a:effectRef>
            <a:fontRef idx="minor">
              <a:schemeClr val="tx1"/>
            </a:fontRef>
          </p:style>
        </p:cxnSp>
      </p:grpSp>
      <p:pic>
        <p:nvPicPr>
          <p:cNvPr id="181" name="图形 180" descr="放大镜 纯色填充"/>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655706" y="1942276"/>
            <a:ext cx="1067458" cy="1067458"/>
          </a:xfrm>
          <a:prstGeom prst="rect">
            <a:avLst/>
          </a:prstGeom>
        </p:spPr>
      </p:pic>
      <p:sp>
        <p:nvSpPr>
          <p:cNvPr id="13" name="文本框 12"/>
          <p:cNvSpPr txBox="1"/>
          <p:nvPr/>
        </p:nvSpPr>
        <p:spPr>
          <a:xfrm>
            <a:off x="810416" y="3130160"/>
            <a:ext cx="3322186" cy="2698303"/>
          </a:xfrm>
          <a:prstGeom prst="rect">
            <a:avLst/>
          </a:prstGeom>
          <a:noFill/>
        </p:spPr>
        <p:txBody>
          <a:bodyPr wrap="square">
            <a:spAutoFit/>
          </a:bodyPr>
          <a:lstStyle>
            <a:defPPr>
              <a:defRPr lang="zh-CN"/>
            </a:defPPr>
            <a:lvl1pPr algn="just">
              <a:lnSpc>
                <a:spcPct val="120000"/>
              </a:lnSpc>
              <a:defRPr sz="1600"/>
            </a:lvl1pPr>
          </a:lstStyle>
          <a:p>
            <a:pPr marL="285750" indent="-285750">
              <a:spcBef>
                <a:spcPts val="600"/>
              </a:spcBef>
              <a:buFont typeface="Arial" panose="020B0604020202020204" pitchFamily="34" charset="0"/>
              <a:buChar char="•"/>
            </a:pPr>
            <a:r>
              <a:rPr lang="zh-CN" altLang="en-US" sz="1800" b="1" dirty="0">
                <a:solidFill>
                  <a:srgbClr val="000000"/>
                </a:solidFill>
              </a:rPr>
              <a:t>习近平新时代中国特色社会主义思想</a:t>
            </a:r>
            <a:r>
              <a:rPr lang="zh-CN" altLang="en-US" sz="1800" b="1" dirty="0">
                <a:solidFill>
                  <a:srgbClr val="115BD8"/>
                </a:solidFill>
              </a:rPr>
              <a:t>最新理论成果</a:t>
            </a:r>
            <a:endParaRPr lang="en-US" altLang="zh-CN" sz="1800" b="1" dirty="0">
              <a:solidFill>
                <a:srgbClr val="115BD8"/>
              </a:solidFill>
            </a:endParaRPr>
          </a:p>
          <a:p>
            <a:pPr marL="285750" indent="-285750">
              <a:spcBef>
                <a:spcPts val="600"/>
              </a:spcBef>
              <a:buFont typeface="Arial" panose="020B0604020202020204" pitchFamily="34" charset="0"/>
              <a:buChar char="•"/>
            </a:pPr>
            <a:r>
              <a:rPr lang="zh-CN" altLang="en-US" sz="1800" b="1" dirty="0">
                <a:solidFill>
                  <a:srgbClr val="0000CC"/>
                </a:solidFill>
              </a:rPr>
              <a:t>贯彻落实中央经济工作会议精神（宏观调控政策）</a:t>
            </a:r>
            <a:endParaRPr lang="en-US" altLang="zh-CN" sz="1800" b="1" dirty="0">
              <a:solidFill>
                <a:srgbClr val="0000CC"/>
              </a:solidFill>
            </a:endParaRPr>
          </a:p>
          <a:p>
            <a:pPr marL="285750" indent="-285750">
              <a:spcBef>
                <a:spcPts val="600"/>
              </a:spcBef>
              <a:buFont typeface="Arial" panose="020B0604020202020204" pitchFamily="34" charset="0"/>
              <a:buChar char="•"/>
            </a:pPr>
            <a:r>
              <a:rPr lang="zh-CN" altLang="en-US" sz="1800" b="1" dirty="0">
                <a:solidFill>
                  <a:srgbClr val="0000CC"/>
                </a:solidFill>
              </a:rPr>
              <a:t>贯彻落实</a:t>
            </a:r>
            <a:r>
              <a:rPr lang="en-US" altLang="zh-CN" sz="1800" b="1" dirty="0">
                <a:solidFill>
                  <a:srgbClr val="0000CC"/>
                </a:solidFill>
              </a:rPr>
              <a:t>2024</a:t>
            </a:r>
            <a:r>
              <a:rPr lang="zh-CN" altLang="en-US" sz="1800" b="1" dirty="0">
                <a:solidFill>
                  <a:srgbClr val="0000CC"/>
                </a:solidFill>
              </a:rPr>
              <a:t>年两会精神</a:t>
            </a:r>
            <a:endParaRPr lang="en-US" altLang="zh-CN" sz="1800" b="1" dirty="0">
              <a:solidFill>
                <a:srgbClr val="0000CC"/>
              </a:solidFill>
            </a:endParaRPr>
          </a:p>
          <a:p>
            <a:pPr>
              <a:spcBef>
                <a:spcPts val="600"/>
              </a:spcBef>
            </a:pPr>
            <a:r>
              <a:rPr lang="zh-CN" altLang="en-US" sz="1800" b="1" dirty="0">
                <a:solidFill>
                  <a:srgbClr val="0000CC"/>
                </a:solidFill>
              </a:rPr>
              <a:t>（</a:t>
            </a:r>
            <a:r>
              <a:rPr lang="zh-CN" altLang="en-US" sz="1800" b="1">
                <a:solidFill>
                  <a:srgbClr val="0000CC"/>
                </a:solidFill>
              </a:rPr>
              <a:t>人工智能 科技创新）</a:t>
            </a:r>
            <a:endParaRPr lang="en-US" altLang="zh-CN" sz="1800" b="1" dirty="0">
              <a:solidFill>
                <a:srgbClr val="0000CC"/>
              </a:solidFill>
            </a:endParaRPr>
          </a:p>
          <a:p>
            <a:pPr marL="285750" indent="-285750">
              <a:spcBef>
                <a:spcPts val="600"/>
              </a:spcBef>
              <a:buFont typeface="Arial" panose="020B0604020202020204" pitchFamily="34" charset="0"/>
              <a:buChar char="•"/>
            </a:pPr>
            <a:r>
              <a:rPr lang="zh-CN" altLang="en-US" sz="1800" b="1" dirty="0">
                <a:solidFill>
                  <a:srgbClr val="0000CC"/>
                </a:solidFill>
              </a:rPr>
              <a:t>彰显首都建设成就</a:t>
            </a:r>
            <a:endParaRPr lang="en-US" altLang="zh-CN" sz="1800" b="1" dirty="0">
              <a:solidFill>
                <a:srgbClr val="0000CC"/>
              </a:solidFill>
            </a:endParaRPr>
          </a:p>
        </p:txBody>
      </p:sp>
      <p:sp>
        <p:nvSpPr>
          <p:cNvPr id="15" name="文本框 14"/>
          <p:cNvSpPr txBox="1"/>
          <p:nvPr/>
        </p:nvSpPr>
        <p:spPr>
          <a:xfrm>
            <a:off x="4514440" y="3218219"/>
            <a:ext cx="3021884" cy="2353465"/>
          </a:xfrm>
          <a:prstGeom prst="rect">
            <a:avLst/>
          </a:prstGeom>
          <a:noFill/>
        </p:spPr>
        <p:txBody>
          <a:bodyPr wrap="square">
            <a:spAutoFit/>
          </a:bodyPr>
          <a:lstStyle>
            <a:defPPr>
              <a:defRPr lang="zh-CN"/>
            </a:defPPr>
            <a:lvl1pPr marL="285750" indent="-285750" algn="just">
              <a:lnSpc>
                <a:spcPct val="120000"/>
              </a:lnSpc>
              <a:spcBef>
                <a:spcPts val="600"/>
              </a:spcBef>
              <a:buFont typeface="Arial" panose="020B0604020202020204" pitchFamily="34" charset="0"/>
              <a:buChar char="•"/>
              <a:defRPr sz="1600">
                <a:solidFill>
                  <a:schemeClr val="tx1">
                    <a:alpha val="70000"/>
                  </a:schemeClr>
                </a:solidFill>
              </a:defRPr>
            </a:lvl1pPr>
          </a:lstStyle>
          <a:p>
            <a:r>
              <a:rPr lang="zh-CN" altLang="en-US" sz="2000" b="1" dirty="0">
                <a:solidFill>
                  <a:srgbClr val="000000"/>
                </a:solidFill>
              </a:rPr>
              <a:t>尽可能</a:t>
            </a:r>
            <a:r>
              <a:rPr lang="zh-CN" altLang="en-US" sz="2000" b="1" dirty="0">
                <a:solidFill>
                  <a:srgbClr val="115BD8"/>
                </a:solidFill>
              </a:rPr>
              <a:t>覆盖常见问题类型，</a:t>
            </a:r>
            <a:r>
              <a:rPr lang="zh-CN" altLang="en-US" sz="2000" b="1" dirty="0">
                <a:solidFill>
                  <a:srgbClr val="000000"/>
                </a:solidFill>
              </a:rPr>
              <a:t>了解学生目前对于不同问题类型的基本解决模型的掌握情况。</a:t>
            </a:r>
            <a:endParaRPr lang="zh-CN" altLang="en-US" sz="2000" b="1" dirty="0">
              <a:solidFill>
                <a:srgbClr val="000000"/>
              </a:solidFill>
            </a:endParaRPr>
          </a:p>
          <a:p>
            <a:r>
              <a:rPr lang="zh-CN" altLang="en-US" sz="2000" b="1" dirty="0">
                <a:solidFill>
                  <a:srgbClr val="000000"/>
                </a:solidFill>
              </a:rPr>
              <a:t>强调</a:t>
            </a:r>
            <a:r>
              <a:rPr lang="zh-CN" altLang="en-US" sz="2000" b="1" dirty="0">
                <a:solidFill>
                  <a:srgbClr val="115BD8"/>
                </a:solidFill>
              </a:rPr>
              <a:t>问题设计</a:t>
            </a:r>
            <a:r>
              <a:rPr lang="zh-CN" altLang="en-US" sz="2000" b="1" dirty="0">
                <a:solidFill>
                  <a:srgbClr val="000000"/>
                </a:solidFill>
              </a:rPr>
              <a:t>对解决问题的</a:t>
            </a:r>
            <a:r>
              <a:rPr lang="zh-CN" altLang="en-US" sz="2000" b="1" dirty="0">
                <a:solidFill>
                  <a:srgbClr val="115BD8"/>
                </a:solidFill>
              </a:rPr>
              <a:t>精准</a:t>
            </a:r>
            <a:r>
              <a:rPr lang="zh-CN" altLang="en-US" sz="2000" b="1" dirty="0">
                <a:solidFill>
                  <a:srgbClr val="000000"/>
                </a:solidFill>
              </a:rPr>
              <a:t>指向。</a:t>
            </a:r>
            <a:endParaRPr lang="zh-CN" altLang="en-US" sz="2000" b="1" dirty="0">
              <a:solidFill>
                <a:srgbClr val="000000"/>
              </a:solidFill>
            </a:endParaRPr>
          </a:p>
        </p:txBody>
      </p:sp>
      <p:sp>
        <p:nvSpPr>
          <p:cNvPr id="149" name="文本框 148"/>
          <p:cNvSpPr txBox="1"/>
          <p:nvPr/>
        </p:nvSpPr>
        <p:spPr>
          <a:xfrm>
            <a:off x="1245858" y="2108459"/>
            <a:ext cx="2398172" cy="461665"/>
          </a:xfrm>
          <a:prstGeom prst="rect">
            <a:avLst/>
          </a:prstGeom>
          <a:noFill/>
        </p:spPr>
        <p:txBody>
          <a:bodyPr wrap="square">
            <a:spAutoFit/>
          </a:bodyPr>
          <a:lstStyle/>
          <a:p>
            <a:r>
              <a:rPr lang="zh-CN" altLang="en-US" sz="2400" b="1" dirty="0"/>
              <a:t>话题选择</a:t>
            </a:r>
            <a:endParaRPr lang="zh-CN" altLang="en-US" sz="2400" b="1" dirty="0"/>
          </a:p>
        </p:txBody>
      </p:sp>
      <p:sp>
        <p:nvSpPr>
          <p:cNvPr id="151" name="文本框 150"/>
          <p:cNvSpPr txBox="1"/>
          <p:nvPr/>
        </p:nvSpPr>
        <p:spPr>
          <a:xfrm>
            <a:off x="4793054" y="2096089"/>
            <a:ext cx="2743269" cy="461665"/>
          </a:xfrm>
          <a:prstGeom prst="rect">
            <a:avLst/>
          </a:prstGeom>
          <a:noFill/>
        </p:spPr>
        <p:txBody>
          <a:bodyPr wrap="square">
            <a:spAutoFit/>
          </a:bodyPr>
          <a:lstStyle>
            <a:defPPr>
              <a:defRPr lang="zh-CN"/>
            </a:defPPr>
            <a:lvl1pPr>
              <a:defRPr sz="2400" b="1"/>
            </a:lvl1pPr>
          </a:lstStyle>
          <a:p>
            <a:r>
              <a:rPr lang="zh-CN" altLang="en-US" dirty="0"/>
              <a:t>问题设计</a:t>
            </a:r>
            <a:endParaRPr lang="zh-CN" altLang="en-US" dirty="0"/>
          </a:p>
        </p:txBody>
      </p:sp>
      <p:sp>
        <p:nvSpPr>
          <p:cNvPr id="153" name="文本框 152"/>
          <p:cNvSpPr txBox="1"/>
          <p:nvPr/>
        </p:nvSpPr>
        <p:spPr>
          <a:xfrm>
            <a:off x="8400338" y="2096089"/>
            <a:ext cx="2142914" cy="523220"/>
          </a:xfrm>
          <a:prstGeom prst="rect">
            <a:avLst/>
          </a:prstGeom>
          <a:noFill/>
        </p:spPr>
        <p:txBody>
          <a:bodyPr wrap="square">
            <a:spAutoFit/>
          </a:bodyPr>
          <a:lstStyle>
            <a:defPPr>
              <a:defRPr lang="zh-CN"/>
            </a:defPPr>
            <a:lvl1pPr>
              <a:defRPr sz="2400" b="1"/>
            </a:lvl1pPr>
          </a:lstStyle>
          <a:p>
            <a:r>
              <a:rPr lang="zh-CN" altLang="en-US" sz="2800" dirty="0">
                <a:solidFill>
                  <a:srgbClr val="0000CC"/>
                </a:solidFill>
              </a:rPr>
              <a:t>教考衔接</a:t>
            </a:r>
            <a:endParaRPr lang="zh-CN" altLang="en-US" sz="2800" dirty="0">
              <a:solidFill>
                <a:srgbClr val="0000CC"/>
              </a:solidFill>
            </a:endParaRPr>
          </a:p>
        </p:txBody>
      </p:sp>
      <p:sp>
        <p:nvSpPr>
          <p:cNvPr id="11" name="文本框 10"/>
          <p:cNvSpPr txBox="1"/>
          <p:nvPr/>
        </p:nvSpPr>
        <p:spPr>
          <a:xfrm>
            <a:off x="8053137" y="2820314"/>
            <a:ext cx="3172326" cy="3169073"/>
          </a:xfrm>
          <a:prstGeom prst="rect">
            <a:avLst/>
          </a:prstGeom>
          <a:noFill/>
        </p:spPr>
        <p:txBody>
          <a:bodyPr wrap="square">
            <a:spAutoFit/>
          </a:bodyPr>
          <a:lstStyle>
            <a:defPPr>
              <a:defRPr lang="zh-CN"/>
            </a:defPPr>
            <a:lvl1pPr marL="285750" indent="-285750" algn="just">
              <a:lnSpc>
                <a:spcPct val="120000"/>
              </a:lnSpc>
              <a:spcBef>
                <a:spcPts val="600"/>
              </a:spcBef>
              <a:buFont typeface="Arial" panose="020B0604020202020204" pitchFamily="34" charset="0"/>
              <a:buChar char="•"/>
              <a:defRPr sz="1600">
                <a:solidFill>
                  <a:schemeClr val="tx1">
                    <a:alpha val="70000"/>
                  </a:schemeClr>
                </a:solidFill>
              </a:defRPr>
            </a:lvl1pPr>
          </a:lstStyle>
          <a:p>
            <a:endParaRPr lang="en-US" altLang="zh-CN" sz="2000" b="1" dirty="0">
              <a:solidFill>
                <a:srgbClr val="000000"/>
              </a:solidFill>
            </a:endParaRPr>
          </a:p>
          <a:p>
            <a:r>
              <a:rPr lang="zh-CN" altLang="en-US" sz="2000" b="1" dirty="0">
                <a:solidFill>
                  <a:srgbClr val="000000"/>
                </a:solidFill>
              </a:rPr>
              <a:t>注重对</a:t>
            </a:r>
            <a:r>
              <a:rPr lang="zh-CN" altLang="en-US" sz="2000" b="1" dirty="0">
                <a:solidFill>
                  <a:srgbClr val="115BD8"/>
                </a:solidFill>
              </a:rPr>
              <a:t>教材基础内容的整合、深化、拓展</a:t>
            </a:r>
            <a:r>
              <a:rPr lang="zh-CN" altLang="en-US" sz="2000" b="1" dirty="0">
                <a:solidFill>
                  <a:srgbClr val="000000"/>
                </a:solidFill>
              </a:rPr>
              <a:t>，指导师生完善知识结构，织补知识漏洞。</a:t>
            </a:r>
            <a:endParaRPr lang="en-US" altLang="zh-CN" sz="2000" b="1" dirty="0">
              <a:solidFill>
                <a:srgbClr val="000000"/>
              </a:solidFill>
            </a:endParaRPr>
          </a:p>
          <a:p>
            <a:r>
              <a:rPr lang="zh-CN" altLang="en-US" sz="2000" b="1" dirty="0">
                <a:solidFill>
                  <a:srgbClr val="000000"/>
                </a:solidFill>
              </a:rPr>
              <a:t>重视对</a:t>
            </a:r>
            <a:r>
              <a:rPr lang="zh-CN" altLang="en-US" sz="2000" b="1" dirty="0">
                <a:solidFill>
                  <a:srgbClr val="115BD8"/>
                </a:solidFill>
              </a:rPr>
              <a:t>教材变化点</a:t>
            </a:r>
            <a:r>
              <a:rPr lang="zh-CN" altLang="en-US" sz="2000" b="1" dirty="0">
                <a:solidFill>
                  <a:srgbClr val="000000"/>
                </a:solidFill>
              </a:rPr>
              <a:t>的考查，引导师生</a:t>
            </a:r>
            <a:r>
              <a:rPr lang="zh-CN" altLang="en-US" sz="2000" b="1" dirty="0">
                <a:solidFill>
                  <a:srgbClr val="115BD8"/>
                </a:solidFill>
              </a:rPr>
              <a:t>与时俱进</a:t>
            </a:r>
            <a:r>
              <a:rPr lang="zh-CN" altLang="en-US" sz="2000" b="1" dirty="0">
                <a:solidFill>
                  <a:srgbClr val="000000"/>
                </a:solidFill>
              </a:rPr>
              <a:t>备考。</a:t>
            </a:r>
            <a:endParaRPr lang="en-US" altLang="zh-CN" sz="2000" b="1" dirty="0">
              <a:solidFill>
                <a:srgbClr val="000000"/>
              </a:solidFill>
            </a:endParaRPr>
          </a:p>
        </p:txBody>
      </p:sp>
      <p:pic>
        <p:nvPicPr>
          <p:cNvPr id="183" name="图形 182" descr="公文包 纯色填充"/>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057954" y="2037288"/>
            <a:ext cx="970596" cy="970596"/>
          </a:xfrm>
          <a:prstGeom prst="rect">
            <a:avLst/>
          </a:prstGeom>
        </p:spPr>
      </p:pic>
      <p:pic>
        <p:nvPicPr>
          <p:cNvPr id="185" name="图形 184" descr="办公室女工作人员 纯色填充"/>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899679" y="1995300"/>
            <a:ext cx="1070106" cy="1070104"/>
          </a:xfrm>
          <a:prstGeom prst="rect">
            <a:avLst/>
          </a:prstGeom>
        </p:spPr>
      </p:pic>
      <p:sp>
        <p:nvSpPr>
          <p:cNvPr id="3" name="文本框 2"/>
          <p:cNvSpPr txBox="1"/>
          <p:nvPr/>
        </p:nvSpPr>
        <p:spPr>
          <a:xfrm>
            <a:off x="874712" y="1322750"/>
            <a:ext cx="9549653" cy="523220"/>
          </a:xfrm>
          <a:prstGeom prst="rect">
            <a:avLst/>
          </a:prstGeom>
          <a:noFill/>
        </p:spPr>
        <p:txBody>
          <a:bodyPr wrap="square">
            <a:spAutoFit/>
          </a:bodyPr>
          <a:lstStyle/>
          <a:p>
            <a:pPr>
              <a:defRPr/>
            </a:pPr>
            <a:r>
              <a:rPr lang="en-US" altLang="zh-CN" sz="2800" b="1" dirty="0">
                <a:solidFill>
                  <a:srgbClr val="FF0000"/>
                </a:solidFill>
                <a:latin typeface="+mn-ea"/>
                <a:ea typeface="+mn-ea"/>
              </a:rPr>
              <a:t>2.</a:t>
            </a:r>
            <a:r>
              <a:rPr lang="zh-CN" altLang="en-US" sz="2800" b="1" dirty="0">
                <a:solidFill>
                  <a:srgbClr val="FF0000"/>
                </a:solidFill>
                <a:latin typeface="+mn-ea"/>
                <a:ea typeface="+mn-ea"/>
              </a:rPr>
              <a:t>试题特点：</a:t>
            </a:r>
            <a:r>
              <a:rPr lang="zh-CN" altLang="en-US" sz="2800" b="1" dirty="0">
                <a:latin typeface="+mn-ea"/>
              </a:rPr>
              <a:t>精准把握北京等级考命题题规律和评价要求</a:t>
            </a:r>
            <a:endParaRPr lang="zh-CN" altLang="en-US" sz="2800" dirty="0">
              <a:solidFill>
                <a:schemeClr val="tx1"/>
              </a:solidFill>
              <a:latin typeface="+mn-ea"/>
              <a:ea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3"/>
          <p:cNvSpPr txBox="1">
            <a:spLocks noChangeArrowheads="1"/>
          </p:cNvSpPr>
          <p:nvPr/>
        </p:nvSpPr>
        <p:spPr bwMode="auto">
          <a:xfrm>
            <a:off x="0" y="1936666"/>
            <a:ext cx="12192000" cy="4515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150000"/>
              </a:lnSpc>
            </a:pPr>
            <a:r>
              <a:rPr lang="zh-CN" altLang="en-US" sz="2800" b="1" dirty="0">
                <a:solidFill>
                  <a:srgbClr val="0000FF"/>
                </a:solidFill>
                <a:latin typeface="楷体" panose="02010609060101010101" pitchFamily="49" charset="-122"/>
                <a:ea typeface="楷体" panose="02010609060101010101" pitchFamily="49" charset="-122"/>
              </a:rPr>
              <a:t>一审</a:t>
            </a:r>
            <a:r>
              <a:rPr lang="zh-CN" altLang="en-US" sz="2800" b="1" dirty="0">
                <a:solidFill>
                  <a:srgbClr val="FF0000"/>
                </a:solidFill>
                <a:latin typeface="楷体" panose="02010609060101010101" pitchFamily="49" charset="-122"/>
                <a:ea typeface="楷体" panose="02010609060101010101" pitchFamily="49" charset="-122"/>
              </a:rPr>
              <a:t>题肢</a:t>
            </a:r>
            <a:r>
              <a:rPr lang="zh-CN" altLang="en-US" sz="2800" b="1" dirty="0">
                <a:solidFill>
                  <a:srgbClr val="0000FF"/>
                </a:solidFill>
                <a:latin typeface="楷体" panose="02010609060101010101" pitchFamily="49" charset="-122"/>
                <a:ea typeface="楷体" panose="02010609060101010101" pitchFamily="49" charset="-122"/>
              </a:rPr>
              <a:t>排错误</a:t>
            </a:r>
            <a:endParaRPr lang="en-US" altLang="zh-CN" sz="2800" b="1" dirty="0">
              <a:solidFill>
                <a:srgbClr val="0000FF"/>
              </a:solidFill>
              <a:latin typeface="楷体" panose="02010609060101010101" pitchFamily="49" charset="-122"/>
              <a:ea typeface="楷体" panose="02010609060101010101" pitchFamily="49" charset="-122"/>
            </a:endParaRPr>
          </a:p>
          <a:p>
            <a:pPr algn="ctr">
              <a:lnSpc>
                <a:spcPct val="150000"/>
              </a:lnSpc>
            </a:pPr>
            <a:r>
              <a:rPr lang="zh-CN" altLang="en-US" sz="2800" b="1" dirty="0">
                <a:solidFill>
                  <a:srgbClr val="0000FF"/>
                </a:solidFill>
                <a:latin typeface="楷体" panose="02010609060101010101" pitchFamily="49" charset="-122"/>
                <a:ea typeface="楷体" panose="02010609060101010101" pitchFamily="49" charset="-122"/>
              </a:rPr>
              <a:t>二审</a:t>
            </a:r>
            <a:r>
              <a:rPr lang="zh-CN" altLang="en-US" sz="2800" b="1" dirty="0">
                <a:solidFill>
                  <a:srgbClr val="FF0000"/>
                </a:solidFill>
                <a:latin typeface="楷体" panose="02010609060101010101" pitchFamily="49" charset="-122"/>
                <a:ea typeface="楷体" panose="02010609060101010101" pitchFamily="49" charset="-122"/>
              </a:rPr>
              <a:t>设问</a:t>
            </a:r>
            <a:r>
              <a:rPr lang="zh-CN" altLang="en-US" sz="2800" b="1" dirty="0">
                <a:solidFill>
                  <a:srgbClr val="0000FF"/>
                </a:solidFill>
                <a:latin typeface="楷体" panose="02010609060101010101" pitchFamily="49" charset="-122"/>
                <a:ea typeface="楷体" panose="02010609060101010101" pitchFamily="49" charset="-122"/>
              </a:rPr>
              <a:t>明指向</a:t>
            </a:r>
            <a:endParaRPr lang="en-US" altLang="zh-CN" sz="2800" b="1" dirty="0">
              <a:solidFill>
                <a:srgbClr val="0000FF"/>
              </a:solidFill>
              <a:latin typeface="楷体" panose="02010609060101010101" pitchFamily="49" charset="-122"/>
              <a:ea typeface="楷体" panose="02010609060101010101" pitchFamily="49" charset="-122"/>
            </a:endParaRPr>
          </a:p>
          <a:p>
            <a:pPr algn="ctr">
              <a:lnSpc>
                <a:spcPct val="150000"/>
              </a:lnSpc>
            </a:pPr>
            <a:r>
              <a:rPr lang="zh-CN" altLang="en-US" sz="2800" b="1" dirty="0">
                <a:solidFill>
                  <a:srgbClr val="0000FF"/>
                </a:solidFill>
                <a:latin typeface="楷体" panose="02010609060101010101" pitchFamily="49" charset="-122"/>
                <a:ea typeface="楷体" panose="02010609060101010101" pitchFamily="49" charset="-122"/>
              </a:rPr>
              <a:t>三审</a:t>
            </a:r>
            <a:r>
              <a:rPr lang="zh-CN" altLang="en-US" sz="2800" b="1" dirty="0">
                <a:solidFill>
                  <a:srgbClr val="FF0000"/>
                </a:solidFill>
                <a:latin typeface="楷体" panose="02010609060101010101" pitchFamily="49" charset="-122"/>
                <a:ea typeface="楷体" panose="02010609060101010101" pitchFamily="49" charset="-122"/>
              </a:rPr>
              <a:t>材料</a:t>
            </a:r>
            <a:r>
              <a:rPr lang="zh-CN" altLang="en-US" sz="2800" b="1" dirty="0">
                <a:solidFill>
                  <a:srgbClr val="0000FF"/>
                </a:solidFill>
                <a:latin typeface="楷体" panose="02010609060101010101" pitchFamily="49" charset="-122"/>
                <a:ea typeface="楷体" panose="02010609060101010101" pitchFamily="49" charset="-122"/>
              </a:rPr>
              <a:t>抓关键</a:t>
            </a:r>
            <a:endParaRPr lang="en-US" altLang="zh-CN" sz="2800" b="1" dirty="0">
              <a:solidFill>
                <a:srgbClr val="0000FF"/>
              </a:solidFill>
              <a:latin typeface="楷体" panose="02010609060101010101" pitchFamily="49" charset="-122"/>
              <a:ea typeface="楷体" panose="02010609060101010101" pitchFamily="49" charset="-122"/>
            </a:endParaRPr>
          </a:p>
          <a:p>
            <a:pPr algn="ctr">
              <a:lnSpc>
                <a:spcPct val="150000"/>
              </a:lnSpc>
            </a:pPr>
            <a:r>
              <a:rPr lang="zh-CN" altLang="en-US" sz="2800" b="1" dirty="0">
                <a:solidFill>
                  <a:srgbClr val="0000FF"/>
                </a:solidFill>
                <a:latin typeface="楷体" panose="02010609060101010101" pitchFamily="49" charset="-122"/>
                <a:ea typeface="楷体" panose="02010609060101010101" pitchFamily="49" charset="-122"/>
              </a:rPr>
              <a:t>再审</a:t>
            </a:r>
            <a:r>
              <a:rPr lang="zh-CN" altLang="en-US" sz="2800" b="1" dirty="0">
                <a:solidFill>
                  <a:srgbClr val="FF0000"/>
                </a:solidFill>
                <a:latin typeface="楷体" panose="02010609060101010101" pitchFamily="49" charset="-122"/>
                <a:ea typeface="楷体" panose="02010609060101010101" pitchFamily="49" charset="-122"/>
              </a:rPr>
              <a:t>题肢</a:t>
            </a:r>
            <a:r>
              <a:rPr lang="zh-CN" altLang="en-US" sz="2800" b="1" dirty="0">
                <a:solidFill>
                  <a:srgbClr val="0000FF"/>
                </a:solidFill>
                <a:latin typeface="楷体" panose="02010609060101010101" pitchFamily="49" charset="-122"/>
                <a:ea typeface="楷体" panose="02010609060101010101" pitchFamily="49" charset="-122"/>
              </a:rPr>
              <a:t>定选项</a:t>
            </a:r>
            <a:endParaRPr lang="en-US" altLang="zh-CN" sz="2800" b="1" dirty="0">
              <a:solidFill>
                <a:srgbClr val="0000FF"/>
              </a:solidFill>
              <a:latin typeface="楷体" panose="02010609060101010101" pitchFamily="49" charset="-122"/>
              <a:ea typeface="楷体" panose="02010609060101010101" pitchFamily="49" charset="-122"/>
            </a:endParaRPr>
          </a:p>
          <a:p>
            <a:pPr algn="ctr">
              <a:lnSpc>
                <a:spcPct val="150000"/>
              </a:lnSpc>
            </a:pPr>
            <a:r>
              <a:rPr lang="zh-CN" altLang="en-US" sz="2800" b="1" dirty="0">
                <a:solidFill>
                  <a:srgbClr val="0000FF"/>
                </a:solidFill>
                <a:latin typeface="楷体" panose="02010609060101010101" pitchFamily="49" charset="-122"/>
                <a:ea typeface="楷体" panose="02010609060101010101" pitchFamily="49" charset="-122"/>
              </a:rPr>
              <a:t>此处，如果您以有成套成熟的选择题方法，用您自己的。</a:t>
            </a:r>
            <a:endParaRPr lang="en-US" altLang="zh-CN" sz="2800" b="1" dirty="0">
              <a:solidFill>
                <a:srgbClr val="0000FF"/>
              </a:solidFill>
              <a:latin typeface="楷体" panose="02010609060101010101" pitchFamily="49" charset="-122"/>
              <a:ea typeface="楷体" panose="02010609060101010101" pitchFamily="49" charset="-122"/>
            </a:endParaRPr>
          </a:p>
          <a:p>
            <a:pPr algn="ctr">
              <a:lnSpc>
                <a:spcPct val="150000"/>
              </a:lnSpc>
            </a:pPr>
            <a:r>
              <a:rPr lang="zh-CN" altLang="en-US" sz="2800" b="1" dirty="0">
                <a:solidFill>
                  <a:srgbClr val="0000FF"/>
                </a:solidFill>
                <a:latin typeface="楷体" panose="02010609060101010101" pitchFamily="49" charset="-122"/>
                <a:ea typeface="楷体" panose="02010609060101010101" pitchFamily="49" charset="-122"/>
              </a:rPr>
              <a:t>讲解题目时，让全体学生大声复述选择题作答方法步骤，反复强化。</a:t>
            </a:r>
            <a:endParaRPr lang="en-US" altLang="zh-CN" sz="2800" b="1" dirty="0">
              <a:solidFill>
                <a:srgbClr val="0000FF"/>
              </a:solidFill>
              <a:latin typeface="楷体" panose="02010609060101010101" pitchFamily="49" charset="-122"/>
              <a:ea typeface="楷体" panose="02010609060101010101" pitchFamily="49" charset="-122"/>
            </a:endParaRPr>
          </a:p>
          <a:p>
            <a:pPr algn="ctr">
              <a:lnSpc>
                <a:spcPct val="150000"/>
              </a:lnSpc>
            </a:pPr>
            <a:r>
              <a:rPr lang="zh-CN" altLang="en-US" sz="2800" b="1" dirty="0">
                <a:solidFill>
                  <a:srgbClr val="0000FF"/>
                </a:solidFill>
                <a:latin typeface="楷体" panose="02010609060101010101" pitchFamily="49" charset="-122"/>
                <a:ea typeface="楷体" panose="02010609060101010101" pitchFamily="49" charset="-122"/>
              </a:rPr>
              <a:t>禁止学生凭感觉做题。</a:t>
            </a:r>
            <a:endParaRPr lang="zh-CN" altLang="en-US" sz="2800" b="1" dirty="0">
              <a:solidFill>
                <a:srgbClr val="0000FF"/>
              </a:solidFill>
              <a:latin typeface="楷体" panose="02010609060101010101" pitchFamily="49" charset="-122"/>
              <a:ea typeface="楷体" panose="02010609060101010101" pitchFamily="49" charset="-122"/>
            </a:endParaRPr>
          </a:p>
        </p:txBody>
      </p:sp>
      <p:sp>
        <p:nvSpPr>
          <p:cNvPr id="3" name="Rectangle 2"/>
          <p:cNvSpPr>
            <a:spLocks noChangeArrowheads="1"/>
          </p:cNvSpPr>
          <p:nvPr/>
        </p:nvSpPr>
        <p:spPr bwMode="auto">
          <a:xfrm>
            <a:off x="3987800" y="1237917"/>
            <a:ext cx="4216400" cy="522287"/>
          </a:xfrm>
          <a:prstGeom prst="rect">
            <a:avLst/>
          </a:prstGeom>
          <a:blipFill dpi="0" rotWithShape="0">
            <a:blip r:embed="rId1"/>
            <a:srcRect/>
            <a:tile tx="0" ty="0" sx="100000" sy="100000" flip="none" algn="tl"/>
          </a:blipFill>
          <a:ln w="25400">
            <a:solidFill>
              <a:schemeClr val="tx1"/>
            </a:solidFill>
            <a:miter lim="800000"/>
          </a:ln>
        </p:spPr>
        <p:txBody>
          <a:bodyPr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800" b="1" dirty="0">
                <a:solidFill>
                  <a:srgbClr val="FF0000"/>
                </a:solidFill>
                <a:latin typeface="楷体" panose="02010609060101010101" pitchFamily="49" charset="-122"/>
                <a:ea typeface="楷体" panose="02010609060101010101" pitchFamily="49" charset="-122"/>
              </a:rPr>
              <a:t>选择题解题“四审”法</a:t>
            </a:r>
            <a:endParaRPr lang="zh-CN" altLang="en-US" sz="2800" b="1" dirty="0">
              <a:solidFill>
                <a:srgbClr val="FF0000"/>
              </a:solidFill>
              <a:latin typeface="楷体" panose="02010609060101010101" pitchFamily="49" charset="-122"/>
              <a:ea typeface="楷体" panose="02010609060101010101" pitchFamily="49"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773986" y="854592"/>
            <a:ext cx="10644027" cy="4195251"/>
          </a:xfrm>
          <a:prstGeom prst="rect">
            <a:avLst/>
          </a:prstGeom>
          <a:solidFill>
            <a:schemeClr val="bg1"/>
          </a:solidFill>
        </p:spPr>
        <p:txBody>
          <a:bodyPr wrap="square">
            <a:spAutoFit/>
          </a:bodyPr>
          <a:lstStyle/>
          <a:p>
            <a:pPr marL="133350" indent="-133350" algn="just">
              <a:lnSpc>
                <a:spcPct val="150000"/>
              </a:lnSpc>
            </a:pPr>
            <a:r>
              <a:rPr lang="en-US" altLang="zh-CN" sz="2000" b="1" kern="100" dirty="0">
                <a:effectLst/>
                <a:latin typeface="宋体" panose="02010600030101010101" pitchFamily="2" charset="-122"/>
                <a:ea typeface="等线" panose="02010600030101010101" charset="-122"/>
                <a:cs typeface="Times New Roman" panose="02020603050405020304" pitchFamily="18" charset="0"/>
              </a:rPr>
              <a:t>1.</a:t>
            </a:r>
            <a:r>
              <a:rPr lang="zh-CN" altLang="zh-CN" sz="2000" b="1" kern="100" dirty="0">
                <a:effectLst/>
                <a:latin typeface="等线" panose="02010600030101010101" charset="-122"/>
                <a:ea typeface="宋体" panose="02010600030101010101" pitchFamily="2" charset="-122"/>
                <a:cs typeface="Times New Roman" panose="02020603050405020304" pitchFamily="18" charset="0"/>
              </a:rPr>
              <a:t>在</a:t>
            </a:r>
            <a:r>
              <a:rPr lang="en-US" altLang="zh-CN" sz="2000" b="1" kern="100" dirty="0">
                <a:effectLst/>
                <a:latin typeface="等线" panose="02010600030101010101" charset="-122"/>
                <a:ea typeface="宋体" panose="02010600030101010101" pitchFamily="2" charset="-122"/>
                <a:cs typeface="Times New Roman" panose="02020603050405020304" pitchFamily="18" charset="0"/>
              </a:rPr>
              <a:t>5000</a:t>
            </a:r>
            <a:r>
              <a:rPr lang="zh-CN" altLang="zh-CN" sz="2000" b="1" kern="100" dirty="0">
                <a:effectLst/>
                <a:latin typeface="等线" panose="02010600030101010101" charset="-122"/>
                <a:ea typeface="宋体" panose="02010600030101010101" pitchFamily="2" charset="-122"/>
                <a:cs typeface="Times New Roman" panose="02020603050405020304" pitchFamily="18" charset="0"/>
              </a:rPr>
              <a:t>多年中华文明深厚基础上开辟和发展中国特色社会主义，“两个结合”是必由之路。毛泽东同志提出了“第一个结合”，这就是把马克思主义基本原理同中国具体实际相结合；习近平总书记提出了“第二个结合”，这就是把马克思主义基本原理同中华优秀传统文化相结合。对此，下列说法正确的是</a:t>
            </a:r>
            <a:endParaRPr lang="zh-CN" altLang="zh-CN" sz="2000" b="1" kern="100" dirty="0">
              <a:effectLst/>
              <a:latin typeface="等线" panose="02010600030101010101" charset="-122"/>
              <a:ea typeface="等线" panose="02010600030101010101" charset="-122"/>
              <a:cs typeface="Times New Roman" panose="02020603050405020304" pitchFamily="18" charset="0"/>
            </a:endParaRPr>
          </a:p>
          <a:p>
            <a:pPr indent="133350" algn="just">
              <a:lnSpc>
                <a:spcPct val="150000"/>
              </a:lnSpc>
            </a:pPr>
            <a:r>
              <a:rPr lang="en-US" altLang="zh-CN" sz="2000" b="1" kern="100" dirty="0">
                <a:effectLst/>
                <a:latin typeface="宋体" panose="02010600030101010101" pitchFamily="2" charset="-122"/>
                <a:ea typeface="等线" panose="02010600030101010101" charset="-122"/>
                <a:cs typeface="Times New Roman" panose="02020603050405020304" pitchFamily="18" charset="0"/>
              </a:rPr>
              <a:t>①</a:t>
            </a:r>
            <a:r>
              <a:rPr lang="zh-CN" altLang="zh-CN" sz="2000" b="1" kern="100" dirty="0">
                <a:effectLst/>
                <a:latin typeface="等线" panose="02010600030101010101" charset="-122"/>
                <a:ea typeface="宋体" panose="02010600030101010101" pitchFamily="2" charset="-122"/>
                <a:cs typeface="Times New Roman" panose="02020603050405020304" pitchFamily="18" charset="0"/>
              </a:rPr>
              <a:t>“两个结合”筑牢了道路根基，拓展了中国特色社会主义道路的文化根基</a:t>
            </a:r>
            <a:endParaRPr lang="zh-CN" altLang="zh-CN" sz="2000" b="1" kern="100" dirty="0">
              <a:effectLst/>
              <a:latin typeface="等线" panose="02010600030101010101" charset="-122"/>
              <a:ea typeface="等线" panose="02010600030101010101" charset="-122"/>
              <a:cs typeface="Times New Roman" panose="02020603050405020304" pitchFamily="18" charset="0"/>
            </a:endParaRPr>
          </a:p>
          <a:p>
            <a:pPr indent="133350" algn="just">
              <a:lnSpc>
                <a:spcPct val="150000"/>
              </a:lnSpc>
            </a:pPr>
            <a:r>
              <a:rPr lang="en-US" altLang="zh-CN" sz="2000" b="1" kern="100" dirty="0">
                <a:effectLst/>
                <a:latin typeface="宋体" panose="02010600030101010101" pitchFamily="2" charset="-122"/>
                <a:ea typeface="等线" panose="02010600030101010101" charset="-122"/>
                <a:cs typeface="Times New Roman" panose="02020603050405020304" pitchFamily="18" charset="0"/>
              </a:rPr>
              <a:t>②</a:t>
            </a:r>
            <a:r>
              <a:rPr lang="zh-CN" altLang="zh-CN" sz="2000" b="1" kern="100" dirty="0">
                <a:effectLst/>
                <a:latin typeface="等线" panose="02010600030101010101" charset="-122"/>
                <a:ea typeface="宋体" panose="02010600030101010101" pitchFamily="2" charset="-122"/>
                <a:cs typeface="Times New Roman" panose="02020603050405020304" pitchFamily="18" charset="0"/>
              </a:rPr>
              <a:t>“第一个结合”是一次思想解放，是新时代中国共产党人提出的新的重大命题</a:t>
            </a:r>
            <a:endParaRPr lang="zh-CN" altLang="zh-CN" sz="2000" b="1" kern="100" dirty="0">
              <a:effectLst/>
              <a:latin typeface="等线" panose="02010600030101010101" charset="-122"/>
              <a:ea typeface="等线" panose="02010600030101010101" charset="-122"/>
              <a:cs typeface="Times New Roman" panose="02020603050405020304" pitchFamily="18" charset="0"/>
            </a:endParaRPr>
          </a:p>
          <a:p>
            <a:pPr indent="133350" algn="just">
              <a:lnSpc>
                <a:spcPct val="150000"/>
              </a:lnSpc>
            </a:pPr>
            <a:r>
              <a:rPr lang="en-US" altLang="zh-CN" sz="2000" b="1" kern="100" dirty="0">
                <a:effectLst/>
                <a:latin typeface="宋体" panose="02010600030101010101" pitchFamily="2" charset="-122"/>
                <a:ea typeface="等线" panose="02010600030101010101" charset="-122"/>
                <a:cs typeface="Times New Roman" panose="02020603050405020304" pitchFamily="18" charset="0"/>
              </a:rPr>
              <a:t>③</a:t>
            </a:r>
            <a:r>
              <a:rPr lang="zh-CN" altLang="zh-CN" sz="2000" b="1" kern="100" dirty="0">
                <a:effectLst/>
                <a:latin typeface="等线" panose="02010600030101010101" charset="-122"/>
                <a:ea typeface="宋体" panose="02010600030101010101" pitchFamily="2" charset="-122"/>
                <a:cs typeface="Times New Roman" panose="02020603050405020304" pitchFamily="18" charset="0"/>
              </a:rPr>
              <a:t>“农村包围城市、武装夺取政权”的革命道路就是党坚持“第一个结合”的结果</a:t>
            </a:r>
            <a:endParaRPr lang="zh-CN" altLang="zh-CN" sz="2000" b="1" kern="100" dirty="0">
              <a:effectLst/>
              <a:latin typeface="等线" panose="02010600030101010101" charset="-122"/>
              <a:ea typeface="等线" panose="02010600030101010101" charset="-122"/>
              <a:cs typeface="Times New Roman" panose="02020603050405020304" pitchFamily="18" charset="0"/>
            </a:endParaRPr>
          </a:p>
          <a:p>
            <a:pPr indent="133350" algn="just">
              <a:lnSpc>
                <a:spcPct val="150000"/>
              </a:lnSpc>
            </a:pPr>
            <a:r>
              <a:rPr lang="en-US" altLang="zh-CN" sz="2000" b="1" kern="100" dirty="0">
                <a:effectLst/>
                <a:latin typeface="宋体" panose="02010600030101010101" pitchFamily="2" charset="-122"/>
                <a:ea typeface="等线" panose="02010600030101010101" charset="-122"/>
                <a:cs typeface="Times New Roman" panose="02020603050405020304" pitchFamily="18" charset="0"/>
              </a:rPr>
              <a:t>④</a:t>
            </a:r>
            <a:r>
              <a:rPr lang="zh-CN" altLang="zh-CN" sz="2000" b="1" kern="100" dirty="0">
                <a:effectLst/>
                <a:latin typeface="等线" panose="02010600030101010101" charset="-122"/>
                <a:ea typeface="宋体" panose="02010600030101010101" pitchFamily="2" charset="-122"/>
                <a:cs typeface="Times New Roman" panose="02020603050405020304" pitchFamily="18" charset="0"/>
              </a:rPr>
              <a:t>“第二个结合”是我们党一直明确强调的，是党的事业不断发展壮大的成功密钥</a:t>
            </a:r>
            <a:endParaRPr lang="zh-CN" altLang="zh-CN" sz="2000" b="1" kern="100" dirty="0">
              <a:effectLst/>
              <a:latin typeface="等线" panose="02010600030101010101" charset="-122"/>
              <a:ea typeface="等线" panose="02010600030101010101" charset="-122"/>
              <a:cs typeface="Times New Roman" panose="02020603050405020304" pitchFamily="18" charset="0"/>
            </a:endParaRPr>
          </a:p>
          <a:p>
            <a:pPr indent="133350" algn="just">
              <a:lnSpc>
                <a:spcPct val="150000"/>
              </a:lnSpc>
            </a:pPr>
            <a:r>
              <a:rPr lang="en-US" altLang="zh-CN" sz="2000" b="1" kern="100" dirty="0">
                <a:effectLst/>
                <a:latin typeface="宋体" panose="02010600030101010101" pitchFamily="2" charset="-122"/>
                <a:ea typeface="等线" panose="02010600030101010101" charset="-122"/>
                <a:cs typeface="Times New Roman" panose="02020603050405020304" pitchFamily="18" charset="0"/>
              </a:rPr>
              <a:t>A</a:t>
            </a:r>
            <a:r>
              <a:rPr lang="zh-CN" altLang="zh-CN" sz="2000" b="1" kern="100" dirty="0">
                <a:effectLst/>
                <a:latin typeface="等线" panose="02010600030101010101" charset="-122"/>
                <a:ea typeface="宋体" panose="02010600030101010101" pitchFamily="2" charset="-122"/>
                <a:cs typeface="Times New Roman" panose="02020603050405020304" pitchFamily="18" charset="0"/>
              </a:rPr>
              <a:t>．</a:t>
            </a:r>
            <a:r>
              <a:rPr lang="en-US" altLang="zh-CN" sz="2000" b="1" kern="100" dirty="0">
                <a:effectLst/>
                <a:latin typeface="等线" panose="02010600030101010101" charset="-122"/>
                <a:ea typeface="宋体" panose="02010600030101010101" pitchFamily="2" charset="-122"/>
                <a:cs typeface="Times New Roman" panose="02020603050405020304" pitchFamily="18" charset="0"/>
              </a:rPr>
              <a:t>①②	    B</a:t>
            </a:r>
            <a:r>
              <a:rPr lang="zh-CN" altLang="zh-CN" sz="2000" b="1" kern="100" dirty="0">
                <a:effectLst/>
                <a:latin typeface="等线" panose="02010600030101010101" charset="-122"/>
                <a:ea typeface="宋体" panose="02010600030101010101" pitchFamily="2" charset="-122"/>
                <a:cs typeface="Times New Roman" panose="02020603050405020304" pitchFamily="18" charset="0"/>
              </a:rPr>
              <a:t>．</a:t>
            </a:r>
            <a:r>
              <a:rPr lang="en-US" altLang="zh-CN" sz="2000" b="1" kern="100" dirty="0">
                <a:effectLst/>
                <a:latin typeface="等线" panose="02010600030101010101" charset="-122"/>
                <a:ea typeface="宋体" panose="02010600030101010101" pitchFamily="2" charset="-122"/>
                <a:cs typeface="Times New Roman" panose="02020603050405020304" pitchFamily="18" charset="0"/>
              </a:rPr>
              <a:t>①③	    C</a:t>
            </a:r>
            <a:r>
              <a:rPr lang="zh-CN" altLang="zh-CN" sz="2000" b="1" kern="100" dirty="0">
                <a:effectLst/>
                <a:latin typeface="等线" panose="02010600030101010101" charset="-122"/>
                <a:ea typeface="宋体" panose="02010600030101010101" pitchFamily="2" charset="-122"/>
                <a:cs typeface="Times New Roman" panose="02020603050405020304" pitchFamily="18" charset="0"/>
              </a:rPr>
              <a:t>．</a:t>
            </a:r>
            <a:r>
              <a:rPr lang="en-US" altLang="zh-CN" sz="2000" b="1" kern="100" dirty="0">
                <a:effectLst/>
                <a:latin typeface="等线" panose="02010600030101010101" charset="-122"/>
                <a:ea typeface="宋体" panose="02010600030101010101" pitchFamily="2" charset="-122"/>
                <a:cs typeface="Times New Roman" panose="02020603050405020304" pitchFamily="18" charset="0"/>
              </a:rPr>
              <a:t>②④	    D</a:t>
            </a:r>
            <a:r>
              <a:rPr lang="zh-CN" altLang="zh-CN" sz="2000" b="1" kern="100" dirty="0">
                <a:effectLst/>
                <a:latin typeface="等线" panose="02010600030101010101" charset="-122"/>
                <a:ea typeface="宋体" panose="02010600030101010101" pitchFamily="2" charset="-122"/>
                <a:cs typeface="Times New Roman" panose="02020603050405020304" pitchFamily="18" charset="0"/>
              </a:rPr>
              <a:t>．</a:t>
            </a:r>
            <a:r>
              <a:rPr lang="en-US" altLang="zh-CN" sz="2000" b="1" kern="100" dirty="0">
                <a:effectLst/>
                <a:latin typeface="等线" panose="02010600030101010101" charset="-122"/>
                <a:ea typeface="宋体" panose="02010600030101010101" pitchFamily="2" charset="-122"/>
                <a:cs typeface="Times New Roman" panose="02020603050405020304" pitchFamily="18" charset="0"/>
              </a:rPr>
              <a:t>③④</a:t>
            </a:r>
            <a:endParaRPr lang="zh-CN" altLang="zh-CN" sz="2000" b="1" kern="100" dirty="0">
              <a:effectLst/>
              <a:latin typeface="等线" panose="02010600030101010101" charset="-122"/>
              <a:ea typeface="等线" panose="02010600030101010101" charset="-122"/>
              <a:cs typeface="Times New Roman" panose="02020603050405020304" pitchFamily="18" charset="0"/>
            </a:endParaRPr>
          </a:p>
        </p:txBody>
      </p:sp>
      <p:sp>
        <p:nvSpPr>
          <p:cNvPr id="4" name="文本框 3"/>
          <p:cNvSpPr txBox="1"/>
          <p:nvPr/>
        </p:nvSpPr>
        <p:spPr>
          <a:xfrm>
            <a:off x="405763" y="73891"/>
            <a:ext cx="8113096" cy="707886"/>
          </a:xfrm>
          <a:prstGeom prst="rect">
            <a:avLst/>
          </a:prstGeom>
          <a:noFill/>
        </p:spPr>
        <p:txBody>
          <a:bodyPr wrap="square" rtlCol="0">
            <a:spAutoFit/>
          </a:bodyPr>
          <a:lstStyle/>
          <a:p>
            <a:r>
              <a:rPr lang="zh-CN" altLang="en-US" sz="2000" b="1" dirty="0">
                <a:solidFill>
                  <a:srgbClr val="FF0000"/>
                </a:solidFill>
                <a:latin typeface="楷体" panose="02010609060101010101" pitchFamily="49" charset="-122"/>
                <a:ea typeface="楷体" panose="02010609060101010101" pitchFamily="49" charset="-122"/>
              </a:rPr>
              <a:t>本题是期末试题第一题“第二个结合”基础上的进一步拓展，</a:t>
            </a:r>
            <a:endParaRPr lang="en-US" altLang="zh-CN" sz="2000" b="1" dirty="0">
              <a:solidFill>
                <a:srgbClr val="FF0000"/>
              </a:solidFill>
              <a:latin typeface="楷体" panose="02010609060101010101" pitchFamily="49" charset="-122"/>
              <a:ea typeface="楷体" panose="02010609060101010101" pitchFamily="49" charset="-122"/>
            </a:endParaRPr>
          </a:p>
          <a:p>
            <a:r>
              <a:rPr lang="zh-CN" altLang="en-US" sz="2000" b="1" dirty="0">
                <a:solidFill>
                  <a:srgbClr val="FF0000"/>
                </a:solidFill>
                <a:latin typeface="楷体" panose="02010609060101010101" pitchFamily="49" charset="-122"/>
                <a:ea typeface="楷体" panose="02010609060101010101" pitchFamily="49" charset="-122"/>
              </a:rPr>
              <a:t>突出考查教材的新增点、变化点、习思想与时俱进的丰富完善。</a:t>
            </a:r>
            <a:endParaRPr lang="zh-CN" altLang="en-US" sz="2000" b="1" dirty="0">
              <a:solidFill>
                <a:srgbClr val="FF0000"/>
              </a:solidFill>
              <a:latin typeface="楷体" panose="02010609060101010101" pitchFamily="49" charset="-122"/>
              <a:ea typeface="楷体" panose="02010609060101010101" pitchFamily="49" charset="-122"/>
            </a:endParaRPr>
          </a:p>
        </p:txBody>
      </p:sp>
      <p:sp>
        <p:nvSpPr>
          <p:cNvPr id="6" name="文本框 5"/>
          <p:cNvSpPr txBox="1"/>
          <p:nvPr/>
        </p:nvSpPr>
        <p:spPr>
          <a:xfrm>
            <a:off x="405763" y="5141324"/>
            <a:ext cx="11193759" cy="1292662"/>
          </a:xfrm>
          <a:prstGeom prst="rect">
            <a:avLst/>
          </a:prstGeom>
          <a:noFill/>
        </p:spPr>
        <p:txBody>
          <a:bodyPr wrap="square">
            <a:spAutoFit/>
          </a:bodyPr>
          <a:lstStyle/>
          <a:p>
            <a:pPr indent="266700" algn="just"/>
            <a:r>
              <a:rPr lang="en-US" altLang="zh-CN" sz="2400" b="1" kern="100" dirty="0">
                <a:solidFill>
                  <a:srgbClr val="115BD8"/>
                </a:solidFill>
                <a:effectLst/>
                <a:latin typeface="等线" panose="02010600030101010101" charset="-122"/>
                <a:ea typeface="宋体" panose="02010600030101010101" pitchFamily="2" charset="-122"/>
                <a:cs typeface="Times New Roman" panose="02020603050405020304" pitchFamily="18" charset="0"/>
              </a:rPr>
              <a:t>3</a:t>
            </a:r>
            <a:r>
              <a:rPr lang="zh-CN" altLang="en-US" sz="2400" b="1" kern="100" dirty="0">
                <a:solidFill>
                  <a:srgbClr val="115BD8"/>
                </a:solidFill>
                <a:effectLst/>
                <a:latin typeface="等线" panose="02010600030101010101" charset="-122"/>
                <a:ea typeface="宋体" panose="02010600030101010101" pitchFamily="2" charset="-122"/>
                <a:cs typeface="Times New Roman" panose="02020603050405020304" pitchFamily="18" charset="0"/>
              </a:rPr>
              <a:t>月</a:t>
            </a:r>
            <a:r>
              <a:rPr lang="en-US" altLang="zh-CN" sz="2400" b="1" kern="100" dirty="0">
                <a:solidFill>
                  <a:srgbClr val="115BD8"/>
                </a:solidFill>
                <a:effectLst/>
                <a:latin typeface="等线" panose="02010600030101010101" charset="-122"/>
                <a:ea typeface="宋体" panose="02010600030101010101" pitchFamily="2" charset="-122"/>
                <a:cs typeface="Times New Roman" panose="02020603050405020304" pitchFamily="18" charset="0"/>
              </a:rPr>
              <a:t>13</a:t>
            </a:r>
            <a:r>
              <a:rPr lang="zh-CN" altLang="en-US" sz="2400" b="1" kern="100" dirty="0">
                <a:solidFill>
                  <a:srgbClr val="115BD8"/>
                </a:solidFill>
                <a:effectLst/>
                <a:latin typeface="等线" panose="02010600030101010101" charset="-122"/>
                <a:ea typeface="宋体" panose="02010600030101010101" pitchFamily="2" charset="-122"/>
                <a:cs typeface="Times New Roman" panose="02020603050405020304" pitchFamily="18" charset="0"/>
              </a:rPr>
              <a:t>日教研：</a:t>
            </a:r>
            <a:endParaRPr lang="en-US" altLang="zh-CN" sz="2400" b="1" kern="100" dirty="0">
              <a:solidFill>
                <a:srgbClr val="115BD8"/>
              </a:solidFill>
              <a:effectLst/>
              <a:latin typeface="等线" panose="02010600030101010101" charset="-122"/>
              <a:ea typeface="宋体" panose="02010600030101010101" pitchFamily="2" charset="-122"/>
              <a:cs typeface="Times New Roman" panose="02020603050405020304" pitchFamily="18" charset="0"/>
            </a:endParaRPr>
          </a:p>
          <a:p>
            <a:pPr indent="266700" algn="just"/>
            <a:r>
              <a:rPr lang="zh-CN" altLang="zh-CN" sz="1800" b="1" kern="100" dirty="0">
                <a:effectLst/>
                <a:latin typeface="等线" panose="02010600030101010101" charset="-122"/>
                <a:ea typeface="宋体" panose="02010600030101010101" pitchFamily="2" charset="-122"/>
                <a:cs typeface="Times New Roman" panose="02020603050405020304" pitchFamily="18" charset="0"/>
              </a:rPr>
              <a:t>“第二个结合”虽然在党的实践历程中存在，但此前一直没有明确、系统化地提出</a:t>
            </a:r>
            <a:r>
              <a:rPr lang="zh-CN" altLang="en-US" sz="1800" b="1" kern="100" dirty="0">
                <a:effectLst/>
                <a:latin typeface="等线" panose="02010600030101010101" charset="-122"/>
                <a:ea typeface="宋体" panose="02010600030101010101" pitchFamily="2" charset="-122"/>
                <a:cs typeface="Times New Roman" panose="02020603050405020304" pitchFamily="18" charset="0"/>
              </a:rPr>
              <a:t>。</a:t>
            </a:r>
            <a:endParaRPr lang="en-US" altLang="zh-CN" sz="1800" b="1" kern="100" dirty="0">
              <a:effectLst/>
              <a:latin typeface="等线" panose="02010600030101010101" charset="-122"/>
              <a:ea typeface="宋体" panose="02010600030101010101" pitchFamily="2" charset="-122"/>
              <a:cs typeface="Times New Roman" panose="02020603050405020304" pitchFamily="18" charset="0"/>
            </a:endParaRPr>
          </a:p>
          <a:p>
            <a:pPr indent="266700" algn="just"/>
            <a:r>
              <a:rPr lang="zh-CN" altLang="zh-CN" sz="1800" b="1" kern="100" dirty="0">
                <a:effectLst/>
                <a:latin typeface="等线" panose="02010600030101010101" charset="-122"/>
                <a:ea typeface="宋体" panose="02010600030101010101" pitchFamily="2" charset="-122"/>
                <a:cs typeface="Times New Roman" panose="02020603050405020304" pitchFamily="18" charset="0"/>
              </a:rPr>
              <a:t>“第一个结合”是我们党一直强调并坚持的</a:t>
            </a:r>
            <a:r>
              <a:rPr lang="en-US" altLang="zh-CN" sz="1800" b="1" kern="100" dirty="0">
                <a:effectLst/>
                <a:latin typeface="等线" panose="02010600030101010101" charset="-122"/>
                <a:ea typeface="宋体" panose="02010600030101010101" pitchFamily="2" charset="-122"/>
                <a:cs typeface="Times New Roman" panose="02020603050405020304" pitchFamily="18" charset="0"/>
              </a:rPr>
              <a:t>,</a:t>
            </a:r>
            <a:r>
              <a:rPr lang="zh-CN" altLang="zh-CN" sz="1800" b="1" kern="100" dirty="0">
                <a:effectLst/>
                <a:latin typeface="等线" panose="02010600030101010101" charset="-122"/>
                <a:ea typeface="宋体" panose="02010600030101010101" pitchFamily="2" charset="-122"/>
                <a:cs typeface="Times New Roman" panose="02020603050405020304" pitchFamily="18" charset="0"/>
              </a:rPr>
              <a:t>是党的事业不断发展壮大的成功密钥，</a:t>
            </a:r>
            <a:r>
              <a:rPr lang="en-US" altLang="zh-CN" sz="1800" b="1" kern="100" dirty="0">
                <a:effectLst/>
                <a:latin typeface="等线" panose="02010600030101010101" charset="-122"/>
                <a:ea typeface="宋体" panose="02010600030101010101" pitchFamily="2" charset="-122"/>
                <a:cs typeface="Times New Roman" panose="02020603050405020304" pitchFamily="18" charset="0"/>
              </a:rPr>
              <a:t>④</a:t>
            </a:r>
            <a:r>
              <a:rPr lang="zh-CN" altLang="zh-CN" sz="1800" b="1" kern="100" dirty="0">
                <a:effectLst/>
                <a:latin typeface="等线" panose="02010600030101010101" charset="-122"/>
                <a:ea typeface="宋体" panose="02010600030101010101" pitchFamily="2" charset="-122"/>
                <a:cs typeface="Times New Roman" panose="02020603050405020304" pitchFamily="18" charset="0"/>
              </a:rPr>
              <a:t>错误。</a:t>
            </a:r>
            <a:endParaRPr lang="en-US" altLang="zh-CN" sz="1800" b="1" kern="100" dirty="0">
              <a:effectLst/>
              <a:latin typeface="等线" panose="02010600030101010101" charset="-122"/>
              <a:ea typeface="宋体" panose="02010600030101010101" pitchFamily="2" charset="-122"/>
              <a:cs typeface="Times New Roman" panose="02020603050405020304" pitchFamily="18" charset="0"/>
            </a:endParaRPr>
          </a:p>
          <a:p>
            <a:pPr indent="266700" algn="just"/>
            <a:r>
              <a:rPr lang="en-US" altLang="zh-CN" sz="1800" b="1" kern="100" dirty="0">
                <a:effectLst/>
                <a:latin typeface="等线" panose="02010600030101010101" charset="-122"/>
                <a:ea typeface="宋体" panose="02010600030101010101" pitchFamily="2" charset="-122"/>
                <a:cs typeface="Times New Roman" panose="02020603050405020304" pitchFamily="18" charset="0"/>
              </a:rPr>
              <a:t>①③</a:t>
            </a:r>
            <a:r>
              <a:rPr lang="zh-CN" altLang="zh-CN" sz="1800" b="1" kern="100" dirty="0">
                <a:effectLst/>
                <a:latin typeface="等线" panose="02010600030101010101" charset="-122"/>
                <a:ea typeface="宋体" panose="02010600030101010101" pitchFamily="2" charset="-122"/>
                <a:cs typeface="Times New Roman" panose="02020603050405020304" pitchFamily="18" charset="0"/>
              </a:rPr>
              <a:t>是对“两个结合”的正确理解。</a:t>
            </a:r>
            <a:endParaRPr lang="zh-CN" altLang="zh-CN" sz="1400" b="1" kern="100" dirty="0">
              <a:effectLst/>
              <a:latin typeface="等线" panose="02010600030101010101" charset="-122"/>
              <a:ea typeface="等线" panose="02010600030101010101" charset="-122"/>
              <a:cs typeface="Times New Roman" panose="02020603050405020304" pitchFamily="18" charset="0"/>
            </a:endParaRPr>
          </a:p>
        </p:txBody>
      </p:sp>
      <p:sp>
        <p:nvSpPr>
          <p:cNvPr id="7" name="矩形 6"/>
          <p:cNvSpPr/>
          <p:nvPr/>
        </p:nvSpPr>
        <p:spPr>
          <a:xfrm>
            <a:off x="178150" y="946625"/>
            <a:ext cx="646331" cy="923330"/>
          </a:xfrm>
          <a:prstGeom prst="rect">
            <a:avLst/>
          </a:prstGeom>
          <a:noFill/>
        </p:spPr>
        <p:txBody>
          <a:bodyPr wrap="none" lIns="91440" tIns="45720" rIns="91440" bIns="45720">
            <a:spAutoFit/>
          </a:bodyPr>
          <a:lstStyle/>
          <a:p>
            <a:pPr algn="ctr"/>
            <a:r>
              <a:rPr lang="en-US" altLang="zh-CN" sz="5400" b="0" cap="none" spc="0" dirty="0">
                <a:ln w="0"/>
                <a:solidFill>
                  <a:schemeClr val="accent1"/>
                </a:solidFill>
                <a:effectLst>
                  <a:outerShdw blurRad="38100" dist="25400" dir="5400000" algn="ctr" rotWithShape="0">
                    <a:srgbClr val="6E747A">
                      <a:alpha val="43000"/>
                    </a:srgbClr>
                  </a:outerShdw>
                </a:effectLst>
              </a:rPr>
              <a:t>B</a:t>
            </a:r>
            <a:endParaRPr lang="zh-CN" altLang="en-US" sz="5400" b="0" cap="none" spc="0" dirty="0">
              <a:ln w="0"/>
              <a:solidFill>
                <a:schemeClr val="accent1"/>
              </a:solidFill>
              <a:effectLst>
                <a:outerShdw blurRad="38100" dist="25400" dir="5400000" algn="ctr" rotWithShape="0">
                  <a:srgbClr val="6E747A">
                    <a:alpha val="43000"/>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0" y="0"/>
            <a:ext cx="6686550" cy="2609850"/>
          </a:xfrm>
          <a:prstGeom prst="rect">
            <a:avLst/>
          </a:prstGeom>
        </p:spPr>
      </p:pic>
      <p:pic>
        <p:nvPicPr>
          <p:cNvPr id="5" name="图片 4"/>
          <p:cNvPicPr>
            <a:picLocks noChangeAspect="1"/>
          </p:cNvPicPr>
          <p:nvPr/>
        </p:nvPicPr>
        <p:blipFill>
          <a:blip r:embed="rId2"/>
          <a:stretch>
            <a:fillRect/>
          </a:stretch>
        </p:blipFill>
        <p:spPr>
          <a:xfrm>
            <a:off x="3990815" y="2513330"/>
            <a:ext cx="7876319" cy="400562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711868" y="1850809"/>
            <a:ext cx="10435593" cy="3416320"/>
          </a:xfrm>
          <a:prstGeom prst="rect">
            <a:avLst/>
          </a:prstGeom>
          <a:noFill/>
        </p:spPr>
        <p:txBody>
          <a:bodyPr wrap="square">
            <a:spAutoFit/>
          </a:bodyPr>
          <a:lstStyle/>
          <a:p>
            <a:pPr marL="133350" indent="-133350" algn="just"/>
            <a:r>
              <a:rPr lang="zh-CN" altLang="en-US" sz="2400" b="1" kern="100" dirty="0">
                <a:effectLst/>
                <a:latin typeface="宋体" panose="02010600030101010101" pitchFamily="2" charset="-122"/>
                <a:ea typeface="宋体" panose="02010600030101010101" pitchFamily="2" charset="-122"/>
                <a:cs typeface="Times New Roman" panose="02020603050405020304" pitchFamily="18" charset="0"/>
              </a:rPr>
              <a:t>期末</a:t>
            </a:r>
            <a:r>
              <a:rPr lang="en-US" altLang="zh-CN" sz="2400" b="1" kern="100" dirty="0">
                <a:effectLst/>
                <a:latin typeface="宋体" panose="02010600030101010101" pitchFamily="2" charset="-122"/>
                <a:ea typeface="宋体" panose="02010600030101010101" pitchFamily="2" charset="-122"/>
                <a:cs typeface="Times New Roman" panose="02020603050405020304" pitchFamily="18" charset="0"/>
              </a:rPr>
              <a:t>1.</a:t>
            </a:r>
            <a:r>
              <a:rPr lang="zh-CN" altLang="en-US" sz="2400" b="1" kern="100" dirty="0">
                <a:effectLst/>
                <a:latin typeface="宋体" panose="02010600030101010101" pitchFamily="2" charset="-122"/>
                <a:ea typeface="宋体" panose="02010600030101010101" pitchFamily="2" charset="-122"/>
                <a:cs typeface="Times New Roman" panose="02020603050405020304" pitchFamily="18" charset="0"/>
              </a:rPr>
              <a:t>从“现代化的迟到国”到“世界现代化的增长极”，我们坚持和发展中国特色社会主义，成功创造了中国式现代化这一人类文明新形态，让中华文明再次站到人类文明进步的前沿。</a:t>
            </a:r>
            <a:r>
              <a:rPr lang="zh-CN" altLang="en-US" sz="2400" b="1" kern="100"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rPr>
              <a:t>我们要在推进和拓展中国式现代化中</a:t>
            </a:r>
            <a:r>
              <a:rPr lang="zh-CN" altLang="en-US" sz="2400" b="1" kern="100" dirty="0">
                <a:effectLst/>
                <a:latin typeface="宋体" panose="02010600030101010101" pitchFamily="2" charset="-122"/>
                <a:ea typeface="宋体" panose="02010600030101010101" pitchFamily="2" charset="-122"/>
                <a:cs typeface="Times New Roman" panose="02020603050405020304" pitchFamily="18" charset="0"/>
              </a:rPr>
              <a:t>，不断丰富和发展人类文明新形态。这要求我们</a:t>
            </a:r>
            <a:endParaRPr lang="zh-CN" altLang="en-US" sz="2400" b="1" kern="100" dirty="0">
              <a:effectLst/>
              <a:latin typeface="宋体" panose="02010600030101010101" pitchFamily="2" charset="-122"/>
              <a:ea typeface="宋体" panose="02010600030101010101" pitchFamily="2" charset="-122"/>
              <a:cs typeface="Times New Roman" panose="02020603050405020304" pitchFamily="18" charset="0"/>
            </a:endParaRPr>
          </a:p>
          <a:p>
            <a:pPr marL="133350" indent="-133350" algn="just"/>
            <a:r>
              <a:rPr lang="zh-CN" altLang="en-US" sz="2400" b="1" kern="100" dirty="0">
                <a:effectLst/>
                <a:latin typeface="宋体" panose="02010600030101010101" pitchFamily="2" charset="-122"/>
                <a:ea typeface="宋体" panose="02010600030101010101" pitchFamily="2" charset="-122"/>
                <a:cs typeface="Times New Roman" panose="02020603050405020304" pitchFamily="18" charset="0"/>
              </a:rPr>
              <a:t>①</a:t>
            </a:r>
            <a:r>
              <a:rPr lang="zh-CN" altLang="en-US" sz="2400" b="1" kern="100"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rPr>
              <a:t>坚持把马克思主义基本原理同中华优秀传统文化相结合</a:t>
            </a:r>
            <a:endParaRPr lang="zh-CN" altLang="en-US" sz="2400" b="1" kern="100"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endParaRPr>
          </a:p>
          <a:p>
            <a:pPr marL="133350" indent="-133350" algn="just"/>
            <a:r>
              <a:rPr lang="zh-CN" altLang="en-US" sz="2400" b="1" kern="100" dirty="0">
                <a:effectLst/>
                <a:latin typeface="宋体" panose="02010600030101010101" pitchFamily="2" charset="-122"/>
                <a:ea typeface="宋体" panose="02010600030101010101" pitchFamily="2" charset="-122"/>
                <a:cs typeface="Times New Roman" panose="02020603050405020304" pitchFamily="18" charset="0"/>
              </a:rPr>
              <a:t>②借鉴吸收人类一切文化成果，推动建设更加美好的世界</a:t>
            </a:r>
            <a:endParaRPr lang="zh-CN" altLang="en-US" sz="2400" b="1" kern="100" dirty="0">
              <a:effectLst/>
              <a:latin typeface="宋体" panose="02010600030101010101" pitchFamily="2" charset="-122"/>
              <a:ea typeface="宋体" panose="02010600030101010101" pitchFamily="2" charset="-122"/>
              <a:cs typeface="Times New Roman" panose="02020603050405020304" pitchFamily="18" charset="0"/>
            </a:endParaRPr>
          </a:p>
          <a:p>
            <a:pPr marL="133350" indent="-133350" algn="just"/>
            <a:r>
              <a:rPr lang="zh-CN" altLang="en-US" sz="2400" b="1" kern="100" dirty="0">
                <a:effectLst/>
                <a:latin typeface="宋体" panose="02010600030101010101" pitchFamily="2" charset="-122"/>
                <a:ea typeface="宋体" panose="02010600030101010101" pitchFamily="2" charset="-122"/>
                <a:cs typeface="Times New Roman" panose="02020603050405020304" pitchFamily="18" charset="0"/>
              </a:rPr>
              <a:t>③推进实践基础上的理论创新，丰富和发展中国式现代化理论</a:t>
            </a:r>
            <a:endParaRPr lang="zh-CN" altLang="en-US" sz="2400" b="1" kern="100" dirty="0">
              <a:effectLst/>
              <a:latin typeface="宋体" panose="02010600030101010101" pitchFamily="2" charset="-122"/>
              <a:ea typeface="宋体" panose="02010600030101010101" pitchFamily="2" charset="-122"/>
              <a:cs typeface="Times New Roman" panose="02020603050405020304" pitchFamily="18" charset="0"/>
            </a:endParaRPr>
          </a:p>
          <a:p>
            <a:pPr marL="133350" indent="-133350" algn="just"/>
            <a:r>
              <a:rPr lang="zh-CN" altLang="en-US" sz="2400" b="1" kern="100" dirty="0">
                <a:effectLst/>
                <a:latin typeface="宋体" panose="02010600030101010101" pitchFamily="2" charset="-122"/>
                <a:ea typeface="宋体" panose="02010600030101010101" pitchFamily="2" charset="-122"/>
                <a:cs typeface="Times New Roman" panose="02020603050405020304" pitchFamily="18" charset="0"/>
              </a:rPr>
              <a:t>④坚持物质文明、政治文明、精神文明、生态文明优先发展</a:t>
            </a:r>
            <a:endParaRPr lang="zh-CN" altLang="en-US" sz="2400" b="1" kern="100" dirty="0">
              <a:effectLst/>
              <a:latin typeface="宋体" panose="02010600030101010101" pitchFamily="2" charset="-122"/>
              <a:ea typeface="宋体" panose="02010600030101010101" pitchFamily="2" charset="-122"/>
              <a:cs typeface="Times New Roman" panose="02020603050405020304" pitchFamily="18" charset="0"/>
            </a:endParaRPr>
          </a:p>
          <a:p>
            <a:pPr marL="133350" indent="-133350" algn="just"/>
            <a:r>
              <a:rPr lang="en-US" altLang="zh-CN" sz="2400" b="1" kern="100" dirty="0">
                <a:effectLst/>
                <a:latin typeface="宋体" panose="02010600030101010101" pitchFamily="2" charset="-122"/>
                <a:ea typeface="宋体" panose="02010600030101010101" pitchFamily="2" charset="-122"/>
                <a:cs typeface="Times New Roman" panose="02020603050405020304" pitchFamily="18" charset="0"/>
              </a:rPr>
              <a:t>A</a:t>
            </a:r>
            <a:r>
              <a:rPr lang="zh-CN" altLang="en-US" sz="2400" b="1" kern="100" dirty="0">
                <a:effectLst/>
                <a:latin typeface="宋体" panose="02010600030101010101" pitchFamily="2" charset="-122"/>
                <a:ea typeface="宋体" panose="02010600030101010101" pitchFamily="2" charset="-122"/>
                <a:cs typeface="Times New Roman" panose="02020603050405020304" pitchFamily="18" charset="0"/>
              </a:rPr>
              <a:t>．①②	        </a:t>
            </a:r>
            <a:r>
              <a:rPr lang="en-US" altLang="zh-CN" sz="2400" b="1" kern="100" dirty="0">
                <a:effectLst/>
                <a:latin typeface="宋体" panose="02010600030101010101" pitchFamily="2" charset="-122"/>
                <a:ea typeface="宋体" panose="02010600030101010101" pitchFamily="2" charset="-122"/>
                <a:cs typeface="Times New Roman" panose="02020603050405020304" pitchFamily="18" charset="0"/>
              </a:rPr>
              <a:t>B</a:t>
            </a:r>
            <a:r>
              <a:rPr lang="zh-CN" altLang="en-US" sz="2400" b="1" kern="100" dirty="0">
                <a:effectLst/>
                <a:latin typeface="宋体" panose="02010600030101010101" pitchFamily="2" charset="-122"/>
                <a:ea typeface="宋体" panose="02010600030101010101" pitchFamily="2" charset="-122"/>
                <a:cs typeface="Times New Roman" panose="02020603050405020304" pitchFamily="18" charset="0"/>
              </a:rPr>
              <a:t>．①③	        </a:t>
            </a:r>
            <a:r>
              <a:rPr lang="en-US" altLang="zh-CN" sz="2400" b="1" kern="100" dirty="0">
                <a:effectLst/>
                <a:latin typeface="宋体" panose="02010600030101010101" pitchFamily="2" charset="-122"/>
                <a:ea typeface="宋体" panose="02010600030101010101" pitchFamily="2" charset="-122"/>
                <a:cs typeface="Times New Roman" panose="02020603050405020304" pitchFamily="18" charset="0"/>
              </a:rPr>
              <a:t>C</a:t>
            </a:r>
            <a:r>
              <a:rPr lang="zh-CN" altLang="en-US" sz="2400" b="1" kern="100" dirty="0">
                <a:effectLst/>
                <a:latin typeface="宋体" panose="02010600030101010101" pitchFamily="2" charset="-122"/>
                <a:ea typeface="宋体" panose="02010600030101010101" pitchFamily="2" charset="-122"/>
                <a:cs typeface="Times New Roman" panose="02020603050405020304" pitchFamily="18" charset="0"/>
              </a:rPr>
              <a:t>．②④	        </a:t>
            </a:r>
            <a:r>
              <a:rPr lang="en-US" altLang="zh-CN" sz="2400" b="1" kern="100" dirty="0">
                <a:effectLst/>
                <a:latin typeface="宋体" panose="02010600030101010101" pitchFamily="2" charset="-122"/>
                <a:ea typeface="宋体" panose="02010600030101010101" pitchFamily="2" charset="-122"/>
                <a:cs typeface="Times New Roman" panose="02020603050405020304" pitchFamily="18" charset="0"/>
              </a:rPr>
              <a:t>D</a:t>
            </a:r>
            <a:r>
              <a:rPr lang="zh-CN" altLang="en-US" sz="2400" b="1" kern="100" dirty="0">
                <a:effectLst/>
                <a:latin typeface="宋体" panose="02010600030101010101" pitchFamily="2" charset="-122"/>
                <a:ea typeface="宋体" panose="02010600030101010101" pitchFamily="2" charset="-122"/>
                <a:cs typeface="Times New Roman" panose="02020603050405020304" pitchFamily="18" charset="0"/>
              </a:rPr>
              <a:t>．③④</a:t>
            </a:r>
            <a:endParaRPr lang="zh-CN" altLang="en-US" sz="2400" b="1" kern="100" dirty="0">
              <a:effectLst/>
              <a:latin typeface="宋体" panose="02010600030101010101" pitchFamily="2" charset="-122"/>
              <a:ea typeface="宋体" panose="02010600030101010101" pitchFamily="2" charset="-122"/>
              <a:cs typeface="Times New Roman" panose="02020603050405020304" pitchFamily="18" charset="0"/>
            </a:endParaRPr>
          </a:p>
        </p:txBody>
      </p:sp>
      <p:sp>
        <p:nvSpPr>
          <p:cNvPr id="5" name="文本框 4"/>
          <p:cNvSpPr txBox="1"/>
          <p:nvPr/>
        </p:nvSpPr>
        <p:spPr>
          <a:xfrm>
            <a:off x="711868" y="222254"/>
            <a:ext cx="10151645" cy="559769"/>
          </a:xfrm>
          <a:prstGeom prst="rect">
            <a:avLst/>
          </a:prstGeom>
          <a:noFill/>
        </p:spPr>
        <p:txBody>
          <a:bodyPr wrap="square">
            <a:spAutoFit/>
          </a:bodyPr>
          <a:lstStyle/>
          <a:p>
            <a:pPr algn="ctr">
              <a:lnSpc>
                <a:spcPct val="150000"/>
              </a:lnSpc>
            </a:pPr>
            <a:r>
              <a:rPr lang="zh-CN" altLang="en-US" sz="2400" b="1" dirty="0">
                <a:solidFill>
                  <a:srgbClr val="0000FF"/>
                </a:solidFill>
                <a:latin typeface="楷体" panose="02010609060101010101" pitchFamily="49" charset="-122"/>
                <a:ea typeface="楷体" panose="02010609060101010101" pitchFamily="49" charset="-122"/>
              </a:rPr>
              <a:t>一审</a:t>
            </a:r>
            <a:r>
              <a:rPr lang="zh-CN" altLang="en-US" sz="2400" b="1" dirty="0">
                <a:solidFill>
                  <a:srgbClr val="FF0000"/>
                </a:solidFill>
                <a:latin typeface="楷体" panose="02010609060101010101" pitchFamily="49" charset="-122"/>
                <a:ea typeface="楷体" panose="02010609060101010101" pitchFamily="49" charset="-122"/>
              </a:rPr>
              <a:t>题肢</a:t>
            </a:r>
            <a:r>
              <a:rPr lang="zh-CN" altLang="en-US" sz="2400" b="1" dirty="0">
                <a:solidFill>
                  <a:srgbClr val="0000FF"/>
                </a:solidFill>
                <a:latin typeface="楷体" panose="02010609060101010101" pitchFamily="49" charset="-122"/>
                <a:ea typeface="楷体" panose="02010609060101010101" pitchFamily="49" charset="-122"/>
              </a:rPr>
              <a:t>排错误 二审</a:t>
            </a:r>
            <a:r>
              <a:rPr lang="zh-CN" altLang="en-US" sz="2400" b="1" dirty="0">
                <a:solidFill>
                  <a:srgbClr val="FF0000"/>
                </a:solidFill>
                <a:latin typeface="楷体" panose="02010609060101010101" pitchFamily="49" charset="-122"/>
                <a:ea typeface="楷体" panose="02010609060101010101" pitchFamily="49" charset="-122"/>
              </a:rPr>
              <a:t>设问</a:t>
            </a:r>
            <a:r>
              <a:rPr lang="zh-CN" altLang="en-US" sz="2400" b="1" dirty="0">
                <a:solidFill>
                  <a:srgbClr val="0000FF"/>
                </a:solidFill>
                <a:latin typeface="楷体" panose="02010609060101010101" pitchFamily="49" charset="-122"/>
                <a:ea typeface="楷体" panose="02010609060101010101" pitchFamily="49" charset="-122"/>
              </a:rPr>
              <a:t>明指向 三审</a:t>
            </a:r>
            <a:r>
              <a:rPr lang="zh-CN" altLang="en-US" sz="2400" b="1" dirty="0">
                <a:solidFill>
                  <a:srgbClr val="FF0000"/>
                </a:solidFill>
                <a:latin typeface="楷体" panose="02010609060101010101" pitchFamily="49" charset="-122"/>
                <a:ea typeface="楷体" panose="02010609060101010101" pitchFamily="49" charset="-122"/>
              </a:rPr>
              <a:t>材料</a:t>
            </a:r>
            <a:r>
              <a:rPr lang="zh-CN" altLang="en-US" sz="2400" b="1" dirty="0">
                <a:solidFill>
                  <a:srgbClr val="0000FF"/>
                </a:solidFill>
                <a:latin typeface="楷体" panose="02010609060101010101" pitchFamily="49" charset="-122"/>
                <a:ea typeface="楷体" panose="02010609060101010101" pitchFamily="49" charset="-122"/>
              </a:rPr>
              <a:t>抓关键 再审</a:t>
            </a:r>
            <a:r>
              <a:rPr lang="zh-CN" altLang="en-US" sz="2400" b="1" dirty="0">
                <a:solidFill>
                  <a:srgbClr val="FF0000"/>
                </a:solidFill>
                <a:latin typeface="楷体" panose="02010609060101010101" pitchFamily="49" charset="-122"/>
                <a:ea typeface="楷体" panose="02010609060101010101" pitchFamily="49" charset="-122"/>
              </a:rPr>
              <a:t>题肢</a:t>
            </a:r>
            <a:r>
              <a:rPr lang="zh-CN" altLang="en-US" sz="2400" b="1" dirty="0">
                <a:solidFill>
                  <a:srgbClr val="0000FF"/>
                </a:solidFill>
                <a:latin typeface="楷体" panose="02010609060101010101" pitchFamily="49" charset="-122"/>
                <a:ea typeface="楷体" panose="02010609060101010101" pitchFamily="49" charset="-122"/>
              </a:rPr>
              <a:t>定选项</a:t>
            </a:r>
            <a:endParaRPr lang="en-US" altLang="zh-CN" sz="2400" b="1" dirty="0">
              <a:solidFill>
                <a:srgbClr val="0000FF"/>
              </a:solidFill>
              <a:latin typeface="楷体" panose="02010609060101010101" pitchFamily="49" charset="-122"/>
              <a:ea typeface="楷体" panose="02010609060101010101" pitchFamily="49" charset="-122"/>
            </a:endParaRPr>
          </a:p>
        </p:txBody>
      </p:sp>
      <p:sp>
        <p:nvSpPr>
          <p:cNvPr id="6" name="矩形 5"/>
          <p:cNvSpPr/>
          <p:nvPr/>
        </p:nvSpPr>
        <p:spPr>
          <a:xfrm>
            <a:off x="178150" y="946625"/>
            <a:ext cx="646331" cy="923330"/>
          </a:xfrm>
          <a:prstGeom prst="rect">
            <a:avLst/>
          </a:prstGeom>
          <a:noFill/>
        </p:spPr>
        <p:txBody>
          <a:bodyPr wrap="none" lIns="91440" tIns="45720" rIns="91440" bIns="45720">
            <a:spAutoFit/>
          </a:bodyPr>
          <a:lstStyle/>
          <a:p>
            <a:pPr algn="ctr"/>
            <a:r>
              <a:rPr lang="en-US" altLang="zh-CN" sz="5400" b="0" cap="none" spc="0" dirty="0">
                <a:ln w="0"/>
                <a:solidFill>
                  <a:schemeClr val="accent1"/>
                </a:solidFill>
                <a:effectLst>
                  <a:outerShdw blurRad="38100" dist="25400" dir="5400000" algn="ctr" rotWithShape="0">
                    <a:srgbClr val="6E747A">
                      <a:alpha val="43000"/>
                    </a:srgbClr>
                  </a:outerShdw>
                </a:effectLst>
              </a:rPr>
              <a:t>B</a:t>
            </a:r>
            <a:endParaRPr lang="zh-CN" altLang="en-US" sz="5400" b="0" cap="none" spc="0" dirty="0">
              <a:ln w="0"/>
              <a:solidFill>
                <a:schemeClr val="accent1"/>
              </a:solidFill>
              <a:effectLst>
                <a:outerShdw blurRad="38100" dist="25400" dir="5400000" algn="ctr" rotWithShape="0">
                  <a:srgbClr val="6E747A">
                    <a:alpha val="43000"/>
                  </a:srgbClr>
                </a:outerShdw>
              </a:effectLst>
            </a:endParaRPr>
          </a:p>
        </p:txBody>
      </p:sp>
      <p:sp>
        <p:nvSpPr>
          <p:cNvPr id="2" name="文本框 1"/>
          <p:cNvSpPr txBox="1"/>
          <p:nvPr/>
        </p:nvSpPr>
        <p:spPr>
          <a:xfrm>
            <a:off x="178150" y="5375357"/>
            <a:ext cx="11904259" cy="1015663"/>
          </a:xfrm>
          <a:prstGeom prst="rect">
            <a:avLst/>
          </a:prstGeom>
          <a:noFill/>
        </p:spPr>
        <p:txBody>
          <a:bodyPr wrap="square" rtlCol="0">
            <a:spAutoFit/>
          </a:bodyPr>
          <a:lstStyle/>
          <a:p>
            <a:r>
              <a:rPr lang="zh-CN" altLang="en-US" sz="2000" b="1" dirty="0">
                <a:solidFill>
                  <a:srgbClr val="FF0000"/>
                </a:solidFill>
                <a:latin typeface="楷体" panose="02010609060101010101" pitchFamily="49" charset="-122"/>
                <a:ea typeface="楷体" panose="02010609060101010101" pitchFamily="49" charset="-122"/>
              </a:rPr>
              <a:t>本题话题是中国式现代化，但不局限于这一文明新形态刚提出时对其是什么的考查，而是随着社会发展，关注如何深入推进和拓展（怎么做）。</a:t>
            </a:r>
            <a:endParaRPr lang="en-US" altLang="zh-CN" sz="2000" b="1" dirty="0">
              <a:solidFill>
                <a:srgbClr val="FF0000"/>
              </a:solidFill>
              <a:latin typeface="楷体" panose="02010609060101010101" pitchFamily="49" charset="-122"/>
              <a:ea typeface="楷体" panose="02010609060101010101" pitchFamily="49" charset="-122"/>
            </a:endParaRPr>
          </a:p>
          <a:p>
            <a:r>
              <a:rPr lang="zh-CN" altLang="en-US" sz="2000" b="1" dirty="0">
                <a:solidFill>
                  <a:srgbClr val="FF0000"/>
                </a:solidFill>
                <a:latin typeface="楷体" panose="02010609060101010101" pitchFamily="49" charset="-122"/>
                <a:ea typeface="楷体" panose="02010609060101010101" pitchFamily="49" charset="-122"/>
              </a:rPr>
              <a:t>在答案的设计上，考查对“第二个结合”的了解，体现习总书记在文化传承发展座谈会上的讲话精神。</a:t>
            </a:r>
            <a:endParaRPr lang="zh-CN" altLang="en-US" sz="2000" b="1" dirty="0">
              <a:solidFill>
                <a:srgbClr val="FF0000"/>
              </a:solidFill>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082211" y="1331374"/>
            <a:ext cx="10233061" cy="4195251"/>
          </a:xfrm>
          <a:prstGeom prst="rect">
            <a:avLst/>
          </a:prstGeom>
          <a:solidFill>
            <a:schemeClr val="bg1"/>
          </a:solidFill>
        </p:spPr>
        <p:txBody>
          <a:bodyPr wrap="square">
            <a:spAutoFit/>
          </a:bodyPr>
          <a:lstStyle>
            <a:defPPr>
              <a:defRPr lang="zh-CN"/>
            </a:defPPr>
            <a:lvl1pPr marL="133350" indent="-133350" algn="just">
              <a:lnSpc>
                <a:spcPct val="150000"/>
              </a:lnSpc>
              <a:defRPr sz="2000" b="1" kern="100">
                <a:effectLst/>
                <a:latin typeface="宋体" panose="02010600030101010101" pitchFamily="2" charset="-122"/>
                <a:ea typeface="等线" panose="02010600030101010101" charset="-122"/>
                <a:cs typeface="Times New Roman" panose="02020603050405020304" pitchFamily="18" charset="0"/>
              </a:defRPr>
            </a:lvl1pPr>
          </a:lstStyle>
          <a:p>
            <a:r>
              <a:rPr lang="en-US" altLang="zh-CN" dirty="0">
                <a:ea typeface="宋体" panose="02010600030101010101" pitchFamily="2" charset="-122"/>
              </a:rPr>
              <a:t>2.</a:t>
            </a:r>
            <a:r>
              <a:rPr lang="zh-CN" altLang="zh-CN" dirty="0">
                <a:solidFill>
                  <a:srgbClr val="FF0000"/>
                </a:solidFill>
                <a:ea typeface="宋体" panose="02010600030101010101" pitchFamily="2" charset="-122"/>
              </a:rPr>
              <a:t>生成式人工智能</a:t>
            </a:r>
            <a:r>
              <a:rPr lang="zh-CN" altLang="zh-CN" dirty="0">
                <a:ea typeface="宋体" panose="02010600030101010101" pitchFamily="2" charset="-122"/>
              </a:rPr>
              <a:t>，是一种通过学习大规模数据集生成新的原创内容的新型人工智能，是基于算法、模型、规则生成文本、图片、声音、视频、代码等内容的技术。央视导演与科研人员运用生成式人工智能，制作了演绎中华经典古诗词的动画节目《千秋诗颂》。运用生成式人工智能制作这样的动画节目，制作效率比运用传统动画制作技术提升三倍。生成式人工智能</a:t>
            </a:r>
            <a:endParaRPr lang="zh-CN" altLang="zh-CN" dirty="0">
              <a:ea typeface="宋体" panose="02010600030101010101" pitchFamily="2" charset="-122"/>
            </a:endParaRPr>
          </a:p>
          <a:p>
            <a:r>
              <a:rPr lang="en-US" altLang="zh-CN" dirty="0">
                <a:ea typeface="宋体" panose="02010600030101010101" pitchFamily="2" charset="-122"/>
              </a:rPr>
              <a:t>A.</a:t>
            </a:r>
            <a:r>
              <a:rPr lang="zh-CN" altLang="zh-CN" dirty="0">
                <a:ea typeface="宋体" panose="02010600030101010101" pitchFamily="2" charset="-122"/>
              </a:rPr>
              <a:t>能推进科学家和艺术家的跨界合作，消除技术与艺术的界限</a:t>
            </a:r>
            <a:endParaRPr lang="zh-CN" altLang="zh-CN" dirty="0">
              <a:ea typeface="宋体" panose="02010600030101010101" pitchFamily="2" charset="-122"/>
            </a:endParaRPr>
          </a:p>
          <a:p>
            <a:r>
              <a:rPr lang="en-US" altLang="zh-CN" dirty="0">
                <a:ea typeface="宋体" panose="02010600030101010101" pitchFamily="2" charset="-122"/>
              </a:rPr>
              <a:t>B.</a:t>
            </a:r>
            <a:r>
              <a:rPr lang="zh-CN" altLang="zh-CN" dirty="0">
                <a:ea typeface="宋体" panose="02010600030101010101" pitchFamily="2" charset="-122"/>
              </a:rPr>
              <a:t>通过实现生产方式的彻底变革，赋能中华优秀传统文化传播 </a:t>
            </a:r>
            <a:endParaRPr lang="zh-CN" altLang="zh-CN" dirty="0">
              <a:ea typeface="宋体" panose="02010600030101010101" pitchFamily="2" charset="-122"/>
            </a:endParaRPr>
          </a:p>
          <a:p>
            <a:r>
              <a:rPr lang="en-US" altLang="zh-CN" dirty="0">
                <a:ea typeface="宋体" panose="02010600030101010101" pitchFamily="2" charset="-122"/>
              </a:rPr>
              <a:t>C.</a:t>
            </a:r>
            <a:r>
              <a:rPr lang="zh-CN" altLang="zh-CN" dirty="0">
                <a:ea typeface="宋体" panose="02010600030101010101" pitchFamily="2" charset="-122"/>
              </a:rPr>
              <a:t>具有巨大的发展潜力和价值，彰显出</a:t>
            </a:r>
            <a:r>
              <a:rPr lang="zh-CN" altLang="zh-CN" dirty="0">
                <a:solidFill>
                  <a:srgbClr val="FF0000"/>
                </a:solidFill>
                <a:ea typeface="宋体" panose="02010600030101010101" pitchFamily="2" charset="-122"/>
              </a:rPr>
              <a:t>新质生产力</a:t>
            </a:r>
            <a:r>
              <a:rPr lang="zh-CN" altLang="zh-CN" dirty="0">
                <a:ea typeface="宋体" panose="02010600030101010101" pitchFamily="2" charset="-122"/>
              </a:rPr>
              <a:t>的独特优势 </a:t>
            </a:r>
            <a:endParaRPr lang="zh-CN" altLang="zh-CN" dirty="0">
              <a:ea typeface="宋体" panose="02010600030101010101" pitchFamily="2" charset="-122"/>
            </a:endParaRPr>
          </a:p>
          <a:p>
            <a:r>
              <a:rPr lang="en-US" altLang="zh-CN" dirty="0">
                <a:ea typeface="宋体" panose="02010600030101010101" pitchFamily="2" charset="-122"/>
              </a:rPr>
              <a:t>D.</a:t>
            </a:r>
            <a:r>
              <a:rPr lang="zh-CN" altLang="zh-CN" dirty="0">
                <a:ea typeface="宋体" panose="02010600030101010101" pitchFamily="2" charset="-122"/>
              </a:rPr>
              <a:t>使动画制作技艺达到了发展顶峰，引领媒体行业的迭代升级 </a:t>
            </a:r>
            <a:endParaRPr lang="zh-CN" altLang="zh-CN" dirty="0">
              <a:ea typeface="宋体" panose="02010600030101010101" pitchFamily="2" charset="-122"/>
            </a:endParaRPr>
          </a:p>
        </p:txBody>
      </p:sp>
      <p:sp>
        <p:nvSpPr>
          <p:cNvPr id="4" name="文本框 3"/>
          <p:cNvSpPr txBox="1"/>
          <p:nvPr/>
        </p:nvSpPr>
        <p:spPr>
          <a:xfrm>
            <a:off x="814609" y="0"/>
            <a:ext cx="10151645" cy="559769"/>
          </a:xfrm>
          <a:prstGeom prst="rect">
            <a:avLst/>
          </a:prstGeom>
          <a:noFill/>
        </p:spPr>
        <p:txBody>
          <a:bodyPr wrap="square">
            <a:spAutoFit/>
          </a:bodyPr>
          <a:lstStyle/>
          <a:p>
            <a:pPr algn="ctr">
              <a:lnSpc>
                <a:spcPct val="150000"/>
              </a:lnSpc>
            </a:pPr>
            <a:r>
              <a:rPr lang="zh-CN" altLang="en-US" sz="2400" b="1" dirty="0">
                <a:solidFill>
                  <a:srgbClr val="0000FF"/>
                </a:solidFill>
                <a:latin typeface="楷体" panose="02010609060101010101" pitchFamily="49" charset="-122"/>
                <a:ea typeface="楷体" panose="02010609060101010101" pitchFamily="49" charset="-122"/>
              </a:rPr>
              <a:t>一审</a:t>
            </a:r>
            <a:r>
              <a:rPr lang="zh-CN" altLang="en-US" sz="2400" b="1" dirty="0">
                <a:solidFill>
                  <a:srgbClr val="FF0000"/>
                </a:solidFill>
                <a:latin typeface="楷体" panose="02010609060101010101" pitchFamily="49" charset="-122"/>
                <a:ea typeface="楷体" panose="02010609060101010101" pitchFamily="49" charset="-122"/>
              </a:rPr>
              <a:t>题肢</a:t>
            </a:r>
            <a:r>
              <a:rPr lang="zh-CN" altLang="en-US" sz="2400" b="1" dirty="0">
                <a:solidFill>
                  <a:srgbClr val="0000FF"/>
                </a:solidFill>
                <a:latin typeface="楷体" panose="02010609060101010101" pitchFamily="49" charset="-122"/>
                <a:ea typeface="楷体" panose="02010609060101010101" pitchFamily="49" charset="-122"/>
              </a:rPr>
              <a:t>排错误 二审</a:t>
            </a:r>
            <a:r>
              <a:rPr lang="zh-CN" altLang="en-US" sz="2400" b="1" dirty="0">
                <a:solidFill>
                  <a:srgbClr val="FF0000"/>
                </a:solidFill>
                <a:latin typeface="楷体" panose="02010609060101010101" pitchFamily="49" charset="-122"/>
                <a:ea typeface="楷体" panose="02010609060101010101" pitchFamily="49" charset="-122"/>
              </a:rPr>
              <a:t>设问</a:t>
            </a:r>
            <a:r>
              <a:rPr lang="zh-CN" altLang="en-US" sz="2400" b="1" dirty="0">
                <a:solidFill>
                  <a:srgbClr val="0000FF"/>
                </a:solidFill>
                <a:latin typeface="楷体" panose="02010609060101010101" pitchFamily="49" charset="-122"/>
                <a:ea typeface="楷体" panose="02010609060101010101" pitchFamily="49" charset="-122"/>
              </a:rPr>
              <a:t>明指向 三审</a:t>
            </a:r>
            <a:r>
              <a:rPr lang="zh-CN" altLang="en-US" sz="2400" b="1" dirty="0">
                <a:solidFill>
                  <a:srgbClr val="FF0000"/>
                </a:solidFill>
                <a:latin typeface="楷体" panose="02010609060101010101" pitchFamily="49" charset="-122"/>
                <a:ea typeface="楷体" panose="02010609060101010101" pitchFamily="49" charset="-122"/>
              </a:rPr>
              <a:t>材料</a:t>
            </a:r>
            <a:r>
              <a:rPr lang="zh-CN" altLang="en-US" sz="2400" b="1" dirty="0">
                <a:solidFill>
                  <a:srgbClr val="0000FF"/>
                </a:solidFill>
                <a:latin typeface="楷体" panose="02010609060101010101" pitchFamily="49" charset="-122"/>
                <a:ea typeface="楷体" panose="02010609060101010101" pitchFamily="49" charset="-122"/>
              </a:rPr>
              <a:t>抓关键 再审</a:t>
            </a:r>
            <a:r>
              <a:rPr lang="zh-CN" altLang="en-US" sz="2400" b="1" dirty="0">
                <a:solidFill>
                  <a:srgbClr val="FF0000"/>
                </a:solidFill>
                <a:latin typeface="楷体" panose="02010609060101010101" pitchFamily="49" charset="-122"/>
                <a:ea typeface="楷体" panose="02010609060101010101" pitchFamily="49" charset="-122"/>
              </a:rPr>
              <a:t>题肢</a:t>
            </a:r>
            <a:r>
              <a:rPr lang="zh-CN" altLang="en-US" sz="2400" b="1" dirty="0">
                <a:solidFill>
                  <a:srgbClr val="0000FF"/>
                </a:solidFill>
                <a:latin typeface="楷体" panose="02010609060101010101" pitchFamily="49" charset="-122"/>
                <a:ea typeface="楷体" panose="02010609060101010101" pitchFamily="49" charset="-122"/>
              </a:rPr>
              <a:t>定选项</a:t>
            </a:r>
            <a:endParaRPr lang="en-US" altLang="zh-CN" sz="2400" b="1" dirty="0">
              <a:solidFill>
                <a:srgbClr val="0000FF"/>
              </a:solidFill>
              <a:latin typeface="楷体" panose="02010609060101010101" pitchFamily="49" charset="-122"/>
              <a:ea typeface="楷体" panose="02010609060101010101" pitchFamily="49" charset="-122"/>
            </a:endParaRPr>
          </a:p>
        </p:txBody>
      </p:sp>
      <p:sp>
        <p:nvSpPr>
          <p:cNvPr id="5" name="矩形 4"/>
          <p:cNvSpPr/>
          <p:nvPr/>
        </p:nvSpPr>
        <p:spPr>
          <a:xfrm>
            <a:off x="158914" y="946625"/>
            <a:ext cx="684803" cy="923330"/>
          </a:xfrm>
          <a:prstGeom prst="rect">
            <a:avLst/>
          </a:prstGeom>
          <a:noFill/>
        </p:spPr>
        <p:txBody>
          <a:bodyPr wrap="none" lIns="91440" tIns="45720" rIns="91440" bIns="45720">
            <a:spAutoFit/>
          </a:bodyPr>
          <a:lstStyle/>
          <a:p>
            <a:pPr algn="ctr"/>
            <a:r>
              <a:rPr lang="en-US" altLang="zh-CN" sz="5400" b="0" cap="none" spc="0" dirty="0">
                <a:ln w="0"/>
                <a:solidFill>
                  <a:schemeClr val="accent1"/>
                </a:solidFill>
                <a:effectLst>
                  <a:outerShdw blurRad="38100" dist="25400" dir="5400000" algn="ctr" rotWithShape="0">
                    <a:srgbClr val="6E747A">
                      <a:alpha val="43000"/>
                    </a:srgbClr>
                  </a:outerShdw>
                </a:effectLst>
              </a:rPr>
              <a:t>C</a:t>
            </a:r>
            <a:endParaRPr lang="zh-CN" altLang="en-US" sz="5400" b="0" cap="none" spc="0" dirty="0">
              <a:ln w="0"/>
              <a:solidFill>
                <a:schemeClr val="accent1"/>
              </a:solidFill>
              <a:effectLst>
                <a:outerShdw blurRad="38100" dist="25400" dir="5400000" algn="ctr" rotWithShape="0">
                  <a:srgbClr val="6E747A">
                    <a:alpha val="43000"/>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801383" y="1519756"/>
            <a:ext cx="10263883" cy="4175182"/>
          </a:xfrm>
          <a:prstGeom prst="rect">
            <a:avLst/>
          </a:prstGeom>
          <a:solidFill>
            <a:schemeClr val="bg1"/>
          </a:solidFill>
        </p:spPr>
        <p:txBody>
          <a:bodyPr wrap="square">
            <a:spAutoFit/>
          </a:bodyPr>
          <a:lstStyle>
            <a:defPPr>
              <a:defRPr lang="zh-CN"/>
            </a:defPPr>
            <a:lvl1pPr marL="133350" indent="-133350" algn="just">
              <a:lnSpc>
                <a:spcPct val="150000"/>
              </a:lnSpc>
              <a:defRPr sz="2000" b="1" kern="100">
                <a:effectLst/>
                <a:latin typeface="宋体" panose="02010600030101010101" pitchFamily="2" charset="-122"/>
                <a:ea typeface="宋体" panose="02010600030101010101" pitchFamily="2" charset="-122"/>
                <a:cs typeface="Times New Roman" panose="02020603050405020304" pitchFamily="18" charset="0"/>
              </a:defRPr>
            </a:lvl1pPr>
          </a:lstStyle>
          <a:p>
            <a:r>
              <a:rPr lang="en-US" altLang="zh-CN" dirty="0"/>
              <a:t>3.</a:t>
            </a:r>
            <a:r>
              <a:rPr lang="zh-CN" altLang="zh-CN" dirty="0"/>
              <a:t>“太行山上的新愚公”李保国</a:t>
            </a:r>
            <a:r>
              <a:rPr lang="en-US" altLang="zh-CN" dirty="0"/>
              <a:t>35</a:t>
            </a:r>
            <a:r>
              <a:rPr lang="zh-CN" altLang="zh-CN" dirty="0"/>
              <a:t>年如一日扎根太行山，以创新成果助力广大农民致富；</a:t>
            </a:r>
            <a:r>
              <a:rPr lang="en-US" altLang="zh-CN" dirty="0"/>
              <a:t>“</a:t>
            </a:r>
            <a:r>
              <a:rPr lang="zh-CN" altLang="zh-CN" dirty="0"/>
              <a:t>糖丸爷爷</a:t>
            </a:r>
            <a:r>
              <a:rPr lang="en-US" altLang="zh-CN" dirty="0"/>
              <a:t>”</a:t>
            </a:r>
            <a:r>
              <a:rPr lang="zh-CN" altLang="zh-CN" dirty="0"/>
              <a:t>顾方舟一生致力研究脊髓灰质炎防控，守护几代国人健康成长；植物学家钟扬长期致力于生物多样性研究和保护，</a:t>
            </a:r>
            <a:r>
              <a:rPr lang="en-US" altLang="zh-CN" dirty="0"/>
              <a:t>16</a:t>
            </a:r>
            <a:r>
              <a:rPr lang="zh-CN" altLang="zh-CN" dirty="0"/>
              <a:t>年跋涉于青藏高原，为培养西部少数民族地区的植物学人才作出了重要贡献</a:t>
            </a:r>
            <a:r>
              <a:rPr lang="en-US" altLang="zh-CN" dirty="0"/>
              <a:t>……</a:t>
            </a:r>
            <a:r>
              <a:rPr lang="zh-CN" altLang="zh-CN" dirty="0"/>
              <a:t>这启示我们</a:t>
            </a:r>
            <a:endParaRPr lang="zh-CN" altLang="zh-CN" dirty="0"/>
          </a:p>
          <a:p>
            <a:r>
              <a:rPr lang="zh-CN" altLang="zh-CN" dirty="0"/>
              <a:t>①应积极投身于为人民服务的实践，努力实现人生价值</a:t>
            </a:r>
            <a:endParaRPr lang="zh-CN" altLang="zh-CN" dirty="0"/>
          </a:p>
          <a:p>
            <a:r>
              <a:rPr lang="zh-CN" altLang="zh-CN" dirty="0"/>
              <a:t>②只有全面提升自身价值，才能把握住难得的人生机遇</a:t>
            </a:r>
            <a:endParaRPr lang="zh-CN" altLang="zh-CN" dirty="0"/>
          </a:p>
          <a:p>
            <a:r>
              <a:rPr lang="zh-CN" altLang="zh-CN" dirty="0"/>
              <a:t>③拥有对社会的独特的贡献方式，才能正确处理好个人与社会的关系</a:t>
            </a:r>
            <a:endParaRPr lang="zh-CN" altLang="zh-CN" dirty="0"/>
          </a:p>
          <a:p>
            <a:r>
              <a:rPr lang="zh-CN" altLang="zh-CN" dirty="0"/>
              <a:t>④只有为国家、社会、民族和集体奋斗的人生，才是真正有意义的人生</a:t>
            </a:r>
            <a:endParaRPr lang="zh-CN" altLang="zh-CN" dirty="0"/>
          </a:p>
          <a:p>
            <a:r>
              <a:rPr lang="en-US" altLang="zh-CN" dirty="0"/>
              <a:t>A</a:t>
            </a:r>
            <a:r>
              <a:rPr lang="zh-CN" altLang="zh-CN" dirty="0"/>
              <a:t>．①③</a:t>
            </a:r>
            <a:r>
              <a:rPr lang="en-US" altLang="zh-CN" dirty="0"/>
              <a:t>              B</a:t>
            </a:r>
            <a:r>
              <a:rPr lang="zh-CN" altLang="zh-CN" dirty="0"/>
              <a:t>．①④</a:t>
            </a:r>
            <a:r>
              <a:rPr lang="en-US" altLang="zh-CN" dirty="0"/>
              <a:t>            C</a:t>
            </a:r>
            <a:r>
              <a:rPr lang="zh-CN" altLang="zh-CN" dirty="0"/>
              <a:t>．②③</a:t>
            </a:r>
            <a:r>
              <a:rPr lang="en-US" altLang="zh-CN" dirty="0"/>
              <a:t>          D</a:t>
            </a:r>
            <a:r>
              <a:rPr lang="zh-CN" altLang="zh-CN" dirty="0"/>
              <a:t>．②④</a:t>
            </a:r>
            <a:endParaRPr lang="zh-CN" altLang="zh-CN" dirty="0"/>
          </a:p>
        </p:txBody>
      </p:sp>
      <p:sp>
        <p:nvSpPr>
          <p:cNvPr id="6" name="矩形 5"/>
          <p:cNvSpPr/>
          <p:nvPr/>
        </p:nvSpPr>
        <p:spPr>
          <a:xfrm>
            <a:off x="178150" y="946625"/>
            <a:ext cx="646331" cy="923330"/>
          </a:xfrm>
          <a:prstGeom prst="rect">
            <a:avLst/>
          </a:prstGeom>
          <a:noFill/>
        </p:spPr>
        <p:txBody>
          <a:bodyPr wrap="none" lIns="91440" tIns="45720" rIns="91440" bIns="45720">
            <a:spAutoFit/>
          </a:bodyPr>
          <a:lstStyle/>
          <a:p>
            <a:pPr algn="ctr"/>
            <a:r>
              <a:rPr lang="en-US" altLang="zh-CN" sz="5400" b="0" cap="none" spc="0" dirty="0">
                <a:ln w="0"/>
                <a:solidFill>
                  <a:schemeClr val="accent1"/>
                </a:solidFill>
                <a:effectLst>
                  <a:outerShdw blurRad="38100" dist="25400" dir="5400000" algn="ctr" rotWithShape="0">
                    <a:srgbClr val="6E747A">
                      <a:alpha val="43000"/>
                    </a:srgbClr>
                  </a:outerShdw>
                </a:effectLst>
              </a:rPr>
              <a:t>B</a:t>
            </a:r>
            <a:endParaRPr lang="zh-CN" altLang="en-US" sz="5400" b="0" cap="none" spc="0" dirty="0">
              <a:ln w="0"/>
              <a:solidFill>
                <a:schemeClr val="accent1"/>
              </a:solidFill>
              <a:effectLst>
                <a:outerShdw blurRad="38100" dist="25400" dir="5400000" algn="ctr" rotWithShape="0">
                  <a:srgbClr val="6E747A">
                    <a:alpha val="43000"/>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310481" y="97926"/>
            <a:ext cx="6696494" cy="4028360"/>
          </a:xfrm>
          <a:prstGeom prst="rect">
            <a:avLst/>
          </a:prstGeom>
        </p:spPr>
      </p:pic>
      <p:pic>
        <p:nvPicPr>
          <p:cNvPr id="5" name="图片 4"/>
          <p:cNvPicPr>
            <a:picLocks noChangeAspect="1"/>
          </p:cNvPicPr>
          <p:nvPr/>
        </p:nvPicPr>
        <p:blipFill>
          <a:blip r:embed="rId2"/>
          <a:stretch>
            <a:fillRect/>
          </a:stretch>
        </p:blipFill>
        <p:spPr>
          <a:xfrm>
            <a:off x="4314288" y="4126286"/>
            <a:ext cx="7467600" cy="248602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986319" y="1300312"/>
            <a:ext cx="9780998" cy="3713517"/>
          </a:xfrm>
          <a:prstGeom prst="rect">
            <a:avLst/>
          </a:prstGeom>
          <a:solidFill>
            <a:schemeClr val="bg1"/>
          </a:solidFill>
        </p:spPr>
        <p:txBody>
          <a:bodyPr wrap="square">
            <a:spAutoFit/>
          </a:bodyPr>
          <a:lstStyle>
            <a:defPPr>
              <a:defRPr lang="zh-CN"/>
            </a:defPPr>
            <a:lvl1pPr marL="133350" indent="-133350" algn="just">
              <a:lnSpc>
                <a:spcPct val="150000"/>
              </a:lnSpc>
              <a:defRPr sz="2000" b="1" kern="100">
                <a:effectLst/>
                <a:latin typeface="宋体" panose="02010600030101010101" pitchFamily="2" charset="-122"/>
                <a:ea typeface="宋体" panose="02010600030101010101" pitchFamily="2" charset="-122"/>
                <a:cs typeface="Times New Roman" panose="02020603050405020304" pitchFamily="18" charset="0"/>
              </a:defRPr>
            </a:lvl1pPr>
          </a:lstStyle>
          <a:p>
            <a:r>
              <a:rPr lang="en-US" altLang="zh-CN" dirty="0"/>
              <a:t>4.</a:t>
            </a:r>
            <a:r>
              <a:rPr lang="zh-CN" altLang="zh-CN" dirty="0"/>
              <a:t>改良利用好适宜种植粮食的</a:t>
            </a:r>
            <a:r>
              <a:rPr lang="en-US" altLang="zh-CN" dirty="0"/>
              <a:t>5</a:t>
            </a:r>
            <a:r>
              <a:rPr lang="zh-CN" altLang="zh-CN" dirty="0"/>
              <a:t>亿亩盐碱地，对维护国家粮食安全、端牢中国饭碗具有重要战略保障意义。为克服“洗土法”需要消耗大量水资源的弊端，某科研团队在盐碱地上种植盐角草等优质“吃盐”植物，</a:t>
            </a:r>
            <a:r>
              <a:rPr lang="en-US" altLang="zh-CN" dirty="0"/>
              <a:t>3</a:t>
            </a:r>
            <a:r>
              <a:rPr lang="zh-CN" altLang="zh-CN" dirty="0"/>
              <a:t>年累计降低盐碱地</a:t>
            </a:r>
            <a:r>
              <a:rPr lang="en-US" altLang="zh-CN" dirty="0"/>
              <a:t>85</a:t>
            </a:r>
            <a:r>
              <a:rPr lang="zh-CN" altLang="zh-CN" dirty="0"/>
              <a:t>％到</a:t>
            </a:r>
            <a:r>
              <a:rPr lang="en-US" altLang="zh-CN" dirty="0"/>
              <a:t>90</a:t>
            </a:r>
            <a:r>
              <a:rPr lang="zh-CN" altLang="zh-CN" dirty="0"/>
              <a:t>％的盐分</a:t>
            </a:r>
            <a:r>
              <a:rPr lang="en-US" altLang="zh-CN" dirty="0"/>
              <a:t>,</a:t>
            </a:r>
            <a:r>
              <a:rPr lang="zh-CN" altLang="zh-CN" dirty="0"/>
              <a:t>而消耗的水资源只有“洗土法”的</a:t>
            </a:r>
            <a:r>
              <a:rPr lang="en-US" altLang="zh-CN" dirty="0"/>
              <a:t>15%</a:t>
            </a:r>
            <a:r>
              <a:rPr lang="zh-CN" altLang="zh-CN" dirty="0"/>
              <a:t>。选育“吃盐”植物驱盐化碱</a:t>
            </a:r>
            <a:endParaRPr lang="zh-CN" altLang="zh-CN" dirty="0"/>
          </a:p>
          <a:p>
            <a:r>
              <a:rPr lang="en-US" altLang="zh-CN" dirty="0"/>
              <a:t>A.</a:t>
            </a:r>
            <a:r>
              <a:rPr lang="zh-CN" altLang="zh-CN" dirty="0"/>
              <a:t>体现出人们根据事物的属性，在草、盐、地、粮之间建立新的联系</a:t>
            </a:r>
            <a:endParaRPr lang="zh-CN" altLang="zh-CN" dirty="0"/>
          </a:p>
          <a:p>
            <a:r>
              <a:rPr lang="en-US" altLang="zh-CN" dirty="0"/>
              <a:t>B.</a:t>
            </a:r>
            <a:r>
              <a:rPr lang="zh-CN" altLang="zh-CN" dirty="0"/>
              <a:t>是遵循适度原则、创造条件促进盐碱地向粮田转变的科学方法</a:t>
            </a:r>
            <a:endParaRPr lang="zh-CN" altLang="zh-CN" dirty="0"/>
          </a:p>
          <a:p>
            <a:r>
              <a:rPr lang="en-US" altLang="zh-CN" dirty="0"/>
              <a:t>C.</a:t>
            </a:r>
            <a:r>
              <a:rPr lang="zh-CN" altLang="zh-CN" dirty="0"/>
              <a:t>做到了把严谨的科学态度和改良客观规律相结合，从而改造了自然</a:t>
            </a:r>
            <a:endParaRPr lang="zh-CN" altLang="zh-CN" dirty="0"/>
          </a:p>
          <a:p>
            <a:r>
              <a:rPr lang="en-US" altLang="zh-CN" dirty="0"/>
              <a:t>D.</a:t>
            </a:r>
            <a:r>
              <a:rPr lang="zh-CN" altLang="zh-CN" dirty="0"/>
              <a:t>表明正确的自然观在改造自然的生产实践中发挥了决定性作用</a:t>
            </a:r>
            <a:endParaRPr lang="zh-CN" altLang="zh-CN" dirty="0"/>
          </a:p>
        </p:txBody>
      </p:sp>
      <p:sp>
        <p:nvSpPr>
          <p:cNvPr id="4" name="矩形 3"/>
          <p:cNvSpPr/>
          <p:nvPr/>
        </p:nvSpPr>
        <p:spPr>
          <a:xfrm>
            <a:off x="178150" y="946625"/>
            <a:ext cx="646331" cy="923330"/>
          </a:xfrm>
          <a:prstGeom prst="rect">
            <a:avLst/>
          </a:prstGeom>
          <a:noFill/>
        </p:spPr>
        <p:txBody>
          <a:bodyPr wrap="none" lIns="91440" tIns="45720" rIns="91440" bIns="45720">
            <a:spAutoFit/>
          </a:bodyPr>
          <a:lstStyle/>
          <a:p>
            <a:pPr algn="ctr"/>
            <a:r>
              <a:rPr lang="en-US" altLang="zh-CN" sz="5400" b="0" cap="none" spc="0" dirty="0">
                <a:ln w="0"/>
                <a:solidFill>
                  <a:schemeClr val="accent1"/>
                </a:solidFill>
                <a:effectLst>
                  <a:outerShdw blurRad="38100" dist="25400" dir="5400000" algn="ctr" rotWithShape="0">
                    <a:srgbClr val="6E747A">
                      <a:alpha val="43000"/>
                    </a:srgbClr>
                  </a:outerShdw>
                </a:effectLst>
              </a:rPr>
              <a:t>A</a:t>
            </a:r>
            <a:endParaRPr lang="zh-CN" altLang="en-US" sz="5400" b="0" cap="none" spc="0" dirty="0">
              <a:ln w="0"/>
              <a:solidFill>
                <a:schemeClr val="accent1"/>
              </a:solidFill>
              <a:effectLst>
                <a:outerShdw blurRad="38100" dist="25400" dir="5400000" algn="ctr" rotWithShape="0">
                  <a:srgbClr val="6E747A">
                    <a:alpha val="43000"/>
                  </a:srgbClr>
                </a:outerShdw>
              </a:effectLst>
            </a:endParaRPr>
          </a:p>
        </p:txBody>
      </p:sp>
      <p:sp>
        <p:nvSpPr>
          <p:cNvPr id="5" name="文本框 4"/>
          <p:cNvSpPr txBox="1"/>
          <p:nvPr/>
        </p:nvSpPr>
        <p:spPr>
          <a:xfrm>
            <a:off x="986319" y="5231519"/>
            <a:ext cx="10335802" cy="1015663"/>
          </a:xfrm>
          <a:prstGeom prst="rect">
            <a:avLst/>
          </a:prstGeom>
          <a:noFill/>
        </p:spPr>
        <p:txBody>
          <a:bodyPr wrap="square" rtlCol="0">
            <a:spAutoFit/>
          </a:bodyPr>
          <a:lstStyle/>
          <a:p>
            <a:r>
              <a:rPr lang="zh-CN" altLang="en-US" sz="2000" b="1" dirty="0">
                <a:solidFill>
                  <a:srgbClr val="FF0000"/>
                </a:solidFill>
                <a:latin typeface="楷体" panose="02010609060101010101" pitchFamily="49" charset="-122"/>
                <a:ea typeface="楷体" panose="02010609060101010101" pitchFamily="49" charset="-122"/>
              </a:rPr>
              <a:t>本题主要考查学生对材料主旨的概括、理解能力，</a:t>
            </a:r>
            <a:endParaRPr lang="en-US" altLang="zh-CN" sz="2000" b="1" dirty="0">
              <a:solidFill>
                <a:srgbClr val="FF0000"/>
              </a:solidFill>
              <a:latin typeface="楷体" panose="02010609060101010101" pitchFamily="49" charset="-122"/>
              <a:ea typeface="楷体" panose="02010609060101010101" pitchFamily="49" charset="-122"/>
            </a:endParaRPr>
          </a:p>
          <a:p>
            <a:r>
              <a:rPr lang="zh-CN" altLang="en-US" sz="2000" b="1" dirty="0">
                <a:solidFill>
                  <a:srgbClr val="FF0000"/>
                </a:solidFill>
                <a:latin typeface="楷体" panose="02010609060101010101" pitchFamily="49" charset="-122"/>
                <a:ea typeface="楷体" panose="02010609060101010101" pitchFamily="49" charset="-122"/>
              </a:rPr>
              <a:t>选择最能体现</a:t>
            </a:r>
            <a:r>
              <a:rPr lang="zh-CN" altLang="zh-CN" sz="2000" b="1" dirty="0">
                <a:solidFill>
                  <a:srgbClr val="FF0000"/>
                </a:solidFill>
                <a:latin typeface="楷体" panose="02010609060101010101" pitchFamily="49" charset="-122"/>
                <a:ea typeface="楷体" panose="02010609060101010101" pitchFamily="49" charset="-122"/>
              </a:rPr>
              <a:t>选育“吃盐”植物驱盐化碱</a:t>
            </a:r>
            <a:r>
              <a:rPr lang="zh-CN" altLang="en-US" sz="2000" b="1" dirty="0">
                <a:solidFill>
                  <a:srgbClr val="FF0000"/>
                </a:solidFill>
                <a:latin typeface="楷体" panose="02010609060101010101" pitchFamily="49" charset="-122"/>
                <a:ea typeface="楷体" panose="02010609060101010101" pitchFamily="49" charset="-122"/>
              </a:rPr>
              <a:t>的哲学道理的选项。</a:t>
            </a:r>
            <a:endParaRPr lang="zh-CN" altLang="zh-CN" sz="2000" b="1" dirty="0">
              <a:solidFill>
                <a:srgbClr val="FF0000"/>
              </a:solidFill>
              <a:latin typeface="楷体" panose="02010609060101010101" pitchFamily="49" charset="-122"/>
              <a:ea typeface="楷体" panose="02010609060101010101" pitchFamily="49" charset="-122"/>
            </a:endParaRPr>
          </a:p>
          <a:p>
            <a:endParaRPr lang="zh-CN" altLang="en-US" sz="2000" b="1" dirty="0">
              <a:solidFill>
                <a:srgbClr val="FF0000"/>
              </a:solidFill>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852327" y="936714"/>
            <a:ext cx="10113622" cy="4984571"/>
          </a:xfrm>
          <a:prstGeom prst="rect">
            <a:avLst/>
          </a:prstGeom>
        </p:spPr>
      </p:pic>
      <p:sp>
        <p:nvSpPr>
          <p:cNvPr id="7" name="矩形 6"/>
          <p:cNvSpPr/>
          <p:nvPr/>
        </p:nvSpPr>
        <p:spPr>
          <a:xfrm>
            <a:off x="178150" y="946625"/>
            <a:ext cx="646331" cy="923330"/>
          </a:xfrm>
          <a:prstGeom prst="rect">
            <a:avLst/>
          </a:prstGeom>
          <a:noFill/>
        </p:spPr>
        <p:txBody>
          <a:bodyPr wrap="none" lIns="91440" tIns="45720" rIns="91440" bIns="45720">
            <a:spAutoFit/>
          </a:bodyPr>
          <a:lstStyle/>
          <a:p>
            <a:pPr algn="ctr"/>
            <a:r>
              <a:rPr lang="en-US" altLang="zh-CN" sz="5400" b="0" cap="none" spc="0" dirty="0">
                <a:ln w="0"/>
                <a:solidFill>
                  <a:schemeClr val="accent1"/>
                </a:solidFill>
                <a:effectLst>
                  <a:outerShdw blurRad="38100" dist="25400" dir="5400000" algn="ctr" rotWithShape="0">
                    <a:srgbClr val="6E747A">
                      <a:alpha val="43000"/>
                    </a:srgbClr>
                  </a:outerShdw>
                </a:effectLst>
              </a:rPr>
              <a:t>A</a:t>
            </a:r>
            <a:endParaRPr lang="zh-CN" altLang="en-US" sz="5400" b="0" cap="none" spc="0" dirty="0">
              <a:ln w="0"/>
              <a:solidFill>
                <a:schemeClr val="accent1"/>
              </a:solidFill>
              <a:effectLst>
                <a:outerShdw blurRad="38100" dist="25400" dir="5400000" algn="ctr" rotWithShape="0">
                  <a:srgbClr val="6E747A">
                    <a:alpha val="43000"/>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092485" y="1665559"/>
            <a:ext cx="10007029" cy="2790187"/>
          </a:xfrm>
          <a:prstGeom prst="rect">
            <a:avLst/>
          </a:prstGeom>
          <a:solidFill>
            <a:schemeClr val="bg1"/>
          </a:solidFill>
        </p:spPr>
        <p:txBody>
          <a:bodyPr wrap="square">
            <a:spAutoFit/>
          </a:bodyPr>
          <a:lstStyle>
            <a:defPPr>
              <a:defRPr lang="zh-CN"/>
            </a:defPPr>
            <a:lvl1pPr marL="133350" indent="-133350" algn="just">
              <a:lnSpc>
                <a:spcPct val="150000"/>
              </a:lnSpc>
              <a:defRPr sz="2000" b="1" kern="100">
                <a:effectLst/>
                <a:latin typeface="宋体" panose="02010600030101010101" pitchFamily="2" charset="-122"/>
                <a:ea typeface="宋体" panose="02010600030101010101" pitchFamily="2" charset="-122"/>
                <a:cs typeface="Times New Roman" panose="02020603050405020304" pitchFamily="18" charset="0"/>
              </a:defRPr>
            </a:lvl1pPr>
          </a:lstStyle>
          <a:p>
            <a:r>
              <a:rPr lang="en-US" altLang="zh-CN" dirty="0"/>
              <a:t>6.</a:t>
            </a:r>
            <a:r>
              <a:rPr lang="zh-CN" altLang="zh-CN" dirty="0"/>
              <a:t>要想准确鲜明地表达思想，思维必须合乎逻辑。下列表达中，符合逻辑规则的是</a:t>
            </a:r>
            <a:endParaRPr lang="zh-CN" altLang="zh-CN" dirty="0"/>
          </a:p>
          <a:p>
            <a:r>
              <a:rPr lang="en-US" altLang="zh-CN" dirty="0"/>
              <a:t>A.</a:t>
            </a:r>
            <a:r>
              <a:rPr lang="zh-CN" altLang="zh-CN" dirty="0"/>
              <a:t>财产权可分为物权、债权、知识产权、著作权、商标权</a:t>
            </a:r>
            <a:r>
              <a:rPr lang="zh-CN" altLang="en-US" dirty="0">
                <a:solidFill>
                  <a:srgbClr val="FF0000"/>
                </a:solidFill>
              </a:rPr>
              <a:t>（越级划分）</a:t>
            </a:r>
            <a:endParaRPr lang="zh-CN" altLang="zh-CN" dirty="0">
              <a:solidFill>
                <a:srgbClr val="FF0000"/>
              </a:solidFill>
            </a:endParaRPr>
          </a:p>
          <a:p>
            <a:r>
              <a:rPr lang="en-US" altLang="zh-CN" dirty="0"/>
              <a:t>B.</a:t>
            </a:r>
            <a:r>
              <a:rPr lang="zh-CN" altLang="zh-CN" dirty="0"/>
              <a:t>我不赞成所有人都有崇高的理想，也不赞成所有人都没有崇高的理想</a:t>
            </a:r>
            <a:r>
              <a:rPr lang="zh-CN" altLang="en-US" dirty="0">
                <a:solidFill>
                  <a:srgbClr val="FF0000"/>
                </a:solidFill>
              </a:rPr>
              <a:t>（排中律）</a:t>
            </a:r>
            <a:endParaRPr lang="zh-CN" altLang="zh-CN" dirty="0">
              <a:solidFill>
                <a:srgbClr val="FF0000"/>
              </a:solidFill>
            </a:endParaRPr>
          </a:p>
          <a:p>
            <a:r>
              <a:rPr lang="en-US" altLang="zh-CN" dirty="0"/>
              <a:t>C.</a:t>
            </a:r>
            <a:r>
              <a:rPr lang="zh-CN" altLang="zh-CN" dirty="0"/>
              <a:t>所有的科技人员都是懂计算机的，并且有些不懂计算机的是科技人员</a:t>
            </a:r>
            <a:r>
              <a:rPr lang="zh-CN" altLang="en-US" dirty="0">
                <a:solidFill>
                  <a:srgbClr val="FF0000"/>
                </a:solidFill>
              </a:rPr>
              <a:t>（矛盾律）</a:t>
            </a:r>
            <a:endParaRPr lang="zh-CN" altLang="zh-CN" dirty="0">
              <a:solidFill>
                <a:srgbClr val="FF0000"/>
              </a:solidFill>
            </a:endParaRPr>
          </a:p>
          <a:p>
            <a:r>
              <a:rPr lang="en-US" altLang="zh-CN" dirty="0"/>
              <a:t>D.</a:t>
            </a:r>
            <a:r>
              <a:rPr lang="zh-CN" altLang="zh-CN" dirty="0"/>
              <a:t>我无法一天读完</a:t>
            </a:r>
            <a:r>
              <a:rPr lang="zh-CN" altLang="zh-CN" dirty="0">
                <a:solidFill>
                  <a:srgbClr val="FF0000"/>
                </a:solidFill>
              </a:rPr>
              <a:t>老舍的作品</a:t>
            </a:r>
            <a:r>
              <a:rPr lang="zh-CN" altLang="zh-CN" dirty="0"/>
              <a:t>，《茶馆》是</a:t>
            </a:r>
            <a:r>
              <a:rPr lang="zh-CN" altLang="zh-CN" dirty="0">
                <a:solidFill>
                  <a:srgbClr val="FF0000"/>
                </a:solidFill>
              </a:rPr>
              <a:t>老舍的作品</a:t>
            </a:r>
            <a:r>
              <a:rPr lang="zh-CN" altLang="zh-CN" dirty="0"/>
              <a:t>，因此我无法一天读完《茶馆》</a:t>
            </a:r>
            <a:r>
              <a:rPr lang="zh-CN" altLang="en-US" dirty="0">
                <a:solidFill>
                  <a:srgbClr val="FF0000"/>
                </a:solidFill>
              </a:rPr>
              <a:t>（四概念）</a:t>
            </a:r>
            <a:endParaRPr lang="zh-CN" altLang="zh-CN" dirty="0">
              <a:solidFill>
                <a:srgbClr val="FF0000"/>
              </a:solidFill>
            </a:endParaRPr>
          </a:p>
        </p:txBody>
      </p:sp>
      <p:sp>
        <p:nvSpPr>
          <p:cNvPr id="4" name="矩形 3"/>
          <p:cNvSpPr/>
          <p:nvPr/>
        </p:nvSpPr>
        <p:spPr>
          <a:xfrm>
            <a:off x="178150" y="946625"/>
            <a:ext cx="646331" cy="923330"/>
          </a:xfrm>
          <a:prstGeom prst="rect">
            <a:avLst/>
          </a:prstGeom>
          <a:noFill/>
        </p:spPr>
        <p:txBody>
          <a:bodyPr wrap="none" lIns="91440" tIns="45720" rIns="91440" bIns="45720">
            <a:spAutoFit/>
          </a:bodyPr>
          <a:lstStyle/>
          <a:p>
            <a:pPr algn="ctr"/>
            <a:r>
              <a:rPr lang="en-US" altLang="zh-CN" sz="5400" b="0" cap="none" spc="0" dirty="0">
                <a:ln w="0"/>
                <a:solidFill>
                  <a:schemeClr val="accent1"/>
                </a:solidFill>
                <a:effectLst>
                  <a:outerShdw blurRad="38100" dist="25400" dir="5400000" algn="ctr" rotWithShape="0">
                    <a:srgbClr val="6E747A">
                      <a:alpha val="43000"/>
                    </a:srgbClr>
                  </a:outerShdw>
                </a:effectLst>
              </a:rPr>
              <a:t>B</a:t>
            </a:r>
            <a:endParaRPr lang="zh-CN" altLang="en-US" sz="5400" b="0" cap="none" spc="0" dirty="0">
              <a:ln w="0"/>
              <a:solidFill>
                <a:schemeClr val="accent1"/>
              </a:solidFill>
              <a:effectLst>
                <a:outerShdw blurRad="38100" dist="25400" dir="5400000" algn="ctr" rotWithShape="0">
                  <a:srgbClr val="6E747A">
                    <a:alpha val="43000"/>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686962" y="623887"/>
            <a:ext cx="10818075" cy="5335125"/>
          </a:xfrm>
          <a:prstGeom prst="rect">
            <a:avLst/>
          </a:prstGeom>
        </p:spPr>
      </p:pic>
      <p:sp>
        <p:nvSpPr>
          <p:cNvPr id="4" name="矩形 3"/>
          <p:cNvSpPr/>
          <p:nvPr/>
        </p:nvSpPr>
        <p:spPr>
          <a:xfrm>
            <a:off x="158914" y="946625"/>
            <a:ext cx="684803" cy="923330"/>
          </a:xfrm>
          <a:prstGeom prst="rect">
            <a:avLst/>
          </a:prstGeom>
          <a:noFill/>
        </p:spPr>
        <p:txBody>
          <a:bodyPr wrap="none" lIns="91440" tIns="45720" rIns="91440" bIns="45720">
            <a:spAutoFit/>
          </a:bodyPr>
          <a:lstStyle/>
          <a:p>
            <a:pPr algn="ctr"/>
            <a:r>
              <a:rPr lang="en-US" altLang="zh-CN" sz="5400" b="0" cap="none" spc="0" dirty="0">
                <a:ln w="0"/>
                <a:solidFill>
                  <a:schemeClr val="accent1"/>
                </a:solidFill>
                <a:effectLst>
                  <a:outerShdw blurRad="38100" dist="25400" dir="5400000" algn="ctr" rotWithShape="0">
                    <a:srgbClr val="6E747A">
                      <a:alpha val="43000"/>
                    </a:srgbClr>
                  </a:outerShdw>
                </a:effectLst>
              </a:rPr>
              <a:t>C</a:t>
            </a:r>
            <a:endParaRPr lang="zh-CN" altLang="en-US" sz="5400" b="0" cap="none" spc="0" dirty="0">
              <a:ln w="0"/>
              <a:solidFill>
                <a:schemeClr val="accent1"/>
              </a:solidFill>
              <a:effectLst>
                <a:outerShdw blurRad="38100" dist="25400" dir="5400000" algn="ctr" rotWithShape="0">
                  <a:srgbClr val="6E747A">
                    <a:alpha val="43000"/>
                  </a:srgbClr>
                </a:outerShdw>
              </a:effectLst>
            </a:endParaRPr>
          </a:p>
        </p:txBody>
      </p:sp>
      <p:cxnSp>
        <p:nvCxnSpPr>
          <p:cNvPr id="6" name="直接连接符 5"/>
          <p:cNvCxnSpPr/>
          <p:nvPr/>
        </p:nvCxnSpPr>
        <p:spPr>
          <a:xfrm>
            <a:off x="3051425" y="2321960"/>
            <a:ext cx="4356242" cy="1428107"/>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843717" y="1274529"/>
            <a:ext cx="10736494" cy="3713517"/>
          </a:xfrm>
          <a:prstGeom prst="rect">
            <a:avLst/>
          </a:prstGeom>
          <a:solidFill>
            <a:schemeClr val="bg1"/>
          </a:solidFill>
        </p:spPr>
        <p:txBody>
          <a:bodyPr wrap="square">
            <a:spAutoFit/>
          </a:bodyPr>
          <a:lstStyle>
            <a:defPPr>
              <a:defRPr lang="zh-CN"/>
            </a:defPPr>
            <a:lvl1pPr marL="133350" indent="-133350" algn="just">
              <a:lnSpc>
                <a:spcPct val="150000"/>
              </a:lnSpc>
              <a:defRPr sz="2000" b="1" kern="100">
                <a:effectLst/>
                <a:latin typeface="宋体" panose="02010600030101010101" pitchFamily="2" charset="-122"/>
                <a:ea typeface="宋体" panose="02010600030101010101" pitchFamily="2" charset="-122"/>
                <a:cs typeface="Times New Roman" panose="02020603050405020304" pitchFamily="18" charset="0"/>
              </a:defRPr>
            </a:lvl1pPr>
          </a:lstStyle>
          <a:p>
            <a:r>
              <a:rPr lang="en-US" altLang="zh-CN" dirty="0"/>
              <a:t>8.</a:t>
            </a:r>
            <a:r>
              <a:rPr lang="zh-CN" altLang="zh-CN" dirty="0"/>
              <a:t>随着数字技术的迅猛发展，网络预约、线上购票已深入人们生活的方方面面。但看似智能简便的流程，却是部分人群的“数字鸿沟”。近日，文化和旅游部有关负责人表示，将推动旅游景区保留人工窗口。保留人工窗口的做法</a:t>
            </a:r>
            <a:endParaRPr lang="zh-CN" altLang="zh-CN" dirty="0"/>
          </a:p>
          <a:p>
            <a:r>
              <a:rPr lang="en-US" altLang="zh-CN" dirty="0"/>
              <a:t>①</a:t>
            </a:r>
            <a:r>
              <a:rPr lang="zh-CN" altLang="zh-CN" dirty="0"/>
              <a:t>是建设保障权利、和谐有序的社会主义法治社会的题中之义</a:t>
            </a:r>
            <a:r>
              <a:rPr lang="zh-CN" altLang="en-US" dirty="0">
                <a:solidFill>
                  <a:srgbClr val="FF0000"/>
                </a:solidFill>
              </a:rPr>
              <a:t>（不可或缺的关键、核心、目的）</a:t>
            </a:r>
            <a:endParaRPr lang="zh-CN" altLang="zh-CN" dirty="0">
              <a:solidFill>
                <a:srgbClr val="FF0000"/>
              </a:solidFill>
            </a:endParaRPr>
          </a:p>
          <a:p>
            <a:r>
              <a:rPr lang="en-US" altLang="zh-CN" dirty="0"/>
              <a:t>②</a:t>
            </a:r>
            <a:r>
              <a:rPr lang="zh-CN" altLang="zh-CN" dirty="0"/>
              <a:t>是通过在</a:t>
            </a:r>
            <a:r>
              <a:rPr lang="zh-CN" altLang="zh-CN" dirty="0">
                <a:solidFill>
                  <a:srgbClr val="FF0000"/>
                </a:solidFill>
              </a:rPr>
              <a:t>服务便利化上做减法</a:t>
            </a:r>
            <a:r>
              <a:rPr lang="zh-CN" altLang="zh-CN" dirty="0"/>
              <a:t>，让数字便利关照更多人的生活</a:t>
            </a:r>
            <a:endParaRPr lang="zh-CN" altLang="zh-CN" dirty="0"/>
          </a:p>
          <a:p>
            <a:r>
              <a:rPr lang="en-US" altLang="zh-CN" dirty="0"/>
              <a:t>③</a:t>
            </a:r>
            <a:r>
              <a:rPr lang="zh-CN" altLang="zh-CN" dirty="0"/>
              <a:t>不仅适用于文化和旅游领域，而且也值得其他领域借鉴</a:t>
            </a:r>
            <a:endParaRPr lang="zh-CN" altLang="zh-CN" dirty="0"/>
          </a:p>
          <a:p>
            <a:r>
              <a:rPr lang="en-US" altLang="zh-CN" dirty="0"/>
              <a:t>④</a:t>
            </a:r>
            <a:r>
              <a:rPr lang="zh-CN" altLang="zh-CN" dirty="0"/>
              <a:t>体现了政府部门“致广大而尽精微”，践行以人民为中心的思想</a:t>
            </a:r>
            <a:endParaRPr lang="zh-CN" altLang="zh-CN" dirty="0"/>
          </a:p>
          <a:p>
            <a:r>
              <a:rPr lang="en-US" altLang="zh-CN" dirty="0"/>
              <a:t>A.①②	    B.①③	    C.②④	    D.③④</a:t>
            </a:r>
            <a:endParaRPr lang="zh-CN" altLang="zh-CN" dirty="0"/>
          </a:p>
        </p:txBody>
      </p:sp>
      <p:sp>
        <p:nvSpPr>
          <p:cNvPr id="4" name="矩形 3"/>
          <p:cNvSpPr/>
          <p:nvPr/>
        </p:nvSpPr>
        <p:spPr>
          <a:xfrm>
            <a:off x="158914" y="946625"/>
            <a:ext cx="684803" cy="923330"/>
          </a:xfrm>
          <a:prstGeom prst="rect">
            <a:avLst/>
          </a:prstGeom>
          <a:noFill/>
        </p:spPr>
        <p:txBody>
          <a:bodyPr wrap="none" lIns="91440" tIns="45720" rIns="91440" bIns="45720">
            <a:spAutoFit/>
          </a:bodyPr>
          <a:lstStyle/>
          <a:p>
            <a:pPr algn="ctr"/>
            <a:r>
              <a:rPr lang="en-US" altLang="zh-CN" sz="5400" b="0" cap="none" spc="0" dirty="0">
                <a:ln w="0"/>
                <a:solidFill>
                  <a:schemeClr val="accent1"/>
                </a:solidFill>
                <a:effectLst>
                  <a:outerShdw blurRad="38100" dist="25400" dir="5400000" algn="ctr" rotWithShape="0">
                    <a:srgbClr val="6E747A">
                      <a:alpha val="43000"/>
                    </a:srgbClr>
                  </a:outerShdw>
                </a:effectLst>
              </a:rPr>
              <a:t>D</a:t>
            </a:r>
            <a:endParaRPr lang="zh-CN" altLang="en-US" sz="5400" b="0" cap="none" spc="0" dirty="0">
              <a:ln w="0"/>
              <a:solidFill>
                <a:schemeClr val="accent1"/>
              </a:solidFill>
              <a:effectLst>
                <a:outerShdw blurRad="38100" dist="25400" dir="5400000" algn="ctr" rotWithShape="0">
                  <a:srgbClr val="6E747A">
                    <a:alpha val="43000"/>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40431" y="1050159"/>
            <a:ext cx="9657708" cy="4175182"/>
          </a:xfrm>
          <a:prstGeom prst="rect">
            <a:avLst/>
          </a:prstGeom>
          <a:solidFill>
            <a:schemeClr val="bg1"/>
          </a:solidFill>
        </p:spPr>
        <p:txBody>
          <a:bodyPr wrap="square">
            <a:spAutoFit/>
          </a:bodyPr>
          <a:lstStyle>
            <a:defPPr>
              <a:defRPr lang="zh-CN"/>
            </a:defPPr>
            <a:lvl1pPr marL="133350" indent="-133350" algn="just">
              <a:lnSpc>
                <a:spcPct val="150000"/>
              </a:lnSpc>
              <a:defRPr sz="2000" b="1" kern="100">
                <a:effectLst/>
                <a:latin typeface="宋体" panose="02010600030101010101" pitchFamily="2" charset="-122"/>
                <a:ea typeface="宋体" panose="02010600030101010101" pitchFamily="2" charset="-122"/>
                <a:cs typeface="Times New Roman" panose="02020603050405020304" pitchFamily="18" charset="0"/>
              </a:defRPr>
            </a:lvl1pPr>
          </a:lstStyle>
          <a:p>
            <a:r>
              <a:rPr lang="en-US" altLang="zh-CN" dirty="0"/>
              <a:t>9.</a:t>
            </a:r>
            <a:r>
              <a:rPr lang="zh-CN" altLang="zh-CN" dirty="0"/>
              <a:t>几名中学生针对许多小区存在闲置车辆长期占用车位，导致小区车位紧张的问题，在模拟政协活动中提出解决该问题的提案。市政协委员关注到了这一模拟提案，指导同学们务实调查、充实内容、完善提案。在此基础上，市政协委员向市政协会议提交了相关正式提案。从“模拟提案”到“正式提案”的探索</a:t>
            </a:r>
            <a:endParaRPr lang="zh-CN" altLang="zh-CN" dirty="0"/>
          </a:p>
          <a:p>
            <a:r>
              <a:rPr lang="en-US" altLang="zh-CN" dirty="0"/>
              <a:t>①</a:t>
            </a:r>
            <a:r>
              <a:rPr lang="zh-CN" altLang="zh-CN" dirty="0"/>
              <a:t>需要针对所研究的问题</a:t>
            </a:r>
            <a:r>
              <a:rPr lang="zh-CN" altLang="zh-CN" dirty="0">
                <a:solidFill>
                  <a:srgbClr val="FF0000"/>
                </a:solidFill>
              </a:rPr>
              <a:t>制定具体政策</a:t>
            </a:r>
            <a:r>
              <a:rPr lang="zh-CN" altLang="zh-CN" dirty="0"/>
              <a:t>，协调多方利益</a:t>
            </a:r>
            <a:endParaRPr lang="zh-CN" altLang="zh-CN" dirty="0"/>
          </a:p>
          <a:p>
            <a:r>
              <a:rPr lang="zh-CN" altLang="zh-CN" dirty="0"/>
              <a:t>②有益于提高学生</a:t>
            </a:r>
            <a:r>
              <a:rPr lang="zh-CN" altLang="zh-CN" dirty="0">
                <a:solidFill>
                  <a:srgbClr val="FF0000"/>
                </a:solidFill>
              </a:rPr>
              <a:t>引领社会治理</a:t>
            </a:r>
            <a:r>
              <a:rPr lang="zh-CN" altLang="zh-CN" dirty="0"/>
              <a:t>、参与政治生活的能力</a:t>
            </a:r>
            <a:endParaRPr lang="zh-CN" altLang="zh-CN" dirty="0"/>
          </a:p>
          <a:p>
            <a:r>
              <a:rPr lang="en-US" altLang="zh-CN" dirty="0"/>
              <a:t>③</a:t>
            </a:r>
            <a:r>
              <a:rPr lang="zh-CN" altLang="zh-CN" dirty="0"/>
              <a:t>需要坚持系统观念，有序地完成调查研究和思考任务</a:t>
            </a:r>
            <a:endParaRPr lang="zh-CN" altLang="zh-CN" dirty="0"/>
          </a:p>
          <a:p>
            <a:r>
              <a:rPr lang="en-US" altLang="zh-CN" dirty="0"/>
              <a:t>④</a:t>
            </a:r>
            <a:r>
              <a:rPr lang="zh-CN" altLang="zh-CN" dirty="0"/>
              <a:t>有益于增进学生对于中国特色社会主义制度的特点和优势的理解</a:t>
            </a:r>
            <a:endParaRPr lang="zh-CN" altLang="zh-CN" dirty="0"/>
          </a:p>
          <a:p>
            <a:r>
              <a:rPr lang="en-US" altLang="zh-CN" dirty="0"/>
              <a:t>A.①②	    B.①④	    C.②③	    D.③④</a:t>
            </a:r>
            <a:endParaRPr lang="zh-CN" altLang="zh-CN" dirty="0"/>
          </a:p>
        </p:txBody>
      </p:sp>
      <p:sp>
        <p:nvSpPr>
          <p:cNvPr id="4" name="矩形 3"/>
          <p:cNvSpPr/>
          <p:nvPr/>
        </p:nvSpPr>
        <p:spPr>
          <a:xfrm>
            <a:off x="158914" y="946625"/>
            <a:ext cx="684803" cy="923330"/>
          </a:xfrm>
          <a:prstGeom prst="rect">
            <a:avLst/>
          </a:prstGeom>
          <a:noFill/>
        </p:spPr>
        <p:txBody>
          <a:bodyPr wrap="none" lIns="91440" tIns="45720" rIns="91440" bIns="45720">
            <a:spAutoFit/>
          </a:bodyPr>
          <a:lstStyle/>
          <a:p>
            <a:pPr algn="ctr"/>
            <a:r>
              <a:rPr lang="en-US" altLang="zh-CN" sz="5400" b="0" cap="none" spc="0" dirty="0">
                <a:ln w="0"/>
                <a:solidFill>
                  <a:schemeClr val="accent1"/>
                </a:solidFill>
                <a:effectLst>
                  <a:outerShdw blurRad="38100" dist="25400" dir="5400000" algn="ctr" rotWithShape="0">
                    <a:srgbClr val="6E747A">
                      <a:alpha val="43000"/>
                    </a:srgbClr>
                  </a:outerShdw>
                </a:effectLst>
              </a:rPr>
              <a:t>D</a:t>
            </a:r>
            <a:endParaRPr lang="zh-CN" altLang="en-US" sz="5400" b="0" cap="none" spc="0" dirty="0">
              <a:ln w="0"/>
              <a:solidFill>
                <a:schemeClr val="accent1"/>
              </a:solidFill>
              <a:effectLst>
                <a:outerShdw blurRad="38100" dist="25400" dir="5400000" algn="ctr" rotWithShape="0">
                  <a:srgbClr val="6E747A">
                    <a:alpha val="43000"/>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843717" y="327487"/>
            <a:ext cx="9668998" cy="4920522"/>
          </a:xfrm>
          <a:prstGeom prst="rect">
            <a:avLst/>
          </a:prstGeom>
        </p:spPr>
      </p:pic>
      <p:sp>
        <p:nvSpPr>
          <p:cNvPr id="4" name="矩形 3"/>
          <p:cNvSpPr/>
          <p:nvPr/>
        </p:nvSpPr>
        <p:spPr>
          <a:xfrm>
            <a:off x="158914" y="946625"/>
            <a:ext cx="684803" cy="923330"/>
          </a:xfrm>
          <a:prstGeom prst="rect">
            <a:avLst/>
          </a:prstGeom>
          <a:noFill/>
        </p:spPr>
        <p:txBody>
          <a:bodyPr wrap="none" lIns="91440" tIns="45720" rIns="91440" bIns="45720">
            <a:spAutoFit/>
          </a:bodyPr>
          <a:lstStyle/>
          <a:p>
            <a:pPr algn="ctr"/>
            <a:r>
              <a:rPr lang="en-US" altLang="zh-CN" sz="5400" b="0" cap="none" spc="0" dirty="0">
                <a:ln w="0"/>
                <a:solidFill>
                  <a:schemeClr val="accent1"/>
                </a:solidFill>
                <a:effectLst>
                  <a:outerShdw blurRad="38100" dist="25400" dir="5400000" algn="ctr" rotWithShape="0">
                    <a:srgbClr val="6E747A">
                      <a:alpha val="43000"/>
                    </a:srgbClr>
                  </a:outerShdw>
                </a:effectLst>
              </a:rPr>
              <a:t>C</a:t>
            </a:r>
            <a:endParaRPr lang="zh-CN" altLang="en-US" sz="5400" b="0" cap="none" spc="0" dirty="0">
              <a:ln w="0"/>
              <a:solidFill>
                <a:schemeClr val="accent1"/>
              </a:solidFill>
              <a:effectLst>
                <a:outerShdw blurRad="38100" dist="25400" dir="5400000" algn="ctr" rotWithShape="0">
                  <a:srgbClr val="6E747A">
                    <a:alpha val="43000"/>
                  </a:srgbClr>
                </a:outerShdw>
              </a:effectLst>
            </a:endParaRPr>
          </a:p>
        </p:txBody>
      </p:sp>
      <p:sp>
        <p:nvSpPr>
          <p:cNvPr id="5" name="文本框 4"/>
          <p:cNvSpPr txBox="1"/>
          <p:nvPr/>
        </p:nvSpPr>
        <p:spPr>
          <a:xfrm>
            <a:off x="583508" y="5207074"/>
            <a:ext cx="11498901" cy="1323439"/>
          </a:xfrm>
          <a:prstGeom prst="rect">
            <a:avLst/>
          </a:prstGeom>
          <a:noFill/>
        </p:spPr>
        <p:txBody>
          <a:bodyPr wrap="square" rtlCol="0">
            <a:spAutoFit/>
          </a:bodyPr>
          <a:lstStyle/>
          <a:p>
            <a:r>
              <a:rPr lang="zh-CN" altLang="en-US" sz="2000" b="1" dirty="0">
                <a:solidFill>
                  <a:srgbClr val="FF0000"/>
                </a:solidFill>
                <a:latin typeface="楷体" panose="02010609060101010101" pitchFamily="49" charset="-122"/>
                <a:ea typeface="楷体" panose="02010609060101010101" pitchFamily="49" charset="-122"/>
              </a:rPr>
              <a:t>本题主要考查学生对案情材料信息的充分关照、解读的能力。</a:t>
            </a:r>
            <a:endParaRPr lang="en-US" altLang="zh-CN" sz="2000" b="1" dirty="0">
              <a:solidFill>
                <a:srgbClr val="FF0000"/>
              </a:solidFill>
              <a:latin typeface="楷体" panose="02010609060101010101" pitchFamily="49" charset="-122"/>
              <a:ea typeface="楷体" panose="02010609060101010101" pitchFamily="49" charset="-122"/>
            </a:endParaRPr>
          </a:p>
          <a:p>
            <a:endParaRPr lang="en-US" altLang="zh-CN" sz="2000" b="1" dirty="0">
              <a:solidFill>
                <a:srgbClr val="FF0000"/>
              </a:solidFill>
              <a:latin typeface="楷体" panose="02010609060101010101" pitchFamily="49" charset="-122"/>
              <a:ea typeface="楷体" panose="02010609060101010101" pitchFamily="49" charset="-122"/>
            </a:endParaRPr>
          </a:p>
          <a:p>
            <a:r>
              <a:rPr lang="zh-CN" altLang="en-US" sz="2000" b="1" dirty="0">
                <a:solidFill>
                  <a:srgbClr val="FF0000"/>
                </a:solidFill>
                <a:latin typeface="楷体" panose="02010609060101010101" pitchFamily="49" charset="-122"/>
                <a:ea typeface="楷体" panose="02010609060101010101" pitchFamily="49" charset="-122"/>
              </a:rPr>
              <a:t>限制民事行为能力人，实施民事法律行为由其法定代理人代理或者经其法定代理人同意、追认；</a:t>
            </a:r>
            <a:endParaRPr lang="en-US" altLang="zh-CN" sz="2000" b="1" dirty="0">
              <a:solidFill>
                <a:srgbClr val="FF0000"/>
              </a:solidFill>
              <a:latin typeface="楷体" panose="02010609060101010101" pitchFamily="49" charset="-122"/>
              <a:ea typeface="楷体" panose="02010609060101010101" pitchFamily="49" charset="-122"/>
            </a:endParaRPr>
          </a:p>
          <a:p>
            <a:r>
              <a:rPr lang="zh-CN" altLang="en-US" sz="2000" b="1" dirty="0">
                <a:solidFill>
                  <a:srgbClr val="FF0000"/>
                </a:solidFill>
                <a:latin typeface="楷体" panose="02010609060101010101" pitchFamily="49" charset="-122"/>
                <a:ea typeface="楷体" panose="02010609060101010101" pitchFamily="49" charset="-122"/>
              </a:rPr>
              <a:t>但是，可以独立实施纯获利益的民事法律行为或者与其智力、精神健康状况相适应的民事法律行为。</a:t>
            </a:r>
            <a:endParaRPr lang="zh-CN" altLang="en-US" sz="2000" b="1" dirty="0">
              <a:solidFill>
                <a:srgbClr val="FF0000"/>
              </a:solidFill>
              <a:latin typeface="楷体" panose="02010609060101010101" pitchFamily="49" charset="-122"/>
              <a:ea typeface="楷体" panose="02010609060101010101" pitchFamily="49" charset="-122"/>
            </a:endParaRPr>
          </a:p>
        </p:txBody>
      </p:sp>
      <p:cxnSp>
        <p:nvCxnSpPr>
          <p:cNvPr id="7" name="直接连接符 6"/>
          <p:cNvCxnSpPr/>
          <p:nvPr/>
        </p:nvCxnSpPr>
        <p:spPr>
          <a:xfrm>
            <a:off x="9010436" y="2352782"/>
            <a:ext cx="111988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1642153" y="2787748"/>
            <a:ext cx="3762054"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006867" y="1803074"/>
            <a:ext cx="9873465" cy="3251852"/>
          </a:xfrm>
          <a:prstGeom prst="rect">
            <a:avLst/>
          </a:prstGeom>
          <a:solidFill>
            <a:schemeClr val="bg1"/>
          </a:solidFill>
        </p:spPr>
        <p:txBody>
          <a:bodyPr wrap="square">
            <a:spAutoFit/>
          </a:bodyPr>
          <a:lstStyle>
            <a:defPPr>
              <a:defRPr lang="zh-CN"/>
            </a:defPPr>
            <a:lvl1pPr marL="133350" indent="-133350" algn="just">
              <a:lnSpc>
                <a:spcPct val="150000"/>
              </a:lnSpc>
              <a:defRPr sz="2000" b="1" kern="100">
                <a:effectLst/>
                <a:latin typeface="宋体" panose="02010600030101010101" pitchFamily="2" charset="-122"/>
                <a:ea typeface="宋体" panose="02010600030101010101" pitchFamily="2" charset="-122"/>
                <a:cs typeface="Times New Roman" panose="02020603050405020304" pitchFamily="18" charset="0"/>
              </a:defRPr>
            </a:lvl1pPr>
          </a:lstStyle>
          <a:p>
            <a:r>
              <a:rPr lang="en-US" altLang="zh-CN" dirty="0"/>
              <a:t>11.</a:t>
            </a:r>
            <a:r>
              <a:rPr lang="zh-CN" altLang="zh-CN" dirty="0"/>
              <a:t>所有权是权利人对自己的不动产或者动产</a:t>
            </a:r>
            <a:r>
              <a:rPr lang="en-US" altLang="zh-CN" dirty="0"/>
              <a:t>,</a:t>
            </a:r>
            <a:r>
              <a:rPr lang="zh-CN" altLang="zh-CN" dirty="0"/>
              <a:t>依法享有的占有、使用、收益和处分的权利。下列案例中，涉及</a:t>
            </a:r>
            <a:r>
              <a:rPr lang="zh-CN" altLang="zh-CN" dirty="0">
                <a:solidFill>
                  <a:srgbClr val="FF0000"/>
                </a:solidFill>
              </a:rPr>
              <a:t>所有权</a:t>
            </a:r>
            <a:r>
              <a:rPr lang="zh-CN" altLang="zh-CN" dirty="0">
                <a:solidFill>
                  <a:srgbClr val="0000CC"/>
                </a:solidFill>
              </a:rPr>
              <a:t>归属</a:t>
            </a:r>
            <a:r>
              <a:rPr lang="zh-CN" altLang="zh-CN" dirty="0"/>
              <a:t>争议的是</a:t>
            </a:r>
            <a:endParaRPr lang="zh-CN" altLang="zh-CN" dirty="0"/>
          </a:p>
          <a:p>
            <a:r>
              <a:rPr lang="zh-CN" altLang="zh-CN" dirty="0"/>
              <a:t>①陈某以极低价格购得一台全新笔记本电脑，不久该电脑被警察作为赃物扣押</a:t>
            </a:r>
            <a:endParaRPr lang="zh-CN" altLang="zh-CN" dirty="0"/>
          </a:p>
          <a:p>
            <a:r>
              <a:rPr lang="zh-CN" altLang="zh-CN" dirty="0"/>
              <a:t>②甲公司在围墙上安装了三盏照明设备</a:t>
            </a:r>
            <a:r>
              <a:rPr lang="en-US" altLang="zh-CN" dirty="0"/>
              <a:t>,</a:t>
            </a:r>
            <a:r>
              <a:rPr lang="zh-CN" altLang="zh-CN" dirty="0"/>
              <a:t>对</a:t>
            </a:r>
            <a:r>
              <a:rPr lang="en-US" altLang="zh-CN" dirty="0"/>
              <a:t>15</a:t>
            </a:r>
            <a:r>
              <a:rPr lang="zh-CN" altLang="zh-CN" dirty="0"/>
              <a:t>米外王某的住宅构成光污染侵害</a:t>
            </a:r>
            <a:endParaRPr lang="zh-CN" altLang="zh-CN" dirty="0"/>
          </a:p>
          <a:p>
            <a:r>
              <a:rPr lang="zh-CN" altLang="zh-CN" dirty="0"/>
              <a:t>③李某承包了本村两亩土地</a:t>
            </a:r>
            <a:r>
              <a:rPr lang="en-US" altLang="zh-CN" dirty="0"/>
              <a:t>,</a:t>
            </a:r>
            <a:r>
              <a:rPr lang="zh-CN" altLang="zh-CN" dirty="0"/>
              <a:t>其去世后</a:t>
            </a:r>
            <a:r>
              <a:rPr lang="en-US" altLang="zh-CN" dirty="0"/>
              <a:t>,</a:t>
            </a:r>
            <a:r>
              <a:rPr lang="zh-CN" altLang="zh-CN" dirty="0"/>
              <a:t>村集体收回了土地</a:t>
            </a:r>
            <a:r>
              <a:rPr lang="en-US" altLang="zh-CN" dirty="0"/>
              <a:t>,</a:t>
            </a:r>
            <a:r>
              <a:rPr lang="zh-CN" altLang="zh-CN" dirty="0"/>
              <a:t>李某之子提出异议</a:t>
            </a:r>
            <a:endParaRPr lang="zh-CN" altLang="zh-CN" dirty="0"/>
          </a:p>
          <a:p>
            <a:r>
              <a:rPr lang="zh-CN" altLang="zh-CN" dirty="0"/>
              <a:t>④丁某购买王某的一处房产并支付</a:t>
            </a:r>
            <a:r>
              <a:rPr lang="en-US" altLang="zh-CN" dirty="0"/>
              <a:t>80%</a:t>
            </a:r>
            <a:r>
              <a:rPr lang="zh-CN" altLang="zh-CN" dirty="0"/>
              <a:t>房款，几天后王某将该房产过户给了刘某 </a:t>
            </a:r>
            <a:endParaRPr lang="zh-CN" altLang="zh-CN" dirty="0"/>
          </a:p>
          <a:p>
            <a:r>
              <a:rPr lang="en-US" altLang="zh-CN" dirty="0"/>
              <a:t>A</a:t>
            </a:r>
            <a:r>
              <a:rPr lang="zh-CN" altLang="zh-CN" dirty="0"/>
              <a:t>．①②</a:t>
            </a:r>
            <a:r>
              <a:rPr lang="en-US" altLang="zh-CN" dirty="0"/>
              <a:t>             B</a:t>
            </a:r>
            <a:r>
              <a:rPr lang="zh-CN" altLang="zh-CN" dirty="0"/>
              <a:t>．①④</a:t>
            </a:r>
            <a:r>
              <a:rPr lang="en-US" altLang="zh-CN" dirty="0"/>
              <a:t>                  C</a:t>
            </a:r>
            <a:r>
              <a:rPr lang="zh-CN" altLang="zh-CN" dirty="0"/>
              <a:t>．②③</a:t>
            </a:r>
            <a:r>
              <a:rPr lang="en-US" altLang="zh-CN" dirty="0"/>
              <a:t>              D</a:t>
            </a:r>
            <a:r>
              <a:rPr lang="zh-CN" altLang="zh-CN" dirty="0"/>
              <a:t>．③④</a:t>
            </a:r>
            <a:endParaRPr lang="zh-CN" altLang="zh-CN" dirty="0"/>
          </a:p>
        </p:txBody>
      </p:sp>
      <p:sp>
        <p:nvSpPr>
          <p:cNvPr id="4" name="矩形 3"/>
          <p:cNvSpPr/>
          <p:nvPr/>
        </p:nvSpPr>
        <p:spPr>
          <a:xfrm>
            <a:off x="178150" y="946625"/>
            <a:ext cx="646331" cy="923330"/>
          </a:xfrm>
          <a:prstGeom prst="rect">
            <a:avLst/>
          </a:prstGeom>
          <a:noFill/>
        </p:spPr>
        <p:txBody>
          <a:bodyPr wrap="none" lIns="91440" tIns="45720" rIns="91440" bIns="45720">
            <a:spAutoFit/>
          </a:bodyPr>
          <a:lstStyle/>
          <a:p>
            <a:pPr algn="ctr"/>
            <a:r>
              <a:rPr lang="en-US" altLang="zh-CN" sz="5400" b="0" cap="none" spc="0" dirty="0">
                <a:ln w="0"/>
                <a:solidFill>
                  <a:schemeClr val="accent1"/>
                </a:solidFill>
                <a:effectLst>
                  <a:outerShdw blurRad="38100" dist="25400" dir="5400000" algn="ctr" rotWithShape="0">
                    <a:srgbClr val="6E747A">
                      <a:alpha val="43000"/>
                    </a:srgbClr>
                  </a:outerShdw>
                </a:effectLst>
              </a:rPr>
              <a:t>B</a:t>
            </a:r>
            <a:endParaRPr lang="zh-CN" altLang="en-US" sz="5400" b="0" cap="none" spc="0" dirty="0">
              <a:ln w="0"/>
              <a:solidFill>
                <a:schemeClr val="accent1"/>
              </a:solidFill>
              <a:effectLst>
                <a:outerShdw blurRad="38100" dist="25400" dir="5400000" algn="ctr" rotWithShape="0">
                  <a:srgbClr val="6E747A">
                    <a:alpha val="43000"/>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550610" y="424344"/>
            <a:ext cx="11090780" cy="5668231"/>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463354" y="554805"/>
            <a:ext cx="11019228" cy="4749817"/>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089061" y="1249871"/>
            <a:ext cx="9780997" cy="2790187"/>
          </a:xfrm>
          <a:prstGeom prst="rect">
            <a:avLst/>
          </a:prstGeom>
          <a:solidFill>
            <a:schemeClr val="bg1"/>
          </a:solidFill>
        </p:spPr>
        <p:txBody>
          <a:bodyPr wrap="square">
            <a:spAutoFit/>
          </a:bodyPr>
          <a:lstStyle>
            <a:defPPr>
              <a:defRPr lang="zh-CN"/>
            </a:defPPr>
            <a:lvl1pPr marL="133350" indent="-133350" algn="just">
              <a:lnSpc>
                <a:spcPct val="150000"/>
              </a:lnSpc>
              <a:defRPr sz="2000" b="1" kern="100">
                <a:effectLst/>
                <a:latin typeface="宋体" panose="02010600030101010101" pitchFamily="2" charset="-122"/>
                <a:ea typeface="宋体" panose="02010600030101010101" pitchFamily="2" charset="-122"/>
                <a:cs typeface="Times New Roman" panose="02020603050405020304" pitchFamily="18" charset="0"/>
              </a:defRPr>
            </a:lvl1pPr>
          </a:lstStyle>
          <a:p>
            <a:r>
              <a:rPr lang="en-US" altLang="zh-CN" dirty="0"/>
              <a:t>12.</a:t>
            </a:r>
            <a:r>
              <a:rPr lang="zh-CN" altLang="zh-CN" dirty="0"/>
              <a:t>一名</a:t>
            </a:r>
            <a:r>
              <a:rPr lang="en-US" altLang="zh-CN" dirty="0">
                <a:solidFill>
                  <a:srgbClr val="FF0000"/>
                </a:solidFill>
              </a:rPr>
              <a:t>12</a:t>
            </a:r>
            <a:r>
              <a:rPr lang="zh-CN" altLang="zh-CN" dirty="0">
                <a:solidFill>
                  <a:srgbClr val="FF0000"/>
                </a:solidFill>
              </a:rPr>
              <a:t>周岁</a:t>
            </a:r>
            <a:r>
              <a:rPr lang="zh-CN" altLang="zh-CN" dirty="0"/>
              <a:t>的学生</a:t>
            </a:r>
            <a:r>
              <a:rPr lang="en-US" altLang="zh-CN" dirty="0"/>
              <a:t>,</a:t>
            </a:r>
            <a:r>
              <a:rPr lang="zh-CN" altLang="zh-CN" dirty="0"/>
              <a:t>在老师的指导下设计了一款垃圾收纳装置，获得了国家知识产权局授权的</a:t>
            </a:r>
            <a:r>
              <a:rPr lang="en-US" altLang="zh-CN" dirty="0"/>
              <a:t>“</a:t>
            </a:r>
            <a:r>
              <a:rPr lang="zh-CN" altLang="zh-CN" dirty="0"/>
              <a:t>实用新型专利证书</a:t>
            </a:r>
            <a:r>
              <a:rPr lang="en-US" altLang="zh-CN" dirty="0"/>
              <a:t>”</a:t>
            </a:r>
            <a:r>
              <a:rPr lang="zh-CN" altLang="zh-CN" dirty="0"/>
              <a:t>。这一专利</a:t>
            </a:r>
            <a:endParaRPr lang="zh-CN" altLang="zh-CN" dirty="0"/>
          </a:p>
          <a:p>
            <a:r>
              <a:rPr lang="en-US" altLang="zh-CN" dirty="0"/>
              <a:t>A.</a:t>
            </a:r>
            <a:r>
              <a:rPr lang="zh-CN" altLang="zh-CN" dirty="0"/>
              <a:t>只要保密得当，就可以一直受到专利法的保护</a:t>
            </a:r>
            <a:endParaRPr lang="zh-CN" altLang="zh-CN" dirty="0"/>
          </a:p>
          <a:p>
            <a:r>
              <a:rPr lang="en-US" altLang="zh-CN" dirty="0"/>
              <a:t>B.</a:t>
            </a:r>
            <a:r>
              <a:rPr lang="zh-CN" altLang="zh-CN" dirty="0"/>
              <a:t>与实用技术无关，仅涉及产品设计的美观效果</a:t>
            </a:r>
            <a:endParaRPr lang="zh-CN" altLang="zh-CN" dirty="0"/>
          </a:p>
          <a:p>
            <a:r>
              <a:rPr lang="en-US" altLang="zh-CN" dirty="0"/>
              <a:t>C.</a:t>
            </a:r>
            <a:r>
              <a:rPr lang="zh-CN" altLang="zh-CN" dirty="0"/>
              <a:t>保护期满后，则进入公共领域，任何人都可以免费使用</a:t>
            </a:r>
            <a:endParaRPr lang="zh-CN" altLang="zh-CN" dirty="0"/>
          </a:p>
          <a:p>
            <a:r>
              <a:rPr lang="en-US" altLang="zh-CN" dirty="0"/>
              <a:t>D.</a:t>
            </a:r>
            <a:r>
              <a:rPr lang="zh-CN" altLang="zh-CN" dirty="0">
                <a:solidFill>
                  <a:srgbClr val="FF0000"/>
                </a:solidFill>
              </a:rPr>
              <a:t>只要经该学生授权</a:t>
            </a:r>
            <a:r>
              <a:rPr lang="zh-CN" altLang="zh-CN" dirty="0"/>
              <a:t>，厂家就可运用该专利生产产品并销售</a:t>
            </a:r>
            <a:endParaRPr lang="zh-CN" altLang="zh-CN" dirty="0"/>
          </a:p>
        </p:txBody>
      </p:sp>
      <p:sp>
        <p:nvSpPr>
          <p:cNvPr id="4" name="矩形 3"/>
          <p:cNvSpPr/>
          <p:nvPr/>
        </p:nvSpPr>
        <p:spPr>
          <a:xfrm>
            <a:off x="158914" y="946625"/>
            <a:ext cx="684803" cy="923330"/>
          </a:xfrm>
          <a:prstGeom prst="rect">
            <a:avLst/>
          </a:prstGeom>
          <a:noFill/>
        </p:spPr>
        <p:txBody>
          <a:bodyPr wrap="none" lIns="91440" tIns="45720" rIns="91440" bIns="45720">
            <a:spAutoFit/>
          </a:bodyPr>
          <a:lstStyle/>
          <a:p>
            <a:pPr algn="ctr"/>
            <a:r>
              <a:rPr lang="en-US" altLang="zh-CN" sz="5400" b="0" cap="none" spc="0" dirty="0">
                <a:ln w="0"/>
                <a:solidFill>
                  <a:schemeClr val="accent1"/>
                </a:solidFill>
                <a:effectLst>
                  <a:outerShdw blurRad="38100" dist="25400" dir="5400000" algn="ctr" rotWithShape="0">
                    <a:srgbClr val="6E747A">
                      <a:alpha val="43000"/>
                    </a:srgbClr>
                  </a:outerShdw>
                </a:effectLst>
              </a:rPr>
              <a:t>C</a:t>
            </a:r>
            <a:endParaRPr lang="zh-CN" altLang="en-US" sz="5400" b="0" cap="none" spc="0" dirty="0">
              <a:ln w="0"/>
              <a:solidFill>
                <a:schemeClr val="accent1"/>
              </a:solidFill>
              <a:effectLst>
                <a:outerShdw blurRad="38100" dist="25400" dir="5400000" algn="ctr" rotWithShape="0">
                  <a:srgbClr val="6E747A">
                    <a:alpha val="43000"/>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843717" y="272291"/>
            <a:ext cx="9978557" cy="4510356"/>
          </a:xfrm>
          <a:prstGeom prst="rect">
            <a:avLst/>
          </a:prstGeom>
        </p:spPr>
      </p:pic>
      <p:sp>
        <p:nvSpPr>
          <p:cNvPr id="4" name="矩形 3"/>
          <p:cNvSpPr/>
          <p:nvPr/>
        </p:nvSpPr>
        <p:spPr>
          <a:xfrm>
            <a:off x="158914" y="946625"/>
            <a:ext cx="684803" cy="923330"/>
          </a:xfrm>
          <a:prstGeom prst="rect">
            <a:avLst/>
          </a:prstGeom>
          <a:noFill/>
        </p:spPr>
        <p:txBody>
          <a:bodyPr wrap="none" lIns="91440" tIns="45720" rIns="91440" bIns="45720">
            <a:spAutoFit/>
          </a:bodyPr>
          <a:lstStyle/>
          <a:p>
            <a:pPr algn="ctr"/>
            <a:r>
              <a:rPr lang="en-US" altLang="zh-CN" sz="5400" b="0" cap="none" spc="0" dirty="0">
                <a:ln w="0"/>
                <a:solidFill>
                  <a:schemeClr val="accent1"/>
                </a:solidFill>
                <a:effectLst>
                  <a:outerShdw blurRad="38100" dist="25400" dir="5400000" algn="ctr" rotWithShape="0">
                    <a:srgbClr val="6E747A">
                      <a:alpha val="43000"/>
                    </a:srgbClr>
                  </a:outerShdw>
                </a:effectLst>
              </a:rPr>
              <a:t>D</a:t>
            </a:r>
            <a:endParaRPr lang="zh-CN" altLang="en-US" sz="5400" b="0" cap="none" spc="0" dirty="0">
              <a:ln w="0"/>
              <a:solidFill>
                <a:schemeClr val="accent1"/>
              </a:solidFill>
              <a:effectLst>
                <a:outerShdw blurRad="38100" dist="25400" dir="5400000" algn="ctr" rotWithShape="0">
                  <a:srgbClr val="6E747A">
                    <a:alpha val="43000"/>
                  </a:srgbClr>
                </a:outerShdw>
              </a:effectLst>
            </a:endParaRPr>
          </a:p>
        </p:txBody>
      </p:sp>
      <p:cxnSp>
        <p:nvCxnSpPr>
          <p:cNvPr id="6" name="直接连接符 5"/>
          <p:cNvCxnSpPr/>
          <p:nvPr/>
        </p:nvCxnSpPr>
        <p:spPr>
          <a:xfrm>
            <a:off x="8691937" y="3449548"/>
            <a:ext cx="2013735"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335730" y="3851098"/>
            <a:ext cx="2013735"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4082265" y="4282610"/>
            <a:ext cx="2013735"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6335730" y="4282610"/>
            <a:ext cx="2013735"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pic>
        <p:nvPicPr>
          <p:cNvPr id="13" name="图片 12"/>
          <p:cNvPicPr>
            <a:picLocks noChangeAspect="1"/>
          </p:cNvPicPr>
          <p:nvPr/>
        </p:nvPicPr>
        <p:blipFill>
          <a:blip r:embed="rId2"/>
          <a:stretch>
            <a:fillRect/>
          </a:stretch>
        </p:blipFill>
        <p:spPr>
          <a:xfrm>
            <a:off x="2981005" y="4714122"/>
            <a:ext cx="5454078" cy="191817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ppt_x"/>
                                          </p:val>
                                        </p:tav>
                                        <p:tav tm="100000">
                                          <p:val>
                                            <p:strVal val="#ppt_x"/>
                                          </p:val>
                                        </p:tav>
                                      </p:tavLst>
                                    </p:anim>
                                    <p:anim calcmode="lin" valueType="num">
                                      <p:cBhvr additive="base">
                                        <p:cTn id="3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54130" y="567199"/>
            <a:ext cx="9657708" cy="4175182"/>
          </a:xfrm>
          <a:prstGeom prst="rect">
            <a:avLst/>
          </a:prstGeom>
          <a:solidFill>
            <a:schemeClr val="bg1"/>
          </a:solidFill>
        </p:spPr>
        <p:txBody>
          <a:bodyPr wrap="square">
            <a:spAutoFit/>
          </a:bodyPr>
          <a:lstStyle>
            <a:defPPr>
              <a:defRPr lang="zh-CN"/>
            </a:defPPr>
            <a:lvl1pPr marL="133350" indent="-133350" algn="just">
              <a:lnSpc>
                <a:spcPct val="150000"/>
              </a:lnSpc>
              <a:defRPr sz="2000" b="1" kern="100">
                <a:effectLst/>
                <a:latin typeface="宋体" panose="02010600030101010101" pitchFamily="2" charset="-122"/>
                <a:ea typeface="宋体" panose="02010600030101010101" pitchFamily="2" charset="-122"/>
                <a:cs typeface="Times New Roman" panose="02020603050405020304" pitchFamily="18" charset="0"/>
              </a:defRPr>
            </a:lvl1pPr>
          </a:lstStyle>
          <a:p>
            <a:r>
              <a:rPr lang="en-US" altLang="zh-CN" dirty="0"/>
              <a:t>14</a:t>
            </a:r>
            <a:r>
              <a:rPr lang="en-US" altLang="zh-CN" dirty="0">
                <a:solidFill>
                  <a:srgbClr val="FF0000"/>
                </a:solidFill>
              </a:rPr>
              <a:t>.</a:t>
            </a:r>
            <a:r>
              <a:rPr lang="zh-CN" altLang="zh-CN" dirty="0">
                <a:solidFill>
                  <a:srgbClr val="FF0000"/>
                </a:solidFill>
              </a:rPr>
              <a:t>制度型开放</a:t>
            </a:r>
            <a:r>
              <a:rPr lang="zh-CN" altLang="zh-CN" dirty="0"/>
              <a:t>是指在经济发展和对外开放的过程中，不断对标国际通行规则，进而实现制度创新的对外开放战略。从传统的商品、要素、服务的流动型开放转变为制度型开放，从制度的被动接受者转变为主动供给者，中国对外开放的水平不断提高。我国稳步扩大规则、规制、管理、标准等制度型开放</a:t>
            </a:r>
            <a:endParaRPr lang="zh-CN" altLang="zh-CN" dirty="0"/>
          </a:p>
          <a:p>
            <a:r>
              <a:rPr lang="zh-CN" altLang="zh-CN" dirty="0"/>
              <a:t>①有利于营造市场化、法治化、国际化的一流营商环境</a:t>
            </a:r>
            <a:endParaRPr lang="zh-CN" altLang="zh-CN" dirty="0"/>
          </a:p>
          <a:p>
            <a:r>
              <a:rPr lang="zh-CN" altLang="zh-CN" dirty="0"/>
              <a:t>②是以开放促改革的需要，也是深度融入全球化的需要</a:t>
            </a:r>
            <a:endParaRPr lang="zh-CN" altLang="zh-CN" dirty="0"/>
          </a:p>
          <a:p>
            <a:r>
              <a:rPr lang="zh-CN" altLang="zh-CN" dirty="0"/>
              <a:t>③需要</a:t>
            </a:r>
            <a:r>
              <a:rPr lang="zh-CN" altLang="zh-CN" dirty="0">
                <a:solidFill>
                  <a:srgbClr val="FF0000"/>
                </a:solidFill>
              </a:rPr>
              <a:t>修改与现有国际贸易规则相抵触</a:t>
            </a:r>
            <a:r>
              <a:rPr lang="zh-CN" altLang="zh-CN" dirty="0"/>
              <a:t>的</a:t>
            </a:r>
            <a:r>
              <a:rPr lang="zh-CN" altLang="zh-CN" dirty="0">
                <a:solidFill>
                  <a:srgbClr val="FF0000"/>
                </a:solidFill>
              </a:rPr>
              <a:t>国内法律法规</a:t>
            </a:r>
            <a:endParaRPr lang="zh-CN" altLang="zh-CN" dirty="0">
              <a:solidFill>
                <a:srgbClr val="FF0000"/>
              </a:solidFill>
            </a:endParaRPr>
          </a:p>
          <a:p>
            <a:r>
              <a:rPr lang="zh-CN" altLang="zh-CN" dirty="0"/>
              <a:t>④为形成多元稳定的经贸关系</a:t>
            </a:r>
            <a:r>
              <a:rPr lang="zh-CN" altLang="zh-CN" dirty="0">
                <a:solidFill>
                  <a:srgbClr val="FF0000"/>
                </a:solidFill>
              </a:rPr>
              <a:t>提供了完</a:t>
            </a:r>
            <a:r>
              <a:rPr lang="zh-CN" altLang="zh-CN" dirty="0"/>
              <a:t>善的体制机制保障</a:t>
            </a:r>
            <a:endParaRPr lang="zh-CN" altLang="zh-CN" dirty="0"/>
          </a:p>
          <a:p>
            <a:r>
              <a:rPr lang="en-US" altLang="zh-CN" dirty="0"/>
              <a:t>A.</a:t>
            </a:r>
            <a:r>
              <a:rPr lang="zh-CN" altLang="zh-CN" dirty="0"/>
              <a:t>①②</a:t>
            </a:r>
            <a:r>
              <a:rPr lang="en-US" altLang="zh-CN" dirty="0"/>
              <a:t>            B.</a:t>
            </a:r>
            <a:r>
              <a:rPr lang="zh-CN" altLang="zh-CN" dirty="0"/>
              <a:t>①③</a:t>
            </a:r>
            <a:r>
              <a:rPr lang="en-US" altLang="zh-CN" dirty="0"/>
              <a:t>           C.</a:t>
            </a:r>
            <a:r>
              <a:rPr lang="zh-CN" altLang="zh-CN" dirty="0"/>
              <a:t>②④</a:t>
            </a:r>
            <a:r>
              <a:rPr lang="en-US" altLang="zh-CN" dirty="0"/>
              <a:t>             D.</a:t>
            </a:r>
            <a:r>
              <a:rPr lang="zh-CN" altLang="zh-CN" dirty="0"/>
              <a:t>③④</a:t>
            </a:r>
            <a:endParaRPr lang="zh-CN" altLang="zh-CN" dirty="0"/>
          </a:p>
        </p:txBody>
      </p:sp>
      <p:sp>
        <p:nvSpPr>
          <p:cNvPr id="4" name="矩形 3"/>
          <p:cNvSpPr/>
          <p:nvPr/>
        </p:nvSpPr>
        <p:spPr>
          <a:xfrm>
            <a:off x="178150" y="946625"/>
            <a:ext cx="646331" cy="923330"/>
          </a:xfrm>
          <a:prstGeom prst="rect">
            <a:avLst/>
          </a:prstGeom>
          <a:noFill/>
        </p:spPr>
        <p:txBody>
          <a:bodyPr wrap="none" lIns="91440" tIns="45720" rIns="91440" bIns="45720">
            <a:spAutoFit/>
          </a:bodyPr>
          <a:lstStyle/>
          <a:p>
            <a:pPr algn="ctr"/>
            <a:r>
              <a:rPr lang="en-US" altLang="zh-CN" sz="5400" b="0" cap="none" spc="0" dirty="0">
                <a:ln w="0"/>
                <a:solidFill>
                  <a:schemeClr val="accent1"/>
                </a:solidFill>
                <a:effectLst>
                  <a:outerShdw blurRad="38100" dist="25400" dir="5400000" algn="ctr" rotWithShape="0">
                    <a:srgbClr val="6E747A">
                      <a:alpha val="43000"/>
                    </a:srgbClr>
                  </a:outerShdw>
                </a:effectLst>
              </a:rPr>
              <a:t>A</a:t>
            </a:r>
            <a:endParaRPr lang="zh-CN" altLang="en-US" sz="5400" b="0" cap="none" spc="0" dirty="0">
              <a:ln w="0"/>
              <a:solidFill>
                <a:schemeClr val="accent1"/>
              </a:solidFill>
              <a:effectLst>
                <a:outerShdw blurRad="38100" dist="25400" dir="5400000" algn="ctr" rotWithShape="0">
                  <a:srgbClr val="6E747A">
                    <a:alpha val="43000"/>
                  </a:srgbClr>
                </a:outerShdw>
              </a:effectLst>
            </a:endParaRPr>
          </a:p>
        </p:txBody>
      </p:sp>
      <p:pic>
        <p:nvPicPr>
          <p:cNvPr id="6" name="图片 5"/>
          <p:cNvPicPr>
            <a:picLocks noChangeAspect="1"/>
          </p:cNvPicPr>
          <p:nvPr/>
        </p:nvPicPr>
        <p:blipFill>
          <a:blip r:embed="rId1"/>
          <a:stretch>
            <a:fillRect/>
          </a:stretch>
        </p:blipFill>
        <p:spPr>
          <a:xfrm>
            <a:off x="2201218" y="4886345"/>
            <a:ext cx="7067550" cy="1609725"/>
          </a:xfrm>
          <a:prstGeom prst="rect">
            <a:avLst/>
          </a:prstGeom>
        </p:spPr>
      </p:pic>
      <p:sp>
        <p:nvSpPr>
          <p:cNvPr id="8" name="文本框 7"/>
          <p:cNvSpPr txBox="1"/>
          <p:nvPr/>
        </p:nvSpPr>
        <p:spPr>
          <a:xfrm>
            <a:off x="7892031" y="2464852"/>
            <a:ext cx="3750068" cy="379875"/>
          </a:xfrm>
          <a:prstGeom prst="rect">
            <a:avLst/>
          </a:prstGeom>
          <a:noFill/>
        </p:spPr>
        <p:txBody>
          <a:bodyPr wrap="square">
            <a:spAutoFit/>
          </a:bodyPr>
          <a:lstStyle/>
          <a:p>
            <a:r>
              <a:rPr lang="zh-CN" altLang="en-US" sz="1800" b="1" dirty="0">
                <a:solidFill>
                  <a:srgbClr val="FF0000"/>
                </a:solidFill>
                <a:latin typeface="楷体" panose="02010609060101010101" pitchFamily="49" charset="-122"/>
                <a:ea typeface="楷体" panose="02010609060101010101" pitchFamily="49" charset="-122"/>
              </a:rPr>
              <a:t>突出考查教材的新增点、变化点   </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058237" y="1189346"/>
            <a:ext cx="10233061" cy="3713517"/>
          </a:xfrm>
          <a:prstGeom prst="rect">
            <a:avLst/>
          </a:prstGeom>
          <a:solidFill>
            <a:schemeClr val="bg1"/>
          </a:solidFill>
        </p:spPr>
        <p:txBody>
          <a:bodyPr wrap="square">
            <a:spAutoFit/>
          </a:bodyPr>
          <a:lstStyle>
            <a:defPPr>
              <a:defRPr lang="zh-CN"/>
            </a:defPPr>
            <a:lvl1pPr marL="133350" indent="-133350" algn="just">
              <a:lnSpc>
                <a:spcPct val="150000"/>
              </a:lnSpc>
              <a:defRPr sz="2000" b="1" kern="100">
                <a:effectLst/>
                <a:latin typeface="宋体" panose="02010600030101010101" pitchFamily="2" charset="-122"/>
                <a:ea typeface="宋体" panose="02010600030101010101" pitchFamily="2" charset="-122"/>
                <a:cs typeface="Times New Roman" panose="02020603050405020304" pitchFamily="18" charset="0"/>
              </a:defRPr>
            </a:lvl1pPr>
          </a:lstStyle>
          <a:p>
            <a:r>
              <a:rPr lang="en-US" altLang="zh-CN" dirty="0"/>
              <a:t>15.</a:t>
            </a:r>
            <a:r>
              <a:rPr lang="zh-CN" altLang="zh-CN" dirty="0"/>
              <a:t>在金砖国家、</a:t>
            </a:r>
            <a:r>
              <a:rPr lang="en-US" altLang="zh-CN" dirty="0"/>
              <a:t>APEC</a:t>
            </a:r>
            <a:r>
              <a:rPr lang="zh-CN" altLang="zh-CN" dirty="0"/>
              <a:t>、上合组织、</a:t>
            </a:r>
            <a:r>
              <a:rPr lang="en-US" altLang="zh-CN" dirty="0"/>
              <a:t>G20</a:t>
            </a:r>
            <a:r>
              <a:rPr lang="zh-CN" altLang="zh-CN" dirty="0"/>
              <a:t>等多边外交舞台上，中国致力于解决短期的热点问题和完善长期的全球治理，为促进世界和平与合作贡献了负责任的大国力量。新时代中国特色大国外交要更有作为，必须做到</a:t>
            </a:r>
            <a:endParaRPr lang="zh-CN" altLang="zh-CN" dirty="0"/>
          </a:p>
          <a:p>
            <a:r>
              <a:rPr lang="en-US" altLang="zh-CN" dirty="0"/>
              <a:t>①</a:t>
            </a:r>
            <a:r>
              <a:rPr lang="zh-CN" altLang="zh-CN" dirty="0"/>
              <a:t>坚持原则，牢牢占据国际道义制高点，获得全球各国支持</a:t>
            </a:r>
            <a:r>
              <a:rPr lang="zh-CN" altLang="en-US" dirty="0">
                <a:solidFill>
                  <a:srgbClr val="FF0000"/>
                </a:solidFill>
              </a:rPr>
              <a:t>（团结争取世界大多数）</a:t>
            </a:r>
            <a:endParaRPr lang="zh-CN" altLang="zh-CN" dirty="0">
              <a:solidFill>
                <a:srgbClr val="FF0000"/>
              </a:solidFill>
            </a:endParaRPr>
          </a:p>
          <a:p>
            <a:r>
              <a:rPr lang="en-US" altLang="zh-CN" dirty="0"/>
              <a:t>②</a:t>
            </a:r>
            <a:r>
              <a:rPr lang="zh-CN" altLang="zh-CN" dirty="0"/>
              <a:t>坚持外交大权在党中央，增强定力、把握大势、掌握主动</a:t>
            </a:r>
            <a:endParaRPr lang="zh-CN" altLang="zh-CN" dirty="0"/>
          </a:p>
          <a:p>
            <a:r>
              <a:rPr lang="en-US" altLang="zh-CN" dirty="0"/>
              <a:t>③</a:t>
            </a:r>
            <a:r>
              <a:rPr lang="zh-CN" altLang="zh-CN" dirty="0"/>
              <a:t>弘扬独立自主精神，捍卫弱国利益和尊严，体现大国担当</a:t>
            </a:r>
            <a:r>
              <a:rPr lang="zh-CN" altLang="en-US" dirty="0">
                <a:solidFill>
                  <a:srgbClr val="FF0000"/>
                </a:solidFill>
              </a:rPr>
              <a:t>（捍卫国家利益和民族尊严）</a:t>
            </a:r>
            <a:endParaRPr lang="zh-CN" altLang="zh-CN" dirty="0">
              <a:solidFill>
                <a:srgbClr val="FF0000"/>
              </a:solidFill>
            </a:endParaRPr>
          </a:p>
          <a:p>
            <a:r>
              <a:rPr lang="en-US" altLang="zh-CN" dirty="0"/>
              <a:t>④</a:t>
            </a:r>
            <a:r>
              <a:rPr lang="zh-CN" altLang="zh-CN" dirty="0"/>
              <a:t>守正创新，坚守外交优良传统，推动外交理论和实践创新</a:t>
            </a:r>
            <a:endParaRPr lang="zh-CN" altLang="zh-CN" dirty="0"/>
          </a:p>
          <a:p>
            <a:r>
              <a:rPr lang="en-US" altLang="zh-CN" dirty="0"/>
              <a:t>A.①②              B.①③          C.②④              D.③④</a:t>
            </a:r>
            <a:endParaRPr lang="zh-CN" altLang="zh-CN" dirty="0"/>
          </a:p>
        </p:txBody>
      </p:sp>
      <p:sp>
        <p:nvSpPr>
          <p:cNvPr id="4" name="矩形 3"/>
          <p:cNvSpPr/>
          <p:nvPr/>
        </p:nvSpPr>
        <p:spPr>
          <a:xfrm>
            <a:off x="158914" y="946625"/>
            <a:ext cx="684803" cy="923330"/>
          </a:xfrm>
          <a:prstGeom prst="rect">
            <a:avLst/>
          </a:prstGeom>
          <a:noFill/>
        </p:spPr>
        <p:txBody>
          <a:bodyPr wrap="none" lIns="91440" tIns="45720" rIns="91440" bIns="45720">
            <a:spAutoFit/>
          </a:bodyPr>
          <a:lstStyle/>
          <a:p>
            <a:pPr algn="ctr"/>
            <a:r>
              <a:rPr lang="en-US" altLang="zh-CN" sz="5400" b="0" cap="none" spc="0" dirty="0">
                <a:ln w="0"/>
                <a:solidFill>
                  <a:schemeClr val="accent1"/>
                </a:solidFill>
                <a:effectLst>
                  <a:outerShdw blurRad="38100" dist="25400" dir="5400000" algn="ctr" rotWithShape="0">
                    <a:srgbClr val="6E747A">
                      <a:alpha val="43000"/>
                    </a:srgbClr>
                  </a:outerShdw>
                </a:effectLst>
              </a:rPr>
              <a:t>C</a:t>
            </a:r>
            <a:endParaRPr lang="zh-CN" altLang="en-US" sz="5400" b="0" cap="none" spc="0" dirty="0">
              <a:ln w="0"/>
              <a:solidFill>
                <a:schemeClr val="accent1"/>
              </a:solidFill>
              <a:effectLst>
                <a:outerShdw blurRad="38100" dist="25400" dir="5400000" algn="ctr" rotWithShape="0">
                  <a:srgbClr val="6E747A">
                    <a:alpha val="43000"/>
                  </a:srgbClr>
                </a:outerShdw>
              </a:effectLst>
            </a:endParaRPr>
          </a:p>
        </p:txBody>
      </p:sp>
      <p:sp>
        <p:nvSpPr>
          <p:cNvPr id="5" name="文本框 4"/>
          <p:cNvSpPr txBox="1"/>
          <p:nvPr/>
        </p:nvSpPr>
        <p:spPr>
          <a:xfrm>
            <a:off x="1058237" y="5011690"/>
            <a:ext cx="6680321" cy="400110"/>
          </a:xfrm>
          <a:prstGeom prst="rect">
            <a:avLst/>
          </a:prstGeom>
          <a:noFill/>
        </p:spPr>
        <p:txBody>
          <a:bodyPr wrap="square" rtlCol="0">
            <a:spAutoFit/>
          </a:bodyPr>
          <a:lstStyle/>
          <a:p>
            <a:r>
              <a:rPr lang="en-US" altLang="zh-CN" sz="2000" b="1" dirty="0">
                <a:solidFill>
                  <a:srgbClr val="FF0000"/>
                </a:solidFill>
                <a:latin typeface="楷体" panose="02010609060101010101" pitchFamily="49" charset="-122"/>
                <a:ea typeface="楷体" panose="02010609060101010101" pitchFamily="49" charset="-122"/>
              </a:rPr>
              <a:t>12</a:t>
            </a:r>
            <a:r>
              <a:rPr lang="zh-CN" altLang="en-US" sz="2000" b="1" dirty="0">
                <a:solidFill>
                  <a:srgbClr val="FF0000"/>
                </a:solidFill>
                <a:latin typeface="楷体" panose="02010609060101010101" pitchFamily="49" charset="-122"/>
                <a:ea typeface="楷体" panose="02010609060101010101" pitchFamily="49" charset="-122"/>
              </a:rPr>
              <a:t>月中央外事工作会议</a:t>
            </a:r>
            <a:endParaRPr lang="zh-CN" altLang="en-US" sz="2000" b="1" dirty="0">
              <a:solidFill>
                <a:srgbClr val="FF0000"/>
              </a:solidFill>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p:nvPr>
            <p:custDataLst>
              <p:tags r:id="rId1"/>
            </p:custDataLst>
          </p:nvPr>
        </p:nvGraphicFramePr>
        <p:xfrm>
          <a:off x="1981200" y="2423221"/>
          <a:ext cx="8229600" cy="2743200"/>
        </p:xfrm>
        <a:graphic>
          <a:graphicData uri="http://schemas.openxmlformats.org/drawingml/2006/table">
            <a:tbl>
              <a:tblPr/>
              <a:tblGrid>
                <a:gridCol w="669472"/>
                <a:gridCol w="2431143"/>
                <a:gridCol w="1328510"/>
                <a:gridCol w="2797174"/>
                <a:gridCol w="1003301"/>
              </a:tblGrid>
              <a:tr h="388838">
                <a:tc>
                  <a:txBody>
                    <a:bodyPr/>
                    <a:lstStyle/>
                    <a:p>
                      <a:pPr indent="0" algn="ctr">
                        <a:buNone/>
                      </a:pPr>
                      <a:r>
                        <a:rPr lang="en-US" sz="2000" b="1" dirty="0" err="1">
                          <a:latin typeface="微软雅黑" panose="020B0503020204020204" pitchFamily="34" charset="-122"/>
                          <a:ea typeface="微软雅黑" panose="020B0503020204020204" pitchFamily="34" charset="-122"/>
                          <a:cs typeface="宋体" panose="02010600030101010101" pitchFamily="2" charset="-122"/>
                        </a:rPr>
                        <a:t>问题</a:t>
                      </a:r>
                      <a:endParaRPr lang="en-US" sz="2000" b="1" dirty="0">
                        <a:latin typeface="微软雅黑" panose="020B0503020204020204" pitchFamily="34" charset="-122"/>
                        <a:ea typeface="微软雅黑" panose="020B0503020204020204" pitchFamily="34" charset="-122"/>
                        <a:cs typeface="宋体" panose="02010600030101010101" pitchFamily="2" charset="-122"/>
                      </a:endParaRPr>
                    </a:p>
                    <a:p>
                      <a:pPr indent="0" algn="ctr">
                        <a:buNone/>
                      </a:pPr>
                      <a:r>
                        <a:rPr lang="en-US" sz="2000" b="1" dirty="0" err="1">
                          <a:latin typeface="微软雅黑" panose="020B0503020204020204" pitchFamily="34" charset="-122"/>
                          <a:ea typeface="微软雅黑" panose="020B0503020204020204" pitchFamily="34" charset="-122"/>
                          <a:cs typeface="宋体" panose="02010600030101010101" pitchFamily="2" charset="-122"/>
                        </a:rPr>
                        <a:t>逻辑</a:t>
                      </a:r>
                      <a:endParaRPr lang="en-US" altLang="en-US" sz="2000" b="1" dirty="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lgn="ctr">
                      <a:solidFill>
                        <a:srgbClr val="080000"/>
                      </a:solidFill>
                      <a:prstDash val="solid"/>
                      <a:roun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dirty="0" err="1">
                          <a:latin typeface="微软雅黑" panose="020B0503020204020204" pitchFamily="34" charset="-122"/>
                          <a:ea typeface="微软雅黑" panose="020B0503020204020204" pitchFamily="34" charset="-122"/>
                          <a:cs typeface="宋体" panose="02010600030101010101" pitchFamily="2" charset="-122"/>
                        </a:rPr>
                        <a:t>情境逻辑</a:t>
                      </a:r>
                      <a:endParaRPr lang="en-US" altLang="en-US" sz="2000" b="1" dirty="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dirty="0" err="1">
                          <a:latin typeface="微软雅黑" panose="020B0503020204020204" pitchFamily="34" charset="-122"/>
                          <a:ea typeface="微软雅黑" panose="020B0503020204020204" pitchFamily="34" charset="-122"/>
                          <a:cs typeface="宋体" panose="02010600030101010101" pitchFamily="2" charset="-122"/>
                        </a:rPr>
                        <a:t>知识逻辑</a:t>
                      </a:r>
                      <a:endParaRPr lang="en-US" altLang="en-US" sz="2000" b="1" dirty="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dirty="0" err="1">
                          <a:latin typeface="微软雅黑" panose="020B0503020204020204" pitchFamily="34" charset="-122"/>
                          <a:ea typeface="微软雅黑" panose="020B0503020204020204" pitchFamily="34" charset="-122"/>
                          <a:cs typeface="宋体" panose="02010600030101010101" pitchFamily="2" charset="-122"/>
                        </a:rPr>
                        <a:t>答案逻辑</a:t>
                      </a:r>
                      <a:endParaRPr lang="en-US" altLang="en-US" sz="2000" b="1" dirty="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dirty="0" err="1">
                          <a:latin typeface="微软雅黑" panose="020B0503020204020204" pitchFamily="34" charset="-122"/>
                          <a:ea typeface="微软雅黑" panose="020B0503020204020204" pitchFamily="34" charset="-122"/>
                          <a:cs typeface="宋体" panose="02010600030101010101" pitchFamily="2" charset="-122"/>
                        </a:rPr>
                        <a:t>修改补充反思</a:t>
                      </a:r>
                      <a:endParaRPr lang="en-US" altLang="en-US" sz="2000" b="1" dirty="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lnL w="12700" cap="flat" cmpd="sng" algn="ctr">
                      <a:solidFill>
                        <a:srgbClr val="080000"/>
                      </a:solidFill>
                      <a:prstDash val="solid"/>
                      <a:roun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749771">
                <a:tc>
                  <a:txBody>
                    <a:bodyPr/>
                    <a:lstStyle/>
                    <a:p>
                      <a:pPr indent="0" algn="ctr">
                        <a:buNone/>
                      </a:pPr>
                      <a:r>
                        <a:rPr lang="en-US" sz="2000" b="1">
                          <a:latin typeface="微软雅黑" panose="020B0503020204020204" pitchFamily="34" charset="-122"/>
                          <a:ea typeface="微软雅黑" panose="020B0503020204020204" pitchFamily="34" charset="-122"/>
                          <a:cs typeface="宋体" panose="02010600030101010101" pitchFamily="2" charset="-122"/>
                        </a:rPr>
                        <a:t> </a:t>
                      </a:r>
                      <a:endParaRPr lang="en-US" altLang="en-US" sz="2000" b="1">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dirty="0">
                          <a:latin typeface="微软雅黑" panose="020B0503020204020204" pitchFamily="34" charset="-122"/>
                          <a:ea typeface="微软雅黑" panose="020B0503020204020204" pitchFamily="34" charset="-122"/>
                          <a:cs typeface="宋体" panose="02010600030101010101" pitchFamily="2" charset="-122"/>
                        </a:rPr>
                        <a:t> </a:t>
                      </a:r>
                      <a:endParaRPr lang="en-US" altLang="en-US" sz="2000" b="1" dirty="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1" dirty="0">
                          <a:latin typeface="微软雅黑" panose="020B0503020204020204" pitchFamily="34" charset="-122"/>
                          <a:ea typeface="微软雅黑" panose="020B0503020204020204" pitchFamily="34" charset="-122"/>
                          <a:cs typeface="宋体" panose="02010600030101010101" pitchFamily="2" charset="-122"/>
                        </a:rPr>
                        <a:t> </a:t>
                      </a:r>
                      <a:endParaRPr lang="en-US" altLang="en-US" sz="2000" b="1" dirty="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zh-CN" altLang="en-US" sz="2000" b="1" dirty="0">
                          <a:solidFill>
                            <a:srgbClr val="FF0000"/>
                          </a:solidFill>
                          <a:latin typeface="楷体" panose="02010609060101010101" pitchFamily="49" charset="-122"/>
                          <a:ea typeface="楷体" panose="02010609060101010101" pitchFamily="49" charset="-122"/>
                          <a:cs typeface="宋体" panose="02010600030101010101" pitchFamily="2" charset="-122"/>
                        </a:rPr>
                        <a:t>针对设问</a:t>
                      </a:r>
                      <a:endParaRPr lang="en-US" altLang="zh-CN" sz="2000" b="1" dirty="0">
                        <a:solidFill>
                          <a:srgbClr val="FF0000"/>
                        </a:solidFill>
                        <a:latin typeface="楷体" panose="02010609060101010101" pitchFamily="49" charset="-122"/>
                        <a:ea typeface="楷体" panose="02010609060101010101" pitchFamily="49" charset="-122"/>
                        <a:cs typeface="宋体" panose="02010600030101010101" pitchFamily="2" charset="-122"/>
                      </a:endParaRPr>
                    </a:p>
                    <a:p>
                      <a:pPr indent="0" algn="ctr">
                        <a:buNone/>
                      </a:pPr>
                      <a:r>
                        <a:rPr lang="zh-CN" altLang="en-US" sz="2000" b="1" dirty="0">
                          <a:solidFill>
                            <a:srgbClr val="FF0000"/>
                          </a:solidFill>
                          <a:latin typeface="楷体" panose="02010609060101010101" pitchFamily="49" charset="-122"/>
                          <a:ea typeface="楷体" panose="02010609060101010101" pitchFamily="49" charset="-122"/>
                          <a:cs typeface="宋体" panose="02010600030101010101" pitchFamily="2" charset="-122"/>
                        </a:rPr>
                        <a:t>结合材料</a:t>
                      </a:r>
                      <a:endParaRPr lang="en-US" altLang="zh-CN" sz="2000" b="1" dirty="0">
                        <a:solidFill>
                          <a:srgbClr val="FF0000"/>
                        </a:solidFill>
                        <a:latin typeface="楷体" panose="02010609060101010101" pitchFamily="49" charset="-122"/>
                        <a:ea typeface="楷体" panose="02010609060101010101" pitchFamily="49" charset="-122"/>
                        <a:cs typeface="宋体" panose="02010600030101010101" pitchFamily="2" charset="-122"/>
                      </a:endParaRPr>
                    </a:p>
                    <a:p>
                      <a:pPr indent="0" algn="ctr">
                        <a:buNone/>
                      </a:pPr>
                      <a:r>
                        <a:rPr lang="zh-CN" altLang="en-US" sz="2000" b="1" dirty="0">
                          <a:solidFill>
                            <a:srgbClr val="FF0000"/>
                          </a:solidFill>
                          <a:latin typeface="楷体" panose="02010609060101010101" pitchFamily="49" charset="-122"/>
                          <a:ea typeface="楷体" panose="02010609060101010101" pitchFamily="49" charset="-122"/>
                          <a:cs typeface="宋体" panose="02010600030101010101" pitchFamily="2" charset="-122"/>
                        </a:rPr>
                        <a:t>用好</a:t>
                      </a:r>
                      <a:endParaRPr lang="en-US" altLang="zh-CN" sz="2000" b="1" dirty="0">
                        <a:solidFill>
                          <a:srgbClr val="FF0000"/>
                        </a:solidFill>
                        <a:latin typeface="楷体" panose="02010609060101010101" pitchFamily="49" charset="-122"/>
                        <a:ea typeface="楷体" panose="02010609060101010101" pitchFamily="49" charset="-122"/>
                        <a:cs typeface="宋体" panose="02010600030101010101" pitchFamily="2" charset="-122"/>
                      </a:endParaRPr>
                    </a:p>
                    <a:p>
                      <a:pPr indent="0" algn="ctr">
                        <a:buNone/>
                      </a:pPr>
                      <a:r>
                        <a:rPr lang="zh-CN" altLang="en-US" sz="2000" b="1" dirty="0">
                          <a:solidFill>
                            <a:srgbClr val="FF0000"/>
                          </a:solidFill>
                          <a:latin typeface="楷体" panose="02010609060101010101" pitchFamily="49" charset="-122"/>
                          <a:ea typeface="楷体" panose="02010609060101010101" pitchFamily="49" charset="-122"/>
                          <a:cs typeface="宋体" panose="02010600030101010101" pitchFamily="2" charset="-122"/>
                        </a:rPr>
                        <a:t>材料语言</a:t>
                      </a:r>
                      <a:endParaRPr lang="en-US" altLang="zh-CN" sz="2000" b="1" dirty="0">
                        <a:solidFill>
                          <a:srgbClr val="FF0000"/>
                        </a:solidFill>
                        <a:latin typeface="楷体" panose="02010609060101010101" pitchFamily="49" charset="-122"/>
                        <a:ea typeface="楷体" panose="02010609060101010101" pitchFamily="49" charset="-122"/>
                        <a:cs typeface="宋体" panose="02010600030101010101" pitchFamily="2" charset="-122"/>
                      </a:endParaRPr>
                    </a:p>
                    <a:p>
                      <a:pPr indent="0" algn="ctr">
                        <a:buNone/>
                      </a:pPr>
                      <a:r>
                        <a:rPr lang="zh-CN" altLang="en-US" sz="2000" b="1" dirty="0">
                          <a:solidFill>
                            <a:srgbClr val="FF0000"/>
                          </a:solidFill>
                          <a:latin typeface="楷体" panose="02010609060101010101" pitchFamily="49" charset="-122"/>
                          <a:ea typeface="楷体" panose="02010609060101010101" pitchFamily="49" charset="-122"/>
                          <a:cs typeface="宋体" panose="02010600030101010101" pitchFamily="2" charset="-122"/>
                        </a:rPr>
                        <a:t>教材语言</a:t>
                      </a:r>
                      <a:endParaRPr lang="en-US" altLang="zh-CN" sz="2000" b="1" dirty="0">
                        <a:solidFill>
                          <a:srgbClr val="FF0000"/>
                        </a:solidFill>
                        <a:latin typeface="楷体" panose="02010609060101010101" pitchFamily="49" charset="-122"/>
                        <a:ea typeface="楷体" panose="02010609060101010101" pitchFamily="49" charset="-122"/>
                        <a:cs typeface="宋体" panose="02010600030101010101" pitchFamily="2" charset="-122"/>
                      </a:endParaRPr>
                    </a:p>
                    <a:p>
                      <a:pPr indent="0" algn="ctr">
                        <a:buNone/>
                      </a:pPr>
                      <a:r>
                        <a:rPr lang="zh-CN" altLang="en-US" sz="2000" b="1" dirty="0">
                          <a:solidFill>
                            <a:srgbClr val="FF0000"/>
                          </a:solidFill>
                          <a:latin typeface="楷体" panose="02010609060101010101" pitchFamily="49" charset="-122"/>
                          <a:ea typeface="楷体" panose="02010609060101010101" pitchFamily="49" charset="-122"/>
                          <a:cs typeface="宋体" panose="02010600030101010101" pitchFamily="2" charset="-122"/>
                        </a:rPr>
                        <a:t>时政语言</a:t>
                      </a:r>
                      <a:r>
                        <a:rPr lang="en-US" sz="2000" b="1" dirty="0">
                          <a:solidFill>
                            <a:srgbClr val="FF0000"/>
                          </a:solidFill>
                          <a:latin typeface="楷体" panose="02010609060101010101" pitchFamily="49" charset="-122"/>
                          <a:ea typeface="楷体" panose="02010609060101010101" pitchFamily="49" charset="-122"/>
                          <a:cs typeface="宋体" panose="02010600030101010101" pitchFamily="2" charset="-122"/>
                        </a:rPr>
                        <a:t>  </a:t>
                      </a:r>
                      <a:endParaRPr lang="en-US" sz="2000" b="1" dirty="0">
                        <a:solidFill>
                          <a:srgbClr val="FF0000"/>
                        </a:solidFill>
                        <a:latin typeface="楷体" panose="02010609060101010101" pitchFamily="49" charset="-122"/>
                        <a:ea typeface="楷体" panose="02010609060101010101" pitchFamily="49" charset="-122"/>
                        <a:cs typeface="宋体" panose="02010600030101010101" pitchFamily="2" charset="-122"/>
                      </a:endParaRPr>
                    </a:p>
                    <a:p>
                      <a:pPr indent="0" algn="ctr">
                        <a:buNone/>
                      </a:pPr>
                      <a:r>
                        <a:rPr lang="zh-CN" altLang="en-US" sz="2000" b="1" dirty="0">
                          <a:solidFill>
                            <a:srgbClr val="FF0000"/>
                          </a:solidFill>
                          <a:latin typeface="楷体" panose="02010609060101010101" pitchFamily="49" charset="-122"/>
                          <a:ea typeface="楷体" panose="02010609060101010101" pitchFamily="49" charset="-122"/>
                          <a:cs typeface="宋体" panose="02010600030101010101" pitchFamily="2" charset="-122"/>
                        </a:rPr>
                        <a:t>层层递进</a:t>
                      </a:r>
                      <a:endParaRPr lang="en-US" altLang="en-US" sz="2000" b="1" dirty="0">
                        <a:solidFill>
                          <a:srgbClr val="FF0000"/>
                        </a:solidFill>
                        <a:latin typeface="楷体" panose="02010609060101010101" pitchFamily="49" charset="-122"/>
                        <a:ea typeface="楷体" panose="02010609060101010101" pitchFamily="49"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endParaRPr lang="en-US" altLang="en-US" sz="2000" b="1" dirty="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4" name="文本框 3"/>
          <p:cNvSpPr txBox="1"/>
          <p:nvPr/>
        </p:nvSpPr>
        <p:spPr>
          <a:xfrm>
            <a:off x="-10695" y="1407558"/>
            <a:ext cx="12192000" cy="1015663"/>
          </a:xfrm>
          <a:prstGeom prst="rect">
            <a:avLst/>
          </a:prstGeom>
          <a:noFill/>
        </p:spPr>
        <p:txBody>
          <a:bodyPr wrap="square" rtlCol="0">
            <a:spAutoFit/>
          </a:bodyPr>
          <a:lstStyle/>
          <a:p>
            <a:r>
              <a:rPr lang="zh-CN" altLang="en-US" sz="2000" dirty="0">
                <a:solidFill>
                  <a:srgbClr val="FF0000"/>
                </a:solidFill>
                <a:latin typeface="黑体" panose="02010609060101010101" pitchFamily="49" charset="-122"/>
                <a:ea typeface="黑体" panose="02010609060101010101" pitchFamily="49" charset="-122"/>
              </a:rPr>
              <a:t>一审设问五要素：主</a:t>
            </a:r>
            <a:r>
              <a:rPr lang="zh-CN" altLang="en-US" sz="2000" dirty="0">
                <a:solidFill>
                  <a:srgbClr val="0000CC"/>
                </a:solidFill>
                <a:latin typeface="黑体" panose="02010609060101010101" pitchFamily="49" charset="-122"/>
                <a:ea typeface="黑体" panose="02010609060101010101" pitchFamily="49" charset="-122"/>
              </a:rPr>
              <a:t>（主体）、</a:t>
            </a:r>
            <a:r>
              <a:rPr lang="zh-CN" altLang="en-US" sz="2000" dirty="0">
                <a:solidFill>
                  <a:srgbClr val="FF0000"/>
                </a:solidFill>
                <a:latin typeface="黑体" panose="02010609060101010101" pitchFamily="49" charset="-122"/>
                <a:ea typeface="黑体" panose="02010609060101010101" pitchFamily="49" charset="-122"/>
              </a:rPr>
              <a:t>范</a:t>
            </a:r>
            <a:r>
              <a:rPr lang="zh-CN" altLang="en-US" sz="2000" dirty="0">
                <a:solidFill>
                  <a:srgbClr val="0000CC"/>
                </a:solidFill>
                <a:latin typeface="黑体" panose="02010609060101010101" pitchFamily="49" charset="-122"/>
                <a:ea typeface="黑体" panose="02010609060101010101" pitchFamily="49" charset="-122"/>
              </a:rPr>
              <a:t>（知识范围）、</a:t>
            </a:r>
            <a:r>
              <a:rPr lang="zh-CN" altLang="en-US" sz="2000" dirty="0">
                <a:solidFill>
                  <a:srgbClr val="FF0000"/>
                </a:solidFill>
                <a:latin typeface="黑体" panose="02010609060101010101" pitchFamily="49" charset="-122"/>
                <a:ea typeface="黑体" panose="02010609060101010101" pitchFamily="49" charset="-122"/>
              </a:rPr>
              <a:t>问</a:t>
            </a:r>
            <a:r>
              <a:rPr lang="zh-CN" altLang="en-US" sz="2000" dirty="0">
                <a:solidFill>
                  <a:srgbClr val="0000CC"/>
                </a:solidFill>
                <a:latin typeface="黑体" panose="02010609060101010101" pitchFamily="49" charset="-122"/>
                <a:ea typeface="黑体" panose="02010609060101010101" pitchFamily="49" charset="-122"/>
              </a:rPr>
              <a:t>（问题角度是、为、怎）、</a:t>
            </a:r>
            <a:r>
              <a:rPr lang="zh-CN" altLang="en-US" sz="2000" dirty="0">
                <a:solidFill>
                  <a:srgbClr val="FF0000"/>
                </a:solidFill>
                <a:latin typeface="黑体" panose="02010609060101010101" pitchFamily="49" charset="-122"/>
                <a:ea typeface="黑体" panose="02010609060101010101" pitchFamily="49" charset="-122"/>
              </a:rPr>
              <a:t>结</a:t>
            </a:r>
            <a:r>
              <a:rPr lang="zh-CN" altLang="en-US" sz="2000" dirty="0">
                <a:solidFill>
                  <a:srgbClr val="0000CC"/>
                </a:solidFill>
                <a:latin typeface="黑体" panose="02010609060101010101" pitchFamily="49" charset="-122"/>
                <a:ea typeface="黑体" panose="02010609060101010101" pitchFamily="49" charset="-122"/>
              </a:rPr>
              <a:t>（结合材料）、</a:t>
            </a:r>
            <a:r>
              <a:rPr lang="zh-CN" altLang="en-US" sz="2000" dirty="0">
                <a:solidFill>
                  <a:srgbClr val="FF0000"/>
                </a:solidFill>
                <a:latin typeface="黑体" panose="02010609060101010101" pitchFamily="49" charset="-122"/>
                <a:ea typeface="黑体" panose="02010609060101010101" pitchFamily="49" charset="-122"/>
              </a:rPr>
              <a:t>分</a:t>
            </a:r>
            <a:r>
              <a:rPr lang="zh-CN" altLang="en-US" sz="2000" dirty="0">
                <a:solidFill>
                  <a:srgbClr val="0000CC"/>
                </a:solidFill>
                <a:latin typeface="黑体" panose="02010609060101010101" pitchFamily="49" charset="-122"/>
                <a:ea typeface="黑体" panose="02010609060101010101" pitchFamily="49" charset="-122"/>
              </a:rPr>
              <a:t>（分值）</a:t>
            </a:r>
            <a:endParaRPr lang="en-US" altLang="zh-CN" sz="2000" dirty="0">
              <a:solidFill>
                <a:srgbClr val="0000CC"/>
              </a:solidFill>
              <a:latin typeface="黑体" panose="02010609060101010101" pitchFamily="49" charset="-122"/>
              <a:ea typeface="黑体" panose="02010609060101010101" pitchFamily="49" charset="-122"/>
            </a:endParaRPr>
          </a:p>
          <a:p>
            <a:r>
              <a:rPr lang="zh-CN" altLang="en-US" sz="2000" dirty="0">
                <a:solidFill>
                  <a:srgbClr val="FF0000"/>
                </a:solidFill>
                <a:latin typeface="黑体" panose="02010609060101010101" pitchFamily="49" charset="-122"/>
                <a:ea typeface="黑体" panose="02010609060101010101" pitchFamily="49" charset="-122"/>
              </a:rPr>
              <a:t>二审材料划分层：</a:t>
            </a:r>
            <a:r>
              <a:rPr lang="zh-CN" altLang="en-US" sz="2000" dirty="0">
                <a:solidFill>
                  <a:srgbClr val="0000CC"/>
                </a:solidFill>
                <a:latin typeface="黑体" panose="02010609060101010101" pitchFamily="49" charset="-122"/>
                <a:ea typeface="黑体" panose="02010609060101010101" pitchFamily="49" charset="-122"/>
              </a:rPr>
              <a:t>分层分段、画出关键</a:t>
            </a:r>
            <a:endParaRPr lang="en-US" altLang="zh-CN" sz="2000" dirty="0">
              <a:solidFill>
                <a:srgbClr val="0000CC"/>
              </a:solidFill>
              <a:latin typeface="黑体" panose="02010609060101010101" pitchFamily="49" charset="-122"/>
              <a:ea typeface="黑体" panose="02010609060101010101" pitchFamily="49" charset="-122"/>
            </a:endParaRPr>
          </a:p>
          <a:p>
            <a:r>
              <a:rPr lang="zh-CN" altLang="en-US" sz="2000" dirty="0">
                <a:solidFill>
                  <a:srgbClr val="FF0000"/>
                </a:solidFill>
                <a:latin typeface="黑体" panose="02010609060101010101" pitchFamily="49" charset="-122"/>
                <a:ea typeface="黑体" panose="02010609060101010101" pitchFamily="49" charset="-122"/>
              </a:rPr>
              <a:t>再审设问建答案：</a:t>
            </a:r>
            <a:r>
              <a:rPr lang="zh-CN" altLang="en-US" sz="2000" dirty="0">
                <a:solidFill>
                  <a:srgbClr val="0000CC"/>
                </a:solidFill>
                <a:latin typeface="黑体" panose="02010609060101010101" pitchFamily="49" charset="-122"/>
                <a:ea typeface="黑体" panose="02010609060101010101" pitchFamily="49" charset="-122"/>
              </a:rPr>
              <a:t>材料语言</a:t>
            </a:r>
            <a:r>
              <a:rPr lang="en-US" altLang="zh-CN" sz="2000" dirty="0">
                <a:solidFill>
                  <a:srgbClr val="0000CC"/>
                </a:solidFill>
                <a:latin typeface="黑体" panose="02010609060101010101" pitchFamily="49" charset="-122"/>
                <a:ea typeface="黑体" panose="02010609060101010101" pitchFamily="49" charset="-122"/>
              </a:rPr>
              <a:t>+</a:t>
            </a:r>
            <a:r>
              <a:rPr lang="zh-CN" altLang="en-US" sz="2000" dirty="0">
                <a:solidFill>
                  <a:srgbClr val="0000CC"/>
                </a:solidFill>
                <a:latin typeface="黑体" panose="02010609060101010101" pitchFamily="49" charset="-122"/>
                <a:ea typeface="黑体" panose="02010609060101010101" pitchFamily="49" charset="-122"/>
              </a:rPr>
              <a:t>教材语言</a:t>
            </a:r>
            <a:r>
              <a:rPr lang="en-US" altLang="zh-CN" sz="2000" dirty="0">
                <a:solidFill>
                  <a:srgbClr val="0000CC"/>
                </a:solidFill>
                <a:latin typeface="黑体" panose="02010609060101010101" pitchFamily="49" charset="-122"/>
                <a:ea typeface="黑体" panose="02010609060101010101" pitchFamily="49" charset="-122"/>
              </a:rPr>
              <a:t>+</a:t>
            </a:r>
            <a:r>
              <a:rPr lang="zh-CN" altLang="en-US" sz="2000" dirty="0">
                <a:solidFill>
                  <a:srgbClr val="0000CC"/>
                </a:solidFill>
                <a:latin typeface="黑体" panose="02010609060101010101" pitchFamily="49" charset="-122"/>
                <a:ea typeface="黑体" panose="02010609060101010101" pitchFamily="49" charset="-122"/>
              </a:rPr>
              <a:t>时政语言</a:t>
            </a:r>
            <a:endParaRPr lang="zh-CN" altLang="en-US" sz="2000" dirty="0">
              <a:solidFill>
                <a:srgbClr val="0000CC"/>
              </a:solidFill>
              <a:latin typeface="黑体" panose="02010609060101010101" pitchFamily="49" charset="-122"/>
              <a:ea typeface="黑体" panose="02010609060101010101" pitchFamily="49" charset="-122"/>
            </a:endParaRPr>
          </a:p>
        </p:txBody>
      </p:sp>
      <p:sp>
        <p:nvSpPr>
          <p:cNvPr id="5" name="Rectangle 2"/>
          <p:cNvSpPr>
            <a:spLocks noChangeArrowheads="1"/>
          </p:cNvSpPr>
          <p:nvPr/>
        </p:nvSpPr>
        <p:spPr bwMode="auto">
          <a:xfrm>
            <a:off x="3530599" y="598300"/>
            <a:ext cx="6106695" cy="523220"/>
          </a:xfrm>
          <a:prstGeom prst="rect">
            <a:avLst/>
          </a:prstGeom>
          <a:blipFill dpi="0" rotWithShape="0">
            <a:blip r:embed="rId2"/>
            <a:srcRect/>
            <a:tile tx="0" ty="0" sx="100000" sy="100000" flip="none" algn="tl"/>
          </a:blipFill>
          <a:ln w="25400">
            <a:solidFill>
              <a:schemeClr val="tx1"/>
            </a:solidFill>
            <a:miter lim="800000"/>
          </a:ln>
        </p:spPr>
        <p:txBody>
          <a:bodyPr wrap="squar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800" b="1" dirty="0">
                <a:solidFill>
                  <a:srgbClr val="FF0000"/>
                </a:solidFill>
                <a:latin typeface="楷体" panose="02010609060101010101" pitchFamily="49" charset="-122"/>
                <a:ea typeface="楷体" panose="02010609060101010101" pitchFamily="49" charset="-122"/>
              </a:rPr>
              <a:t>非选择题“三审”“三语”</a:t>
            </a:r>
            <a:endParaRPr lang="zh-CN" altLang="en-US" sz="2800" b="1" dirty="0">
              <a:solidFill>
                <a:srgbClr val="FF0000"/>
              </a:solidFill>
              <a:latin typeface="楷体" panose="02010609060101010101" pitchFamily="49" charset="-122"/>
              <a:ea typeface="楷体" panose="02010609060101010101" pitchFamily="49" charset="-122"/>
            </a:endParaRPr>
          </a:p>
        </p:txBody>
      </p:sp>
      <p:sp>
        <p:nvSpPr>
          <p:cNvPr id="6" name="文本框 5"/>
          <p:cNvSpPr txBox="1"/>
          <p:nvPr/>
        </p:nvSpPr>
        <p:spPr>
          <a:xfrm>
            <a:off x="117642" y="5166421"/>
            <a:ext cx="11670631" cy="1631216"/>
          </a:xfrm>
          <a:prstGeom prst="rect">
            <a:avLst/>
          </a:prstGeom>
          <a:noFill/>
        </p:spPr>
        <p:txBody>
          <a:bodyPr wrap="square" rtlCol="0">
            <a:spAutoFit/>
          </a:bodyPr>
          <a:lstStyle/>
          <a:p>
            <a:pPr algn="ctr"/>
            <a:r>
              <a:rPr lang="zh-CN" altLang="en-US" sz="2000" b="1" dirty="0">
                <a:solidFill>
                  <a:srgbClr val="FF0000"/>
                </a:solidFill>
                <a:latin typeface="宋体" panose="02010600030101010101" pitchFamily="2" charset="-122"/>
                <a:ea typeface="宋体" panose="02010600030101010101" pitchFamily="2" charset="-122"/>
              </a:rPr>
              <a:t>如果您有成熟的讲法，用您自己的。</a:t>
            </a:r>
            <a:endParaRPr lang="en-US" altLang="zh-CN" sz="2000" b="1" dirty="0">
              <a:solidFill>
                <a:srgbClr val="FF0000"/>
              </a:solidFill>
              <a:latin typeface="宋体" panose="02010600030101010101" pitchFamily="2" charset="-122"/>
              <a:ea typeface="宋体" panose="02010600030101010101" pitchFamily="2" charset="-122"/>
            </a:endParaRPr>
          </a:p>
          <a:p>
            <a:pPr algn="ctr"/>
            <a:r>
              <a:rPr lang="zh-CN" altLang="en-US" sz="2000" b="1" dirty="0">
                <a:solidFill>
                  <a:srgbClr val="FF0000"/>
                </a:solidFill>
                <a:latin typeface="宋体" panose="02010600030101010101" pitchFamily="2" charset="-122"/>
                <a:ea typeface="宋体" panose="02010600030101010101" pitchFamily="2" charset="-122"/>
              </a:rPr>
              <a:t>将</a:t>
            </a:r>
            <a:r>
              <a:rPr lang="zh-CN" altLang="en-US" sz="2000" b="1" dirty="0">
                <a:solidFill>
                  <a:srgbClr val="0000CC"/>
                </a:solidFill>
                <a:latin typeface="宋体" panose="02010600030101010101" pitchFamily="2" charset="-122"/>
                <a:ea typeface="宋体" panose="02010600030101010101" pitchFamily="2" charset="-122"/>
              </a:rPr>
              <a:t>题意和方法</a:t>
            </a:r>
            <a:r>
              <a:rPr lang="zh-CN" altLang="en-US" sz="2000" b="1" dirty="0">
                <a:solidFill>
                  <a:srgbClr val="FF0000"/>
                </a:solidFill>
                <a:latin typeface="宋体" panose="02010600030101010101" pitchFamily="2" charset="-122"/>
                <a:ea typeface="宋体" panose="02010600030101010101" pitchFamily="2" charset="-122"/>
              </a:rPr>
              <a:t>讲清后，由</a:t>
            </a:r>
            <a:r>
              <a:rPr lang="zh-CN" altLang="en-US" sz="2000" b="1" dirty="0">
                <a:solidFill>
                  <a:srgbClr val="0000CC"/>
                </a:solidFill>
                <a:latin typeface="宋体" panose="02010600030101010101" pitchFamily="2" charset="-122"/>
                <a:ea typeface="宋体" panose="02010600030101010101" pitchFamily="2" charset="-122"/>
              </a:rPr>
              <a:t>学生</a:t>
            </a:r>
            <a:r>
              <a:rPr lang="zh-CN" altLang="en-US" sz="2000" b="1" dirty="0">
                <a:solidFill>
                  <a:srgbClr val="FF0000"/>
                </a:solidFill>
                <a:latin typeface="宋体" panose="02010600030101010101" pitchFamily="2" charset="-122"/>
                <a:ea typeface="宋体" panose="02010600030101010101" pitchFamily="2" charset="-122"/>
              </a:rPr>
              <a:t>在学历案上先进行</a:t>
            </a:r>
            <a:r>
              <a:rPr lang="zh-CN" altLang="en-US" sz="2000" b="1" dirty="0">
                <a:solidFill>
                  <a:srgbClr val="0000CC"/>
                </a:solidFill>
                <a:latin typeface="宋体" panose="02010600030101010101" pitchFamily="2" charset="-122"/>
                <a:ea typeface="宋体" panose="02010600030101010101" pitchFamily="2" charset="-122"/>
              </a:rPr>
              <a:t>二次答题；</a:t>
            </a:r>
            <a:endParaRPr lang="en-US" altLang="zh-CN" sz="2000" b="1" dirty="0">
              <a:solidFill>
                <a:srgbClr val="0000CC"/>
              </a:solidFill>
              <a:latin typeface="宋体" panose="02010600030101010101" pitchFamily="2" charset="-122"/>
              <a:ea typeface="宋体" panose="02010600030101010101" pitchFamily="2" charset="-122"/>
            </a:endParaRPr>
          </a:p>
          <a:p>
            <a:pPr algn="ctr"/>
            <a:r>
              <a:rPr lang="zh-CN" altLang="en-US" sz="2000" b="1" dirty="0">
                <a:solidFill>
                  <a:srgbClr val="FF0000"/>
                </a:solidFill>
                <a:latin typeface="宋体" panose="02010600030101010101" pitchFamily="2" charset="-122"/>
                <a:ea typeface="宋体" panose="02010600030101010101" pitchFamily="2" charset="-122"/>
              </a:rPr>
              <a:t>教师</a:t>
            </a:r>
            <a:r>
              <a:rPr lang="zh-CN" altLang="en-US" sz="2000" b="1" dirty="0">
                <a:solidFill>
                  <a:srgbClr val="0000CC"/>
                </a:solidFill>
                <a:latin typeface="宋体" panose="02010600030101010101" pitchFamily="2" charset="-122"/>
                <a:ea typeface="宋体" panose="02010600030101010101" pitchFamily="2" charset="-122"/>
              </a:rPr>
              <a:t>再出示答案示例</a:t>
            </a:r>
            <a:r>
              <a:rPr lang="zh-CN" altLang="en-US" sz="2000" b="1" dirty="0">
                <a:solidFill>
                  <a:srgbClr val="FF0000"/>
                </a:solidFill>
                <a:latin typeface="宋体" panose="02010600030101010101" pitchFamily="2" charset="-122"/>
                <a:ea typeface="宋体" panose="02010600030101010101" pitchFamily="2" charset="-122"/>
              </a:rPr>
              <a:t>，学生对照</a:t>
            </a:r>
            <a:r>
              <a:rPr lang="zh-CN" altLang="en-US" sz="2000" b="1" dirty="0">
                <a:solidFill>
                  <a:srgbClr val="0000CC"/>
                </a:solidFill>
                <a:latin typeface="宋体" panose="02010600030101010101" pitchFamily="2" charset="-122"/>
                <a:ea typeface="宋体" panose="02010600030101010101" pitchFamily="2" charset="-122"/>
              </a:rPr>
              <a:t>改写、补写</a:t>
            </a:r>
            <a:r>
              <a:rPr lang="zh-CN" altLang="en-US" sz="2000" b="1" dirty="0">
                <a:solidFill>
                  <a:srgbClr val="FF0000"/>
                </a:solidFill>
                <a:latin typeface="宋体" panose="02010600030101010101" pitchFamily="2" charset="-122"/>
                <a:ea typeface="宋体" panose="02010600030101010101" pitchFamily="2" charset="-122"/>
              </a:rPr>
              <a:t>；</a:t>
            </a:r>
            <a:endParaRPr lang="en-US" altLang="zh-CN" sz="2000" b="1" dirty="0">
              <a:solidFill>
                <a:srgbClr val="FF0000"/>
              </a:solidFill>
              <a:latin typeface="宋体" panose="02010600030101010101" pitchFamily="2" charset="-122"/>
              <a:ea typeface="宋体" panose="02010600030101010101" pitchFamily="2" charset="-122"/>
            </a:endParaRPr>
          </a:p>
          <a:p>
            <a:pPr algn="ctr"/>
            <a:r>
              <a:rPr lang="zh-CN" altLang="en-US" sz="2000" b="1" dirty="0">
                <a:solidFill>
                  <a:srgbClr val="FF0000"/>
                </a:solidFill>
                <a:latin typeface="宋体" panose="02010600030101010101" pitchFamily="2" charset="-122"/>
                <a:ea typeface="宋体" panose="02010600030101010101" pitchFamily="2" charset="-122"/>
              </a:rPr>
              <a:t>最后</a:t>
            </a:r>
            <a:r>
              <a:rPr lang="zh-CN" altLang="en-US" sz="2000" b="1" dirty="0">
                <a:solidFill>
                  <a:srgbClr val="0000CC"/>
                </a:solidFill>
                <a:latin typeface="宋体" panose="02010600030101010101" pitchFamily="2" charset="-122"/>
                <a:ea typeface="宋体" panose="02010600030101010101" pitchFamily="2" charset="-122"/>
              </a:rPr>
              <a:t>提炼关键</a:t>
            </a:r>
            <a:r>
              <a:rPr lang="zh-CN" altLang="en-US" sz="2000" b="1" dirty="0">
                <a:solidFill>
                  <a:srgbClr val="FF0000"/>
                </a:solidFill>
                <a:latin typeface="宋体" panose="02010600030101010101" pitchFamily="2" charset="-122"/>
                <a:ea typeface="宋体" panose="02010600030101010101" pitchFamily="2" charset="-122"/>
              </a:rPr>
              <a:t>缩写，</a:t>
            </a:r>
            <a:r>
              <a:rPr lang="zh-CN" altLang="en-US" sz="2000" b="1" dirty="0">
                <a:solidFill>
                  <a:srgbClr val="0000CC"/>
                </a:solidFill>
                <a:latin typeface="宋体" panose="02010600030101010101" pitchFamily="2" charset="-122"/>
                <a:ea typeface="宋体" panose="02010600030101010101" pitchFamily="2" charset="-122"/>
              </a:rPr>
              <a:t>背诵万</a:t>
            </a:r>
            <a:r>
              <a:rPr lang="zh-CN" altLang="en-US" sz="2000" b="1" dirty="0">
                <a:solidFill>
                  <a:srgbClr val="FF0000"/>
                </a:solidFill>
                <a:latin typeface="宋体" panose="02010600030101010101" pitchFamily="2" charset="-122"/>
                <a:ea typeface="宋体" panose="02010600030101010101" pitchFamily="2" charset="-122"/>
              </a:rPr>
              <a:t>能</a:t>
            </a:r>
            <a:r>
              <a:rPr lang="zh-CN" altLang="en-US" sz="2000" b="1" dirty="0">
                <a:solidFill>
                  <a:srgbClr val="0000CC"/>
                </a:solidFill>
                <a:latin typeface="宋体" panose="02010600030101010101" pitchFamily="2" charset="-122"/>
                <a:ea typeface="宋体" panose="02010600030101010101" pitchFamily="2" charset="-122"/>
              </a:rPr>
              <a:t>金句</a:t>
            </a:r>
            <a:r>
              <a:rPr lang="zh-CN" altLang="en-US" sz="2000" b="1" dirty="0">
                <a:solidFill>
                  <a:srgbClr val="FF0000"/>
                </a:solidFill>
                <a:latin typeface="宋体" panose="02010600030101010101" pitchFamily="2" charset="-122"/>
                <a:ea typeface="宋体" panose="02010600030101010101" pitchFamily="2" charset="-122"/>
              </a:rPr>
              <a:t>。</a:t>
            </a:r>
            <a:endParaRPr lang="en-US" altLang="zh-CN" sz="2000" b="1" dirty="0">
              <a:solidFill>
                <a:srgbClr val="FF0000"/>
              </a:solidFill>
              <a:latin typeface="宋体" panose="02010600030101010101" pitchFamily="2" charset="-122"/>
              <a:ea typeface="宋体" panose="02010600030101010101" pitchFamily="2" charset="-122"/>
            </a:endParaRPr>
          </a:p>
          <a:p>
            <a:pPr algn="ctr"/>
            <a:r>
              <a:rPr lang="zh-CN" altLang="en-US" sz="2000" b="1" dirty="0">
                <a:solidFill>
                  <a:srgbClr val="0000CC"/>
                </a:solidFill>
                <a:latin typeface="宋体" panose="02010600030101010101" pitchFamily="2" charset="-122"/>
                <a:ea typeface="宋体" panose="02010600030101010101" pitchFamily="2" charset="-122"/>
              </a:rPr>
              <a:t>切忌</a:t>
            </a:r>
            <a:r>
              <a:rPr lang="zh-CN" altLang="en-US" sz="2000" b="1" dirty="0">
                <a:solidFill>
                  <a:srgbClr val="FF0000"/>
                </a:solidFill>
                <a:latin typeface="宋体" panose="02010600030101010101" pitchFamily="2" charset="-122"/>
                <a:ea typeface="宋体" panose="02010600030101010101" pitchFamily="2" charset="-122"/>
              </a:rPr>
              <a:t>直接出示答案，草草了之。</a:t>
            </a:r>
            <a:endParaRPr lang="en-US" altLang="zh-CN" sz="2000" b="1" dirty="0">
              <a:solidFill>
                <a:srgbClr val="FF0000"/>
              </a:solidFill>
              <a:latin typeface="宋体" panose="02010600030101010101" pitchFamily="2" charset="-122"/>
              <a:ea typeface="宋体" panose="02010600030101010101" pitchFamily="2"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0" y="0"/>
            <a:ext cx="12192000" cy="1015663"/>
          </a:xfrm>
          <a:prstGeom prst="rect">
            <a:avLst/>
          </a:prstGeom>
          <a:noFill/>
        </p:spPr>
        <p:txBody>
          <a:bodyPr wrap="square" rtlCol="0">
            <a:spAutoFit/>
          </a:bodyPr>
          <a:lstStyle/>
          <a:p>
            <a:r>
              <a:rPr lang="zh-CN" altLang="en-US" sz="2000" dirty="0">
                <a:solidFill>
                  <a:srgbClr val="FF0000"/>
                </a:solidFill>
                <a:latin typeface="黑体" panose="02010609060101010101" pitchFamily="49" charset="-122"/>
                <a:ea typeface="黑体" panose="02010609060101010101" pitchFamily="49" charset="-122"/>
              </a:rPr>
              <a:t>一审设问五要素：主</a:t>
            </a:r>
            <a:r>
              <a:rPr lang="zh-CN" altLang="en-US" sz="2000" dirty="0">
                <a:solidFill>
                  <a:srgbClr val="0000CC"/>
                </a:solidFill>
                <a:latin typeface="黑体" panose="02010609060101010101" pitchFamily="49" charset="-122"/>
                <a:ea typeface="黑体" panose="02010609060101010101" pitchFamily="49" charset="-122"/>
              </a:rPr>
              <a:t>（主体）、</a:t>
            </a:r>
            <a:r>
              <a:rPr lang="zh-CN" altLang="en-US" sz="2000" dirty="0">
                <a:solidFill>
                  <a:srgbClr val="FF0000"/>
                </a:solidFill>
                <a:latin typeface="黑体" panose="02010609060101010101" pitchFamily="49" charset="-122"/>
                <a:ea typeface="黑体" panose="02010609060101010101" pitchFamily="49" charset="-122"/>
              </a:rPr>
              <a:t>范</a:t>
            </a:r>
            <a:r>
              <a:rPr lang="zh-CN" altLang="en-US" sz="2000" dirty="0">
                <a:solidFill>
                  <a:srgbClr val="0000CC"/>
                </a:solidFill>
                <a:latin typeface="黑体" panose="02010609060101010101" pitchFamily="49" charset="-122"/>
                <a:ea typeface="黑体" panose="02010609060101010101" pitchFamily="49" charset="-122"/>
              </a:rPr>
              <a:t>（知识范围）、</a:t>
            </a:r>
            <a:r>
              <a:rPr lang="zh-CN" altLang="en-US" sz="2000" dirty="0">
                <a:solidFill>
                  <a:srgbClr val="FF0000"/>
                </a:solidFill>
                <a:latin typeface="黑体" panose="02010609060101010101" pitchFamily="49" charset="-122"/>
                <a:ea typeface="黑体" panose="02010609060101010101" pitchFamily="49" charset="-122"/>
              </a:rPr>
              <a:t>问</a:t>
            </a:r>
            <a:r>
              <a:rPr lang="zh-CN" altLang="en-US" sz="2000" dirty="0">
                <a:solidFill>
                  <a:srgbClr val="0000CC"/>
                </a:solidFill>
                <a:latin typeface="黑体" panose="02010609060101010101" pitchFamily="49" charset="-122"/>
                <a:ea typeface="黑体" panose="02010609060101010101" pitchFamily="49" charset="-122"/>
              </a:rPr>
              <a:t>（问题角度是、为、怎）、</a:t>
            </a:r>
            <a:r>
              <a:rPr lang="zh-CN" altLang="en-US" sz="2000" dirty="0">
                <a:solidFill>
                  <a:srgbClr val="FF0000"/>
                </a:solidFill>
                <a:latin typeface="黑体" panose="02010609060101010101" pitchFamily="49" charset="-122"/>
                <a:ea typeface="黑体" panose="02010609060101010101" pitchFamily="49" charset="-122"/>
              </a:rPr>
              <a:t>结</a:t>
            </a:r>
            <a:r>
              <a:rPr lang="zh-CN" altLang="en-US" sz="2000" dirty="0">
                <a:solidFill>
                  <a:srgbClr val="0000CC"/>
                </a:solidFill>
                <a:latin typeface="黑体" panose="02010609060101010101" pitchFamily="49" charset="-122"/>
                <a:ea typeface="黑体" panose="02010609060101010101" pitchFamily="49" charset="-122"/>
              </a:rPr>
              <a:t>（结合材料）、</a:t>
            </a:r>
            <a:r>
              <a:rPr lang="zh-CN" altLang="en-US" sz="2000" dirty="0">
                <a:solidFill>
                  <a:srgbClr val="FF0000"/>
                </a:solidFill>
                <a:latin typeface="黑体" panose="02010609060101010101" pitchFamily="49" charset="-122"/>
                <a:ea typeface="黑体" panose="02010609060101010101" pitchFamily="49" charset="-122"/>
              </a:rPr>
              <a:t>分</a:t>
            </a:r>
            <a:r>
              <a:rPr lang="zh-CN" altLang="en-US" sz="2000" dirty="0">
                <a:solidFill>
                  <a:srgbClr val="0000CC"/>
                </a:solidFill>
                <a:latin typeface="黑体" panose="02010609060101010101" pitchFamily="49" charset="-122"/>
                <a:ea typeface="黑体" panose="02010609060101010101" pitchFamily="49" charset="-122"/>
              </a:rPr>
              <a:t>（分值）</a:t>
            </a:r>
            <a:endParaRPr lang="en-US" altLang="zh-CN" sz="2000" dirty="0">
              <a:solidFill>
                <a:srgbClr val="0000CC"/>
              </a:solidFill>
              <a:latin typeface="黑体" panose="02010609060101010101" pitchFamily="49" charset="-122"/>
              <a:ea typeface="黑体" panose="02010609060101010101" pitchFamily="49" charset="-122"/>
            </a:endParaRPr>
          </a:p>
          <a:p>
            <a:r>
              <a:rPr lang="zh-CN" altLang="en-US" sz="2000" dirty="0">
                <a:solidFill>
                  <a:srgbClr val="FF0000"/>
                </a:solidFill>
                <a:latin typeface="黑体" panose="02010609060101010101" pitchFamily="49" charset="-122"/>
                <a:ea typeface="黑体" panose="02010609060101010101" pitchFamily="49" charset="-122"/>
              </a:rPr>
              <a:t>二审材料划分层：</a:t>
            </a:r>
            <a:r>
              <a:rPr lang="zh-CN" altLang="en-US" sz="2000" dirty="0">
                <a:solidFill>
                  <a:srgbClr val="0000CC"/>
                </a:solidFill>
                <a:latin typeface="黑体" panose="02010609060101010101" pitchFamily="49" charset="-122"/>
                <a:ea typeface="黑体" panose="02010609060101010101" pitchFamily="49" charset="-122"/>
              </a:rPr>
              <a:t>分层分段、画出关键</a:t>
            </a:r>
            <a:endParaRPr lang="en-US" altLang="zh-CN" sz="2000" dirty="0">
              <a:solidFill>
                <a:srgbClr val="0000CC"/>
              </a:solidFill>
              <a:latin typeface="黑体" panose="02010609060101010101" pitchFamily="49" charset="-122"/>
              <a:ea typeface="黑体" panose="02010609060101010101" pitchFamily="49" charset="-122"/>
            </a:endParaRPr>
          </a:p>
          <a:p>
            <a:r>
              <a:rPr lang="zh-CN" altLang="en-US" sz="2000" dirty="0">
                <a:solidFill>
                  <a:srgbClr val="FF0000"/>
                </a:solidFill>
                <a:latin typeface="黑体" panose="02010609060101010101" pitchFamily="49" charset="-122"/>
                <a:ea typeface="黑体" panose="02010609060101010101" pitchFamily="49" charset="-122"/>
              </a:rPr>
              <a:t>再审设问建答案：</a:t>
            </a:r>
            <a:r>
              <a:rPr lang="zh-CN" altLang="en-US" sz="2000" dirty="0">
                <a:solidFill>
                  <a:srgbClr val="0000CC"/>
                </a:solidFill>
                <a:latin typeface="黑体" panose="02010609060101010101" pitchFamily="49" charset="-122"/>
                <a:ea typeface="黑体" panose="02010609060101010101" pitchFamily="49" charset="-122"/>
              </a:rPr>
              <a:t>材料语言</a:t>
            </a:r>
            <a:r>
              <a:rPr lang="en-US" altLang="zh-CN" sz="2000" dirty="0">
                <a:solidFill>
                  <a:srgbClr val="0000CC"/>
                </a:solidFill>
                <a:latin typeface="黑体" panose="02010609060101010101" pitchFamily="49" charset="-122"/>
                <a:ea typeface="黑体" panose="02010609060101010101" pitchFamily="49" charset="-122"/>
              </a:rPr>
              <a:t>+</a:t>
            </a:r>
            <a:r>
              <a:rPr lang="zh-CN" altLang="en-US" sz="2000" dirty="0">
                <a:solidFill>
                  <a:srgbClr val="0000CC"/>
                </a:solidFill>
                <a:latin typeface="黑体" panose="02010609060101010101" pitchFamily="49" charset="-122"/>
                <a:ea typeface="黑体" panose="02010609060101010101" pitchFamily="49" charset="-122"/>
              </a:rPr>
              <a:t>教材语言</a:t>
            </a:r>
            <a:r>
              <a:rPr lang="en-US" altLang="zh-CN" sz="2000" dirty="0">
                <a:solidFill>
                  <a:srgbClr val="0000CC"/>
                </a:solidFill>
                <a:latin typeface="黑体" panose="02010609060101010101" pitchFamily="49" charset="-122"/>
                <a:ea typeface="黑体" panose="02010609060101010101" pitchFamily="49" charset="-122"/>
              </a:rPr>
              <a:t>+</a:t>
            </a:r>
            <a:r>
              <a:rPr lang="zh-CN" altLang="en-US" sz="2000" dirty="0">
                <a:solidFill>
                  <a:srgbClr val="0000CC"/>
                </a:solidFill>
                <a:latin typeface="黑体" panose="02010609060101010101" pitchFamily="49" charset="-122"/>
                <a:ea typeface="黑体" panose="02010609060101010101" pitchFamily="49" charset="-122"/>
              </a:rPr>
              <a:t>时政语言</a:t>
            </a:r>
            <a:endParaRPr lang="zh-CN" altLang="en-US" sz="2000" dirty="0">
              <a:solidFill>
                <a:srgbClr val="0000CC"/>
              </a:solidFill>
              <a:latin typeface="黑体" panose="02010609060101010101" pitchFamily="49" charset="-122"/>
              <a:ea typeface="黑体" panose="02010609060101010101" pitchFamily="49" charset="-122"/>
            </a:endParaRPr>
          </a:p>
        </p:txBody>
      </p:sp>
      <p:sp>
        <p:nvSpPr>
          <p:cNvPr id="9" name="文本框 8"/>
          <p:cNvSpPr txBox="1"/>
          <p:nvPr/>
        </p:nvSpPr>
        <p:spPr>
          <a:xfrm>
            <a:off x="117284" y="1600200"/>
            <a:ext cx="1540042" cy="1015663"/>
          </a:xfrm>
          <a:prstGeom prst="rect">
            <a:avLst/>
          </a:prstGeom>
          <a:noFill/>
        </p:spPr>
        <p:txBody>
          <a:bodyPr wrap="square" rtlCol="0">
            <a:spAutoFit/>
          </a:bodyPr>
          <a:lstStyle/>
          <a:p>
            <a:r>
              <a:rPr lang="zh-CN" altLang="en-US" sz="2000" b="1" dirty="0">
                <a:latin typeface="宋体" panose="02010600030101010101" pitchFamily="2" charset="-122"/>
                <a:ea typeface="宋体" panose="02010600030101010101" pitchFamily="2" charset="-122"/>
              </a:rPr>
              <a:t>班级得分率：</a:t>
            </a:r>
            <a:endParaRPr lang="en-US" altLang="zh-CN" sz="2000" b="1" dirty="0">
              <a:latin typeface="宋体" panose="02010600030101010101" pitchFamily="2" charset="-122"/>
              <a:ea typeface="宋体" panose="02010600030101010101" pitchFamily="2" charset="-122"/>
            </a:endParaRPr>
          </a:p>
          <a:p>
            <a:r>
              <a:rPr lang="zh-CN" altLang="en-US" sz="2000" b="1" dirty="0">
                <a:latin typeface="宋体" panose="02010600030101010101" pitchFamily="2" charset="-122"/>
                <a:ea typeface="宋体" panose="02010600030101010101" pitchFamily="2" charset="-122"/>
              </a:rPr>
              <a:t>最高分：</a:t>
            </a:r>
            <a:endParaRPr lang="en-US" altLang="zh-CN" sz="2000" b="1" dirty="0">
              <a:latin typeface="宋体" panose="02010600030101010101" pitchFamily="2" charset="-122"/>
              <a:ea typeface="宋体" panose="02010600030101010101" pitchFamily="2" charset="-122"/>
            </a:endParaRPr>
          </a:p>
          <a:p>
            <a:r>
              <a:rPr lang="zh-CN" altLang="en-US" sz="2000" b="1" dirty="0">
                <a:latin typeface="宋体" panose="02010600030101010101" pitchFamily="2" charset="-122"/>
                <a:ea typeface="宋体" panose="02010600030101010101" pitchFamily="2" charset="-122"/>
              </a:rPr>
              <a:t>最低分：</a:t>
            </a:r>
            <a:endParaRPr lang="zh-CN" altLang="en-US" sz="2000" b="1" dirty="0">
              <a:latin typeface="宋体" panose="02010600030101010101" pitchFamily="2" charset="-122"/>
              <a:ea typeface="宋体" panose="02010600030101010101" pitchFamily="2" charset="-122"/>
            </a:endParaRPr>
          </a:p>
        </p:txBody>
      </p:sp>
      <p:sp>
        <p:nvSpPr>
          <p:cNvPr id="5" name="文本框 4"/>
          <p:cNvSpPr txBox="1"/>
          <p:nvPr/>
        </p:nvSpPr>
        <p:spPr>
          <a:xfrm>
            <a:off x="1441569" y="1189961"/>
            <a:ext cx="10120045" cy="5632311"/>
          </a:xfrm>
          <a:prstGeom prst="rect">
            <a:avLst/>
          </a:prstGeom>
          <a:noFill/>
        </p:spPr>
        <p:txBody>
          <a:bodyPr wrap="square">
            <a:spAutoFit/>
          </a:bodyPr>
          <a:lstStyle/>
          <a:p>
            <a:r>
              <a:rPr lang="en-US" altLang="zh-CN" sz="2400" dirty="0"/>
              <a:t>16.</a:t>
            </a:r>
            <a:r>
              <a:rPr lang="zh-CN" altLang="en-US" sz="2400" dirty="0"/>
              <a:t>（</a:t>
            </a:r>
            <a:r>
              <a:rPr lang="en-US" altLang="zh-CN" sz="2400" dirty="0"/>
              <a:t>7</a:t>
            </a:r>
            <a:r>
              <a:rPr lang="zh-CN" altLang="en-US" sz="2400" dirty="0"/>
              <a:t>分）</a:t>
            </a:r>
            <a:endParaRPr lang="zh-CN" altLang="en-US" sz="2400" dirty="0"/>
          </a:p>
          <a:p>
            <a:pPr indent="457200"/>
            <a:r>
              <a:rPr lang="zh-CN" altLang="en-US" sz="2400" dirty="0">
                <a:latin typeface="楷体" panose="02010609060101010101" pitchFamily="49" charset="-122"/>
                <a:ea typeface="楷体" panose="02010609060101010101" pitchFamily="49" charset="-122"/>
              </a:rPr>
              <a:t>中国共产党作为百年大党，如何跳出治乱兴衰历史周期率，永葆先进性和纯洁性、永葆青春活力，永远得到人民拥护和支持，实现长期执政，是必须回答好、解决好的一个根本性问题。</a:t>
            </a:r>
            <a:endParaRPr lang="zh-CN" altLang="en-US" sz="2400" dirty="0">
              <a:latin typeface="楷体" panose="02010609060101010101" pitchFamily="49" charset="-122"/>
              <a:ea typeface="楷体" panose="02010609060101010101" pitchFamily="49" charset="-122"/>
            </a:endParaRPr>
          </a:p>
          <a:p>
            <a:pPr indent="457200"/>
            <a:r>
              <a:rPr lang="zh-CN" altLang="en-US" sz="2400" dirty="0">
                <a:latin typeface="楷体" panose="02010609060101010101" pitchFamily="49" charset="-122"/>
                <a:ea typeface="楷体" panose="02010609060101010101" pitchFamily="49" charset="-122"/>
              </a:rPr>
              <a:t>对于这一问题，在“窑洞对”中，毛泽东给出了第一个答案，这就是“让人民来监督政府”。党的十八大以来，以习近平同志为核心的党中央带领全党以前所未有的决心力度推进全面从严治党，在第一个答案基础上，给出了第二个答案，这就是勇于自我革命。</a:t>
            </a:r>
            <a:endParaRPr lang="zh-CN" altLang="en-US" sz="2400" dirty="0">
              <a:latin typeface="楷体" panose="02010609060101010101" pitchFamily="49" charset="-122"/>
              <a:ea typeface="楷体" panose="02010609060101010101" pitchFamily="49" charset="-122"/>
            </a:endParaRPr>
          </a:p>
          <a:p>
            <a:pPr indent="457200"/>
            <a:r>
              <a:rPr lang="zh-CN" altLang="en-US" sz="2400" dirty="0">
                <a:latin typeface="楷体" panose="02010609060101010101" pitchFamily="49" charset="-122"/>
                <a:ea typeface="楷体" panose="02010609060101010101" pitchFamily="49" charset="-122"/>
              </a:rPr>
              <a:t>“接受人民监督”和“勇于自我革命”这两个答案的提出，体现了我们党对长期执政的规律性认识达到了新高度，必将引领我们党团结带领全国人民跳出“其兴也勃焉、其亡也忽焉”的历史周期率。</a:t>
            </a:r>
            <a:endParaRPr lang="en-US" altLang="zh-CN" sz="2400" dirty="0">
              <a:latin typeface="楷体" panose="02010609060101010101" pitchFamily="49" charset="-122"/>
              <a:ea typeface="楷体" panose="02010609060101010101" pitchFamily="49" charset="-122"/>
            </a:endParaRPr>
          </a:p>
          <a:p>
            <a:pPr indent="457200"/>
            <a:r>
              <a:rPr lang="zh-CN" altLang="en-US" sz="2400" dirty="0">
                <a:latin typeface="宋体" panose="02010600030101010101" pitchFamily="2" charset="-122"/>
                <a:ea typeface="宋体" panose="02010600030101010101" pitchFamily="2" charset="-122"/>
              </a:rPr>
              <a:t>结合材料，综合运用所学，分析</a:t>
            </a:r>
            <a:r>
              <a:rPr lang="zh-CN" altLang="en-US" sz="2400" dirty="0">
                <a:solidFill>
                  <a:srgbClr val="FF0000"/>
                </a:solidFill>
                <a:latin typeface="宋体" panose="02010600030101010101" pitchFamily="2" charset="-122"/>
                <a:ea typeface="宋体" panose="02010600030101010101" pitchFamily="2" charset="-122"/>
              </a:rPr>
              <a:t>“接受人民监督”</a:t>
            </a:r>
            <a:r>
              <a:rPr lang="zh-CN" altLang="en-US" sz="2400" dirty="0">
                <a:latin typeface="宋体" panose="02010600030101010101" pitchFamily="2" charset="-122"/>
                <a:ea typeface="宋体" panose="02010600030101010101" pitchFamily="2" charset="-122"/>
              </a:rPr>
              <a:t>与</a:t>
            </a:r>
            <a:r>
              <a:rPr lang="zh-CN" altLang="en-US" sz="2400" dirty="0">
                <a:solidFill>
                  <a:srgbClr val="FF0000"/>
                </a:solidFill>
                <a:latin typeface="宋体" panose="02010600030101010101" pitchFamily="2" charset="-122"/>
                <a:ea typeface="宋体" panose="02010600030101010101" pitchFamily="2" charset="-122"/>
              </a:rPr>
              <a:t>“勇于自我革命”</a:t>
            </a:r>
            <a:r>
              <a:rPr lang="zh-CN" altLang="en-US" sz="2400" dirty="0">
                <a:latin typeface="宋体" panose="02010600030101010101" pitchFamily="2" charset="-122"/>
                <a:ea typeface="宋体" panose="02010600030101010101" pitchFamily="2" charset="-122"/>
              </a:rPr>
              <a:t>的</a:t>
            </a:r>
            <a:r>
              <a:rPr lang="zh-CN" altLang="en-US" sz="2400" dirty="0">
                <a:solidFill>
                  <a:srgbClr val="FF0000"/>
                </a:solidFill>
                <a:latin typeface="宋体" panose="02010600030101010101" pitchFamily="2" charset="-122"/>
                <a:ea typeface="宋体" panose="02010600030101010101" pitchFamily="2" charset="-122"/>
              </a:rPr>
              <a:t>关系</a:t>
            </a:r>
            <a:r>
              <a:rPr lang="zh-CN" altLang="en-US" sz="2400" dirty="0">
                <a:latin typeface="宋体" panose="02010600030101010101" pitchFamily="2" charset="-122"/>
                <a:ea typeface="宋体" panose="02010600030101010101" pitchFamily="2" charset="-122"/>
              </a:rPr>
              <a:t>。</a:t>
            </a:r>
            <a:endParaRPr lang="en-US" altLang="zh-CN" sz="2400" dirty="0">
              <a:latin typeface="宋体" panose="02010600030101010101" pitchFamily="2" charset="-122"/>
              <a:ea typeface="宋体" panose="02010600030101010101" pitchFamily="2" charset="-122"/>
            </a:endParaRPr>
          </a:p>
          <a:p>
            <a:pPr indent="457200"/>
            <a:r>
              <a:rPr lang="zh-CN" altLang="en-US" sz="2400" b="1" dirty="0">
                <a:solidFill>
                  <a:srgbClr val="FF0000"/>
                </a:solidFill>
                <a:latin typeface="楷体" panose="02010609060101010101" pitchFamily="49" charset="-122"/>
                <a:ea typeface="楷体" panose="02010609060101010101" pitchFamily="49" charset="-122"/>
              </a:rPr>
              <a:t>借助本题，扎实落实关系类试题答案建构模型，请学生先学习参考示例，教师指导，归纳出模型。</a:t>
            </a:r>
            <a:endParaRPr lang="zh-CN" altLang="en-US" sz="2400" b="1" dirty="0">
              <a:solidFill>
                <a:srgbClr val="FF0000"/>
              </a:solidFill>
              <a:latin typeface="楷体" panose="02010609060101010101" pitchFamily="49" charset="-122"/>
              <a:ea typeface="楷体" panose="02010609060101010101" pitchFamily="49"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75352" y="428178"/>
            <a:ext cx="10664575" cy="6001643"/>
          </a:xfrm>
          <a:prstGeom prst="rect">
            <a:avLst/>
          </a:prstGeom>
          <a:solidFill>
            <a:schemeClr val="bg1"/>
          </a:solidFill>
        </p:spPr>
        <p:txBody>
          <a:bodyPr wrap="square">
            <a:spAutoFit/>
          </a:bodyPr>
          <a:lstStyle/>
          <a:p>
            <a:pPr indent="267970" algn="just"/>
            <a:r>
              <a:rPr lang="zh-CN" altLang="zh-CN" sz="2400" b="1" kern="100" dirty="0">
                <a:effectLst/>
                <a:latin typeface="等线" panose="02010600030101010101" charset="-122"/>
                <a:ea typeface="黑体" panose="02010609060101010101" pitchFamily="49" charset="-122"/>
                <a:cs typeface="Times New Roman" panose="02020603050405020304" pitchFamily="18" charset="0"/>
              </a:rPr>
              <a:t>参考示例：</a:t>
            </a:r>
            <a:endParaRPr lang="zh-CN" altLang="zh-CN" sz="2400" kern="100" dirty="0">
              <a:effectLst/>
              <a:latin typeface="等线" panose="02010600030101010101" charset="-122"/>
              <a:ea typeface="等线" panose="02010600030101010101" charset="-122"/>
              <a:cs typeface="Times New Roman" panose="02020603050405020304" pitchFamily="18" charset="0"/>
            </a:endParaRPr>
          </a:p>
          <a:p>
            <a:pPr indent="266700" algn="just"/>
            <a:r>
              <a:rPr lang="zh-CN" altLang="zh-CN" sz="2400" kern="100" dirty="0">
                <a:effectLst/>
                <a:latin typeface="等线" panose="02010600030101010101" charset="-122"/>
                <a:ea typeface="黑体" panose="02010609060101010101" pitchFamily="49" charset="-122"/>
                <a:cs typeface="Times New Roman" panose="02020603050405020304" pitchFamily="18" charset="0"/>
              </a:rPr>
              <a:t>“接受人民监督”与“勇于自我革命”是</a:t>
            </a:r>
            <a:r>
              <a:rPr lang="zh-CN" altLang="zh-CN" sz="2400" kern="100" dirty="0">
                <a:solidFill>
                  <a:srgbClr val="C00000"/>
                </a:solidFill>
                <a:effectLst/>
                <a:latin typeface="等线" panose="02010600030101010101" charset="-122"/>
                <a:ea typeface="黑体" panose="02010609060101010101" pitchFamily="49" charset="-122"/>
                <a:cs typeface="Times New Roman" panose="02020603050405020304" pitchFamily="18" charset="0"/>
              </a:rPr>
              <a:t>辩证统一</a:t>
            </a:r>
            <a:r>
              <a:rPr lang="zh-CN" altLang="zh-CN" sz="2400" kern="100" dirty="0">
                <a:effectLst/>
                <a:latin typeface="等线" panose="02010600030101010101" charset="-122"/>
                <a:ea typeface="黑体" panose="02010609060101010101" pitchFamily="49" charset="-122"/>
                <a:cs typeface="Times New Roman" panose="02020603050405020304" pitchFamily="18" charset="0"/>
              </a:rPr>
              <a:t>的。</a:t>
            </a:r>
            <a:endParaRPr lang="zh-CN" altLang="zh-CN" sz="2400" kern="100" dirty="0">
              <a:effectLst/>
              <a:latin typeface="等线" panose="02010600030101010101" charset="-122"/>
              <a:ea typeface="等线" panose="02010600030101010101" charset="-122"/>
              <a:cs typeface="Times New Roman" panose="02020603050405020304" pitchFamily="18" charset="0"/>
            </a:endParaRPr>
          </a:p>
          <a:p>
            <a:pPr indent="266700" algn="just"/>
            <a:r>
              <a:rPr lang="en-US" altLang="zh-CN" sz="2400" kern="100" dirty="0">
                <a:effectLst/>
                <a:latin typeface="等线" panose="02010600030101010101" charset="-122"/>
                <a:ea typeface="黑体" panose="02010609060101010101" pitchFamily="49" charset="-122"/>
                <a:cs typeface="Times New Roman" panose="02020603050405020304" pitchFamily="18" charset="0"/>
              </a:rPr>
              <a:t>  </a:t>
            </a:r>
            <a:r>
              <a:rPr lang="zh-CN" altLang="zh-CN" sz="2400" kern="100" dirty="0">
                <a:effectLst/>
                <a:latin typeface="等线" panose="02010600030101010101" charset="-122"/>
                <a:ea typeface="黑体" panose="02010609060101010101" pitchFamily="49" charset="-122"/>
                <a:cs typeface="Times New Roman" panose="02020603050405020304" pitchFamily="18" charset="0"/>
              </a:rPr>
              <a:t>接受人民监督，</a:t>
            </a:r>
            <a:r>
              <a:rPr lang="zh-CN" altLang="zh-CN" sz="2400" kern="100" dirty="0">
                <a:solidFill>
                  <a:srgbClr val="C00000"/>
                </a:solidFill>
                <a:effectLst/>
                <a:latin typeface="等线" panose="02010600030101010101" charset="-122"/>
                <a:ea typeface="黑体" panose="02010609060101010101" pitchFamily="49" charset="-122"/>
                <a:cs typeface="Times New Roman" panose="02020603050405020304" pitchFamily="18" charset="0"/>
              </a:rPr>
              <a:t>依靠对象为人民群众</a:t>
            </a:r>
            <a:r>
              <a:rPr lang="zh-CN" altLang="zh-CN" sz="2400" kern="100" dirty="0">
                <a:effectLst/>
                <a:latin typeface="等线" panose="02010600030101010101" charset="-122"/>
                <a:ea typeface="黑体" panose="02010609060101010101" pitchFamily="49" charset="-122"/>
                <a:cs typeface="Times New Roman" panose="02020603050405020304" pitchFamily="18" charset="0"/>
              </a:rPr>
              <a:t>，以人民代表大会制度、中国共产党领导的多党合作和政治协商制度、基层民主自治制度等为主要依托，强调保障人民知情权、参与权、表达权、监督权，</a:t>
            </a:r>
            <a:r>
              <a:rPr lang="zh-CN" altLang="zh-CN" sz="2400" kern="100" dirty="0">
                <a:solidFill>
                  <a:srgbClr val="C00000"/>
                </a:solidFill>
                <a:effectLst/>
                <a:latin typeface="等线" panose="02010600030101010101" charset="-122"/>
                <a:ea typeface="黑体" panose="02010609060101010101" pitchFamily="49" charset="-122"/>
                <a:cs typeface="Times New Roman" panose="02020603050405020304" pitchFamily="18" charset="0"/>
              </a:rPr>
              <a:t>主要是党外</a:t>
            </a:r>
            <a:r>
              <a:rPr lang="zh-CN" altLang="zh-CN" sz="2400" kern="100" dirty="0">
                <a:effectLst/>
                <a:latin typeface="等线" panose="02010600030101010101" charset="-122"/>
                <a:ea typeface="黑体" panose="02010609060101010101" pitchFamily="49" charset="-122"/>
                <a:cs typeface="Times New Roman" panose="02020603050405020304" pitchFamily="18" charset="0"/>
              </a:rPr>
              <a:t>向党内施加影响，</a:t>
            </a:r>
            <a:r>
              <a:rPr lang="zh-CN" altLang="zh-CN" sz="2400" kern="100" dirty="0">
                <a:solidFill>
                  <a:srgbClr val="C00000"/>
                </a:solidFill>
                <a:effectLst/>
                <a:latin typeface="等线" panose="02010600030101010101" charset="-122"/>
                <a:ea typeface="黑体" panose="02010609060101010101" pitchFamily="49" charset="-122"/>
                <a:cs typeface="Times New Roman" panose="02020603050405020304" pitchFamily="18" charset="0"/>
              </a:rPr>
              <a:t>从外因的角度回答了</a:t>
            </a:r>
            <a:r>
              <a:rPr lang="zh-CN" altLang="zh-CN" sz="2400" kern="100" dirty="0">
                <a:effectLst/>
                <a:latin typeface="等线" panose="02010600030101010101" charset="-122"/>
                <a:ea typeface="黑体" panose="02010609060101010101" pitchFamily="49" charset="-122"/>
                <a:cs typeface="Times New Roman" panose="02020603050405020304" pitchFamily="18" charset="0"/>
              </a:rPr>
              <a:t>如何跳出历史周期率的问题。</a:t>
            </a:r>
            <a:endParaRPr lang="zh-CN" altLang="zh-CN" sz="2400" kern="100" dirty="0">
              <a:effectLst/>
              <a:latin typeface="等线" panose="02010600030101010101" charset="-122"/>
              <a:ea typeface="等线" panose="02010600030101010101" charset="-122"/>
              <a:cs typeface="Times New Roman" panose="02020603050405020304" pitchFamily="18" charset="0"/>
            </a:endParaRPr>
          </a:p>
          <a:p>
            <a:pPr indent="266700" algn="just"/>
            <a:r>
              <a:rPr lang="en-US" altLang="zh-CN" sz="2400" kern="100" dirty="0">
                <a:solidFill>
                  <a:srgbClr val="C00000"/>
                </a:solidFill>
                <a:effectLst/>
                <a:latin typeface="等线" panose="02010600030101010101" charset="-122"/>
                <a:ea typeface="黑体" panose="02010609060101010101" pitchFamily="49" charset="-122"/>
                <a:cs typeface="Times New Roman" panose="02020603050405020304" pitchFamily="18" charset="0"/>
              </a:rPr>
              <a:t>  </a:t>
            </a:r>
            <a:r>
              <a:rPr lang="zh-CN" altLang="zh-CN" sz="2400" kern="100" dirty="0">
                <a:solidFill>
                  <a:srgbClr val="C00000"/>
                </a:solidFill>
                <a:effectLst/>
                <a:latin typeface="等线" panose="02010600030101010101" charset="-122"/>
                <a:ea typeface="黑体" panose="02010609060101010101" pitchFamily="49" charset="-122"/>
                <a:cs typeface="Times New Roman" panose="02020603050405020304" pitchFamily="18" charset="0"/>
              </a:rPr>
              <a:t>勇于自我革命是党在全面从严治党中不断实现自我净化、自我完善、自我革新、自我提高</a:t>
            </a:r>
            <a:r>
              <a:rPr lang="zh-CN" altLang="zh-CN" sz="2400" kern="100" dirty="0">
                <a:effectLst/>
                <a:latin typeface="等线" panose="02010600030101010101" charset="-122"/>
                <a:ea typeface="黑体" panose="02010609060101010101" pitchFamily="49" charset="-122"/>
                <a:cs typeface="Times New Roman" panose="02020603050405020304" pitchFamily="18" charset="0"/>
              </a:rPr>
              <a:t>，更加强调全党始终保持永不懈怠的品格和承认并改正错误的勇气，</a:t>
            </a:r>
            <a:r>
              <a:rPr lang="zh-CN" altLang="zh-CN" sz="2400" kern="100" dirty="0">
                <a:solidFill>
                  <a:srgbClr val="C00000"/>
                </a:solidFill>
                <a:effectLst/>
                <a:latin typeface="等线" panose="02010600030101010101" charset="-122"/>
                <a:ea typeface="黑体" panose="02010609060101010101" pitchFamily="49" charset="-122"/>
                <a:cs typeface="Times New Roman" panose="02020603050405020304" pitchFamily="18" charset="0"/>
              </a:rPr>
              <a:t>从内因的角度</a:t>
            </a:r>
            <a:r>
              <a:rPr lang="zh-CN" altLang="zh-CN" sz="2400" kern="100" dirty="0">
                <a:effectLst/>
                <a:latin typeface="等线" panose="02010600030101010101" charset="-122"/>
                <a:ea typeface="黑体" panose="02010609060101010101" pitchFamily="49" charset="-122"/>
                <a:cs typeface="Times New Roman" panose="02020603050405020304" pitchFamily="18" charset="0"/>
              </a:rPr>
              <a:t>，即从加强</a:t>
            </a:r>
            <a:r>
              <a:rPr lang="zh-CN" altLang="zh-CN" sz="2400" kern="100" dirty="0">
                <a:solidFill>
                  <a:srgbClr val="C00000"/>
                </a:solidFill>
                <a:effectLst/>
                <a:latin typeface="等线" panose="02010600030101010101" charset="-122"/>
                <a:ea typeface="黑体" panose="02010609060101010101" pitchFamily="49" charset="-122"/>
                <a:cs typeface="Times New Roman" panose="02020603050405020304" pitchFamily="18" charset="0"/>
              </a:rPr>
              <a:t>党的自身建设</a:t>
            </a:r>
            <a:r>
              <a:rPr lang="zh-CN" altLang="zh-CN" sz="2400" kern="100" dirty="0">
                <a:effectLst/>
                <a:latin typeface="等线" panose="02010600030101010101" charset="-122"/>
                <a:ea typeface="黑体" panose="02010609060101010101" pitchFamily="49" charset="-122"/>
                <a:cs typeface="Times New Roman" panose="02020603050405020304" pitchFamily="18" charset="0"/>
              </a:rPr>
              <a:t>新角度，回答了如何跳出历史周期率的问题。</a:t>
            </a:r>
            <a:endParaRPr lang="zh-CN" altLang="zh-CN" sz="2400" kern="100" dirty="0">
              <a:effectLst/>
              <a:latin typeface="等线" panose="02010600030101010101" charset="-122"/>
              <a:ea typeface="等线" panose="02010600030101010101" charset="-122"/>
              <a:cs typeface="Times New Roman" panose="02020603050405020304" pitchFamily="18" charset="0"/>
            </a:endParaRPr>
          </a:p>
          <a:p>
            <a:pPr indent="266700" algn="just"/>
            <a:r>
              <a:rPr lang="en-US" altLang="zh-CN" sz="2400" kern="100" dirty="0">
                <a:effectLst/>
                <a:latin typeface="等线" panose="02010600030101010101" charset="-122"/>
                <a:ea typeface="黑体" panose="02010609060101010101" pitchFamily="49" charset="-122"/>
                <a:cs typeface="Times New Roman" panose="02020603050405020304" pitchFamily="18" charset="0"/>
              </a:rPr>
              <a:t> </a:t>
            </a:r>
            <a:r>
              <a:rPr lang="zh-CN" altLang="zh-CN" sz="2400" kern="100" dirty="0">
                <a:effectLst/>
                <a:latin typeface="等线" panose="02010600030101010101" charset="-122"/>
                <a:ea typeface="黑体" panose="02010609060101010101" pitchFamily="49" charset="-122"/>
                <a:cs typeface="Times New Roman" panose="02020603050405020304" pitchFamily="18" charset="0"/>
              </a:rPr>
              <a:t>“接受人民监督”与“勇于自我革命”</a:t>
            </a:r>
            <a:r>
              <a:rPr lang="zh-CN" altLang="zh-CN" sz="2400" kern="100" dirty="0">
                <a:solidFill>
                  <a:srgbClr val="4472C4"/>
                </a:solidFill>
                <a:effectLst/>
                <a:latin typeface="等线" panose="02010600030101010101" charset="-122"/>
                <a:ea typeface="黑体" panose="02010609060101010101" pitchFamily="49" charset="-122"/>
                <a:cs typeface="Times New Roman" panose="02020603050405020304" pitchFamily="18" charset="0"/>
              </a:rPr>
              <a:t>都源自党的初心和使命</a:t>
            </a:r>
            <a:r>
              <a:rPr lang="zh-CN" altLang="zh-CN" sz="2400" kern="100" dirty="0">
                <a:effectLst/>
                <a:latin typeface="等线" panose="02010600030101010101" charset="-122"/>
                <a:ea typeface="黑体" panose="02010609060101010101" pitchFamily="49" charset="-122"/>
                <a:cs typeface="Times New Roman" panose="02020603050405020304" pitchFamily="18" charset="0"/>
              </a:rPr>
              <a:t>，</a:t>
            </a:r>
            <a:r>
              <a:rPr lang="zh-CN" altLang="zh-CN" sz="2400" kern="100" dirty="0">
                <a:solidFill>
                  <a:srgbClr val="4472C4"/>
                </a:solidFill>
                <a:effectLst/>
                <a:latin typeface="等线" panose="02010600030101010101" charset="-122"/>
                <a:ea typeface="黑体" panose="02010609060101010101" pitchFamily="49" charset="-122"/>
                <a:cs typeface="Times New Roman" panose="02020603050405020304" pitchFamily="18" charset="0"/>
              </a:rPr>
              <a:t>是统一的</a:t>
            </a:r>
            <a:r>
              <a:rPr lang="zh-CN" altLang="zh-CN" sz="2400" kern="100" dirty="0">
                <a:effectLst/>
                <a:latin typeface="等线" panose="02010600030101010101" charset="-122"/>
                <a:ea typeface="黑体" panose="02010609060101010101" pitchFamily="49" charset="-122"/>
                <a:cs typeface="Times New Roman" panose="02020603050405020304" pitchFamily="18" charset="0"/>
              </a:rPr>
              <a:t>。</a:t>
            </a:r>
            <a:r>
              <a:rPr lang="zh-CN" altLang="zh-CN" sz="2400" kern="100" dirty="0">
                <a:solidFill>
                  <a:srgbClr val="4472C4"/>
                </a:solidFill>
                <a:effectLst/>
                <a:latin typeface="等线" panose="02010600030101010101" charset="-122"/>
                <a:ea typeface="黑体" panose="02010609060101010101" pitchFamily="49" charset="-122"/>
                <a:cs typeface="Times New Roman" panose="02020603050405020304" pitchFamily="18" charset="0"/>
              </a:rPr>
              <a:t>一方面，两者相互促进，人民的监督能够鞭策勇于自我革命</a:t>
            </a:r>
            <a:r>
              <a:rPr lang="zh-CN" altLang="zh-CN" sz="2400" kern="100" dirty="0">
                <a:effectLst/>
                <a:latin typeface="等线" panose="02010600030101010101" charset="-122"/>
                <a:ea typeface="黑体" panose="02010609060101010101" pitchFamily="49" charset="-122"/>
                <a:cs typeface="Times New Roman" panose="02020603050405020304" pitchFamily="18" charset="0"/>
              </a:rPr>
              <a:t>；而</a:t>
            </a:r>
            <a:r>
              <a:rPr lang="zh-CN" altLang="zh-CN" sz="2400" kern="100" dirty="0">
                <a:solidFill>
                  <a:srgbClr val="4472C4"/>
                </a:solidFill>
                <a:effectLst/>
                <a:latin typeface="等线" panose="02010600030101010101" charset="-122"/>
                <a:ea typeface="黑体" panose="02010609060101010101" pitchFamily="49" charset="-122"/>
                <a:cs typeface="Times New Roman" panose="02020603050405020304" pitchFamily="18" charset="0"/>
              </a:rPr>
              <a:t>内在的自我革命能弥补外在监督的不足</a:t>
            </a:r>
            <a:r>
              <a:rPr lang="zh-CN" altLang="zh-CN" sz="2400" kern="100" dirty="0">
                <a:effectLst/>
                <a:latin typeface="等线" panose="02010600030101010101" charset="-122"/>
                <a:ea typeface="黑体" panose="02010609060101010101" pitchFamily="49" charset="-122"/>
                <a:cs typeface="Times New Roman" panose="02020603050405020304" pitchFamily="18" charset="0"/>
              </a:rPr>
              <a:t>；另一方面，两者</a:t>
            </a:r>
            <a:r>
              <a:rPr lang="zh-CN" altLang="zh-CN" sz="2400" kern="100" dirty="0">
                <a:solidFill>
                  <a:srgbClr val="4472C4"/>
                </a:solidFill>
                <a:effectLst/>
                <a:latin typeface="等线" panose="02010600030101010101" charset="-122"/>
                <a:ea typeface="黑体" panose="02010609060101010101" pitchFamily="49" charset="-122"/>
                <a:cs typeface="Times New Roman" panose="02020603050405020304" pitchFamily="18" charset="0"/>
              </a:rPr>
              <a:t>都坚持人民至上的原则，都坚持党的领导</a:t>
            </a:r>
            <a:r>
              <a:rPr lang="zh-CN" altLang="zh-CN" sz="2400" kern="100" dirty="0">
                <a:effectLst/>
                <a:latin typeface="等线" panose="02010600030101010101" charset="-122"/>
                <a:ea typeface="黑体" panose="02010609060101010101" pitchFamily="49" charset="-122"/>
                <a:cs typeface="Times New Roman" panose="02020603050405020304" pitchFamily="18" charset="0"/>
              </a:rPr>
              <a:t>，都以跳出历史周期率为目标。</a:t>
            </a:r>
            <a:endParaRPr lang="zh-CN" altLang="zh-CN" sz="2400" kern="100" dirty="0">
              <a:effectLst/>
              <a:latin typeface="等线" panose="02010600030101010101" charset="-122"/>
              <a:ea typeface="等线" panose="02010600030101010101" charset="-122"/>
              <a:cs typeface="Times New Roman" panose="02020603050405020304" pitchFamily="18" charset="0"/>
            </a:endParaRPr>
          </a:p>
          <a:p>
            <a:pPr indent="266700" algn="just"/>
            <a:r>
              <a:rPr lang="en-US" altLang="zh-CN" sz="2400" kern="100" dirty="0">
                <a:effectLst/>
                <a:latin typeface="等线" panose="02010600030101010101" charset="-122"/>
                <a:ea typeface="黑体" panose="02010609060101010101" pitchFamily="49" charset="-122"/>
                <a:cs typeface="Times New Roman" panose="02020603050405020304" pitchFamily="18" charset="0"/>
              </a:rPr>
              <a:t>  </a:t>
            </a:r>
            <a:r>
              <a:rPr lang="zh-CN" altLang="zh-CN" sz="2400" kern="100" dirty="0">
                <a:effectLst/>
                <a:latin typeface="等线" panose="02010600030101010101" charset="-122"/>
                <a:ea typeface="黑体" panose="02010609060101010101" pitchFamily="49" charset="-122"/>
                <a:cs typeface="Times New Roman" panose="02020603050405020304" pitchFamily="18" charset="0"/>
              </a:rPr>
              <a:t>一百年来，</a:t>
            </a:r>
            <a:r>
              <a:rPr lang="zh-CN" altLang="zh-CN" sz="2400" kern="100" dirty="0">
                <a:solidFill>
                  <a:srgbClr val="C00000"/>
                </a:solidFill>
                <a:effectLst/>
                <a:latin typeface="等线" panose="02010600030101010101" charset="-122"/>
                <a:ea typeface="黑体" panose="02010609060101010101" pitchFamily="49" charset="-122"/>
                <a:cs typeface="Times New Roman" panose="02020603050405020304" pitchFamily="18" charset="0"/>
              </a:rPr>
              <a:t>党外靠发展人民民主、接受人民监督，内靠全面从严治党、推进自我革命</a:t>
            </a:r>
            <a:r>
              <a:rPr lang="zh-CN" altLang="zh-CN" sz="2400" kern="100" dirty="0">
                <a:effectLst/>
                <a:latin typeface="等线" panose="02010600030101010101" charset="-122"/>
                <a:ea typeface="黑体" panose="02010609060101010101" pitchFamily="49" charset="-122"/>
                <a:cs typeface="Times New Roman" panose="02020603050405020304" pitchFamily="18" charset="0"/>
              </a:rPr>
              <a:t>，保证了党长盛不衰、不断发展壮大。</a:t>
            </a:r>
            <a:endParaRPr lang="zh-CN" altLang="zh-CN" sz="2400" kern="100" dirty="0">
              <a:effectLst/>
              <a:latin typeface="等线" panose="02010600030101010101" charset="-122"/>
              <a:ea typeface="等线" panose="02010600030101010101" charset="-122"/>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850756" y="2071170"/>
            <a:ext cx="10035540" cy="3415030"/>
          </a:xfrm>
          <a:prstGeom prst="rect">
            <a:avLst/>
          </a:prstGeom>
        </p:spPr>
        <p:txBody>
          <a:bodyPr wrap="square">
            <a:spAutoFit/>
          </a:bodyPr>
          <a:lstStyle/>
          <a:p>
            <a:pPr indent="0" fontAlgn="auto">
              <a:lnSpc>
                <a:spcPct val="150000"/>
              </a:lnSpc>
            </a:pPr>
            <a:r>
              <a:rPr lang="en-US" altLang="zh-CN" sz="3600" b="1" dirty="0">
                <a:solidFill>
                  <a:srgbClr val="0000FF"/>
                </a:solidFill>
                <a:latin typeface="楷体" panose="02010609060101010101" pitchFamily="49" charset="-122"/>
                <a:ea typeface="楷体" panose="02010609060101010101" pitchFamily="49" charset="-122"/>
              </a:rPr>
              <a:t>1.</a:t>
            </a:r>
            <a:r>
              <a:rPr lang="zh-CN" altLang="en-US" sz="3600" b="1" dirty="0">
                <a:solidFill>
                  <a:srgbClr val="0000FF"/>
                </a:solidFill>
                <a:latin typeface="楷体" panose="02010609060101010101" pitchFamily="49" charset="-122"/>
                <a:ea typeface="楷体" panose="02010609060101010101" pitchFamily="49" charset="-122"/>
              </a:rPr>
              <a:t>定</a:t>
            </a:r>
            <a:r>
              <a:rPr lang="zh-CN" altLang="en-US" sz="3600" b="1" dirty="0">
                <a:latin typeface="楷体" panose="02010609060101010101" pitchFamily="49" charset="-122"/>
                <a:ea typeface="楷体" panose="02010609060101010101" pitchFamily="49" charset="-122"/>
              </a:rPr>
              <a:t>：</a:t>
            </a:r>
            <a:r>
              <a:rPr lang="zh-CN" altLang="zh-CN" sz="3600" b="1" dirty="0">
                <a:solidFill>
                  <a:srgbClr val="FF0000"/>
                </a:solidFill>
                <a:latin typeface="楷体" panose="02010609060101010101" pitchFamily="49" charset="-122"/>
                <a:ea typeface="楷体" panose="02010609060101010101" pitchFamily="49" charset="-122"/>
              </a:rPr>
              <a:t>确定</a:t>
            </a:r>
            <a:r>
              <a:rPr lang="en-US" altLang="zh-CN" sz="3600" b="1" dirty="0">
                <a:latin typeface="楷体" panose="02010609060101010101" pitchFamily="49" charset="-122"/>
                <a:ea typeface="楷体" panose="02010609060101010101" pitchFamily="49" charset="-122"/>
              </a:rPr>
              <a:t>A</a:t>
            </a:r>
            <a:r>
              <a:rPr lang="zh-CN" altLang="zh-CN" sz="3600" b="1" dirty="0">
                <a:latin typeface="楷体" panose="02010609060101010101" pitchFamily="49" charset="-122"/>
                <a:ea typeface="楷体" panose="02010609060101010101" pitchFamily="49" charset="-122"/>
              </a:rPr>
              <a:t>和</a:t>
            </a:r>
            <a:r>
              <a:rPr lang="en-US" altLang="zh-CN" sz="3600" b="1" dirty="0">
                <a:latin typeface="楷体" panose="02010609060101010101" pitchFamily="49" charset="-122"/>
                <a:ea typeface="楷体" panose="02010609060101010101" pitchFamily="49" charset="-122"/>
              </a:rPr>
              <a:t>B</a:t>
            </a:r>
            <a:r>
              <a:rPr lang="zh-CN" altLang="zh-CN" sz="3600" b="1" dirty="0">
                <a:latin typeface="楷体" panose="02010609060101010101" pitchFamily="49" charset="-122"/>
                <a:ea typeface="楷体" panose="02010609060101010101" pitchFamily="49" charset="-122"/>
              </a:rPr>
              <a:t>分别</a:t>
            </a:r>
            <a:r>
              <a:rPr lang="zh-CN" altLang="en-US" sz="3600" b="1" dirty="0">
                <a:solidFill>
                  <a:srgbClr val="FF0000"/>
                </a:solidFill>
                <a:latin typeface="楷体" panose="02010609060101010101" pitchFamily="49" charset="-122"/>
                <a:ea typeface="楷体" panose="02010609060101010101" pitchFamily="49" charset="-122"/>
              </a:rPr>
              <a:t>是</a:t>
            </a:r>
            <a:r>
              <a:rPr lang="zh-CN" altLang="zh-CN" sz="3600" b="1" dirty="0">
                <a:solidFill>
                  <a:srgbClr val="FF0000"/>
                </a:solidFill>
                <a:latin typeface="楷体" panose="02010609060101010101" pitchFamily="49" charset="-122"/>
                <a:ea typeface="楷体" panose="02010609060101010101" pitchFamily="49" charset="-122"/>
              </a:rPr>
              <a:t>什么</a:t>
            </a:r>
            <a:endParaRPr lang="en-US" altLang="zh-CN" sz="3600" b="1" dirty="0">
              <a:solidFill>
                <a:srgbClr val="FF0000"/>
              </a:solidFill>
              <a:latin typeface="楷体" panose="02010609060101010101" pitchFamily="49" charset="-122"/>
              <a:ea typeface="楷体" panose="02010609060101010101" pitchFamily="49" charset="-122"/>
            </a:endParaRPr>
          </a:p>
          <a:p>
            <a:pPr indent="0" fontAlgn="auto">
              <a:lnSpc>
                <a:spcPct val="150000"/>
              </a:lnSpc>
            </a:pPr>
            <a:r>
              <a:rPr lang="en-US" altLang="zh-CN" sz="3600" b="1" dirty="0">
                <a:solidFill>
                  <a:srgbClr val="0000FF"/>
                </a:solidFill>
                <a:latin typeface="楷体" panose="02010609060101010101" pitchFamily="49" charset="-122"/>
                <a:ea typeface="楷体" panose="02010609060101010101" pitchFamily="49" charset="-122"/>
              </a:rPr>
              <a:t>2.</a:t>
            </a:r>
            <a:r>
              <a:rPr lang="zh-CN" altLang="en-US" sz="3600" b="1" dirty="0">
                <a:solidFill>
                  <a:srgbClr val="0000FF"/>
                </a:solidFill>
                <a:latin typeface="楷体" panose="02010609060101010101" pitchFamily="49" charset="-122"/>
                <a:ea typeface="楷体" panose="02010609060101010101" pitchFamily="49" charset="-122"/>
              </a:rPr>
              <a:t>分</a:t>
            </a:r>
            <a:r>
              <a:rPr lang="zh-CN" altLang="en-US" sz="3600" b="1" dirty="0">
                <a:latin typeface="楷体" panose="02010609060101010101" pitchFamily="49" charset="-122"/>
                <a:ea typeface="楷体" panose="02010609060101010101" pitchFamily="49" charset="-122"/>
              </a:rPr>
              <a:t>：</a:t>
            </a:r>
            <a:r>
              <a:rPr lang="zh-CN" altLang="en-US" sz="3600" b="1" dirty="0">
                <a:solidFill>
                  <a:srgbClr val="FF0000"/>
                </a:solidFill>
                <a:latin typeface="楷体" panose="02010609060101010101" pitchFamily="49" charset="-122"/>
                <a:ea typeface="楷体" panose="02010609060101010101" pitchFamily="49" charset="-122"/>
              </a:rPr>
              <a:t>结合材料</a:t>
            </a:r>
            <a:r>
              <a:rPr lang="zh-CN" altLang="en-US" sz="3600" b="1" dirty="0">
                <a:latin typeface="楷体" panose="02010609060101010101" pitchFamily="49" charset="-122"/>
                <a:ea typeface="楷体" panose="02010609060101010101" pitchFamily="49" charset="-122"/>
              </a:rPr>
              <a:t>对</a:t>
            </a:r>
            <a:r>
              <a:rPr lang="en-US" altLang="zh-CN" sz="3600" b="1" dirty="0">
                <a:latin typeface="楷体" panose="02010609060101010101" pitchFamily="49" charset="-122"/>
                <a:ea typeface="楷体" panose="02010609060101010101" pitchFamily="49" charset="-122"/>
              </a:rPr>
              <a:t>A</a:t>
            </a:r>
            <a:r>
              <a:rPr lang="zh-CN" altLang="en-US" sz="3600" b="1" dirty="0">
                <a:latin typeface="楷体" panose="02010609060101010101" pitchFamily="49" charset="-122"/>
                <a:ea typeface="楷体" panose="02010609060101010101" pitchFamily="49" charset="-122"/>
              </a:rPr>
              <a:t>、</a:t>
            </a:r>
            <a:r>
              <a:rPr lang="en-US" altLang="zh-CN" sz="3600" b="1" dirty="0">
                <a:latin typeface="楷体" panose="02010609060101010101" pitchFamily="49" charset="-122"/>
                <a:ea typeface="楷体" panose="02010609060101010101" pitchFamily="49" charset="-122"/>
              </a:rPr>
              <a:t>B</a:t>
            </a:r>
            <a:r>
              <a:rPr lang="zh-CN" altLang="en-US" sz="3600" b="1" dirty="0">
                <a:latin typeface="楷体" panose="02010609060101010101" pitchFamily="49" charset="-122"/>
                <a:ea typeface="楷体" panose="02010609060101010101" pitchFamily="49" charset="-122"/>
              </a:rPr>
              <a:t>进行</a:t>
            </a:r>
            <a:r>
              <a:rPr lang="zh-CN" altLang="en-US" sz="3600" b="1" dirty="0">
                <a:solidFill>
                  <a:srgbClr val="FF0000"/>
                </a:solidFill>
                <a:latin typeface="楷体" panose="02010609060101010101" pitchFamily="49" charset="-122"/>
                <a:ea typeface="楷体" panose="02010609060101010101" pitchFamily="49" charset="-122"/>
              </a:rPr>
              <a:t>分析</a:t>
            </a:r>
            <a:r>
              <a:rPr lang="zh-CN" altLang="en-US" sz="3600" b="1" dirty="0">
                <a:latin typeface="楷体" panose="02010609060101010101" pitchFamily="49" charset="-122"/>
                <a:ea typeface="楷体" panose="02010609060101010101" pitchFamily="49" charset="-122"/>
              </a:rPr>
              <a:t>或</a:t>
            </a:r>
            <a:r>
              <a:rPr lang="zh-CN" altLang="en-US" sz="3600" b="1" dirty="0">
                <a:solidFill>
                  <a:srgbClr val="FF0000"/>
                </a:solidFill>
                <a:latin typeface="楷体" panose="02010609060101010101" pitchFamily="49" charset="-122"/>
                <a:ea typeface="楷体" panose="02010609060101010101" pitchFamily="49" charset="-122"/>
              </a:rPr>
              <a:t>分解</a:t>
            </a:r>
            <a:endParaRPr lang="en-US" altLang="zh-CN" sz="3600" b="1" dirty="0">
              <a:solidFill>
                <a:srgbClr val="FF0000"/>
              </a:solidFill>
              <a:latin typeface="楷体" panose="02010609060101010101" pitchFamily="49" charset="-122"/>
              <a:ea typeface="楷体" panose="02010609060101010101" pitchFamily="49" charset="-122"/>
            </a:endParaRPr>
          </a:p>
          <a:p>
            <a:pPr indent="0" fontAlgn="auto">
              <a:lnSpc>
                <a:spcPct val="150000"/>
              </a:lnSpc>
            </a:pPr>
            <a:r>
              <a:rPr lang="en-US" altLang="zh-CN" sz="3600" b="1" dirty="0">
                <a:solidFill>
                  <a:srgbClr val="0000FF"/>
                </a:solidFill>
                <a:latin typeface="楷体" panose="02010609060101010101" pitchFamily="49" charset="-122"/>
                <a:ea typeface="楷体" panose="02010609060101010101" pitchFamily="49" charset="-122"/>
              </a:rPr>
              <a:t>3.</a:t>
            </a:r>
            <a:r>
              <a:rPr lang="zh-CN" altLang="en-US" sz="3600" b="1" dirty="0">
                <a:solidFill>
                  <a:srgbClr val="0000FF"/>
                </a:solidFill>
                <a:latin typeface="楷体" panose="02010609060101010101" pitchFamily="49" charset="-122"/>
                <a:ea typeface="楷体" panose="02010609060101010101" pitchFamily="49" charset="-122"/>
              </a:rPr>
              <a:t>联</a:t>
            </a:r>
            <a:r>
              <a:rPr lang="zh-CN" altLang="en-US" sz="3600" b="1" dirty="0">
                <a:latin typeface="楷体" panose="02010609060101010101" pitchFamily="49" charset="-122"/>
                <a:ea typeface="楷体" panose="02010609060101010101" pitchFamily="49" charset="-122"/>
              </a:rPr>
              <a:t>：</a:t>
            </a:r>
            <a:r>
              <a:rPr lang="zh-CN" altLang="zh-CN" sz="3600" b="1" dirty="0">
                <a:solidFill>
                  <a:srgbClr val="FF0000"/>
                </a:solidFill>
                <a:latin typeface="楷体" panose="02010609060101010101" pitchFamily="49" charset="-122"/>
                <a:ea typeface="楷体" panose="02010609060101010101" pitchFamily="49" charset="-122"/>
              </a:rPr>
              <a:t>寻找</a:t>
            </a:r>
            <a:r>
              <a:rPr lang="en-US" altLang="zh-CN" sz="3600" b="1" dirty="0">
                <a:latin typeface="楷体" panose="02010609060101010101" pitchFamily="49" charset="-122"/>
                <a:ea typeface="楷体" panose="02010609060101010101" pitchFamily="49" charset="-122"/>
              </a:rPr>
              <a:t>A</a:t>
            </a:r>
            <a:r>
              <a:rPr lang="zh-CN" altLang="zh-CN" sz="3600" b="1" dirty="0">
                <a:latin typeface="楷体" panose="02010609060101010101" pitchFamily="49" charset="-122"/>
                <a:ea typeface="楷体" panose="02010609060101010101" pitchFamily="49" charset="-122"/>
              </a:rPr>
              <a:t>和</a:t>
            </a:r>
            <a:r>
              <a:rPr lang="en-US" altLang="zh-CN" sz="3600" b="1" dirty="0">
                <a:latin typeface="楷体" panose="02010609060101010101" pitchFamily="49" charset="-122"/>
                <a:ea typeface="楷体" panose="02010609060101010101" pitchFamily="49" charset="-122"/>
              </a:rPr>
              <a:t>B </a:t>
            </a:r>
            <a:r>
              <a:rPr lang="zh-CN" altLang="en-US" sz="3600" b="1" dirty="0">
                <a:latin typeface="楷体" panose="02010609060101010101" pitchFamily="49" charset="-122"/>
                <a:ea typeface="楷体" panose="02010609060101010101" pitchFamily="49" charset="-122"/>
              </a:rPr>
              <a:t>的</a:t>
            </a:r>
            <a:r>
              <a:rPr lang="zh-CN" altLang="en-US" sz="3600" b="1" dirty="0">
                <a:solidFill>
                  <a:srgbClr val="FF0000"/>
                </a:solidFill>
                <a:latin typeface="楷体" panose="02010609060101010101" pitchFamily="49" charset="-122"/>
                <a:ea typeface="楷体" panose="02010609060101010101" pitchFamily="49" charset="-122"/>
              </a:rPr>
              <a:t>联系</a:t>
            </a:r>
            <a:r>
              <a:rPr lang="zh-CN" altLang="en-US" sz="3600" b="1" dirty="0">
                <a:latin typeface="楷体" panose="02010609060101010101" pitchFamily="49" charset="-122"/>
                <a:ea typeface="楷体" panose="02010609060101010101" pitchFamily="49" charset="-122"/>
              </a:rPr>
              <a:t>（</a:t>
            </a:r>
            <a:r>
              <a:rPr lang="zh-CN" altLang="en-US" sz="3600" b="1" dirty="0">
                <a:solidFill>
                  <a:srgbClr val="FF0000"/>
                </a:solidFill>
                <a:latin typeface="楷体" panose="02010609060101010101" pitchFamily="49" charset="-122"/>
                <a:ea typeface="楷体" panose="02010609060101010101" pitchFamily="49" charset="-122"/>
              </a:rPr>
              <a:t>导致</a:t>
            </a:r>
            <a:r>
              <a:rPr lang="zh-CN" altLang="en-US" sz="3600" b="1" dirty="0">
                <a:latin typeface="楷体" panose="02010609060101010101" pitchFamily="49" charset="-122"/>
                <a:ea typeface="楷体" panose="02010609060101010101" pitchFamily="49" charset="-122"/>
              </a:rPr>
              <a:t>、</a:t>
            </a:r>
            <a:r>
              <a:rPr lang="zh-CN" altLang="en-US" sz="3600" b="1" dirty="0">
                <a:solidFill>
                  <a:srgbClr val="FF0000"/>
                </a:solidFill>
                <a:latin typeface="楷体" panose="02010609060101010101" pitchFamily="49" charset="-122"/>
                <a:ea typeface="楷体" panose="02010609060101010101" pitchFamily="49" charset="-122"/>
              </a:rPr>
              <a:t>促进</a:t>
            </a:r>
            <a:r>
              <a:rPr lang="zh-CN" altLang="en-US" sz="3600" b="1" dirty="0">
                <a:latin typeface="楷体" panose="02010609060101010101" pitchFamily="49" charset="-122"/>
                <a:ea typeface="楷体" panose="02010609060101010101" pitchFamily="49" charset="-122"/>
              </a:rPr>
              <a:t>、</a:t>
            </a:r>
            <a:r>
              <a:rPr lang="zh-CN" altLang="en-US" sz="3600" b="1" dirty="0">
                <a:solidFill>
                  <a:srgbClr val="FF0000"/>
                </a:solidFill>
                <a:latin typeface="楷体" panose="02010609060101010101" pitchFamily="49" charset="-122"/>
                <a:ea typeface="楷体" panose="02010609060101010101" pitchFamily="49" charset="-122"/>
              </a:rPr>
              <a:t>推动</a:t>
            </a:r>
            <a:r>
              <a:rPr lang="zh-CN" altLang="en-US" sz="3600" b="1" dirty="0">
                <a:latin typeface="楷体" panose="02010609060101010101" pitchFamily="49" charset="-122"/>
                <a:ea typeface="楷体" panose="02010609060101010101" pitchFamily="49" charset="-122"/>
              </a:rPr>
              <a:t>等）</a:t>
            </a:r>
            <a:endParaRPr lang="en-US" altLang="zh-CN" sz="3600" b="1" dirty="0">
              <a:latin typeface="楷体" panose="02010609060101010101" pitchFamily="49" charset="-122"/>
              <a:ea typeface="楷体" panose="02010609060101010101" pitchFamily="49" charset="-122"/>
            </a:endParaRPr>
          </a:p>
          <a:p>
            <a:pPr indent="0" fontAlgn="auto">
              <a:lnSpc>
                <a:spcPct val="150000"/>
              </a:lnSpc>
            </a:pPr>
            <a:r>
              <a:rPr lang="en-US" altLang="zh-CN" sz="3600" b="1" dirty="0">
                <a:solidFill>
                  <a:srgbClr val="0000FF"/>
                </a:solidFill>
                <a:latin typeface="楷体" panose="02010609060101010101" pitchFamily="49" charset="-122"/>
                <a:ea typeface="楷体" panose="02010609060101010101" pitchFamily="49" charset="-122"/>
              </a:rPr>
              <a:t>4.</a:t>
            </a:r>
            <a:r>
              <a:rPr lang="zh-CN" altLang="en-US" sz="3600" b="1" dirty="0">
                <a:solidFill>
                  <a:srgbClr val="0000FF"/>
                </a:solidFill>
                <a:latin typeface="楷体" panose="02010609060101010101" pitchFamily="49" charset="-122"/>
                <a:ea typeface="楷体" panose="02010609060101010101" pitchFamily="49" charset="-122"/>
              </a:rPr>
              <a:t>总</a:t>
            </a:r>
            <a:r>
              <a:rPr lang="zh-CN" altLang="en-US" sz="3600" b="1" dirty="0">
                <a:latin typeface="楷体" panose="02010609060101010101" pitchFamily="49" charset="-122"/>
                <a:ea typeface="楷体" panose="02010609060101010101" pitchFamily="49" charset="-122"/>
              </a:rPr>
              <a:t>：</a:t>
            </a:r>
            <a:r>
              <a:rPr lang="zh-CN" altLang="en-US" sz="3600" b="1" dirty="0">
                <a:solidFill>
                  <a:srgbClr val="FF0000"/>
                </a:solidFill>
                <a:latin typeface="楷体" panose="02010609060101010101" pitchFamily="49" charset="-122"/>
                <a:ea typeface="楷体" panose="02010609060101010101" pitchFamily="49" charset="-122"/>
              </a:rPr>
              <a:t>总结归纳</a:t>
            </a:r>
            <a:r>
              <a:rPr lang="zh-CN" altLang="en-US" sz="3600" b="1" dirty="0">
                <a:latin typeface="楷体" panose="02010609060101010101" pitchFamily="49" charset="-122"/>
                <a:ea typeface="楷体" panose="02010609060101010101" pitchFamily="49" charset="-122"/>
              </a:rPr>
              <a:t>整理答案</a:t>
            </a:r>
            <a:endParaRPr lang="zh-CN" altLang="zh-CN" sz="3600" b="1" dirty="0">
              <a:latin typeface="楷体" panose="02010609060101010101" pitchFamily="49" charset="-122"/>
              <a:ea typeface="楷体" panose="02010609060101010101" pitchFamily="49" charset="-122"/>
            </a:endParaRPr>
          </a:p>
        </p:txBody>
      </p:sp>
      <p:sp>
        <p:nvSpPr>
          <p:cNvPr id="6" name="矩形 5"/>
          <p:cNvSpPr/>
          <p:nvPr/>
        </p:nvSpPr>
        <p:spPr>
          <a:xfrm>
            <a:off x="850756" y="963723"/>
            <a:ext cx="9287510" cy="706755"/>
          </a:xfrm>
          <a:prstGeom prst="rect">
            <a:avLst/>
          </a:prstGeom>
        </p:spPr>
        <p:txBody>
          <a:bodyPr wrap="square">
            <a:spAutoFit/>
          </a:bodyPr>
          <a:lstStyle/>
          <a:p>
            <a:r>
              <a:rPr lang="zh-CN" altLang="en-US" sz="4000" b="1" kern="100" dirty="0">
                <a:latin typeface="等线" panose="02010600030101010101" charset="-122"/>
                <a:ea typeface="宋体" panose="02010600030101010101" pitchFamily="2" charset="-122"/>
                <a:cs typeface="Times New Roman" panose="02020603050405020304" pitchFamily="18" charset="0"/>
              </a:rPr>
              <a:t>一、现象</a:t>
            </a:r>
            <a:r>
              <a:rPr lang="zh-CN" altLang="en-US" sz="4000" b="1" kern="100" dirty="0">
                <a:solidFill>
                  <a:srgbClr val="2B11ED"/>
                </a:solidFill>
                <a:latin typeface="等线" panose="02010600030101010101" charset="-122"/>
                <a:ea typeface="宋体" panose="02010600030101010101" pitchFamily="2" charset="-122"/>
                <a:cs typeface="Times New Roman" panose="02020603050405020304" pitchFamily="18" charset="0"/>
              </a:rPr>
              <a:t>关系类试题</a:t>
            </a:r>
            <a:endParaRPr lang="zh-CN" altLang="en-US" sz="4000" b="1" kern="100" dirty="0">
              <a:solidFill>
                <a:srgbClr val="2B11ED"/>
              </a:solidFill>
              <a:latin typeface="等线" panose="02010600030101010101" charset="-122"/>
              <a:ea typeface="宋体" panose="02010600030101010101" pitchFamily="2" charset="-122"/>
              <a:cs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41300" y="115570"/>
            <a:ext cx="10916920" cy="1325880"/>
          </a:xfrm>
        </p:spPr>
        <p:txBody>
          <a:bodyPr/>
          <a:lstStyle/>
          <a:p>
            <a:pPr algn="l">
              <a:lnSpc>
                <a:spcPct val="100000"/>
              </a:lnSpc>
              <a:buClrTx/>
              <a:buSzTx/>
              <a:buFontTx/>
            </a:pPr>
            <a:r>
              <a:rPr lang="zh-CN" altLang="en-US" sz="4000" b="1" kern="100" dirty="0">
                <a:latin typeface="等线" panose="02010600030101010101" charset="-122"/>
                <a:ea typeface="宋体" panose="02010600030101010101" pitchFamily="2" charset="-122"/>
                <a:cs typeface="Times New Roman" panose="02020603050405020304" pitchFamily="18" charset="0"/>
              </a:rPr>
              <a:t>哲学</a:t>
            </a:r>
            <a:r>
              <a:rPr lang="zh-CN" altLang="en-US" sz="4000" b="1" kern="100" dirty="0">
                <a:solidFill>
                  <a:srgbClr val="2B11ED"/>
                </a:solidFill>
                <a:latin typeface="等线" panose="02010600030101010101" charset="-122"/>
                <a:ea typeface="宋体" panose="02010600030101010101" pitchFamily="2" charset="-122"/>
                <a:cs typeface="Times New Roman" panose="02020603050405020304" pitchFamily="18" charset="0"/>
              </a:rPr>
              <a:t>关系类试题</a:t>
            </a:r>
            <a:endParaRPr lang="zh-CN" altLang="en-US" sz="4000" b="1" kern="100" dirty="0">
              <a:solidFill>
                <a:srgbClr val="2B11ED"/>
              </a:solidFill>
              <a:latin typeface="等线" panose="02010600030101010101" charset="-122"/>
              <a:ea typeface="宋体" panose="02010600030101010101" pitchFamily="2" charset="-122"/>
              <a:cs typeface="Times New Roman" panose="02020603050405020304" pitchFamily="18" charset="0"/>
            </a:endParaRPr>
          </a:p>
        </p:txBody>
      </p:sp>
      <p:sp>
        <p:nvSpPr>
          <p:cNvPr id="3" name="内容占位符 2"/>
          <p:cNvSpPr>
            <a:spLocks noGrp="1"/>
          </p:cNvSpPr>
          <p:nvPr>
            <p:ph idx="1"/>
          </p:nvPr>
        </p:nvSpPr>
        <p:spPr>
          <a:xfrm>
            <a:off x="1033780" y="1085215"/>
            <a:ext cx="10536555" cy="4400550"/>
          </a:xfrm>
        </p:spPr>
        <p:txBody>
          <a:bodyPr>
            <a:noAutofit/>
          </a:bodyPr>
          <a:lstStyle/>
          <a:p>
            <a:pPr fontAlgn="auto">
              <a:lnSpc>
                <a:spcPct val="150000"/>
              </a:lnSpc>
              <a:buNone/>
            </a:pPr>
            <a:r>
              <a:rPr lang="en-US" altLang="zh-CN" sz="3500" b="1" dirty="0">
                <a:solidFill>
                  <a:srgbClr val="FF0000"/>
                </a:solidFill>
                <a:latin typeface="楷体" panose="02010609060101010101" pitchFamily="49" charset="-122"/>
                <a:ea typeface="楷体" panose="02010609060101010101" pitchFamily="49" charset="-122"/>
                <a:cs typeface="楷体" panose="02010609060101010101" pitchFamily="49" charset="-122"/>
              </a:rPr>
              <a:t>A</a:t>
            </a:r>
            <a:r>
              <a:rPr lang="zh-CN" altLang="en-US" sz="3500" b="1" dirty="0">
                <a:solidFill>
                  <a:srgbClr val="FF0000"/>
                </a:solidFill>
                <a:latin typeface="楷体" panose="02010609060101010101" pitchFamily="49" charset="-122"/>
                <a:ea typeface="楷体" panose="02010609060101010101" pitchFamily="49" charset="-122"/>
                <a:cs typeface="楷体" panose="02010609060101010101" pitchFamily="49" charset="-122"/>
              </a:rPr>
              <a:t>和</a:t>
            </a:r>
            <a:r>
              <a:rPr lang="en-US" altLang="zh-CN" sz="3500" b="1" dirty="0">
                <a:solidFill>
                  <a:srgbClr val="FF0000"/>
                </a:solidFill>
                <a:latin typeface="楷体" panose="02010609060101010101" pitchFamily="49" charset="-122"/>
                <a:ea typeface="楷体" panose="02010609060101010101" pitchFamily="49" charset="-122"/>
                <a:cs typeface="楷体" panose="02010609060101010101" pitchFamily="49" charset="-122"/>
              </a:rPr>
              <a:t>B</a:t>
            </a:r>
            <a:r>
              <a:rPr lang="zh-CN" altLang="en-US" sz="3500" b="1" dirty="0">
                <a:solidFill>
                  <a:srgbClr val="FF0000"/>
                </a:solidFill>
                <a:latin typeface="楷体" panose="02010609060101010101" pitchFamily="49" charset="-122"/>
                <a:ea typeface="楷体" panose="02010609060101010101" pitchFamily="49" charset="-122"/>
                <a:cs typeface="楷体" panose="02010609060101010101" pitchFamily="49" charset="-122"/>
              </a:rPr>
              <a:t>分别对应主观和客观两个范畴：</a:t>
            </a:r>
            <a:endParaRPr lang="en-US" altLang="zh-CN" sz="3500" b="1" dirty="0">
              <a:solidFill>
                <a:srgbClr val="FF0000"/>
              </a:solidFill>
              <a:latin typeface="楷体" panose="02010609060101010101" pitchFamily="49" charset="-122"/>
              <a:ea typeface="楷体" panose="02010609060101010101" pitchFamily="49" charset="-122"/>
              <a:cs typeface="楷体" panose="02010609060101010101" pitchFamily="49" charset="-122"/>
            </a:endParaRPr>
          </a:p>
          <a:p>
            <a:pPr marL="0" indent="0" fontAlgn="auto">
              <a:lnSpc>
                <a:spcPct val="150000"/>
              </a:lnSpc>
              <a:buNone/>
            </a:pPr>
            <a:r>
              <a:rPr lang="en-US" altLang="zh-CN" sz="3500" b="1" dirty="0">
                <a:latin typeface="楷体" panose="02010609060101010101" pitchFamily="49" charset="-122"/>
                <a:ea typeface="楷体" panose="02010609060101010101" pitchFamily="49" charset="-122"/>
                <a:cs typeface="楷体" panose="02010609060101010101" pitchFamily="49" charset="-122"/>
              </a:rPr>
              <a:t>          1.</a:t>
            </a:r>
            <a:r>
              <a:rPr lang="zh-CN" altLang="en-US" sz="3500" b="1" dirty="0">
                <a:latin typeface="楷体" panose="02010609060101010101" pitchFamily="49" charset="-122"/>
                <a:ea typeface="楷体" panose="02010609060101010101" pitchFamily="49" charset="-122"/>
                <a:cs typeface="楷体" panose="02010609060101010101" pitchFamily="49" charset="-122"/>
              </a:rPr>
              <a:t>物质与意识</a:t>
            </a:r>
            <a:endParaRPr lang="en-US" altLang="zh-CN" sz="3500" b="1" dirty="0">
              <a:latin typeface="楷体" panose="02010609060101010101" pitchFamily="49" charset="-122"/>
              <a:ea typeface="楷体" panose="02010609060101010101" pitchFamily="49" charset="-122"/>
              <a:cs typeface="楷体" panose="02010609060101010101" pitchFamily="49" charset="-122"/>
            </a:endParaRPr>
          </a:p>
          <a:p>
            <a:pPr marL="0" indent="0" fontAlgn="auto">
              <a:lnSpc>
                <a:spcPct val="150000"/>
              </a:lnSpc>
              <a:buNone/>
            </a:pPr>
            <a:r>
              <a:rPr lang="en-US" altLang="zh-CN" sz="3500" b="1" dirty="0">
                <a:latin typeface="楷体" panose="02010609060101010101" pitchFamily="49" charset="-122"/>
                <a:ea typeface="楷体" panose="02010609060101010101" pitchFamily="49" charset="-122"/>
                <a:cs typeface="楷体" panose="02010609060101010101" pitchFamily="49" charset="-122"/>
              </a:rPr>
              <a:t>          2.</a:t>
            </a:r>
            <a:r>
              <a:rPr lang="zh-CN" altLang="en-US" sz="3500" b="1" dirty="0">
                <a:latin typeface="楷体" panose="02010609060101010101" pitchFamily="49" charset="-122"/>
                <a:ea typeface="楷体" panose="02010609060101010101" pitchFamily="49" charset="-122"/>
                <a:cs typeface="楷体" panose="02010609060101010101" pitchFamily="49" charset="-122"/>
              </a:rPr>
              <a:t>实践和认识</a:t>
            </a:r>
            <a:endParaRPr lang="en-US" altLang="zh-CN" sz="3500" b="1" dirty="0">
              <a:latin typeface="楷体" panose="02010609060101010101" pitchFamily="49" charset="-122"/>
              <a:ea typeface="楷体" panose="02010609060101010101" pitchFamily="49" charset="-122"/>
              <a:cs typeface="楷体" panose="02010609060101010101" pitchFamily="49" charset="-122"/>
            </a:endParaRPr>
          </a:p>
          <a:p>
            <a:pPr marL="0" indent="0" fontAlgn="auto">
              <a:lnSpc>
                <a:spcPct val="150000"/>
              </a:lnSpc>
              <a:buNone/>
            </a:pPr>
            <a:r>
              <a:rPr lang="en-US" altLang="zh-CN" sz="3500" b="1" dirty="0">
                <a:latin typeface="楷体" panose="02010609060101010101" pitchFamily="49" charset="-122"/>
                <a:ea typeface="楷体" panose="02010609060101010101" pitchFamily="49" charset="-122"/>
                <a:cs typeface="楷体" panose="02010609060101010101" pitchFamily="49" charset="-122"/>
              </a:rPr>
              <a:t>          3.</a:t>
            </a:r>
            <a:r>
              <a:rPr lang="zh-CN" altLang="en-US" sz="3500" b="1" dirty="0">
                <a:latin typeface="楷体" panose="02010609060101010101" pitchFamily="49" charset="-122"/>
                <a:ea typeface="楷体" panose="02010609060101010101" pitchFamily="49" charset="-122"/>
                <a:cs typeface="楷体" panose="02010609060101010101" pitchFamily="49" charset="-122"/>
              </a:rPr>
              <a:t>社会存在和社会意识</a:t>
            </a:r>
            <a:endParaRPr lang="en-US" altLang="zh-CN" sz="3500" b="1" dirty="0">
              <a:latin typeface="楷体" panose="02010609060101010101" pitchFamily="49" charset="-122"/>
              <a:ea typeface="楷体" panose="02010609060101010101" pitchFamily="49" charset="-122"/>
              <a:cs typeface="楷体" panose="02010609060101010101" pitchFamily="49" charset="-122"/>
            </a:endParaRPr>
          </a:p>
          <a:p>
            <a:pPr marL="0" indent="0" fontAlgn="auto">
              <a:lnSpc>
                <a:spcPct val="150000"/>
              </a:lnSpc>
              <a:buNone/>
            </a:pPr>
            <a:r>
              <a:rPr lang="en-US" altLang="zh-CN" sz="3500" b="1" dirty="0">
                <a:latin typeface="楷体" panose="02010609060101010101" pitchFamily="49" charset="-122"/>
                <a:ea typeface="楷体" panose="02010609060101010101" pitchFamily="49" charset="-122"/>
                <a:cs typeface="楷体" panose="02010609060101010101" pitchFamily="49" charset="-122"/>
              </a:rPr>
              <a:t>          4.</a:t>
            </a:r>
            <a:r>
              <a:rPr lang="zh-CN" altLang="en-US" sz="3500" b="1" dirty="0">
                <a:latin typeface="楷体" panose="02010609060101010101" pitchFamily="49" charset="-122"/>
                <a:ea typeface="楷体" panose="02010609060101010101" pitchFamily="49" charset="-122"/>
                <a:cs typeface="楷体" panose="02010609060101010101" pitchFamily="49" charset="-122"/>
              </a:rPr>
              <a:t>对立统一</a:t>
            </a:r>
            <a:endParaRPr lang="en-US" altLang="zh-CN" sz="3500" b="1" dirty="0">
              <a:latin typeface="楷体" panose="02010609060101010101" pitchFamily="49" charset="-122"/>
              <a:ea typeface="楷体" panose="02010609060101010101" pitchFamily="49" charset="-122"/>
              <a:cs typeface="楷体" panose="02010609060101010101" pitchFamily="49" charset="-122"/>
            </a:endParaRPr>
          </a:p>
          <a:p>
            <a:pPr marL="0" indent="0">
              <a:buNone/>
            </a:pPr>
            <a:endParaRPr lang="en-US" altLang="zh-CN" sz="2000" b="1" dirty="0">
              <a:latin typeface="楷体" panose="02010609060101010101" pitchFamily="49" charset="-122"/>
              <a:ea typeface="楷体" panose="02010609060101010101" pitchFamily="49" charset="-122"/>
              <a:cs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250"/>
    </mc:Choice>
    <mc:Fallback>
      <p:transition spd="slow"/>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59596" y="863203"/>
            <a:ext cx="11558425" cy="5016758"/>
          </a:xfrm>
          <a:prstGeom prst="rect">
            <a:avLst/>
          </a:prstGeom>
          <a:solidFill>
            <a:schemeClr val="bg1"/>
          </a:solidFill>
        </p:spPr>
        <p:txBody>
          <a:bodyPr wrap="square">
            <a:spAutoFit/>
          </a:bodyPr>
          <a:lstStyle>
            <a:defPPr>
              <a:defRPr lang="zh-CN"/>
            </a:defPPr>
            <a:lvl1pPr indent="267970" algn="just">
              <a:defRPr sz="2400" b="1" kern="100">
                <a:effectLst/>
                <a:latin typeface="等线" panose="02010600030101010101" charset="-122"/>
                <a:ea typeface="黑体" panose="02010609060101010101" pitchFamily="49" charset="-122"/>
                <a:cs typeface="Times New Roman" panose="02020603050405020304" pitchFamily="18" charset="0"/>
              </a:defRPr>
            </a:lvl1pPr>
          </a:lstStyle>
          <a:p>
            <a:r>
              <a:rPr lang="zh-CN" altLang="en-US" sz="2000" dirty="0"/>
              <a:t>评分细则：</a:t>
            </a:r>
            <a:endParaRPr lang="en-US" altLang="zh-CN" sz="2000" dirty="0"/>
          </a:p>
          <a:p>
            <a:r>
              <a:rPr lang="zh-CN" altLang="en-US" sz="2000" dirty="0"/>
              <a:t>（谈两者关系类试题要学会用辩证思维看待问题，</a:t>
            </a:r>
            <a:r>
              <a:rPr lang="zh-CN" altLang="en-US" sz="2000" dirty="0">
                <a:solidFill>
                  <a:srgbClr val="FF0000"/>
                </a:solidFill>
              </a:rPr>
              <a:t>即区别和联系。</a:t>
            </a:r>
            <a:r>
              <a:rPr lang="zh-CN" altLang="en-US" sz="2000" dirty="0"/>
              <a:t>从逻辑角度，要有总分总的意识。从模块选择角度，侧重哲学、政治与中特，其他角度言之成理也可给分）</a:t>
            </a:r>
            <a:endParaRPr lang="zh-CN" altLang="en-US" sz="2000" dirty="0"/>
          </a:p>
          <a:p>
            <a:r>
              <a:rPr lang="en-US" altLang="zh-CN" sz="2000" dirty="0"/>
              <a:t>1.</a:t>
            </a:r>
            <a:r>
              <a:rPr lang="zh-CN" altLang="en-US" sz="2000" dirty="0"/>
              <a:t>概括两者关系：辩证统一（对立统一、统一的）</a:t>
            </a:r>
            <a:r>
              <a:rPr lang="en-US" altLang="zh-CN" sz="2000" dirty="0"/>
              <a:t>1</a:t>
            </a:r>
            <a:r>
              <a:rPr lang="zh-CN" altLang="en-US" sz="2000" dirty="0"/>
              <a:t>分</a:t>
            </a:r>
            <a:endParaRPr lang="zh-CN" altLang="en-US" sz="2000" dirty="0"/>
          </a:p>
          <a:p>
            <a:r>
              <a:rPr lang="en-US" altLang="zh-CN" sz="2000" dirty="0"/>
              <a:t>2.</a:t>
            </a:r>
            <a:r>
              <a:rPr lang="zh-CN" altLang="en-US" sz="2000" dirty="0"/>
              <a:t>相互区别</a:t>
            </a:r>
            <a:r>
              <a:rPr lang="en-US" altLang="zh-CN" sz="2000" dirty="0"/>
              <a:t>2</a:t>
            </a:r>
            <a:r>
              <a:rPr lang="zh-CN" altLang="en-US" sz="2000" dirty="0"/>
              <a:t>分：</a:t>
            </a:r>
            <a:r>
              <a:rPr lang="en-US" altLang="zh-CN" sz="2000" dirty="0"/>
              <a:t>(</a:t>
            </a:r>
            <a:r>
              <a:rPr lang="zh-CN" altLang="en-US" sz="2000" dirty="0"/>
              <a:t>每个角度观点</a:t>
            </a:r>
            <a:r>
              <a:rPr lang="en-US" altLang="zh-CN" sz="2000" dirty="0"/>
              <a:t>+</a:t>
            </a:r>
            <a:r>
              <a:rPr lang="zh-CN" altLang="en-US" sz="2000" dirty="0"/>
              <a:t>材料</a:t>
            </a:r>
            <a:r>
              <a:rPr lang="en-US" altLang="zh-CN" sz="2000" dirty="0"/>
              <a:t>1</a:t>
            </a:r>
            <a:r>
              <a:rPr lang="zh-CN" altLang="en-US" sz="2000" dirty="0"/>
              <a:t>分</a:t>
            </a:r>
            <a:r>
              <a:rPr lang="en-US" altLang="zh-CN" sz="2000" dirty="0"/>
              <a:t>,</a:t>
            </a:r>
            <a:r>
              <a:rPr lang="zh-CN" altLang="en-US" sz="2000" dirty="0"/>
              <a:t>从接受人民监督和勇于自我革命两个角度</a:t>
            </a:r>
            <a:r>
              <a:rPr lang="en-US" altLang="zh-CN" sz="2000" dirty="0"/>
              <a:t>2</a:t>
            </a:r>
            <a:r>
              <a:rPr lang="zh-CN" altLang="en-US" sz="2000" dirty="0"/>
              <a:t>分</a:t>
            </a:r>
            <a:r>
              <a:rPr lang="en-US" altLang="zh-CN" sz="2000" dirty="0"/>
              <a:t>)</a:t>
            </a:r>
            <a:endParaRPr lang="en-US" altLang="zh-CN" sz="2000" dirty="0"/>
          </a:p>
          <a:p>
            <a:r>
              <a:rPr lang="zh-CN" altLang="en-US" sz="2000" dirty="0"/>
              <a:t>接受人民监督：涉及人民行使监督权的相关知识，外因等（</a:t>
            </a:r>
            <a:r>
              <a:rPr lang="en-US" altLang="zh-CN" sz="2000" dirty="0"/>
              <a:t>1</a:t>
            </a:r>
            <a:r>
              <a:rPr lang="zh-CN" altLang="en-US" sz="2000" dirty="0"/>
              <a:t>分）</a:t>
            </a:r>
            <a:endParaRPr lang="zh-CN" altLang="en-US" sz="2000" dirty="0"/>
          </a:p>
          <a:p>
            <a:r>
              <a:rPr lang="zh-CN" altLang="en-US" sz="2000" dirty="0"/>
              <a:t>勇于自我革命：涉及党自身建设的相关知识，内因等（</a:t>
            </a:r>
            <a:r>
              <a:rPr lang="en-US" altLang="zh-CN" sz="2000" dirty="0"/>
              <a:t>1</a:t>
            </a:r>
            <a:r>
              <a:rPr lang="zh-CN" altLang="en-US" sz="2000" dirty="0"/>
              <a:t>分）</a:t>
            </a:r>
            <a:endParaRPr lang="zh-CN" altLang="en-US" sz="2000" dirty="0"/>
          </a:p>
          <a:p>
            <a:r>
              <a:rPr lang="en-US" altLang="zh-CN" sz="2000" dirty="0"/>
              <a:t>3.</a:t>
            </a:r>
            <a:r>
              <a:rPr lang="zh-CN" altLang="en-US" sz="2000" dirty="0"/>
              <a:t>相互联系</a:t>
            </a:r>
            <a:r>
              <a:rPr lang="en-US" altLang="zh-CN" sz="2000" dirty="0"/>
              <a:t>2</a:t>
            </a:r>
            <a:r>
              <a:rPr lang="zh-CN" altLang="en-US" sz="2000" dirty="0"/>
              <a:t>分（一方面从两者的相互作用角度谈</a:t>
            </a:r>
            <a:r>
              <a:rPr lang="en-US" altLang="zh-CN" sz="2000" dirty="0"/>
              <a:t>,</a:t>
            </a:r>
            <a:r>
              <a:rPr lang="zh-CN" altLang="en-US" sz="2000" dirty="0"/>
              <a:t>即可</a:t>
            </a:r>
            <a:r>
              <a:rPr lang="en-US" altLang="zh-CN" sz="2000" dirty="0"/>
              <a:t>2</a:t>
            </a:r>
            <a:r>
              <a:rPr lang="zh-CN" altLang="en-US" sz="2000" dirty="0"/>
              <a:t>分</a:t>
            </a:r>
            <a:r>
              <a:rPr lang="en-US" altLang="zh-CN" sz="2000" dirty="0"/>
              <a:t>,</a:t>
            </a:r>
            <a:r>
              <a:rPr lang="zh-CN" altLang="en-US" sz="2000" dirty="0"/>
              <a:t>或者从两者的共性谈并结合知识即可</a:t>
            </a:r>
            <a:r>
              <a:rPr lang="en-US" altLang="zh-CN" sz="2000" dirty="0"/>
              <a:t>2</a:t>
            </a:r>
            <a:r>
              <a:rPr lang="zh-CN" altLang="en-US" sz="2000" dirty="0"/>
              <a:t>分）</a:t>
            </a:r>
            <a:endParaRPr lang="zh-CN" altLang="en-US" sz="2000" dirty="0"/>
          </a:p>
          <a:p>
            <a:r>
              <a:rPr lang="zh-CN" altLang="en-US" sz="2000" dirty="0"/>
              <a:t>可从来源谈：都来自党的初心和使命</a:t>
            </a:r>
            <a:endParaRPr lang="zh-CN" altLang="en-US" sz="2000" dirty="0"/>
          </a:p>
          <a:p>
            <a:r>
              <a:rPr lang="zh-CN" altLang="en-US" sz="2000" dirty="0"/>
              <a:t>可从相互作用谈：人民监督为了鞭策勇于革命，勇于革命为了弥补外在监督不足</a:t>
            </a:r>
            <a:endParaRPr lang="zh-CN" altLang="en-US" sz="2000" dirty="0"/>
          </a:p>
          <a:p>
            <a:r>
              <a:rPr lang="zh-CN" altLang="en-US" sz="2000" dirty="0"/>
              <a:t>可从原则谈：都坚持人民至上，都坚持党的领导</a:t>
            </a:r>
            <a:endParaRPr lang="zh-CN" altLang="en-US" sz="2000" dirty="0"/>
          </a:p>
          <a:p>
            <a:r>
              <a:rPr lang="zh-CN" altLang="en-US" sz="2000" dirty="0"/>
              <a:t>可从结果谈：都是为了党永葆先进性纯洁性，永葆青春和活力</a:t>
            </a:r>
            <a:endParaRPr lang="zh-CN" altLang="en-US" sz="2000" dirty="0"/>
          </a:p>
          <a:p>
            <a:r>
              <a:rPr lang="en-US" altLang="zh-CN" sz="2000" dirty="0"/>
              <a:t>4.</a:t>
            </a:r>
            <a:r>
              <a:rPr lang="zh-CN" altLang="en-US" sz="2000" dirty="0"/>
              <a:t>综述</a:t>
            </a:r>
            <a:r>
              <a:rPr lang="en-US" altLang="zh-CN" sz="2000" dirty="0"/>
              <a:t>1</a:t>
            </a:r>
            <a:r>
              <a:rPr lang="zh-CN" altLang="en-US" sz="2000" dirty="0"/>
              <a:t>分</a:t>
            </a:r>
            <a:r>
              <a:rPr lang="en-US" altLang="zh-CN" sz="2000" dirty="0"/>
              <a:t>(</a:t>
            </a:r>
            <a:r>
              <a:rPr lang="zh-CN" altLang="en-US" sz="2000" dirty="0"/>
              <a:t>能够看到处理好两者关系对党的积极影响</a:t>
            </a:r>
            <a:r>
              <a:rPr lang="en-US" altLang="zh-CN" sz="2000" dirty="0"/>
              <a:t>)</a:t>
            </a:r>
            <a:endParaRPr lang="en-US" altLang="zh-CN" sz="2000" dirty="0"/>
          </a:p>
          <a:p>
            <a:r>
              <a:rPr lang="zh-CN" altLang="en-US" sz="2000" dirty="0"/>
              <a:t>全面看问题，既要党外靠发展人民民主、接受人民监督，又要内靠全面从严治党、推进自我革命，保证了党长盛不衰、不断发展壮大。</a:t>
            </a:r>
            <a:endParaRPr lang="zh-CN" altLang="en-US" sz="2000" dirty="0"/>
          </a:p>
          <a:p>
            <a:r>
              <a:rPr lang="en-US" altLang="zh-CN" sz="2000" dirty="0"/>
              <a:t>5.</a:t>
            </a:r>
            <a:r>
              <a:rPr lang="zh-CN" altLang="en-US" sz="2000" dirty="0"/>
              <a:t>答案整体体现跨模块</a:t>
            </a:r>
            <a:r>
              <a:rPr lang="en-US" altLang="zh-CN" sz="2000" dirty="0"/>
              <a:t>1</a:t>
            </a:r>
            <a:r>
              <a:rPr lang="zh-CN" altLang="en-US" sz="2000" dirty="0"/>
              <a:t>分</a:t>
            </a:r>
            <a:endParaRPr lang="zh-CN" altLang="en-US" sz="2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2779379" y="351408"/>
            <a:ext cx="6633241" cy="5145265"/>
          </a:xfrm>
          <a:prstGeom prst="rect">
            <a:avLst/>
          </a:prstGeom>
        </p:spPr>
      </p:pic>
      <p:sp>
        <p:nvSpPr>
          <p:cNvPr id="5" name="文本框 4"/>
          <p:cNvSpPr txBox="1"/>
          <p:nvPr/>
        </p:nvSpPr>
        <p:spPr>
          <a:xfrm>
            <a:off x="308224" y="5687215"/>
            <a:ext cx="11784459" cy="646331"/>
          </a:xfrm>
          <a:prstGeom prst="rect">
            <a:avLst/>
          </a:prstGeom>
          <a:noFill/>
        </p:spPr>
        <p:txBody>
          <a:bodyPr wrap="square">
            <a:spAutoFit/>
          </a:bodyPr>
          <a:lstStyle/>
          <a:p>
            <a:pPr indent="457200"/>
            <a:r>
              <a:rPr lang="zh-CN" altLang="en-US" sz="1800" b="1" dirty="0">
                <a:solidFill>
                  <a:srgbClr val="FF0000"/>
                </a:solidFill>
                <a:latin typeface="楷体" panose="02010609060101010101" pitchFamily="49" charset="-122"/>
                <a:ea typeface="楷体" panose="02010609060101010101" pitchFamily="49" charset="-122"/>
              </a:rPr>
              <a:t>“应如何类”，但材料中并未明确“存在何种问题”，</a:t>
            </a:r>
            <a:endParaRPr lang="en-US" altLang="zh-CN" sz="1800" b="1" dirty="0">
              <a:solidFill>
                <a:srgbClr val="FF0000"/>
              </a:solidFill>
              <a:latin typeface="楷体" panose="02010609060101010101" pitchFamily="49" charset="-122"/>
              <a:ea typeface="楷体" panose="02010609060101010101" pitchFamily="49" charset="-122"/>
            </a:endParaRPr>
          </a:p>
          <a:p>
            <a:pPr indent="457200"/>
            <a:r>
              <a:rPr lang="zh-CN" altLang="en-US" sz="1800" b="1" dirty="0">
                <a:solidFill>
                  <a:srgbClr val="FF0000"/>
                </a:solidFill>
                <a:latin typeface="楷体" panose="02010609060101010101" pitchFamily="49" charset="-122"/>
                <a:ea typeface="楷体" panose="02010609060101010101" pitchFamily="49" charset="-122"/>
              </a:rPr>
              <a:t>需要提取材料信息，找到发展银发经济的切入点，在答案建构时，落脚点要落在“增进老年人福祉”上。</a:t>
            </a:r>
            <a:endParaRPr lang="zh-CN" altLang="en-US" sz="1800" b="1" dirty="0">
              <a:solidFill>
                <a:srgbClr val="FF0000"/>
              </a:solidFill>
              <a:latin typeface="楷体" panose="02010609060101010101" pitchFamily="49" charset="-122"/>
              <a:ea typeface="楷体" panose="02010609060101010101" pitchFamily="49"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42472" y="370849"/>
            <a:ext cx="11507055" cy="5909310"/>
          </a:xfrm>
          <a:prstGeom prst="rect">
            <a:avLst/>
          </a:prstGeom>
          <a:solidFill>
            <a:schemeClr val="bg1"/>
          </a:solidFill>
        </p:spPr>
        <p:txBody>
          <a:bodyPr wrap="square">
            <a:spAutoFit/>
          </a:bodyPr>
          <a:lstStyle/>
          <a:p>
            <a:pPr marL="342900" lvl="0" indent="-342900" algn="just">
              <a:buFont typeface="+mj-lt"/>
              <a:buAutoNum type="arabicPeriod"/>
            </a:pPr>
            <a:r>
              <a:rPr lang="zh-CN" altLang="zh-CN" sz="1800" b="1" kern="100" dirty="0">
                <a:effectLst/>
                <a:latin typeface="等线" panose="02010600030101010101" charset="-122"/>
                <a:ea typeface="宋体" panose="02010600030101010101" pitchFamily="2" charset="-122"/>
                <a:cs typeface="Times New Roman" panose="02020603050405020304" pitchFamily="18" charset="0"/>
              </a:rPr>
              <a:t>政府主体</a:t>
            </a:r>
            <a:endParaRPr lang="zh-CN" altLang="zh-CN" sz="1800" b="1" kern="100" dirty="0">
              <a:effectLst/>
              <a:latin typeface="等线" panose="02010600030101010101" charset="-122"/>
              <a:ea typeface="等线" panose="02010600030101010101" charset="-122"/>
              <a:cs typeface="Times New Roman" panose="02020603050405020304" pitchFamily="18" charset="0"/>
            </a:endParaRPr>
          </a:p>
          <a:p>
            <a:pPr indent="457200" algn="just"/>
            <a:r>
              <a:rPr lang="zh-CN" altLang="zh-CN" sz="1800" b="1" kern="100" dirty="0">
                <a:effectLst/>
                <a:latin typeface="等线" panose="02010600030101010101" charset="-122"/>
                <a:ea typeface="宋体" panose="02010600030101010101" pitchFamily="2" charset="-122"/>
                <a:cs typeface="Times New Roman" panose="02020603050405020304" pitchFamily="18" charset="0"/>
              </a:rPr>
              <a:t>政策、产业</a:t>
            </a:r>
            <a:r>
              <a:rPr lang="zh-CN" altLang="en-US" sz="1800" b="1" kern="100" dirty="0">
                <a:effectLst/>
                <a:latin typeface="等线" panose="02010600030101010101" charset="-122"/>
                <a:ea typeface="宋体" panose="02010600030101010101" pitchFamily="2" charset="-122"/>
                <a:cs typeface="Times New Roman" panose="02020603050405020304" pitchFamily="18" charset="0"/>
              </a:rPr>
              <a:t>角度：</a:t>
            </a:r>
            <a:endParaRPr lang="en-US" altLang="zh-CN" sz="1800" b="1" kern="100" dirty="0">
              <a:effectLst/>
              <a:latin typeface="等线" panose="02010600030101010101" charset="-122"/>
              <a:ea typeface="宋体" panose="02010600030101010101" pitchFamily="2" charset="-122"/>
              <a:cs typeface="Times New Roman" panose="02020603050405020304" pitchFamily="18" charset="0"/>
            </a:endParaRPr>
          </a:p>
          <a:p>
            <a:pPr indent="457200" algn="just"/>
            <a:r>
              <a:rPr lang="zh-CN" altLang="zh-CN" sz="1800" b="1" kern="100" dirty="0">
                <a:effectLst/>
                <a:latin typeface="等线" panose="02010600030101010101" charset="-122"/>
                <a:ea typeface="宋体" panose="02010600030101010101" pitchFamily="2" charset="-122"/>
                <a:cs typeface="Times New Roman" panose="02020603050405020304" pitchFamily="18" charset="0"/>
              </a:rPr>
              <a:t>（</a:t>
            </a:r>
            <a:r>
              <a:rPr lang="en-US" altLang="zh-CN" sz="1800" b="1" kern="100" dirty="0">
                <a:effectLst/>
                <a:latin typeface="等线" panose="02010600030101010101" charset="-122"/>
                <a:ea typeface="宋体" panose="02010600030101010101" pitchFamily="2" charset="-122"/>
                <a:cs typeface="Times New Roman" panose="02020603050405020304" pitchFamily="18" charset="0"/>
              </a:rPr>
              <a:t>1</a:t>
            </a:r>
            <a:r>
              <a:rPr lang="zh-CN" altLang="zh-CN" sz="1800" b="1" kern="100" dirty="0">
                <a:effectLst/>
                <a:latin typeface="等线" panose="02010600030101010101" charset="-122"/>
                <a:ea typeface="宋体" panose="02010600030101010101" pitchFamily="2" charset="-122"/>
                <a:cs typeface="Times New Roman" panose="02020603050405020304" pitchFamily="18" charset="0"/>
              </a:rPr>
              <a:t>）制定和完善相关政策</a:t>
            </a:r>
            <a:r>
              <a:rPr lang="zh-CN" altLang="zh-CN" sz="1800" b="1" kern="100" dirty="0">
                <a:solidFill>
                  <a:srgbClr val="FF0000"/>
                </a:solidFill>
                <a:effectLst/>
                <a:latin typeface="等线" panose="02010600030101010101" charset="-122"/>
                <a:ea typeface="宋体" panose="02010600030101010101" pitchFamily="2" charset="-122"/>
                <a:cs typeface="Times New Roman" panose="02020603050405020304" pitchFamily="18" charset="0"/>
              </a:rPr>
              <a:t>支持</a:t>
            </a:r>
            <a:r>
              <a:rPr lang="zh-CN" altLang="zh-CN" sz="1800" b="1" kern="100" dirty="0">
                <a:effectLst/>
                <a:latin typeface="等线" panose="02010600030101010101" charset="-122"/>
                <a:ea typeface="宋体" panose="02010600030101010101" pitchFamily="2" charset="-122"/>
                <a:cs typeface="Times New Roman" panose="02020603050405020304" pitchFamily="18" charset="0"/>
              </a:rPr>
              <a:t>和引导银发事业和</a:t>
            </a:r>
            <a:r>
              <a:rPr lang="zh-CN" altLang="zh-CN" sz="1800" b="1" kern="100" dirty="0">
                <a:solidFill>
                  <a:srgbClr val="FF0000"/>
                </a:solidFill>
                <a:effectLst/>
                <a:latin typeface="等线" panose="02010600030101010101" charset="-122"/>
                <a:ea typeface="宋体" panose="02010600030101010101" pitchFamily="2" charset="-122"/>
                <a:cs typeface="Times New Roman" panose="02020603050405020304" pitchFamily="18" charset="0"/>
              </a:rPr>
              <a:t>产业</a:t>
            </a:r>
            <a:r>
              <a:rPr lang="zh-CN" altLang="zh-CN" sz="1800" b="1" kern="100" dirty="0">
                <a:effectLst/>
                <a:latin typeface="等线" panose="02010600030101010101" charset="-122"/>
                <a:ea typeface="宋体" panose="02010600030101010101" pitchFamily="2" charset="-122"/>
                <a:cs typeface="Times New Roman" panose="02020603050405020304" pitchFamily="18" charset="0"/>
              </a:rPr>
              <a:t>，推进养老产业的供给侧结构性改革，引导行业布局的优化重组，（优化产业结构）</a:t>
            </a:r>
            <a:r>
              <a:rPr lang="en-US" altLang="zh-CN" sz="1800" b="1" kern="100" dirty="0">
                <a:effectLst/>
                <a:latin typeface="等线" panose="02010600030101010101" charset="-122"/>
                <a:ea typeface="宋体" panose="02010600030101010101" pitchFamily="2" charset="-122"/>
                <a:cs typeface="Times New Roman" panose="02020603050405020304" pitchFamily="18" charset="0"/>
              </a:rPr>
              <a:t>/</a:t>
            </a:r>
            <a:r>
              <a:rPr lang="zh-CN" altLang="zh-CN" sz="1800" b="1" kern="100" dirty="0">
                <a:effectLst/>
                <a:latin typeface="等线" panose="02010600030101010101" charset="-122"/>
                <a:ea typeface="宋体" panose="02010600030101010101" pitchFamily="2" charset="-122"/>
                <a:cs typeface="Times New Roman" panose="02020603050405020304" pitchFamily="18" charset="0"/>
              </a:rPr>
              <a:t>扩大产品供给，提升质量水平，</a:t>
            </a:r>
            <a:r>
              <a:rPr lang="zh-CN" altLang="zh-CN" sz="1800" b="1" kern="100" dirty="0">
                <a:solidFill>
                  <a:srgbClr val="115BD8"/>
                </a:solidFill>
                <a:effectLst/>
                <a:latin typeface="等线" panose="02010600030101010101" charset="-122"/>
                <a:ea typeface="宋体" panose="02010600030101010101" pitchFamily="2" charset="-122"/>
                <a:cs typeface="Times New Roman" panose="02020603050405020304" pitchFamily="18" charset="0"/>
              </a:rPr>
              <a:t>增强老年人的安全感、获得感、幸福感；</a:t>
            </a:r>
            <a:endParaRPr lang="en-US" altLang="zh-CN" sz="1800" b="1" kern="100" dirty="0">
              <a:solidFill>
                <a:srgbClr val="115BD8"/>
              </a:solidFill>
              <a:effectLst/>
              <a:latin typeface="等线" panose="02010600030101010101" charset="-122"/>
              <a:ea typeface="宋体" panose="02010600030101010101" pitchFamily="2" charset="-122"/>
              <a:cs typeface="Times New Roman" panose="02020603050405020304" pitchFamily="18" charset="0"/>
            </a:endParaRPr>
          </a:p>
          <a:p>
            <a:pPr indent="457200" algn="just"/>
            <a:r>
              <a:rPr lang="zh-CN" altLang="zh-CN" sz="1800" b="1" kern="100" dirty="0">
                <a:effectLst/>
                <a:latin typeface="等线" panose="02010600030101010101" charset="-122"/>
                <a:ea typeface="宋体" panose="02010600030101010101" pitchFamily="2" charset="-122"/>
                <a:cs typeface="Times New Roman" panose="02020603050405020304" pitchFamily="18" charset="0"/>
              </a:rPr>
              <a:t>宏观调控</a:t>
            </a:r>
            <a:r>
              <a:rPr lang="zh-CN" altLang="en-US" sz="1800" b="1" kern="100" dirty="0">
                <a:effectLst/>
                <a:latin typeface="等线" panose="02010600030101010101" charset="-122"/>
                <a:ea typeface="宋体" panose="02010600030101010101" pitchFamily="2" charset="-122"/>
                <a:cs typeface="Times New Roman" panose="02020603050405020304" pitchFamily="18" charset="0"/>
              </a:rPr>
              <a:t>角度：</a:t>
            </a:r>
            <a:endParaRPr lang="en-US" altLang="zh-CN" sz="1800" b="1" kern="100" dirty="0">
              <a:effectLst/>
              <a:latin typeface="等线" panose="02010600030101010101" charset="-122"/>
              <a:ea typeface="宋体" panose="02010600030101010101" pitchFamily="2" charset="-122"/>
              <a:cs typeface="Times New Roman" panose="02020603050405020304" pitchFamily="18" charset="0"/>
            </a:endParaRPr>
          </a:p>
          <a:p>
            <a:pPr indent="457200" algn="just"/>
            <a:r>
              <a:rPr lang="zh-CN" altLang="zh-CN" sz="1800" b="1" kern="100" dirty="0">
                <a:effectLst/>
                <a:latin typeface="等线" panose="02010600030101010101" charset="-122"/>
                <a:ea typeface="宋体" panose="02010600030101010101" pitchFamily="2" charset="-122"/>
                <a:cs typeface="Times New Roman" panose="02020603050405020304" pitchFamily="18" charset="0"/>
              </a:rPr>
              <a:t>（</a:t>
            </a:r>
            <a:r>
              <a:rPr lang="en-US" altLang="zh-CN" sz="1800" b="1" kern="100" dirty="0">
                <a:effectLst/>
                <a:latin typeface="等线" panose="02010600030101010101" charset="-122"/>
                <a:ea typeface="宋体" panose="02010600030101010101" pitchFamily="2" charset="-122"/>
                <a:cs typeface="Times New Roman" panose="02020603050405020304" pitchFamily="18" charset="0"/>
              </a:rPr>
              <a:t>2</a:t>
            </a:r>
            <a:r>
              <a:rPr lang="zh-CN" altLang="zh-CN" sz="1800" b="1" kern="100" dirty="0">
                <a:effectLst/>
                <a:latin typeface="等线" panose="02010600030101010101" charset="-122"/>
                <a:ea typeface="宋体" panose="02010600030101010101" pitchFamily="2" charset="-122"/>
                <a:cs typeface="Times New Roman" panose="02020603050405020304" pitchFamily="18" charset="0"/>
              </a:rPr>
              <a:t>）政府要实行科学的宏观调控，通过财政税收和金融政策，</a:t>
            </a:r>
            <a:r>
              <a:rPr lang="en-US" altLang="zh-CN" sz="1800" b="1" kern="100" dirty="0">
                <a:effectLst/>
                <a:latin typeface="等线" panose="02010600030101010101" charset="-122"/>
                <a:ea typeface="宋体" panose="02010600030101010101" pitchFamily="2" charset="-122"/>
                <a:cs typeface="Times New Roman" panose="02020603050405020304" pitchFamily="18" charset="0"/>
              </a:rPr>
              <a:t>/</a:t>
            </a:r>
            <a:r>
              <a:rPr lang="zh-CN" altLang="zh-CN" sz="1800" b="1" kern="100" dirty="0">
                <a:effectLst/>
                <a:latin typeface="等线" panose="02010600030101010101" charset="-122"/>
                <a:ea typeface="宋体" panose="02010600030101010101" pitchFamily="2" charset="-122"/>
                <a:cs typeface="Times New Roman" panose="02020603050405020304" pitchFamily="18" charset="0"/>
              </a:rPr>
              <a:t>激发市场主体活力，培育发展银发经济领域龙头企业</a:t>
            </a:r>
            <a:r>
              <a:rPr lang="en-US" altLang="zh-CN" sz="1800" b="1" kern="100" dirty="0">
                <a:effectLst/>
                <a:latin typeface="等线" panose="02010600030101010101" charset="-122"/>
                <a:ea typeface="宋体" panose="02010600030101010101" pitchFamily="2" charset="-122"/>
                <a:cs typeface="Times New Roman" panose="02020603050405020304" pitchFamily="18" charset="0"/>
              </a:rPr>
              <a:t>;</a:t>
            </a:r>
            <a:r>
              <a:rPr lang="zh-CN" altLang="en-US" sz="1800" b="1" kern="100" dirty="0">
                <a:effectLst/>
                <a:latin typeface="等线" panose="02010600030101010101" charset="-122"/>
                <a:ea typeface="宋体" panose="02010600030101010101" pitchFamily="2" charset="-122"/>
                <a:cs typeface="Times New Roman" panose="02020603050405020304" pitchFamily="18" charset="0"/>
              </a:rPr>
              <a:t>，</a:t>
            </a:r>
            <a:r>
              <a:rPr lang="zh-CN" altLang="en-US" sz="1800" b="1" kern="100" dirty="0">
                <a:solidFill>
                  <a:srgbClr val="115BD8"/>
                </a:solidFill>
                <a:effectLst/>
                <a:latin typeface="等线" panose="02010600030101010101" charset="-122"/>
                <a:ea typeface="宋体" panose="02010600030101010101" pitchFamily="2" charset="-122"/>
                <a:cs typeface="Times New Roman" panose="02020603050405020304" pitchFamily="18" charset="0"/>
              </a:rPr>
              <a:t>更好满足老年消费需求；</a:t>
            </a:r>
            <a:endParaRPr lang="en-US" altLang="zh-CN" sz="1800" b="1" kern="100" dirty="0">
              <a:solidFill>
                <a:srgbClr val="115BD8"/>
              </a:solidFill>
              <a:effectLst/>
              <a:latin typeface="等线" panose="02010600030101010101" charset="-122"/>
              <a:ea typeface="宋体" panose="02010600030101010101" pitchFamily="2" charset="-122"/>
              <a:cs typeface="Times New Roman" panose="02020603050405020304" pitchFamily="18" charset="0"/>
            </a:endParaRPr>
          </a:p>
          <a:p>
            <a:pPr indent="457200" algn="just"/>
            <a:r>
              <a:rPr lang="zh-CN" altLang="zh-CN" sz="1800" b="1" kern="100" dirty="0">
                <a:effectLst/>
                <a:latin typeface="等线" panose="02010600030101010101" charset="-122"/>
                <a:ea typeface="宋体" panose="02010600030101010101" pitchFamily="2" charset="-122"/>
                <a:cs typeface="Times New Roman" panose="02020603050405020304" pitchFamily="18" charset="0"/>
              </a:rPr>
              <a:t>市场监管</a:t>
            </a:r>
            <a:r>
              <a:rPr lang="zh-CN" altLang="en-US" sz="1800" b="1" kern="100" dirty="0">
                <a:effectLst/>
                <a:latin typeface="等线" panose="02010600030101010101" charset="-122"/>
                <a:ea typeface="宋体" panose="02010600030101010101" pitchFamily="2" charset="-122"/>
                <a:cs typeface="Times New Roman" panose="02020603050405020304" pitchFamily="18" charset="0"/>
              </a:rPr>
              <a:t>角度：</a:t>
            </a:r>
            <a:endParaRPr lang="en-US" altLang="zh-CN" sz="1800" b="1" kern="100" dirty="0">
              <a:effectLst/>
              <a:latin typeface="等线" panose="02010600030101010101" charset="-122"/>
              <a:ea typeface="宋体" panose="02010600030101010101" pitchFamily="2" charset="-122"/>
              <a:cs typeface="Times New Roman" panose="02020603050405020304" pitchFamily="18" charset="0"/>
            </a:endParaRPr>
          </a:p>
          <a:p>
            <a:pPr indent="457200" algn="just"/>
            <a:r>
              <a:rPr lang="zh-CN" altLang="zh-CN" sz="1800" b="1" kern="100" dirty="0">
                <a:effectLst/>
                <a:latin typeface="等线" panose="02010600030101010101" charset="-122"/>
                <a:ea typeface="宋体" panose="02010600030101010101" pitchFamily="2" charset="-122"/>
                <a:cs typeface="Times New Roman" panose="02020603050405020304" pitchFamily="18" charset="0"/>
              </a:rPr>
              <a:t>（</a:t>
            </a:r>
            <a:r>
              <a:rPr lang="en-US" altLang="zh-CN" sz="1800" b="1" kern="100" dirty="0">
                <a:effectLst/>
                <a:latin typeface="等线" panose="02010600030101010101" charset="-122"/>
                <a:ea typeface="宋体" panose="02010600030101010101" pitchFamily="2" charset="-122"/>
                <a:cs typeface="Times New Roman" panose="02020603050405020304" pitchFamily="18" charset="0"/>
              </a:rPr>
              <a:t>3</a:t>
            </a:r>
            <a:r>
              <a:rPr lang="zh-CN" altLang="zh-CN" sz="1800" b="1" kern="100" dirty="0">
                <a:effectLst/>
                <a:latin typeface="等线" panose="02010600030101010101" charset="-122"/>
                <a:ea typeface="宋体" panose="02010600030101010101" pitchFamily="2" charset="-122"/>
                <a:cs typeface="Times New Roman" panose="02020603050405020304" pitchFamily="18" charset="0"/>
              </a:rPr>
              <a:t>）通过市场监管，规范银发经济市场秩序，依法严厉打击涉老诈骗行为，</a:t>
            </a:r>
            <a:r>
              <a:rPr lang="en-US" altLang="zh-CN" sz="1800" b="1" kern="100" dirty="0">
                <a:solidFill>
                  <a:srgbClr val="115BD8"/>
                </a:solidFill>
                <a:effectLst/>
                <a:latin typeface="等线" panose="02010600030101010101" charset="-122"/>
                <a:ea typeface="宋体" panose="02010600030101010101" pitchFamily="2" charset="-122"/>
                <a:cs typeface="Times New Roman" panose="02020603050405020304" pitchFamily="18" charset="0"/>
              </a:rPr>
              <a:t>/</a:t>
            </a:r>
            <a:r>
              <a:rPr lang="zh-CN" altLang="zh-CN" sz="1800" b="1" kern="100" dirty="0">
                <a:solidFill>
                  <a:srgbClr val="115BD8"/>
                </a:solidFill>
                <a:effectLst/>
                <a:latin typeface="等线" panose="02010600030101010101" charset="-122"/>
                <a:ea typeface="宋体" panose="02010600030101010101" pitchFamily="2" charset="-122"/>
                <a:cs typeface="Times New Roman" panose="02020603050405020304" pitchFamily="18" charset="0"/>
              </a:rPr>
              <a:t>更好维护老年消费者合法权益</a:t>
            </a:r>
            <a:r>
              <a:rPr lang="zh-CN" altLang="zh-CN" sz="1800" b="1" kern="100" dirty="0">
                <a:solidFill>
                  <a:srgbClr val="FF0000"/>
                </a:solidFill>
                <a:effectLst/>
                <a:latin typeface="等线" panose="02010600030101010101" charset="-122"/>
                <a:ea typeface="宋体" panose="02010600030101010101" pitchFamily="2" charset="-122"/>
                <a:cs typeface="Times New Roman" panose="02020603050405020304" pitchFamily="18" charset="0"/>
              </a:rPr>
              <a:t>，</a:t>
            </a:r>
            <a:r>
              <a:rPr lang="en-US" altLang="zh-CN" b="1" kern="100" dirty="0">
                <a:latin typeface="等线" panose="02010600030101010101" charset="-122"/>
                <a:ea typeface="等线" panose="02010600030101010101" charset="-122"/>
                <a:cs typeface="Times New Roman" panose="02020603050405020304" pitchFamily="18" charset="0"/>
              </a:rPr>
              <a:t>2.</a:t>
            </a:r>
            <a:r>
              <a:rPr lang="zh-CN" altLang="zh-CN" sz="1800" b="1" kern="100" dirty="0">
                <a:effectLst/>
                <a:latin typeface="等线" panose="02010600030101010101" charset="-122"/>
                <a:ea typeface="宋体" panose="02010600030101010101" pitchFamily="2" charset="-122"/>
                <a:cs typeface="Times New Roman" panose="02020603050405020304" pitchFamily="18" charset="0"/>
              </a:rPr>
              <a:t>企业主体</a:t>
            </a:r>
            <a:endParaRPr lang="zh-CN" altLang="zh-CN" sz="1800" b="1" kern="100" dirty="0">
              <a:effectLst/>
              <a:latin typeface="等线" panose="02010600030101010101" charset="-122"/>
              <a:ea typeface="等线" panose="02010600030101010101" charset="-122"/>
              <a:cs typeface="Times New Roman" panose="02020603050405020304" pitchFamily="18" charset="0"/>
            </a:endParaRPr>
          </a:p>
          <a:p>
            <a:pPr indent="457200" algn="just"/>
            <a:r>
              <a:rPr lang="zh-CN" altLang="zh-CN" sz="1800" b="1" kern="100" dirty="0">
                <a:effectLst/>
                <a:latin typeface="等线" panose="02010600030101010101" charset="-122"/>
                <a:ea typeface="宋体" panose="02010600030101010101" pitchFamily="2" charset="-122"/>
                <a:cs typeface="Times New Roman" panose="02020603050405020304" pitchFamily="18" charset="0"/>
              </a:rPr>
              <a:t>经营战略</a:t>
            </a:r>
            <a:r>
              <a:rPr lang="zh-CN" altLang="en-US" sz="1800" b="1" kern="100" dirty="0">
                <a:effectLst/>
                <a:latin typeface="等线" panose="02010600030101010101" charset="-122"/>
                <a:ea typeface="宋体" panose="02010600030101010101" pitchFamily="2" charset="-122"/>
                <a:cs typeface="Times New Roman" panose="02020603050405020304" pitchFamily="18" charset="0"/>
              </a:rPr>
              <a:t>角度：</a:t>
            </a:r>
            <a:endParaRPr lang="en-US" altLang="zh-CN" sz="1800" b="1" kern="100" dirty="0">
              <a:effectLst/>
              <a:latin typeface="等线" panose="02010600030101010101" charset="-122"/>
              <a:ea typeface="宋体" panose="02010600030101010101" pitchFamily="2" charset="-122"/>
              <a:cs typeface="Times New Roman" panose="02020603050405020304" pitchFamily="18" charset="0"/>
            </a:endParaRPr>
          </a:p>
          <a:p>
            <a:pPr indent="457200" algn="just"/>
            <a:r>
              <a:rPr lang="zh-CN" altLang="zh-CN" sz="1800" b="1" kern="100" dirty="0">
                <a:effectLst/>
                <a:latin typeface="等线" panose="02010600030101010101" charset="-122"/>
                <a:ea typeface="宋体" panose="02010600030101010101" pitchFamily="2" charset="-122"/>
                <a:cs typeface="Times New Roman" panose="02020603050405020304" pitchFamily="18" charset="0"/>
              </a:rPr>
              <a:t>（</a:t>
            </a:r>
            <a:r>
              <a:rPr lang="en-US" altLang="zh-CN" sz="1800" b="1" kern="100" dirty="0">
                <a:effectLst/>
                <a:latin typeface="等线" panose="02010600030101010101" charset="-122"/>
                <a:ea typeface="宋体" panose="02010600030101010101" pitchFamily="2" charset="-122"/>
                <a:cs typeface="Times New Roman" panose="02020603050405020304" pitchFamily="18" charset="0"/>
              </a:rPr>
              <a:t>1</a:t>
            </a:r>
            <a:r>
              <a:rPr lang="zh-CN" altLang="zh-CN" sz="1800" b="1" kern="100" dirty="0">
                <a:effectLst/>
                <a:latin typeface="等线" panose="02010600030101010101" charset="-122"/>
                <a:ea typeface="宋体" panose="02010600030101010101" pitchFamily="2" charset="-122"/>
                <a:cs typeface="Times New Roman" panose="02020603050405020304" pitchFamily="18" charset="0"/>
              </a:rPr>
              <a:t>）抓住市场与政策机遇，调整经营策略，</a:t>
            </a:r>
            <a:r>
              <a:rPr lang="en-US" altLang="zh-CN" sz="1800" b="1" kern="100" dirty="0">
                <a:effectLst/>
                <a:latin typeface="等线" panose="02010600030101010101" charset="-122"/>
                <a:ea typeface="宋体" panose="02010600030101010101" pitchFamily="2" charset="-122"/>
                <a:cs typeface="Times New Roman" panose="02020603050405020304" pitchFamily="18" charset="0"/>
              </a:rPr>
              <a:t>/</a:t>
            </a:r>
            <a:r>
              <a:rPr lang="zh-CN" altLang="zh-CN" sz="1800" b="1" kern="100" dirty="0">
                <a:effectLst/>
                <a:latin typeface="等线" panose="02010600030101010101" charset="-122"/>
                <a:ea typeface="宋体" panose="02010600030101010101" pitchFamily="2" charset="-122"/>
                <a:cs typeface="Times New Roman" panose="02020603050405020304" pitchFamily="18" charset="0"/>
              </a:rPr>
              <a:t>主动占领银发经济市场</a:t>
            </a:r>
            <a:r>
              <a:rPr lang="en-US" altLang="zh-CN" sz="1800" b="1" kern="100" dirty="0">
                <a:effectLst/>
                <a:latin typeface="等线" panose="02010600030101010101" charset="-122"/>
                <a:ea typeface="宋体" panose="02010600030101010101" pitchFamily="2" charset="-122"/>
                <a:cs typeface="Times New Roman" panose="02020603050405020304" pitchFamily="18" charset="0"/>
              </a:rPr>
              <a:t>;</a:t>
            </a:r>
            <a:r>
              <a:rPr lang="en-US" altLang="zh-CN" sz="1800" b="1" kern="100" dirty="0">
                <a:effectLst/>
                <a:latin typeface="等线" panose="02010600030101010101" charset="-122"/>
                <a:ea typeface="等线" panose="02010600030101010101" charset="-122"/>
                <a:cs typeface="Times New Roman" panose="02020603050405020304" pitchFamily="18" charset="0"/>
              </a:rPr>
              <a:t> </a:t>
            </a:r>
            <a:endParaRPr lang="en-US" altLang="zh-CN" sz="1800" b="1" kern="100" dirty="0">
              <a:effectLst/>
              <a:latin typeface="等线" panose="02010600030101010101" charset="-122"/>
              <a:ea typeface="等线" panose="02010600030101010101" charset="-122"/>
              <a:cs typeface="Times New Roman" panose="02020603050405020304" pitchFamily="18" charset="0"/>
            </a:endParaRPr>
          </a:p>
          <a:p>
            <a:pPr indent="457200" algn="just"/>
            <a:r>
              <a:rPr lang="zh-CN" altLang="zh-CN" sz="1800" b="1" kern="100" dirty="0">
                <a:effectLst/>
                <a:latin typeface="等线" panose="02010600030101010101" charset="-122"/>
                <a:ea typeface="宋体" panose="02010600030101010101" pitchFamily="2" charset="-122"/>
                <a:cs typeface="Times New Roman" panose="02020603050405020304" pitchFamily="18" charset="0"/>
              </a:rPr>
              <a:t>技术创新</a:t>
            </a:r>
            <a:r>
              <a:rPr lang="zh-CN" altLang="en-US" sz="1800" b="1" kern="100" dirty="0">
                <a:effectLst/>
                <a:latin typeface="等线" panose="02010600030101010101" charset="-122"/>
                <a:ea typeface="宋体" panose="02010600030101010101" pitchFamily="2" charset="-122"/>
                <a:cs typeface="Times New Roman" panose="02020603050405020304" pitchFamily="18" charset="0"/>
              </a:rPr>
              <a:t>角度：</a:t>
            </a:r>
            <a:endParaRPr lang="en-US" altLang="zh-CN" sz="1800" b="1" kern="100" dirty="0">
              <a:effectLst/>
              <a:latin typeface="等线" panose="02010600030101010101" charset="-122"/>
              <a:ea typeface="宋体" panose="02010600030101010101" pitchFamily="2" charset="-122"/>
              <a:cs typeface="Times New Roman" panose="02020603050405020304" pitchFamily="18" charset="0"/>
            </a:endParaRPr>
          </a:p>
          <a:p>
            <a:pPr indent="457200" algn="just"/>
            <a:r>
              <a:rPr lang="zh-CN" altLang="zh-CN" sz="1800" b="1" kern="100" dirty="0">
                <a:effectLst/>
                <a:latin typeface="等线" panose="02010600030101010101" charset="-122"/>
                <a:ea typeface="宋体" panose="02010600030101010101" pitchFamily="2" charset="-122"/>
                <a:cs typeface="Times New Roman" panose="02020603050405020304" pitchFamily="18" charset="0"/>
              </a:rPr>
              <a:t>（</a:t>
            </a:r>
            <a:r>
              <a:rPr lang="en-US" altLang="zh-CN" sz="1800" b="1" kern="100" dirty="0">
                <a:effectLst/>
                <a:latin typeface="等线" panose="02010600030101010101" charset="-122"/>
                <a:ea typeface="宋体" panose="02010600030101010101" pitchFamily="2" charset="-122"/>
                <a:cs typeface="Times New Roman" panose="02020603050405020304" pitchFamily="18" charset="0"/>
              </a:rPr>
              <a:t>2</a:t>
            </a:r>
            <a:r>
              <a:rPr lang="zh-CN" altLang="zh-CN" sz="1800" b="1" kern="100" dirty="0">
                <a:effectLst/>
                <a:latin typeface="等线" panose="02010600030101010101" charset="-122"/>
                <a:ea typeface="宋体" panose="02010600030101010101" pitchFamily="2" charset="-122"/>
                <a:cs typeface="Times New Roman" panose="02020603050405020304" pitchFamily="18" charset="0"/>
              </a:rPr>
              <a:t>）强化老年用品创新，</a:t>
            </a:r>
            <a:r>
              <a:rPr lang="en-US" altLang="zh-CN" sz="1800" b="1" kern="100" dirty="0">
                <a:effectLst/>
                <a:latin typeface="等线" panose="02010600030101010101" charset="-122"/>
                <a:ea typeface="宋体" panose="02010600030101010101" pitchFamily="2" charset="-122"/>
                <a:cs typeface="Times New Roman" panose="02020603050405020304" pitchFamily="18" charset="0"/>
              </a:rPr>
              <a:t>/</a:t>
            </a:r>
            <a:r>
              <a:rPr lang="zh-CN" altLang="zh-CN" sz="1800" b="1" kern="100" dirty="0">
                <a:effectLst/>
                <a:latin typeface="等线" panose="02010600030101010101" charset="-122"/>
                <a:ea typeface="宋体" panose="02010600030101010101" pitchFamily="2" charset="-122"/>
                <a:cs typeface="Times New Roman" panose="02020603050405020304" pitchFamily="18" charset="0"/>
              </a:rPr>
              <a:t>打造智慧健康养老等新业态，丰富“养老”和“备老”产品的供给，提升银发产品的质量和服务水平；设立银发消费专区，拓宽消费渠道，</a:t>
            </a:r>
            <a:r>
              <a:rPr lang="zh-CN" altLang="zh-CN" sz="1800" b="1" kern="100" dirty="0">
                <a:solidFill>
                  <a:srgbClr val="115BD8"/>
                </a:solidFill>
                <a:effectLst/>
                <a:latin typeface="等线" panose="02010600030101010101" charset="-122"/>
                <a:ea typeface="宋体" panose="02010600030101010101" pitchFamily="2" charset="-122"/>
                <a:cs typeface="Times New Roman" panose="02020603050405020304" pitchFamily="18" charset="0"/>
              </a:rPr>
              <a:t>满足老年消费者的多样化需求；</a:t>
            </a:r>
            <a:endParaRPr lang="zh-CN" altLang="zh-CN" sz="1800" b="1" kern="100" dirty="0">
              <a:solidFill>
                <a:srgbClr val="115BD8"/>
              </a:solidFill>
              <a:effectLst/>
              <a:latin typeface="等线" panose="02010600030101010101" charset="-122"/>
              <a:ea typeface="等线" panose="02010600030101010101" charset="-122"/>
              <a:cs typeface="Times New Roman" panose="02020603050405020304" pitchFamily="18" charset="0"/>
            </a:endParaRPr>
          </a:p>
          <a:p>
            <a:pPr indent="457200" algn="just"/>
            <a:r>
              <a:rPr lang="zh-CN" altLang="zh-CN" sz="1800" b="1" kern="100" dirty="0">
                <a:effectLst/>
                <a:latin typeface="等线" panose="02010600030101010101" charset="-122"/>
                <a:ea typeface="宋体" panose="02010600030101010101" pitchFamily="2" charset="-122"/>
                <a:cs typeface="Times New Roman" panose="02020603050405020304" pitchFamily="18" charset="0"/>
              </a:rPr>
              <a:t>诚信经营</a:t>
            </a:r>
            <a:r>
              <a:rPr lang="zh-CN" altLang="en-US" sz="1800" b="1" kern="100" dirty="0">
                <a:effectLst/>
                <a:latin typeface="等线" panose="02010600030101010101" charset="-122"/>
                <a:ea typeface="宋体" panose="02010600030101010101" pitchFamily="2" charset="-122"/>
                <a:cs typeface="Times New Roman" panose="02020603050405020304" pitchFamily="18" charset="0"/>
              </a:rPr>
              <a:t>角度：</a:t>
            </a:r>
            <a:endParaRPr lang="en-US" altLang="zh-CN" sz="1800" b="1" kern="100" dirty="0">
              <a:effectLst/>
              <a:latin typeface="等线" panose="02010600030101010101" charset="-122"/>
              <a:ea typeface="宋体" panose="02010600030101010101" pitchFamily="2" charset="-122"/>
              <a:cs typeface="Times New Roman" panose="02020603050405020304" pitchFamily="18" charset="0"/>
            </a:endParaRPr>
          </a:p>
          <a:p>
            <a:pPr indent="457200" algn="just"/>
            <a:r>
              <a:rPr lang="zh-CN" altLang="zh-CN" sz="1800" b="1" kern="100" dirty="0">
                <a:effectLst/>
                <a:latin typeface="等线" panose="02010600030101010101" charset="-122"/>
                <a:ea typeface="宋体" panose="02010600030101010101" pitchFamily="2" charset="-122"/>
                <a:cs typeface="Times New Roman" panose="02020603050405020304" pitchFamily="18" charset="0"/>
              </a:rPr>
              <a:t>（</a:t>
            </a:r>
            <a:r>
              <a:rPr lang="en-US" altLang="zh-CN" sz="1800" b="1" kern="100" dirty="0">
                <a:effectLst/>
                <a:latin typeface="等线" panose="02010600030101010101" charset="-122"/>
                <a:ea typeface="宋体" panose="02010600030101010101" pitchFamily="2" charset="-122"/>
                <a:cs typeface="Times New Roman" panose="02020603050405020304" pitchFamily="18" charset="0"/>
              </a:rPr>
              <a:t>3</a:t>
            </a:r>
            <a:r>
              <a:rPr lang="zh-CN" altLang="zh-CN" sz="1800" b="1" kern="100" dirty="0">
                <a:effectLst/>
                <a:latin typeface="等线" panose="02010600030101010101" charset="-122"/>
                <a:ea typeface="宋体" panose="02010600030101010101" pitchFamily="2" charset="-122"/>
                <a:cs typeface="Times New Roman" panose="02020603050405020304" pitchFamily="18" charset="0"/>
              </a:rPr>
              <a:t>）企业依法诚信经营，树立良好信誉形象，坚持经济效益与社会效益统一，</a:t>
            </a:r>
            <a:r>
              <a:rPr lang="en-US" altLang="zh-CN" sz="1800" b="1" kern="100" dirty="0">
                <a:effectLst/>
                <a:latin typeface="等线" panose="02010600030101010101" charset="-122"/>
                <a:ea typeface="宋体" panose="02010600030101010101" pitchFamily="2" charset="-122"/>
                <a:cs typeface="Times New Roman" panose="02020603050405020304" pitchFamily="18" charset="0"/>
              </a:rPr>
              <a:t>/</a:t>
            </a:r>
            <a:r>
              <a:rPr lang="zh-CN" altLang="zh-CN" sz="1800" b="1" kern="100" dirty="0">
                <a:solidFill>
                  <a:srgbClr val="115BD8"/>
                </a:solidFill>
                <a:effectLst/>
                <a:latin typeface="等线" panose="02010600030101010101" charset="-122"/>
                <a:ea typeface="宋体" panose="02010600030101010101" pitchFamily="2" charset="-122"/>
                <a:cs typeface="Times New Roman" panose="02020603050405020304" pitchFamily="18" charset="0"/>
              </a:rPr>
              <a:t>维护老年消费者合法权利。</a:t>
            </a:r>
            <a:r>
              <a:rPr lang="en-US" altLang="zh-CN" sz="1800" b="1" kern="100" dirty="0">
                <a:effectLst/>
                <a:latin typeface="宋体" panose="02010600030101010101" pitchFamily="2" charset="-122"/>
                <a:ea typeface="等线" panose="02010600030101010101" charset="-122"/>
                <a:cs typeface="Times New Roman" panose="02020603050405020304" pitchFamily="18" charset="0"/>
              </a:rPr>
              <a:t>3.</a:t>
            </a:r>
            <a:r>
              <a:rPr lang="zh-CN" altLang="zh-CN" sz="1800" b="1" kern="100" dirty="0">
                <a:effectLst/>
                <a:latin typeface="等线" panose="02010600030101010101" charset="-122"/>
                <a:ea typeface="宋体" panose="02010600030101010101" pitchFamily="2" charset="-122"/>
                <a:cs typeface="Times New Roman" panose="02020603050405020304" pitchFamily="18" charset="0"/>
              </a:rPr>
              <a:t>发展银发经济应推动</a:t>
            </a:r>
            <a:r>
              <a:rPr lang="zh-CN" altLang="zh-CN" sz="1800" b="1" kern="100" dirty="0">
                <a:solidFill>
                  <a:srgbClr val="FF0000"/>
                </a:solidFill>
                <a:effectLst/>
                <a:latin typeface="等线" panose="02010600030101010101" charset="-122"/>
                <a:ea typeface="宋体" panose="02010600030101010101" pitchFamily="2" charset="-122"/>
                <a:cs typeface="Times New Roman" panose="02020603050405020304" pitchFamily="18" charset="0"/>
              </a:rPr>
              <a:t>有效市场和有为政府更好结合</a:t>
            </a:r>
            <a:r>
              <a:rPr lang="zh-CN" altLang="zh-CN" sz="1800" b="1" kern="100" dirty="0">
                <a:effectLst/>
                <a:latin typeface="等线" panose="02010600030101010101" charset="-122"/>
                <a:ea typeface="宋体" panose="02010600030101010101" pitchFamily="2" charset="-122"/>
                <a:cs typeface="Times New Roman" panose="02020603050405020304" pitchFamily="18" charset="0"/>
              </a:rPr>
              <a:t>，实现应对人口老龄化和促进经济社会发展相结合，增进老年人福祉。</a:t>
            </a:r>
            <a:r>
              <a:rPr lang="en-US" altLang="zh-CN" sz="1800" b="1" kern="100" dirty="0">
                <a:effectLst/>
                <a:latin typeface="等线" panose="02010600030101010101" charset="-122"/>
                <a:ea typeface="宋体" panose="02010600030101010101" pitchFamily="2" charset="-122"/>
                <a:cs typeface="Times New Roman" panose="02020603050405020304" pitchFamily="18" charset="0"/>
              </a:rPr>
              <a:t>/</a:t>
            </a:r>
            <a:r>
              <a:rPr lang="zh-CN" altLang="zh-CN" sz="1800" b="1" kern="100" dirty="0">
                <a:effectLst/>
                <a:latin typeface="等线" panose="02010600030101010101" charset="-122"/>
                <a:ea typeface="宋体" panose="02010600030101010101" pitchFamily="2" charset="-122"/>
                <a:cs typeface="Times New Roman" panose="02020603050405020304" pitchFamily="18" charset="0"/>
              </a:rPr>
              <a:t>充分发挥市场在资源配置中的决定性作用（</a:t>
            </a:r>
            <a:r>
              <a:rPr lang="en-US" altLang="zh-CN" sz="1800" b="1" kern="100" dirty="0">
                <a:effectLst/>
                <a:latin typeface="等线" panose="02010600030101010101" charset="-122"/>
                <a:ea typeface="宋体" panose="02010600030101010101" pitchFamily="2" charset="-122"/>
                <a:cs typeface="Times New Roman" panose="02020603050405020304" pitchFamily="18" charset="0"/>
              </a:rPr>
              <a:t>1</a:t>
            </a:r>
            <a:r>
              <a:rPr lang="zh-CN" altLang="zh-CN" sz="1800" b="1" kern="100" dirty="0">
                <a:effectLst/>
                <a:latin typeface="等线" panose="02010600030101010101" charset="-122"/>
                <a:ea typeface="宋体" panose="02010600030101010101" pitchFamily="2" charset="-122"/>
                <a:cs typeface="Times New Roman" panose="02020603050405020304" pitchFamily="18" charset="0"/>
              </a:rPr>
              <a:t>分）</a:t>
            </a:r>
            <a:endParaRPr lang="zh-CN" altLang="zh-CN" sz="1800" b="1" kern="100" dirty="0">
              <a:effectLst/>
              <a:latin typeface="等线" panose="02010600030101010101" charset="-122"/>
              <a:ea typeface="等线" panose="02010600030101010101" charset="-122"/>
              <a:cs typeface="Times New Roman" panose="02020603050405020304" pitchFamily="18" charset="0"/>
            </a:endParaRPr>
          </a:p>
          <a:p>
            <a:pPr indent="457200" algn="just"/>
            <a:r>
              <a:rPr lang="zh-CN" altLang="zh-CN" sz="1800" b="1" kern="100" dirty="0">
                <a:solidFill>
                  <a:srgbClr val="FF0000"/>
                </a:solidFill>
                <a:effectLst/>
                <a:latin typeface="等线" panose="02010600030101010101" charset="-122"/>
                <a:ea typeface="宋体" panose="02010600030101010101" pitchFamily="2" charset="-122"/>
                <a:cs typeface="Times New Roman" panose="02020603050405020304" pitchFamily="18" charset="0"/>
              </a:rPr>
              <a:t>评分细则：每个角度</a:t>
            </a:r>
            <a:r>
              <a:rPr lang="en-US" altLang="zh-CN" sz="1800" b="1" kern="100" dirty="0">
                <a:solidFill>
                  <a:srgbClr val="FF0000"/>
                </a:solidFill>
                <a:effectLst/>
                <a:latin typeface="等线" panose="02010600030101010101" charset="-122"/>
                <a:ea typeface="宋体" panose="02010600030101010101" pitchFamily="2" charset="-122"/>
                <a:cs typeface="Times New Roman" panose="02020603050405020304" pitchFamily="18" charset="0"/>
              </a:rPr>
              <a:t>2</a:t>
            </a:r>
            <a:r>
              <a:rPr lang="zh-CN" altLang="zh-CN" sz="1800" b="1" kern="100" dirty="0">
                <a:solidFill>
                  <a:srgbClr val="FF0000"/>
                </a:solidFill>
                <a:effectLst/>
                <a:latin typeface="等线" panose="02010600030101010101" charset="-122"/>
                <a:ea typeface="宋体" panose="02010600030101010101" pitchFamily="2" charset="-122"/>
                <a:cs typeface="Times New Roman" panose="02020603050405020304" pitchFamily="18" charset="0"/>
              </a:rPr>
              <a:t>分，政府、企业选两个主体，选</a:t>
            </a:r>
            <a:r>
              <a:rPr lang="en-US" altLang="zh-CN" sz="1800" b="1" kern="100" dirty="0">
                <a:solidFill>
                  <a:srgbClr val="FF0000"/>
                </a:solidFill>
                <a:effectLst/>
                <a:latin typeface="等线" panose="02010600030101010101" charset="-122"/>
                <a:ea typeface="宋体" panose="02010600030101010101" pitchFamily="2" charset="-122"/>
                <a:cs typeface="Times New Roman" panose="02020603050405020304" pitchFamily="18" charset="0"/>
              </a:rPr>
              <a:t>3</a:t>
            </a:r>
            <a:r>
              <a:rPr lang="zh-CN" altLang="zh-CN" sz="1800" b="1" kern="100" dirty="0">
                <a:solidFill>
                  <a:srgbClr val="FF0000"/>
                </a:solidFill>
                <a:effectLst/>
                <a:latin typeface="等线" panose="02010600030101010101" charset="-122"/>
                <a:ea typeface="宋体" panose="02010600030101010101" pitchFamily="2" charset="-122"/>
                <a:cs typeface="Times New Roman" panose="02020603050405020304" pitchFamily="18" charset="0"/>
              </a:rPr>
              <a:t>个角度就</a:t>
            </a:r>
            <a:r>
              <a:rPr lang="en-US" altLang="zh-CN" sz="1800" b="1" kern="100" dirty="0">
                <a:solidFill>
                  <a:srgbClr val="FF0000"/>
                </a:solidFill>
                <a:effectLst/>
                <a:latin typeface="等线" panose="02010600030101010101" charset="-122"/>
                <a:ea typeface="宋体" panose="02010600030101010101" pitchFamily="2" charset="-122"/>
                <a:cs typeface="Times New Roman" panose="02020603050405020304" pitchFamily="18" charset="0"/>
              </a:rPr>
              <a:t>6</a:t>
            </a:r>
            <a:r>
              <a:rPr lang="zh-CN" altLang="zh-CN" sz="1800" b="1" kern="100" dirty="0">
                <a:solidFill>
                  <a:srgbClr val="FF0000"/>
                </a:solidFill>
                <a:effectLst/>
                <a:latin typeface="等线" panose="02010600030101010101" charset="-122"/>
                <a:ea typeface="宋体" panose="02010600030101010101" pitchFamily="2" charset="-122"/>
                <a:cs typeface="Times New Roman" panose="02020603050405020304" pitchFamily="18" charset="0"/>
              </a:rPr>
              <a:t>分；</a:t>
            </a:r>
            <a:endParaRPr lang="zh-CN" altLang="zh-CN" sz="1800" b="1" kern="100" dirty="0">
              <a:effectLst/>
              <a:latin typeface="等线" panose="02010600030101010101" charset="-122"/>
              <a:ea typeface="等线" panose="02010600030101010101" charset="-122"/>
              <a:cs typeface="Times New Roman" panose="02020603050405020304" pitchFamily="18" charset="0"/>
            </a:endParaRPr>
          </a:p>
          <a:p>
            <a:pPr indent="457200" algn="just"/>
            <a:r>
              <a:rPr lang="en-US" altLang="zh-CN" sz="1800" b="1" kern="100" dirty="0">
                <a:solidFill>
                  <a:srgbClr val="FF0000"/>
                </a:solidFill>
                <a:effectLst/>
                <a:latin typeface="宋体" panose="02010600030101010101" pitchFamily="2" charset="-122"/>
                <a:ea typeface="等线" panose="02010600030101010101" charset="-122"/>
                <a:cs typeface="Times New Roman" panose="02020603050405020304" pitchFamily="18" charset="0"/>
              </a:rPr>
              <a:t>1</a:t>
            </a:r>
            <a:r>
              <a:rPr lang="zh-CN" altLang="zh-CN" sz="1800" b="1" kern="100" dirty="0">
                <a:solidFill>
                  <a:srgbClr val="FF0000"/>
                </a:solidFill>
                <a:effectLst/>
                <a:latin typeface="等线" panose="02010600030101010101" charset="-122"/>
                <a:ea typeface="宋体" panose="02010600030101010101" pitchFamily="2" charset="-122"/>
                <a:cs typeface="Times New Roman" panose="02020603050405020304" pitchFamily="18" charset="0"/>
              </a:rPr>
              <a:t>个主体最高</a:t>
            </a:r>
            <a:r>
              <a:rPr lang="en-US" altLang="zh-CN" sz="1800" b="1" kern="100" dirty="0">
                <a:solidFill>
                  <a:srgbClr val="FF0000"/>
                </a:solidFill>
                <a:effectLst/>
                <a:latin typeface="等线" panose="02010600030101010101" charset="-122"/>
                <a:ea typeface="宋体" panose="02010600030101010101" pitchFamily="2" charset="-122"/>
                <a:cs typeface="Times New Roman" panose="02020603050405020304" pitchFamily="18" charset="0"/>
              </a:rPr>
              <a:t>4</a:t>
            </a:r>
            <a:r>
              <a:rPr lang="zh-CN" altLang="zh-CN" sz="1800" b="1" kern="100" dirty="0">
                <a:solidFill>
                  <a:srgbClr val="FF0000"/>
                </a:solidFill>
                <a:effectLst/>
                <a:latin typeface="等线" panose="02010600030101010101" charset="-122"/>
                <a:ea typeface="宋体" panose="02010600030101010101" pitchFamily="2" charset="-122"/>
                <a:cs typeface="Times New Roman" panose="02020603050405020304" pitchFamily="18" charset="0"/>
              </a:rPr>
              <a:t>分，</a:t>
            </a:r>
            <a:r>
              <a:rPr lang="en-US" altLang="zh-CN" sz="1800" b="1" kern="100" dirty="0">
                <a:solidFill>
                  <a:srgbClr val="FF0000"/>
                </a:solidFill>
                <a:effectLst/>
                <a:latin typeface="等线" panose="02010600030101010101" charset="-122"/>
                <a:ea typeface="宋体" panose="02010600030101010101" pitchFamily="2" charset="-122"/>
                <a:cs typeface="Times New Roman" panose="02020603050405020304" pitchFamily="18" charset="0"/>
              </a:rPr>
              <a:t>2</a:t>
            </a:r>
            <a:r>
              <a:rPr lang="zh-CN" altLang="zh-CN" sz="1800" b="1" kern="100" dirty="0">
                <a:solidFill>
                  <a:srgbClr val="FF0000"/>
                </a:solidFill>
                <a:effectLst/>
                <a:latin typeface="等线" panose="02010600030101010101" charset="-122"/>
                <a:ea typeface="宋体" panose="02010600030101010101" pitchFamily="2" charset="-122"/>
                <a:cs typeface="Times New Roman" panose="02020603050405020304" pitchFamily="18" charset="0"/>
              </a:rPr>
              <a:t>个主体</a:t>
            </a:r>
            <a:r>
              <a:rPr lang="en-US" altLang="zh-CN" sz="1800" b="1" kern="100" dirty="0">
                <a:solidFill>
                  <a:srgbClr val="FF0000"/>
                </a:solidFill>
                <a:effectLst/>
                <a:latin typeface="等线" panose="02010600030101010101" charset="-122"/>
                <a:ea typeface="宋体" panose="02010600030101010101" pitchFamily="2" charset="-122"/>
                <a:cs typeface="Times New Roman" panose="02020603050405020304" pitchFamily="18" charset="0"/>
              </a:rPr>
              <a:t>6</a:t>
            </a:r>
            <a:r>
              <a:rPr lang="zh-CN" altLang="zh-CN" sz="1800" b="1" kern="100" dirty="0">
                <a:solidFill>
                  <a:srgbClr val="FF0000"/>
                </a:solidFill>
                <a:effectLst/>
                <a:latin typeface="等线" panose="02010600030101010101" charset="-122"/>
                <a:ea typeface="宋体" panose="02010600030101010101" pitchFamily="2" charset="-122"/>
                <a:cs typeface="Times New Roman" panose="02020603050405020304" pitchFamily="18" charset="0"/>
              </a:rPr>
              <a:t>分。</a:t>
            </a:r>
            <a:endParaRPr lang="zh-CN" altLang="zh-CN" sz="1800" b="1" kern="100" dirty="0">
              <a:effectLst/>
              <a:latin typeface="等线" panose="02010600030101010101" charset="-122"/>
              <a:ea typeface="等线" panose="02010600030101010101" charset="-122"/>
              <a:cs typeface="Times New Roman" panose="0202060305040502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39730" y="547624"/>
            <a:ext cx="11712539" cy="3151074"/>
          </a:xfrm>
          <a:prstGeom prst="rect">
            <a:avLst/>
          </a:prstGeom>
          <a:solidFill>
            <a:schemeClr val="bg1"/>
          </a:solidFill>
        </p:spPr>
        <p:txBody>
          <a:bodyPr wrap="square">
            <a:spAutoFit/>
          </a:bodyPr>
          <a:lstStyle/>
          <a:p>
            <a:pPr algn="just"/>
            <a:r>
              <a:rPr lang="en-US" altLang="zh-CN" sz="2000" b="1" kern="100" dirty="0">
                <a:effectLst/>
                <a:latin typeface="宋体" panose="02010600030101010101" pitchFamily="2" charset="-122"/>
                <a:ea typeface="等线" panose="02010600030101010101" charset="-122"/>
                <a:cs typeface="Times New Roman" panose="02020603050405020304" pitchFamily="18" charset="0"/>
              </a:rPr>
              <a:t>18.</a:t>
            </a:r>
            <a:r>
              <a:rPr lang="zh-CN" altLang="zh-CN" sz="2000" b="1" kern="100" dirty="0">
                <a:effectLst/>
                <a:latin typeface="等线" panose="02010600030101010101" charset="-122"/>
                <a:ea typeface="宋体" panose="02010600030101010101" pitchFamily="2" charset="-122"/>
                <a:cs typeface="Times New Roman" panose="02020603050405020304" pitchFamily="18" charset="0"/>
              </a:rPr>
              <a:t>（</a:t>
            </a:r>
            <a:r>
              <a:rPr lang="en-US" altLang="zh-CN" sz="2000" b="1" kern="100" dirty="0">
                <a:effectLst/>
                <a:latin typeface="等线" panose="02010600030101010101" charset="-122"/>
                <a:ea typeface="宋体" panose="02010600030101010101" pitchFamily="2" charset="-122"/>
                <a:cs typeface="Times New Roman" panose="02020603050405020304" pitchFamily="18" charset="0"/>
              </a:rPr>
              <a:t>16</a:t>
            </a:r>
            <a:r>
              <a:rPr lang="zh-CN" altLang="zh-CN" sz="2000" b="1" kern="100" dirty="0">
                <a:effectLst/>
                <a:latin typeface="等线" panose="02010600030101010101" charset="-122"/>
                <a:ea typeface="宋体" panose="02010600030101010101" pitchFamily="2" charset="-122"/>
                <a:cs typeface="Times New Roman" panose="02020603050405020304" pitchFamily="18" charset="0"/>
              </a:rPr>
              <a:t>分）</a:t>
            </a:r>
            <a:r>
              <a:rPr lang="zh-CN" altLang="zh-CN" sz="2000" b="1" kern="100" dirty="0">
                <a:solidFill>
                  <a:srgbClr val="000000"/>
                </a:solidFill>
                <a:effectLst/>
                <a:highlight>
                  <a:srgbClr val="FFFFFF"/>
                </a:highlight>
                <a:latin typeface="等线" panose="02010600030101010101" charset="-122"/>
                <a:ea typeface="楷体" panose="02010609060101010101" pitchFamily="49" charset="-122"/>
                <a:cs typeface="Arial" panose="020B0604020202020204" pitchFamily="34" charset="0"/>
              </a:rPr>
              <a:t>科技创新、科学普及是实现创新发展的两翼。</a:t>
            </a:r>
            <a:endParaRPr lang="zh-CN" altLang="zh-CN" sz="2000" b="1" kern="100" dirty="0">
              <a:effectLst/>
              <a:latin typeface="等线" panose="02010600030101010101" charset="-122"/>
              <a:ea typeface="等线" panose="02010600030101010101" charset="-122"/>
              <a:cs typeface="Times New Roman" panose="02020603050405020304" pitchFamily="18" charset="0"/>
            </a:endParaRPr>
          </a:p>
          <a:p>
            <a:pPr indent="266700" algn="just"/>
            <a:r>
              <a:rPr lang="zh-CN" altLang="zh-CN" sz="2000" b="1" kern="100" dirty="0">
                <a:effectLst/>
                <a:latin typeface="等线" panose="02010600030101010101" charset="-122"/>
                <a:ea typeface="黑体" panose="02010609060101010101" pitchFamily="49" charset="-122"/>
                <a:cs typeface="Times New Roman" panose="02020603050405020304" pitchFamily="18" charset="0"/>
              </a:rPr>
              <a:t>材料一</a:t>
            </a:r>
            <a:r>
              <a:rPr lang="zh-CN" altLang="zh-CN" sz="2000" b="1" kern="100" dirty="0">
                <a:effectLst/>
                <a:latin typeface="等线" panose="02010600030101010101" charset="-122"/>
                <a:ea typeface="楷体" panose="02010609060101010101" pitchFamily="49" charset="-122"/>
                <a:cs typeface="Times New Roman" panose="02020603050405020304" pitchFamily="18" charset="0"/>
              </a:rPr>
              <a:t> 加快建设北京国际科技创新中心，是党中央赋予北京的重大战略任务，既需要有坚实有力的法制保障，更需要法制的严格实施。</a:t>
            </a:r>
            <a:endParaRPr lang="zh-CN" altLang="zh-CN" sz="2000" b="1" kern="100" dirty="0">
              <a:effectLst/>
              <a:latin typeface="等线" panose="02010600030101010101" charset="-122"/>
              <a:ea typeface="等线" panose="02010600030101010101" charset="-122"/>
              <a:cs typeface="Times New Roman" panose="02020603050405020304" pitchFamily="18" charset="0"/>
            </a:endParaRPr>
          </a:p>
          <a:p>
            <a:pPr indent="266700" algn="just"/>
            <a:r>
              <a:rPr lang="zh-CN" altLang="zh-CN" sz="2000" b="1" kern="100" dirty="0">
                <a:effectLst/>
                <a:latin typeface="等线" panose="02010600030101010101" charset="-122"/>
                <a:ea typeface="楷体" panose="02010609060101010101" pitchFamily="49" charset="-122"/>
                <a:cs typeface="Times New Roman" panose="02020603050405020304" pitchFamily="18" charset="0"/>
              </a:rPr>
              <a:t>北京市第十六届人民代表大会第二次会议表决通过了《北京国际科技创新中心建设条例》。条例紧紧围绕“建设一个什么样的国际科技创新中心、怎么建设国际科技创新中心”作出规定，为高质量建设国际科技创新中心提供法制保障。</a:t>
            </a:r>
            <a:endParaRPr lang="zh-CN" altLang="zh-CN" sz="2000" b="1" kern="100" dirty="0">
              <a:effectLst/>
              <a:latin typeface="等线" panose="02010600030101010101" charset="-122"/>
              <a:ea typeface="等线" panose="02010600030101010101" charset="-122"/>
              <a:cs typeface="Times New Roman" panose="02020603050405020304" pitchFamily="18" charset="0"/>
            </a:endParaRPr>
          </a:p>
          <a:p>
            <a:pPr indent="266700" algn="just"/>
            <a:r>
              <a:rPr lang="zh-CN" altLang="zh-CN" sz="2000" b="1" kern="100" dirty="0">
                <a:effectLst/>
                <a:latin typeface="等线" panose="02010600030101010101" charset="-122"/>
                <a:ea typeface="楷体" panose="02010609060101010101" pitchFamily="49" charset="-122"/>
                <a:cs typeface="Times New Roman" panose="02020603050405020304" pitchFamily="18" charset="0"/>
              </a:rPr>
              <a:t>《北京国际科技创新中心建设条例》制度</a:t>
            </a:r>
            <a:r>
              <a:rPr lang="zh-CN" altLang="zh-CN" sz="2000" b="1" kern="100" dirty="0">
                <a:solidFill>
                  <a:srgbClr val="FF0000"/>
                </a:solidFill>
                <a:effectLst/>
                <a:latin typeface="等线" panose="02010600030101010101" charset="-122"/>
                <a:ea typeface="楷体" panose="02010609060101010101" pitchFamily="49" charset="-122"/>
                <a:cs typeface="Times New Roman" panose="02020603050405020304" pitchFamily="18" charset="0"/>
              </a:rPr>
              <a:t>覆盖面广、涉及主体多，后续需要各方齐心协力</a:t>
            </a:r>
            <a:r>
              <a:rPr lang="zh-CN" altLang="zh-CN" sz="2000" b="1" kern="100" dirty="0">
                <a:effectLst/>
                <a:latin typeface="等线" panose="02010600030101010101" charset="-122"/>
                <a:ea typeface="楷体" panose="02010609060101010101" pitchFamily="49" charset="-122"/>
                <a:cs typeface="Times New Roman" panose="02020603050405020304" pitchFamily="18" charset="0"/>
              </a:rPr>
              <a:t>，共同抓好贯彻落实。</a:t>
            </a:r>
            <a:endParaRPr lang="zh-CN" altLang="zh-CN" sz="2000" b="1" kern="100" dirty="0">
              <a:effectLst/>
              <a:latin typeface="等线" panose="02010600030101010101" charset="-122"/>
              <a:ea typeface="等线" panose="02010600030101010101" charset="-122"/>
              <a:cs typeface="Times New Roman" panose="02020603050405020304" pitchFamily="18" charset="0"/>
            </a:endParaRPr>
          </a:p>
          <a:p>
            <a:pPr indent="266700" algn="just"/>
            <a:r>
              <a:rPr lang="zh-CN" altLang="zh-CN" sz="2000" b="1" kern="100" dirty="0">
                <a:effectLst/>
                <a:latin typeface="等线" panose="02010600030101010101" charset="-122"/>
                <a:ea typeface="宋体" panose="02010600030101010101" pitchFamily="2" charset="-122"/>
                <a:cs typeface="Times New Roman" panose="02020603050405020304" pitchFamily="18" charset="0"/>
              </a:rPr>
              <a:t>（</a:t>
            </a:r>
            <a:r>
              <a:rPr lang="en-US" altLang="zh-CN" sz="2000" b="1" kern="100" dirty="0">
                <a:effectLst/>
                <a:latin typeface="等线" panose="02010600030101010101" charset="-122"/>
                <a:ea typeface="宋体" panose="02010600030101010101" pitchFamily="2" charset="-122"/>
                <a:cs typeface="Times New Roman" panose="02020603050405020304" pitchFamily="18" charset="0"/>
              </a:rPr>
              <a:t>1</a:t>
            </a:r>
            <a:r>
              <a:rPr lang="zh-CN" altLang="zh-CN" sz="2000" b="1" kern="100" dirty="0">
                <a:effectLst/>
                <a:latin typeface="等线" panose="02010600030101010101" charset="-122"/>
                <a:ea typeface="宋体" panose="02010600030101010101" pitchFamily="2" charset="-122"/>
                <a:cs typeface="Times New Roman" panose="02020603050405020304" pitchFamily="18" charset="0"/>
              </a:rPr>
              <a:t>）《北京国际科技创新中心建设条例》于</a:t>
            </a:r>
            <a:r>
              <a:rPr lang="en-US" altLang="zh-CN" sz="2000" b="1" kern="100" dirty="0">
                <a:effectLst/>
                <a:latin typeface="等线" panose="02010600030101010101" charset="-122"/>
                <a:ea typeface="宋体" panose="02010600030101010101" pitchFamily="2" charset="-122"/>
                <a:cs typeface="Times New Roman" panose="02020603050405020304" pitchFamily="18" charset="0"/>
              </a:rPr>
              <a:t>2024</a:t>
            </a:r>
            <a:r>
              <a:rPr lang="zh-CN" altLang="zh-CN" sz="2000" b="1" kern="100" dirty="0">
                <a:effectLst/>
                <a:latin typeface="等线" panose="02010600030101010101" charset="-122"/>
                <a:ea typeface="宋体" panose="02010600030101010101" pitchFamily="2" charset="-122"/>
                <a:cs typeface="Times New Roman" panose="02020603050405020304" pitchFamily="18" charset="0"/>
              </a:rPr>
              <a:t>年</a:t>
            </a:r>
            <a:r>
              <a:rPr lang="en-US" altLang="zh-CN" sz="2000" b="1" kern="100" dirty="0">
                <a:effectLst/>
                <a:latin typeface="等线" panose="02010600030101010101" charset="-122"/>
                <a:ea typeface="宋体" panose="02010600030101010101" pitchFamily="2" charset="-122"/>
                <a:cs typeface="Times New Roman" panose="02020603050405020304" pitchFamily="18" charset="0"/>
              </a:rPr>
              <a:t>3</a:t>
            </a:r>
            <a:r>
              <a:rPr lang="zh-CN" altLang="zh-CN" sz="2000" b="1" kern="100" dirty="0">
                <a:effectLst/>
                <a:latin typeface="等线" panose="02010600030101010101" charset="-122"/>
                <a:ea typeface="宋体" panose="02010600030101010101" pitchFamily="2" charset="-122"/>
                <a:cs typeface="Times New Roman" panose="02020603050405020304" pitchFamily="18" charset="0"/>
              </a:rPr>
              <a:t>月</a:t>
            </a:r>
            <a:r>
              <a:rPr lang="en-US" altLang="zh-CN" sz="2000" b="1" kern="100" dirty="0">
                <a:effectLst/>
                <a:latin typeface="等线" panose="02010600030101010101" charset="-122"/>
                <a:ea typeface="宋体" panose="02010600030101010101" pitchFamily="2" charset="-122"/>
                <a:cs typeface="Times New Roman" panose="02020603050405020304" pitchFamily="18" charset="0"/>
              </a:rPr>
              <a:t>1</a:t>
            </a:r>
            <a:r>
              <a:rPr lang="zh-CN" altLang="zh-CN" sz="2000" b="1" kern="100" dirty="0">
                <a:effectLst/>
                <a:latin typeface="等线" panose="02010600030101010101" charset="-122"/>
                <a:ea typeface="宋体" panose="02010600030101010101" pitchFamily="2" charset="-122"/>
                <a:cs typeface="Times New Roman" panose="02020603050405020304" pitchFamily="18" charset="0"/>
              </a:rPr>
              <a:t>日起施行。结合材料一，运用《政治与法治》知识，为推动</a:t>
            </a:r>
            <a:r>
              <a:rPr lang="zh-CN" altLang="zh-CN" sz="2000" b="1" kern="100" dirty="0">
                <a:solidFill>
                  <a:srgbClr val="FF0000"/>
                </a:solidFill>
                <a:effectLst/>
                <a:latin typeface="等线" panose="02010600030101010101" charset="-122"/>
                <a:ea typeface="宋体" panose="02010600030101010101" pitchFamily="2" charset="-122"/>
                <a:cs typeface="Times New Roman" panose="02020603050405020304" pitchFamily="18" charset="0"/>
              </a:rPr>
              <a:t>条例的贯彻落实</a:t>
            </a:r>
            <a:r>
              <a:rPr lang="zh-CN" altLang="zh-CN" sz="2000" b="1" kern="100" dirty="0">
                <a:effectLst/>
                <a:latin typeface="等线" panose="02010600030101010101" charset="-122"/>
                <a:ea typeface="宋体" panose="02010600030101010101" pitchFamily="2" charset="-122"/>
                <a:cs typeface="Times New Roman" panose="02020603050405020304" pitchFamily="18" charset="0"/>
              </a:rPr>
              <a:t>提出合理</a:t>
            </a:r>
            <a:r>
              <a:rPr lang="zh-CN" altLang="zh-CN" sz="2000" b="1" kern="100" dirty="0">
                <a:solidFill>
                  <a:srgbClr val="FF0000"/>
                </a:solidFill>
                <a:effectLst/>
                <a:latin typeface="等线" panose="02010600030101010101" charset="-122"/>
                <a:ea typeface="宋体" panose="02010600030101010101" pitchFamily="2" charset="-122"/>
                <a:cs typeface="Times New Roman" panose="02020603050405020304" pitchFamily="18" charset="0"/>
              </a:rPr>
              <a:t>建议。</a:t>
            </a:r>
            <a:r>
              <a:rPr lang="zh-CN" altLang="zh-CN" sz="2000" b="1" kern="100" dirty="0">
                <a:effectLst/>
                <a:latin typeface="等线" panose="02010600030101010101" charset="-122"/>
                <a:ea typeface="宋体" panose="02010600030101010101" pitchFamily="2" charset="-122"/>
                <a:cs typeface="Times New Roman" panose="02020603050405020304" pitchFamily="18" charset="0"/>
              </a:rPr>
              <a:t>（</a:t>
            </a:r>
            <a:r>
              <a:rPr lang="en-US" altLang="zh-CN" sz="2000" b="1" kern="100" dirty="0">
                <a:effectLst/>
                <a:latin typeface="等线" panose="02010600030101010101" charset="-122"/>
                <a:ea typeface="宋体" panose="02010600030101010101" pitchFamily="2" charset="-122"/>
                <a:cs typeface="Times New Roman" panose="02020603050405020304" pitchFamily="18" charset="0"/>
              </a:rPr>
              <a:t>8</a:t>
            </a:r>
            <a:r>
              <a:rPr lang="zh-CN" altLang="zh-CN" sz="2000" b="1" kern="100" dirty="0">
                <a:effectLst/>
                <a:latin typeface="等线" panose="02010600030101010101" charset="-122"/>
                <a:ea typeface="宋体" panose="02010600030101010101" pitchFamily="2" charset="-122"/>
                <a:cs typeface="Times New Roman" panose="02020603050405020304" pitchFamily="18" charset="0"/>
              </a:rPr>
              <a:t>分）</a:t>
            </a:r>
            <a:endParaRPr lang="zh-CN" altLang="zh-CN" sz="2000" b="1" kern="100" dirty="0">
              <a:effectLst/>
              <a:latin typeface="等线" panose="02010600030101010101" charset="-122"/>
              <a:ea typeface="等线" panose="02010600030101010101" charset="-122"/>
              <a:cs typeface="Times New Roman" panose="02020603050405020304" pitchFamily="18" charset="0"/>
            </a:endParaRPr>
          </a:p>
        </p:txBody>
      </p:sp>
      <p:pic>
        <p:nvPicPr>
          <p:cNvPr id="5" name="图片 4"/>
          <p:cNvPicPr>
            <a:picLocks noChangeAspect="1"/>
          </p:cNvPicPr>
          <p:nvPr/>
        </p:nvPicPr>
        <p:blipFill>
          <a:blip r:embed="rId1"/>
          <a:stretch>
            <a:fillRect/>
          </a:stretch>
        </p:blipFill>
        <p:spPr>
          <a:xfrm>
            <a:off x="1815474" y="3898467"/>
            <a:ext cx="8561049" cy="2495215"/>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95901" y="374523"/>
            <a:ext cx="11219380" cy="1631216"/>
          </a:xfrm>
          <a:prstGeom prst="rect">
            <a:avLst/>
          </a:prstGeom>
          <a:solidFill>
            <a:schemeClr val="bg1"/>
          </a:solidFill>
        </p:spPr>
        <p:txBody>
          <a:bodyPr wrap="square">
            <a:spAutoFit/>
          </a:bodyPr>
          <a:lstStyle/>
          <a:p>
            <a:pPr algn="l"/>
            <a:r>
              <a:rPr lang="zh-CN" altLang="zh-CN" sz="2000" b="1" kern="100" dirty="0">
                <a:effectLst/>
                <a:latin typeface="等线 Light" panose="02010600030101010101" pitchFamily="2" charset="-122"/>
                <a:ea typeface="宋体" panose="02010600030101010101" pitchFamily="2" charset="-122"/>
                <a:cs typeface="等线 Light" panose="02010600030101010101" pitchFamily="2" charset="-122"/>
              </a:rPr>
              <a:t>一是</a:t>
            </a:r>
            <a:r>
              <a:rPr lang="zh-CN" altLang="zh-CN" sz="2000" b="1" kern="100" dirty="0">
                <a:solidFill>
                  <a:srgbClr val="FF0000"/>
                </a:solidFill>
                <a:effectLst/>
                <a:latin typeface="等线 Light" panose="02010600030101010101" pitchFamily="2" charset="-122"/>
                <a:ea typeface="宋体" panose="02010600030101010101" pitchFamily="2" charset="-122"/>
                <a:cs typeface="等线 Light" panose="02010600030101010101" pitchFamily="2" charset="-122"/>
              </a:rPr>
              <a:t>有关部门</a:t>
            </a:r>
            <a:r>
              <a:rPr lang="zh-CN" altLang="zh-CN" sz="2000" b="1" kern="100" dirty="0">
                <a:effectLst/>
                <a:latin typeface="等线 Light" panose="02010600030101010101" pitchFamily="2" charset="-122"/>
                <a:ea typeface="宋体" panose="02010600030101010101" pitchFamily="2" charset="-122"/>
                <a:cs typeface="等线 Light" panose="02010600030101010101" pitchFamily="2" charset="-122"/>
              </a:rPr>
              <a:t>积极开展条例的</a:t>
            </a:r>
            <a:r>
              <a:rPr lang="zh-CN" altLang="zh-CN" sz="2000" b="1" kern="100" dirty="0">
                <a:solidFill>
                  <a:srgbClr val="FF0000"/>
                </a:solidFill>
                <a:latin typeface="等线 Light" panose="02010600030101010101" pitchFamily="2" charset="-122"/>
                <a:ea typeface="宋体" panose="02010600030101010101" pitchFamily="2" charset="-122"/>
              </a:rPr>
              <a:t>宣传解读</a:t>
            </a:r>
            <a:r>
              <a:rPr lang="zh-CN" altLang="zh-CN" sz="2000" b="1" kern="100" dirty="0">
                <a:effectLst/>
                <a:latin typeface="等线 Light" panose="02010600030101010101" pitchFamily="2" charset="-122"/>
                <a:ea typeface="宋体" panose="02010600030101010101" pitchFamily="2" charset="-122"/>
                <a:cs typeface="等线 Light" panose="02010600030101010101" pitchFamily="2" charset="-122"/>
              </a:rPr>
              <a:t>，增进理解，</a:t>
            </a:r>
            <a:r>
              <a:rPr lang="zh-CN" altLang="zh-CN" sz="2000" b="1" kern="100" dirty="0">
                <a:solidFill>
                  <a:srgbClr val="FF0000"/>
                </a:solidFill>
                <a:latin typeface="等线 Light" panose="02010600030101010101" pitchFamily="2" charset="-122"/>
                <a:ea typeface="宋体" panose="02010600030101010101" pitchFamily="2" charset="-122"/>
              </a:rPr>
              <a:t>营造</a:t>
            </a:r>
            <a:r>
              <a:rPr lang="en-US" altLang="zh-CN" sz="2000" b="1" kern="100" dirty="0">
                <a:solidFill>
                  <a:srgbClr val="FF0000"/>
                </a:solidFill>
                <a:latin typeface="等线 Light" panose="02010600030101010101" pitchFamily="2" charset="-122"/>
                <a:ea typeface="宋体" panose="02010600030101010101" pitchFamily="2" charset="-122"/>
              </a:rPr>
              <a:t>“</a:t>
            </a:r>
            <a:r>
              <a:rPr lang="zh-CN" altLang="zh-CN" sz="2000" b="1" kern="100" dirty="0">
                <a:solidFill>
                  <a:srgbClr val="FF0000"/>
                </a:solidFill>
                <a:latin typeface="等线 Light" panose="02010600030101010101" pitchFamily="2" charset="-122"/>
                <a:ea typeface="宋体" panose="02010600030101010101" pitchFamily="2" charset="-122"/>
              </a:rPr>
              <a:t>知法尊法</a:t>
            </a:r>
            <a:r>
              <a:rPr lang="en-US" altLang="zh-CN" sz="2000" b="1" kern="100" dirty="0">
                <a:solidFill>
                  <a:srgbClr val="FF0000"/>
                </a:solidFill>
                <a:latin typeface="等线 Light" panose="02010600030101010101" pitchFamily="2" charset="-122"/>
                <a:ea typeface="宋体" panose="02010600030101010101" pitchFamily="2" charset="-122"/>
              </a:rPr>
              <a:t>”</a:t>
            </a:r>
            <a:r>
              <a:rPr lang="zh-CN" altLang="zh-CN" sz="2000" b="1" kern="100" dirty="0">
                <a:solidFill>
                  <a:srgbClr val="FF0000"/>
                </a:solidFill>
                <a:latin typeface="等线 Light" panose="02010600030101010101" pitchFamily="2" charset="-122"/>
                <a:ea typeface="宋体" panose="02010600030101010101" pitchFamily="2" charset="-122"/>
              </a:rPr>
              <a:t>良好氛围</a:t>
            </a:r>
            <a:r>
              <a:rPr lang="zh-CN" altLang="zh-CN" sz="2000" b="1" kern="100" dirty="0">
                <a:effectLst/>
                <a:latin typeface="等线 Light" panose="02010600030101010101" pitchFamily="2" charset="-122"/>
                <a:ea typeface="宋体" panose="02010600030101010101" pitchFamily="2" charset="-122"/>
                <a:cs typeface="等线 Light" panose="02010600030101010101" pitchFamily="2" charset="-122"/>
              </a:rPr>
              <a:t>。</a:t>
            </a:r>
            <a:endParaRPr lang="zh-CN" altLang="zh-CN" sz="2000" b="1" kern="100" dirty="0">
              <a:effectLst/>
              <a:latin typeface="等线" panose="02010600030101010101" charset="-122"/>
              <a:ea typeface="等线" panose="02010600030101010101" charset="-122"/>
              <a:cs typeface="Times New Roman" panose="02020603050405020304" pitchFamily="18" charset="0"/>
            </a:endParaRPr>
          </a:p>
          <a:p>
            <a:pPr algn="l"/>
            <a:r>
              <a:rPr lang="zh-CN" altLang="zh-CN" sz="2000" b="1" kern="100" dirty="0">
                <a:effectLst/>
                <a:latin typeface="等线 Light" panose="02010600030101010101" pitchFamily="2" charset="-122"/>
                <a:ea typeface="宋体" panose="02010600030101010101" pitchFamily="2" charset="-122"/>
                <a:cs typeface="等线 Light" panose="02010600030101010101" pitchFamily="2" charset="-122"/>
              </a:rPr>
              <a:t>二是</a:t>
            </a:r>
            <a:r>
              <a:rPr lang="zh-CN" altLang="zh-CN" sz="2000" b="1" kern="100" dirty="0">
                <a:solidFill>
                  <a:srgbClr val="FF0000"/>
                </a:solidFill>
                <a:latin typeface="等线 Light" panose="02010600030101010101" pitchFamily="2" charset="-122"/>
                <a:ea typeface="宋体" panose="02010600030101010101" pitchFamily="2" charset="-122"/>
              </a:rPr>
              <a:t>政府依照条例积极履职</a:t>
            </a:r>
            <a:r>
              <a:rPr lang="zh-CN" altLang="zh-CN" sz="2000" b="1" kern="100" dirty="0">
                <a:effectLst/>
                <a:latin typeface="等线 Light" panose="02010600030101010101" pitchFamily="2" charset="-122"/>
                <a:ea typeface="宋体" panose="02010600030101010101" pitchFamily="2" charset="-122"/>
                <a:cs typeface="等线 Light" panose="02010600030101010101" pitchFamily="2" charset="-122"/>
              </a:rPr>
              <a:t>，完善科技创新中心建设政策，</a:t>
            </a:r>
            <a:r>
              <a:rPr lang="zh-CN" altLang="zh-CN" sz="2000" b="1" kern="100" dirty="0">
                <a:solidFill>
                  <a:srgbClr val="FF0000"/>
                </a:solidFill>
                <a:latin typeface="等线 Light" panose="02010600030101010101" pitchFamily="2" charset="-122"/>
                <a:ea typeface="宋体" panose="02010600030101010101" pitchFamily="2" charset="-122"/>
              </a:rPr>
              <a:t>提供优良的科技创新公共服务</a:t>
            </a:r>
            <a:r>
              <a:rPr lang="zh-CN" altLang="zh-CN" sz="2000" b="1" kern="100" dirty="0">
                <a:effectLst/>
                <a:latin typeface="等线 Light" panose="02010600030101010101" pitchFamily="2" charset="-122"/>
                <a:ea typeface="宋体" panose="02010600030101010101" pitchFamily="2" charset="-122"/>
                <a:cs typeface="等线 Light" panose="02010600030101010101" pitchFamily="2" charset="-122"/>
              </a:rPr>
              <a:t>。</a:t>
            </a:r>
            <a:endParaRPr lang="zh-CN" altLang="zh-CN" sz="2000" b="1" kern="100" dirty="0">
              <a:effectLst/>
              <a:latin typeface="等线" panose="02010600030101010101" charset="-122"/>
              <a:ea typeface="等线" panose="02010600030101010101" charset="-122"/>
              <a:cs typeface="Times New Roman" panose="02020603050405020304" pitchFamily="18" charset="0"/>
            </a:endParaRPr>
          </a:p>
          <a:p>
            <a:pPr algn="l"/>
            <a:r>
              <a:rPr lang="zh-CN" altLang="zh-CN" sz="2000" b="1" kern="100" dirty="0">
                <a:effectLst/>
                <a:latin typeface="等线 Light" panose="02010600030101010101" pitchFamily="2" charset="-122"/>
                <a:ea typeface="宋体" panose="02010600030101010101" pitchFamily="2" charset="-122"/>
                <a:cs typeface="等线 Light" panose="02010600030101010101" pitchFamily="2" charset="-122"/>
              </a:rPr>
              <a:t>三是</a:t>
            </a:r>
            <a:r>
              <a:rPr lang="zh-CN" altLang="zh-CN" sz="2000" b="1" kern="100" dirty="0">
                <a:solidFill>
                  <a:srgbClr val="FF0000"/>
                </a:solidFill>
                <a:latin typeface="等线 Light" panose="02010600030101010101" pitchFamily="2" charset="-122"/>
                <a:ea typeface="宋体" panose="02010600030101010101" pitchFamily="2" charset="-122"/>
              </a:rPr>
              <a:t>企业、个人</a:t>
            </a:r>
            <a:r>
              <a:rPr lang="zh-CN" altLang="zh-CN" sz="2000" b="1" kern="100" dirty="0">
                <a:effectLst/>
                <a:latin typeface="等线 Light" panose="02010600030101010101" pitchFamily="2" charset="-122"/>
                <a:ea typeface="宋体" panose="02010600030101010101" pitchFamily="2" charset="-122"/>
                <a:cs typeface="等线 Light" panose="02010600030101010101" pitchFamily="2" charset="-122"/>
              </a:rPr>
              <a:t>等</a:t>
            </a:r>
            <a:r>
              <a:rPr lang="zh-CN" altLang="zh-CN" sz="2000" b="1" kern="100" dirty="0">
                <a:solidFill>
                  <a:srgbClr val="FF0000"/>
                </a:solidFill>
                <a:latin typeface="等线 Light" panose="02010600030101010101" pitchFamily="2" charset="-122"/>
                <a:ea typeface="宋体" panose="02010600030101010101" pitchFamily="2" charset="-122"/>
              </a:rPr>
              <a:t>创新主体</a:t>
            </a:r>
            <a:r>
              <a:rPr lang="zh-CN" altLang="zh-CN" sz="2000" b="1" kern="100" dirty="0">
                <a:effectLst/>
                <a:latin typeface="等线 Light" panose="02010600030101010101" pitchFamily="2" charset="-122"/>
                <a:ea typeface="宋体" panose="02010600030101010101" pitchFamily="2" charset="-122"/>
                <a:cs typeface="等线 Light" panose="02010600030101010101" pitchFamily="2" charset="-122"/>
              </a:rPr>
              <a:t>，充分</a:t>
            </a:r>
            <a:r>
              <a:rPr lang="zh-CN" altLang="zh-CN" sz="2000" b="1" kern="100" dirty="0">
                <a:solidFill>
                  <a:srgbClr val="FF0000"/>
                </a:solidFill>
                <a:latin typeface="等线 Light" panose="02010600030101010101" pitchFamily="2" charset="-122"/>
                <a:ea typeface="宋体" panose="02010600030101010101" pitchFamily="2" charset="-122"/>
              </a:rPr>
              <a:t>利用条例</a:t>
            </a:r>
            <a:r>
              <a:rPr lang="zh-CN" altLang="zh-CN" sz="2000" b="1" kern="100" dirty="0">
                <a:effectLst/>
                <a:latin typeface="等线 Light" panose="02010600030101010101" pitchFamily="2" charset="-122"/>
                <a:ea typeface="宋体" panose="02010600030101010101" pitchFamily="2" charset="-122"/>
                <a:cs typeface="等线 Light" panose="02010600030101010101" pitchFamily="2" charset="-122"/>
              </a:rPr>
              <a:t>对科技创新的</a:t>
            </a:r>
            <a:r>
              <a:rPr lang="zh-CN" altLang="zh-CN" sz="2000" b="1" kern="100" dirty="0">
                <a:solidFill>
                  <a:srgbClr val="FF0000"/>
                </a:solidFill>
                <a:latin typeface="等线 Light" panose="02010600030101010101" pitchFamily="2" charset="-122"/>
                <a:ea typeface="宋体" panose="02010600030101010101" pitchFamily="2" charset="-122"/>
              </a:rPr>
              <a:t>保障性规定</a:t>
            </a:r>
            <a:r>
              <a:rPr lang="zh-CN" altLang="zh-CN" sz="2000" b="1" kern="100" dirty="0">
                <a:effectLst/>
                <a:latin typeface="等线 Light" panose="02010600030101010101" pitchFamily="2" charset="-122"/>
                <a:ea typeface="宋体" panose="02010600030101010101" pitchFamily="2" charset="-122"/>
                <a:cs typeface="等线 Light" panose="02010600030101010101" pitchFamily="2" charset="-122"/>
              </a:rPr>
              <a:t>，</a:t>
            </a:r>
            <a:r>
              <a:rPr lang="zh-CN" altLang="zh-CN" sz="2000" b="1" kern="100" dirty="0">
                <a:solidFill>
                  <a:srgbClr val="FF0000"/>
                </a:solidFill>
                <a:latin typeface="等线 Light" panose="02010600030101010101" pitchFamily="2" charset="-122"/>
                <a:ea typeface="宋体" panose="02010600030101010101" pitchFamily="2" charset="-122"/>
              </a:rPr>
              <a:t>积极开展自主创新。</a:t>
            </a:r>
            <a:endParaRPr lang="zh-CN" altLang="zh-CN" sz="2000" b="1" kern="100" dirty="0">
              <a:solidFill>
                <a:srgbClr val="FF0000"/>
              </a:solidFill>
              <a:latin typeface="等线 Light" panose="02010600030101010101" pitchFamily="2" charset="-122"/>
              <a:ea typeface="宋体" panose="02010600030101010101" pitchFamily="2" charset="-122"/>
            </a:endParaRPr>
          </a:p>
          <a:p>
            <a:pPr algn="l"/>
            <a:r>
              <a:rPr lang="zh-CN" altLang="zh-CN" sz="2000" b="1" kern="100" dirty="0">
                <a:effectLst/>
                <a:latin typeface="等线 Light" panose="02010600030101010101" pitchFamily="2" charset="-122"/>
                <a:ea typeface="宋体" panose="02010600030101010101" pitchFamily="2" charset="-122"/>
                <a:cs typeface="等线 Light" panose="02010600030101010101" pitchFamily="2" charset="-122"/>
              </a:rPr>
              <a:t>四是</a:t>
            </a:r>
            <a:r>
              <a:rPr lang="zh-CN" altLang="zh-CN" sz="2000" b="1" kern="100" dirty="0">
                <a:solidFill>
                  <a:srgbClr val="FF0000"/>
                </a:solidFill>
                <a:latin typeface="等线 Light" panose="02010600030101010101" pitchFamily="2" charset="-122"/>
                <a:ea typeface="宋体" panose="02010600030101010101" pitchFamily="2" charset="-122"/>
              </a:rPr>
              <a:t>市人大及常委会加强</a:t>
            </a:r>
            <a:r>
              <a:rPr lang="zh-CN" altLang="zh-CN" sz="2000" b="1" kern="100" dirty="0">
                <a:effectLst/>
                <a:latin typeface="等线 Light" panose="02010600030101010101" pitchFamily="2" charset="-122"/>
                <a:ea typeface="宋体" panose="02010600030101010101" pitchFamily="2" charset="-122"/>
                <a:cs typeface="等线 Light" panose="02010600030101010101" pitchFamily="2" charset="-122"/>
              </a:rPr>
              <a:t>条例实施</a:t>
            </a:r>
            <a:r>
              <a:rPr lang="zh-CN" altLang="zh-CN" sz="2000" b="1" kern="100" dirty="0">
                <a:solidFill>
                  <a:srgbClr val="FF0000"/>
                </a:solidFill>
                <a:latin typeface="等线 Light" panose="02010600030101010101" pitchFamily="2" charset="-122"/>
                <a:ea typeface="宋体" panose="02010600030101010101" pitchFamily="2" charset="-122"/>
              </a:rPr>
              <a:t>监督、反馈，市政协</a:t>
            </a:r>
            <a:r>
              <a:rPr lang="zh-CN" altLang="zh-CN" sz="2000" b="1" kern="100" dirty="0">
                <a:effectLst/>
                <a:latin typeface="等线 Light" panose="02010600030101010101" pitchFamily="2" charset="-122"/>
                <a:ea typeface="宋体" panose="02010600030101010101" pitchFamily="2" charset="-122"/>
                <a:cs typeface="等线 Light" panose="02010600030101010101" pitchFamily="2" charset="-122"/>
              </a:rPr>
              <a:t>关注条例的实施，</a:t>
            </a:r>
            <a:r>
              <a:rPr lang="zh-CN" altLang="zh-CN" sz="2000" b="1" kern="100" dirty="0">
                <a:solidFill>
                  <a:srgbClr val="FF0000"/>
                </a:solidFill>
                <a:latin typeface="等线 Light" panose="02010600030101010101" pitchFamily="2" charset="-122"/>
                <a:ea typeface="宋体" panose="02010600030101010101" pitchFamily="2" charset="-122"/>
              </a:rPr>
              <a:t>加强沟通、协商</a:t>
            </a:r>
            <a:r>
              <a:rPr lang="zh-CN" altLang="zh-CN" sz="2000" b="1" kern="100" dirty="0">
                <a:effectLst/>
                <a:latin typeface="等线 Light" panose="02010600030101010101" pitchFamily="2" charset="-122"/>
                <a:ea typeface="宋体" panose="02010600030101010101" pitchFamily="2" charset="-122"/>
                <a:cs typeface="等线 Light" panose="02010600030101010101" pitchFamily="2" charset="-122"/>
              </a:rPr>
              <a:t>等。</a:t>
            </a:r>
            <a:endParaRPr lang="zh-CN" altLang="zh-CN" sz="2000" b="1" kern="100" dirty="0">
              <a:effectLst/>
              <a:latin typeface="等线" panose="02010600030101010101" charset="-122"/>
              <a:ea typeface="等线" panose="02010600030101010101" charset="-122"/>
              <a:cs typeface="Times New Roman" panose="02020603050405020304" pitchFamily="18" charset="0"/>
            </a:endParaRPr>
          </a:p>
          <a:p>
            <a:pPr algn="l"/>
            <a:r>
              <a:rPr lang="zh-CN" altLang="zh-CN" sz="2000" b="1" kern="100" dirty="0">
                <a:effectLst/>
                <a:latin typeface="等线 Light" panose="02010600030101010101" pitchFamily="2" charset="-122"/>
                <a:ea typeface="宋体" panose="02010600030101010101" pitchFamily="2" charset="-122"/>
                <a:cs typeface="等线 Light" panose="02010600030101010101" pitchFamily="2" charset="-122"/>
              </a:rPr>
              <a:t>五是</a:t>
            </a:r>
            <a:r>
              <a:rPr lang="zh-CN" altLang="zh-CN" sz="2000" b="1" kern="100" dirty="0">
                <a:solidFill>
                  <a:srgbClr val="FF0000"/>
                </a:solidFill>
                <a:latin typeface="等线 Light" panose="02010600030101010101" pitchFamily="2" charset="-122"/>
                <a:ea typeface="宋体" panose="02010600030101010101" pitchFamily="2" charset="-122"/>
              </a:rPr>
              <a:t>司法机关</a:t>
            </a:r>
            <a:r>
              <a:rPr lang="zh-CN" altLang="zh-CN" sz="2000" b="1" kern="100" dirty="0">
                <a:effectLst/>
                <a:latin typeface="等线 Light" panose="02010600030101010101" pitchFamily="2" charset="-122"/>
                <a:ea typeface="宋体" panose="02010600030101010101" pitchFamily="2" charset="-122"/>
                <a:cs typeface="等线 Light" panose="02010600030101010101" pitchFamily="2" charset="-122"/>
              </a:rPr>
              <a:t>应加强对条例的</a:t>
            </a:r>
            <a:r>
              <a:rPr lang="zh-CN" altLang="zh-CN" sz="2000" b="1" kern="100" dirty="0">
                <a:solidFill>
                  <a:srgbClr val="FF0000"/>
                </a:solidFill>
                <a:latin typeface="等线 Light" panose="02010600030101010101" pitchFamily="2" charset="-122"/>
                <a:ea typeface="宋体" panose="02010600030101010101" pitchFamily="2" charset="-122"/>
              </a:rPr>
              <a:t>司法适用</a:t>
            </a:r>
            <a:r>
              <a:rPr lang="zh-CN" altLang="zh-CN" sz="2000" b="1" kern="100" dirty="0">
                <a:effectLst/>
                <a:latin typeface="等线 Light" panose="02010600030101010101" pitchFamily="2" charset="-122"/>
                <a:ea typeface="宋体" panose="02010600030101010101" pitchFamily="2" charset="-122"/>
                <a:cs typeface="等线 Light" panose="02010600030101010101" pitchFamily="2" charset="-122"/>
              </a:rPr>
              <a:t>，努力为建设国际科创中心营造公平正义的</a:t>
            </a:r>
            <a:r>
              <a:rPr lang="zh-CN" altLang="zh-CN" sz="2000" b="1" kern="100" dirty="0">
                <a:solidFill>
                  <a:srgbClr val="FF0000"/>
                </a:solidFill>
                <a:latin typeface="等线 Light" panose="02010600030101010101" pitchFamily="2" charset="-122"/>
                <a:ea typeface="宋体" panose="02010600030101010101" pitchFamily="2" charset="-122"/>
              </a:rPr>
              <a:t>法治环境。</a:t>
            </a:r>
            <a:endParaRPr lang="zh-CN" altLang="zh-CN" sz="2000" b="1" kern="100" dirty="0">
              <a:solidFill>
                <a:srgbClr val="FF0000"/>
              </a:solidFill>
              <a:latin typeface="等线 Light" panose="02010600030101010101" pitchFamily="2" charset="-122"/>
              <a:ea typeface="宋体" panose="02010600030101010101" pitchFamily="2" charset="-122"/>
            </a:endParaRPr>
          </a:p>
        </p:txBody>
      </p:sp>
      <p:sp>
        <p:nvSpPr>
          <p:cNvPr id="5" name="文本框 4"/>
          <p:cNvSpPr txBox="1"/>
          <p:nvPr/>
        </p:nvSpPr>
        <p:spPr>
          <a:xfrm>
            <a:off x="523982" y="2420826"/>
            <a:ext cx="11668018" cy="4062651"/>
          </a:xfrm>
          <a:prstGeom prst="rect">
            <a:avLst/>
          </a:prstGeom>
          <a:noFill/>
        </p:spPr>
        <p:txBody>
          <a:bodyPr wrap="square">
            <a:spAutoFit/>
          </a:bodyPr>
          <a:lstStyle/>
          <a:p>
            <a:r>
              <a:rPr lang="zh-CN" altLang="en-US" sz="2000" dirty="0"/>
              <a:t>六个角度，每个角度</a:t>
            </a:r>
            <a:r>
              <a:rPr lang="en-US" altLang="zh-CN" sz="2000" dirty="0"/>
              <a:t>2</a:t>
            </a:r>
            <a:r>
              <a:rPr lang="zh-CN" altLang="en-US" sz="2000" dirty="0"/>
              <a:t>分，任四点得</a:t>
            </a:r>
            <a:r>
              <a:rPr lang="en-US" altLang="zh-CN" sz="2000" dirty="0"/>
              <a:t>8</a:t>
            </a:r>
            <a:r>
              <a:rPr lang="zh-CN" altLang="en-US" sz="2000" dirty="0"/>
              <a:t>分</a:t>
            </a:r>
            <a:endParaRPr lang="zh-CN" altLang="en-US" sz="2000" dirty="0"/>
          </a:p>
          <a:p>
            <a:r>
              <a:rPr lang="zh-CN" altLang="en-US" sz="2000" dirty="0"/>
              <a:t>主体</a:t>
            </a:r>
            <a:r>
              <a:rPr lang="en-US" altLang="zh-CN" sz="2000" dirty="0"/>
              <a:t>+</a:t>
            </a:r>
            <a:r>
              <a:rPr lang="zh-CN" altLang="en-US" sz="2000" dirty="0"/>
              <a:t>（知识）</a:t>
            </a:r>
            <a:r>
              <a:rPr lang="en-US" altLang="zh-CN" sz="2000" dirty="0"/>
              <a:t>+</a:t>
            </a:r>
            <a:r>
              <a:rPr lang="zh-CN" altLang="en-US" sz="2000" dirty="0"/>
              <a:t>做法</a:t>
            </a:r>
            <a:r>
              <a:rPr lang="en-US" altLang="zh-CN" sz="2000" dirty="0"/>
              <a:t>+</a:t>
            </a:r>
            <a:r>
              <a:rPr lang="zh-CN" altLang="en-US" sz="2000" dirty="0"/>
              <a:t>（预期效果）</a:t>
            </a:r>
            <a:endParaRPr lang="zh-CN" altLang="en-US" sz="2000" dirty="0"/>
          </a:p>
          <a:p>
            <a:r>
              <a:rPr lang="en-US" altLang="zh-CN" sz="2000" dirty="0"/>
              <a:t>1.</a:t>
            </a:r>
            <a:r>
              <a:rPr lang="zh-CN" altLang="en-US" sz="2000" dirty="0"/>
              <a:t>有关部门积极开展条例的宣传解读，增进理解，营造“知法尊法”良好氛围。</a:t>
            </a:r>
            <a:endParaRPr lang="zh-CN" altLang="en-US" sz="2000" dirty="0"/>
          </a:p>
          <a:p>
            <a:r>
              <a:rPr lang="en-US" altLang="zh-CN" sz="2000" dirty="0"/>
              <a:t>2.</a:t>
            </a:r>
            <a:r>
              <a:rPr lang="zh-CN" altLang="en-US" sz="2000" dirty="0"/>
              <a:t>政府：依照条例积极履职，完善科技创新中心建设政策，提供优良的科技创新公共服务。</a:t>
            </a:r>
            <a:endParaRPr lang="zh-CN" altLang="en-US" sz="2000" dirty="0"/>
          </a:p>
          <a:p>
            <a:r>
              <a:rPr lang="zh-CN" altLang="en-US" sz="2000" dirty="0"/>
              <a:t>（替换：履行职能）</a:t>
            </a:r>
            <a:endParaRPr lang="zh-CN" altLang="en-US" sz="2000" dirty="0"/>
          </a:p>
          <a:p>
            <a:r>
              <a:rPr lang="en-US" altLang="zh-CN" sz="2000" dirty="0"/>
              <a:t>3.</a:t>
            </a:r>
            <a:r>
              <a:rPr lang="zh-CN" altLang="en-US" sz="2000" dirty="0"/>
              <a:t>市人大及常委会：加强条例实施监督、反馈，</a:t>
            </a:r>
            <a:endParaRPr lang="zh-CN" altLang="en-US" sz="2000" dirty="0"/>
          </a:p>
          <a:p>
            <a:r>
              <a:rPr lang="zh-CN" altLang="en-US" sz="2000" dirty="0"/>
              <a:t>（替换：行使监督权）</a:t>
            </a:r>
            <a:endParaRPr lang="zh-CN" altLang="en-US" sz="2000" dirty="0"/>
          </a:p>
          <a:p>
            <a:r>
              <a:rPr lang="en-US" altLang="zh-CN" sz="2000" dirty="0"/>
              <a:t>4.</a:t>
            </a:r>
            <a:r>
              <a:rPr lang="zh-CN" altLang="en-US" sz="2000" dirty="0"/>
              <a:t>市政协关注条例的实施，加强沟通、协商等；</a:t>
            </a:r>
            <a:endParaRPr lang="zh-CN" altLang="en-US" sz="2000" dirty="0"/>
          </a:p>
          <a:p>
            <a:r>
              <a:rPr lang="zh-CN" altLang="en-US" sz="2000" dirty="0"/>
              <a:t>（替换：民主监督）</a:t>
            </a:r>
            <a:endParaRPr lang="zh-CN" altLang="en-US" sz="2000" dirty="0"/>
          </a:p>
          <a:p>
            <a:r>
              <a:rPr lang="en-US" altLang="zh-CN" sz="2000" dirty="0"/>
              <a:t>5.</a:t>
            </a:r>
            <a:r>
              <a:rPr lang="zh-CN" altLang="en-US" sz="2000" dirty="0"/>
              <a:t>司法机关：应加强对条例的司法适用，努力为建设国际科创中心营造公平正义的法治环境。</a:t>
            </a:r>
            <a:endParaRPr lang="zh-CN" altLang="en-US" sz="2000" dirty="0"/>
          </a:p>
          <a:p>
            <a:r>
              <a:rPr lang="zh-CN" altLang="en-US" sz="2000" dirty="0"/>
              <a:t>（替换：公正司法）</a:t>
            </a:r>
            <a:endParaRPr lang="zh-CN" altLang="en-US" sz="2000" dirty="0"/>
          </a:p>
          <a:p>
            <a:r>
              <a:rPr lang="en-US" altLang="zh-CN" sz="2000" dirty="0"/>
              <a:t>6.</a:t>
            </a:r>
            <a:r>
              <a:rPr lang="zh-CN" altLang="en-US" sz="2000" dirty="0"/>
              <a:t>企业、个人等创新主体，充分利用条例对科技创新的保障性规定，积极开展自主创新。</a:t>
            </a:r>
            <a:endParaRPr lang="zh-CN" altLang="en-US" sz="2000" dirty="0"/>
          </a:p>
          <a:p>
            <a:r>
              <a:rPr lang="zh-CN" altLang="en-US" sz="2000" dirty="0"/>
              <a:t>（学生可能很难想到）</a:t>
            </a:r>
            <a:endParaRPr lang="zh-CN" altLang="en-US" sz="2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843304" y="0"/>
            <a:ext cx="10409682" cy="5644687"/>
          </a:xfrm>
          <a:prstGeom prst="rect">
            <a:avLst/>
          </a:prstGeom>
        </p:spPr>
      </p:pic>
      <p:cxnSp>
        <p:nvCxnSpPr>
          <p:cNvPr id="6" name="直接连接符 5"/>
          <p:cNvCxnSpPr/>
          <p:nvPr/>
        </p:nvCxnSpPr>
        <p:spPr>
          <a:xfrm>
            <a:off x="9328935" y="4376791"/>
            <a:ext cx="1808251"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095910" y="4755224"/>
            <a:ext cx="529290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7367838" y="5125092"/>
            <a:ext cx="392219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1095910" y="5654960"/>
            <a:ext cx="154454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2155861" y="5665234"/>
            <a:ext cx="8465904" cy="923330"/>
          </a:xfrm>
          <a:prstGeom prst="rect">
            <a:avLst/>
          </a:prstGeom>
          <a:noFill/>
        </p:spPr>
        <p:txBody>
          <a:bodyPr wrap="square" rtlCol="0">
            <a:spAutoFit/>
          </a:bodyPr>
          <a:lstStyle/>
          <a:p>
            <a:r>
              <a:rPr lang="zh-CN" altLang="en-US" dirty="0">
                <a:solidFill>
                  <a:srgbClr val="FF0000"/>
                </a:solidFill>
                <a:latin typeface="楷体" panose="02010609060101010101" pitchFamily="49" charset="-122"/>
                <a:ea typeface="楷体" panose="02010609060101010101" pitchFamily="49" charset="-122"/>
              </a:rPr>
              <a:t>让科学普及与科技创新两翼齐飞是什么意思？</a:t>
            </a:r>
            <a:endParaRPr lang="en-US" altLang="zh-CN" dirty="0">
              <a:solidFill>
                <a:srgbClr val="FF0000"/>
              </a:solidFill>
              <a:latin typeface="楷体" panose="02010609060101010101" pitchFamily="49" charset="-122"/>
              <a:ea typeface="楷体" panose="02010609060101010101" pitchFamily="49" charset="-122"/>
            </a:endParaRPr>
          </a:p>
          <a:p>
            <a:r>
              <a:rPr lang="zh-CN" altLang="en-US" dirty="0">
                <a:solidFill>
                  <a:srgbClr val="FF0000"/>
                </a:solidFill>
                <a:latin typeface="楷体" panose="02010609060101010101" pitchFamily="49" charset="-122"/>
                <a:ea typeface="楷体" panose="02010609060101010101" pitchFamily="49" charset="-122"/>
              </a:rPr>
              <a:t>为什么要两翼齐飞</a:t>
            </a:r>
            <a:r>
              <a:rPr lang="en-US" altLang="zh-CN" dirty="0">
                <a:solidFill>
                  <a:srgbClr val="FF0000"/>
                </a:solidFill>
                <a:latin typeface="楷体" panose="02010609060101010101" pitchFamily="49" charset="-122"/>
                <a:ea typeface="楷体" panose="02010609060101010101" pitchFamily="49" charset="-122"/>
              </a:rPr>
              <a:t>——</a:t>
            </a:r>
            <a:r>
              <a:rPr lang="zh-CN" altLang="en-US" dirty="0">
                <a:solidFill>
                  <a:srgbClr val="FF0000"/>
                </a:solidFill>
                <a:latin typeface="楷体" panose="02010609060101010101" pitchFamily="49" charset="-122"/>
                <a:ea typeface="楷体" panose="02010609060101010101" pitchFamily="49" charset="-122"/>
              </a:rPr>
              <a:t>两者的关系？为什么要加强科普建设？</a:t>
            </a:r>
            <a:endParaRPr lang="en-US" altLang="zh-CN" dirty="0">
              <a:solidFill>
                <a:srgbClr val="FF0000"/>
              </a:solidFill>
              <a:latin typeface="楷体" panose="02010609060101010101" pitchFamily="49" charset="-122"/>
              <a:ea typeface="楷体" panose="02010609060101010101" pitchFamily="49" charset="-122"/>
            </a:endParaRPr>
          </a:p>
          <a:p>
            <a:r>
              <a:rPr lang="zh-CN" altLang="en-US" dirty="0">
                <a:solidFill>
                  <a:srgbClr val="FF0000"/>
                </a:solidFill>
                <a:latin typeface="楷体" panose="02010609060101010101" pitchFamily="49" charset="-122"/>
                <a:ea typeface="楷体" panose="02010609060101010101" pitchFamily="49" charset="-122"/>
              </a:rPr>
              <a:t>如何加强科普建设？（针对材料中存在的问题，提出解决问题的措施或建议）</a:t>
            </a:r>
            <a:endParaRPr lang="zh-CN" altLang="en-US" dirty="0">
              <a:solidFill>
                <a:srgbClr val="FF0000"/>
              </a:solidFill>
              <a:latin typeface="楷体" panose="02010609060101010101" pitchFamily="49" charset="-122"/>
              <a:ea typeface="楷体" panose="02010609060101010101" pitchFamily="49"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1086194" y="1381553"/>
            <a:ext cx="9465365" cy="3705483"/>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23981" y="1222624"/>
            <a:ext cx="10900881" cy="4524315"/>
          </a:xfrm>
          <a:prstGeom prst="rect">
            <a:avLst/>
          </a:prstGeom>
          <a:noFill/>
        </p:spPr>
        <p:txBody>
          <a:bodyPr wrap="square">
            <a:spAutoFit/>
          </a:bodyPr>
          <a:lstStyle/>
          <a:p>
            <a:pPr indent="457200" algn="just"/>
            <a:r>
              <a:rPr lang="zh-CN" altLang="zh-CN" sz="2400" kern="100" dirty="0">
                <a:effectLst/>
                <a:latin typeface="等线" panose="02010600030101010101" charset="-122"/>
                <a:ea typeface="黑体" panose="02010609060101010101" pitchFamily="49" charset="-122"/>
                <a:cs typeface="Times New Roman" panose="02020603050405020304" pitchFamily="18" charset="0"/>
              </a:rPr>
              <a:t>参考答案：</a:t>
            </a:r>
            <a:endParaRPr lang="zh-CN" altLang="zh-CN" sz="2400" kern="100" dirty="0">
              <a:effectLst/>
              <a:latin typeface="等线" panose="02010600030101010101" charset="-122"/>
              <a:ea typeface="等线" panose="02010600030101010101" charset="-122"/>
              <a:cs typeface="Times New Roman" panose="02020603050405020304" pitchFamily="18" charset="0"/>
            </a:endParaRPr>
          </a:p>
          <a:p>
            <a:pPr indent="457200" algn="just"/>
            <a:r>
              <a:rPr lang="zh-CN" altLang="zh-CN" sz="2400" kern="100" dirty="0">
                <a:effectLst/>
                <a:latin typeface="等线" panose="02010600030101010101" charset="-122"/>
                <a:ea typeface="黑体" panose="02010609060101010101" pitchFamily="49" charset="-122"/>
                <a:cs typeface="Times New Roman" panose="02020603050405020304" pitchFamily="18" charset="0"/>
              </a:rPr>
              <a:t>科学普及与科技创新</a:t>
            </a:r>
            <a:r>
              <a:rPr lang="zh-CN" altLang="zh-CN" sz="2400" kern="100" dirty="0">
                <a:solidFill>
                  <a:srgbClr val="FF0000"/>
                </a:solidFill>
                <a:effectLst/>
                <a:latin typeface="等线" panose="02010600030101010101" charset="-122"/>
                <a:ea typeface="黑体" panose="02010609060101010101" pitchFamily="49" charset="-122"/>
                <a:cs typeface="Times New Roman" panose="02020603050405020304" pitchFamily="18" charset="0"/>
              </a:rPr>
              <a:t>同等重要</a:t>
            </a:r>
            <a:r>
              <a:rPr lang="zh-CN" altLang="zh-CN" sz="2400" kern="100" dirty="0">
                <a:effectLst/>
                <a:latin typeface="等线" panose="02010600030101010101" charset="-122"/>
                <a:ea typeface="黑体" panose="02010609060101010101" pitchFamily="49" charset="-122"/>
                <a:cs typeface="Times New Roman" panose="02020603050405020304" pitchFamily="18" charset="0"/>
              </a:rPr>
              <a:t>。</a:t>
            </a:r>
            <a:endParaRPr lang="zh-CN" altLang="zh-CN" sz="2400" kern="100" dirty="0">
              <a:effectLst/>
              <a:latin typeface="等线" panose="02010600030101010101" charset="-122"/>
              <a:ea typeface="等线" panose="02010600030101010101" charset="-122"/>
              <a:cs typeface="Times New Roman" panose="02020603050405020304" pitchFamily="18" charset="0"/>
            </a:endParaRPr>
          </a:p>
          <a:p>
            <a:pPr indent="457200" algn="just"/>
            <a:r>
              <a:rPr lang="zh-CN" altLang="zh-CN" sz="2400" kern="100" dirty="0">
                <a:effectLst/>
                <a:latin typeface="等线" panose="02010600030101010101" charset="-122"/>
                <a:ea typeface="黑体" panose="02010609060101010101" pitchFamily="49" charset="-122"/>
                <a:cs typeface="Times New Roman" panose="02020603050405020304" pitchFamily="18" charset="0"/>
              </a:rPr>
              <a:t>科学普及与科技创新虽</a:t>
            </a:r>
            <a:r>
              <a:rPr lang="zh-CN" altLang="zh-CN" sz="2400" kern="100" dirty="0">
                <a:solidFill>
                  <a:srgbClr val="FF0000"/>
                </a:solidFill>
                <a:effectLst/>
                <a:latin typeface="等线" panose="02010600030101010101" charset="-122"/>
                <a:ea typeface="黑体" panose="02010609060101010101" pitchFamily="49" charset="-122"/>
                <a:cs typeface="Times New Roman" panose="02020603050405020304" pitchFamily="18" charset="0"/>
              </a:rPr>
              <a:t>各有侧重</a:t>
            </a:r>
            <a:r>
              <a:rPr lang="zh-CN" altLang="zh-CN" sz="2400" kern="100" dirty="0">
                <a:effectLst/>
                <a:latin typeface="等线" panose="02010600030101010101" charset="-122"/>
                <a:ea typeface="黑体" panose="02010609060101010101" pitchFamily="49" charset="-122"/>
                <a:cs typeface="Times New Roman" panose="02020603050405020304" pitchFamily="18" charset="0"/>
              </a:rPr>
              <a:t>，但也</a:t>
            </a:r>
            <a:r>
              <a:rPr lang="zh-CN" altLang="zh-CN" sz="2400" kern="100" dirty="0">
                <a:solidFill>
                  <a:srgbClr val="FF0000"/>
                </a:solidFill>
                <a:effectLst/>
                <a:latin typeface="等线" panose="02010600030101010101" charset="-122"/>
                <a:ea typeface="黑体" panose="02010609060101010101" pitchFamily="49" charset="-122"/>
                <a:cs typeface="Times New Roman" panose="02020603050405020304" pitchFamily="18" charset="0"/>
              </a:rPr>
              <a:t>具有同一性</a:t>
            </a:r>
            <a:r>
              <a:rPr lang="zh-CN" altLang="zh-CN" sz="2400" kern="100" dirty="0">
                <a:effectLst/>
                <a:latin typeface="等线" panose="02010600030101010101" charset="-122"/>
                <a:ea typeface="黑体" panose="02010609060101010101" pitchFamily="49" charset="-122"/>
                <a:cs typeface="Times New Roman" panose="02020603050405020304" pitchFamily="18" charset="0"/>
              </a:rPr>
              <a:t>：一方面</a:t>
            </a:r>
            <a:r>
              <a:rPr lang="zh-CN" altLang="zh-CN" sz="2400" kern="100" dirty="0">
                <a:solidFill>
                  <a:srgbClr val="FF0000"/>
                </a:solidFill>
                <a:effectLst/>
                <a:latin typeface="等线" panose="02010600030101010101" charset="-122"/>
                <a:ea typeface="黑体" panose="02010609060101010101" pitchFamily="49" charset="-122"/>
                <a:cs typeface="Times New Roman" panose="02020603050405020304" pitchFamily="18" charset="0"/>
              </a:rPr>
              <a:t>科学普及有利于提升</a:t>
            </a:r>
            <a:r>
              <a:rPr lang="zh-CN" altLang="zh-CN" sz="2400" kern="100" dirty="0">
                <a:effectLst/>
                <a:latin typeface="等线" panose="02010600030101010101" charset="-122"/>
                <a:ea typeface="黑体" panose="02010609060101010101" pitchFamily="49" charset="-122"/>
                <a:cs typeface="Times New Roman" panose="02020603050405020304" pitchFamily="18" charset="0"/>
              </a:rPr>
              <a:t>公众科学</a:t>
            </a:r>
            <a:r>
              <a:rPr lang="zh-CN" altLang="zh-CN" sz="2400" kern="100" dirty="0">
                <a:solidFill>
                  <a:srgbClr val="FF0000"/>
                </a:solidFill>
                <a:effectLst/>
                <a:latin typeface="等线" panose="02010600030101010101" charset="-122"/>
                <a:ea typeface="黑体" panose="02010609060101010101" pitchFamily="49" charset="-122"/>
                <a:cs typeface="Times New Roman" panose="02020603050405020304" pitchFamily="18" charset="0"/>
              </a:rPr>
              <a:t>素质</a:t>
            </a:r>
            <a:r>
              <a:rPr lang="zh-CN" altLang="zh-CN" sz="2400" kern="100" dirty="0">
                <a:effectLst/>
                <a:latin typeface="等线" panose="02010600030101010101" charset="-122"/>
                <a:ea typeface="黑体" panose="02010609060101010101" pitchFamily="49" charset="-122"/>
                <a:cs typeface="Times New Roman" panose="02020603050405020304" pitchFamily="18" charset="0"/>
              </a:rPr>
              <a:t>、</a:t>
            </a:r>
            <a:r>
              <a:rPr lang="zh-CN" altLang="zh-CN" sz="2400" kern="100" dirty="0">
                <a:solidFill>
                  <a:srgbClr val="FF0000"/>
                </a:solidFill>
                <a:effectLst/>
                <a:latin typeface="等线" panose="02010600030101010101" charset="-122"/>
                <a:ea typeface="黑体" panose="02010609060101010101" pitchFamily="49" charset="-122"/>
                <a:cs typeface="Times New Roman" panose="02020603050405020304" pitchFamily="18" charset="0"/>
              </a:rPr>
              <a:t>促进人的全面发展</a:t>
            </a:r>
            <a:r>
              <a:rPr lang="zh-CN" altLang="zh-CN" sz="2400" kern="100" dirty="0">
                <a:effectLst/>
                <a:latin typeface="等线" panose="02010600030101010101" charset="-122"/>
                <a:ea typeface="黑体" panose="02010609060101010101" pitchFamily="49" charset="-122"/>
                <a:cs typeface="Times New Roman" panose="02020603050405020304" pitchFamily="18" charset="0"/>
              </a:rPr>
              <a:t>，</a:t>
            </a:r>
            <a:r>
              <a:rPr lang="zh-CN" altLang="zh-CN" sz="2400" kern="100" dirty="0">
                <a:solidFill>
                  <a:srgbClr val="FF0000"/>
                </a:solidFill>
                <a:effectLst/>
                <a:latin typeface="等线" panose="02010600030101010101" charset="-122"/>
                <a:ea typeface="黑体" panose="02010609060101010101" pitchFamily="49" charset="-122"/>
                <a:cs typeface="Times New Roman" panose="02020603050405020304" pitchFamily="18" charset="0"/>
              </a:rPr>
              <a:t>是</a:t>
            </a:r>
            <a:r>
              <a:rPr lang="zh-CN" altLang="zh-CN" sz="2400" kern="100" dirty="0">
                <a:effectLst/>
                <a:latin typeface="等线" panose="02010600030101010101" charset="-122"/>
                <a:ea typeface="黑体" panose="02010609060101010101" pitchFamily="49" charset="-122"/>
                <a:cs typeface="Times New Roman" panose="02020603050405020304" pitchFamily="18" charset="0"/>
              </a:rPr>
              <a:t>实现</a:t>
            </a:r>
            <a:r>
              <a:rPr lang="zh-CN" altLang="zh-CN" sz="2400" kern="100" dirty="0">
                <a:solidFill>
                  <a:srgbClr val="FF0000"/>
                </a:solidFill>
                <a:latin typeface="等线" panose="02010600030101010101" charset="-122"/>
                <a:ea typeface="黑体" panose="02010609060101010101" pitchFamily="49" charset="-122"/>
                <a:cs typeface="Times New Roman" panose="02020603050405020304" pitchFamily="18" charset="0"/>
              </a:rPr>
              <a:t>科技创新的基础性</a:t>
            </a:r>
            <a:r>
              <a:rPr lang="zh-CN" altLang="zh-CN" sz="2400" kern="100" dirty="0">
                <a:effectLst/>
                <a:latin typeface="等线" panose="02010600030101010101" charset="-122"/>
                <a:ea typeface="黑体" panose="02010609060101010101" pitchFamily="49" charset="-122"/>
                <a:cs typeface="Times New Roman" panose="02020603050405020304" pitchFamily="18" charset="0"/>
              </a:rPr>
              <a:t>工作；另一方面，</a:t>
            </a:r>
            <a:r>
              <a:rPr lang="zh-CN" altLang="zh-CN" sz="2400" kern="100" dirty="0">
                <a:solidFill>
                  <a:srgbClr val="FF0000"/>
                </a:solidFill>
                <a:latin typeface="等线" panose="02010600030101010101" charset="-122"/>
                <a:ea typeface="黑体" panose="02010609060101010101" pitchFamily="49" charset="-122"/>
                <a:cs typeface="Times New Roman" panose="02020603050405020304" pitchFamily="18" charset="0"/>
              </a:rPr>
              <a:t>科学普及与科技创新都是文化事业</a:t>
            </a:r>
            <a:r>
              <a:rPr lang="zh-CN" altLang="zh-CN" sz="2400" kern="100" dirty="0">
                <a:effectLst/>
                <a:latin typeface="等线" panose="02010600030101010101" charset="-122"/>
                <a:ea typeface="黑体" panose="02010609060101010101" pitchFamily="49" charset="-122"/>
                <a:cs typeface="Times New Roman" panose="02020603050405020304" pitchFamily="18" charset="0"/>
              </a:rPr>
              <a:t>的重要组成部分，</a:t>
            </a:r>
            <a:r>
              <a:rPr lang="zh-CN" altLang="zh-CN" sz="2400" kern="100" dirty="0">
                <a:solidFill>
                  <a:srgbClr val="FF0000"/>
                </a:solidFill>
                <a:latin typeface="等线" panose="02010600030101010101" charset="-122"/>
                <a:ea typeface="黑体" panose="02010609060101010101" pitchFamily="49" charset="-122"/>
                <a:cs typeface="Times New Roman" panose="02020603050405020304" pitchFamily="18" charset="0"/>
              </a:rPr>
              <a:t>都是建设文化强国</a:t>
            </a:r>
            <a:r>
              <a:rPr lang="zh-CN" altLang="zh-CN" sz="2400" kern="100" dirty="0">
                <a:effectLst/>
                <a:latin typeface="等线" panose="02010600030101010101" charset="-122"/>
                <a:ea typeface="黑体" panose="02010609060101010101" pitchFamily="49" charset="-122"/>
                <a:cs typeface="Times New Roman" panose="02020603050405020304" pitchFamily="18" charset="0"/>
              </a:rPr>
              <a:t>的重要举措。</a:t>
            </a:r>
            <a:endParaRPr lang="zh-CN" altLang="zh-CN" sz="2400" kern="100" dirty="0">
              <a:effectLst/>
              <a:latin typeface="等线" panose="02010600030101010101" charset="-122"/>
              <a:ea typeface="等线" panose="02010600030101010101" charset="-122"/>
              <a:cs typeface="Times New Roman" panose="02020603050405020304" pitchFamily="18" charset="0"/>
            </a:endParaRPr>
          </a:p>
          <a:p>
            <a:pPr indent="457200" algn="just"/>
            <a:r>
              <a:rPr lang="zh-CN" altLang="zh-CN" sz="2400" kern="100" dirty="0">
                <a:effectLst/>
                <a:latin typeface="等线" panose="02010600030101010101" charset="-122"/>
                <a:ea typeface="黑体" panose="02010609060101010101" pitchFamily="49" charset="-122"/>
                <a:cs typeface="Times New Roman" panose="02020603050405020304" pitchFamily="18" charset="0"/>
              </a:rPr>
              <a:t>要</a:t>
            </a:r>
            <a:r>
              <a:rPr lang="zh-CN" altLang="zh-CN" sz="2400" kern="100" dirty="0">
                <a:solidFill>
                  <a:srgbClr val="FF0000"/>
                </a:solidFill>
                <a:latin typeface="等线" panose="02010600030101010101" charset="-122"/>
                <a:ea typeface="黑体" panose="02010609060101010101" pitchFamily="49" charset="-122"/>
                <a:cs typeface="Times New Roman" panose="02020603050405020304" pitchFamily="18" charset="0"/>
              </a:rPr>
              <a:t>实现</a:t>
            </a:r>
            <a:r>
              <a:rPr lang="zh-CN" altLang="zh-CN" sz="2400" kern="100" dirty="0">
                <a:effectLst/>
                <a:latin typeface="等线" panose="02010600030101010101" charset="-122"/>
                <a:ea typeface="黑体" panose="02010609060101010101" pitchFamily="49" charset="-122"/>
                <a:cs typeface="Times New Roman" panose="02020603050405020304" pitchFamily="18" charset="0"/>
              </a:rPr>
              <a:t>科学普及与科技创新</a:t>
            </a:r>
            <a:r>
              <a:rPr lang="zh-CN" altLang="zh-CN" sz="2400" kern="100" dirty="0">
                <a:solidFill>
                  <a:srgbClr val="FF0000"/>
                </a:solidFill>
                <a:latin typeface="等线" panose="02010600030101010101" charset="-122"/>
                <a:ea typeface="黑体" panose="02010609060101010101" pitchFamily="49" charset="-122"/>
                <a:cs typeface="Times New Roman" panose="02020603050405020304" pitchFamily="18" charset="0"/>
              </a:rPr>
              <a:t>“两翼齐飞</a:t>
            </a:r>
            <a:r>
              <a:rPr lang="zh-CN" altLang="zh-CN" sz="2400" kern="100" dirty="0">
                <a:effectLst/>
                <a:latin typeface="等线" panose="02010600030101010101" charset="-122"/>
                <a:ea typeface="黑体" panose="02010609060101010101" pitchFamily="49" charset="-122"/>
                <a:cs typeface="Times New Roman" panose="02020603050405020304" pitchFamily="18" charset="0"/>
              </a:rPr>
              <a:t>”，</a:t>
            </a:r>
            <a:r>
              <a:rPr lang="zh-CN" altLang="zh-CN" sz="2400" kern="100" dirty="0">
                <a:solidFill>
                  <a:srgbClr val="FF0000"/>
                </a:solidFill>
                <a:latin typeface="等线" panose="02010600030101010101" charset="-122"/>
                <a:ea typeface="黑体" panose="02010609060101010101" pitchFamily="49" charset="-122"/>
                <a:cs typeface="Times New Roman" panose="02020603050405020304" pitchFamily="18" charset="0"/>
              </a:rPr>
              <a:t>应</a:t>
            </a:r>
            <a:r>
              <a:rPr lang="zh-CN" altLang="zh-CN" sz="2400" kern="100" dirty="0">
                <a:solidFill>
                  <a:srgbClr val="0000CC"/>
                </a:solidFill>
                <a:effectLst/>
                <a:latin typeface="等线" panose="02010600030101010101" charset="-122"/>
                <a:ea typeface="黑体" panose="02010609060101010101" pitchFamily="49" charset="-122"/>
                <a:cs typeface="Times New Roman" panose="02020603050405020304" pitchFamily="18" charset="0"/>
              </a:rPr>
              <a:t>坚持以人民为中心的思想</a:t>
            </a:r>
            <a:r>
              <a:rPr lang="zh-CN" altLang="zh-CN" sz="2400" kern="100" dirty="0">
                <a:effectLst/>
                <a:latin typeface="等线" panose="02010600030101010101" charset="-122"/>
                <a:ea typeface="黑体" panose="02010609060101010101" pitchFamily="49" charset="-122"/>
                <a:cs typeface="Times New Roman" panose="02020603050405020304" pitchFamily="18" charset="0"/>
              </a:rPr>
              <a:t>，</a:t>
            </a:r>
            <a:r>
              <a:rPr lang="zh-CN" altLang="zh-CN" sz="2400" kern="100" dirty="0">
                <a:solidFill>
                  <a:srgbClr val="0000CC"/>
                </a:solidFill>
                <a:latin typeface="等线" panose="02010600030101010101" charset="-122"/>
                <a:ea typeface="黑体" panose="02010609060101010101" pitchFamily="49" charset="-122"/>
                <a:cs typeface="Times New Roman" panose="02020603050405020304" pitchFamily="18" charset="0"/>
              </a:rPr>
              <a:t>具体问题具体分析，</a:t>
            </a:r>
            <a:r>
              <a:rPr lang="zh-CN" altLang="zh-CN" sz="2400" kern="100" dirty="0">
                <a:effectLst/>
                <a:latin typeface="等线" panose="02010600030101010101" charset="-122"/>
                <a:ea typeface="黑体" panose="02010609060101010101" pitchFamily="49" charset="-122"/>
                <a:cs typeface="Times New Roman" panose="02020603050405020304" pitchFamily="18" charset="0"/>
              </a:rPr>
              <a:t>提升科普服务</a:t>
            </a:r>
            <a:r>
              <a:rPr lang="zh-CN" altLang="zh-CN" sz="2400" kern="100" dirty="0">
                <a:solidFill>
                  <a:srgbClr val="0000CC"/>
                </a:solidFill>
                <a:latin typeface="等线" panose="02010600030101010101" charset="-122"/>
                <a:ea typeface="黑体" panose="02010609060101010101" pitchFamily="49" charset="-122"/>
                <a:cs typeface="Times New Roman" panose="02020603050405020304" pitchFamily="18" charset="0"/>
              </a:rPr>
              <a:t>精准性</a:t>
            </a:r>
            <a:r>
              <a:rPr lang="zh-CN" altLang="zh-CN" sz="2400" kern="100" dirty="0">
                <a:effectLst/>
                <a:latin typeface="等线" panose="02010600030101010101" charset="-122"/>
                <a:ea typeface="黑体" panose="02010609060101010101" pitchFamily="49" charset="-122"/>
                <a:cs typeface="Times New Roman" panose="02020603050405020304" pitchFamily="18" charset="0"/>
              </a:rPr>
              <a:t>；应树立</a:t>
            </a:r>
            <a:r>
              <a:rPr lang="zh-CN" altLang="zh-CN" sz="2400" kern="100" dirty="0">
                <a:solidFill>
                  <a:srgbClr val="0000CC"/>
                </a:solidFill>
                <a:latin typeface="等线" panose="02010600030101010101" charset="-122"/>
                <a:ea typeface="黑体" panose="02010609060101010101" pitchFamily="49" charset="-122"/>
                <a:cs typeface="Times New Roman" panose="02020603050405020304" pitchFamily="18" charset="0"/>
              </a:rPr>
              <a:t>全局观念</a:t>
            </a:r>
            <a:r>
              <a:rPr lang="zh-CN" altLang="zh-CN" sz="2400" kern="100" dirty="0">
                <a:effectLst/>
                <a:latin typeface="等线" panose="02010600030101010101" charset="-122"/>
                <a:ea typeface="黑体" panose="02010609060101010101" pitchFamily="49" charset="-122"/>
                <a:cs typeface="Times New Roman" panose="02020603050405020304" pitchFamily="18" charset="0"/>
              </a:rPr>
              <a:t>、运用</a:t>
            </a:r>
            <a:r>
              <a:rPr lang="zh-CN" altLang="zh-CN" sz="2400" kern="100" dirty="0">
                <a:solidFill>
                  <a:srgbClr val="0000CC"/>
                </a:solidFill>
                <a:latin typeface="等线" panose="02010600030101010101" charset="-122"/>
                <a:ea typeface="黑体" panose="02010609060101010101" pitchFamily="49" charset="-122"/>
                <a:cs typeface="Times New Roman" panose="02020603050405020304" pitchFamily="18" charset="0"/>
              </a:rPr>
              <a:t>系统优化的方法</a:t>
            </a:r>
            <a:r>
              <a:rPr lang="zh-CN" altLang="zh-CN" sz="2400" kern="100" dirty="0">
                <a:effectLst/>
                <a:latin typeface="等线" panose="02010600030101010101" charset="-122"/>
                <a:ea typeface="黑体" panose="02010609060101010101" pitchFamily="49" charset="-122"/>
                <a:cs typeface="Times New Roman" panose="02020603050405020304" pitchFamily="18" charset="0"/>
              </a:rPr>
              <a:t>，鼓励</a:t>
            </a:r>
            <a:r>
              <a:rPr lang="zh-CN" altLang="zh-CN" sz="2400" kern="100" dirty="0">
                <a:solidFill>
                  <a:srgbClr val="0000CC"/>
                </a:solidFill>
                <a:latin typeface="等线" panose="02010600030101010101" charset="-122"/>
                <a:ea typeface="黑体" panose="02010609060101010101" pitchFamily="49" charset="-122"/>
                <a:cs typeface="Times New Roman" panose="02020603050405020304" pitchFamily="18" charset="0"/>
              </a:rPr>
              <a:t>全社会共同参与</a:t>
            </a:r>
            <a:r>
              <a:rPr lang="zh-CN" altLang="zh-CN" sz="2400" kern="100" dirty="0">
                <a:effectLst/>
                <a:latin typeface="等线" panose="02010600030101010101" charset="-122"/>
                <a:ea typeface="黑体" panose="02010609060101010101" pitchFamily="49" charset="-122"/>
                <a:cs typeface="Times New Roman" panose="02020603050405020304" pitchFamily="18" charset="0"/>
              </a:rPr>
              <a:t>，构建政府、社会、市场等</a:t>
            </a:r>
            <a:r>
              <a:rPr lang="zh-CN" altLang="zh-CN" sz="2400" kern="100" dirty="0">
                <a:solidFill>
                  <a:srgbClr val="0000CC"/>
                </a:solidFill>
                <a:latin typeface="等线" panose="02010600030101010101" charset="-122"/>
                <a:ea typeface="黑体" panose="02010609060101010101" pitchFamily="49" charset="-122"/>
                <a:cs typeface="Times New Roman" panose="02020603050405020304" pitchFamily="18" charset="0"/>
              </a:rPr>
              <a:t>协同推进</a:t>
            </a:r>
            <a:r>
              <a:rPr lang="zh-CN" altLang="zh-CN" sz="2400" kern="100" dirty="0">
                <a:effectLst/>
                <a:latin typeface="等线" panose="02010600030101010101" charset="-122"/>
                <a:ea typeface="黑体" panose="02010609060101010101" pitchFamily="49" charset="-122"/>
                <a:cs typeface="Times New Roman" panose="02020603050405020304" pitchFamily="18" charset="0"/>
              </a:rPr>
              <a:t>的社会化科普发展格局；以</a:t>
            </a:r>
            <a:r>
              <a:rPr lang="zh-CN" altLang="zh-CN" sz="2400" kern="100" dirty="0">
                <a:solidFill>
                  <a:srgbClr val="0000CC"/>
                </a:solidFill>
                <a:latin typeface="等线" panose="02010600030101010101" charset="-122"/>
                <a:ea typeface="黑体" panose="02010609060101010101" pitchFamily="49" charset="-122"/>
                <a:cs typeface="Times New Roman" panose="02020603050405020304" pitchFamily="18" charset="0"/>
              </a:rPr>
              <a:t>问题为导向</a:t>
            </a:r>
            <a:r>
              <a:rPr lang="zh-CN" altLang="zh-CN" sz="2400" kern="100" dirty="0">
                <a:effectLst/>
                <a:latin typeface="等线" panose="02010600030101010101" charset="-122"/>
                <a:ea typeface="黑体" panose="02010609060101010101" pitchFamily="49" charset="-122"/>
                <a:cs typeface="Times New Roman" panose="02020603050405020304" pitchFamily="18" charset="0"/>
              </a:rPr>
              <a:t>，引导</a:t>
            </a:r>
            <a:r>
              <a:rPr lang="zh-CN" altLang="zh-CN" sz="2400" kern="100" dirty="0">
                <a:solidFill>
                  <a:srgbClr val="0000CC"/>
                </a:solidFill>
                <a:latin typeface="等线" panose="02010600030101010101" charset="-122"/>
                <a:ea typeface="黑体" panose="02010609060101010101" pitchFamily="49" charset="-122"/>
                <a:cs typeface="Times New Roman" panose="02020603050405020304" pitchFamily="18" charset="0"/>
              </a:rPr>
              <a:t>科普资源向基层和欠发达地区倾斜</a:t>
            </a:r>
            <a:r>
              <a:rPr lang="zh-CN" altLang="zh-CN" sz="2400" kern="100" dirty="0">
                <a:effectLst/>
                <a:latin typeface="等线" panose="02010600030101010101" charset="-122"/>
                <a:ea typeface="黑体" panose="02010609060101010101" pitchFamily="49" charset="-122"/>
                <a:cs typeface="Times New Roman" panose="02020603050405020304" pitchFamily="18" charset="0"/>
              </a:rPr>
              <a:t>，加强和优化基层科普公共服务；</a:t>
            </a:r>
            <a:r>
              <a:rPr lang="zh-CN" altLang="zh-CN" sz="2400" kern="100" dirty="0">
                <a:solidFill>
                  <a:srgbClr val="0000CC"/>
                </a:solidFill>
                <a:latin typeface="等线" panose="02010600030101010101" charset="-122"/>
                <a:ea typeface="黑体" panose="02010609060101010101" pitchFamily="49" charset="-122"/>
                <a:cs typeface="Times New Roman" panose="02020603050405020304" pitchFamily="18" charset="0"/>
              </a:rPr>
              <a:t>坚持“两点论”和“重点论”的统一</a:t>
            </a:r>
            <a:r>
              <a:rPr lang="zh-CN" altLang="zh-CN" sz="2400" kern="100" dirty="0">
                <a:effectLst/>
                <a:latin typeface="等线" panose="02010600030101010101" charset="-122"/>
                <a:ea typeface="黑体" panose="02010609060101010101" pitchFamily="49" charset="-122"/>
                <a:cs typeface="Times New Roman" panose="02020603050405020304" pitchFamily="18" charset="0"/>
              </a:rPr>
              <a:t>，培养壮大科普人才队伍，</a:t>
            </a:r>
            <a:r>
              <a:rPr lang="zh-CN" altLang="zh-CN" sz="2400" kern="100" dirty="0">
                <a:solidFill>
                  <a:srgbClr val="0000CC"/>
                </a:solidFill>
                <a:latin typeface="等线" panose="02010600030101010101" charset="-122"/>
                <a:ea typeface="黑体" panose="02010609060101010101" pitchFamily="49" charset="-122"/>
                <a:cs typeface="Times New Roman" panose="02020603050405020304" pitchFamily="18" charset="0"/>
              </a:rPr>
              <a:t>改变“重科研、轻科普”的现状，</a:t>
            </a:r>
            <a:r>
              <a:rPr lang="zh-CN" altLang="zh-CN" sz="2400" kern="100" dirty="0">
                <a:effectLst/>
                <a:latin typeface="等线" panose="02010600030101010101" charset="-122"/>
                <a:ea typeface="黑体" panose="02010609060101010101" pitchFamily="49" charset="-122"/>
                <a:cs typeface="Times New Roman" panose="02020603050405020304" pitchFamily="18" charset="0"/>
              </a:rPr>
              <a:t>营造热爱科学、崇尚创新的社会氛围。</a:t>
            </a:r>
            <a:endParaRPr lang="zh-CN" altLang="zh-CN" sz="2400" kern="100" dirty="0">
              <a:effectLst/>
              <a:latin typeface="等线" panose="02010600030101010101" charset="-122"/>
              <a:ea typeface="等线" panose="02010600030101010101" charset="-122"/>
              <a:cs typeface="Times New Roman" panose="02020603050405020304"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985142" y="282378"/>
            <a:ext cx="6473897" cy="428760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525213" y="157162"/>
            <a:ext cx="5038725" cy="6543675"/>
          </a:xfrm>
          <a:prstGeom prst="rect">
            <a:avLst/>
          </a:prstGeom>
        </p:spPr>
      </p:pic>
      <p:pic>
        <p:nvPicPr>
          <p:cNvPr id="5" name="图片 4"/>
          <p:cNvPicPr>
            <a:picLocks noChangeAspect="1"/>
          </p:cNvPicPr>
          <p:nvPr/>
        </p:nvPicPr>
        <p:blipFill>
          <a:blip r:embed="rId2"/>
          <a:stretch>
            <a:fillRect/>
          </a:stretch>
        </p:blipFill>
        <p:spPr>
          <a:xfrm>
            <a:off x="6096000" y="328773"/>
            <a:ext cx="5301465" cy="2075380"/>
          </a:xfrm>
          <a:prstGeom prst="rect">
            <a:avLst/>
          </a:prstGeom>
        </p:spPr>
      </p:pic>
      <p:pic>
        <p:nvPicPr>
          <p:cNvPr id="6" name="图片 5"/>
          <p:cNvPicPr>
            <a:picLocks noChangeAspect="1"/>
          </p:cNvPicPr>
          <p:nvPr/>
        </p:nvPicPr>
        <p:blipFill>
          <a:blip r:embed="rId3"/>
          <a:stretch>
            <a:fillRect/>
          </a:stretch>
        </p:blipFill>
        <p:spPr>
          <a:xfrm>
            <a:off x="6541694" y="2556392"/>
            <a:ext cx="4410075" cy="4067175"/>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712343" y="458781"/>
            <a:ext cx="10541284" cy="4154984"/>
          </a:xfrm>
          <a:prstGeom prst="rect">
            <a:avLst/>
          </a:prstGeom>
          <a:solidFill>
            <a:schemeClr val="bg1"/>
          </a:solidFill>
        </p:spPr>
        <p:txBody>
          <a:bodyPr wrap="square">
            <a:spAutoFit/>
          </a:bodyPr>
          <a:lstStyle>
            <a:defPPr>
              <a:defRPr lang="zh-CN"/>
            </a:defPPr>
            <a:lvl1pPr>
              <a:defRPr sz="2000" b="1" kern="100">
                <a:effectLst/>
                <a:latin typeface="等线 Light" panose="02010600030101010101" pitchFamily="2" charset="-122"/>
                <a:ea typeface="宋体" panose="02010600030101010101" pitchFamily="2" charset="-122"/>
                <a:cs typeface="等线 Light" panose="02010600030101010101" pitchFamily="2" charset="-122"/>
              </a:defRPr>
            </a:lvl1pPr>
          </a:lstStyle>
          <a:p>
            <a:pPr indent="457200"/>
            <a:r>
              <a:rPr lang="zh-CN" altLang="en-US" sz="2400" dirty="0"/>
              <a:t>参考答案：</a:t>
            </a:r>
            <a:endParaRPr lang="en-US" altLang="zh-CN" sz="2400" dirty="0"/>
          </a:p>
          <a:p>
            <a:pPr indent="457200"/>
            <a:r>
              <a:rPr lang="zh-CN" altLang="zh-CN" sz="2400" dirty="0"/>
              <a:t>社会主义市场经济本质上是法治经济。民法典将诚信原则确立为基本原则之一，凸显了社会主义核心价值观对社会主义市场经济建设的引导和规范。</a:t>
            </a:r>
            <a:endParaRPr lang="zh-CN" altLang="zh-CN" sz="2400" dirty="0"/>
          </a:p>
          <a:p>
            <a:pPr indent="457200"/>
            <a:endParaRPr lang="en-US" altLang="zh-CN" sz="2400" dirty="0"/>
          </a:p>
          <a:p>
            <a:pPr indent="457200"/>
            <a:r>
              <a:rPr lang="zh-CN" altLang="zh-CN" sz="2400" dirty="0"/>
              <a:t>诚信原则要求合同当事人按照约定全面履行义务，有利于规范民事主体行为，尊重和维护民事主体合法权利；司法机关可根据诚信原则定分止争</a:t>
            </a:r>
            <a:r>
              <a:rPr lang="en-US" altLang="zh-CN" sz="2400" dirty="0"/>
              <a:t>,</a:t>
            </a:r>
            <a:r>
              <a:rPr lang="zh-CN" altLang="zh-CN" sz="2400" dirty="0"/>
              <a:t>维护公平正义，维护诚信、健康的市场秩序。</a:t>
            </a:r>
            <a:endParaRPr lang="en-US" altLang="zh-CN" sz="2400" dirty="0"/>
          </a:p>
          <a:p>
            <a:pPr indent="457200"/>
            <a:endParaRPr lang="zh-CN" altLang="zh-CN" sz="2400" dirty="0"/>
          </a:p>
          <a:p>
            <a:pPr indent="457200"/>
            <a:r>
              <a:rPr lang="zh-CN" altLang="zh-CN" sz="2400" dirty="0"/>
              <a:t>诚信原则要求经营者依法、诚信经营，保护消费者的合法权益。这不仅有利于平衡经营者与消费者之间的关系，而且有助于守法诚信的经营者扩大市场，并最终增进社会整体福祉。</a:t>
            </a:r>
            <a:endParaRPr lang="zh-CN" altLang="zh-CN" sz="2400" dirty="0"/>
          </a:p>
        </p:txBody>
      </p:sp>
      <p:sp>
        <p:nvSpPr>
          <p:cNvPr id="4" name="文本框 3"/>
          <p:cNvSpPr txBox="1"/>
          <p:nvPr/>
        </p:nvSpPr>
        <p:spPr>
          <a:xfrm>
            <a:off x="1214021" y="5106065"/>
            <a:ext cx="5499100" cy="954107"/>
          </a:xfrm>
          <a:prstGeom prst="rect">
            <a:avLst/>
          </a:prstGeom>
          <a:noFill/>
        </p:spPr>
        <p:txBody>
          <a:bodyPr wrap="square" rtlCol="0">
            <a:spAutoFit/>
          </a:bodyPr>
          <a:lstStyle/>
          <a:p>
            <a:r>
              <a:rPr lang="zh-CN" altLang="en-US" sz="2800" dirty="0"/>
              <a:t>意义叙写原则：</a:t>
            </a:r>
            <a:endParaRPr lang="en-US" altLang="zh-CN" sz="2800" dirty="0"/>
          </a:p>
          <a:p>
            <a:r>
              <a:rPr lang="zh-CN" altLang="en-US" sz="2800" dirty="0"/>
              <a:t>由小到大 由近及远 由直接到间接</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1" name="直接连接符 2"/>
          <p:cNvSpPr/>
          <p:nvPr>
            <p:custDataLst>
              <p:tags r:id="rId1"/>
            </p:custDataLst>
          </p:nvPr>
        </p:nvSpPr>
        <p:spPr>
          <a:xfrm>
            <a:off x="69849" y="3995739"/>
            <a:ext cx="11779251" cy="12700"/>
          </a:xfrm>
          <a:prstGeom prst="line">
            <a:avLst/>
          </a:prstGeom>
          <a:ln w="28575" cap="flat" cmpd="sng">
            <a:solidFill>
              <a:srgbClr val="A8C8B8"/>
            </a:solidFill>
            <a:prstDash val="sysDash"/>
            <a:bevel/>
            <a:headEnd type="none" w="med" len="med"/>
            <a:tailEnd type="none" w="med" len="med"/>
          </a:ln>
        </p:spPr>
        <p:txBody>
          <a:bodyPr anchor="t" anchorCtr="0"/>
          <a:lstStyle/>
          <a:p>
            <a:pPr defTabSz="914400" fontAlgn="base">
              <a:spcBef>
                <a:spcPct val="0"/>
              </a:spcBef>
              <a:spcAft>
                <a:spcPct val="0"/>
              </a:spcAft>
              <a:defRPr/>
            </a:pPr>
            <a:endParaRPr lang="zh-CN" altLang="en-US">
              <a:solidFill>
                <a:prstClr val="black"/>
              </a:solidFill>
              <a:latin typeface="Arial" panose="020B0604020202020204" pitchFamily="34" charset="0"/>
              <a:ea typeface="微软雅黑" panose="020B0503020204020204" pitchFamily="34" charset="-122"/>
            </a:endParaRPr>
          </a:p>
        </p:txBody>
      </p:sp>
      <p:sp>
        <p:nvSpPr>
          <p:cNvPr id="189442" name="椭圆 6"/>
          <p:cNvSpPr/>
          <p:nvPr>
            <p:custDataLst>
              <p:tags r:id="rId2"/>
            </p:custDataLst>
          </p:nvPr>
        </p:nvSpPr>
        <p:spPr>
          <a:xfrm flipV="1">
            <a:off x="787401" y="3878263"/>
            <a:ext cx="234951" cy="234951"/>
          </a:xfrm>
          <a:prstGeom prst="ellipse">
            <a:avLst/>
          </a:prstGeom>
          <a:solidFill>
            <a:srgbClr val="DB81B1"/>
          </a:solidFill>
          <a:ln w="38100" cap="flat" cmpd="sng">
            <a:solidFill>
              <a:srgbClr val="A8C8B8"/>
            </a:solidFill>
            <a:prstDash val="solid"/>
            <a:bevel/>
            <a:headEnd type="none" w="med" len="med"/>
            <a:tailEnd type="none" w="med" len="med"/>
          </a:ln>
        </p:spPr>
        <p:txBody>
          <a:bodyPr anchor="ctr" anchorCtr="0"/>
          <a:lstStyle/>
          <a:p>
            <a:pPr algn="ctr" defTabSz="914400" fontAlgn="base">
              <a:spcBef>
                <a:spcPct val="0"/>
              </a:spcBef>
              <a:spcAft>
                <a:spcPct val="0"/>
              </a:spcAft>
              <a:defRPr/>
            </a:pPr>
            <a:endParaRPr lang="zh-CN" altLang="zh-CN">
              <a:solidFill>
                <a:srgbClr val="FFFFFF"/>
              </a:solidFill>
              <a:latin typeface="Arial" panose="020B0604020202020204" pitchFamily="34" charset="0"/>
              <a:ea typeface="微软雅黑" panose="020B0503020204020204" pitchFamily="34" charset="-122"/>
            </a:endParaRPr>
          </a:p>
        </p:txBody>
      </p:sp>
      <p:sp>
        <p:nvSpPr>
          <p:cNvPr id="189443" name="椭圆 12"/>
          <p:cNvSpPr/>
          <p:nvPr>
            <p:custDataLst>
              <p:tags r:id="rId3"/>
            </p:custDataLst>
          </p:nvPr>
        </p:nvSpPr>
        <p:spPr>
          <a:xfrm>
            <a:off x="523875" y="2263775"/>
            <a:ext cx="762000" cy="762000"/>
          </a:xfrm>
          <a:prstGeom prst="ellipse">
            <a:avLst/>
          </a:prstGeom>
          <a:solidFill>
            <a:srgbClr val="A8C8B8"/>
          </a:solidFill>
          <a:ln w="9525">
            <a:noFill/>
          </a:ln>
        </p:spPr>
        <p:txBody>
          <a:bodyPr anchor="ctr" anchorCtr="0"/>
          <a:lstStyle/>
          <a:p>
            <a:pPr algn="ctr" defTabSz="914400" fontAlgn="base">
              <a:spcBef>
                <a:spcPct val="0"/>
              </a:spcBef>
              <a:spcAft>
                <a:spcPct val="0"/>
              </a:spcAft>
              <a:defRPr/>
            </a:pPr>
            <a:endParaRPr lang="zh-CN" altLang="zh-CN">
              <a:solidFill>
                <a:srgbClr val="FFFFFF"/>
              </a:solidFill>
              <a:latin typeface="Arial" panose="020B0604020202020204" pitchFamily="34" charset="0"/>
              <a:ea typeface="微软雅黑" panose="020B0503020204020204" pitchFamily="34" charset="-122"/>
            </a:endParaRPr>
          </a:p>
        </p:txBody>
      </p:sp>
      <p:sp>
        <p:nvSpPr>
          <p:cNvPr id="189444" name="直接连接符 14"/>
          <p:cNvSpPr/>
          <p:nvPr>
            <p:custDataLst>
              <p:tags r:id="rId4"/>
            </p:custDataLst>
          </p:nvPr>
        </p:nvSpPr>
        <p:spPr>
          <a:xfrm>
            <a:off x="904875" y="3025776"/>
            <a:ext cx="1588" cy="862013"/>
          </a:xfrm>
          <a:prstGeom prst="line">
            <a:avLst/>
          </a:prstGeom>
          <a:ln w="6350" cap="flat" cmpd="sng">
            <a:solidFill>
              <a:srgbClr val="A8C8B8"/>
            </a:solidFill>
            <a:prstDash val="solid"/>
            <a:bevel/>
            <a:headEnd type="none" w="med" len="med"/>
            <a:tailEnd type="none" w="med" len="med"/>
          </a:ln>
        </p:spPr>
        <p:txBody>
          <a:bodyPr anchor="t" anchorCtr="0"/>
          <a:lstStyle/>
          <a:p>
            <a:pPr defTabSz="914400" fontAlgn="base">
              <a:spcBef>
                <a:spcPct val="0"/>
              </a:spcBef>
              <a:spcAft>
                <a:spcPct val="0"/>
              </a:spcAft>
              <a:defRPr/>
            </a:pPr>
            <a:endParaRPr lang="zh-CN" altLang="en-US">
              <a:solidFill>
                <a:prstClr val="black"/>
              </a:solidFill>
              <a:latin typeface="Arial" panose="020B0604020202020204" pitchFamily="34" charset="0"/>
              <a:ea typeface="微软雅黑" panose="020B0503020204020204" pitchFamily="34" charset="-122"/>
            </a:endParaRPr>
          </a:p>
        </p:txBody>
      </p:sp>
      <p:sp>
        <p:nvSpPr>
          <p:cNvPr id="189445" name="文本框 3"/>
          <p:cNvSpPr txBox="1"/>
          <p:nvPr>
            <p:custDataLst>
              <p:tags r:id="rId5"/>
            </p:custDataLst>
          </p:nvPr>
        </p:nvSpPr>
        <p:spPr>
          <a:xfrm>
            <a:off x="477838" y="2217739"/>
            <a:ext cx="855663" cy="854075"/>
          </a:xfrm>
          <a:prstGeom prst="rect">
            <a:avLst/>
          </a:prstGeom>
          <a:noFill/>
          <a:ln w="9525">
            <a:noFill/>
          </a:ln>
        </p:spPr>
        <p:txBody>
          <a:bodyPr wrap="square" anchor="ctr" anchorCtr="0"/>
          <a:lstStyle/>
          <a:p>
            <a:pPr algn="ctr" defTabSz="914400" fontAlgn="base">
              <a:spcBef>
                <a:spcPct val="0"/>
              </a:spcBef>
              <a:spcAft>
                <a:spcPct val="0"/>
              </a:spcAft>
              <a:defRPr/>
            </a:pPr>
            <a:r>
              <a:rPr lang="en-US" altLang="zh-CN" sz="2800" dirty="0">
                <a:solidFill>
                  <a:srgbClr val="FFFFFF"/>
                </a:solidFill>
                <a:latin typeface="Arial" panose="020B0604020202020204" pitchFamily="34" charset="0"/>
                <a:ea typeface="黑体" panose="02010609060101010101" pitchFamily="49" charset="-122"/>
              </a:rPr>
              <a:t>1</a:t>
            </a:r>
            <a:endParaRPr lang="en-US" altLang="zh-CN" sz="2800" dirty="0">
              <a:solidFill>
                <a:srgbClr val="FFFFFF"/>
              </a:solidFill>
              <a:latin typeface="Arial" panose="020B0604020202020204" pitchFamily="34" charset="0"/>
              <a:ea typeface="黑体" panose="02010609060101010101" pitchFamily="49" charset="-122"/>
            </a:endParaRPr>
          </a:p>
        </p:txBody>
      </p:sp>
      <p:sp>
        <p:nvSpPr>
          <p:cNvPr id="189446" name="文本框 47"/>
          <p:cNvSpPr txBox="1"/>
          <p:nvPr>
            <p:custDataLst>
              <p:tags r:id="rId6"/>
            </p:custDataLst>
          </p:nvPr>
        </p:nvSpPr>
        <p:spPr>
          <a:xfrm>
            <a:off x="1335089" y="2178050"/>
            <a:ext cx="2335212" cy="452439"/>
          </a:xfrm>
          <a:prstGeom prst="rect">
            <a:avLst/>
          </a:prstGeom>
          <a:noFill/>
          <a:ln w="9525">
            <a:noFill/>
          </a:ln>
        </p:spPr>
        <p:txBody>
          <a:bodyPr wrap="square" lIns="90000" tIns="46800" rIns="90000" bIns="46800" anchor="b" anchorCtr="0"/>
          <a:lstStyle/>
          <a:p>
            <a:pPr defTabSz="914400" fontAlgn="base">
              <a:spcBef>
                <a:spcPct val="0"/>
              </a:spcBef>
              <a:spcAft>
                <a:spcPct val="0"/>
              </a:spcAft>
              <a:defRPr/>
            </a:pPr>
            <a:r>
              <a:rPr lang="zh-CN" altLang="en-US" sz="2800" dirty="0">
                <a:solidFill>
                  <a:srgbClr val="000000"/>
                </a:solidFill>
                <a:latin typeface="Arial" panose="020B0604020202020204" pitchFamily="34" charset="0"/>
                <a:ea typeface="黑体" panose="02010609060101010101" pitchFamily="49" charset="-122"/>
              </a:rPr>
              <a:t>以法律为准绳</a:t>
            </a:r>
            <a:endParaRPr lang="zh-CN" altLang="en-US" sz="2800" dirty="0">
              <a:solidFill>
                <a:srgbClr val="000000"/>
              </a:solidFill>
              <a:latin typeface="Arial" panose="020B0604020202020204" pitchFamily="34" charset="0"/>
              <a:ea typeface="黑体" panose="02010609060101010101" pitchFamily="49" charset="-122"/>
            </a:endParaRPr>
          </a:p>
        </p:txBody>
      </p:sp>
      <p:sp>
        <p:nvSpPr>
          <p:cNvPr id="189447" name="椭圆 7"/>
          <p:cNvSpPr/>
          <p:nvPr>
            <p:custDataLst>
              <p:tags r:id="rId7"/>
            </p:custDataLst>
          </p:nvPr>
        </p:nvSpPr>
        <p:spPr>
          <a:xfrm flipV="1">
            <a:off x="2803526" y="3878263"/>
            <a:ext cx="234951" cy="234951"/>
          </a:xfrm>
          <a:prstGeom prst="ellipse">
            <a:avLst/>
          </a:prstGeom>
          <a:solidFill>
            <a:srgbClr val="DB81B1"/>
          </a:solidFill>
          <a:ln w="38100" cap="flat" cmpd="sng">
            <a:solidFill>
              <a:srgbClr val="A8C8B8"/>
            </a:solidFill>
            <a:prstDash val="solid"/>
            <a:bevel/>
            <a:headEnd type="none" w="med" len="med"/>
            <a:tailEnd type="none" w="med" len="med"/>
          </a:ln>
        </p:spPr>
        <p:txBody>
          <a:bodyPr anchor="ctr" anchorCtr="0"/>
          <a:lstStyle/>
          <a:p>
            <a:pPr algn="ctr" defTabSz="914400" fontAlgn="base">
              <a:spcBef>
                <a:spcPct val="0"/>
              </a:spcBef>
              <a:spcAft>
                <a:spcPct val="0"/>
              </a:spcAft>
              <a:defRPr/>
            </a:pPr>
            <a:endParaRPr lang="zh-CN" altLang="zh-CN">
              <a:solidFill>
                <a:srgbClr val="FFFFFF"/>
              </a:solidFill>
              <a:latin typeface="Arial" panose="020B0604020202020204" pitchFamily="34" charset="0"/>
              <a:ea typeface="微软雅黑" panose="020B0503020204020204" pitchFamily="34" charset="-122"/>
            </a:endParaRPr>
          </a:p>
        </p:txBody>
      </p:sp>
      <p:sp>
        <p:nvSpPr>
          <p:cNvPr id="189448" name="椭圆 23"/>
          <p:cNvSpPr/>
          <p:nvPr>
            <p:custDataLst>
              <p:tags r:id="rId8"/>
            </p:custDataLst>
          </p:nvPr>
        </p:nvSpPr>
        <p:spPr>
          <a:xfrm flipV="1">
            <a:off x="2540000" y="4981575"/>
            <a:ext cx="762000" cy="762000"/>
          </a:xfrm>
          <a:prstGeom prst="ellipse">
            <a:avLst/>
          </a:prstGeom>
          <a:solidFill>
            <a:srgbClr val="A8C8B8"/>
          </a:solidFill>
          <a:ln w="9525">
            <a:noFill/>
          </a:ln>
        </p:spPr>
        <p:txBody>
          <a:bodyPr anchor="ctr" anchorCtr="0"/>
          <a:lstStyle/>
          <a:p>
            <a:pPr algn="ctr" defTabSz="914400" fontAlgn="base">
              <a:spcBef>
                <a:spcPct val="0"/>
              </a:spcBef>
              <a:spcAft>
                <a:spcPct val="0"/>
              </a:spcAft>
              <a:defRPr/>
            </a:pPr>
            <a:endParaRPr lang="zh-CN" altLang="zh-CN">
              <a:solidFill>
                <a:srgbClr val="FFFFFF"/>
              </a:solidFill>
              <a:latin typeface="Arial" panose="020B0604020202020204" pitchFamily="34" charset="0"/>
              <a:ea typeface="微软雅黑" panose="020B0503020204020204" pitchFamily="34" charset="-122"/>
            </a:endParaRPr>
          </a:p>
        </p:txBody>
      </p:sp>
      <p:sp>
        <p:nvSpPr>
          <p:cNvPr id="189449" name="直接连接符 24"/>
          <p:cNvSpPr/>
          <p:nvPr>
            <p:custDataLst>
              <p:tags r:id="rId9"/>
            </p:custDataLst>
          </p:nvPr>
        </p:nvSpPr>
        <p:spPr>
          <a:xfrm flipV="1">
            <a:off x="2921000" y="4117975"/>
            <a:ext cx="0" cy="863600"/>
          </a:xfrm>
          <a:prstGeom prst="line">
            <a:avLst/>
          </a:prstGeom>
          <a:ln w="6350" cap="flat" cmpd="sng">
            <a:solidFill>
              <a:srgbClr val="A8C8B8"/>
            </a:solidFill>
            <a:prstDash val="solid"/>
            <a:bevel/>
            <a:headEnd type="none" w="med" len="med"/>
            <a:tailEnd type="none" w="med" len="med"/>
          </a:ln>
        </p:spPr>
        <p:txBody>
          <a:bodyPr anchor="t" anchorCtr="0"/>
          <a:lstStyle/>
          <a:p>
            <a:pPr defTabSz="914400" fontAlgn="base">
              <a:spcBef>
                <a:spcPct val="0"/>
              </a:spcBef>
              <a:spcAft>
                <a:spcPct val="0"/>
              </a:spcAft>
              <a:defRPr/>
            </a:pPr>
            <a:endParaRPr lang="zh-CN" altLang="en-US">
              <a:solidFill>
                <a:prstClr val="black"/>
              </a:solidFill>
              <a:latin typeface="Arial" panose="020B0604020202020204" pitchFamily="34" charset="0"/>
              <a:ea typeface="微软雅黑" panose="020B0503020204020204" pitchFamily="34" charset="-122"/>
            </a:endParaRPr>
          </a:p>
        </p:txBody>
      </p:sp>
      <p:sp>
        <p:nvSpPr>
          <p:cNvPr id="189450" name="文本框 45"/>
          <p:cNvSpPr txBox="1"/>
          <p:nvPr>
            <p:custDataLst>
              <p:tags r:id="rId10"/>
            </p:custDataLst>
          </p:nvPr>
        </p:nvSpPr>
        <p:spPr>
          <a:xfrm>
            <a:off x="2493964" y="4935539"/>
            <a:ext cx="854075" cy="854075"/>
          </a:xfrm>
          <a:prstGeom prst="rect">
            <a:avLst/>
          </a:prstGeom>
          <a:noFill/>
          <a:ln w="9525">
            <a:noFill/>
          </a:ln>
        </p:spPr>
        <p:txBody>
          <a:bodyPr wrap="square" anchor="ctr" anchorCtr="0"/>
          <a:lstStyle/>
          <a:p>
            <a:pPr algn="ctr" defTabSz="914400" fontAlgn="base">
              <a:spcBef>
                <a:spcPct val="0"/>
              </a:spcBef>
              <a:spcAft>
                <a:spcPct val="0"/>
              </a:spcAft>
              <a:defRPr/>
            </a:pPr>
            <a:r>
              <a:rPr lang="en-US" altLang="zh-CN" dirty="0">
                <a:solidFill>
                  <a:srgbClr val="FFFFFF"/>
                </a:solidFill>
                <a:latin typeface="Arial" panose="020B0604020202020204" pitchFamily="34" charset="0"/>
                <a:ea typeface="黑体" panose="02010609060101010101" pitchFamily="49" charset="-122"/>
              </a:rPr>
              <a:t>2</a:t>
            </a:r>
            <a:endParaRPr lang="en-US" altLang="zh-CN" dirty="0">
              <a:solidFill>
                <a:srgbClr val="FFFFFF"/>
              </a:solidFill>
              <a:latin typeface="Arial" panose="020B0604020202020204" pitchFamily="34" charset="0"/>
              <a:ea typeface="黑体" panose="02010609060101010101" pitchFamily="49" charset="-122"/>
            </a:endParaRPr>
          </a:p>
        </p:txBody>
      </p:sp>
      <p:sp>
        <p:nvSpPr>
          <p:cNvPr id="53" name="文本框 52"/>
          <p:cNvSpPr txBox="1"/>
          <p:nvPr>
            <p:custDataLst>
              <p:tags r:id="rId11"/>
            </p:custDataLst>
          </p:nvPr>
        </p:nvSpPr>
        <p:spPr>
          <a:xfrm>
            <a:off x="3360739" y="4765675"/>
            <a:ext cx="2122488" cy="452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b" anchorCtr="0">
            <a:normAutofit fontScale="90000" lnSpcReduction="10000"/>
          </a:bodyPr>
          <a:lstStyle>
            <a:defPPr>
              <a:defRPr lang="zh-CN"/>
            </a:defPPr>
            <a:lvl1pPr>
              <a:defRPr>
                <a:solidFill>
                  <a:srgbClr val="FFFFFF"/>
                </a:solidFill>
                <a:latin typeface="Calibri" panose="020F0502020204030204" charset="0"/>
                <a:ea typeface="微软雅黑" panose="020B0503020204020204" pitchFamily="34" charset="-122"/>
              </a:defRPr>
            </a:lvl1pPr>
          </a:lstStyle>
          <a:p>
            <a:pPr defTabSz="914400">
              <a:spcBef>
                <a:spcPct val="0"/>
              </a:spcBef>
              <a:spcAft>
                <a:spcPct val="0"/>
              </a:spcAft>
              <a:defRPr/>
            </a:pPr>
            <a:r>
              <a:rPr lang="zh-CN" altLang="en-US" sz="2800" noProof="1">
                <a:solidFill>
                  <a:srgbClr val="000000"/>
                </a:solidFill>
                <a:latin typeface="Arial" panose="020B0604020202020204" pitchFamily="34" charset="0"/>
                <a:ea typeface="黑体" panose="02010609060101010101" pitchFamily="49" charset="-122"/>
                <a:cs typeface="+mn-ea"/>
              </a:rPr>
              <a:t>以事实为依据</a:t>
            </a:r>
            <a:endParaRPr lang="zh-CN" altLang="en-US" sz="2800" noProof="1">
              <a:solidFill>
                <a:srgbClr val="000000"/>
              </a:solidFill>
              <a:latin typeface="Arial" panose="020B0604020202020204" pitchFamily="34" charset="0"/>
              <a:ea typeface="黑体" panose="02010609060101010101" pitchFamily="49" charset="-122"/>
              <a:cs typeface="+mn-ea"/>
            </a:endParaRPr>
          </a:p>
        </p:txBody>
      </p:sp>
      <p:sp>
        <p:nvSpPr>
          <p:cNvPr id="54" name="文本框 53"/>
          <p:cNvSpPr txBox="1"/>
          <p:nvPr>
            <p:custDataLst>
              <p:tags r:id="rId12"/>
            </p:custDataLst>
          </p:nvPr>
        </p:nvSpPr>
        <p:spPr>
          <a:xfrm>
            <a:off x="3360738" y="5235577"/>
            <a:ext cx="3206751" cy="982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rmAutofit fontScale="90000"/>
          </a:bodyPr>
          <a:lstStyle>
            <a:defPPr>
              <a:defRPr lang="zh-CN"/>
            </a:defPPr>
            <a:lvl1pPr algn="ctr">
              <a:defRPr sz="1400">
                <a:solidFill>
                  <a:srgbClr val="FFFFFF"/>
                </a:solidFill>
                <a:latin typeface="Calibri" panose="020F0502020204030204" charset="0"/>
                <a:ea typeface="微软雅黑" panose="020B0503020204020204" pitchFamily="34" charset="-122"/>
              </a:defRPr>
            </a:lvl1pPr>
          </a:lstStyle>
          <a:p>
            <a:pPr algn="l" defTabSz="914400">
              <a:spcBef>
                <a:spcPct val="0"/>
              </a:spcBef>
              <a:spcAft>
                <a:spcPct val="0"/>
              </a:spcAft>
              <a:defRPr/>
            </a:pPr>
            <a:r>
              <a:rPr lang="zh-CN" altLang="en-US" sz="1900" b="1" noProof="1">
                <a:solidFill>
                  <a:srgbClr val="000000"/>
                </a:solidFill>
                <a:latin typeface="仿宋" panose="02010609060101010101" charset="-122"/>
                <a:ea typeface="仿宋" panose="02010609060101010101" charset="-122"/>
                <a:cs typeface="仿宋" panose="02010609060101010101" charset="-122"/>
              </a:rPr>
              <a:t>明确主体有哪些；</a:t>
            </a:r>
            <a:endParaRPr lang="zh-CN" altLang="en-US" sz="1900" b="1" noProof="1">
              <a:solidFill>
                <a:srgbClr val="000000"/>
              </a:solidFill>
              <a:latin typeface="仿宋" panose="02010609060101010101" charset="-122"/>
              <a:ea typeface="仿宋" panose="02010609060101010101" charset="-122"/>
              <a:cs typeface="仿宋" panose="02010609060101010101" charset="-122"/>
            </a:endParaRPr>
          </a:p>
          <a:p>
            <a:pPr algn="l" defTabSz="914400">
              <a:spcBef>
                <a:spcPct val="0"/>
              </a:spcBef>
              <a:spcAft>
                <a:spcPct val="0"/>
              </a:spcAft>
              <a:defRPr/>
            </a:pPr>
            <a:r>
              <a:rPr lang="zh-CN" altLang="en-US" sz="1900" b="1" noProof="1">
                <a:solidFill>
                  <a:srgbClr val="000000"/>
                </a:solidFill>
                <a:latin typeface="仿宋" panose="02010609060101010101" charset="-122"/>
                <a:ea typeface="仿宋" panose="02010609060101010101" charset="-122"/>
                <a:cs typeface="仿宋" panose="02010609060101010101" charset="-122"/>
              </a:rPr>
              <a:t>民事主体的行为是否侵权/违约；</a:t>
            </a:r>
            <a:endParaRPr lang="zh-CN" altLang="en-US" sz="1900" b="1" noProof="1">
              <a:solidFill>
                <a:srgbClr val="000000"/>
              </a:solidFill>
              <a:latin typeface="仿宋" panose="02010609060101010101" charset="-122"/>
              <a:ea typeface="仿宋" panose="02010609060101010101" charset="-122"/>
              <a:cs typeface="仿宋" panose="02010609060101010101" charset="-122"/>
            </a:endParaRPr>
          </a:p>
          <a:p>
            <a:pPr algn="l" defTabSz="914400">
              <a:spcBef>
                <a:spcPct val="0"/>
              </a:spcBef>
              <a:spcAft>
                <a:spcPct val="0"/>
              </a:spcAft>
              <a:defRPr/>
            </a:pPr>
            <a:r>
              <a:rPr lang="zh-CN" altLang="en-US" sz="1900" b="1" noProof="1">
                <a:solidFill>
                  <a:srgbClr val="000000"/>
                </a:solidFill>
                <a:latin typeface="仿宋" panose="02010609060101010101" charset="-122"/>
                <a:ea typeface="仿宋" panose="02010609060101010101" charset="-122"/>
                <a:cs typeface="仿宋" panose="02010609060101010101" charset="-122"/>
              </a:rPr>
              <a:t>侵犯了XXX权利</a:t>
            </a:r>
            <a:endParaRPr lang="zh-CN" altLang="en-US" sz="1900" b="1" noProof="1">
              <a:solidFill>
                <a:srgbClr val="000000"/>
              </a:solidFill>
              <a:latin typeface="仿宋" panose="02010609060101010101" charset="-122"/>
              <a:ea typeface="仿宋" panose="02010609060101010101" charset="-122"/>
              <a:cs typeface="仿宋" panose="02010609060101010101" charset="-122"/>
            </a:endParaRPr>
          </a:p>
        </p:txBody>
      </p:sp>
      <p:sp>
        <p:nvSpPr>
          <p:cNvPr id="189453" name="椭圆 8"/>
          <p:cNvSpPr/>
          <p:nvPr>
            <p:custDataLst>
              <p:tags r:id="rId13"/>
            </p:custDataLst>
          </p:nvPr>
        </p:nvSpPr>
        <p:spPr>
          <a:xfrm flipV="1">
            <a:off x="8231451" y="3825613"/>
            <a:ext cx="234951" cy="234951"/>
          </a:xfrm>
          <a:prstGeom prst="ellipse">
            <a:avLst/>
          </a:prstGeom>
          <a:solidFill>
            <a:srgbClr val="DB81B1"/>
          </a:solidFill>
          <a:ln w="38100" cap="flat" cmpd="sng">
            <a:solidFill>
              <a:srgbClr val="A8C8B8"/>
            </a:solidFill>
            <a:prstDash val="solid"/>
            <a:bevel/>
            <a:headEnd type="none" w="med" len="med"/>
            <a:tailEnd type="none" w="med" len="med"/>
          </a:ln>
        </p:spPr>
        <p:txBody>
          <a:bodyPr anchor="ctr" anchorCtr="0"/>
          <a:lstStyle/>
          <a:p>
            <a:pPr algn="ctr" defTabSz="914400" fontAlgn="base">
              <a:spcBef>
                <a:spcPct val="0"/>
              </a:spcBef>
              <a:spcAft>
                <a:spcPct val="0"/>
              </a:spcAft>
              <a:defRPr/>
            </a:pPr>
            <a:endParaRPr lang="zh-CN" altLang="zh-CN">
              <a:solidFill>
                <a:srgbClr val="FFFFFF"/>
              </a:solidFill>
              <a:latin typeface="Arial" panose="020B0604020202020204" pitchFamily="34" charset="0"/>
              <a:ea typeface="微软雅黑" panose="020B0503020204020204" pitchFamily="34" charset="-122"/>
            </a:endParaRPr>
          </a:p>
        </p:txBody>
      </p:sp>
      <p:sp>
        <p:nvSpPr>
          <p:cNvPr id="189454" name="椭圆 28"/>
          <p:cNvSpPr/>
          <p:nvPr>
            <p:custDataLst>
              <p:tags r:id="rId14"/>
            </p:custDataLst>
          </p:nvPr>
        </p:nvSpPr>
        <p:spPr>
          <a:xfrm flipV="1">
            <a:off x="7963161" y="4307148"/>
            <a:ext cx="762000" cy="762000"/>
          </a:xfrm>
          <a:prstGeom prst="ellipse">
            <a:avLst/>
          </a:prstGeom>
          <a:solidFill>
            <a:srgbClr val="A8C8B8"/>
          </a:solidFill>
          <a:ln w="9525">
            <a:noFill/>
          </a:ln>
        </p:spPr>
        <p:txBody>
          <a:bodyPr anchor="ctr" anchorCtr="0"/>
          <a:lstStyle/>
          <a:p>
            <a:pPr algn="ctr" defTabSz="914400" fontAlgn="base">
              <a:spcBef>
                <a:spcPct val="0"/>
              </a:spcBef>
              <a:spcAft>
                <a:spcPct val="0"/>
              </a:spcAft>
              <a:defRPr/>
            </a:pPr>
            <a:endParaRPr lang="zh-CN" altLang="zh-CN">
              <a:solidFill>
                <a:srgbClr val="FFFFFF"/>
              </a:solidFill>
              <a:latin typeface="Arial" panose="020B0604020202020204" pitchFamily="34" charset="0"/>
              <a:ea typeface="微软雅黑" panose="020B0503020204020204" pitchFamily="34" charset="-122"/>
            </a:endParaRPr>
          </a:p>
        </p:txBody>
      </p:sp>
      <p:sp>
        <p:nvSpPr>
          <p:cNvPr id="189455" name="文本框 44"/>
          <p:cNvSpPr txBox="1"/>
          <p:nvPr>
            <p:custDataLst>
              <p:tags r:id="rId15"/>
            </p:custDataLst>
          </p:nvPr>
        </p:nvSpPr>
        <p:spPr>
          <a:xfrm>
            <a:off x="7917124" y="4287829"/>
            <a:ext cx="854075" cy="854075"/>
          </a:xfrm>
          <a:prstGeom prst="rect">
            <a:avLst/>
          </a:prstGeom>
          <a:noFill/>
          <a:ln w="9525">
            <a:noFill/>
          </a:ln>
        </p:spPr>
        <p:txBody>
          <a:bodyPr wrap="square" anchor="ctr" anchorCtr="0"/>
          <a:lstStyle/>
          <a:p>
            <a:pPr algn="ctr" defTabSz="914400" fontAlgn="base">
              <a:spcBef>
                <a:spcPct val="0"/>
              </a:spcBef>
              <a:spcAft>
                <a:spcPct val="0"/>
              </a:spcAft>
              <a:defRPr/>
            </a:pPr>
            <a:r>
              <a:rPr lang="en-US" altLang="zh-CN" dirty="0">
                <a:solidFill>
                  <a:srgbClr val="FFFFFF"/>
                </a:solidFill>
                <a:latin typeface="Arial" panose="020B0604020202020204" pitchFamily="34" charset="0"/>
                <a:ea typeface="黑体" panose="02010609060101010101" pitchFamily="49" charset="-122"/>
              </a:rPr>
              <a:t>4</a:t>
            </a:r>
            <a:endParaRPr lang="en-US" altLang="zh-CN" dirty="0">
              <a:solidFill>
                <a:srgbClr val="FFFFFF"/>
              </a:solidFill>
              <a:latin typeface="Arial" panose="020B0604020202020204" pitchFamily="34" charset="0"/>
              <a:ea typeface="黑体" panose="02010609060101010101" pitchFamily="49" charset="-122"/>
            </a:endParaRPr>
          </a:p>
        </p:txBody>
      </p:sp>
      <p:sp>
        <p:nvSpPr>
          <p:cNvPr id="189456" name="直接连接符 29"/>
          <p:cNvSpPr/>
          <p:nvPr>
            <p:custDataLst>
              <p:tags r:id="rId16"/>
            </p:custDataLst>
          </p:nvPr>
        </p:nvSpPr>
        <p:spPr>
          <a:xfrm flipV="1">
            <a:off x="8344162" y="4023787"/>
            <a:ext cx="1588" cy="344487"/>
          </a:xfrm>
          <a:prstGeom prst="line">
            <a:avLst/>
          </a:prstGeom>
          <a:ln w="6350" cap="flat" cmpd="sng">
            <a:solidFill>
              <a:srgbClr val="A8C8B8"/>
            </a:solidFill>
            <a:prstDash val="solid"/>
            <a:bevel/>
            <a:headEnd type="none" w="med" len="med"/>
            <a:tailEnd type="none" w="med" len="med"/>
          </a:ln>
        </p:spPr>
        <p:txBody>
          <a:bodyPr anchor="t" anchorCtr="0"/>
          <a:lstStyle/>
          <a:p>
            <a:pPr defTabSz="914400" fontAlgn="base">
              <a:spcBef>
                <a:spcPct val="0"/>
              </a:spcBef>
              <a:spcAft>
                <a:spcPct val="0"/>
              </a:spcAft>
              <a:defRPr/>
            </a:pPr>
            <a:endParaRPr lang="zh-CN" altLang="en-US">
              <a:solidFill>
                <a:prstClr val="black"/>
              </a:solidFill>
              <a:latin typeface="Arial" panose="020B0604020202020204" pitchFamily="34" charset="0"/>
              <a:ea typeface="微软雅黑" panose="020B0503020204020204" pitchFamily="34" charset="-122"/>
            </a:endParaRPr>
          </a:p>
        </p:txBody>
      </p:sp>
      <p:sp>
        <p:nvSpPr>
          <p:cNvPr id="59" name="文本框 58"/>
          <p:cNvSpPr txBox="1"/>
          <p:nvPr>
            <p:custDataLst>
              <p:tags r:id="rId17"/>
            </p:custDataLst>
          </p:nvPr>
        </p:nvSpPr>
        <p:spPr>
          <a:xfrm>
            <a:off x="8636000" y="4414840"/>
            <a:ext cx="2122488"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b" anchorCtr="0">
            <a:normAutofit fontScale="90000" lnSpcReduction="10000"/>
          </a:bodyPr>
          <a:lstStyle>
            <a:defPPr>
              <a:defRPr lang="zh-CN"/>
            </a:defPPr>
            <a:lvl1pPr>
              <a:defRPr>
                <a:solidFill>
                  <a:srgbClr val="FFFFFF"/>
                </a:solidFill>
                <a:latin typeface="Calibri" panose="020F0502020204030204" charset="0"/>
                <a:ea typeface="微软雅黑" panose="020B0503020204020204" pitchFamily="34" charset="-122"/>
              </a:defRPr>
            </a:lvl1pPr>
          </a:lstStyle>
          <a:p>
            <a:pPr defTabSz="914400">
              <a:spcBef>
                <a:spcPct val="0"/>
              </a:spcBef>
              <a:spcAft>
                <a:spcPct val="0"/>
              </a:spcAft>
              <a:defRPr/>
            </a:pPr>
            <a:r>
              <a:rPr lang="zh-CN" altLang="en-US" sz="2800" noProof="1">
                <a:solidFill>
                  <a:srgbClr val="000000"/>
                </a:solidFill>
                <a:latin typeface="Arial" panose="020B0604020202020204" pitchFamily="34" charset="0"/>
                <a:ea typeface="黑体" panose="02010609060101010101" pitchFamily="49" charset="-122"/>
                <a:cs typeface="+mn-ea"/>
              </a:rPr>
              <a:t>有何意义？</a:t>
            </a:r>
            <a:endParaRPr lang="zh-CN" altLang="en-US" sz="2800" noProof="1">
              <a:solidFill>
                <a:srgbClr val="000000"/>
              </a:solidFill>
              <a:latin typeface="Arial" panose="020B0604020202020204" pitchFamily="34" charset="0"/>
              <a:ea typeface="黑体" panose="02010609060101010101" pitchFamily="49" charset="-122"/>
              <a:cs typeface="+mn-ea"/>
            </a:endParaRPr>
          </a:p>
        </p:txBody>
      </p:sp>
      <p:sp>
        <p:nvSpPr>
          <p:cNvPr id="189458" name="文本框 59"/>
          <p:cNvSpPr txBox="1"/>
          <p:nvPr>
            <p:custDataLst>
              <p:tags r:id="rId18"/>
            </p:custDataLst>
          </p:nvPr>
        </p:nvSpPr>
        <p:spPr>
          <a:xfrm>
            <a:off x="8224699" y="4976557"/>
            <a:ext cx="5240337" cy="1316037"/>
          </a:xfrm>
          <a:prstGeom prst="rect">
            <a:avLst/>
          </a:prstGeom>
          <a:noFill/>
          <a:ln w="9525">
            <a:noFill/>
          </a:ln>
        </p:spPr>
        <p:txBody>
          <a:bodyPr wrap="square" anchor="t" anchorCtr="0"/>
          <a:lstStyle/>
          <a:p>
            <a:pPr defTabSz="914400" fontAlgn="base">
              <a:spcBef>
                <a:spcPct val="0"/>
              </a:spcBef>
              <a:spcAft>
                <a:spcPct val="0"/>
              </a:spcAft>
              <a:defRPr/>
            </a:pPr>
            <a:r>
              <a:rPr lang="zh-CN" altLang="en-US" sz="1900" b="1" dirty="0">
                <a:solidFill>
                  <a:srgbClr val="000000"/>
                </a:solidFill>
                <a:latin typeface="仿宋" panose="02010609060101010101" charset="-122"/>
                <a:ea typeface="仿宋" panose="02010609060101010101" charset="-122"/>
              </a:rPr>
              <a:t>法律意义：双方；司法机关；社会；</a:t>
            </a:r>
            <a:endParaRPr lang="en-US" altLang="zh-CN" sz="1900" b="1" dirty="0">
              <a:solidFill>
                <a:srgbClr val="000000"/>
              </a:solidFill>
              <a:latin typeface="仿宋" panose="02010609060101010101" charset="-122"/>
              <a:ea typeface="仿宋" panose="02010609060101010101" charset="-122"/>
            </a:endParaRPr>
          </a:p>
          <a:p>
            <a:pPr defTabSz="914400" fontAlgn="base">
              <a:spcBef>
                <a:spcPct val="0"/>
              </a:spcBef>
              <a:spcAft>
                <a:spcPct val="0"/>
              </a:spcAft>
              <a:defRPr/>
            </a:pPr>
            <a:r>
              <a:rPr lang="zh-CN" altLang="en-US" sz="1900" b="1" dirty="0">
                <a:solidFill>
                  <a:srgbClr val="000000"/>
                </a:solidFill>
                <a:latin typeface="仿宋" panose="02010609060101010101" charset="-122"/>
                <a:ea typeface="仿宋" panose="02010609060101010101" charset="-122"/>
              </a:rPr>
              <a:t>          全面依法治国</a:t>
            </a:r>
            <a:endParaRPr lang="zh-CN" altLang="en-US" sz="1900" b="1" dirty="0">
              <a:solidFill>
                <a:srgbClr val="000000"/>
              </a:solidFill>
              <a:latin typeface="仿宋" panose="02010609060101010101" charset="-122"/>
              <a:ea typeface="仿宋" panose="02010609060101010101" charset="-122"/>
            </a:endParaRPr>
          </a:p>
          <a:p>
            <a:pPr defTabSz="914400" fontAlgn="base">
              <a:spcBef>
                <a:spcPct val="0"/>
              </a:spcBef>
              <a:spcAft>
                <a:spcPct val="0"/>
              </a:spcAft>
              <a:defRPr/>
            </a:pPr>
            <a:r>
              <a:rPr lang="zh-CN" altLang="en-US" sz="1900" b="1" dirty="0">
                <a:solidFill>
                  <a:srgbClr val="000000"/>
                </a:solidFill>
                <a:latin typeface="仿宋" panose="02010609060101010101" charset="-122"/>
                <a:ea typeface="仿宋" panose="02010609060101010101" charset="-122"/>
              </a:rPr>
              <a:t>道德意义：社会主义核心价值观……</a:t>
            </a:r>
            <a:endParaRPr lang="zh-CN" altLang="en-US" sz="1900" b="1" dirty="0">
              <a:solidFill>
                <a:srgbClr val="000000"/>
              </a:solidFill>
              <a:latin typeface="仿宋" panose="02010609060101010101" charset="-122"/>
              <a:ea typeface="仿宋" panose="02010609060101010101" charset="-122"/>
            </a:endParaRPr>
          </a:p>
          <a:p>
            <a:pPr defTabSz="914400" fontAlgn="base">
              <a:spcBef>
                <a:spcPct val="0"/>
              </a:spcBef>
              <a:spcAft>
                <a:spcPct val="0"/>
              </a:spcAft>
              <a:defRPr/>
            </a:pPr>
            <a:r>
              <a:rPr lang="zh-CN" altLang="en-US" sz="1900" b="1" dirty="0">
                <a:solidFill>
                  <a:srgbClr val="000000"/>
                </a:solidFill>
                <a:latin typeface="仿宋" panose="02010609060101010101" charset="-122"/>
                <a:ea typeface="仿宋" panose="02010609060101010101" charset="-122"/>
              </a:rPr>
              <a:t>经济意义：市场秩序、公平竞争、</a:t>
            </a:r>
            <a:endParaRPr lang="zh-CN" altLang="en-US" sz="1900" b="1" dirty="0">
              <a:solidFill>
                <a:srgbClr val="000000"/>
              </a:solidFill>
              <a:latin typeface="仿宋" panose="02010609060101010101" charset="-122"/>
              <a:ea typeface="仿宋" panose="02010609060101010101" charset="-122"/>
            </a:endParaRPr>
          </a:p>
          <a:p>
            <a:pPr defTabSz="914400" fontAlgn="base">
              <a:spcBef>
                <a:spcPct val="0"/>
              </a:spcBef>
              <a:spcAft>
                <a:spcPct val="0"/>
              </a:spcAft>
              <a:defRPr/>
            </a:pPr>
            <a:r>
              <a:rPr lang="zh-CN" altLang="en-US" sz="1900" b="1" dirty="0">
                <a:solidFill>
                  <a:srgbClr val="000000"/>
                </a:solidFill>
                <a:latin typeface="仿宋" panose="02010609060101010101" charset="-122"/>
                <a:ea typeface="仿宋" panose="02010609060101010101" charset="-122"/>
              </a:rPr>
              <a:t>          行业发展……</a:t>
            </a:r>
            <a:endParaRPr lang="zh-CN" altLang="en-US" sz="1900" b="1" dirty="0">
              <a:solidFill>
                <a:srgbClr val="000000"/>
              </a:solidFill>
              <a:latin typeface="仿宋" panose="02010609060101010101" charset="-122"/>
              <a:ea typeface="仿宋" panose="02010609060101010101" charset="-122"/>
            </a:endParaRPr>
          </a:p>
        </p:txBody>
      </p:sp>
      <p:sp>
        <p:nvSpPr>
          <p:cNvPr id="189459" name="椭圆 10"/>
          <p:cNvSpPr/>
          <p:nvPr>
            <p:custDataLst>
              <p:tags r:id="rId19"/>
            </p:custDataLst>
          </p:nvPr>
        </p:nvSpPr>
        <p:spPr>
          <a:xfrm flipV="1">
            <a:off x="4612350" y="3831699"/>
            <a:ext cx="234951" cy="234951"/>
          </a:xfrm>
          <a:prstGeom prst="ellipse">
            <a:avLst/>
          </a:prstGeom>
          <a:solidFill>
            <a:srgbClr val="DB81B1"/>
          </a:solidFill>
          <a:ln w="38100" cap="flat" cmpd="sng">
            <a:solidFill>
              <a:srgbClr val="A8C8B8"/>
            </a:solidFill>
            <a:prstDash val="solid"/>
            <a:bevel/>
            <a:headEnd type="none" w="med" len="med"/>
            <a:tailEnd type="none" w="med" len="med"/>
          </a:ln>
        </p:spPr>
        <p:txBody>
          <a:bodyPr anchor="ctr" anchorCtr="0"/>
          <a:lstStyle/>
          <a:p>
            <a:pPr algn="ctr" defTabSz="914400" fontAlgn="base">
              <a:spcBef>
                <a:spcPct val="0"/>
              </a:spcBef>
              <a:spcAft>
                <a:spcPct val="0"/>
              </a:spcAft>
              <a:defRPr/>
            </a:pPr>
            <a:endParaRPr lang="zh-CN" altLang="zh-CN">
              <a:solidFill>
                <a:srgbClr val="FFFFFF"/>
              </a:solidFill>
              <a:latin typeface="Arial" panose="020B0604020202020204" pitchFamily="34" charset="0"/>
              <a:ea typeface="微软雅黑" panose="020B0503020204020204" pitchFamily="34" charset="-122"/>
            </a:endParaRPr>
          </a:p>
        </p:txBody>
      </p:sp>
      <p:sp>
        <p:nvSpPr>
          <p:cNvPr id="189460" name="椭圆 17"/>
          <p:cNvSpPr/>
          <p:nvPr>
            <p:custDataLst>
              <p:tags r:id="rId20"/>
            </p:custDataLst>
          </p:nvPr>
        </p:nvSpPr>
        <p:spPr>
          <a:xfrm>
            <a:off x="4381791" y="2742084"/>
            <a:ext cx="762000" cy="762000"/>
          </a:xfrm>
          <a:prstGeom prst="ellipse">
            <a:avLst/>
          </a:prstGeom>
          <a:solidFill>
            <a:srgbClr val="A8C8B8"/>
          </a:solidFill>
          <a:ln w="9525">
            <a:noFill/>
          </a:ln>
        </p:spPr>
        <p:txBody>
          <a:bodyPr anchor="ctr" anchorCtr="0"/>
          <a:lstStyle/>
          <a:p>
            <a:pPr algn="ctr" defTabSz="914400" fontAlgn="base">
              <a:spcBef>
                <a:spcPct val="0"/>
              </a:spcBef>
              <a:spcAft>
                <a:spcPct val="0"/>
              </a:spcAft>
              <a:defRPr/>
            </a:pPr>
            <a:endParaRPr lang="zh-CN" altLang="zh-CN">
              <a:solidFill>
                <a:srgbClr val="FFFFFF"/>
              </a:solidFill>
              <a:latin typeface="Arial" panose="020B0604020202020204" pitchFamily="34" charset="0"/>
              <a:ea typeface="微软雅黑" panose="020B0503020204020204" pitchFamily="34" charset="-122"/>
            </a:endParaRPr>
          </a:p>
        </p:txBody>
      </p:sp>
      <p:sp>
        <p:nvSpPr>
          <p:cNvPr id="189461" name="直接连接符 18"/>
          <p:cNvSpPr/>
          <p:nvPr>
            <p:custDataLst>
              <p:tags r:id="rId21"/>
            </p:custDataLst>
          </p:nvPr>
        </p:nvSpPr>
        <p:spPr>
          <a:xfrm>
            <a:off x="4729824" y="3470251"/>
            <a:ext cx="0" cy="333375"/>
          </a:xfrm>
          <a:prstGeom prst="line">
            <a:avLst/>
          </a:prstGeom>
          <a:ln w="6350" cap="flat" cmpd="sng">
            <a:solidFill>
              <a:srgbClr val="A8C8B8"/>
            </a:solidFill>
            <a:prstDash val="solid"/>
            <a:bevel/>
            <a:headEnd type="none" w="med" len="med"/>
            <a:tailEnd type="none" w="med" len="med"/>
          </a:ln>
        </p:spPr>
        <p:txBody>
          <a:bodyPr anchor="t" anchorCtr="0"/>
          <a:lstStyle/>
          <a:p>
            <a:pPr defTabSz="914400" fontAlgn="base">
              <a:spcBef>
                <a:spcPct val="0"/>
              </a:spcBef>
              <a:spcAft>
                <a:spcPct val="0"/>
              </a:spcAft>
              <a:defRPr/>
            </a:pPr>
            <a:endParaRPr lang="zh-CN" altLang="en-US">
              <a:solidFill>
                <a:prstClr val="black"/>
              </a:solidFill>
              <a:latin typeface="Arial" panose="020B0604020202020204" pitchFamily="34" charset="0"/>
              <a:ea typeface="微软雅黑" panose="020B0503020204020204" pitchFamily="34" charset="-122"/>
            </a:endParaRPr>
          </a:p>
        </p:txBody>
      </p:sp>
      <p:sp>
        <p:nvSpPr>
          <p:cNvPr id="189462" name="文本框 91"/>
          <p:cNvSpPr txBox="1"/>
          <p:nvPr>
            <p:custDataLst>
              <p:tags r:id="rId22"/>
            </p:custDataLst>
          </p:nvPr>
        </p:nvSpPr>
        <p:spPr>
          <a:xfrm>
            <a:off x="4291832" y="2686200"/>
            <a:ext cx="854075" cy="854075"/>
          </a:xfrm>
          <a:prstGeom prst="rect">
            <a:avLst/>
          </a:prstGeom>
          <a:noFill/>
          <a:ln w="9525">
            <a:noFill/>
          </a:ln>
        </p:spPr>
        <p:txBody>
          <a:bodyPr wrap="square" anchor="ctr" anchorCtr="0"/>
          <a:lstStyle/>
          <a:p>
            <a:pPr algn="ctr" defTabSz="914400" fontAlgn="base">
              <a:spcBef>
                <a:spcPct val="0"/>
              </a:spcBef>
              <a:spcAft>
                <a:spcPct val="0"/>
              </a:spcAft>
              <a:defRPr/>
            </a:pPr>
            <a:r>
              <a:rPr lang="en-US" altLang="zh-CN" dirty="0">
                <a:solidFill>
                  <a:srgbClr val="FFFFFF"/>
                </a:solidFill>
                <a:latin typeface="Arial" panose="020B0604020202020204" pitchFamily="34" charset="0"/>
                <a:ea typeface="黑体" panose="02010609060101010101" pitchFamily="49" charset="-122"/>
              </a:rPr>
              <a:t>3</a:t>
            </a:r>
            <a:endParaRPr lang="en-US" altLang="zh-CN" dirty="0">
              <a:solidFill>
                <a:srgbClr val="FFFFFF"/>
              </a:solidFill>
              <a:latin typeface="Arial" panose="020B0604020202020204" pitchFamily="34" charset="0"/>
              <a:ea typeface="黑体" panose="02010609060101010101" pitchFamily="49" charset="-122"/>
            </a:endParaRPr>
          </a:p>
        </p:txBody>
      </p:sp>
      <p:sp>
        <p:nvSpPr>
          <p:cNvPr id="93" name="文本框 92"/>
          <p:cNvSpPr txBox="1"/>
          <p:nvPr>
            <p:custDataLst>
              <p:tags r:id="rId23"/>
            </p:custDataLst>
          </p:nvPr>
        </p:nvSpPr>
        <p:spPr>
          <a:xfrm>
            <a:off x="5034756" y="2172966"/>
            <a:ext cx="2122488" cy="452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b" anchorCtr="0">
            <a:normAutofit fontScale="90000" lnSpcReduction="10000"/>
          </a:bodyPr>
          <a:lstStyle>
            <a:defPPr>
              <a:defRPr lang="zh-CN"/>
            </a:defPPr>
            <a:lvl1pPr>
              <a:defRPr>
                <a:solidFill>
                  <a:srgbClr val="FFFFFF"/>
                </a:solidFill>
                <a:latin typeface="Calibri" panose="020F0502020204030204" charset="0"/>
                <a:ea typeface="微软雅黑" panose="020B0503020204020204" pitchFamily="34" charset="-122"/>
              </a:defRPr>
            </a:lvl1pPr>
          </a:lstStyle>
          <a:p>
            <a:pPr defTabSz="914400">
              <a:spcBef>
                <a:spcPct val="0"/>
              </a:spcBef>
              <a:spcAft>
                <a:spcPct val="0"/>
              </a:spcAft>
              <a:defRPr/>
            </a:pPr>
            <a:r>
              <a:rPr lang="zh-CN" altLang="en-US" sz="2800" noProof="1">
                <a:solidFill>
                  <a:srgbClr val="000000"/>
                </a:solidFill>
                <a:latin typeface="Arial" panose="020B0604020202020204" pitchFamily="34" charset="0"/>
                <a:ea typeface="黑体" panose="02010609060101010101" pitchFamily="49" charset="-122"/>
                <a:cs typeface="+mn-ea"/>
              </a:rPr>
              <a:t>怎么做？</a:t>
            </a:r>
            <a:endParaRPr lang="zh-CN" altLang="en-US" sz="2800" noProof="1">
              <a:solidFill>
                <a:srgbClr val="000000"/>
              </a:solidFill>
              <a:latin typeface="Arial" panose="020B0604020202020204" pitchFamily="34" charset="0"/>
              <a:ea typeface="黑体" panose="02010609060101010101" pitchFamily="49" charset="-122"/>
              <a:cs typeface="+mn-ea"/>
            </a:endParaRPr>
          </a:p>
        </p:txBody>
      </p:sp>
      <p:sp>
        <p:nvSpPr>
          <p:cNvPr id="189464" name="文本框 93"/>
          <p:cNvSpPr txBox="1"/>
          <p:nvPr>
            <p:custDataLst>
              <p:tags r:id="rId24"/>
            </p:custDataLst>
          </p:nvPr>
        </p:nvSpPr>
        <p:spPr>
          <a:xfrm>
            <a:off x="4964112" y="2699250"/>
            <a:ext cx="3394075" cy="982663"/>
          </a:xfrm>
          <a:prstGeom prst="rect">
            <a:avLst/>
          </a:prstGeom>
          <a:noFill/>
          <a:ln w="9525">
            <a:noFill/>
          </a:ln>
        </p:spPr>
        <p:txBody>
          <a:bodyPr wrap="square" anchor="t" anchorCtr="0"/>
          <a:lstStyle/>
          <a:p>
            <a:pPr defTabSz="914400" fontAlgn="base">
              <a:spcBef>
                <a:spcPct val="0"/>
              </a:spcBef>
              <a:spcAft>
                <a:spcPct val="0"/>
              </a:spcAft>
              <a:defRPr/>
            </a:pPr>
            <a:r>
              <a:rPr lang="zh-CN" altLang="en-US" sz="1900" b="1" dirty="0">
                <a:solidFill>
                  <a:srgbClr val="000000"/>
                </a:solidFill>
                <a:latin typeface="仿宋" panose="02010609060101010101" charset="-122"/>
                <a:ea typeface="仿宋" panose="02010609060101010101" charset="-122"/>
              </a:rPr>
              <a:t>被侵权</a:t>
            </a:r>
            <a:r>
              <a:rPr lang="en-US" altLang="zh-CN" sz="1900" b="1" dirty="0">
                <a:solidFill>
                  <a:srgbClr val="000000"/>
                </a:solidFill>
                <a:latin typeface="仿宋" panose="02010609060101010101" charset="-122"/>
                <a:ea typeface="仿宋" panose="02010609060101010101" charset="-122"/>
              </a:rPr>
              <a:t>/</a:t>
            </a:r>
            <a:r>
              <a:rPr lang="zh-CN" altLang="en-US" sz="1900" b="1" dirty="0">
                <a:solidFill>
                  <a:srgbClr val="000000"/>
                </a:solidFill>
                <a:latin typeface="仿宋" panose="02010609060101010101" charset="-122"/>
                <a:ea typeface="仿宋" panose="02010609060101010101" charset="-122"/>
              </a:rPr>
              <a:t>违约人如何维权？</a:t>
            </a:r>
            <a:endParaRPr lang="zh-CN" altLang="en-US" sz="1900" b="1" dirty="0">
              <a:solidFill>
                <a:srgbClr val="000000"/>
              </a:solidFill>
              <a:latin typeface="仿宋" panose="02010609060101010101" charset="-122"/>
              <a:ea typeface="仿宋" panose="02010609060101010101" charset="-122"/>
            </a:endParaRPr>
          </a:p>
          <a:p>
            <a:pPr defTabSz="914400" fontAlgn="base">
              <a:spcBef>
                <a:spcPct val="0"/>
              </a:spcBef>
              <a:spcAft>
                <a:spcPct val="0"/>
              </a:spcAft>
              <a:defRPr/>
            </a:pPr>
            <a:r>
              <a:rPr lang="zh-CN" altLang="en-US" sz="1900" b="1" dirty="0">
                <a:solidFill>
                  <a:srgbClr val="000000"/>
                </a:solidFill>
                <a:latin typeface="仿宋" panose="02010609060101010101" charset="-122"/>
                <a:ea typeface="仿宋" panose="02010609060101010101" charset="-122"/>
              </a:rPr>
              <a:t>侵权</a:t>
            </a:r>
            <a:r>
              <a:rPr lang="en-US" altLang="zh-CN" sz="1900" b="1" dirty="0">
                <a:solidFill>
                  <a:srgbClr val="000000"/>
                </a:solidFill>
                <a:latin typeface="仿宋" panose="02010609060101010101" charset="-122"/>
                <a:ea typeface="仿宋" panose="02010609060101010101" charset="-122"/>
              </a:rPr>
              <a:t>/</a:t>
            </a:r>
            <a:r>
              <a:rPr lang="zh-CN" altLang="en-US" sz="1900" b="1" dirty="0">
                <a:solidFill>
                  <a:srgbClr val="000000"/>
                </a:solidFill>
                <a:latin typeface="仿宋" panose="02010609060101010101" charset="-122"/>
                <a:ea typeface="仿宋" panose="02010609060101010101" charset="-122"/>
              </a:rPr>
              <a:t>违约人应如何承担责任？</a:t>
            </a:r>
            <a:endParaRPr lang="zh-CN" altLang="en-US" sz="1900" b="1" dirty="0">
              <a:solidFill>
                <a:srgbClr val="000000"/>
              </a:solidFill>
              <a:latin typeface="仿宋" panose="02010609060101010101" charset="-122"/>
              <a:ea typeface="仿宋" panose="02010609060101010101" charset="-122"/>
            </a:endParaRPr>
          </a:p>
          <a:p>
            <a:pPr defTabSz="914400" fontAlgn="base">
              <a:spcBef>
                <a:spcPct val="0"/>
              </a:spcBef>
              <a:spcAft>
                <a:spcPct val="0"/>
              </a:spcAft>
              <a:defRPr/>
            </a:pPr>
            <a:r>
              <a:rPr lang="zh-CN" altLang="en-US" sz="1900" b="1" dirty="0">
                <a:solidFill>
                  <a:srgbClr val="000000"/>
                </a:solidFill>
                <a:latin typeface="仿宋" panose="02010609060101010101" charset="-122"/>
                <a:ea typeface="仿宋" panose="02010609060101010101" charset="-122"/>
              </a:rPr>
              <a:t>司法机关如何司法？</a:t>
            </a:r>
            <a:endParaRPr lang="zh-CN" altLang="en-US" sz="1900" b="1" dirty="0">
              <a:solidFill>
                <a:srgbClr val="000000"/>
              </a:solidFill>
              <a:latin typeface="仿宋" panose="02010609060101010101" charset="-122"/>
              <a:ea typeface="仿宋" panose="02010609060101010101" charset="-122"/>
            </a:endParaRPr>
          </a:p>
        </p:txBody>
      </p:sp>
      <p:sp>
        <p:nvSpPr>
          <p:cNvPr id="189465" name="文本框 4"/>
          <p:cNvSpPr txBox="1"/>
          <p:nvPr/>
        </p:nvSpPr>
        <p:spPr>
          <a:xfrm>
            <a:off x="1333500" y="2654300"/>
            <a:ext cx="3463925" cy="969496"/>
          </a:xfrm>
          <a:prstGeom prst="rect">
            <a:avLst/>
          </a:prstGeom>
          <a:noFill/>
          <a:ln w="9525">
            <a:noFill/>
          </a:ln>
        </p:spPr>
        <p:txBody>
          <a:bodyPr wrap="square" anchor="t" anchorCtr="0">
            <a:spAutoFit/>
          </a:bodyPr>
          <a:lstStyle/>
          <a:p>
            <a:pPr defTabSz="914400" fontAlgn="base">
              <a:spcBef>
                <a:spcPct val="0"/>
              </a:spcBef>
              <a:spcAft>
                <a:spcPct val="0"/>
              </a:spcAft>
              <a:defRPr/>
            </a:pPr>
            <a:r>
              <a:rPr lang="zh-CN" altLang="en-US" sz="1900" b="1" dirty="0">
                <a:solidFill>
                  <a:srgbClr val="000000"/>
                </a:solidFill>
                <a:latin typeface="仿宋" panose="02010609060101010101" charset="-122"/>
                <a:ea typeface="仿宋" panose="02010609060101010101" charset="-122"/>
              </a:rPr>
              <a:t>民法的基本原则；</a:t>
            </a:r>
            <a:endParaRPr lang="zh-CN" altLang="en-US" sz="1900" b="1" dirty="0">
              <a:solidFill>
                <a:srgbClr val="000000"/>
              </a:solidFill>
              <a:latin typeface="仿宋" panose="02010609060101010101" charset="-122"/>
              <a:ea typeface="仿宋" panose="02010609060101010101" charset="-122"/>
            </a:endParaRPr>
          </a:p>
          <a:p>
            <a:pPr defTabSz="914400" fontAlgn="base">
              <a:spcBef>
                <a:spcPct val="0"/>
              </a:spcBef>
              <a:spcAft>
                <a:spcPct val="0"/>
              </a:spcAft>
              <a:defRPr/>
            </a:pPr>
            <a:r>
              <a:rPr lang="zh-CN" altLang="en-US" sz="1900" b="1" dirty="0">
                <a:solidFill>
                  <a:srgbClr val="000000"/>
                </a:solidFill>
                <a:latin typeface="仿宋" panose="02010609060101010101" charset="-122"/>
                <a:ea typeface="仿宋" panose="02010609060101010101" charset="-122"/>
              </a:rPr>
              <a:t>XX法保护公民的XX权利；</a:t>
            </a:r>
            <a:endParaRPr lang="zh-CN" altLang="en-US" sz="1900" b="1" dirty="0">
              <a:solidFill>
                <a:srgbClr val="000000"/>
              </a:solidFill>
              <a:latin typeface="仿宋" panose="02010609060101010101" charset="-122"/>
              <a:ea typeface="仿宋" panose="02010609060101010101" charset="-122"/>
            </a:endParaRPr>
          </a:p>
          <a:p>
            <a:pPr defTabSz="914400" fontAlgn="base">
              <a:spcBef>
                <a:spcPct val="0"/>
              </a:spcBef>
              <a:spcAft>
                <a:spcPct val="0"/>
              </a:spcAft>
              <a:defRPr/>
            </a:pPr>
            <a:r>
              <a:rPr lang="zh-CN" altLang="en-US" sz="1900" b="1" dirty="0">
                <a:solidFill>
                  <a:srgbClr val="000000"/>
                </a:solidFill>
                <a:latin typeface="仿宋" panose="02010609060101010101" charset="-122"/>
                <a:ea typeface="仿宋" panose="02010609060101010101" charset="-122"/>
              </a:rPr>
              <a:t>引用材料中的相关法条</a:t>
            </a:r>
            <a:endParaRPr lang="zh-CN" altLang="en-US" sz="1900" b="1" dirty="0">
              <a:solidFill>
                <a:srgbClr val="000000"/>
              </a:solidFill>
              <a:latin typeface="仿宋" panose="02010609060101010101" charset="-122"/>
              <a:ea typeface="仿宋" panose="02010609060101010101" charset="-122"/>
            </a:endParaRPr>
          </a:p>
        </p:txBody>
      </p:sp>
      <p:sp>
        <p:nvSpPr>
          <p:cNvPr id="2" name="文本框 1"/>
          <p:cNvSpPr txBox="1"/>
          <p:nvPr>
            <p:custDataLst>
              <p:tags r:id="rId25"/>
            </p:custDataLst>
          </p:nvPr>
        </p:nvSpPr>
        <p:spPr>
          <a:xfrm>
            <a:off x="422547" y="192776"/>
            <a:ext cx="5546454" cy="584727"/>
          </a:xfrm>
          <a:prstGeom prst="rect">
            <a:avLst/>
          </a:prstGeom>
          <a:noFill/>
          <a:extLst>
            <a:ext uri="{909E8E84-426E-40DD-AFC4-6F175D3DCCD1}">
              <a14:hiddenFill xmlns:a14="http://schemas.microsoft.com/office/drawing/2010/main">
                <a:solidFill>
                  <a:schemeClr val="accent1">
                    <a:lumMod val="40000"/>
                    <a:lumOff val="60000"/>
                  </a:schemeClr>
                </a:solidFill>
              </a14:hiddenFill>
            </a:ext>
          </a:extLst>
        </p:spPr>
        <p:txBody>
          <a:bodyPr wrap="square" lIns="91392" tIns="45696" rIns="91392" bIns="45696" rtlCol="0">
            <a:spAutoFit/>
          </a:bodyPr>
          <a:lstStyle/>
          <a:p>
            <a:pPr defTabSz="913765">
              <a:defRPr/>
            </a:pPr>
            <a:r>
              <a:rPr lang="zh-CN" altLang="en-US" sz="3200" b="1" kern="0" dirty="0">
                <a:solidFill>
                  <a:prstClr val="black"/>
                </a:solidFill>
                <a:latin typeface="黑体" panose="02010609060101010101" pitchFamily="49" charset="-122"/>
                <a:ea typeface="黑体" panose="02010609060101010101" pitchFamily="49" charset="-122"/>
                <a:sym typeface="Calibri" panose="020F0502020204030204"/>
              </a:rPr>
              <a:t>法院判决的典型意义类</a:t>
            </a:r>
            <a:endParaRPr lang="zh-CN" altLang="en-US" sz="3200" b="1" dirty="0">
              <a:solidFill>
                <a:prstClr val="black"/>
              </a:solidFill>
              <a:latin typeface="黑体" panose="02010609060101010101" pitchFamily="49" charset="-122"/>
              <a:ea typeface="黑体" panose="02010609060101010101" pitchFamily="49" charset="-122"/>
              <a:cs typeface="宋体" panose="02010600030101010101" pitchFamily="2" charset="-122"/>
              <a:sym typeface="+mn-ea"/>
            </a:endParaRPr>
          </a:p>
        </p:txBody>
      </p:sp>
      <p:sp>
        <p:nvSpPr>
          <p:cNvPr id="4" name="文本框 3"/>
          <p:cNvSpPr txBox="1"/>
          <p:nvPr/>
        </p:nvSpPr>
        <p:spPr>
          <a:xfrm>
            <a:off x="2063553" y="804077"/>
            <a:ext cx="9514408" cy="1241237"/>
          </a:xfrm>
          <a:prstGeom prst="rect">
            <a:avLst/>
          </a:prstGeom>
          <a:noFill/>
        </p:spPr>
        <p:txBody>
          <a:bodyPr wrap="square">
            <a:spAutoFit/>
          </a:bodyPr>
          <a:lstStyle/>
          <a:p>
            <a:pPr defTabSz="1219200">
              <a:defRPr/>
            </a:pPr>
            <a:r>
              <a:rPr lang="zh-CN" altLang="en-US" sz="3735" b="1" dirty="0">
                <a:solidFill>
                  <a:srgbClr val="FF0000"/>
                </a:solidFill>
                <a:latin typeface="黑体" panose="02010609060101010101" pitchFamily="49" charset="-122"/>
                <a:ea typeface="黑体" panose="02010609060101010101" pitchFamily="49" charset="-122"/>
                <a:cs typeface="楷体" panose="02010609060101010101" pitchFamily="49" charset="-122"/>
                <a:sym typeface="+mn-ea"/>
              </a:rPr>
              <a:t>     前因      </a:t>
            </a:r>
            <a:r>
              <a:rPr lang="en-US" altLang="zh-CN" sz="3735" b="1" dirty="0">
                <a:solidFill>
                  <a:srgbClr val="FF0000"/>
                </a:solidFill>
                <a:latin typeface="黑体" panose="02010609060101010101" pitchFamily="49" charset="-122"/>
                <a:ea typeface="黑体" panose="02010609060101010101" pitchFamily="49" charset="-122"/>
                <a:cs typeface="楷体" panose="02010609060101010101" pitchFamily="49" charset="-122"/>
                <a:sym typeface="+mn-ea"/>
              </a:rPr>
              <a:t>+    </a:t>
            </a:r>
            <a:r>
              <a:rPr lang="zh-CN" altLang="en-US" sz="3735" b="1" dirty="0">
                <a:solidFill>
                  <a:srgbClr val="FF0000"/>
                </a:solidFill>
                <a:latin typeface="黑体" panose="02010609060101010101" pitchFamily="49" charset="-122"/>
                <a:ea typeface="黑体" panose="02010609060101010101" pitchFamily="49" charset="-122"/>
                <a:cs typeface="楷体" panose="02010609060101010101" pitchFamily="49" charset="-122"/>
                <a:sym typeface="+mn-ea"/>
              </a:rPr>
              <a:t>       </a:t>
            </a:r>
            <a:r>
              <a:rPr lang="zh-CN" altLang="en-US" sz="3735" b="1" dirty="0">
                <a:solidFill>
                  <a:srgbClr val="FF0000"/>
                </a:solidFill>
                <a:latin typeface="黑体" panose="02010609060101010101" pitchFamily="49" charset="-122"/>
                <a:ea typeface="黑体" panose="02010609060101010101" pitchFamily="49" charset="-122"/>
                <a:cs typeface="Arial" panose="020B0604020202020204"/>
                <a:sym typeface="Calibri" panose="020F0502020204030204"/>
              </a:rPr>
              <a:t>意义或影响</a:t>
            </a:r>
            <a:endParaRPr lang="zh-CN" altLang="en-US" sz="3735" dirty="0">
              <a:solidFill>
                <a:prstClr val="black"/>
              </a:solidFill>
              <a:latin typeface="Arial" panose="020B0604020202020204"/>
              <a:ea typeface="微软雅黑" panose="020B0503020204020204" pitchFamily="34" charset="-122"/>
            </a:endParaRPr>
          </a:p>
          <a:p>
            <a:pPr defTabSz="1219200">
              <a:defRPr/>
            </a:pPr>
            <a:endParaRPr lang="zh-CN" altLang="en-US" sz="3735" dirty="0">
              <a:solidFill>
                <a:prstClr val="black"/>
              </a:solidFill>
              <a:latin typeface="Arial" panose="020B0604020202020204"/>
              <a:ea typeface="微软雅黑" panose="020B0503020204020204" pitchFamily="34" charset="-122"/>
            </a:endParaRPr>
          </a:p>
        </p:txBody>
      </p:sp>
      <p:sp>
        <p:nvSpPr>
          <p:cNvPr id="12" name="文本框 11"/>
          <p:cNvSpPr txBox="1"/>
          <p:nvPr/>
        </p:nvSpPr>
        <p:spPr>
          <a:xfrm>
            <a:off x="422547" y="2163740"/>
            <a:ext cx="7865097" cy="461665"/>
          </a:xfrm>
          <a:prstGeom prst="rect">
            <a:avLst/>
          </a:prstGeom>
          <a:noFill/>
          <a:ln>
            <a:solidFill>
              <a:schemeClr val="tx1"/>
            </a:solidFill>
          </a:ln>
        </p:spPr>
        <p:txBody>
          <a:bodyPr wrap="square" rtlCol="0">
            <a:spAutoFit/>
          </a:bodyPr>
          <a:lstStyle/>
          <a:p>
            <a:pPr defTabSz="1219200">
              <a:defRPr/>
            </a:pPr>
            <a:endParaRPr lang="zh-CN" altLang="en-US" sz="2400" dirty="0">
              <a:solidFill>
                <a:prstClr val="black"/>
              </a:solidFill>
              <a:latin typeface="Arial" panose="020B0604020202020204"/>
              <a:ea typeface="微软雅黑" panose="020B0503020204020204" pitchFamily="34" charset="-122"/>
            </a:endParaRPr>
          </a:p>
        </p:txBody>
      </p:sp>
      <p:sp>
        <p:nvSpPr>
          <p:cNvPr id="13" name="箭头: 下 12"/>
          <p:cNvSpPr/>
          <p:nvPr/>
        </p:nvSpPr>
        <p:spPr>
          <a:xfrm>
            <a:off x="3670301" y="1407800"/>
            <a:ext cx="307841" cy="347195"/>
          </a:xfrm>
          <a:prstGeom prst="downArrow">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219200">
              <a:defRPr/>
            </a:pPr>
            <a:endParaRPr lang="zh-CN" altLang="en-US" sz="2400">
              <a:solidFill>
                <a:prstClr val="white"/>
              </a:solidFill>
              <a:latin typeface="Arial" panose="020B0604020202020204"/>
              <a:ea typeface="微软雅黑" panose="020B0503020204020204" pitchFamily="34" charset="-122"/>
            </a:endParaRPr>
          </a:p>
        </p:txBody>
      </p:sp>
      <p:sp>
        <p:nvSpPr>
          <p:cNvPr id="14" name="箭头: 下 13"/>
          <p:cNvSpPr/>
          <p:nvPr/>
        </p:nvSpPr>
        <p:spPr>
          <a:xfrm>
            <a:off x="9687283" y="1581490"/>
            <a:ext cx="441165" cy="1657012"/>
          </a:xfrm>
          <a:prstGeom prst="downArrow">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219200">
              <a:defRPr/>
            </a:pPr>
            <a:endParaRPr lang="zh-CN" altLang="en-US" sz="2400">
              <a:solidFill>
                <a:prstClr val="white"/>
              </a:solidFill>
              <a:latin typeface="Arial" panose="020B0604020202020204"/>
              <a:ea typeface="微软雅黑" panose="020B0503020204020204" pitchFamily="34" charset="-122"/>
            </a:endParaRPr>
          </a:p>
        </p:txBody>
      </p:sp>
      <p:sp>
        <p:nvSpPr>
          <p:cNvPr id="17" name="矩形 16"/>
          <p:cNvSpPr/>
          <p:nvPr/>
        </p:nvSpPr>
        <p:spPr>
          <a:xfrm>
            <a:off x="8161996" y="4240972"/>
            <a:ext cx="3932903" cy="244247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219200">
              <a:defRPr/>
            </a:pPr>
            <a:endParaRPr lang="zh-CN" altLang="en-US" sz="2400">
              <a:solidFill>
                <a:prstClr val="white"/>
              </a:solidFill>
              <a:latin typeface="Arial" panose="020B0604020202020204"/>
              <a:ea typeface="微软雅黑" panose="020B0503020204020204" pitchFamily="34" charset="-122"/>
            </a:endParaRPr>
          </a:p>
        </p:txBody>
      </p:sp>
      <p:sp>
        <p:nvSpPr>
          <p:cNvPr id="3" name="对话气泡: 圆角矩形 2"/>
          <p:cNvSpPr/>
          <p:nvPr/>
        </p:nvSpPr>
        <p:spPr>
          <a:xfrm>
            <a:off x="873920" y="1083950"/>
            <a:ext cx="1746250" cy="647700"/>
          </a:xfrm>
          <a:prstGeom prst="wedgeRoundRectCallout">
            <a:avLst>
              <a:gd name="adj1" fmla="val 45019"/>
              <a:gd name="adj2" fmla="val 109132"/>
              <a:gd name="adj3" fmla="val 16667"/>
            </a:avLst>
          </a:prstGeom>
          <a:gradFill flip="none" rotWithShape="1">
            <a:gsLst>
              <a:gs pos="100000">
                <a:schemeClr val="accent1"/>
              </a:gs>
              <a:gs pos="0">
                <a:schemeClr val="accent1">
                  <a:lumMod val="7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t>理论原因</a:t>
            </a:r>
            <a:endParaRPr lang="zh-CN" altLang="en-US" sz="2400" b="1" dirty="0"/>
          </a:p>
        </p:txBody>
      </p:sp>
      <p:sp>
        <p:nvSpPr>
          <p:cNvPr id="5" name="对话气泡: 圆角矩形 4"/>
          <p:cNvSpPr/>
          <p:nvPr/>
        </p:nvSpPr>
        <p:spPr>
          <a:xfrm>
            <a:off x="5567030" y="4044424"/>
            <a:ext cx="1746250" cy="647700"/>
          </a:xfrm>
          <a:prstGeom prst="wedgeRoundRectCallout">
            <a:avLst>
              <a:gd name="adj1" fmla="val -79344"/>
              <a:gd name="adj2" fmla="val 58152"/>
              <a:gd name="adj3" fmla="val 16667"/>
            </a:avLst>
          </a:prstGeom>
          <a:gradFill flip="none" rotWithShape="1">
            <a:gsLst>
              <a:gs pos="100000">
                <a:schemeClr val="accent1"/>
              </a:gs>
              <a:gs pos="0">
                <a:schemeClr val="accent1">
                  <a:lumMod val="7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t>现实原因</a:t>
            </a:r>
            <a:endParaRPr lang="zh-CN" altLang="en-US" sz="24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0" y="534004"/>
            <a:ext cx="11897474" cy="5632311"/>
          </a:xfrm>
          <a:prstGeom prst="rect">
            <a:avLst/>
          </a:prstGeom>
          <a:solidFill>
            <a:schemeClr val="bg1"/>
          </a:solidFill>
        </p:spPr>
        <p:txBody>
          <a:bodyPr wrap="square">
            <a:spAutoFit/>
          </a:bodyPr>
          <a:lstStyle/>
          <a:p>
            <a:pPr algn="just"/>
            <a:r>
              <a:rPr lang="zh-CN" altLang="zh-CN" sz="1800" b="1" kern="100" dirty="0">
                <a:effectLst/>
                <a:latin typeface="等线" panose="02010600030101010101" charset="-122"/>
                <a:ea typeface="宋体" panose="02010600030101010101" pitchFamily="2" charset="-122"/>
                <a:cs typeface="Times New Roman" panose="02020603050405020304" pitchFamily="18" charset="0"/>
              </a:rPr>
              <a:t>评分细则：</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a:p>
            <a:pPr indent="266700" algn="just"/>
            <a:r>
              <a:rPr lang="zh-CN" altLang="zh-CN" sz="1800" b="1" kern="100" dirty="0">
                <a:effectLst/>
                <a:latin typeface="等线" panose="02010600030101010101" charset="-122"/>
                <a:ea typeface="微软雅黑" panose="020B0503020204020204" pitchFamily="34" charset="-122"/>
                <a:cs typeface="Times New Roman" panose="02020603050405020304" pitchFamily="18" charset="0"/>
              </a:rPr>
              <a:t>总述（</a:t>
            </a:r>
            <a:r>
              <a:rPr lang="en-US" altLang="zh-CN" sz="1800" b="1" kern="100" dirty="0">
                <a:effectLst/>
                <a:latin typeface="等线" panose="02010600030101010101" charset="-122"/>
                <a:ea typeface="微软雅黑" panose="020B0503020204020204" pitchFamily="34" charset="-122"/>
                <a:cs typeface="Times New Roman" panose="02020603050405020304" pitchFamily="18" charset="0"/>
              </a:rPr>
              <a:t>1</a:t>
            </a:r>
            <a:r>
              <a:rPr lang="zh-CN" altLang="zh-CN" sz="1800" b="1" kern="100" dirty="0">
                <a:effectLst/>
                <a:latin typeface="等线" panose="02010600030101010101" charset="-122"/>
                <a:ea typeface="微软雅黑" panose="020B0503020204020204" pitchFamily="34" charset="-122"/>
                <a:cs typeface="Times New Roman" panose="02020603050405020304" pitchFamily="18" charset="0"/>
              </a:rPr>
              <a:t>分）</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a:p>
            <a:pPr indent="267970" algn="just"/>
            <a:r>
              <a:rPr lang="zh-CN" altLang="zh-CN" sz="1800" b="1" kern="100" dirty="0">
                <a:effectLst/>
                <a:latin typeface="等线" panose="02010600030101010101" charset="-122"/>
                <a:ea typeface="宋体" panose="02010600030101010101" pitchFamily="2" charset="-122"/>
                <a:cs typeface="宋体" panose="02010600030101010101" pitchFamily="2" charset="-122"/>
              </a:rPr>
              <a:t>社会主义市场经济本质上是法治经济。</a:t>
            </a:r>
            <a:r>
              <a:rPr lang="zh-CN" altLang="zh-CN" sz="1800" b="1" kern="100" dirty="0">
                <a:solidFill>
                  <a:srgbClr val="FF0000"/>
                </a:solidFill>
                <a:effectLst/>
                <a:latin typeface="等线" panose="02010600030101010101" charset="-122"/>
                <a:ea typeface="宋体" panose="02010600030101010101" pitchFamily="2" charset="-122"/>
                <a:cs typeface="宋体" panose="02010600030101010101" pitchFamily="2" charset="-122"/>
              </a:rPr>
              <a:t>民法典将诚信原则确立为基本原则之一，凸显了社会主义核心价值观</a:t>
            </a:r>
            <a:r>
              <a:rPr lang="zh-CN" altLang="zh-CN" sz="1800" b="1" kern="100" dirty="0">
                <a:effectLst/>
                <a:latin typeface="等线" panose="02010600030101010101" charset="-122"/>
                <a:ea typeface="宋体" panose="02010600030101010101" pitchFamily="2" charset="-122"/>
                <a:cs typeface="宋体" panose="02010600030101010101" pitchFamily="2" charset="-122"/>
              </a:rPr>
              <a:t>对社会主义市场经济建设的引导和规范。</a:t>
            </a:r>
            <a:r>
              <a:rPr lang="zh-CN" altLang="zh-CN" sz="1800" b="1" kern="100" dirty="0">
                <a:effectLst/>
                <a:latin typeface="等线" panose="02010600030101010101" charset="-122"/>
                <a:ea typeface="宋体" panose="02010600030101010101" pitchFamily="2" charset="-122"/>
                <a:cs typeface="Times New Roman" panose="02020603050405020304" pitchFamily="18" charset="0"/>
              </a:rPr>
              <a:t>（</a:t>
            </a:r>
            <a:r>
              <a:rPr lang="zh-CN" altLang="zh-CN" sz="1800" b="1" kern="100" dirty="0">
                <a:solidFill>
                  <a:srgbClr val="FF0000"/>
                </a:solidFill>
                <a:effectLst/>
                <a:latin typeface="等线" panose="02010600030101010101" charset="-122"/>
                <a:ea typeface="宋体" panose="02010600030101010101" pitchFamily="2" charset="-122"/>
                <a:cs typeface="宋体" panose="02010600030101010101" pitchFamily="2" charset="-122"/>
              </a:rPr>
              <a:t>民法典将诚信原则确立为基本原则之一</a:t>
            </a:r>
            <a:r>
              <a:rPr lang="en-US" altLang="zh-CN" sz="1800" b="1" kern="100" dirty="0">
                <a:solidFill>
                  <a:srgbClr val="FF0000"/>
                </a:solidFill>
                <a:effectLst/>
                <a:latin typeface="等线" panose="02010600030101010101" charset="-122"/>
                <a:ea typeface="宋体" panose="02010600030101010101" pitchFamily="2" charset="-122"/>
                <a:cs typeface="宋体" panose="02010600030101010101" pitchFamily="2" charset="-122"/>
              </a:rPr>
              <a:t>/</a:t>
            </a:r>
            <a:r>
              <a:rPr lang="zh-CN" altLang="zh-CN" sz="1800" b="1" kern="100" dirty="0">
                <a:solidFill>
                  <a:srgbClr val="FF0000"/>
                </a:solidFill>
                <a:effectLst/>
                <a:latin typeface="等线" panose="02010600030101010101" charset="-122"/>
                <a:ea typeface="宋体" panose="02010600030101010101" pitchFamily="2" charset="-122"/>
                <a:cs typeface="宋体" panose="02010600030101010101" pitchFamily="2" charset="-122"/>
              </a:rPr>
              <a:t>凸显了社会主义核心价值观</a:t>
            </a:r>
            <a:r>
              <a:rPr lang="en-US" altLang="zh-CN" sz="1800" b="1" kern="100" dirty="0">
                <a:solidFill>
                  <a:srgbClr val="FF0000"/>
                </a:solidFill>
                <a:effectLst/>
                <a:latin typeface="等线" panose="02010600030101010101" charset="-122"/>
                <a:ea typeface="宋体" panose="02010600030101010101" pitchFamily="2" charset="-122"/>
                <a:cs typeface="宋体" panose="02010600030101010101" pitchFamily="2" charset="-122"/>
              </a:rPr>
              <a:t>/</a:t>
            </a:r>
            <a:r>
              <a:rPr lang="zh-CN" altLang="zh-CN" sz="1800" b="1" kern="100" dirty="0">
                <a:solidFill>
                  <a:srgbClr val="FF0000"/>
                </a:solidFill>
                <a:effectLst/>
                <a:latin typeface="等线" panose="02010600030101010101" charset="-122"/>
                <a:ea typeface="宋体" panose="02010600030101010101" pitchFamily="2" charset="-122"/>
                <a:cs typeface="宋体" panose="02010600030101010101" pitchFamily="2" charset="-122"/>
              </a:rPr>
              <a:t>坚持法治和德治相结合，均可给</a:t>
            </a:r>
            <a:r>
              <a:rPr lang="en-US" altLang="zh-CN" sz="1800" b="1" kern="100" dirty="0">
                <a:solidFill>
                  <a:srgbClr val="FF0000"/>
                </a:solidFill>
                <a:effectLst/>
                <a:latin typeface="等线" panose="02010600030101010101" charset="-122"/>
                <a:ea typeface="宋体" panose="02010600030101010101" pitchFamily="2" charset="-122"/>
                <a:cs typeface="宋体" panose="02010600030101010101" pitchFamily="2" charset="-122"/>
              </a:rPr>
              <a:t>1</a:t>
            </a:r>
            <a:r>
              <a:rPr lang="zh-CN" altLang="zh-CN" sz="1800" b="1" kern="100" dirty="0">
                <a:solidFill>
                  <a:srgbClr val="FF0000"/>
                </a:solidFill>
                <a:effectLst/>
                <a:latin typeface="等线" panose="02010600030101010101" charset="-122"/>
                <a:ea typeface="宋体" panose="02010600030101010101" pitchFamily="2" charset="-122"/>
                <a:cs typeface="宋体" panose="02010600030101010101" pitchFamily="2" charset="-122"/>
              </a:rPr>
              <a:t>分</a:t>
            </a:r>
            <a:r>
              <a:rPr lang="zh-CN" altLang="zh-CN" sz="1800" b="1" kern="100" dirty="0">
                <a:effectLst/>
                <a:latin typeface="等线" panose="02010600030101010101" charset="-122"/>
                <a:ea typeface="宋体" panose="02010600030101010101" pitchFamily="2" charset="-122"/>
                <a:cs typeface="Times New Roman" panose="02020603050405020304" pitchFamily="18" charset="0"/>
              </a:rPr>
              <a:t>）</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a:p>
            <a:pPr indent="266700" algn="just"/>
            <a:r>
              <a:rPr lang="zh-CN" altLang="zh-CN" sz="1800" b="1" kern="100" dirty="0">
                <a:effectLst/>
                <a:latin typeface="等线" panose="02010600030101010101" charset="-122"/>
                <a:ea typeface="微软雅黑" panose="020B0503020204020204" pitchFamily="34" charset="-122"/>
                <a:cs typeface="Times New Roman" panose="02020603050405020304" pitchFamily="18" charset="0"/>
              </a:rPr>
              <a:t>分述（</a:t>
            </a:r>
            <a:r>
              <a:rPr lang="en-US" altLang="zh-CN" sz="1800" b="1" kern="100" dirty="0">
                <a:effectLst/>
                <a:latin typeface="等线" panose="02010600030101010101" charset="-122"/>
                <a:ea typeface="微软雅黑" panose="020B0503020204020204" pitchFamily="34" charset="-122"/>
                <a:cs typeface="Times New Roman" panose="02020603050405020304" pitchFamily="18" charset="0"/>
              </a:rPr>
              <a:t>6</a:t>
            </a:r>
            <a:r>
              <a:rPr lang="zh-CN" altLang="zh-CN" sz="1800" b="1" kern="100" dirty="0">
                <a:effectLst/>
                <a:latin typeface="等线" panose="02010600030101010101" charset="-122"/>
                <a:ea typeface="微软雅黑" panose="020B0503020204020204" pitchFamily="34" charset="-122"/>
                <a:cs typeface="Times New Roman" panose="02020603050405020304" pitchFamily="18" charset="0"/>
              </a:rPr>
              <a:t>分）</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a:p>
            <a:pPr indent="267970" algn="just"/>
            <a:r>
              <a:rPr lang="zh-CN" altLang="zh-CN" sz="1800" b="1" kern="100" dirty="0">
                <a:effectLst/>
                <a:highlight>
                  <a:srgbClr val="FFFF00"/>
                </a:highlight>
                <a:latin typeface="等线" panose="02010600030101010101" charset="-122"/>
                <a:ea typeface="宋体" panose="02010600030101010101" pitchFamily="2" charset="-122"/>
                <a:cs typeface="宋体" panose="02010600030101010101" pitchFamily="2" charset="-122"/>
              </a:rPr>
              <a:t>角度一：诚信原则要求（</a:t>
            </a:r>
            <a:r>
              <a:rPr lang="en-US" altLang="zh-CN" sz="1800" b="1" kern="100" dirty="0">
                <a:effectLst/>
                <a:highlight>
                  <a:srgbClr val="FFFF00"/>
                </a:highlight>
                <a:latin typeface="等线" panose="02010600030101010101" charset="-122"/>
                <a:ea typeface="宋体" panose="02010600030101010101" pitchFamily="2" charset="-122"/>
                <a:cs typeface="宋体" panose="02010600030101010101" pitchFamily="2" charset="-122"/>
              </a:rPr>
              <a:t>1</a:t>
            </a:r>
            <a:r>
              <a:rPr lang="zh-CN" altLang="zh-CN" sz="1800" b="1" kern="100" dirty="0">
                <a:effectLst/>
                <a:highlight>
                  <a:srgbClr val="FFFF00"/>
                </a:highlight>
                <a:latin typeface="等线" panose="02010600030101010101" charset="-122"/>
                <a:ea typeface="宋体" panose="02010600030101010101" pitchFamily="2" charset="-122"/>
                <a:cs typeface="宋体" panose="02010600030101010101" pitchFamily="2" charset="-122"/>
              </a:rPr>
              <a:t>分）</a:t>
            </a:r>
            <a:r>
              <a:rPr lang="en-US" altLang="zh-CN" sz="1800" b="1" kern="100" dirty="0">
                <a:effectLst/>
                <a:highlight>
                  <a:srgbClr val="FFFF00"/>
                </a:highlight>
                <a:latin typeface="等线" panose="02010600030101010101" charset="-122"/>
                <a:ea typeface="宋体" panose="02010600030101010101" pitchFamily="2" charset="-122"/>
                <a:cs typeface="宋体" panose="02010600030101010101" pitchFamily="2" charset="-122"/>
              </a:rPr>
              <a:t>+</a:t>
            </a:r>
            <a:r>
              <a:rPr lang="zh-CN" altLang="zh-CN" sz="1800" b="1" kern="100" dirty="0">
                <a:effectLst/>
                <a:highlight>
                  <a:srgbClr val="FFFF00"/>
                </a:highlight>
                <a:latin typeface="等线" panose="02010600030101010101" charset="-122"/>
                <a:ea typeface="宋体" panose="02010600030101010101" pitchFamily="2" charset="-122"/>
                <a:cs typeface="宋体" panose="02010600030101010101" pitchFamily="2" charset="-122"/>
              </a:rPr>
              <a:t>有利于（</a:t>
            </a:r>
            <a:r>
              <a:rPr lang="en-US" altLang="zh-CN" sz="1800" b="1" kern="100" dirty="0">
                <a:effectLst/>
                <a:highlight>
                  <a:srgbClr val="FFFF00"/>
                </a:highlight>
                <a:latin typeface="宋体" panose="02010600030101010101" pitchFamily="2" charset="-122"/>
                <a:ea typeface="等线" panose="02010600030101010101" charset="-122"/>
                <a:cs typeface="华文楷体" panose="02010600040101010101" pitchFamily="2" charset="-122"/>
              </a:rPr>
              <a:t>2</a:t>
            </a:r>
            <a:r>
              <a:rPr lang="zh-CN" altLang="zh-CN" sz="1800" b="1" kern="100" dirty="0">
                <a:effectLst/>
                <a:highlight>
                  <a:srgbClr val="FFFF00"/>
                </a:highlight>
                <a:latin typeface="等线" panose="02010600030101010101" charset="-122"/>
                <a:ea typeface="宋体" panose="02010600030101010101" pitchFamily="2" charset="-122"/>
                <a:cs typeface="华文楷体" panose="02010600040101010101" pitchFamily="2" charset="-122"/>
              </a:rPr>
              <a:t>分</a:t>
            </a:r>
            <a:r>
              <a:rPr lang="zh-CN" altLang="zh-CN" sz="1800" b="1" kern="100" dirty="0">
                <a:effectLst/>
                <a:highlight>
                  <a:srgbClr val="FFFF00"/>
                </a:highlight>
                <a:latin typeface="等线" panose="02010600030101010101" charset="-122"/>
                <a:ea typeface="宋体" panose="02010600030101010101" pitchFamily="2" charset="-122"/>
                <a:cs typeface="宋体" panose="02010600030101010101" pitchFamily="2" charset="-122"/>
              </a:rPr>
              <a:t>）</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a:p>
            <a:pPr indent="267970" algn="just"/>
            <a:r>
              <a:rPr lang="zh-CN" altLang="zh-CN" sz="1800" b="1" kern="100" dirty="0">
                <a:effectLst/>
                <a:latin typeface="等线" panose="02010600030101010101" charset="-122"/>
                <a:ea typeface="宋体" panose="02010600030101010101" pitchFamily="2" charset="-122"/>
                <a:cs typeface="宋体" panose="02010600030101010101" pitchFamily="2" charset="-122"/>
              </a:rPr>
              <a:t>诚信原则要求合同当事人按照约定</a:t>
            </a:r>
            <a:r>
              <a:rPr lang="zh-CN" altLang="zh-CN" sz="1800" b="1" kern="100" dirty="0">
                <a:solidFill>
                  <a:srgbClr val="FF0000"/>
                </a:solidFill>
                <a:effectLst/>
                <a:latin typeface="等线" panose="02010600030101010101" charset="-122"/>
                <a:ea typeface="宋体" panose="02010600030101010101" pitchFamily="2" charset="-122"/>
                <a:cs typeface="宋体" panose="02010600030101010101" pitchFamily="2" charset="-122"/>
              </a:rPr>
              <a:t>全面履行义务</a:t>
            </a:r>
            <a:r>
              <a:rPr lang="zh-CN" altLang="zh-CN" sz="1800" b="1" kern="100" dirty="0">
                <a:effectLst/>
                <a:latin typeface="等线" panose="02010600030101010101" charset="-122"/>
                <a:ea typeface="宋体" panose="02010600030101010101" pitchFamily="2" charset="-122"/>
                <a:cs typeface="宋体" panose="02010600030101010101" pitchFamily="2" charset="-122"/>
              </a:rPr>
              <a:t>（替换：诚信履行</a:t>
            </a:r>
            <a:r>
              <a:rPr lang="en-US" altLang="zh-CN" sz="1800" b="1" kern="100" dirty="0">
                <a:effectLst/>
                <a:latin typeface="等线" panose="02010600030101010101" charset="-122"/>
                <a:ea typeface="宋体" panose="02010600030101010101" pitchFamily="2" charset="-122"/>
                <a:cs typeface="宋体" panose="02010600030101010101" pitchFamily="2" charset="-122"/>
              </a:rPr>
              <a:t>1</a:t>
            </a:r>
            <a:r>
              <a:rPr lang="zh-CN" altLang="zh-CN" sz="1800" b="1" kern="100" dirty="0">
                <a:effectLst/>
                <a:latin typeface="等线" panose="02010600030101010101" charset="-122"/>
                <a:ea typeface="宋体" panose="02010600030101010101" pitchFamily="2" charset="-122"/>
                <a:cs typeface="宋体" panose="02010600030101010101" pitchFamily="2" charset="-122"/>
              </a:rPr>
              <a:t>分）， </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a:p>
            <a:pPr indent="267970" algn="just"/>
            <a:r>
              <a:rPr lang="zh-CN" altLang="zh-CN" sz="1800" b="1" kern="100" dirty="0">
                <a:effectLst/>
                <a:highlight>
                  <a:srgbClr val="00FF00"/>
                </a:highlight>
                <a:latin typeface="等线" panose="02010600030101010101" charset="-122"/>
                <a:ea typeface="宋体" panose="02010600030101010101" pitchFamily="2" charset="-122"/>
                <a:cs typeface="宋体" panose="02010600030101010101" pitchFamily="2" charset="-122"/>
              </a:rPr>
              <a:t>有利于</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a:p>
            <a:pPr indent="267970" algn="just"/>
            <a:r>
              <a:rPr lang="en-US" altLang="zh-CN" sz="1800" b="1" kern="100" dirty="0">
                <a:effectLst/>
                <a:latin typeface="宋体" panose="02010600030101010101" pitchFamily="2" charset="-122"/>
                <a:ea typeface="等线" panose="02010600030101010101" charset="-122"/>
                <a:cs typeface="宋体" panose="02010600030101010101" pitchFamily="2" charset="-122"/>
              </a:rPr>
              <a:t>1</a:t>
            </a:r>
            <a:r>
              <a:rPr lang="zh-CN" altLang="zh-CN" sz="1800" b="1" kern="100" dirty="0">
                <a:effectLst/>
                <a:latin typeface="等线" panose="02010600030101010101" charset="-122"/>
                <a:ea typeface="宋体" panose="02010600030101010101" pitchFamily="2" charset="-122"/>
                <a:cs typeface="宋体" panose="02010600030101010101" pitchFamily="2" charset="-122"/>
              </a:rPr>
              <a:t>、</a:t>
            </a:r>
            <a:r>
              <a:rPr lang="zh-CN" altLang="zh-CN" sz="1800" b="1" kern="100" dirty="0">
                <a:solidFill>
                  <a:srgbClr val="FF0000"/>
                </a:solidFill>
                <a:effectLst/>
                <a:latin typeface="等线" panose="02010600030101010101" charset="-122"/>
                <a:ea typeface="宋体" panose="02010600030101010101" pitchFamily="2" charset="-122"/>
                <a:cs typeface="宋体" panose="02010600030101010101" pitchFamily="2" charset="-122"/>
              </a:rPr>
              <a:t>规范民事主体行为</a:t>
            </a:r>
            <a:r>
              <a:rPr lang="zh-CN" altLang="zh-CN" sz="1800" b="1" kern="100" dirty="0">
                <a:effectLst/>
                <a:latin typeface="等线" panose="02010600030101010101" charset="-122"/>
                <a:ea typeface="宋体" panose="02010600030101010101" pitchFamily="2" charset="-122"/>
                <a:cs typeface="宋体" panose="02010600030101010101" pitchFamily="2" charset="-122"/>
              </a:rPr>
              <a:t>（替换：</a:t>
            </a:r>
            <a:r>
              <a:rPr lang="zh-CN" altLang="zh-CN" sz="1800" b="1" kern="100" dirty="0">
                <a:solidFill>
                  <a:srgbClr val="000000"/>
                </a:solidFill>
                <a:effectLst/>
                <a:latin typeface="等线" panose="02010600030101010101" charset="-122"/>
                <a:ea typeface="宋体" panose="02010600030101010101" pitchFamily="2" charset="-122"/>
                <a:cs typeface="宋体" panose="02010600030101010101" pitchFamily="2" charset="-122"/>
              </a:rPr>
              <a:t>尊重和维护民事主体</a:t>
            </a:r>
            <a:r>
              <a:rPr lang="en-US" altLang="zh-CN" sz="1800" b="1" kern="100" dirty="0">
                <a:solidFill>
                  <a:srgbClr val="000000"/>
                </a:solidFill>
                <a:effectLst/>
                <a:latin typeface="等线" panose="02010600030101010101" charset="-122"/>
                <a:ea typeface="宋体" panose="02010600030101010101" pitchFamily="2" charset="-122"/>
                <a:cs typeface="宋体" panose="02010600030101010101" pitchFamily="2" charset="-122"/>
              </a:rPr>
              <a:t>/</a:t>
            </a:r>
            <a:r>
              <a:rPr lang="zh-CN" altLang="zh-CN" sz="1800" b="1" kern="100" dirty="0">
                <a:solidFill>
                  <a:srgbClr val="000000"/>
                </a:solidFill>
                <a:effectLst/>
                <a:latin typeface="等线" panose="02010600030101010101" charset="-122"/>
                <a:ea typeface="宋体" panose="02010600030101010101" pitchFamily="2" charset="-122"/>
                <a:cs typeface="宋体" panose="02010600030101010101" pitchFamily="2" charset="-122"/>
              </a:rPr>
              <a:t>当事人</a:t>
            </a:r>
            <a:r>
              <a:rPr lang="en-US" altLang="zh-CN" sz="1800" b="1" kern="100" dirty="0">
                <a:solidFill>
                  <a:srgbClr val="000000"/>
                </a:solidFill>
                <a:effectLst/>
                <a:latin typeface="等线" panose="02010600030101010101" charset="-122"/>
                <a:ea typeface="宋体" panose="02010600030101010101" pitchFamily="2" charset="-122"/>
                <a:cs typeface="宋体" panose="02010600030101010101" pitchFamily="2" charset="-122"/>
              </a:rPr>
              <a:t>/A</a:t>
            </a:r>
            <a:r>
              <a:rPr lang="zh-CN" altLang="zh-CN" sz="1800" b="1" kern="100" dirty="0">
                <a:solidFill>
                  <a:srgbClr val="000000"/>
                </a:solidFill>
                <a:effectLst/>
                <a:latin typeface="等线" panose="02010600030101010101" charset="-122"/>
                <a:ea typeface="宋体" panose="02010600030101010101" pitchFamily="2" charset="-122"/>
                <a:cs typeface="宋体" panose="02010600030101010101" pitchFamily="2" charset="-122"/>
              </a:rPr>
              <a:t>公司</a:t>
            </a:r>
            <a:r>
              <a:rPr lang="en-US" altLang="zh-CN" sz="1800" b="1" kern="100" dirty="0">
                <a:solidFill>
                  <a:srgbClr val="000000"/>
                </a:solidFill>
                <a:effectLst/>
                <a:latin typeface="等线" panose="02010600030101010101" charset="-122"/>
                <a:ea typeface="宋体" panose="02010600030101010101" pitchFamily="2" charset="-122"/>
                <a:cs typeface="宋体" panose="02010600030101010101" pitchFamily="2" charset="-122"/>
              </a:rPr>
              <a:t>/</a:t>
            </a:r>
            <a:r>
              <a:rPr lang="zh-CN" altLang="zh-CN" sz="1800" b="1" kern="100" dirty="0">
                <a:solidFill>
                  <a:srgbClr val="000000"/>
                </a:solidFill>
                <a:effectLst/>
                <a:latin typeface="等线" panose="02010600030101010101" charset="-122"/>
                <a:ea typeface="宋体" panose="02010600030101010101" pitchFamily="2" charset="-122"/>
                <a:cs typeface="宋体" panose="02010600030101010101" pitchFamily="2" charset="-122"/>
              </a:rPr>
              <a:t>双方</a:t>
            </a:r>
            <a:r>
              <a:rPr lang="en-US" altLang="zh-CN" sz="1800" b="1" kern="100" dirty="0">
                <a:solidFill>
                  <a:srgbClr val="000000"/>
                </a:solidFill>
                <a:effectLst/>
                <a:latin typeface="等线" panose="02010600030101010101" charset="-122"/>
                <a:ea typeface="宋体" panose="02010600030101010101" pitchFamily="2" charset="-122"/>
                <a:cs typeface="宋体" panose="02010600030101010101" pitchFamily="2" charset="-122"/>
              </a:rPr>
              <a:t>/</a:t>
            </a:r>
            <a:r>
              <a:rPr lang="zh-CN" altLang="zh-CN" sz="1800" b="1" kern="100" dirty="0">
                <a:solidFill>
                  <a:srgbClr val="000000"/>
                </a:solidFill>
                <a:effectLst/>
                <a:latin typeface="等线" panose="02010600030101010101" charset="-122"/>
                <a:ea typeface="宋体" panose="02010600030101010101" pitchFamily="2" charset="-122"/>
                <a:cs typeface="宋体" panose="02010600030101010101" pitchFamily="2" charset="-122"/>
              </a:rPr>
              <a:t>企业的合法权利</a:t>
            </a:r>
            <a:r>
              <a:rPr lang="zh-CN" altLang="zh-CN" sz="1800" b="1" kern="100" dirty="0">
                <a:effectLst/>
                <a:latin typeface="等线" panose="02010600030101010101" charset="-122"/>
                <a:ea typeface="宋体" panose="02010600030101010101" pitchFamily="2" charset="-122"/>
                <a:cs typeface="宋体" panose="02010600030101010101" pitchFamily="2" charset="-122"/>
              </a:rPr>
              <a:t>，给</a:t>
            </a:r>
            <a:r>
              <a:rPr lang="en-US" altLang="zh-CN" sz="1800" b="1" kern="100" dirty="0">
                <a:effectLst/>
                <a:latin typeface="等线" panose="02010600030101010101" charset="-122"/>
                <a:ea typeface="宋体" panose="02010600030101010101" pitchFamily="2" charset="-122"/>
                <a:cs typeface="宋体" panose="02010600030101010101" pitchFamily="2" charset="-122"/>
              </a:rPr>
              <a:t>1</a:t>
            </a:r>
            <a:r>
              <a:rPr lang="zh-CN" altLang="zh-CN" sz="1800" b="1" kern="100" dirty="0">
                <a:effectLst/>
                <a:latin typeface="等线" panose="02010600030101010101" charset="-122"/>
                <a:ea typeface="宋体" panose="02010600030101010101" pitchFamily="2" charset="-122"/>
                <a:cs typeface="宋体" panose="02010600030101010101" pitchFamily="2" charset="-122"/>
              </a:rPr>
              <a:t>分）；</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a:p>
            <a:pPr marL="400685" indent="-133985" algn="just"/>
            <a:r>
              <a:rPr lang="en-US" altLang="zh-CN" sz="1800" b="1" kern="100" dirty="0">
                <a:effectLst/>
                <a:latin typeface="宋体" panose="02010600030101010101" pitchFamily="2" charset="-122"/>
                <a:ea typeface="等线" panose="02010600030101010101" charset="-122"/>
                <a:cs typeface="宋体" panose="02010600030101010101" pitchFamily="2" charset="-122"/>
              </a:rPr>
              <a:t>2</a:t>
            </a:r>
            <a:r>
              <a:rPr lang="zh-CN" altLang="zh-CN" sz="1800" b="1" kern="100" dirty="0">
                <a:effectLst/>
                <a:latin typeface="等线" panose="02010600030101010101" charset="-122"/>
                <a:ea typeface="宋体" panose="02010600030101010101" pitchFamily="2" charset="-122"/>
                <a:cs typeface="宋体" panose="02010600030101010101" pitchFamily="2" charset="-122"/>
              </a:rPr>
              <a:t>、司法机关可根据诚信原则定分止争</a:t>
            </a:r>
            <a:r>
              <a:rPr lang="en-US" altLang="zh-CN" sz="1800" b="1" kern="100" dirty="0">
                <a:effectLst/>
                <a:latin typeface="等线" panose="02010600030101010101" charset="-122"/>
                <a:ea typeface="宋体" panose="02010600030101010101" pitchFamily="2" charset="-122"/>
                <a:cs typeface="宋体" panose="02010600030101010101" pitchFamily="2" charset="-122"/>
              </a:rPr>
              <a:t>,</a:t>
            </a:r>
            <a:r>
              <a:rPr lang="zh-CN" altLang="zh-CN" sz="1800" b="1" kern="100" dirty="0">
                <a:effectLst/>
                <a:latin typeface="等线" panose="02010600030101010101" charset="-122"/>
                <a:ea typeface="宋体" panose="02010600030101010101" pitchFamily="2" charset="-122"/>
                <a:cs typeface="宋体" panose="02010600030101010101" pitchFamily="2" charset="-122"/>
              </a:rPr>
              <a:t>维护</a:t>
            </a:r>
            <a:r>
              <a:rPr lang="zh-CN" altLang="zh-CN" sz="1800" b="1" kern="100" dirty="0">
                <a:solidFill>
                  <a:srgbClr val="FF0000"/>
                </a:solidFill>
                <a:effectLst/>
                <a:latin typeface="等线" panose="02010600030101010101" charset="-122"/>
                <a:ea typeface="宋体" panose="02010600030101010101" pitchFamily="2" charset="-122"/>
                <a:cs typeface="宋体" panose="02010600030101010101" pitchFamily="2" charset="-122"/>
              </a:rPr>
              <a:t>公平正义</a:t>
            </a:r>
            <a:r>
              <a:rPr lang="zh-CN" altLang="zh-CN" sz="1800" b="1" kern="100" dirty="0">
                <a:effectLst/>
                <a:latin typeface="等线" panose="02010600030101010101" charset="-122"/>
                <a:ea typeface="宋体" panose="02010600030101010101" pitchFamily="2" charset="-122"/>
                <a:cs typeface="宋体" panose="02010600030101010101" pitchFamily="2" charset="-122"/>
              </a:rPr>
              <a:t>，维护</a:t>
            </a:r>
            <a:r>
              <a:rPr lang="zh-CN" altLang="zh-CN" sz="1800" b="1" kern="100" dirty="0">
                <a:solidFill>
                  <a:srgbClr val="FF0000"/>
                </a:solidFill>
                <a:effectLst/>
                <a:latin typeface="等线" panose="02010600030101010101" charset="-122"/>
                <a:ea typeface="宋体" panose="02010600030101010101" pitchFamily="2" charset="-122"/>
                <a:cs typeface="宋体" panose="02010600030101010101" pitchFamily="2" charset="-122"/>
              </a:rPr>
              <a:t>诚信、健康的市场秩序</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a:p>
            <a:pPr marL="400685" indent="-133985" algn="just"/>
            <a:r>
              <a:rPr lang="zh-CN" altLang="zh-CN" sz="1800" b="1" kern="100" dirty="0">
                <a:solidFill>
                  <a:srgbClr val="000000"/>
                </a:solidFill>
                <a:effectLst/>
                <a:latin typeface="等线" panose="02010600030101010101" charset="-122"/>
                <a:ea typeface="宋体" panose="02010600030101010101" pitchFamily="2" charset="-122"/>
                <a:cs typeface="宋体" panose="02010600030101010101" pitchFamily="2" charset="-122"/>
              </a:rPr>
              <a:t>（替换：</a:t>
            </a:r>
            <a:r>
              <a:rPr lang="zh-CN" altLang="zh-CN" sz="1800" b="1" kern="100" dirty="0">
                <a:effectLst/>
                <a:latin typeface="等线" panose="02010600030101010101" charset="-122"/>
                <a:ea typeface="宋体" panose="02010600030101010101" pitchFamily="2" charset="-122"/>
                <a:cs typeface="宋体" panose="02010600030101010101" pitchFamily="2" charset="-122"/>
              </a:rPr>
              <a:t>公平竞争</a:t>
            </a:r>
            <a:r>
              <a:rPr lang="en-US" altLang="zh-CN" sz="1800" b="1" kern="100" dirty="0">
                <a:effectLst/>
                <a:latin typeface="等线" panose="02010600030101010101" charset="-122"/>
                <a:ea typeface="宋体" panose="02010600030101010101" pitchFamily="2" charset="-122"/>
                <a:cs typeface="宋体" panose="02010600030101010101" pitchFamily="2" charset="-122"/>
              </a:rPr>
              <a:t>/</a:t>
            </a:r>
            <a:r>
              <a:rPr lang="zh-CN" altLang="zh-CN" sz="1800" b="1" kern="100" dirty="0">
                <a:effectLst/>
                <a:latin typeface="等线" panose="02010600030101010101" charset="-122"/>
                <a:ea typeface="宋体" panose="02010600030101010101" pitchFamily="2" charset="-122"/>
                <a:cs typeface="宋体" panose="02010600030101010101" pitchFamily="2" charset="-122"/>
              </a:rPr>
              <a:t>规范市场秩序</a:t>
            </a:r>
            <a:r>
              <a:rPr lang="en-US" altLang="zh-CN" sz="1800" b="1" kern="100" dirty="0">
                <a:effectLst/>
                <a:latin typeface="等线" panose="02010600030101010101" charset="-122"/>
                <a:ea typeface="宋体" panose="02010600030101010101" pitchFamily="2" charset="-122"/>
                <a:cs typeface="宋体" panose="02010600030101010101" pitchFamily="2" charset="-122"/>
              </a:rPr>
              <a:t>/</a:t>
            </a:r>
            <a:r>
              <a:rPr lang="zh-CN" altLang="zh-CN" sz="1800" b="1" kern="100" dirty="0">
                <a:effectLst/>
                <a:latin typeface="等线" panose="02010600030101010101" charset="-122"/>
                <a:ea typeface="宋体" panose="02010600030101010101" pitchFamily="2" charset="-122"/>
                <a:cs typeface="宋体" panose="02010600030101010101" pitchFamily="2" charset="-122"/>
              </a:rPr>
              <a:t>建立统一开放竞争有序的市场体系</a:t>
            </a:r>
            <a:r>
              <a:rPr lang="en-US" altLang="zh-CN" sz="1800" b="1" kern="100" dirty="0">
                <a:effectLst/>
                <a:latin typeface="等线" panose="02010600030101010101" charset="-122"/>
                <a:ea typeface="宋体" panose="02010600030101010101" pitchFamily="2" charset="-122"/>
                <a:cs typeface="宋体" panose="02010600030101010101" pitchFamily="2" charset="-122"/>
              </a:rPr>
              <a:t>/</a:t>
            </a:r>
            <a:r>
              <a:rPr lang="zh-CN" altLang="zh-CN" sz="1800" b="1" kern="100" dirty="0">
                <a:effectLst/>
                <a:latin typeface="等线" panose="02010600030101010101" charset="-122"/>
                <a:ea typeface="宋体" panose="02010600030101010101" pitchFamily="2" charset="-122"/>
                <a:cs typeface="宋体" panose="02010600030101010101" pitchFamily="2" charset="-122"/>
              </a:rPr>
              <a:t>营造良好的营商环境</a:t>
            </a:r>
            <a:r>
              <a:rPr lang="en-US" altLang="zh-CN" sz="1800" b="1" kern="100" dirty="0">
                <a:effectLst/>
                <a:latin typeface="等线" panose="02010600030101010101" charset="-122"/>
                <a:ea typeface="宋体" panose="02010600030101010101" pitchFamily="2" charset="-122"/>
                <a:cs typeface="宋体" panose="02010600030101010101" pitchFamily="2" charset="-122"/>
              </a:rPr>
              <a:t>/</a:t>
            </a:r>
            <a:r>
              <a:rPr lang="zh-CN" altLang="zh-CN" sz="1800" b="1" kern="100" dirty="0">
                <a:effectLst/>
                <a:latin typeface="等线" panose="02010600030101010101" charset="-122"/>
                <a:ea typeface="宋体" panose="02010600030101010101" pitchFamily="2" charset="-122"/>
                <a:cs typeface="宋体" panose="02010600030101010101" pitchFamily="2" charset="-122"/>
              </a:rPr>
              <a:t>良好的市场环境，抄设问词语不给分）。（</a:t>
            </a:r>
            <a:r>
              <a:rPr lang="en-US" altLang="zh-CN" sz="1800" b="1" kern="100" dirty="0">
                <a:effectLst/>
                <a:latin typeface="等线" panose="02010600030101010101" charset="-122"/>
                <a:ea typeface="宋体" panose="02010600030101010101" pitchFamily="2" charset="-122"/>
                <a:cs typeface="宋体" panose="02010600030101010101" pitchFamily="2" charset="-122"/>
              </a:rPr>
              <a:t>1</a:t>
            </a:r>
            <a:r>
              <a:rPr lang="zh-CN" altLang="zh-CN" sz="1800" b="1" kern="100" dirty="0">
                <a:effectLst/>
                <a:latin typeface="等线" panose="02010600030101010101" charset="-122"/>
                <a:ea typeface="宋体" panose="02010600030101010101" pitchFamily="2" charset="-122"/>
                <a:cs typeface="宋体" panose="02010600030101010101" pitchFamily="2" charset="-122"/>
              </a:rPr>
              <a:t>分）</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a:p>
            <a:pPr indent="267970" algn="just"/>
            <a:r>
              <a:rPr lang="zh-CN" altLang="zh-CN" sz="1800" b="1" kern="100" dirty="0">
                <a:effectLst/>
                <a:highlight>
                  <a:srgbClr val="FFFF00"/>
                </a:highlight>
                <a:latin typeface="等线" panose="02010600030101010101" charset="-122"/>
                <a:ea typeface="宋体" panose="02010600030101010101" pitchFamily="2" charset="-122"/>
                <a:cs typeface="宋体" panose="02010600030101010101" pitchFamily="2" charset="-122"/>
              </a:rPr>
              <a:t>角度二：诚信原则要求（</a:t>
            </a:r>
            <a:r>
              <a:rPr lang="en-US" altLang="zh-CN" sz="1800" b="1" kern="100" dirty="0">
                <a:effectLst/>
                <a:highlight>
                  <a:srgbClr val="FFFF00"/>
                </a:highlight>
                <a:latin typeface="等线" panose="02010600030101010101" charset="-122"/>
                <a:ea typeface="宋体" panose="02010600030101010101" pitchFamily="2" charset="-122"/>
                <a:cs typeface="宋体" panose="02010600030101010101" pitchFamily="2" charset="-122"/>
              </a:rPr>
              <a:t>1</a:t>
            </a:r>
            <a:r>
              <a:rPr lang="zh-CN" altLang="zh-CN" sz="1800" b="1" kern="100" dirty="0">
                <a:effectLst/>
                <a:highlight>
                  <a:srgbClr val="FFFF00"/>
                </a:highlight>
                <a:latin typeface="等线" panose="02010600030101010101" charset="-122"/>
                <a:ea typeface="宋体" panose="02010600030101010101" pitchFamily="2" charset="-122"/>
                <a:cs typeface="宋体" panose="02010600030101010101" pitchFamily="2" charset="-122"/>
              </a:rPr>
              <a:t>分）</a:t>
            </a:r>
            <a:r>
              <a:rPr lang="en-US" altLang="zh-CN" sz="1800" b="1" kern="100" dirty="0">
                <a:effectLst/>
                <a:highlight>
                  <a:srgbClr val="FFFF00"/>
                </a:highlight>
                <a:latin typeface="等线" panose="02010600030101010101" charset="-122"/>
                <a:ea typeface="宋体" panose="02010600030101010101" pitchFamily="2" charset="-122"/>
                <a:cs typeface="宋体" panose="02010600030101010101" pitchFamily="2" charset="-122"/>
              </a:rPr>
              <a:t>+</a:t>
            </a:r>
            <a:r>
              <a:rPr lang="zh-CN" altLang="zh-CN" sz="1800" b="1" kern="100" dirty="0">
                <a:effectLst/>
                <a:highlight>
                  <a:srgbClr val="FFFF00"/>
                </a:highlight>
                <a:latin typeface="等线" panose="02010600030101010101" charset="-122"/>
                <a:ea typeface="宋体" panose="02010600030101010101" pitchFamily="2" charset="-122"/>
                <a:cs typeface="宋体" panose="02010600030101010101" pitchFamily="2" charset="-122"/>
              </a:rPr>
              <a:t>有利于（</a:t>
            </a:r>
            <a:r>
              <a:rPr lang="en-US" altLang="zh-CN" sz="1800" b="1" kern="100" dirty="0">
                <a:effectLst/>
                <a:highlight>
                  <a:srgbClr val="FFFF00"/>
                </a:highlight>
                <a:latin typeface="等线" panose="02010600030101010101" charset="-122"/>
                <a:ea typeface="宋体" panose="02010600030101010101" pitchFamily="2" charset="-122"/>
                <a:cs typeface="宋体" panose="02010600030101010101" pitchFamily="2" charset="-122"/>
              </a:rPr>
              <a:t>2</a:t>
            </a:r>
            <a:r>
              <a:rPr lang="zh-CN" altLang="zh-CN" sz="1800" b="1" kern="100" dirty="0">
                <a:effectLst/>
                <a:highlight>
                  <a:srgbClr val="FFFF00"/>
                </a:highlight>
                <a:latin typeface="等线" panose="02010600030101010101" charset="-122"/>
                <a:ea typeface="宋体" panose="02010600030101010101" pitchFamily="2" charset="-122"/>
                <a:cs typeface="宋体" panose="02010600030101010101" pitchFamily="2" charset="-122"/>
              </a:rPr>
              <a:t>分）</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a:p>
            <a:pPr indent="267970" algn="just"/>
            <a:r>
              <a:rPr lang="zh-CN" altLang="zh-CN" sz="1800" b="1" kern="100" dirty="0">
                <a:effectLst/>
                <a:latin typeface="等线" panose="02010600030101010101" charset="-122"/>
                <a:ea typeface="宋体" panose="02010600030101010101" pitchFamily="2" charset="-122"/>
                <a:cs typeface="宋体" panose="02010600030101010101" pitchFamily="2" charset="-122"/>
              </a:rPr>
              <a:t>诚信原则要求</a:t>
            </a:r>
            <a:r>
              <a:rPr lang="zh-CN" altLang="zh-CN" sz="1800" b="1" kern="100" dirty="0">
                <a:solidFill>
                  <a:srgbClr val="FF0000"/>
                </a:solidFill>
                <a:effectLst/>
                <a:latin typeface="等线" panose="02010600030101010101" charset="-122"/>
                <a:ea typeface="宋体" panose="02010600030101010101" pitchFamily="2" charset="-122"/>
                <a:cs typeface="宋体" panose="02010600030101010101" pitchFamily="2" charset="-122"/>
              </a:rPr>
              <a:t>经营者依法、诚信经营</a:t>
            </a:r>
            <a:r>
              <a:rPr lang="en-US" altLang="zh-CN" sz="1800" b="1" kern="100" dirty="0">
                <a:solidFill>
                  <a:srgbClr val="FF0000"/>
                </a:solidFill>
                <a:effectLst/>
                <a:latin typeface="等线" panose="02010600030101010101" charset="-122"/>
                <a:ea typeface="宋体" panose="02010600030101010101" pitchFamily="2" charset="-122"/>
                <a:cs typeface="宋体" panose="02010600030101010101" pitchFamily="2" charset="-122"/>
              </a:rPr>
              <a:t>/</a:t>
            </a:r>
            <a:r>
              <a:rPr lang="zh-CN" altLang="zh-CN" sz="1800" b="1" kern="100" dirty="0">
                <a:solidFill>
                  <a:srgbClr val="FF0000"/>
                </a:solidFill>
                <a:effectLst/>
                <a:latin typeface="等线" panose="02010600030101010101" charset="-122"/>
                <a:ea typeface="宋体" panose="02010600030101010101" pitchFamily="2" charset="-122"/>
                <a:cs typeface="宋体" panose="02010600030101010101" pitchFamily="2" charset="-122"/>
              </a:rPr>
              <a:t>企业诚信经营</a:t>
            </a:r>
            <a:r>
              <a:rPr lang="zh-CN" altLang="zh-CN" sz="1800" b="1" kern="100" dirty="0">
                <a:effectLst/>
                <a:latin typeface="等线" panose="02010600030101010101" charset="-122"/>
                <a:ea typeface="宋体" panose="02010600030101010101" pitchFamily="2" charset="-122"/>
                <a:cs typeface="宋体" panose="02010600030101010101" pitchFamily="2" charset="-122"/>
              </a:rPr>
              <a:t>（</a:t>
            </a:r>
            <a:r>
              <a:rPr lang="en-US" altLang="zh-CN" sz="1800" b="1" kern="100" dirty="0">
                <a:effectLst/>
                <a:latin typeface="等线" panose="02010600030101010101" charset="-122"/>
                <a:ea typeface="宋体" panose="02010600030101010101" pitchFamily="2" charset="-122"/>
                <a:cs typeface="宋体" panose="02010600030101010101" pitchFamily="2" charset="-122"/>
              </a:rPr>
              <a:t>1</a:t>
            </a:r>
            <a:r>
              <a:rPr lang="zh-CN" altLang="zh-CN" sz="1800" b="1" kern="100" dirty="0">
                <a:effectLst/>
                <a:latin typeface="等线" panose="02010600030101010101" charset="-122"/>
                <a:ea typeface="宋体" panose="02010600030101010101" pitchFamily="2" charset="-122"/>
                <a:cs typeface="宋体" panose="02010600030101010101" pitchFamily="2" charset="-122"/>
              </a:rPr>
              <a:t>分）， </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a:p>
            <a:pPr indent="267970" algn="just"/>
            <a:r>
              <a:rPr lang="zh-CN" altLang="zh-CN" sz="1800" b="1" kern="100" dirty="0">
                <a:effectLst/>
                <a:highlight>
                  <a:srgbClr val="00FF00"/>
                </a:highlight>
                <a:latin typeface="等线" panose="02010600030101010101" charset="-122"/>
                <a:ea typeface="宋体" panose="02010600030101010101" pitchFamily="2" charset="-122"/>
                <a:cs typeface="宋体" panose="02010600030101010101" pitchFamily="2" charset="-122"/>
              </a:rPr>
              <a:t>有利于</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a:p>
            <a:pPr indent="267970" algn="just"/>
            <a:r>
              <a:rPr lang="zh-CN" altLang="zh-CN" sz="1800" b="1" kern="100" dirty="0">
                <a:effectLst/>
                <a:latin typeface="等线" panose="02010600030101010101" charset="-122"/>
                <a:ea typeface="宋体" panose="02010600030101010101" pitchFamily="2" charset="-122"/>
                <a:cs typeface="宋体" panose="02010600030101010101" pitchFamily="2" charset="-122"/>
              </a:rPr>
              <a:t>保护</a:t>
            </a:r>
            <a:r>
              <a:rPr lang="zh-CN" altLang="zh-CN" sz="1800" b="1" kern="100" dirty="0">
                <a:solidFill>
                  <a:srgbClr val="FF0000"/>
                </a:solidFill>
                <a:effectLst/>
                <a:latin typeface="等线" panose="02010600030101010101" charset="-122"/>
                <a:ea typeface="宋体" panose="02010600030101010101" pitchFamily="2" charset="-122"/>
                <a:cs typeface="宋体" panose="02010600030101010101" pitchFamily="2" charset="-122"/>
              </a:rPr>
              <a:t>消费者的合法权益</a:t>
            </a:r>
            <a:r>
              <a:rPr lang="en-US" altLang="zh-CN" sz="1800" b="1" kern="100" dirty="0">
                <a:effectLst/>
                <a:latin typeface="等线" panose="02010600030101010101" charset="-122"/>
                <a:ea typeface="宋体" panose="02010600030101010101" pitchFamily="2" charset="-122"/>
                <a:cs typeface="宋体" panose="02010600030101010101" pitchFamily="2" charset="-122"/>
              </a:rPr>
              <a:t>,</a:t>
            </a:r>
            <a:r>
              <a:rPr lang="zh-CN" altLang="zh-CN" sz="1800" b="1" kern="100" dirty="0">
                <a:effectLst/>
                <a:latin typeface="等线" panose="02010600030101010101" charset="-122"/>
                <a:ea typeface="宋体" panose="02010600030101010101" pitchFamily="2" charset="-122"/>
                <a:cs typeface="宋体" panose="02010600030101010101" pitchFamily="2" charset="-122"/>
              </a:rPr>
              <a:t>（替换：知情权、安全消费的权利）</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a:p>
            <a:pPr indent="267970" algn="just"/>
            <a:r>
              <a:rPr lang="zh-CN" altLang="zh-CN" sz="1800" b="1" kern="100" dirty="0">
                <a:solidFill>
                  <a:srgbClr val="FF0000"/>
                </a:solidFill>
                <a:effectLst/>
                <a:latin typeface="等线" panose="02010600030101010101" charset="-122"/>
                <a:ea typeface="宋体" panose="02010600030101010101" pitchFamily="2" charset="-122"/>
                <a:cs typeface="宋体" panose="02010600030101010101" pitchFamily="2" charset="-122"/>
              </a:rPr>
              <a:t>平衡经营者与消费者之间的关系</a:t>
            </a:r>
            <a:r>
              <a:rPr lang="zh-CN" altLang="zh-CN" sz="1800" b="1" kern="100" dirty="0">
                <a:effectLst/>
                <a:latin typeface="等线" panose="02010600030101010101" charset="-122"/>
                <a:ea typeface="宋体" panose="02010600030101010101" pitchFamily="2" charset="-122"/>
                <a:cs typeface="宋体" panose="02010600030101010101" pitchFamily="2" charset="-122"/>
              </a:rPr>
              <a:t>，（平衡、解决</a:t>
            </a:r>
            <a:r>
              <a:rPr lang="zh-CN" altLang="zh-CN" sz="1800" b="1" kern="1200" dirty="0">
                <a:solidFill>
                  <a:srgbClr val="000000"/>
                </a:solidFill>
                <a:effectLst/>
                <a:latin typeface="等线" panose="02010600030101010101" charset="-122"/>
                <a:ea typeface="宋体" panose="02010600030101010101" pitchFamily="2" charset="-122"/>
                <a:cs typeface="黑体" panose="02010609060101010101" pitchFamily="49" charset="-122"/>
              </a:rPr>
              <a:t>信息不对称问题</a:t>
            </a:r>
            <a:r>
              <a:rPr lang="zh-CN" altLang="zh-CN" sz="1800" b="1" kern="100" dirty="0">
                <a:effectLst/>
                <a:latin typeface="等线" panose="02010600030101010101" charset="-122"/>
                <a:ea typeface="宋体" panose="02010600030101010101" pitchFamily="2" charset="-122"/>
                <a:cs typeface="宋体" panose="02010600030101010101" pitchFamily="2" charset="-122"/>
              </a:rPr>
              <a:t>） </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a:p>
            <a:pPr indent="267970" algn="just"/>
            <a:r>
              <a:rPr lang="zh-CN" altLang="zh-CN" sz="1800" b="1" kern="100" dirty="0">
                <a:effectLst/>
                <a:latin typeface="等线" panose="02010600030101010101" charset="-122"/>
                <a:ea typeface="宋体" panose="02010600030101010101" pitchFamily="2" charset="-122"/>
                <a:cs typeface="宋体" panose="02010600030101010101" pitchFamily="2" charset="-122"/>
              </a:rPr>
              <a:t>有助于守法诚信的</a:t>
            </a:r>
            <a:r>
              <a:rPr lang="zh-CN" altLang="zh-CN" sz="1800" b="1" kern="100" dirty="0">
                <a:solidFill>
                  <a:srgbClr val="FF0000"/>
                </a:solidFill>
                <a:effectLst/>
                <a:latin typeface="等线" panose="02010600030101010101" charset="-122"/>
                <a:ea typeface="宋体" panose="02010600030101010101" pitchFamily="2" charset="-122"/>
                <a:cs typeface="宋体" panose="02010600030101010101" pitchFamily="2" charset="-122"/>
              </a:rPr>
              <a:t>经营者扩大市场</a:t>
            </a:r>
            <a:r>
              <a:rPr lang="zh-CN" altLang="zh-CN" sz="1800" b="1" kern="100" dirty="0">
                <a:effectLst/>
                <a:latin typeface="等线" panose="02010600030101010101" charset="-122"/>
                <a:ea typeface="宋体" panose="02010600030101010101" pitchFamily="2" charset="-122"/>
                <a:cs typeface="宋体" panose="02010600030101010101" pitchFamily="2" charset="-122"/>
              </a:rPr>
              <a:t>，并最终</a:t>
            </a:r>
            <a:r>
              <a:rPr lang="zh-CN" altLang="zh-CN" sz="1800" b="1" kern="100" dirty="0">
                <a:solidFill>
                  <a:srgbClr val="FF0000"/>
                </a:solidFill>
                <a:effectLst/>
                <a:latin typeface="等线" panose="02010600030101010101" charset="-122"/>
                <a:ea typeface="宋体" panose="02010600030101010101" pitchFamily="2" charset="-122"/>
                <a:cs typeface="宋体" panose="02010600030101010101" pitchFamily="2" charset="-122"/>
              </a:rPr>
              <a:t>增进社会整体福祉</a:t>
            </a:r>
            <a:r>
              <a:rPr lang="zh-CN" altLang="zh-CN" sz="1800" b="1" kern="100" dirty="0">
                <a:effectLst/>
                <a:latin typeface="等线" panose="02010600030101010101" charset="-122"/>
                <a:ea typeface="宋体" panose="02010600030101010101" pitchFamily="2" charset="-122"/>
                <a:cs typeface="宋体" panose="02010600030101010101" pitchFamily="2" charset="-122"/>
              </a:rPr>
              <a:t>。（激发市场活力</a:t>
            </a:r>
            <a:r>
              <a:rPr lang="en-US" altLang="zh-CN" sz="1800" b="1" kern="100" dirty="0">
                <a:effectLst/>
                <a:latin typeface="等线" panose="02010600030101010101" charset="-122"/>
                <a:ea typeface="宋体" panose="02010600030101010101" pitchFamily="2" charset="-122"/>
                <a:cs typeface="宋体" panose="02010600030101010101" pitchFamily="2" charset="-122"/>
              </a:rPr>
              <a:t>/</a:t>
            </a:r>
            <a:r>
              <a:rPr lang="zh-CN" altLang="zh-CN" sz="1800" b="1" kern="100" dirty="0">
                <a:effectLst/>
                <a:latin typeface="等线" panose="02010600030101010101" charset="-122"/>
                <a:ea typeface="宋体" panose="02010600030101010101" pitchFamily="2" charset="-122"/>
                <a:cs typeface="宋体" panose="02010600030101010101" pitchFamily="2" charset="-122"/>
              </a:rPr>
              <a:t>社会和谐稳定）</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a:p>
            <a:pPr indent="267970" algn="just"/>
            <a:r>
              <a:rPr lang="zh-CN" altLang="zh-CN" sz="1800" b="1" kern="100" dirty="0">
                <a:effectLst/>
                <a:latin typeface="等线" panose="02010600030101010101" charset="-122"/>
                <a:ea typeface="宋体" panose="02010600030101010101" pitchFamily="2" charset="-122"/>
                <a:cs typeface="宋体" panose="02010600030101010101" pitchFamily="2" charset="-122"/>
              </a:rPr>
              <a:t>（写出以上任意</a:t>
            </a:r>
            <a:r>
              <a:rPr lang="en-US" altLang="zh-CN" sz="1800" b="1" kern="100" dirty="0">
                <a:effectLst/>
                <a:latin typeface="等线" panose="02010600030101010101" charset="-122"/>
                <a:ea typeface="宋体" panose="02010600030101010101" pitchFamily="2" charset="-122"/>
                <a:cs typeface="宋体" panose="02010600030101010101" pitchFamily="2" charset="-122"/>
              </a:rPr>
              <a:t>1</a:t>
            </a:r>
            <a:r>
              <a:rPr lang="zh-CN" altLang="zh-CN" sz="1800" b="1" kern="100" dirty="0">
                <a:effectLst/>
                <a:latin typeface="等线" panose="02010600030101010101" charset="-122"/>
                <a:ea typeface="宋体" panose="02010600030101010101" pitchFamily="2" charset="-122"/>
                <a:cs typeface="宋体" panose="02010600030101010101" pitchFamily="2" charset="-122"/>
              </a:rPr>
              <a:t>点给</a:t>
            </a:r>
            <a:r>
              <a:rPr lang="en-US" altLang="zh-CN" sz="1800" b="1" kern="100" dirty="0">
                <a:effectLst/>
                <a:latin typeface="等线" panose="02010600030101010101" charset="-122"/>
                <a:ea typeface="宋体" panose="02010600030101010101" pitchFamily="2" charset="-122"/>
                <a:cs typeface="宋体" panose="02010600030101010101" pitchFamily="2" charset="-122"/>
              </a:rPr>
              <a:t>1</a:t>
            </a:r>
            <a:r>
              <a:rPr lang="zh-CN" altLang="zh-CN" sz="1800" b="1" kern="100" dirty="0">
                <a:effectLst/>
                <a:latin typeface="等线" panose="02010600030101010101" charset="-122"/>
                <a:ea typeface="宋体" panose="02010600030101010101" pitchFamily="2" charset="-122"/>
                <a:cs typeface="宋体" panose="02010600030101010101" pitchFamily="2" charset="-122"/>
              </a:rPr>
              <a:t>分，总分不超过</a:t>
            </a:r>
            <a:r>
              <a:rPr lang="en-US" altLang="zh-CN" sz="1800" b="1" kern="100" dirty="0">
                <a:effectLst/>
                <a:latin typeface="等线" panose="02010600030101010101" charset="-122"/>
                <a:ea typeface="宋体" panose="02010600030101010101" pitchFamily="2" charset="-122"/>
                <a:cs typeface="宋体" panose="02010600030101010101" pitchFamily="2" charset="-122"/>
              </a:rPr>
              <a:t>2</a:t>
            </a:r>
            <a:r>
              <a:rPr lang="zh-CN" altLang="zh-CN" sz="1800" b="1" kern="100" dirty="0">
                <a:effectLst/>
                <a:latin typeface="等线" panose="02010600030101010101" charset="-122"/>
                <a:ea typeface="宋体" panose="02010600030101010101" pitchFamily="2" charset="-122"/>
                <a:cs typeface="宋体" panose="02010600030101010101" pitchFamily="2" charset="-122"/>
              </a:rPr>
              <a:t>分）</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1995487" y="366712"/>
            <a:ext cx="8201025" cy="6124575"/>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773986" y="997373"/>
            <a:ext cx="10191964" cy="5262979"/>
          </a:xfrm>
          <a:prstGeom prst="rect">
            <a:avLst/>
          </a:prstGeom>
          <a:noFill/>
        </p:spPr>
        <p:txBody>
          <a:bodyPr wrap="square">
            <a:spAutoFit/>
          </a:bodyPr>
          <a:lstStyle/>
          <a:p>
            <a:pPr algn="l"/>
            <a:r>
              <a:rPr lang="en-US" altLang="zh-CN" sz="2400" b="1" kern="100" dirty="0">
                <a:effectLst/>
                <a:latin typeface="Calibri" panose="020F0502020204030204" charset="0"/>
                <a:ea typeface="宋体" panose="02010600030101010101" pitchFamily="2" charset="-122"/>
                <a:cs typeface="Times New Roman" panose="02020603050405020304" pitchFamily="18" charset="0"/>
              </a:rPr>
              <a:t>20</a:t>
            </a:r>
            <a:r>
              <a:rPr lang="zh-CN" altLang="en-US" sz="2400" b="1" kern="100" dirty="0">
                <a:effectLst/>
                <a:latin typeface="Calibri" panose="020F0502020204030204" charset="0"/>
                <a:ea typeface="宋体" panose="02010600030101010101" pitchFamily="2" charset="-122"/>
                <a:cs typeface="Times New Roman" panose="02020603050405020304" pitchFamily="18" charset="0"/>
              </a:rPr>
              <a:t>（</a:t>
            </a:r>
            <a:r>
              <a:rPr lang="en-US" altLang="zh-CN" sz="2400" b="1" kern="100" dirty="0">
                <a:effectLst/>
                <a:latin typeface="Calibri" panose="020F0502020204030204" charset="0"/>
                <a:ea typeface="宋体" panose="02010600030101010101" pitchFamily="2" charset="-122"/>
                <a:cs typeface="Times New Roman" panose="02020603050405020304" pitchFamily="18" charset="0"/>
              </a:rPr>
              <a:t>1</a:t>
            </a:r>
            <a:r>
              <a:rPr lang="zh-CN" altLang="en-US" sz="2400" b="1" kern="100" dirty="0">
                <a:effectLst/>
                <a:latin typeface="Calibri" panose="020F0502020204030204" charset="0"/>
                <a:ea typeface="宋体" panose="02010600030101010101" pitchFamily="2" charset="-122"/>
                <a:cs typeface="Times New Roman" panose="02020603050405020304" pitchFamily="18" charset="0"/>
              </a:rPr>
              <a:t>）</a:t>
            </a:r>
            <a:r>
              <a:rPr lang="zh-CN" altLang="zh-CN" sz="2400" b="1" kern="100" dirty="0">
                <a:effectLst/>
                <a:latin typeface="Calibri" panose="020F0502020204030204" charset="0"/>
                <a:ea typeface="宋体" panose="02010600030101010101" pitchFamily="2" charset="-122"/>
                <a:cs typeface="Times New Roman" panose="02020603050405020304" pitchFamily="18" charset="0"/>
              </a:rPr>
              <a:t>参考答案：</a:t>
            </a:r>
            <a:endParaRPr lang="zh-CN" altLang="zh-CN" kern="100" dirty="0">
              <a:effectLst/>
              <a:latin typeface="Calibri" panose="020F0502020204030204" charset="0"/>
              <a:ea typeface="宋体" panose="02010600030101010101" pitchFamily="2" charset="-122"/>
              <a:cs typeface="Times New Roman" panose="02020603050405020304" pitchFamily="18" charset="0"/>
            </a:endParaRPr>
          </a:p>
          <a:p>
            <a:pPr algn="l"/>
            <a:r>
              <a:rPr lang="zh-CN" altLang="zh-CN" sz="2400" kern="100" dirty="0">
                <a:effectLst/>
                <a:latin typeface="Calibri" panose="020F0502020204030204" charset="0"/>
                <a:ea typeface="宋体" panose="02010600030101010101" pitchFamily="2" charset="-122"/>
                <a:cs typeface="Times New Roman" panose="02020603050405020304" pitchFamily="18" charset="0"/>
              </a:rPr>
              <a:t>以上推理属于充分条件假言推理。</a:t>
            </a:r>
            <a:endParaRPr lang="zh-CN" altLang="zh-CN" kern="100" dirty="0">
              <a:effectLst/>
              <a:latin typeface="Calibri" panose="020F0502020204030204" charset="0"/>
              <a:ea typeface="宋体" panose="02010600030101010101" pitchFamily="2" charset="-122"/>
              <a:cs typeface="Times New Roman" panose="02020603050405020304" pitchFamily="18" charset="0"/>
            </a:endParaRPr>
          </a:p>
          <a:p>
            <a:pPr algn="l"/>
            <a:r>
              <a:rPr lang="zh-CN" altLang="zh-CN" sz="2400" kern="100" dirty="0">
                <a:effectLst/>
                <a:latin typeface="Calibri" panose="020F0502020204030204" charset="0"/>
                <a:ea typeface="宋体" panose="02010600030101010101" pitchFamily="2" charset="-122"/>
                <a:cs typeface="Times New Roman" panose="02020603050405020304" pitchFamily="18" charset="0"/>
              </a:rPr>
              <a:t>充分条件假言判断，前件真，后件一定真，后件假，前件一定假。</a:t>
            </a:r>
            <a:endParaRPr lang="zh-CN" altLang="zh-CN" kern="100" dirty="0">
              <a:effectLst/>
              <a:latin typeface="Calibri" panose="020F0502020204030204" charset="0"/>
              <a:ea typeface="宋体" panose="02010600030101010101" pitchFamily="2" charset="-122"/>
              <a:cs typeface="Times New Roman" panose="02020603050405020304" pitchFamily="18" charset="0"/>
            </a:endParaRPr>
          </a:p>
          <a:p>
            <a:pPr algn="l"/>
            <a:r>
              <a:rPr lang="zh-CN" altLang="zh-CN" sz="2400" kern="100" dirty="0">
                <a:effectLst/>
                <a:latin typeface="Calibri" panose="020F0502020204030204" charset="0"/>
                <a:ea typeface="宋体" panose="02010600030101010101" pitchFamily="2" charset="-122"/>
                <a:cs typeface="Times New Roman" panose="02020603050405020304" pitchFamily="18" charset="0"/>
              </a:rPr>
              <a:t>考古发掘中已发掘出地底下有大量炭化竹节，故后件假，则前件假，即该区域当时广泛生长着竹子，以上推理成立。</a:t>
            </a:r>
            <a:endParaRPr lang="zh-CN" altLang="zh-CN" kern="100" dirty="0">
              <a:effectLst/>
              <a:latin typeface="Calibri" panose="020F0502020204030204" charset="0"/>
              <a:ea typeface="宋体" panose="02010600030101010101" pitchFamily="2" charset="-122"/>
              <a:cs typeface="Times New Roman" panose="02020603050405020304" pitchFamily="18" charset="0"/>
            </a:endParaRPr>
          </a:p>
          <a:p>
            <a:pPr algn="l"/>
            <a:r>
              <a:rPr lang="en-US" altLang="zh-CN" sz="2400" kern="100" dirty="0">
                <a:effectLst/>
                <a:latin typeface="宋体" panose="02010600030101010101" pitchFamily="2" charset="-122"/>
                <a:ea typeface="宋体" panose="02010600030101010101" pitchFamily="2" charset="-122"/>
                <a:cs typeface="Times New Roman" panose="02020603050405020304" pitchFamily="18" charset="0"/>
              </a:rPr>
              <a:t> </a:t>
            </a:r>
            <a:endParaRPr lang="zh-CN" altLang="zh-CN" kern="100" dirty="0">
              <a:effectLst/>
              <a:latin typeface="Calibri" panose="020F0502020204030204" charset="0"/>
              <a:ea typeface="宋体" panose="02010600030101010101" pitchFamily="2" charset="-122"/>
              <a:cs typeface="Times New Roman" panose="02020603050405020304" pitchFamily="18" charset="0"/>
            </a:endParaRPr>
          </a:p>
          <a:p>
            <a:pPr algn="l"/>
            <a:r>
              <a:rPr lang="zh-CN" altLang="zh-CN" sz="2400" b="1" kern="100" dirty="0">
                <a:effectLst/>
                <a:latin typeface="Calibri" panose="020F0502020204030204" charset="0"/>
                <a:ea typeface="宋体" panose="02010600030101010101" pitchFamily="2" charset="-122"/>
                <a:cs typeface="Times New Roman" panose="02020603050405020304" pitchFamily="18" charset="0"/>
              </a:rPr>
              <a:t>细则：</a:t>
            </a:r>
            <a:endParaRPr lang="zh-CN" altLang="zh-CN" kern="100" dirty="0">
              <a:effectLst/>
              <a:latin typeface="Calibri" panose="020F0502020204030204" charset="0"/>
              <a:ea typeface="宋体" panose="02010600030101010101" pitchFamily="2" charset="-122"/>
              <a:cs typeface="Times New Roman" panose="02020603050405020304" pitchFamily="18" charset="0"/>
            </a:endParaRPr>
          </a:p>
          <a:p>
            <a:pPr algn="l"/>
            <a:r>
              <a:rPr lang="zh-CN" altLang="zh-CN" sz="2400" kern="100" dirty="0">
                <a:effectLst/>
                <a:latin typeface="Calibri" panose="020F0502020204030204" charset="0"/>
                <a:ea typeface="黑体" panose="02010609060101010101" pitchFamily="49" charset="-122"/>
                <a:cs typeface="Times New Roman" panose="02020603050405020304" pitchFamily="18" charset="0"/>
              </a:rPr>
              <a:t>推理类型： 充分条件假言推理（</a:t>
            </a:r>
            <a:r>
              <a:rPr lang="en-US" altLang="zh-CN" sz="2400" kern="100" dirty="0">
                <a:effectLst/>
                <a:latin typeface="Calibri" panose="020F0502020204030204" charset="0"/>
                <a:ea typeface="黑体" panose="02010609060101010101" pitchFamily="49" charset="-122"/>
                <a:cs typeface="Times New Roman" panose="02020603050405020304" pitchFamily="18" charset="0"/>
              </a:rPr>
              <a:t>1</a:t>
            </a:r>
            <a:r>
              <a:rPr lang="zh-CN" altLang="zh-CN" sz="2400" kern="100" dirty="0">
                <a:effectLst/>
                <a:latin typeface="Calibri" panose="020F0502020204030204" charset="0"/>
                <a:ea typeface="黑体" panose="02010609060101010101" pitchFamily="49" charset="-122"/>
                <a:cs typeface="Times New Roman" panose="02020603050405020304" pitchFamily="18" charset="0"/>
              </a:rPr>
              <a:t>分），</a:t>
            </a:r>
            <a:r>
              <a:rPr lang="zh-CN" altLang="zh-CN" sz="2400" kern="100" dirty="0">
                <a:effectLst/>
                <a:latin typeface="Calibri" panose="020F0502020204030204" charset="0"/>
                <a:ea typeface="宋体" panose="02010600030101010101" pitchFamily="2" charset="-122"/>
                <a:cs typeface="Times New Roman" panose="02020603050405020304" pitchFamily="18" charset="0"/>
              </a:rPr>
              <a:t>没有替代，其他表述都不给分。</a:t>
            </a:r>
            <a:endParaRPr lang="zh-CN" altLang="zh-CN" kern="100" dirty="0">
              <a:effectLst/>
              <a:latin typeface="Calibri" panose="020F0502020204030204" charset="0"/>
              <a:ea typeface="宋体" panose="02010600030101010101" pitchFamily="2" charset="-122"/>
              <a:cs typeface="Times New Roman" panose="02020603050405020304" pitchFamily="18" charset="0"/>
            </a:endParaRPr>
          </a:p>
          <a:p>
            <a:pPr algn="l"/>
            <a:r>
              <a:rPr lang="zh-CN" altLang="zh-CN" sz="2400" kern="100" dirty="0">
                <a:effectLst/>
                <a:latin typeface="Calibri" panose="020F0502020204030204" charset="0"/>
                <a:ea typeface="黑体" panose="02010609060101010101" pitchFamily="49" charset="-122"/>
                <a:cs typeface="Times New Roman" panose="02020603050405020304" pitchFamily="18" charset="0"/>
              </a:rPr>
              <a:t>理由</a:t>
            </a:r>
            <a:r>
              <a:rPr lang="zh-CN" altLang="zh-CN" sz="2400" kern="100" dirty="0">
                <a:effectLst/>
                <a:latin typeface="Calibri" panose="020F0502020204030204" charset="0"/>
                <a:ea typeface="宋体" panose="02010600030101010101" pitchFamily="2" charset="-122"/>
                <a:cs typeface="Times New Roman" panose="02020603050405020304" pitchFamily="18" charset="0"/>
              </a:rPr>
              <a:t>：</a:t>
            </a:r>
            <a:r>
              <a:rPr lang="zh-CN" altLang="zh-CN" sz="2400" kern="100" dirty="0">
                <a:effectLst/>
                <a:latin typeface="Calibri" panose="020F0502020204030204" charset="0"/>
                <a:ea typeface="黑体" panose="02010609060101010101" pitchFamily="49" charset="-122"/>
                <a:cs typeface="Times New Roman" panose="02020603050405020304" pitchFamily="18" charset="0"/>
              </a:rPr>
              <a:t>充分条件假言判断，前件真，后件一定真，后件假，前件一定假。（</a:t>
            </a:r>
            <a:r>
              <a:rPr lang="en-US" altLang="zh-CN" sz="2400" kern="100" dirty="0">
                <a:effectLst/>
                <a:latin typeface="Calibri" panose="020F0502020204030204" charset="0"/>
                <a:ea typeface="黑体" panose="02010609060101010101" pitchFamily="49" charset="-122"/>
                <a:cs typeface="Times New Roman" panose="02020603050405020304" pitchFamily="18" charset="0"/>
              </a:rPr>
              <a:t>2</a:t>
            </a:r>
            <a:r>
              <a:rPr lang="zh-CN" altLang="zh-CN" sz="2400" kern="100" dirty="0">
                <a:effectLst/>
                <a:latin typeface="Calibri" panose="020F0502020204030204" charset="0"/>
                <a:ea typeface="黑体" panose="02010609060101010101" pitchFamily="49" charset="-122"/>
                <a:cs typeface="Times New Roman" panose="02020603050405020304" pitchFamily="18" charset="0"/>
              </a:rPr>
              <a:t>分）</a:t>
            </a:r>
            <a:endParaRPr lang="zh-CN" altLang="zh-CN" kern="100" dirty="0">
              <a:effectLst/>
              <a:latin typeface="Calibri" panose="020F0502020204030204" charset="0"/>
              <a:ea typeface="宋体" panose="02010600030101010101" pitchFamily="2" charset="-122"/>
              <a:cs typeface="Times New Roman" panose="02020603050405020304" pitchFamily="18" charset="0"/>
            </a:endParaRPr>
          </a:p>
          <a:p>
            <a:pPr algn="l"/>
            <a:r>
              <a:rPr lang="zh-CN" altLang="zh-CN" sz="2400" kern="100" dirty="0">
                <a:effectLst/>
                <a:latin typeface="Calibri" panose="020F0502020204030204" charset="0"/>
                <a:ea typeface="宋体" panose="02010600030101010101" pitchFamily="2" charset="-122"/>
                <a:cs typeface="Times New Roman" panose="02020603050405020304" pitchFamily="18" charset="0"/>
              </a:rPr>
              <a:t>替代：肯定前件，就能肯定后件</a:t>
            </a:r>
            <a:r>
              <a:rPr lang="en-US" altLang="zh-CN" sz="2400" kern="100" dirty="0">
                <a:effectLst/>
                <a:latin typeface="Calibri" panose="020F0502020204030204" charset="0"/>
                <a:ea typeface="宋体" panose="02010600030101010101" pitchFamily="2" charset="-122"/>
                <a:cs typeface="Times New Roman" panose="02020603050405020304" pitchFamily="18" charset="0"/>
              </a:rPr>
              <a:t>/</a:t>
            </a:r>
            <a:r>
              <a:rPr lang="zh-CN" altLang="zh-CN" sz="2400" kern="100" dirty="0">
                <a:effectLst/>
                <a:latin typeface="Calibri" panose="020F0502020204030204" charset="0"/>
                <a:ea typeface="宋体" panose="02010600030101010101" pitchFamily="2" charset="-122"/>
                <a:cs typeface="Times New Roman" panose="02020603050405020304" pitchFamily="18" charset="0"/>
              </a:rPr>
              <a:t>肯定前件式</a:t>
            </a:r>
            <a:r>
              <a:rPr lang="en-US" altLang="zh-CN" sz="2400" kern="100" dirty="0">
                <a:effectLst/>
                <a:latin typeface="Calibri" panose="020F0502020204030204" charset="0"/>
                <a:ea typeface="宋体" panose="02010600030101010101" pitchFamily="2" charset="-122"/>
                <a:cs typeface="Times New Roman" panose="02020603050405020304" pitchFamily="18" charset="0"/>
              </a:rPr>
              <a:t>/</a:t>
            </a:r>
            <a:r>
              <a:rPr lang="zh-CN" altLang="zh-CN" sz="2400" kern="100" dirty="0">
                <a:effectLst/>
                <a:latin typeface="Calibri" panose="020F0502020204030204" charset="0"/>
                <a:ea typeface="宋体" panose="02010600030101010101" pitchFamily="2" charset="-122"/>
                <a:cs typeface="Times New Roman" panose="02020603050405020304" pitchFamily="18" charset="0"/>
              </a:rPr>
              <a:t>前真后必真</a:t>
            </a:r>
            <a:endParaRPr lang="zh-CN" altLang="zh-CN" kern="100" dirty="0">
              <a:effectLst/>
              <a:latin typeface="Calibri" panose="020F0502020204030204" charset="0"/>
              <a:ea typeface="宋体" panose="02010600030101010101" pitchFamily="2" charset="-122"/>
              <a:cs typeface="Times New Roman" panose="02020603050405020304" pitchFamily="18" charset="0"/>
            </a:endParaRPr>
          </a:p>
          <a:p>
            <a:pPr algn="l"/>
            <a:r>
              <a:rPr lang="zh-CN" altLang="zh-CN" sz="2400" kern="100" dirty="0">
                <a:effectLst/>
                <a:latin typeface="Calibri" panose="020F0502020204030204" charset="0"/>
                <a:ea typeface="黑体" panose="02010609060101010101" pitchFamily="49" charset="-122"/>
                <a:cs typeface="Times New Roman" panose="02020603050405020304" pitchFamily="18" charset="0"/>
              </a:rPr>
              <a:t>考古发掘中已发掘出地底下有大量炭化竹节，故后件假，则前件假，即该区域当时广泛生长着竹子，以上推理成立。（</a:t>
            </a:r>
            <a:r>
              <a:rPr lang="en-US" altLang="zh-CN" sz="2400" kern="100" dirty="0">
                <a:effectLst/>
                <a:latin typeface="Calibri" panose="020F0502020204030204" charset="0"/>
                <a:ea typeface="黑体" panose="02010609060101010101" pitchFamily="49" charset="-122"/>
                <a:cs typeface="Times New Roman" panose="02020603050405020304" pitchFamily="18" charset="0"/>
              </a:rPr>
              <a:t>2</a:t>
            </a:r>
            <a:r>
              <a:rPr lang="zh-CN" altLang="zh-CN" sz="2400" kern="100" dirty="0">
                <a:effectLst/>
                <a:latin typeface="Calibri" panose="020F0502020204030204" charset="0"/>
                <a:ea typeface="黑体" panose="02010609060101010101" pitchFamily="49" charset="-122"/>
                <a:cs typeface="Times New Roman" panose="02020603050405020304" pitchFamily="18" charset="0"/>
              </a:rPr>
              <a:t>分）</a:t>
            </a:r>
            <a:endParaRPr lang="zh-CN" altLang="zh-CN" kern="100" dirty="0">
              <a:effectLst/>
              <a:latin typeface="Calibri" panose="020F0502020204030204" charset="0"/>
              <a:ea typeface="宋体" panose="02010600030101010101" pitchFamily="2" charset="-122"/>
              <a:cs typeface="Times New Roman" panose="02020603050405020304" pitchFamily="18" charset="0"/>
            </a:endParaRPr>
          </a:p>
          <a:p>
            <a:pPr algn="l"/>
            <a:r>
              <a:rPr lang="zh-CN" altLang="zh-CN" sz="2400" kern="100" dirty="0">
                <a:effectLst/>
                <a:latin typeface="Calibri" panose="020F0502020204030204" charset="0"/>
                <a:ea typeface="宋体" panose="02010600030101010101" pitchFamily="2" charset="-122"/>
                <a:cs typeface="Times New Roman" panose="02020603050405020304" pitchFamily="18" charset="0"/>
              </a:rPr>
              <a:t>结合材料分析，踩意。</a:t>
            </a:r>
            <a:endParaRPr lang="zh-CN" altLang="zh-CN" kern="100" dirty="0">
              <a:effectLst/>
              <a:latin typeface="Calibri" panose="020F0502020204030204" charset="0"/>
              <a:ea typeface="宋体" panose="02010600030101010101" pitchFamily="2" charset="-122"/>
              <a:cs typeface="Times New Roman" panose="02020603050405020304" pitchFamily="18"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809946" y="1779715"/>
            <a:ext cx="10572108" cy="3970318"/>
          </a:xfrm>
          <a:prstGeom prst="rect">
            <a:avLst/>
          </a:prstGeom>
          <a:noFill/>
        </p:spPr>
        <p:txBody>
          <a:bodyPr wrap="square">
            <a:spAutoFit/>
          </a:bodyPr>
          <a:lstStyle/>
          <a:p>
            <a:pPr algn="just"/>
            <a:r>
              <a:rPr lang="en-US" altLang="zh-CN" sz="2800" b="1" kern="100" dirty="0">
                <a:latin typeface="Calibri" panose="020F0502020204030204" charset="0"/>
                <a:ea typeface="宋体" panose="02010600030101010101" pitchFamily="2" charset="-122"/>
                <a:cs typeface="Times New Roman" panose="02020603050405020304" pitchFamily="18" charset="0"/>
              </a:rPr>
              <a:t>20</a:t>
            </a:r>
            <a:r>
              <a:rPr lang="zh-CN" altLang="zh-CN" sz="2800" b="1" kern="100" dirty="0">
                <a:effectLst/>
                <a:latin typeface="Calibri" panose="020F0502020204030204" charset="0"/>
                <a:ea typeface="宋体" panose="02010600030101010101" pitchFamily="2" charset="-122"/>
                <a:cs typeface="Times New Roman" panose="02020603050405020304" pitchFamily="18" charset="0"/>
              </a:rPr>
              <a:t>（</a:t>
            </a:r>
            <a:r>
              <a:rPr lang="en-US" altLang="zh-CN" sz="2800" b="1" kern="100" dirty="0">
                <a:effectLst/>
                <a:latin typeface="Calibri" panose="020F0502020204030204" charset="0"/>
                <a:ea typeface="宋体" panose="02010600030101010101" pitchFamily="2" charset="-122"/>
                <a:cs typeface="Times New Roman" panose="02020603050405020304" pitchFamily="18" charset="0"/>
              </a:rPr>
              <a:t>2</a:t>
            </a:r>
            <a:r>
              <a:rPr lang="zh-CN" altLang="zh-CN" sz="2800" b="1" kern="100" dirty="0">
                <a:effectLst/>
                <a:latin typeface="Calibri" panose="020F0502020204030204" charset="0"/>
                <a:ea typeface="宋体" panose="02010600030101010101" pitchFamily="2" charset="-122"/>
                <a:cs typeface="Times New Roman" panose="02020603050405020304" pitchFamily="18" charset="0"/>
              </a:rPr>
              <a:t>）示例：</a:t>
            </a:r>
            <a:endParaRPr lang="zh-CN" altLang="zh-CN" sz="2800" b="1" kern="100" dirty="0">
              <a:effectLst/>
              <a:latin typeface="Calibri" panose="020F0502020204030204" charset="0"/>
              <a:ea typeface="宋体" panose="02010600030101010101" pitchFamily="2" charset="-122"/>
              <a:cs typeface="Times New Roman" panose="02020603050405020304" pitchFamily="18" charset="0"/>
            </a:endParaRPr>
          </a:p>
          <a:p>
            <a:pPr algn="just"/>
            <a:r>
              <a:rPr lang="zh-CN" altLang="zh-CN" sz="2800" b="1" kern="100" dirty="0">
                <a:effectLst/>
                <a:latin typeface="Calibri" panose="020F0502020204030204" charset="0"/>
                <a:ea typeface="宋体" panose="02010600030101010101" pitchFamily="2" charset="-122"/>
                <a:cs typeface="Times New Roman" panose="02020603050405020304" pitchFamily="18" charset="0"/>
              </a:rPr>
              <a:t>前提</a:t>
            </a:r>
            <a:r>
              <a:rPr lang="en-US" altLang="zh-CN" sz="2800" b="1" kern="100" dirty="0">
                <a:effectLst/>
                <a:latin typeface="Calibri" panose="020F0502020204030204" charset="0"/>
                <a:ea typeface="宋体" panose="02010600030101010101" pitchFamily="2" charset="-122"/>
                <a:cs typeface="Times New Roman" panose="02020603050405020304" pitchFamily="18" charset="0"/>
              </a:rPr>
              <a:t>1:</a:t>
            </a:r>
            <a:r>
              <a:rPr lang="zh-CN" altLang="zh-CN" sz="2800" b="1" kern="100" dirty="0">
                <a:effectLst/>
                <a:latin typeface="Calibri" panose="020F0502020204030204" charset="0"/>
                <a:ea typeface="宋体" panose="02010600030101010101" pitchFamily="2" charset="-122"/>
                <a:cs typeface="Times New Roman" panose="02020603050405020304" pitchFamily="18" charset="0"/>
              </a:rPr>
              <a:t>只有</a:t>
            </a:r>
            <a:r>
              <a:rPr lang="en-US" altLang="zh-CN" sz="2800" b="1" kern="100" dirty="0">
                <a:effectLst/>
                <a:latin typeface="Calibri" panose="020F0502020204030204" charset="0"/>
                <a:ea typeface="宋体" panose="02010600030101010101" pitchFamily="2" charset="-122"/>
                <a:cs typeface="Times New Roman" panose="02020603050405020304" pitchFamily="18" charset="0"/>
              </a:rPr>
              <a:t>A</a:t>
            </a:r>
            <a:r>
              <a:rPr lang="zh-CN" altLang="zh-CN" sz="2800" b="1" kern="100" dirty="0">
                <a:effectLst/>
                <a:latin typeface="Calibri" panose="020F0502020204030204" charset="0"/>
                <a:ea typeface="宋体" panose="02010600030101010101" pitchFamily="2" charset="-122"/>
                <a:cs typeface="Times New Roman" panose="02020603050405020304" pitchFamily="18" charset="0"/>
              </a:rPr>
              <a:t>区域古代气候温暖，</a:t>
            </a:r>
            <a:r>
              <a:rPr lang="en-US" altLang="zh-CN" sz="2800" b="1" kern="100" dirty="0">
                <a:effectLst/>
                <a:latin typeface="Calibri" panose="020F0502020204030204" charset="0"/>
                <a:ea typeface="宋体" panose="02010600030101010101" pitchFamily="2" charset="-122"/>
                <a:cs typeface="Times New Roman" panose="02020603050405020304" pitchFamily="18" charset="0"/>
              </a:rPr>
              <a:t>A</a:t>
            </a:r>
            <a:r>
              <a:rPr lang="zh-CN" altLang="zh-CN" sz="2800" b="1" kern="100" dirty="0">
                <a:effectLst/>
                <a:latin typeface="Calibri" panose="020F0502020204030204" charset="0"/>
                <a:ea typeface="宋体" panose="02010600030101010101" pitchFamily="2" charset="-122"/>
                <a:cs typeface="Times New Roman" panose="02020603050405020304" pitchFamily="18" charset="0"/>
              </a:rPr>
              <a:t>区域古代才有可能生长竹子。</a:t>
            </a:r>
            <a:endParaRPr lang="zh-CN" altLang="zh-CN" sz="2800" b="1" kern="100" dirty="0">
              <a:effectLst/>
              <a:latin typeface="Calibri" panose="020F0502020204030204" charset="0"/>
              <a:ea typeface="宋体" panose="02010600030101010101" pitchFamily="2" charset="-122"/>
              <a:cs typeface="Times New Roman" panose="02020603050405020304" pitchFamily="18" charset="0"/>
            </a:endParaRPr>
          </a:p>
          <a:p>
            <a:pPr algn="just"/>
            <a:r>
              <a:rPr lang="zh-CN" altLang="zh-CN" sz="2800" b="1" kern="100" dirty="0">
                <a:effectLst/>
                <a:latin typeface="Calibri" panose="020F0502020204030204" charset="0"/>
                <a:ea typeface="宋体" panose="02010600030101010101" pitchFamily="2" charset="-122"/>
                <a:cs typeface="Times New Roman" panose="02020603050405020304" pitchFamily="18" charset="0"/>
              </a:rPr>
              <a:t>前提</a:t>
            </a:r>
            <a:r>
              <a:rPr lang="en-US" altLang="zh-CN" sz="2800" b="1" kern="100" dirty="0">
                <a:effectLst/>
                <a:latin typeface="Calibri" panose="020F0502020204030204" charset="0"/>
                <a:ea typeface="宋体" panose="02010600030101010101" pitchFamily="2" charset="-122"/>
                <a:cs typeface="Times New Roman" panose="02020603050405020304" pitchFamily="18" charset="0"/>
              </a:rPr>
              <a:t>2:A</a:t>
            </a:r>
            <a:r>
              <a:rPr lang="zh-CN" altLang="zh-CN" sz="2800" b="1" kern="100" dirty="0">
                <a:effectLst/>
                <a:latin typeface="Calibri" panose="020F0502020204030204" charset="0"/>
                <a:ea typeface="宋体" panose="02010600030101010101" pitchFamily="2" charset="-122"/>
                <a:cs typeface="Times New Roman" panose="02020603050405020304" pitchFamily="18" charset="0"/>
              </a:rPr>
              <a:t>区域古代广泛生长着竹子</a:t>
            </a:r>
            <a:endParaRPr lang="zh-CN" altLang="zh-CN" sz="2800" b="1" kern="100" dirty="0">
              <a:effectLst/>
              <a:latin typeface="Calibri" panose="020F0502020204030204" charset="0"/>
              <a:ea typeface="宋体" panose="02010600030101010101" pitchFamily="2" charset="-122"/>
              <a:cs typeface="Times New Roman" panose="02020603050405020304" pitchFamily="18" charset="0"/>
            </a:endParaRPr>
          </a:p>
          <a:p>
            <a:pPr algn="just"/>
            <a:r>
              <a:rPr lang="en-US" altLang="zh-CN" sz="2800" b="1" kern="100" dirty="0">
                <a:effectLst/>
                <a:latin typeface="Calibri" panose="020F0502020204030204" charset="0"/>
                <a:ea typeface="宋体" panose="02010600030101010101" pitchFamily="2" charset="-122"/>
                <a:cs typeface="Times New Roman" panose="02020603050405020304" pitchFamily="18" charset="0"/>
              </a:rPr>
              <a:t> </a:t>
            </a:r>
            <a:endParaRPr lang="zh-CN" altLang="zh-CN" sz="2800" b="1" kern="100" dirty="0">
              <a:effectLst/>
              <a:latin typeface="Calibri" panose="020F0502020204030204" charset="0"/>
              <a:ea typeface="宋体" panose="02010600030101010101" pitchFamily="2" charset="-122"/>
              <a:cs typeface="Times New Roman" panose="02020603050405020304" pitchFamily="18" charset="0"/>
            </a:endParaRPr>
          </a:p>
          <a:p>
            <a:pPr algn="just"/>
            <a:r>
              <a:rPr lang="en-US" altLang="zh-CN" sz="2800" b="1" kern="100" dirty="0">
                <a:effectLst/>
                <a:latin typeface="Calibri" panose="020F0502020204030204" charset="0"/>
                <a:ea typeface="宋体" panose="02010600030101010101" pitchFamily="2" charset="-122"/>
                <a:cs typeface="Times New Roman" panose="02020603050405020304" pitchFamily="18" charset="0"/>
              </a:rPr>
              <a:t> </a:t>
            </a:r>
            <a:endParaRPr lang="zh-CN" altLang="zh-CN" sz="2800" b="1" kern="100" dirty="0">
              <a:effectLst/>
              <a:latin typeface="Calibri" panose="020F0502020204030204" charset="0"/>
              <a:ea typeface="宋体" panose="02010600030101010101" pitchFamily="2" charset="-122"/>
              <a:cs typeface="Times New Roman" panose="02020603050405020304" pitchFamily="18" charset="0"/>
            </a:endParaRPr>
          </a:p>
          <a:p>
            <a:pPr algn="just"/>
            <a:r>
              <a:rPr lang="zh-CN" altLang="zh-CN" sz="2800" b="1" kern="100" dirty="0">
                <a:effectLst/>
                <a:latin typeface="Calibri" panose="020F0502020204030204" charset="0"/>
                <a:ea typeface="宋体" panose="02010600030101010101" pitchFamily="2" charset="-122"/>
                <a:cs typeface="Times New Roman" panose="02020603050405020304" pitchFamily="18" charset="0"/>
              </a:rPr>
              <a:t>细则：</a:t>
            </a:r>
            <a:endParaRPr lang="zh-CN" altLang="zh-CN" sz="2800" b="1" kern="100" dirty="0">
              <a:effectLst/>
              <a:latin typeface="Calibri" panose="020F0502020204030204" charset="0"/>
              <a:ea typeface="宋体" panose="02010600030101010101" pitchFamily="2" charset="-122"/>
              <a:cs typeface="Times New Roman" panose="02020603050405020304" pitchFamily="18" charset="0"/>
            </a:endParaRPr>
          </a:p>
          <a:p>
            <a:pPr algn="just"/>
            <a:r>
              <a:rPr lang="en-US" altLang="zh-CN" sz="2800" b="1" kern="100" dirty="0">
                <a:effectLst/>
                <a:latin typeface="Calibri" panose="020F0502020204030204" charset="0"/>
                <a:ea typeface="宋体" panose="02010600030101010101" pitchFamily="2" charset="-122"/>
                <a:cs typeface="Times New Roman" panose="02020603050405020304" pitchFamily="18" charset="0"/>
              </a:rPr>
              <a:t>1 </a:t>
            </a:r>
            <a:r>
              <a:rPr lang="zh-CN" altLang="zh-CN" sz="2800" b="1" kern="100" dirty="0">
                <a:effectLst/>
                <a:latin typeface="Calibri" panose="020F0502020204030204" charset="0"/>
                <a:ea typeface="宋体" panose="02010600030101010101" pitchFamily="2" charset="-122"/>
                <a:cs typeface="Times New Roman" panose="02020603050405020304" pitchFamily="18" charset="0"/>
              </a:rPr>
              <a:t>每个前提</a:t>
            </a:r>
            <a:r>
              <a:rPr lang="en-US" altLang="zh-CN" sz="2800" b="1" kern="100" dirty="0">
                <a:effectLst/>
                <a:latin typeface="Calibri" panose="020F0502020204030204" charset="0"/>
                <a:ea typeface="宋体" panose="02010600030101010101" pitchFamily="2" charset="-122"/>
                <a:cs typeface="Times New Roman" panose="02020603050405020304" pitchFamily="18" charset="0"/>
              </a:rPr>
              <a:t>2</a:t>
            </a:r>
            <a:r>
              <a:rPr lang="zh-CN" altLang="zh-CN" sz="2800" b="1" kern="100" dirty="0">
                <a:effectLst/>
                <a:latin typeface="Calibri" panose="020F0502020204030204" charset="0"/>
                <a:ea typeface="宋体" panose="02010600030101010101" pitchFamily="2" charset="-122"/>
                <a:cs typeface="Times New Roman" panose="02020603050405020304" pitchFamily="18" charset="0"/>
              </a:rPr>
              <a:t>分，共计</a:t>
            </a:r>
            <a:r>
              <a:rPr lang="en-US" altLang="zh-CN" sz="2800" b="1" kern="100" dirty="0">
                <a:effectLst/>
                <a:latin typeface="Calibri" panose="020F0502020204030204" charset="0"/>
                <a:ea typeface="宋体" panose="02010600030101010101" pitchFamily="2" charset="-122"/>
                <a:cs typeface="Times New Roman" panose="02020603050405020304" pitchFamily="18" charset="0"/>
              </a:rPr>
              <a:t>4</a:t>
            </a:r>
            <a:r>
              <a:rPr lang="zh-CN" altLang="zh-CN" sz="2800" b="1" kern="100" dirty="0">
                <a:effectLst/>
                <a:latin typeface="Calibri" panose="020F0502020204030204" charset="0"/>
                <a:ea typeface="宋体" panose="02010600030101010101" pitchFamily="2" charset="-122"/>
                <a:cs typeface="Times New Roman" panose="02020603050405020304" pitchFamily="18" charset="0"/>
              </a:rPr>
              <a:t>分，前提中要表达出</a:t>
            </a:r>
            <a:r>
              <a:rPr lang="en-US" altLang="zh-CN" sz="2800" b="1" kern="100" dirty="0">
                <a:effectLst/>
                <a:latin typeface="Calibri" panose="020F0502020204030204" charset="0"/>
                <a:ea typeface="宋体" panose="02010600030101010101" pitchFamily="2" charset="-122"/>
                <a:cs typeface="Times New Roman" panose="02020603050405020304" pitchFamily="18" charset="0"/>
              </a:rPr>
              <a:t>A</a:t>
            </a:r>
            <a:r>
              <a:rPr lang="zh-CN" altLang="zh-CN" sz="2800" b="1" kern="100" dirty="0">
                <a:effectLst/>
                <a:latin typeface="Calibri" panose="020F0502020204030204" charset="0"/>
                <a:ea typeface="宋体" panose="02010600030101010101" pitchFamily="2" charset="-122"/>
                <a:cs typeface="Times New Roman" panose="02020603050405020304" pitchFamily="18" charset="0"/>
              </a:rPr>
              <a:t>区域古代气候温暖是</a:t>
            </a:r>
            <a:r>
              <a:rPr lang="en-US" altLang="zh-CN" sz="2800" b="1" kern="100" dirty="0">
                <a:effectLst/>
                <a:latin typeface="Calibri" panose="020F0502020204030204" charset="0"/>
                <a:ea typeface="宋体" panose="02010600030101010101" pitchFamily="2" charset="-122"/>
                <a:cs typeface="Times New Roman" panose="02020603050405020304" pitchFamily="18" charset="0"/>
              </a:rPr>
              <a:t>A</a:t>
            </a:r>
            <a:r>
              <a:rPr lang="zh-CN" altLang="zh-CN" sz="2800" b="1" kern="100" dirty="0">
                <a:effectLst/>
                <a:latin typeface="Calibri" panose="020F0502020204030204" charset="0"/>
                <a:ea typeface="宋体" panose="02010600030101010101" pitchFamily="2" charset="-122"/>
                <a:cs typeface="Times New Roman" panose="02020603050405020304" pitchFamily="18" charset="0"/>
              </a:rPr>
              <a:t>区域古代生长竹子的必要条件；</a:t>
            </a:r>
            <a:endParaRPr lang="zh-CN" altLang="zh-CN" sz="2800" b="1" kern="100" dirty="0">
              <a:effectLst/>
              <a:latin typeface="Calibri" panose="020F0502020204030204" charset="0"/>
              <a:ea typeface="宋体" panose="02010600030101010101" pitchFamily="2" charset="-122"/>
              <a:cs typeface="Times New Roman" panose="02020603050405020304" pitchFamily="18" charset="0"/>
            </a:endParaRPr>
          </a:p>
          <a:p>
            <a:pPr algn="just"/>
            <a:r>
              <a:rPr lang="en-US" altLang="zh-CN" sz="2800" b="1" kern="100" dirty="0">
                <a:effectLst/>
                <a:latin typeface="Calibri" panose="020F0502020204030204" charset="0"/>
                <a:ea typeface="宋体" panose="02010600030101010101" pitchFamily="2" charset="-122"/>
                <a:cs typeface="Times New Roman" panose="02020603050405020304" pitchFamily="18" charset="0"/>
              </a:rPr>
              <a:t>2 </a:t>
            </a:r>
            <a:r>
              <a:rPr lang="zh-CN" altLang="zh-CN" sz="2800" b="1" kern="100" dirty="0">
                <a:effectLst/>
                <a:latin typeface="Calibri" panose="020F0502020204030204" charset="0"/>
                <a:ea typeface="宋体" panose="02010600030101010101" pitchFamily="2" charset="-122"/>
                <a:cs typeface="Times New Roman" panose="02020603050405020304" pitchFamily="18" charset="0"/>
              </a:rPr>
              <a:t>前提中如果没有出现“古代”“当时”等严谨的时间表述扣</a:t>
            </a:r>
            <a:r>
              <a:rPr lang="en-US" altLang="zh-CN" sz="2800" b="1" kern="100" dirty="0">
                <a:effectLst/>
                <a:latin typeface="Calibri" panose="020F0502020204030204" charset="0"/>
                <a:ea typeface="宋体" panose="02010600030101010101" pitchFamily="2" charset="-122"/>
                <a:cs typeface="Times New Roman" panose="02020603050405020304" pitchFamily="18" charset="0"/>
              </a:rPr>
              <a:t>1</a:t>
            </a:r>
            <a:r>
              <a:rPr lang="zh-CN" altLang="zh-CN" sz="2800" b="1" kern="100" dirty="0">
                <a:effectLst/>
                <a:latin typeface="Calibri" panose="020F0502020204030204" charset="0"/>
                <a:ea typeface="宋体" panose="02010600030101010101" pitchFamily="2" charset="-122"/>
                <a:cs typeface="Times New Roman" panose="02020603050405020304" pitchFamily="18" charset="0"/>
              </a:rPr>
              <a:t>分。</a:t>
            </a:r>
            <a:endParaRPr lang="zh-CN" altLang="zh-CN" sz="2800" b="1" kern="100" dirty="0">
              <a:effectLst/>
              <a:latin typeface="Calibri" panose="020F0502020204030204" charset="0"/>
              <a:ea typeface="宋体" panose="02010600030101010101" pitchFamily="2" charset="-122"/>
              <a:cs typeface="Times New Roman" panose="02020603050405020304" pitchFamily="18"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1489753" y="6565187"/>
            <a:ext cx="2054831" cy="0"/>
          </a:xfrm>
          <a:prstGeom prst="line">
            <a:avLst/>
          </a:prstGeom>
        </p:spPr>
        <p:style>
          <a:lnRef idx="1">
            <a:schemeClr val="accent1"/>
          </a:lnRef>
          <a:fillRef idx="0">
            <a:schemeClr val="accent1"/>
          </a:fillRef>
          <a:effectRef idx="0">
            <a:schemeClr val="accent1"/>
          </a:effectRef>
          <a:fontRef idx="minor">
            <a:schemeClr val="tx1"/>
          </a:fontRef>
        </p:style>
      </p:cxnSp>
      <p:pic>
        <p:nvPicPr>
          <p:cNvPr id="7" name="图片 6"/>
          <p:cNvPicPr>
            <a:picLocks noChangeAspect="1"/>
          </p:cNvPicPr>
          <p:nvPr/>
        </p:nvPicPr>
        <p:blipFill>
          <a:blip r:embed="rId1"/>
          <a:stretch>
            <a:fillRect/>
          </a:stretch>
        </p:blipFill>
        <p:spPr>
          <a:xfrm>
            <a:off x="300144" y="292812"/>
            <a:ext cx="5324475" cy="6096000"/>
          </a:xfrm>
          <a:prstGeom prst="rect">
            <a:avLst/>
          </a:prstGeom>
        </p:spPr>
      </p:pic>
      <p:sp>
        <p:nvSpPr>
          <p:cNvPr id="8" name="文本框 7"/>
          <p:cNvSpPr txBox="1"/>
          <p:nvPr/>
        </p:nvSpPr>
        <p:spPr>
          <a:xfrm>
            <a:off x="5864349" y="626532"/>
            <a:ext cx="5426950" cy="5012398"/>
          </a:xfrm>
          <a:prstGeom prst="rect">
            <a:avLst/>
          </a:prstGeom>
          <a:noFill/>
        </p:spPr>
        <p:txBody>
          <a:bodyPr wrap="square" rtlCol="0">
            <a:spAutoFit/>
          </a:bodyPr>
          <a:lstStyle/>
          <a:p>
            <a:pPr>
              <a:lnSpc>
                <a:spcPct val="150000"/>
              </a:lnSpc>
            </a:pPr>
            <a:r>
              <a:rPr lang="en-US" altLang="zh-CN" sz="2400" dirty="0"/>
              <a:t>1.</a:t>
            </a:r>
            <a:r>
              <a:rPr lang="zh-CN" altLang="en-US" sz="2400" dirty="0"/>
              <a:t>立意：科学认识我国当前经济形势，唱响中国经济光明论，驳斥错误言论。</a:t>
            </a:r>
            <a:endParaRPr lang="en-US" altLang="zh-CN" sz="2400" dirty="0"/>
          </a:p>
          <a:p>
            <a:pPr>
              <a:lnSpc>
                <a:spcPct val="150000"/>
              </a:lnSpc>
            </a:pPr>
            <a:r>
              <a:rPr lang="en-US" altLang="zh-CN" sz="2400" dirty="0"/>
              <a:t>2.</a:t>
            </a:r>
            <a:r>
              <a:rPr lang="zh-CN" altLang="en-US" sz="2400" dirty="0"/>
              <a:t>精准把握问题设计，分解问题：</a:t>
            </a:r>
            <a:endParaRPr lang="en-US" altLang="zh-CN" sz="2400" dirty="0"/>
          </a:p>
          <a:p>
            <a:pPr>
              <a:lnSpc>
                <a:spcPct val="150000"/>
              </a:lnSpc>
            </a:pPr>
            <a:r>
              <a:rPr lang="zh-CN" altLang="en-US" sz="2400" dirty="0"/>
              <a:t>（</a:t>
            </a:r>
            <a:r>
              <a:rPr lang="en-US" altLang="zh-CN" sz="2400" dirty="0"/>
              <a:t>1</a:t>
            </a:r>
            <a:r>
              <a:rPr lang="zh-CN" altLang="en-US" sz="2400" dirty="0"/>
              <a:t>）我国当前经济形势是什么？</a:t>
            </a:r>
            <a:endParaRPr lang="en-US" altLang="zh-CN" sz="2400" dirty="0"/>
          </a:p>
          <a:p>
            <a:pPr>
              <a:lnSpc>
                <a:spcPct val="150000"/>
              </a:lnSpc>
            </a:pPr>
            <a:r>
              <a:rPr lang="zh-CN" altLang="en-US" sz="2400" dirty="0"/>
              <a:t>（</a:t>
            </a:r>
            <a:r>
              <a:rPr lang="en-US" altLang="zh-CN" sz="2400" dirty="0"/>
              <a:t>2</a:t>
            </a:r>
            <a:r>
              <a:rPr lang="zh-CN" altLang="en-US" sz="2400" dirty="0"/>
              <a:t>）如何在</a:t>
            </a:r>
            <a:r>
              <a:rPr lang="zh-CN" altLang="en-US" sz="2400" dirty="0">
                <a:solidFill>
                  <a:srgbClr val="FF0000"/>
                </a:solidFill>
              </a:rPr>
              <a:t>变局</a:t>
            </a:r>
            <a:r>
              <a:rPr lang="zh-CN" altLang="en-US" sz="2400" dirty="0"/>
              <a:t>中推动中国经济发展？</a:t>
            </a:r>
            <a:endParaRPr lang="en-US" altLang="zh-CN" sz="2400" dirty="0"/>
          </a:p>
          <a:p>
            <a:pPr>
              <a:lnSpc>
                <a:spcPct val="150000"/>
              </a:lnSpc>
            </a:pPr>
            <a:r>
              <a:rPr lang="en-US" altLang="zh-CN" sz="2400" dirty="0"/>
              <a:t>3.</a:t>
            </a:r>
            <a:r>
              <a:rPr lang="zh-CN" altLang="en-US" sz="2400" dirty="0">
                <a:solidFill>
                  <a:srgbClr val="FF0000"/>
                </a:solidFill>
              </a:rPr>
              <a:t>概括</a:t>
            </a:r>
            <a:r>
              <a:rPr lang="zh-CN" altLang="en-US" sz="2400" dirty="0"/>
              <a:t>每张</a:t>
            </a:r>
            <a:r>
              <a:rPr lang="zh-CN" altLang="en-US" sz="2400" dirty="0">
                <a:solidFill>
                  <a:srgbClr val="FF0000"/>
                </a:solidFill>
              </a:rPr>
              <a:t>资料卡的主旨</a:t>
            </a:r>
            <a:r>
              <a:rPr lang="zh-CN" altLang="en-US" sz="2400" dirty="0"/>
              <a:t>，全面</a:t>
            </a:r>
            <a:r>
              <a:rPr lang="zh-CN" altLang="en-US" sz="2400" dirty="0">
                <a:solidFill>
                  <a:srgbClr val="FF0000"/>
                </a:solidFill>
              </a:rPr>
              <a:t>认识</a:t>
            </a:r>
            <a:r>
              <a:rPr lang="zh-CN" altLang="en-US" sz="2400" dirty="0"/>
              <a:t>我国经济形势。</a:t>
            </a:r>
            <a:endParaRPr lang="en-US" altLang="zh-CN" sz="2400" dirty="0"/>
          </a:p>
          <a:p>
            <a:pPr>
              <a:lnSpc>
                <a:spcPct val="150000"/>
              </a:lnSpc>
            </a:pPr>
            <a:r>
              <a:rPr lang="en-US" altLang="zh-CN" sz="2400" dirty="0"/>
              <a:t>4.</a:t>
            </a:r>
            <a:r>
              <a:rPr lang="zh-CN" altLang="en-US" sz="2400" dirty="0"/>
              <a:t>针对</a:t>
            </a:r>
            <a:r>
              <a:rPr lang="zh-CN" altLang="en-US" sz="2400" dirty="0">
                <a:solidFill>
                  <a:srgbClr val="FF0000"/>
                </a:solidFill>
              </a:rPr>
              <a:t>变局</a:t>
            </a:r>
            <a:r>
              <a:rPr lang="zh-CN" altLang="en-US" sz="2400" dirty="0"/>
              <a:t>（国际形势、外部环境），推动中国经济高质量发展。</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 calcmode="lin" valueType="num">
                                      <p:cBhvr additive="base">
                                        <p:cTn id="13"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 calcmode="lin" valueType="num">
                                      <p:cBhvr additive="base">
                                        <p:cTn id="17"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8">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8">
                                            <p:txEl>
                                              <p:pRg st="3" end="3"/>
                                            </p:txEl>
                                          </p:spTgt>
                                        </p:tgtEl>
                                        <p:attrNameLst>
                                          <p:attrName>style.visibility</p:attrName>
                                        </p:attrNameLst>
                                      </p:cBhvr>
                                      <p:to>
                                        <p:strVal val="visible"/>
                                      </p:to>
                                    </p:set>
                                    <p:anim calcmode="lin" valueType="num">
                                      <p:cBhvr additive="base">
                                        <p:cTn id="21"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anim calcmode="lin" valueType="num">
                                      <p:cBhvr additive="base">
                                        <p:cTn id="27"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8">
                                            <p:txEl>
                                              <p:pRg st="5" end="5"/>
                                            </p:txEl>
                                          </p:spTgt>
                                        </p:tgtEl>
                                        <p:attrNameLst>
                                          <p:attrName>style.visibility</p:attrName>
                                        </p:attrNameLst>
                                      </p:cBhvr>
                                      <p:to>
                                        <p:strVal val="visible"/>
                                      </p:to>
                                    </p:set>
                                    <p:anim calcmode="lin" valueType="num">
                                      <p:cBhvr additive="base">
                                        <p:cTn id="33" dur="500" fill="hold"/>
                                        <p:tgtEl>
                                          <p:spTgt spid="8">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8">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16450" y="1109609"/>
            <a:ext cx="10801564" cy="5291191"/>
          </a:xfrm>
          <a:prstGeom prst="rect">
            <a:avLst/>
          </a:prstGeom>
          <a:noFill/>
        </p:spPr>
        <p:txBody>
          <a:bodyPr wrap="square">
            <a:spAutoFit/>
          </a:bodyPr>
          <a:lstStyle/>
          <a:p>
            <a:pPr algn="just"/>
            <a:r>
              <a:rPr lang="zh-CN" altLang="zh-CN" sz="2400" kern="100" dirty="0">
                <a:effectLst/>
                <a:latin typeface="等线" panose="02010600030101010101" charset="-122"/>
                <a:ea typeface="黑体" panose="02010609060101010101" pitchFamily="49" charset="-122"/>
                <a:cs typeface="Times New Roman" panose="02020603050405020304" pitchFamily="18" charset="0"/>
              </a:rPr>
              <a:t>参考示例：</a:t>
            </a:r>
            <a:endParaRPr lang="zh-CN" altLang="zh-CN" sz="2400" kern="100" dirty="0">
              <a:effectLst/>
              <a:latin typeface="等线" panose="02010600030101010101" charset="-122"/>
              <a:ea typeface="等线" panose="02010600030101010101" charset="-122"/>
              <a:cs typeface="Times New Roman" panose="02020603050405020304" pitchFamily="18" charset="0"/>
            </a:endParaRPr>
          </a:p>
          <a:p>
            <a:pPr indent="266700" algn="just"/>
            <a:r>
              <a:rPr lang="en-US" altLang="zh-CN" sz="2400" kern="100" dirty="0">
                <a:effectLst/>
                <a:latin typeface="等线" panose="02010600030101010101" charset="-122"/>
                <a:ea typeface="黑体" panose="02010609060101010101" pitchFamily="49" charset="-122"/>
                <a:cs typeface="宋体" panose="02010600030101010101" pitchFamily="2" charset="-122"/>
              </a:rPr>
              <a:t>    </a:t>
            </a:r>
            <a:r>
              <a:rPr lang="zh-CN" altLang="zh-CN" sz="2400" kern="100" dirty="0">
                <a:effectLst/>
                <a:latin typeface="等线" panose="02010600030101010101" charset="-122"/>
                <a:ea typeface="黑体" panose="02010609060101010101" pitchFamily="49" charset="-122"/>
                <a:cs typeface="宋体" panose="02010600030101010101" pitchFamily="2" charset="-122"/>
              </a:rPr>
              <a:t>进入新时代，我国经济长期向好的基本面没有变：经济总量持续增长、经济增速保持稳健，进入了以创新、协调、绿色、开放、共享的新发展理念引领的高质量发展阶段。我国发展的外部环境日趋严峻、风险挑战增多，但依然保持强大韧性和良好势头，在世界经济中的地位和贡献稳步提升。</a:t>
            </a:r>
            <a:endParaRPr lang="zh-CN" altLang="zh-CN" sz="2400" kern="100" dirty="0">
              <a:effectLst/>
              <a:latin typeface="等线" panose="02010600030101010101" charset="-122"/>
              <a:ea typeface="等线" panose="02010600030101010101" charset="-122"/>
              <a:cs typeface="Times New Roman" panose="02020603050405020304" pitchFamily="18" charset="0"/>
            </a:endParaRPr>
          </a:p>
          <a:p>
            <a:pPr indent="266700" algn="just"/>
            <a:r>
              <a:rPr lang="en-US" altLang="zh-CN" sz="2400" kern="100" dirty="0">
                <a:effectLst/>
                <a:latin typeface="等线" panose="02010600030101010101" charset="-122"/>
                <a:ea typeface="黑体" panose="02010609060101010101" pitchFamily="49" charset="-122"/>
                <a:cs typeface="宋体" panose="02010600030101010101" pitchFamily="2" charset="-122"/>
              </a:rPr>
              <a:t>    </a:t>
            </a:r>
            <a:r>
              <a:rPr lang="zh-CN" altLang="zh-CN" sz="2400" kern="100" dirty="0">
                <a:effectLst/>
                <a:latin typeface="等线" panose="02010600030101010101" charset="-122"/>
                <a:ea typeface="黑体" panose="02010609060101010101" pitchFamily="49" charset="-122"/>
                <a:cs typeface="宋体" panose="02010600030101010101" pitchFamily="2" charset="-122"/>
              </a:rPr>
              <a:t>坚持总体国家安全观，统筹发展与安全，建设更高水平的平安中国，以新安全格局保障新发展格局。坚持和平共处五项原则，维护我国的主权、安全和发展利益；在谋求本国发展中促进各国共同发展，坚持合作共赢，推动建设新型国际关系，推动构建人类命运共同体，为我国发展营造良好的外部环境。</a:t>
            </a:r>
            <a:endParaRPr lang="zh-CN" altLang="zh-CN" sz="2400" kern="100" dirty="0">
              <a:effectLst/>
              <a:latin typeface="等线" panose="02010600030101010101" charset="-122"/>
              <a:ea typeface="等线" panose="02010600030101010101" charset="-122"/>
              <a:cs typeface="Times New Roman" panose="02020603050405020304" pitchFamily="18" charset="0"/>
            </a:endParaRPr>
          </a:p>
          <a:p>
            <a:pPr indent="266700" algn="just"/>
            <a:r>
              <a:rPr lang="en-US" altLang="zh-CN" sz="2400" kern="100" dirty="0">
                <a:effectLst/>
                <a:latin typeface="等线" panose="02010600030101010101" charset="-122"/>
                <a:ea typeface="黑体" panose="02010609060101010101" pitchFamily="49" charset="-122"/>
                <a:cs typeface="宋体" panose="02010600030101010101" pitchFamily="2" charset="-122"/>
              </a:rPr>
              <a:t>    </a:t>
            </a:r>
            <a:r>
              <a:rPr lang="zh-CN" altLang="zh-CN" sz="2400" kern="100" dirty="0">
                <a:effectLst/>
                <a:latin typeface="等线" panose="02010600030101010101" charset="-122"/>
                <a:ea typeface="黑体" panose="02010609060101010101" pitchFamily="49" charset="-122"/>
                <a:cs typeface="宋体" panose="02010600030101010101" pitchFamily="2" charset="-122"/>
              </a:rPr>
              <a:t>应依托我国超大规模市场优势，以国内大循环吸引全球资源要素，增强国内国际两个市场两种资源联动效应；深度参与全球产业分工和合作，推进高水平对外开放，构建以国内大循环为主体、国内国际双循环相互促进的新发展格局。坚持独立自主，增强自主创新能力，实现关键核心技术自主可控，把发展主动权牢牢掌握在自己手中。</a:t>
            </a:r>
            <a:endParaRPr lang="zh-CN" altLang="zh-CN" sz="2400" kern="100" dirty="0">
              <a:effectLst/>
              <a:latin typeface="等线" panose="02010600030101010101" charset="-122"/>
              <a:ea typeface="等线" panose="02010600030101010101" charset="-122"/>
              <a:cs typeface="Times New Roman" panose="02020603050405020304" pitchFamily="18"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15420" y="369210"/>
            <a:ext cx="11017321" cy="5909310"/>
          </a:xfrm>
          <a:prstGeom prst="rect">
            <a:avLst/>
          </a:prstGeom>
          <a:solidFill>
            <a:schemeClr val="bg1"/>
          </a:solidFill>
        </p:spPr>
        <p:txBody>
          <a:bodyPr wrap="square">
            <a:spAutoFit/>
          </a:bodyPr>
          <a:lstStyle/>
          <a:p>
            <a:pPr algn="ctr"/>
            <a:r>
              <a:rPr lang="en-US" altLang="zh-CN" sz="1800" b="1" kern="100" dirty="0">
                <a:effectLst/>
                <a:latin typeface="宋体" panose="02010600030101010101" pitchFamily="2" charset="-122"/>
                <a:ea typeface="等线" panose="02010600030101010101" charset="-122"/>
                <a:cs typeface="Times New Roman" panose="02020603050405020304" pitchFamily="18" charset="0"/>
              </a:rPr>
              <a:t>21</a:t>
            </a:r>
            <a:r>
              <a:rPr lang="zh-CN" altLang="zh-CN" sz="1800" b="1" kern="100" dirty="0">
                <a:effectLst/>
                <a:latin typeface="等线" panose="02010600030101010101" charset="-122"/>
                <a:ea typeface="宋体" panose="02010600030101010101" pitchFamily="2" charset="-122"/>
                <a:cs typeface="Times New Roman" panose="02020603050405020304" pitchFamily="18" charset="0"/>
              </a:rPr>
              <a:t>题【评分细则】</a:t>
            </a:r>
            <a:r>
              <a:rPr lang="en-US" altLang="zh-CN" sz="1800" b="1" kern="100" dirty="0">
                <a:effectLst/>
                <a:latin typeface="等线" panose="02010600030101010101" charset="-122"/>
                <a:ea typeface="宋体" panose="02010600030101010101" pitchFamily="2" charset="-122"/>
                <a:cs typeface="Times New Roman" panose="02020603050405020304" pitchFamily="18" charset="0"/>
              </a:rPr>
              <a:t>4+5=</a:t>
            </a:r>
            <a:r>
              <a:rPr lang="zh-CN" altLang="zh-CN" sz="1800" b="1" kern="100" dirty="0">
                <a:effectLst/>
                <a:latin typeface="等线" panose="02010600030101010101" charset="-122"/>
                <a:ea typeface="宋体" panose="02010600030101010101" pitchFamily="2" charset="-122"/>
                <a:cs typeface="Times New Roman" panose="02020603050405020304" pitchFamily="18" charset="0"/>
              </a:rPr>
              <a:t>９分</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a:p>
            <a:pPr algn="just"/>
            <a:r>
              <a:rPr lang="zh-CN" altLang="zh-CN" sz="1800" b="1" i="1" kern="100" dirty="0">
                <a:effectLst/>
                <a:latin typeface="等线" panose="02010600030101010101" charset="-122"/>
                <a:ea typeface="宋体" panose="02010600030101010101" pitchFamily="2" charset="-122"/>
                <a:cs typeface="Times New Roman" panose="02020603050405020304" pitchFamily="18" charset="0"/>
              </a:rPr>
              <a:t>　　</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a:p>
            <a:pPr algn="just"/>
            <a:r>
              <a:rPr lang="zh-CN" altLang="zh-CN" sz="1800" b="1" i="1" kern="100" dirty="0">
                <a:effectLst/>
                <a:latin typeface="等线" panose="02010600030101010101" charset="-122"/>
                <a:ea typeface="宋体" panose="02010600030101010101" pitchFamily="2" charset="-122"/>
                <a:cs typeface="Times New Roman" panose="02020603050405020304" pitchFamily="18" charset="0"/>
              </a:rPr>
              <a:t>　　</a:t>
            </a:r>
            <a:r>
              <a:rPr lang="zh-CN" altLang="zh-CN" sz="1800" b="1" i="1" kern="100" dirty="0">
                <a:effectLst/>
                <a:highlight>
                  <a:srgbClr val="00FF00"/>
                </a:highlight>
                <a:latin typeface="等线" panose="02010600030101010101" charset="-122"/>
                <a:ea typeface="宋体" panose="02010600030101010101" pitchFamily="2" charset="-122"/>
                <a:cs typeface="Times New Roman" panose="02020603050405020304" pitchFamily="18" charset="0"/>
              </a:rPr>
              <a:t>分析我国当前经济形势：</a:t>
            </a:r>
            <a:r>
              <a:rPr lang="en-US" altLang="zh-CN" sz="1800" b="1" i="1" kern="100" dirty="0">
                <a:effectLst/>
                <a:highlight>
                  <a:srgbClr val="00FF00"/>
                </a:highlight>
                <a:latin typeface="等线" panose="02010600030101010101" charset="-122"/>
                <a:ea typeface="宋体" panose="02010600030101010101" pitchFamily="2" charset="-122"/>
                <a:cs typeface="Times New Roman" panose="02020603050405020304" pitchFamily="18" charset="0"/>
              </a:rPr>
              <a:t>4</a:t>
            </a:r>
            <a:r>
              <a:rPr lang="zh-CN" altLang="zh-CN" sz="1800" b="1" i="1" kern="100" dirty="0">
                <a:effectLst/>
                <a:highlight>
                  <a:srgbClr val="00FF00"/>
                </a:highlight>
                <a:latin typeface="等线" panose="02010600030101010101" charset="-122"/>
                <a:ea typeface="宋体" panose="02010600030101010101" pitchFamily="2" charset="-122"/>
                <a:cs typeface="Times New Roman" panose="02020603050405020304" pitchFamily="18" charset="0"/>
              </a:rPr>
              <a:t>分</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a:p>
            <a:pPr algn="just"/>
            <a:r>
              <a:rPr lang="zh-CN" altLang="zh-CN" sz="1800" kern="100" dirty="0">
                <a:effectLst/>
                <a:latin typeface="等线" panose="02010600030101010101" charset="-122"/>
                <a:ea typeface="楷体" panose="02010609060101010101" pitchFamily="49" charset="-122"/>
                <a:cs typeface="宋体" panose="02010600030101010101" pitchFamily="2" charset="-122"/>
              </a:rPr>
              <a:t>　　思路：经济增速稳健（１分）——经济发展进入高质量发展阶段（１分）——我国发展面临风险挑战（１分）——对世界经济贡献稳步提升（１分）</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a:p>
            <a:pPr indent="267970" algn="just"/>
            <a:r>
              <a:rPr lang="zh-CN" altLang="zh-CN" sz="1800" b="1" kern="100" dirty="0">
                <a:effectLst/>
                <a:latin typeface="等线" panose="02010600030101010101" charset="-122"/>
                <a:ea typeface="宋体" panose="02010600030101010101" pitchFamily="2" charset="-122"/>
                <a:cs typeface="宋体" panose="02010600030101010101" pitchFamily="2" charset="-122"/>
              </a:rPr>
              <a:t>进入新时代，我国经济长期向好的基本面没有变：</a:t>
            </a:r>
            <a:r>
              <a:rPr lang="zh-CN" altLang="zh-CN" sz="1800" b="1" kern="100" dirty="0">
                <a:solidFill>
                  <a:srgbClr val="FF0000"/>
                </a:solidFill>
                <a:effectLst/>
                <a:latin typeface="等线" panose="02010600030101010101" charset="-122"/>
                <a:ea typeface="宋体" panose="02010600030101010101" pitchFamily="2" charset="-122"/>
                <a:cs typeface="宋体" panose="02010600030101010101" pitchFamily="2" charset="-122"/>
              </a:rPr>
              <a:t>经济总量持续增长、经济增速保持稳健</a:t>
            </a:r>
            <a:r>
              <a:rPr lang="zh-CN" altLang="zh-CN" sz="1800" b="1" kern="100" dirty="0">
                <a:effectLst/>
                <a:latin typeface="等线" panose="02010600030101010101" charset="-122"/>
                <a:ea typeface="宋体" panose="02010600030101010101" pitchFamily="2" charset="-122"/>
                <a:cs typeface="宋体" panose="02010600030101010101" pitchFamily="2" charset="-122"/>
              </a:rPr>
              <a:t>，（</a:t>
            </a:r>
            <a:r>
              <a:rPr lang="zh-CN" altLang="zh-CN" sz="1800" b="1" kern="100" dirty="0">
                <a:effectLst/>
                <a:latin typeface="等线" panose="02010600030101010101" charset="-122"/>
                <a:ea typeface="宋体" panose="02010600030101010101" pitchFamily="2" charset="-122"/>
                <a:cs typeface="Times New Roman" panose="02020603050405020304" pitchFamily="18" charset="0"/>
              </a:rPr>
              <a:t>每句均可得</a:t>
            </a:r>
            <a:r>
              <a:rPr lang="zh-CN" altLang="zh-CN" sz="1800" b="1" kern="100" dirty="0">
                <a:effectLst/>
                <a:latin typeface="等线" panose="02010600030101010101" charset="-122"/>
                <a:ea typeface="宋体" panose="02010600030101010101" pitchFamily="2" charset="-122"/>
                <a:cs typeface="宋体" panose="02010600030101010101" pitchFamily="2" charset="-122"/>
              </a:rPr>
              <a:t>１分，替代：</a:t>
            </a:r>
            <a:r>
              <a:rPr lang="zh-CN" altLang="zh-CN" sz="1800" b="1" kern="100" dirty="0">
                <a:solidFill>
                  <a:srgbClr val="7030A0"/>
                </a:solidFill>
                <a:effectLst/>
                <a:latin typeface="等线" panose="02010600030101010101" charset="-122"/>
                <a:ea typeface="宋体" panose="02010600030101010101" pitchFamily="2" charset="-122"/>
                <a:cs typeface="宋体" panose="02010600030101010101" pitchFamily="2" charset="-122"/>
              </a:rPr>
              <a:t>经济积极向好／经济稳步向前／国内生产总值持续上升／增速较高</a:t>
            </a:r>
            <a:r>
              <a:rPr lang="zh-CN" altLang="zh-CN" sz="1800" b="1" kern="100" dirty="0">
                <a:effectLst/>
                <a:latin typeface="等线" panose="02010600030101010101" charset="-122"/>
                <a:ea typeface="宋体" panose="02010600030101010101" pitchFamily="2" charset="-122"/>
                <a:cs typeface="宋体" panose="02010600030101010101" pitchFamily="2" charset="-122"/>
              </a:rPr>
              <a:t>）进入了以创新、协调、绿色、开放、共享的新发展理念引领的</a:t>
            </a:r>
            <a:r>
              <a:rPr lang="zh-CN" altLang="zh-CN" sz="1800" b="1" kern="100" dirty="0">
                <a:solidFill>
                  <a:srgbClr val="FF0000"/>
                </a:solidFill>
                <a:effectLst/>
                <a:latin typeface="等线" panose="02010600030101010101" charset="-122"/>
                <a:ea typeface="宋体" panose="02010600030101010101" pitchFamily="2" charset="-122"/>
                <a:cs typeface="宋体" panose="02010600030101010101" pitchFamily="2" charset="-122"/>
              </a:rPr>
              <a:t>高质量发展</a:t>
            </a:r>
            <a:r>
              <a:rPr lang="zh-CN" altLang="zh-CN" sz="1800" b="1" kern="100" dirty="0">
                <a:effectLst/>
                <a:latin typeface="等线" panose="02010600030101010101" charset="-122"/>
                <a:ea typeface="宋体" panose="02010600030101010101" pitchFamily="2" charset="-122"/>
                <a:cs typeface="宋体" panose="02010600030101010101" pitchFamily="2" charset="-122"/>
              </a:rPr>
              <a:t>阶段（１分）。我国发展的外部环境</a:t>
            </a:r>
            <a:r>
              <a:rPr lang="zh-CN" altLang="zh-CN" sz="1800" b="1" kern="100" dirty="0">
                <a:solidFill>
                  <a:srgbClr val="FF0000"/>
                </a:solidFill>
                <a:effectLst/>
                <a:latin typeface="等线" panose="02010600030101010101" charset="-122"/>
                <a:ea typeface="宋体" panose="02010600030101010101" pitchFamily="2" charset="-122"/>
                <a:cs typeface="宋体" panose="02010600030101010101" pitchFamily="2" charset="-122"/>
              </a:rPr>
              <a:t>日趋严峻</a:t>
            </a:r>
            <a:r>
              <a:rPr lang="zh-CN" altLang="zh-CN" sz="1800" b="1" kern="100" dirty="0">
                <a:effectLst/>
                <a:latin typeface="等线" panose="02010600030101010101" charset="-122"/>
                <a:ea typeface="宋体" panose="02010600030101010101" pitchFamily="2" charset="-122"/>
                <a:cs typeface="宋体" panose="02010600030101010101" pitchFamily="2" charset="-122"/>
              </a:rPr>
              <a:t>、</a:t>
            </a:r>
            <a:r>
              <a:rPr lang="zh-CN" altLang="zh-CN" sz="1800" b="1" kern="100" dirty="0">
                <a:solidFill>
                  <a:srgbClr val="FF0000"/>
                </a:solidFill>
                <a:effectLst/>
                <a:latin typeface="等线" panose="02010600030101010101" charset="-122"/>
                <a:ea typeface="宋体" panose="02010600030101010101" pitchFamily="2" charset="-122"/>
                <a:cs typeface="宋体" panose="02010600030101010101" pitchFamily="2" charset="-122"/>
              </a:rPr>
              <a:t>风险挑战</a:t>
            </a:r>
            <a:r>
              <a:rPr lang="zh-CN" altLang="zh-CN" sz="1800" b="1" kern="100" dirty="0">
                <a:effectLst/>
                <a:latin typeface="等线" panose="02010600030101010101" charset="-122"/>
                <a:ea typeface="宋体" panose="02010600030101010101" pitchFamily="2" charset="-122"/>
                <a:cs typeface="宋体" panose="02010600030101010101" pitchFamily="2" charset="-122"/>
              </a:rPr>
              <a:t>增多，（</a:t>
            </a:r>
            <a:r>
              <a:rPr lang="zh-CN" altLang="zh-CN" sz="1800" b="1" kern="100" dirty="0">
                <a:effectLst/>
                <a:latin typeface="等线" panose="02010600030101010101" charset="-122"/>
                <a:ea typeface="宋体" panose="02010600030101010101" pitchFamily="2" charset="-122"/>
                <a:cs typeface="Times New Roman" panose="02020603050405020304" pitchFamily="18" charset="0"/>
              </a:rPr>
              <a:t>每句均可得</a:t>
            </a:r>
            <a:r>
              <a:rPr lang="zh-CN" altLang="zh-CN" sz="1800" b="1" kern="100" dirty="0">
                <a:effectLst/>
                <a:latin typeface="等线" panose="02010600030101010101" charset="-122"/>
                <a:ea typeface="宋体" panose="02010600030101010101" pitchFamily="2" charset="-122"/>
                <a:cs typeface="宋体" panose="02010600030101010101" pitchFamily="2" charset="-122"/>
              </a:rPr>
              <a:t>１分）但依然</a:t>
            </a:r>
            <a:r>
              <a:rPr lang="zh-CN" altLang="zh-CN" sz="1800" b="1" kern="100" dirty="0">
                <a:solidFill>
                  <a:srgbClr val="FF0000"/>
                </a:solidFill>
                <a:effectLst/>
                <a:latin typeface="等线" panose="02010600030101010101" charset="-122"/>
                <a:ea typeface="宋体" panose="02010600030101010101" pitchFamily="2" charset="-122"/>
                <a:cs typeface="宋体" panose="02010600030101010101" pitchFamily="2" charset="-122"/>
              </a:rPr>
              <a:t>保持强大韧性和良好势头，在世界经济中的地位和贡献稳步提升</a:t>
            </a:r>
            <a:r>
              <a:rPr lang="zh-CN" altLang="zh-CN" sz="1800" b="1" kern="100" dirty="0">
                <a:effectLst/>
                <a:latin typeface="等线" panose="02010600030101010101" charset="-122"/>
                <a:ea typeface="宋体" panose="02010600030101010101" pitchFamily="2" charset="-122"/>
                <a:cs typeface="宋体" panose="02010600030101010101" pitchFamily="2" charset="-122"/>
              </a:rPr>
              <a:t>。（</a:t>
            </a:r>
            <a:r>
              <a:rPr lang="zh-CN" altLang="zh-CN" sz="1800" b="1" kern="100" dirty="0">
                <a:effectLst/>
                <a:latin typeface="等线" panose="02010600030101010101" charset="-122"/>
                <a:ea typeface="宋体" panose="02010600030101010101" pitchFamily="2" charset="-122"/>
                <a:cs typeface="Times New Roman" panose="02020603050405020304" pitchFamily="18" charset="0"/>
              </a:rPr>
              <a:t>每句均可得</a:t>
            </a:r>
            <a:r>
              <a:rPr lang="zh-CN" altLang="zh-CN" sz="1800" b="1" kern="100" dirty="0">
                <a:effectLst/>
                <a:latin typeface="等线" panose="02010600030101010101" charset="-122"/>
                <a:ea typeface="宋体" panose="02010600030101010101" pitchFamily="2" charset="-122"/>
                <a:cs typeface="宋体" panose="02010600030101010101" pitchFamily="2" charset="-122"/>
              </a:rPr>
              <a:t>１分，替代：</a:t>
            </a:r>
            <a:r>
              <a:rPr lang="zh-CN" altLang="zh-CN" sz="1800" b="1" kern="100" dirty="0">
                <a:solidFill>
                  <a:srgbClr val="7030A0"/>
                </a:solidFill>
                <a:effectLst/>
                <a:latin typeface="等线" panose="02010600030101010101" charset="-122"/>
                <a:ea typeface="宋体" panose="02010600030101010101" pitchFamily="2" charset="-122"/>
                <a:cs typeface="宋体" panose="02010600030101010101" pitchFamily="2" charset="-122"/>
              </a:rPr>
              <a:t>保持良好势头／为世界经济贡献中国力量</a:t>
            </a:r>
            <a:r>
              <a:rPr lang="zh-CN" altLang="zh-CN" sz="1800" b="1" kern="100" dirty="0">
                <a:effectLst/>
                <a:latin typeface="等线" panose="02010600030101010101" charset="-122"/>
                <a:ea typeface="宋体" panose="02010600030101010101" pitchFamily="2" charset="-122"/>
                <a:cs typeface="宋体" panose="02010600030101010101" pitchFamily="2" charset="-122"/>
              </a:rPr>
              <a:t>）</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a:p>
            <a:pPr indent="267970" algn="just"/>
            <a:r>
              <a:rPr lang="en-US" altLang="zh-CN" sz="1800" b="1" kern="100" dirty="0">
                <a:effectLst/>
                <a:latin typeface="宋体" panose="02010600030101010101" pitchFamily="2" charset="-122"/>
                <a:ea typeface="等线" panose="02010600030101010101" charset="-122"/>
                <a:cs typeface="宋体" panose="02010600030101010101" pitchFamily="2" charset="-122"/>
              </a:rPr>
              <a:t> </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a:p>
            <a:pPr indent="267970" algn="just"/>
            <a:r>
              <a:rPr lang="zh-CN" altLang="zh-CN" sz="1800" b="1" i="1" kern="100" dirty="0">
                <a:effectLst/>
                <a:highlight>
                  <a:srgbClr val="00FF00"/>
                </a:highlight>
                <a:latin typeface="等线" panose="02010600030101010101" charset="-122"/>
                <a:ea typeface="宋体" panose="02010600030101010101" pitchFamily="2" charset="-122"/>
                <a:cs typeface="Times New Roman" panose="02020603050405020304" pitchFamily="18" charset="0"/>
              </a:rPr>
              <a:t>如何推动中国经济在变局中开新局：</a:t>
            </a:r>
            <a:r>
              <a:rPr lang="en-US" altLang="zh-CN" sz="1800" b="1" i="1" kern="100" dirty="0">
                <a:effectLst/>
                <a:highlight>
                  <a:srgbClr val="00FF00"/>
                </a:highlight>
                <a:latin typeface="等线" panose="02010600030101010101" charset="-122"/>
                <a:ea typeface="宋体" panose="02010600030101010101" pitchFamily="2" charset="-122"/>
                <a:cs typeface="Times New Roman" panose="02020603050405020304" pitchFamily="18" charset="0"/>
              </a:rPr>
              <a:t>5</a:t>
            </a:r>
            <a:r>
              <a:rPr lang="zh-CN" altLang="zh-CN" sz="1800" b="1" i="1" kern="100" dirty="0">
                <a:effectLst/>
                <a:highlight>
                  <a:srgbClr val="00FF00"/>
                </a:highlight>
                <a:latin typeface="等线" panose="02010600030101010101" charset="-122"/>
                <a:ea typeface="宋体" panose="02010600030101010101" pitchFamily="2" charset="-122"/>
                <a:cs typeface="Times New Roman" panose="02020603050405020304" pitchFamily="18" charset="0"/>
              </a:rPr>
              <a:t>分</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a:p>
            <a:pPr indent="266700" algn="just"/>
            <a:r>
              <a:rPr lang="zh-CN" altLang="zh-CN" sz="1800" kern="100" dirty="0">
                <a:effectLst/>
                <a:latin typeface="等线" panose="02010600030101010101" charset="-122"/>
                <a:ea typeface="楷体" panose="02010609060101010101" pitchFamily="49" charset="-122"/>
                <a:cs typeface="宋体" panose="02010600030101010101" pitchFamily="2" charset="-122"/>
              </a:rPr>
              <a:t>思路：学生需要从政治多极化、经济全球化两个维度分析如何应对风险挑战、发挥优势，推动经济高质量发展。（</a:t>
            </a:r>
            <a:r>
              <a:rPr lang="en-US" altLang="zh-CN" sz="1800" kern="100" dirty="0">
                <a:effectLst/>
                <a:latin typeface="等线" panose="02010600030101010101" charset="-122"/>
                <a:ea typeface="楷体" panose="02010609060101010101" pitchFamily="49" charset="-122"/>
                <a:cs typeface="宋体" panose="02010600030101010101" pitchFamily="2" charset="-122"/>
              </a:rPr>
              <a:t>5</a:t>
            </a:r>
            <a:r>
              <a:rPr lang="zh-CN" altLang="zh-CN" sz="1800" kern="100" dirty="0">
                <a:effectLst/>
                <a:latin typeface="等线" panose="02010600030101010101" charset="-122"/>
                <a:ea typeface="楷体" panose="02010609060101010101" pitchFamily="49" charset="-122"/>
                <a:cs typeface="宋体" panose="02010600030101010101" pitchFamily="2" charset="-122"/>
              </a:rPr>
              <a:t>分）</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a:p>
            <a:pPr indent="267970" algn="just"/>
            <a:r>
              <a:rPr lang="zh-CN" altLang="zh-CN" sz="1800" b="1" kern="100" dirty="0">
                <a:effectLst/>
                <a:highlight>
                  <a:srgbClr val="FFFF00"/>
                </a:highlight>
                <a:latin typeface="等线" panose="02010600030101010101" charset="-122"/>
                <a:ea typeface="宋体" panose="02010600030101010101" pitchFamily="2" charset="-122"/>
                <a:cs typeface="Times New Roman" panose="02020603050405020304" pitchFamily="18" charset="0"/>
              </a:rPr>
              <a:t>说明：</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a:p>
            <a:pPr indent="288290" algn="just"/>
            <a:r>
              <a:rPr lang="zh-CN" altLang="zh-CN" sz="1800" b="1" kern="1800" spc="40" dirty="0">
                <a:effectLst/>
                <a:latin typeface="等线" panose="02010600030101010101" charset="-122"/>
                <a:ea typeface="宋体" panose="02010600030101010101" pitchFamily="2" charset="-122"/>
                <a:cs typeface="宋体" panose="02010600030101010101" pitchFamily="2" charset="-122"/>
              </a:rPr>
              <a:t>学生从两个维度结合材料展开分析，准确运用４个要点</a:t>
            </a:r>
            <a:r>
              <a:rPr lang="zh-CN" altLang="zh-CN" sz="1800" b="1" kern="1800" spc="40" dirty="0">
                <a:solidFill>
                  <a:srgbClr val="FF0000"/>
                </a:solidFill>
                <a:effectLst/>
                <a:latin typeface="等线" panose="02010600030101010101" charset="-122"/>
                <a:ea typeface="宋体" panose="02010600030101010101" pitchFamily="2" charset="-122"/>
                <a:cs typeface="宋体" panose="02010600030101010101" pitchFamily="2" charset="-122"/>
              </a:rPr>
              <a:t>５分</a:t>
            </a:r>
            <a:r>
              <a:rPr lang="zh-CN" altLang="zh-CN" sz="1800" b="1" kern="1800" spc="40" dirty="0">
                <a:effectLst/>
                <a:latin typeface="等线" panose="02010600030101010101" charset="-122"/>
                <a:ea typeface="宋体" panose="02010600030101010101" pitchFamily="2" charset="-122"/>
                <a:cs typeface="宋体" panose="02010600030101010101" pitchFamily="2" charset="-122"/>
              </a:rPr>
              <a:t>，</a:t>
            </a:r>
            <a:r>
              <a:rPr lang="en-US" altLang="zh-CN" sz="1800" b="1" kern="1800" spc="40" dirty="0">
                <a:effectLst/>
                <a:latin typeface="等线" panose="02010600030101010101" charset="-122"/>
                <a:ea typeface="宋体" panose="02010600030101010101" pitchFamily="2" charset="-122"/>
                <a:cs typeface="宋体" panose="02010600030101010101" pitchFamily="2" charset="-122"/>
              </a:rPr>
              <a:t>3</a:t>
            </a:r>
            <a:r>
              <a:rPr lang="zh-CN" altLang="zh-CN" sz="1800" b="1" kern="1800" spc="40" dirty="0">
                <a:effectLst/>
                <a:latin typeface="等线" panose="02010600030101010101" charset="-122"/>
                <a:ea typeface="宋体" panose="02010600030101010101" pitchFamily="2" charset="-122"/>
                <a:cs typeface="宋体" panose="02010600030101010101" pitchFamily="2" charset="-122"/>
              </a:rPr>
              <a:t>个要点</a:t>
            </a:r>
            <a:r>
              <a:rPr lang="en-US" altLang="zh-CN" sz="1800" b="1" kern="1800" spc="40" dirty="0">
                <a:solidFill>
                  <a:srgbClr val="FF0000"/>
                </a:solidFill>
                <a:effectLst/>
                <a:latin typeface="等线" panose="02010600030101010101" charset="-122"/>
                <a:ea typeface="宋体" panose="02010600030101010101" pitchFamily="2" charset="-122"/>
                <a:cs typeface="宋体" panose="02010600030101010101" pitchFamily="2" charset="-122"/>
              </a:rPr>
              <a:t>4</a:t>
            </a:r>
            <a:r>
              <a:rPr lang="zh-CN" altLang="zh-CN" sz="1800" b="1" kern="1800" spc="40" dirty="0">
                <a:solidFill>
                  <a:srgbClr val="FF0000"/>
                </a:solidFill>
                <a:effectLst/>
                <a:latin typeface="等线" panose="02010600030101010101" charset="-122"/>
                <a:ea typeface="宋体" panose="02010600030101010101" pitchFamily="2" charset="-122"/>
                <a:cs typeface="宋体" panose="02010600030101010101" pitchFamily="2" charset="-122"/>
              </a:rPr>
              <a:t>分</a:t>
            </a:r>
            <a:r>
              <a:rPr lang="zh-CN" altLang="zh-CN" sz="1800" b="1" kern="1800" spc="40" dirty="0">
                <a:effectLst/>
                <a:latin typeface="等线" panose="02010600030101010101" charset="-122"/>
                <a:ea typeface="宋体" panose="02010600030101010101" pitchFamily="2" charset="-122"/>
                <a:cs typeface="宋体" panose="02010600030101010101" pitchFamily="2" charset="-122"/>
              </a:rPr>
              <a:t>，</a:t>
            </a:r>
            <a:r>
              <a:rPr lang="en-US" altLang="zh-CN" sz="1800" b="1" kern="1800" spc="40" dirty="0">
                <a:effectLst/>
                <a:latin typeface="等线" panose="02010600030101010101" charset="-122"/>
                <a:ea typeface="宋体" panose="02010600030101010101" pitchFamily="2" charset="-122"/>
                <a:cs typeface="宋体" panose="02010600030101010101" pitchFamily="2" charset="-122"/>
              </a:rPr>
              <a:t>2</a:t>
            </a:r>
            <a:r>
              <a:rPr lang="zh-CN" altLang="zh-CN" sz="1800" b="1" kern="1800" spc="40" dirty="0">
                <a:effectLst/>
                <a:latin typeface="等线" panose="02010600030101010101" charset="-122"/>
                <a:ea typeface="宋体" panose="02010600030101010101" pitchFamily="2" charset="-122"/>
                <a:cs typeface="宋体" panose="02010600030101010101" pitchFamily="2" charset="-122"/>
              </a:rPr>
              <a:t>个要点</a:t>
            </a:r>
            <a:r>
              <a:rPr lang="en-US" altLang="zh-CN" sz="1800" b="1" kern="1800" spc="40" dirty="0">
                <a:solidFill>
                  <a:srgbClr val="FF0000"/>
                </a:solidFill>
                <a:effectLst/>
                <a:latin typeface="等线" panose="02010600030101010101" charset="-122"/>
                <a:ea typeface="宋体" panose="02010600030101010101" pitchFamily="2" charset="-122"/>
                <a:cs typeface="宋体" panose="02010600030101010101" pitchFamily="2" charset="-122"/>
              </a:rPr>
              <a:t>3</a:t>
            </a:r>
            <a:r>
              <a:rPr lang="zh-CN" altLang="zh-CN" sz="1800" b="1" kern="1800" spc="40" dirty="0">
                <a:solidFill>
                  <a:srgbClr val="FF0000"/>
                </a:solidFill>
                <a:effectLst/>
                <a:latin typeface="等线" panose="02010600030101010101" charset="-122"/>
                <a:ea typeface="宋体" panose="02010600030101010101" pitchFamily="2" charset="-122"/>
                <a:cs typeface="宋体" panose="02010600030101010101" pitchFamily="2" charset="-122"/>
              </a:rPr>
              <a:t>分</a:t>
            </a:r>
            <a:r>
              <a:rPr lang="zh-CN" altLang="zh-CN" sz="1800" b="1" kern="1800" spc="40" dirty="0">
                <a:effectLst/>
                <a:latin typeface="等线" panose="02010600030101010101" charset="-122"/>
                <a:ea typeface="宋体" panose="02010600030101010101" pitchFamily="2" charset="-122"/>
                <a:cs typeface="宋体" panose="02010600030101010101" pitchFamily="2" charset="-122"/>
              </a:rPr>
              <a:t>；</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a:p>
            <a:pPr indent="288290" algn="just"/>
            <a:r>
              <a:rPr lang="zh-CN" altLang="zh-CN" sz="1800" b="1" kern="1800" spc="40" dirty="0">
                <a:effectLst/>
                <a:latin typeface="等线" panose="02010600030101010101" charset="-122"/>
                <a:ea typeface="宋体" panose="02010600030101010101" pitchFamily="2" charset="-122"/>
                <a:cs typeface="宋体" panose="02010600030101010101" pitchFamily="2" charset="-122"/>
              </a:rPr>
              <a:t>学生从两个维度结合材料展开分析，比较准确运用４个要点</a:t>
            </a:r>
            <a:r>
              <a:rPr lang="en-US" altLang="zh-CN" sz="1800" b="1" kern="1800" spc="40" dirty="0">
                <a:solidFill>
                  <a:srgbClr val="FF0000"/>
                </a:solidFill>
                <a:effectLst/>
                <a:latin typeface="等线" panose="02010600030101010101" charset="-122"/>
                <a:ea typeface="宋体" panose="02010600030101010101" pitchFamily="2" charset="-122"/>
                <a:cs typeface="宋体" panose="02010600030101010101" pitchFamily="2" charset="-122"/>
              </a:rPr>
              <a:t>4</a:t>
            </a:r>
            <a:r>
              <a:rPr lang="zh-CN" altLang="zh-CN" sz="1800" b="1" kern="1800" spc="40" dirty="0">
                <a:solidFill>
                  <a:srgbClr val="FF0000"/>
                </a:solidFill>
                <a:effectLst/>
                <a:latin typeface="等线" panose="02010600030101010101" charset="-122"/>
                <a:ea typeface="宋体" panose="02010600030101010101" pitchFamily="2" charset="-122"/>
                <a:cs typeface="宋体" panose="02010600030101010101" pitchFamily="2" charset="-122"/>
              </a:rPr>
              <a:t>分</a:t>
            </a:r>
            <a:r>
              <a:rPr lang="zh-CN" altLang="zh-CN" sz="1800" b="1" kern="1800" spc="40" dirty="0">
                <a:effectLst/>
                <a:latin typeface="等线" panose="02010600030101010101" charset="-122"/>
                <a:ea typeface="宋体" panose="02010600030101010101" pitchFamily="2" charset="-122"/>
                <a:cs typeface="宋体" panose="02010600030101010101" pitchFamily="2" charset="-122"/>
              </a:rPr>
              <a:t>，</a:t>
            </a:r>
            <a:r>
              <a:rPr lang="en-US" altLang="zh-CN" sz="1800" b="1" kern="1800" spc="40" dirty="0">
                <a:effectLst/>
                <a:latin typeface="等线" panose="02010600030101010101" charset="-122"/>
                <a:ea typeface="宋体" panose="02010600030101010101" pitchFamily="2" charset="-122"/>
                <a:cs typeface="宋体" panose="02010600030101010101" pitchFamily="2" charset="-122"/>
              </a:rPr>
              <a:t>3</a:t>
            </a:r>
            <a:r>
              <a:rPr lang="zh-CN" altLang="zh-CN" sz="1800" b="1" kern="1800" spc="40" dirty="0">
                <a:effectLst/>
                <a:latin typeface="等线" panose="02010600030101010101" charset="-122"/>
                <a:ea typeface="宋体" panose="02010600030101010101" pitchFamily="2" charset="-122"/>
                <a:cs typeface="宋体" panose="02010600030101010101" pitchFamily="2" charset="-122"/>
              </a:rPr>
              <a:t>个要点</a:t>
            </a:r>
            <a:r>
              <a:rPr lang="en-US" altLang="zh-CN" sz="1800" b="1" kern="1800" spc="40" dirty="0">
                <a:solidFill>
                  <a:srgbClr val="FF0000"/>
                </a:solidFill>
                <a:effectLst/>
                <a:latin typeface="等线" panose="02010600030101010101" charset="-122"/>
                <a:ea typeface="宋体" panose="02010600030101010101" pitchFamily="2" charset="-122"/>
                <a:cs typeface="宋体" panose="02010600030101010101" pitchFamily="2" charset="-122"/>
              </a:rPr>
              <a:t>3</a:t>
            </a:r>
            <a:r>
              <a:rPr lang="zh-CN" altLang="zh-CN" sz="1800" b="1" kern="1800" spc="40" dirty="0">
                <a:solidFill>
                  <a:srgbClr val="FF0000"/>
                </a:solidFill>
                <a:effectLst/>
                <a:latin typeface="等线" panose="02010600030101010101" charset="-122"/>
                <a:ea typeface="宋体" panose="02010600030101010101" pitchFamily="2" charset="-122"/>
                <a:cs typeface="宋体" panose="02010600030101010101" pitchFamily="2" charset="-122"/>
              </a:rPr>
              <a:t>分</a:t>
            </a:r>
            <a:r>
              <a:rPr lang="zh-CN" altLang="zh-CN" sz="1800" b="1" kern="1800" spc="40" dirty="0">
                <a:effectLst/>
                <a:latin typeface="等线" panose="02010600030101010101" charset="-122"/>
                <a:ea typeface="宋体" panose="02010600030101010101" pitchFamily="2" charset="-122"/>
                <a:cs typeface="宋体" panose="02010600030101010101" pitchFamily="2" charset="-122"/>
              </a:rPr>
              <a:t>，</a:t>
            </a:r>
            <a:r>
              <a:rPr lang="en-US" altLang="zh-CN" sz="1800" b="1" kern="1800" spc="40" dirty="0">
                <a:effectLst/>
                <a:latin typeface="等线" panose="02010600030101010101" charset="-122"/>
                <a:ea typeface="宋体" panose="02010600030101010101" pitchFamily="2" charset="-122"/>
                <a:cs typeface="宋体" panose="02010600030101010101" pitchFamily="2" charset="-122"/>
              </a:rPr>
              <a:t>2</a:t>
            </a:r>
            <a:r>
              <a:rPr lang="zh-CN" altLang="zh-CN" sz="1800" b="1" kern="1800" spc="40" dirty="0">
                <a:effectLst/>
                <a:latin typeface="等线" panose="02010600030101010101" charset="-122"/>
                <a:ea typeface="宋体" panose="02010600030101010101" pitchFamily="2" charset="-122"/>
                <a:cs typeface="宋体" panose="02010600030101010101" pitchFamily="2" charset="-122"/>
              </a:rPr>
              <a:t>个要点</a:t>
            </a:r>
            <a:r>
              <a:rPr lang="en-US" altLang="zh-CN" sz="1800" b="1" kern="1800" spc="40" dirty="0">
                <a:solidFill>
                  <a:srgbClr val="FF0000"/>
                </a:solidFill>
                <a:effectLst/>
                <a:latin typeface="等线" panose="02010600030101010101" charset="-122"/>
                <a:ea typeface="宋体" panose="02010600030101010101" pitchFamily="2" charset="-122"/>
                <a:cs typeface="宋体" panose="02010600030101010101" pitchFamily="2" charset="-122"/>
              </a:rPr>
              <a:t>2</a:t>
            </a:r>
            <a:r>
              <a:rPr lang="zh-CN" altLang="zh-CN" sz="1800" b="1" kern="1800" spc="40" dirty="0">
                <a:solidFill>
                  <a:srgbClr val="FF0000"/>
                </a:solidFill>
                <a:effectLst/>
                <a:latin typeface="等线" panose="02010600030101010101" charset="-122"/>
                <a:ea typeface="宋体" panose="02010600030101010101" pitchFamily="2" charset="-122"/>
                <a:cs typeface="宋体" panose="02010600030101010101" pitchFamily="2" charset="-122"/>
              </a:rPr>
              <a:t>分</a:t>
            </a:r>
            <a:r>
              <a:rPr lang="zh-CN" altLang="zh-CN" sz="1800" b="1" kern="1800" spc="40" dirty="0">
                <a:effectLst/>
                <a:latin typeface="等线" panose="02010600030101010101" charset="-122"/>
                <a:ea typeface="宋体" panose="02010600030101010101" pitchFamily="2" charset="-122"/>
                <a:cs typeface="宋体" panose="02010600030101010101" pitchFamily="2" charset="-122"/>
              </a:rPr>
              <a:t>；</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a:p>
            <a:pPr indent="288290" algn="just"/>
            <a:r>
              <a:rPr lang="zh-CN" altLang="zh-CN" sz="1800" b="1" kern="1800" spc="40" dirty="0">
                <a:effectLst/>
                <a:latin typeface="等线" panose="02010600030101010101" charset="-122"/>
                <a:ea typeface="宋体" panose="02010600030101010101" pitchFamily="2" charset="-122"/>
                <a:cs typeface="宋体" panose="02010600030101010101" pitchFamily="2" charset="-122"/>
              </a:rPr>
              <a:t>学生从两个维度结合材料展开分析，运用４个要点但表述不够准确</a:t>
            </a:r>
            <a:r>
              <a:rPr lang="en-US" altLang="zh-CN" sz="1800" b="1" kern="1800" spc="40" dirty="0">
                <a:solidFill>
                  <a:srgbClr val="FF0000"/>
                </a:solidFill>
                <a:effectLst/>
                <a:latin typeface="等线" panose="02010600030101010101" charset="-122"/>
                <a:ea typeface="宋体" panose="02010600030101010101" pitchFamily="2" charset="-122"/>
                <a:cs typeface="宋体" panose="02010600030101010101" pitchFamily="2" charset="-122"/>
              </a:rPr>
              <a:t>3</a:t>
            </a:r>
            <a:r>
              <a:rPr lang="zh-CN" altLang="zh-CN" sz="1800" b="1" kern="1800" spc="40" dirty="0">
                <a:solidFill>
                  <a:srgbClr val="FF0000"/>
                </a:solidFill>
                <a:effectLst/>
                <a:latin typeface="等线" panose="02010600030101010101" charset="-122"/>
                <a:ea typeface="宋体" panose="02010600030101010101" pitchFamily="2" charset="-122"/>
                <a:cs typeface="宋体" panose="02010600030101010101" pitchFamily="2" charset="-122"/>
              </a:rPr>
              <a:t>分</a:t>
            </a:r>
            <a:r>
              <a:rPr lang="zh-CN" altLang="zh-CN" sz="1800" b="1" kern="1800" spc="40" dirty="0">
                <a:effectLst/>
                <a:latin typeface="等线" panose="02010600030101010101" charset="-122"/>
                <a:ea typeface="宋体" panose="02010600030101010101" pitchFamily="2" charset="-122"/>
                <a:cs typeface="宋体" panose="02010600030101010101" pitchFamily="2" charset="-122"/>
              </a:rPr>
              <a:t>，</a:t>
            </a:r>
            <a:r>
              <a:rPr lang="en-US" altLang="zh-CN" sz="1800" b="1" kern="1800" spc="40" dirty="0">
                <a:effectLst/>
                <a:latin typeface="等线" panose="02010600030101010101" charset="-122"/>
                <a:ea typeface="宋体" panose="02010600030101010101" pitchFamily="2" charset="-122"/>
                <a:cs typeface="宋体" panose="02010600030101010101" pitchFamily="2" charset="-122"/>
              </a:rPr>
              <a:t>3</a:t>
            </a:r>
            <a:r>
              <a:rPr lang="zh-CN" altLang="zh-CN" sz="1800" b="1" kern="1800" spc="40" dirty="0">
                <a:effectLst/>
                <a:latin typeface="等线" panose="02010600030101010101" charset="-122"/>
                <a:ea typeface="宋体" panose="02010600030101010101" pitchFamily="2" charset="-122"/>
                <a:cs typeface="宋体" panose="02010600030101010101" pitchFamily="2" charset="-122"/>
              </a:rPr>
              <a:t>个要点</a:t>
            </a:r>
            <a:r>
              <a:rPr lang="en-US" altLang="zh-CN" sz="1800" b="1" kern="1800" spc="40" dirty="0">
                <a:solidFill>
                  <a:srgbClr val="FF0000"/>
                </a:solidFill>
                <a:effectLst/>
                <a:latin typeface="等线" panose="02010600030101010101" charset="-122"/>
                <a:ea typeface="宋体" panose="02010600030101010101" pitchFamily="2" charset="-122"/>
                <a:cs typeface="宋体" panose="02010600030101010101" pitchFamily="2" charset="-122"/>
              </a:rPr>
              <a:t>2</a:t>
            </a:r>
            <a:r>
              <a:rPr lang="zh-CN" altLang="zh-CN" sz="1800" b="1" kern="1800" spc="40" dirty="0">
                <a:solidFill>
                  <a:srgbClr val="FF0000"/>
                </a:solidFill>
                <a:effectLst/>
                <a:latin typeface="等线" panose="02010600030101010101" charset="-122"/>
                <a:ea typeface="宋体" panose="02010600030101010101" pitchFamily="2" charset="-122"/>
                <a:cs typeface="宋体" panose="02010600030101010101" pitchFamily="2" charset="-122"/>
              </a:rPr>
              <a:t>分</a:t>
            </a:r>
            <a:r>
              <a:rPr lang="zh-CN" altLang="zh-CN" sz="1800" b="1" kern="1800" spc="40" dirty="0">
                <a:effectLst/>
                <a:latin typeface="等线" panose="02010600030101010101" charset="-122"/>
                <a:ea typeface="宋体" panose="02010600030101010101" pitchFamily="2" charset="-122"/>
                <a:cs typeface="宋体" panose="02010600030101010101" pitchFamily="2" charset="-122"/>
              </a:rPr>
              <a:t>，</a:t>
            </a:r>
            <a:r>
              <a:rPr lang="en-US" altLang="zh-CN" sz="1800" b="1" kern="1800" spc="40" dirty="0">
                <a:effectLst/>
                <a:latin typeface="等线" panose="02010600030101010101" charset="-122"/>
                <a:ea typeface="宋体" panose="02010600030101010101" pitchFamily="2" charset="-122"/>
                <a:cs typeface="宋体" panose="02010600030101010101" pitchFamily="2" charset="-122"/>
              </a:rPr>
              <a:t>2</a:t>
            </a:r>
            <a:r>
              <a:rPr lang="zh-CN" altLang="zh-CN" sz="1800" b="1" kern="1800" spc="40" dirty="0">
                <a:effectLst/>
                <a:latin typeface="等线" panose="02010600030101010101" charset="-122"/>
                <a:ea typeface="宋体" panose="02010600030101010101" pitchFamily="2" charset="-122"/>
                <a:cs typeface="宋体" panose="02010600030101010101" pitchFamily="2" charset="-122"/>
              </a:rPr>
              <a:t>个要点</a:t>
            </a:r>
            <a:r>
              <a:rPr lang="en-US" altLang="zh-CN" sz="1800" b="1" kern="1800" spc="40" dirty="0">
                <a:solidFill>
                  <a:srgbClr val="FF0000"/>
                </a:solidFill>
                <a:effectLst/>
                <a:latin typeface="等线" panose="02010600030101010101" charset="-122"/>
                <a:ea typeface="宋体" panose="02010600030101010101" pitchFamily="2" charset="-122"/>
                <a:cs typeface="宋体" panose="02010600030101010101" pitchFamily="2" charset="-122"/>
              </a:rPr>
              <a:t>1</a:t>
            </a:r>
            <a:r>
              <a:rPr lang="zh-CN" altLang="zh-CN" sz="1800" b="1" kern="1800" spc="40" dirty="0">
                <a:solidFill>
                  <a:srgbClr val="FF0000"/>
                </a:solidFill>
                <a:effectLst/>
                <a:latin typeface="等线" panose="02010600030101010101" charset="-122"/>
                <a:ea typeface="宋体" panose="02010600030101010101" pitchFamily="2" charset="-122"/>
                <a:cs typeface="宋体" panose="02010600030101010101" pitchFamily="2" charset="-122"/>
              </a:rPr>
              <a:t>分</a:t>
            </a:r>
            <a:r>
              <a:rPr lang="zh-CN" altLang="zh-CN" sz="1800" b="1" kern="1800" spc="40" dirty="0">
                <a:effectLst/>
                <a:latin typeface="等线" panose="02010600030101010101" charset="-122"/>
                <a:ea typeface="宋体" panose="02010600030101010101" pitchFamily="2" charset="-122"/>
                <a:cs typeface="宋体" panose="02010600030101010101" pitchFamily="2" charset="-122"/>
              </a:rPr>
              <a:t>；</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a:p>
            <a:pPr indent="288290" algn="just"/>
            <a:r>
              <a:rPr lang="zh-CN" altLang="zh-CN" sz="1800" b="1" kern="1800" spc="40" dirty="0">
                <a:effectLst/>
                <a:latin typeface="等线" panose="02010600030101010101" charset="-122"/>
                <a:ea typeface="宋体" panose="02010600030101010101" pitchFamily="2" charset="-122"/>
                <a:cs typeface="宋体" panose="02010600030101010101" pitchFamily="2" charset="-122"/>
              </a:rPr>
              <a:t>学生只从一个维度结合材料展开分析，准确运用</a:t>
            </a:r>
            <a:r>
              <a:rPr lang="en-US" altLang="zh-CN" sz="1800" b="1" kern="1800" spc="40" dirty="0">
                <a:effectLst/>
                <a:latin typeface="等线" panose="02010600030101010101" charset="-122"/>
                <a:ea typeface="宋体" panose="02010600030101010101" pitchFamily="2" charset="-122"/>
                <a:cs typeface="宋体" panose="02010600030101010101" pitchFamily="2" charset="-122"/>
              </a:rPr>
              <a:t>1</a:t>
            </a:r>
            <a:r>
              <a:rPr lang="zh-CN" altLang="zh-CN" sz="1800" b="1" kern="1800" spc="40" dirty="0">
                <a:effectLst/>
                <a:latin typeface="等线" panose="02010600030101010101" charset="-122"/>
                <a:ea typeface="宋体" panose="02010600030101010101" pitchFamily="2" charset="-122"/>
                <a:cs typeface="宋体" panose="02010600030101010101" pitchFamily="2" charset="-122"/>
              </a:rPr>
              <a:t>个要点</a:t>
            </a:r>
            <a:r>
              <a:rPr lang="en-US" altLang="zh-CN" sz="1800" b="1" kern="1800" spc="40" dirty="0">
                <a:solidFill>
                  <a:srgbClr val="FF0000"/>
                </a:solidFill>
                <a:effectLst/>
                <a:latin typeface="等线" panose="02010600030101010101" charset="-122"/>
                <a:ea typeface="宋体" panose="02010600030101010101" pitchFamily="2" charset="-122"/>
                <a:cs typeface="宋体" panose="02010600030101010101" pitchFamily="2" charset="-122"/>
              </a:rPr>
              <a:t>1</a:t>
            </a:r>
            <a:r>
              <a:rPr lang="zh-CN" altLang="zh-CN" sz="1800" b="1" kern="1800" spc="40" dirty="0">
                <a:solidFill>
                  <a:srgbClr val="FF0000"/>
                </a:solidFill>
                <a:effectLst/>
                <a:latin typeface="等线" panose="02010600030101010101" charset="-122"/>
                <a:ea typeface="宋体" panose="02010600030101010101" pitchFamily="2" charset="-122"/>
                <a:cs typeface="宋体" panose="02010600030101010101" pitchFamily="2" charset="-122"/>
              </a:rPr>
              <a:t>分</a:t>
            </a:r>
            <a:r>
              <a:rPr lang="zh-CN" altLang="zh-CN" sz="1800" b="1" kern="1800" spc="40" dirty="0">
                <a:effectLst/>
                <a:latin typeface="等线" panose="02010600030101010101" charset="-122"/>
                <a:ea typeface="宋体" panose="02010600030101010101" pitchFamily="2" charset="-122"/>
                <a:cs typeface="宋体" panose="02010600030101010101" pitchFamily="2" charset="-122"/>
              </a:rPr>
              <a:t>，２个要点</a:t>
            </a:r>
            <a:r>
              <a:rPr lang="zh-CN" altLang="zh-CN" sz="1800" b="1" kern="1800" spc="40" dirty="0">
                <a:solidFill>
                  <a:srgbClr val="FF0000"/>
                </a:solidFill>
                <a:effectLst/>
                <a:latin typeface="等线" panose="02010600030101010101" charset="-122"/>
                <a:ea typeface="宋体" panose="02010600030101010101" pitchFamily="2" charset="-122"/>
                <a:cs typeface="宋体" panose="02010600030101010101" pitchFamily="2" charset="-122"/>
              </a:rPr>
              <a:t>２分</a:t>
            </a:r>
            <a:r>
              <a:rPr lang="zh-CN" altLang="zh-CN" sz="1800" b="1" kern="1800" spc="40" dirty="0">
                <a:effectLst/>
                <a:latin typeface="等线" panose="02010600030101010101" charset="-122"/>
                <a:ea typeface="宋体" panose="02010600030101010101" pitchFamily="2" charset="-122"/>
                <a:cs typeface="宋体" panose="02010600030101010101" pitchFamily="2" charset="-122"/>
              </a:rPr>
              <a:t>，但最多给</a:t>
            </a:r>
            <a:r>
              <a:rPr lang="en-US" altLang="zh-CN" sz="1800" b="1" kern="1800" spc="40" dirty="0">
                <a:solidFill>
                  <a:srgbClr val="FF0000"/>
                </a:solidFill>
                <a:effectLst/>
                <a:latin typeface="等线" panose="02010600030101010101" charset="-122"/>
                <a:ea typeface="宋体" panose="02010600030101010101" pitchFamily="2" charset="-122"/>
                <a:cs typeface="宋体" panose="02010600030101010101" pitchFamily="2" charset="-122"/>
              </a:rPr>
              <a:t>3</a:t>
            </a:r>
            <a:r>
              <a:rPr lang="zh-CN" altLang="zh-CN" sz="1800" b="1" kern="1800" spc="40" dirty="0">
                <a:solidFill>
                  <a:srgbClr val="FF0000"/>
                </a:solidFill>
                <a:effectLst/>
                <a:latin typeface="等线" panose="02010600030101010101" charset="-122"/>
                <a:ea typeface="宋体" panose="02010600030101010101" pitchFamily="2" charset="-122"/>
                <a:cs typeface="宋体" panose="02010600030101010101" pitchFamily="2" charset="-122"/>
              </a:rPr>
              <a:t>分</a:t>
            </a:r>
            <a:r>
              <a:rPr lang="zh-CN" altLang="zh-CN" sz="1800" b="1" kern="1800" spc="40" dirty="0">
                <a:effectLst/>
                <a:latin typeface="等线" panose="02010600030101010101" charset="-122"/>
                <a:ea typeface="宋体" panose="02010600030101010101" pitchFamily="2" charset="-122"/>
                <a:cs typeface="宋体" panose="02010600030101010101" pitchFamily="2" charset="-122"/>
              </a:rPr>
              <a:t>；</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a:p>
            <a:pPr indent="288290" algn="just"/>
            <a:r>
              <a:rPr lang="zh-CN" altLang="zh-CN" sz="1800" b="1" kern="1800" spc="40" dirty="0">
                <a:effectLst/>
                <a:latin typeface="等线" panose="02010600030101010101" charset="-122"/>
                <a:ea typeface="宋体" panose="02010600030101010101" pitchFamily="2" charset="-122"/>
                <a:cs typeface="宋体" panose="02010600030101010101" pitchFamily="2" charset="-122"/>
              </a:rPr>
              <a:t>无要点，但能结合材料指向</a:t>
            </a:r>
            <a:r>
              <a:rPr lang="zh-CN" altLang="zh-CN" sz="1800" b="1" kern="100" dirty="0">
                <a:effectLst/>
                <a:latin typeface="等线" panose="02010600030101010101" charset="-122"/>
                <a:ea typeface="宋体" panose="02010600030101010101" pitchFamily="2" charset="-122"/>
                <a:cs typeface="宋体" panose="02010600030101010101" pitchFamily="2" charset="-122"/>
              </a:rPr>
              <a:t>“如何推动”</a:t>
            </a:r>
            <a:r>
              <a:rPr lang="en-US" altLang="zh-CN" sz="1800" b="1" kern="1800" spc="40" dirty="0">
                <a:solidFill>
                  <a:srgbClr val="FF0000"/>
                </a:solidFill>
                <a:effectLst/>
                <a:latin typeface="等线" panose="02010600030101010101" charset="-122"/>
                <a:ea typeface="宋体" panose="02010600030101010101" pitchFamily="2" charset="-122"/>
                <a:cs typeface="宋体" panose="02010600030101010101" pitchFamily="2" charset="-122"/>
              </a:rPr>
              <a:t>1</a:t>
            </a:r>
            <a:r>
              <a:rPr lang="zh-CN" altLang="zh-CN" sz="1800" b="1" kern="1800" spc="40" dirty="0">
                <a:solidFill>
                  <a:srgbClr val="FF0000"/>
                </a:solidFill>
                <a:effectLst/>
                <a:latin typeface="等线" panose="02010600030101010101" charset="-122"/>
                <a:ea typeface="宋体" panose="02010600030101010101" pitchFamily="2" charset="-122"/>
                <a:cs typeface="宋体" panose="02010600030101010101" pitchFamily="2" charset="-122"/>
              </a:rPr>
              <a:t>分；</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a:p>
            <a:pPr indent="288290" algn="just"/>
            <a:r>
              <a:rPr lang="zh-CN" altLang="zh-CN" sz="1800" b="1" kern="1800" spc="40" dirty="0">
                <a:effectLst/>
                <a:latin typeface="等线" panose="02010600030101010101" charset="-122"/>
                <a:ea typeface="宋体" panose="02010600030101010101" pitchFamily="2" charset="-122"/>
                <a:cs typeface="宋体" panose="02010600030101010101" pitchFamily="2" charset="-122"/>
              </a:rPr>
              <a:t>无要点，</a:t>
            </a:r>
            <a:r>
              <a:rPr lang="zh-CN" altLang="zh-CN" sz="1800" b="1" kern="100" dirty="0">
                <a:effectLst/>
                <a:latin typeface="等线" panose="02010600030101010101" charset="-122"/>
                <a:ea typeface="宋体" panose="02010600030101010101" pitchFamily="2" charset="-122"/>
                <a:cs typeface="宋体" panose="02010600030101010101" pitchFamily="2" charset="-122"/>
              </a:rPr>
              <a:t>表述也未指向“如何推动”</a:t>
            </a:r>
            <a:r>
              <a:rPr lang="en-US" altLang="zh-CN" sz="1800" b="1" kern="1800" spc="40" dirty="0">
                <a:solidFill>
                  <a:srgbClr val="FF0000"/>
                </a:solidFill>
                <a:effectLst/>
                <a:latin typeface="等线" panose="02010600030101010101" charset="-122"/>
                <a:ea typeface="宋体" panose="02010600030101010101" pitchFamily="2" charset="-122"/>
                <a:cs typeface="宋体" panose="02010600030101010101" pitchFamily="2" charset="-122"/>
              </a:rPr>
              <a:t>0</a:t>
            </a:r>
            <a:r>
              <a:rPr lang="zh-CN" altLang="zh-CN" sz="1800" b="1" kern="1800" spc="40" dirty="0">
                <a:solidFill>
                  <a:srgbClr val="FF0000"/>
                </a:solidFill>
                <a:effectLst/>
                <a:latin typeface="等线" panose="02010600030101010101" charset="-122"/>
                <a:ea typeface="宋体" panose="02010600030101010101" pitchFamily="2" charset="-122"/>
                <a:cs typeface="宋体" panose="02010600030101010101" pitchFamily="2" charset="-122"/>
              </a:rPr>
              <a:t>分。</a:t>
            </a:r>
            <a:endParaRPr lang="zh-CN" altLang="zh-CN" sz="1800" kern="100" dirty="0">
              <a:effectLst/>
              <a:latin typeface="等线" panose="02010600030101010101" charset="-122"/>
              <a:ea typeface="等线" panose="02010600030101010101" charset="-122"/>
              <a:cs typeface="Times New Roman" panose="02020603050405020304" pitchFamily="18"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969080" y="3421234"/>
            <a:ext cx="3671905" cy="1107996"/>
          </a:xfrm>
          <a:prstGeom prst="rect">
            <a:avLst/>
          </a:prstGeom>
          <a:noFill/>
        </p:spPr>
        <p:txBody>
          <a:bodyPr wrap="square">
            <a:spAutoFit/>
          </a:bodyPr>
          <a:lstStyle/>
          <a:p>
            <a:r>
              <a:rPr lang="zh-CN" altLang="en-US" sz="6600" b="1" dirty="0">
                <a:solidFill>
                  <a:schemeClr val="bg1"/>
                </a:solidFill>
              </a:rPr>
              <a:t>跟进练习</a:t>
            </a:r>
            <a:endParaRPr lang="en-US" altLang="zh-CN" sz="6600" b="1" dirty="0">
              <a:solidFill>
                <a:schemeClr val="bg1"/>
              </a:solidFill>
            </a:endParaRPr>
          </a:p>
        </p:txBody>
      </p:sp>
      <p:sp>
        <p:nvSpPr>
          <p:cNvPr id="16" name="文本框 15"/>
          <p:cNvSpPr txBox="1"/>
          <p:nvPr/>
        </p:nvSpPr>
        <p:spPr>
          <a:xfrm>
            <a:off x="8779507" y="1939266"/>
            <a:ext cx="1857274" cy="1569660"/>
          </a:xfrm>
          <a:prstGeom prst="rect">
            <a:avLst/>
          </a:prstGeom>
          <a:noFill/>
        </p:spPr>
        <p:txBody>
          <a:bodyPr wrap="square" rtlCol="0">
            <a:spAutoFit/>
          </a:bodyPr>
          <a:lstStyle/>
          <a:p>
            <a:r>
              <a:rPr lang="en-US" altLang="zh-CN" sz="9600" dirty="0">
                <a:gradFill>
                  <a:gsLst>
                    <a:gs pos="100000">
                      <a:schemeClr val="accent1"/>
                    </a:gs>
                    <a:gs pos="0">
                      <a:schemeClr val="accent1">
                        <a:lumMod val="75000"/>
                      </a:schemeClr>
                    </a:gs>
                  </a:gsLst>
                  <a:lin ang="0" scaled="1"/>
                </a:gradFill>
                <a:latin typeface="+mj-lt"/>
              </a:rPr>
              <a:t>04</a:t>
            </a:r>
            <a:endParaRPr lang="zh-CN" altLang="en-US" sz="9600" dirty="0">
              <a:gradFill>
                <a:gsLst>
                  <a:gs pos="100000">
                    <a:schemeClr val="accent1"/>
                  </a:gs>
                  <a:gs pos="0">
                    <a:schemeClr val="accent1">
                      <a:lumMod val="75000"/>
                    </a:schemeClr>
                  </a:gs>
                </a:gsLst>
                <a:lin ang="0" scaled="1"/>
              </a:gradFill>
              <a:latin typeface="+mj-lt"/>
            </a:endParaRPr>
          </a:p>
        </p:txBody>
      </p:sp>
    </p:spTree>
  </p:cSld>
  <p:clrMapOvr>
    <a:masterClrMapping/>
  </p:clrMapOvr>
</p:sld>
</file>

<file path=ppt/tags/tag1.xml><?xml version="1.0" encoding="utf-8"?>
<p:tagLst xmlns:p="http://schemas.openxmlformats.org/presentationml/2006/main">
  <p:tag name="TABLE_ENDDRAG_ORIGIN_RECT" val="889*487"/>
  <p:tag name="TABLE_ENDDRAG_RECT" val="30*12*889*487"/>
</p:tagLst>
</file>

<file path=ppt/tags/tag2.xml><?xml version="1.0" encoding="utf-8"?>
<p:tagLst xmlns:p="http://schemas.openxmlformats.org/presentationml/2006/main">
  <p:tag name="KSO_WM_TAG_VERSION" val="1.0"/>
  <p:tag name="KSO_WM_BEAUTIFY_FLAG" val="#wm#"/>
  <p:tag name="KSO_WM_TEMPLATE_CATEGORY" val="diagram"/>
  <p:tag name="KSO_WM_TEMPLATE_INDEX" val="20170977"/>
  <p:tag name="KSO_WM_UNIT_TYPE" val="m_i"/>
  <p:tag name="KSO_WM_UNIT_INDEX" val="1_1"/>
  <p:tag name="KSO_WM_UNIT_LAYERLEVEL" val="1_1"/>
  <p:tag name="KSO_WM_DIAGRAM_GROUP_CODE" val="m1-1"/>
  <p:tag name="KSO_WM_UNIT_ID" val="diagram20170977_3*m_i*1_1"/>
  <p:tag name="KSO_WM_UNIT_LINE_FORE_SCHEMECOLOR_INDEX" val="6"/>
  <p:tag name="KSO_WM_UNIT_LINE_FILL_TYPE" val="2"/>
  <p:tag name="KSO_WM_UNIT_TEXT_FILL_FORE_SCHEMECOLOR_INDEX" val="13"/>
  <p:tag name="KSO_WM_UNIT_TEXT_FILL_TYPE" val="1"/>
</p:tagLst>
</file>

<file path=ppt/tags/tag3.xml><?xml version="1.0" encoding="utf-8"?>
<p:tagLst xmlns:p="http://schemas.openxmlformats.org/presentationml/2006/main">
  <p:tag name="KSO_WM_TAG_VERSION" val="1.0"/>
  <p:tag name="KSO_WM_BEAUTIFY_FLAG" val="#wm#"/>
  <p:tag name="KSO_WM_TEMPLATE_CATEGORY" val="diagram"/>
  <p:tag name="KSO_WM_TEMPLATE_INDEX" val="20170977"/>
  <p:tag name="KSO_WM_UNIT_TYPE" val="m_h_i"/>
  <p:tag name="KSO_WM_UNIT_INDEX" val="1_1_1"/>
  <p:tag name="KSO_WM_UNIT_ID" val="diagram20170977_3*m_h_i*1_1_1"/>
  <p:tag name="KSO_WM_UNIT_LAYERLEVEL" val="1_1_1"/>
  <p:tag name="KSO_WM_DIAGRAM_GROUP_CODE" val="m1-1"/>
  <p:tag name="KSO_WM_UNIT_FILL_FORE_SCHEMECOLOR_INDEX" val="8"/>
  <p:tag name="KSO_WM_UNIT_FILL_TYPE" val="1"/>
  <p:tag name="KSO_WM_UNIT_LINE_FORE_SCHEMECOLOR_INDEX" val="6"/>
  <p:tag name="KSO_WM_UNIT_LINE_FILL_TYPE" val="2"/>
</p:tagLst>
</file>

<file path=ppt/tags/tag4.xml><?xml version="1.0" encoding="utf-8"?>
<p:tagLst xmlns:p="http://schemas.openxmlformats.org/presentationml/2006/main">
  <p:tag name="KSO_WM_TAG_VERSION" val="1.0"/>
  <p:tag name="KSO_WM_BEAUTIFY_FLAG" val="#wm#"/>
  <p:tag name="KSO_WM_TEMPLATE_CATEGORY" val="diagram"/>
  <p:tag name="KSO_WM_TEMPLATE_INDEX" val="20170977"/>
  <p:tag name="KSO_WM_UNIT_TYPE" val="m_h_i"/>
  <p:tag name="KSO_WM_UNIT_INDEX" val="1_1_2"/>
  <p:tag name="KSO_WM_UNIT_ID" val="diagram20170977_3*m_h_i*1_1_2"/>
  <p:tag name="KSO_WM_UNIT_LAYERLEVEL" val="1_1_1"/>
  <p:tag name="KSO_WM_DIAGRAM_GROUP_CODE" val="m1-1"/>
  <p:tag name="KSO_WM_UNIT_FILL_FORE_SCHEMECOLOR_INDEX" val="6"/>
  <p:tag name="KSO_WM_UNIT_FILL_TYPE" val="1"/>
</p:tagLst>
</file>

<file path=ppt/tags/tag5.xml><?xml version="1.0" encoding="utf-8"?>
<p:tagLst xmlns:p="http://schemas.openxmlformats.org/presentationml/2006/main">
  <p:tag name="KSO_WM_TAG_VERSION" val="1.0"/>
  <p:tag name="KSO_WM_BEAUTIFY_FLAG" val="#wm#"/>
  <p:tag name="KSO_WM_TEMPLATE_CATEGORY" val="diagram"/>
  <p:tag name="KSO_WM_TEMPLATE_INDEX" val="20170977"/>
  <p:tag name="KSO_WM_UNIT_TYPE" val="m_h_i"/>
  <p:tag name="KSO_WM_UNIT_INDEX" val="1_1_3"/>
  <p:tag name="KSO_WM_UNIT_ID" val="diagram20170977_3*m_h_i*1_1_3"/>
  <p:tag name="KSO_WM_UNIT_LAYERLEVEL" val="1_1_1"/>
  <p:tag name="KSO_WM_DIAGRAM_GROUP_CODE" val="m1-1"/>
  <p:tag name="KSO_WM_UNIT_LINE_FORE_SCHEMECOLOR_INDEX" val="6"/>
  <p:tag name="KSO_WM_UNIT_LINE_FILL_TYPE" val="2"/>
  <p:tag name="KSO_WM_UNIT_TEXT_FILL_FORE_SCHEMECOLOR_INDEX" val="13"/>
  <p:tag name="KSO_WM_UNIT_TEXT_FILL_TYPE" val="1"/>
</p:tagLst>
</file>

<file path=ppt/tags/tag6.xml><?xml version="1.0" encoding="utf-8"?>
<p:tagLst xmlns:p="http://schemas.openxmlformats.org/presentationml/2006/main">
  <p:tag name="KSO_WM_TAG_VERSION" val="1.0"/>
  <p:tag name="KSO_WM_BEAUTIFY_FLAG" val="#wm#"/>
  <p:tag name="KSO_WM_TEMPLATE_CATEGORY" val="diagram"/>
  <p:tag name="KSO_WM_TEMPLATE_INDEX" val="20170977"/>
  <p:tag name="KSO_WM_UNIT_TYPE" val="m_h_g"/>
  <p:tag name="KSO_WM_UNIT_INDEX" val="1_1_1"/>
  <p:tag name="KSO_WM_UNIT_LAYERLEVEL" val="1_1_1"/>
  <p:tag name="KSO_WM_UNIT_VALUE" val="6"/>
  <p:tag name="KSO_WM_UNIT_HIGHLIGHT" val="0"/>
  <p:tag name="KSO_WM_UNIT_COMPATIBLE" val="1"/>
  <p:tag name="KSO_WM_UNIT_CLEAR" val="0"/>
  <p:tag name="KSO_WM_UNIT_PRESET_TEXT_INDEX" val="4"/>
  <p:tag name="KSO_WM_UNIT_PRESET_TEXT_LEN" val="5"/>
  <p:tag name="KSO_WM_DIAGRAM_GROUP_CODE" val="m1-1"/>
  <p:tag name="KSO_WM_UNIT_ID" val="diagram20170977_3*m_h_g*1_1_1"/>
  <p:tag name="KSO_WM_UNIT_RELATE_UNITID" val="diagram20170977_3*m_h_f*1_1_1"/>
  <p:tag name="KSO_WM_UNIT_TEXT_FILL_FORE_SCHEMECOLOR_INDEX" val="14"/>
  <p:tag name="KSO_WM_UNIT_TEXT_FILL_TYPE" val="1"/>
</p:tagLst>
</file>

<file path=ppt/tags/tag7.xml><?xml version="1.0" encoding="utf-8"?>
<p:tagLst xmlns:p="http://schemas.openxmlformats.org/presentationml/2006/main">
  <p:tag name="KSO_WM_TAG_VERSION" val="1.0"/>
  <p:tag name="KSO_WM_BEAUTIFY_FLAG" val="#wm#"/>
  <p:tag name="KSO_WM_TEMPLATE_CATEGORY" val="diagram"/>
  <p:tag name="KSO_WM_TEMPLATE_INDEX" val="20170977"/>
  <p:tag name="KSO_WM_UNIT_TYPE" val="m_h_a"/>
  <p:tag name="KSO_WM_UNIT_INDEX" val="1_1_1"/>
  <p:tag name="KSO_WM_UNIT_LAYERLEVEL" val="1_1_1"/>
  <p:tag name="KSO_WM_UNIT_VALUE" val="8"/>
  <p:tag name="KSO_WM_UNIT_HIGHLIGHT" val="0"/>
  <p:tag name="KSO_WM_UNIT_COMPATIBLE" val="0"/>
  <p:tag name="KSO_WM_UNIT_CLEAR" val="0"/>
  <p:tag name="KSO_WM_UNIT_PRESET_TEXT_INDEX" val="3"/>
  <p:tag name="KSO_WM_UNIT_PRESET_TEXT_LEN" val="12"/>
  <p:tag name="KSO_WM_DIAGRAM_GROUP_CODE" val="m1-1"/>
  <p:tag name="KSO_WM_UNIT_ID" val="diagram20170977_3*m_h_a*1_1_1"/>
  <p:tag name="KSO_WM_UNIT_TEXT_FILL_FORE_SCHEMECOLOR_INDEX" val="13"/>
  <p:tag name="KSO_WM_UNIT_TEXT_FILL_TYPE" val="1"/>
</p:tagLst>
</file>

<file path=ppt/tags/tag8.xml><?xml version="1.0" encoding="utf-8"?>
<p:tagLst xmlns:p="http://schemas.openxmlformats.org/presentationml/2006/main">
  <p:tag name="KSO_WM_TAG_VERSION" val="1.0"/>
  <p:tag name="KSO_WM_BEAUTIFY_FLAG" val="#wm#"/>
  <p:tag name="KSO_WM_TEMPLATE_CATEGORY" val="diagram"/>
  <p:tag name="KSO_WM_TEMPLATE_INDEX" val="20170977"/>
  <p:tag name="KSO_WM_UNIT_TYPE" val="m_h_i"/>
  <p:tag name="KSO_WM_UNIT_INDEX" val="1_2_1"/>
  <p:tag name="KSO_WM_UNIT_ID" val="diagram20170977_3*m_h_i*1_2_1"/>
  <p:tag name="KSO_WM_UNIT_LAYERLEVEL" val="1_1_1"/>
  <p:tag name="KSO_WM_DIAGRAM_GROUP_CODE" val="m1-1"/>
  <p:tag name="KSO_WM_UNIT_FILL_FORE_SCHEMECOLOR_INDEX" val="8"/>
  <p:tag name="KSO_WM_UNIT_FILL_TYPE" val="1"/>
  <p:tag name="KSO_WM_UNIT_LINE_FORE_SCHEMECOLOR_INDEX" val="6"/>
  <p:tag name="KSO_WM_UNIT_LINE_FILL_TYPE" val="2"/>
</p:tagLst>
</file>

<file path=ppt/tags/tag9.xml><?xml version="1.0" encoding="utf-8"?>
<p:tagLst xmlns:p="http://schemas.openxmlformats.org/presentationml/2006/main">
  <p:tag name="KSO_WM_TAG_VERSION" val="1.0"/>
  <p:tag name="KSO_WM_BEAUTIFY_FLAG" val="#wm#"/>
  <p:tag name="KSO_WM_TEMPLATE_CATEGORY" val="diagram"/>
  <p:tag name="KSO_WM_TEMPLATE_INDEX" val="20170977"/>
  <p:tag name="KSO_WM_UNIT_TYPE" val="m_h_i"/>
  <p:tag name="KSO_WM_UNIT_INDEX" val="1_2_2"/>
  <p:tag name="KSO_WM_UNIT_ID" val="diagram20170977_3*m_h_i*1_2_2"/>
  <p:tag name="KSO_WM_UNIT_LAYERLEVEL" val="1_1_1"/>
  <p:tag name="KSO_WM_DIAGRAM_GROUP_CODE" val="m1-1"/>
  <p:tag name="KSO_WM_UNIT_FILL_FORE_SCHEMECOLOR_INDEX" val="6"/>
  <p:tag name="KSO_WM_UNIT_FILL_TYPE" val="1"/>
</p:tagLst>
</file>

<file path=ppt/tags/tag10.xml><?xml version="1.0" encoding="utf-8"?>
<p:tagLst xmlns:p="http://schemas.openxmlformats.org/presentationml/2006/main">
  <p:tag name="KSO_WM_TAG_VERSION" val="1.0"/>
  <p:tag name="KSO_WM_BEAUTIFY_FLAG" val="#wm#"/>
  <p:tag name="KSO_WM_TEMPLATE_CATEGORY" val="diagram"/>
  <p:tag name="KSO_WM_TEMPLATE_INDEX" val="20170977"/>
  <p:tag name="KSO_WM_UNIT_TYPE" val="m_h_i"/>
  <p:tag name="KSO_WM_UNIT_INDEX" val="1_2_3"/>
  <p:tag name="KSO_WM_UNIT_ID" val="diagram20170977_3*m_h_i*1_2_3"/>
  <p:tag name="KSO_WM_UNIT_LAYERLEVEL" val="1_1_1"/>
  <p:tag name="KSO_WM_DIAGRAM_GROUP_CODE" val="m1-1"/>
  <p:tag name="KSO_WM_UNIT_LINE_FORE_SCHEMECOLOR_INDEX" val="6"/>
  <p:tag name="KSO_WM_UNIT_LINE_FILL_TYPE" val="2"/>
  <p:tag name="KSO_WM_UNIT_TEXT_FILL_FORE_SCHEMECOLOR_INDEX" val="13"/>
  <p:tag name="KSO_WM_UNIT_TEXT_FILL_TYPE" val="1"/>
</p:tagLst>
</file>

<file path=ppt/tags/tag11.xml><?xml version="1.0" encoding="utf-8"?>
<p:tagLst xmlns:p="http://schemas.openxmlformats.org/presentationml/2006/main">
  <p:tag name="KSO_WM_TAG_VERSION" val="1.0"/>
  <p:tag name="KSO_WM_BEAUTIFY_FLAG" val="#wm#"/>
  <p:tag name="KSO_WM_TEMPLATE_CATEGORY" val="diagram"/>
  <p:tag name="KSO_WM_TEMPLATE_INDEX" val="20170977"/>
  <p:tag name="KSO_WM_UNIT_TYPE" val="m_h_g"/>
  <p:tag name="KSO_WM_UNIT_INDEX" val="1_2_1"/>
  <p:tag name="KSO_WM_UNIT_LAYERLEVEL" val="1_1_1"/>
  <p:tag name="KSO_WM_UNIT_VALUE" val="6"/>
  <p:tag name="KSO_WM_UNIT_HIGHLIGHT" val="0"/>
  <p:tag name="KSO_WM_UNIT_COMPATIBLE" val="1"/>
  <p:tag name="KSO_WM_UNIT_CLEAR" val="0"/>
  <p:tag name="KSO_WM_UNIT_PRESET_TEXT_INDEX" val="4"/>
  <p:tag name="KSO_WM_UNIT_PRESET_TEXT_LEN" val="5"/>
  <p:tag name="KSO_WM_DIAGRAM_GROUP_CODE" val="m1-1"/>
  <p:tag name="KSO_WM_UNIT_ID" val="diagram20170977_3*m_h_g*1_2_1"/>
  <p:tag name="KSO_WM_UNIT_RELATE_UNITID" val="diagram20170977_3*m_h_f*1_2_1"/>
  <p:tag name="KSO_WM_UNIT_TEXT_FILL_FORE_SCHEMECOLOR_INDEX" val="14"/>
  <p:tag name="KSO_WM_UNIT_TEXT_FILL_TYPE" val="1"/>
</p:tagLst>
</file>

<file path=ppt/tags/tag12.xml><?xml version="1.0" encoding="utf-8"?>
<p:tagLst xmlns:p="http://schemas.openxmlformats.org/presentationml/2006/main">
  <p:tag name="KSO_WM_TAG_VERSION" val="1.0"/>
  <p:tag name="KSO_WM_BEAUTIFY_FLAG" val="#wm#"/>
  <p:tag name="KSO_WM_TEMPLATE_CATEGORY" val="diagram"/>
  <p:tag name="KSO_WM_TEMPLATE_INDEX" val="20170977"/>
  <p:tag name="KSO_WM_UNIT_TYPE" val="m_h_a"/>
  <p:tag name="KSO_WM_UNIT_INDEX" val="1_2_1"/>
  <p:tag name="KSO_WM_UNIT_LAYERLEVEL" val="1_1_1"/>
  <p:tag name="KSO_WM_UNIT_VALUE" val="8"/>
  <p:tag name="KSO_WM_UNIT_HIGHLIGHT" val="0"/>
  <p:tag name="KSO_WM_UNIT_COMPATIBLE" val="0"/>
  <p:tag name="KSO_WM_UNIT_CLEAR" val="0"/>
  <p:tag name="KSO_WM_UNIT_PRESET_TEXT_INDEX" val="3"/>
  <p:tag name="KSO_WM_UNIT_PRESET_TEXT_LEN" val="12"/>
  <p:tag name="KSO_WM_DIAGRAM_GROUP_CODE" val="m1-1"/>
  <p:tag name="KSO_WM_UNIT_ID" val="diagram20170977_3*m_h_a*1_2_1"/>
  <p:tag name="KSO_WM_UNIT_TEXT_FILL_FORE_SCHEMECOLOR_INDEX" val="13"/>
  <p:tag name="KSO_WM_UNIT_TEXT_FILL_TYPE" val="1"/>
</p:tagLst>
</file>

<file path=ppt/tags/tag13.xml><?xml version="1.0" encoding="utf-8"?>
<p:tagLst xmlns:p="http://schemas.openxmlformats.org/presentationml/2006/main">
  <p:tag name="KSO_WM_TAG_VERSION" val="1.0"/>
  <p:tag name="KSO_WM_BEAUTIFY_FLAG" val="#wm#"/>
  <p:tag name="KSO_WM_TEMPLATE_CATEGORY" val="diagram"/>
  <p:tag name="KSO_WM_TEMPLATE_INDEX" val="20170977"/>
  <p:tag name="KSO_WM_UNIT_TYPE" val="m_h_f"/>
  <p:tag name="KSO_WM_UNIT_INDEX" val="1_2_1"/>
  <p:tag name="KSO_WM_UNIT_LAYERLEVEL" val="1_1_1"/>
  <p:tag name="KSO_WM_UNIT_VALUE" val="24"/>
  <p:tag name="KSO_WM_UNIT_HIGHLIGHT" val="0"/>
  <p:tag name="KSO_WM_UNIT_COMPATIBLE" val="0"/>
  <p:tag name="KSO_WM_UNIT_CLEAR" val="0"/>
  <p:tag name="KSO_WM_UNIT_PRESET_TEXT_INDEX" val="4"/>
  <p:tag name="KSO_WM_UNIT_PRESET_TEXT_LEN" val="40"/>
  <p:tag name="KSO_WM_DIAGRAM_GROUP_CODE" val="m1-1"/>
  <p:tag name="KSO_WM_UNIT_ID" val="diagram20170977_3*m_h_f*1_2_1"/>
  <p:tag name="KSO_WM_UNIT_TEXT_FILL_FORE_SCHEMECOLOR_INDEX" val="13"/>
  <p:tag name="KSO_WM_UNIT_TEXT_FILL_TYPE" val="1"/>
</p:tagLst>
</file>

<file path=ppt/tags/tag14.xml><?xml version="1.0" encoding="utf-8"?>
<p:tagLst xmlns:p="http://schemas.openxmlformats.org/presentationml/2006/main">
  <p:tag name="KSO_WM_TAG_VERSION" val="1.0"/>
  <p:tag name="KSO_WM_BEAUTIFY_FLAG" val="#wm#"/>
  <p:tag name="KSO_WM_TEMPLATE_CATEGORY" val="diagram"/>
  <p:tag name="KSO_WM_TEMPLATE_INDEX" val="20170977"/>
  <p:tag name="KSO_WM_UNIT_TYPE" val="m_h_i"/>
  <p:tag name="KSO_WM_UNIT_INDEX" val="1_4_1"/>
  <p:tag name="KSO_WM_UNIT_ID" val="diagram20170977_3*m_h_i*1_4_1"/>
  <p:tag name="KSO_WM_UNIT_LAYERLEVEL" val="1_1_1"/>
  <p:tag name="KSO_WM_DIAGRAM_GROUP_CODE" val="m1-1"/>
  <p:tag name="KSO_WM_UNIT_FILL_FORE_SCHEMECOLOR_INDEX" val="8"/>
  <p:tag name="KSO_WM_UNIT_FILL_TYPE" val="1"/>
  <p:tag name="KSO_WM_UNIT_LINE_FORE_SCHEMECOLOR_INDEX" val="6"/>
  <p:tag name="KSO_WM_UNIT_LINE_FILL_TYPE" val="2"/>
</p:tagLst>
</file>

<file path=ppt/tags/tag15.xml><?xml version="1.0" encoding="utf-8"?>
<p:tagLst xmlns:p="http://schemas.openxmlformats.org/presentationml/2006/main">
  <p:tag name="KSO_WM_TAG_VERSION" val="1.0"/>
  <p:tag name="KSO_WM_BEAUTIFY_FLAG" val="#wm#"/>
  <p:tag name="KSO_WM_TEMPLATE_CATEGORY" val="diagram"/>
  <p:tag name="KSO_WM_TEMPLATE_INDEX" val="20170977"/>
  <p:tag name="KSO_WM_UNIT_TYPE" val="m_h_i"/>
  <p:tag name="KSO_WM_UNIT_INDEX" val="1_4_2"/>
  <p:tag name="KSO_WM_UNIT_ID" val="diagram20170977_3*m_h_i*1_4_2"/>
  <p:tag name="KSO_WM_UNIT_LAYERLEVEL" val="1_1_1"/>
  <p:tag name="KSO_WM_DIAGRAM_GROUP_CODE" val="m1-1"/>
  <p:tag name="KSO_WM_UNIT_FILL_FORE_SCHEMECOLOR_INDEX" val="6"/>
  <p:tag name="KSO_WM_UNIT_FILL_TYPE" val="1"/>
</p:tagLst>
</file>

<file path=ppt/tags/tag16.xml><?xml version="1.0" encoding="utf-8"?>
<p:tagLst xmlns:p="http://schemas.openxmlformats.org/presentationml/2006/main">
  <p:tag name="KSO_WM_TAG_VERSION" val="1.0"/>
  <p:tag name="KSO_WM_BEAUTIFY_FLAG" val="#wm#"/>
  <p:tag name="KSO_WM_TEMPLATE_CATEGORY" val="diagram"/>
  <p:tag name="KSO_WM_TEMPLATE_INDEX" val="20170977"/>
  <p:tag name="KSO_WM_UNIT_TYPE" val="m_h_g"/>
  <p:tag name="KSO_WM_UNIT_INDEX" val="1_4_1"/>
  <p:tag name="KSO_WM_UNIT_LAYERLEVEL" val="1_1_1"/>
  <p:tag name="KSO_WM_UNIT_VALUE" val="6"/>
  <p:tag name="KSO_WM_UNIT_HIGHLIGHT" val="0"/>
  <p:tag name="KSO_WM_UNIT_COMPATIBLE" val="1"/>
  <p:tag name="KSO_WM_UNIT_CLEAR" val="0"/>
  <p:tag name="KSO_WM_UNIT_PRESET_TEXT_INDEX" val="4"/>
  <p:tag name="KSO_WM_UNIT_PRESET_TEXT_LEN" val="5"/>
  <p:tag name="KSO_WM_DIAGRAM_GROUP_CODE" val="m1-1"/>
  <p:tag name="KSO_WM_UNIT_ID" val="diagram20170977_3*m_h_g*1_4_1"/>
  <p:tag name="KSO_WM_UNIT_RELATE_UNITID" val="diagram20170977_3*m_h_f*1_4_1"/>
  <p:tag name="KSO_WM_UNIT_TEXT_FILL_FORE_SCHEMECOLOR_INDEX" val="14"/>
  <p:tag name="KSO_WM_UNIT_TEXT_FILL_TYPE" val="1"/>
</p:tagLst>
</file>

<file path=ppt/tags/tag17.xml><?xml version="1.0" encoding="utf-8"?>
<p:tagLst xmlns:p="http://schemas.openxmlformats.org/presentationml/2006/main">
  <p:tag name="KSO_WM_TAG_VERSION" val="1.0"/>
  <p:tag name="KSO_WM_BEAUTIFY_FLAG" val="#wm#"/>
  <p:tag name="KSO_WM_TEMPLATE_CATEGORY" val="diagram"/>
  <p:tag name="KSO_WM_TEMPLATE_INDEX" val="20170977"/>
  <p:tag name="KSO_WM_UNIT_TYPE" val="m_h_i"/>
  <p:tag name="KSO_WM_UNIT_INDEX" val="1_4_3"/>
  <p:tag name="KSO_WM_UNIT_ID" val="diagram20170977_3*m_h_i*1_4_3"/>
  <p:tag name="KSO_WM_UNIT_LAYERLEVEL" val="1_1_1"/>
  <p:tag name="KSO_WM_DIAGRAM_GROUP_CODE" val="m1-1"/>
  <p:tag name="KSO_WM_UNIT_LINE_FORE_SCHEMECOLOR_INDEX" val="6"/>
  <p:tag name="KSO_WM_UNIT_LINE_FILL_TYPE" val="2"/>
  <p:tag name="KSO_WM_UNIT_TEXT_FILL_FORE_SCHEMECOLOR_INDEX" val="13"/>
  <p:tag name="KSO_WM_UNIT_TEXT_FILL_TYPE" val="1"/>
</p:tagLst>
</file>

<file path=ppt/tags/tag18.xml><?xml version="1.0" encoding="utf-8"?>
<p:tagLst xmlns:p="http://schemas.openxmlformats.org/presentationml/2006/main">
  <p:tag name="KSO_WM_TAG_VERSION" val="1.0"/>
  <p:tag name="KSO_WM_BEAUTIFY_FLAG" val="#wm#"/>
  <p:tag name="KSO_WM_TEMPLATE_CATEGORY" val="diagram"/>
  <p:tag name="KSO_WM_TEMPLATE_INDEX" val="20170977"/>
  <p:tag name="KSO_WM_UNIT_TYPE" val="m_h_a"/>
  <p:tag name="KSO_WM_UNIT_INDEX" val="1_4_1"/>
  <p:tag name="KSO_WM_UNIT_LAYERLEVEL" val="1_1_1"/>
  <p:tag name="KSO_WM_UNIT_VALUE" val="8"/>
  <p:tag name="KSO_WM_UNIT_HIGHLIGHT" val="0"/>
  <p:tag name="KSO_WM_UNIT_COMPATIBLE" val="0"/>
  <p:tag name="KSO_WM_UNIT_CLEAR" val="0"/>
  <p:tag name="KSO_WM_UNIT_PRESET_TEXT_INDEX" val="3"/>
  <p:tag name="KSO_WM_UNIT_PRESET_TEXT_LEN" val="12"/>
  <p:tag name="KSO_WM_DIAGRAM_GROUP_CODE" val="m1-1"/>
  <p:tag name="KSO_WM_UNIT_ID" val="diagram20170977_3*m_h_a*1_4_1"/>
  <p:tag name="KSO_WM_UNIT_TEXT_FILL_FORE_SCHEMECOLOR_INDEX" val="13"/>
  <p:tag name="KSO_WM_UNIT_TEXT_FILL_TYPE" val="1"/>
</p:tagLst>
</file>

<file path=ppt/tags/tag19.xml><?xml version="1.0" encoding="utf-8"?>
<p:tagLst xmlns:p="http://schemas.openxmlformats.org/presentationml/2006/main">
  <p:tag name="KSO_WM_TAG_VERSION" val="1.0"/>
  <p:tag name="KSO_WM_BEAUTIFY_FLAG" val="#wm#"/>
  <p:tag name="KSO_WM_TEMPLATE_CATEGORY" val="diagram"/>
  <p:tag name="KSO_WM_TEMPLATE_INDEX" val="20170977"/>
  <p:tag name="KSO_WM_UNIT_TYPE" val="m_h_f"/>
  <p:tag name="KSO_WM_UNIT_INDEX" val="1_4_1"/>
  <p:tag name="KSO_WM_UNIT_LAYERLEVEL" val="1_1_1"/>
  <p:tag name="KSO_WM_UNIT_VALUE" val="24"/>
  <p:tag name="KSO_WM_UNIT_HIGHLIGHT" val="0"/>
  <p:tag name="KSO_WM_UNIT_COMPATIBLE" val="0"/>
  <p:tag name="KSO_WM_UNIT_CLEAR" val="0"/>
  <p:tag name="KSO_WM_UNIT_PRESET_TEXT_INDEX" val="4"/>
  <p:tag name="KSO_WM_UNIT_PRESET_TEXT_LEN" val="40"/>
  <p:tag name="KSO_WM_DIAGRAM_GROUP_CODE" val="m1-1"/>
  <p:tag name="KSO_WM_UNIT_ID" val="diagram20170977_3*m_h_f*1_4_1"/>
  <p:tag name="KSO_WM_UNIT_TEXT_FILL_FORE_SCHEMECOLOR_INDEX" val="13"/>
  <p:tag name="KSO_WM_UNIT_TEXT_FILL_TYPE" val="1"/>
</p:tagLst>
</file>

<file path=ppt/tags/tag20.xml><?xml version="1.0" encoding="utf-8"?>
<p:tagLst xmlns:p="http://schemas.openxmlformats.org/presentationml/2006/main">
  <p:tag name="KSO_WM_TAG_VERSION" val="1.0"/>
  <p:tag name="KSO_WM_BEAUTIFY_FLAG" val="#wm#"/>
  <p:tag name="KSO_WM_TEMPLATE_CATEGORY" val="diagram"/>
  <p:tag name="KSO_WM_TEMPLATE_INDEX" val="20170977"/>
  <p:tag name="KSO_WM_UNIT_TYPE" val="m_h_i"/>
  <p:tag name="KSO_WM_UNIT_INDEX" val="1_3_1"/>
  <p:tag name="KSO_WM_UNIT_ID" val="diagram20170977_3*m_h_i*1_3_1"/>
  <p:tag name="KSO_WM_UNIT_LAYERLEVEL" val="1_1_1"/>
  <p:tag name="KSO_WM_DIAGRAM_GROUP_CODE" val="m1-1"/>
  <p:tag name="KSO_WM_UNIT_FILL_FORE_SCHEMECOLOR_INDEX" val="8"/>
  <p:tag name="KSO_WM_UNIT_FILL_TYPE" val="1"/>
  <p:tag name="KSO_WM_UNIT_LINE_FORE_SCHEMECOLOR_INDEX" val="6"/>
  <p:tag name="KSO_WM_UNIT_LINE_FILL_TYPE" val="2"/>
</p:tagLst>
</file>

<file path=ppt/tags/tag21.xml><?xml version="1.0" encoding="utf-8"?>
<p:tagLst xmlns:p="http://schemas.openxmlformats.org/presentationml/2006/main">
  <p:tag name="KSO_WM_TAG_VERSION" val="1.0"/>
  <p:tag name="KSO_WM_BEAUTIFY_FLAG" val="#wm#"/>
  <p:tag name="KSO_WM_TEMPLATE_CATEGORY" val="diagram"/>
  <p:tag name="KSO_WM_TEMPLATE_INDEX" val="20170977"/>
  <p:tag name="KSO_WM_UNIT_TYPE" val="m_h_i"/>
  <p:tag name="KSO_WM_UNIT_INDEX" val="1_3_2"/>
  <p:tag name="KSO_WM_UNIT_ID" val="diagram20170977_3*m_h_i*1_3_2"/>
  <p:tag name="KSO_WM_UNIT_LAYERLEVEL" val="1_1_1"/>
  <p:tag name="KSO_WM_DIAGRAM_GROUP_CODE" val="m1-1"/>
  <p:tag name="KSO_WM_UNIT_FILL_FORE_SCHEMECOLOR_INDEX" val="6"/>
  <p:tag name="KSO_WM_UNIT_FILL_TYPE" val="1"/>
</p:tagLst>
</file>

<file path=ppt/tags/tag22.xml><?xml version="1.0" encoding="utf-8"?>
<p:tagLst xmlns:p="http://schemas.openxmlformats.org/presentationml/2006/main">
  <p:tag name="KSO_WM_TAG_VERSION" val="1.0"/>
  <p:tag name="KSO_WM_BEAUTIFY_FLAG" val="#wm#"/>
  <p:tag name="KSO_WM_TEMPLATE_CATEGORY" val="diagram"/>
  <p:tag name="KSO_WM_TEMPLATE_INDEX" val="20170977"/>
  <p:tag name="KSO_WM_UNIT_TYPE" val="m_h_i"/>
  <p:tag name="KSO_WM_UNIT_INDEX" val="1_3_3"/>
  <p:tag name="KSO_WM_UNIT_ID" val="diagram20170977_3*m_h_i*1_3_3"/>
  <p:tag name="KSO_WM_UNIT_LAYERLEVEL" val="1_1_1"/>
  <p:tag name="KSO_WM_DIAGRAM_GROUP_CODE" val="m1-1"/>
  <p:tag name="KSO_WM_UNIT_LINE_FORE_SCHEMECOLOR_INDEX" val="6"/>
  <p:tag name="KSO_WM_UNIT_LINE_FILL_TYPE" val="2"/>
  <p:tag name="KSO_WM_UNIT_TEXT_FILL_FORE_SCHEMECOLOR_INDEX" val="13"/>
  <p:tag name="KSO_WM_UNIT_TEXT_FILL_TYPE" val="1"/>
</p:tagLst>
</file>

<file path=ppt/tags/tag23.xml><?xml version="1.0" encoding="utf-8"?>
<p:tagLst xmlns:p="http://schemas.openxmlformats.org/presentationml/2006/main">
  <p:tag name="KSO_WM_TAG_VERSION" val="1.0"/>
  <p:tag name="KSO_WM_BEAUTIFY_FLAG" val="#wm#"/>
  <p:tag name="KSO_WM_TEMPLATE_CATEGORY" val="diagram"/>
  <p:tag name="KSO_WM_TEMPLATE_INDEX" val="20170977"/>
  <p:tag name="KSO_WM_UNIT_TYPE" val="m_h_g"/>
  <p:tag name="KSO_WM_UNIT_INDEX" val="1_3_1"/>
  <p:tag name="KSO_WM_UNIT_LAYERLEVEL" val="1_1_1"/>
  <p:tag name="KSO_WM_UNIT_VALUE" val="6"/>
  <p:tag name="KSO_WM_UNIT_HIGHLIGHT" val="0"/>
  <p:tag name="KSO_WM_UNIT_COMPATIBLE" val="1"/>
  <p:tag name="KSO_WM_UNIT_CLEAR" val="0"/>
  <p:tag name="KSO_WM_UNIT_PRESET_TEXT_INDEX" val="4"/>
  <p:tag name="KSO_WM_UNIT_PRESET_TEXT_LEN" val="5"/>
  <p:tag name="KSO_WM_DIAGRAM_GROUP_CODE" val="m1-1"/>
  <p:tag name="KSO_WM_UNIT_ID" val="diagram20170977_3*m_h_g*1_3_1"/>
  <p:tag name="KSO_WM_UNIT_RELATE_UNITID" val="diagram20170977_3*m_h_f*1_3_1"/>
  <p:tag name="KSO_WM_UNIT_TEXT_FILL_FORE_SCHEMECOLOR_INDEX" val="14"/>
  <p:tag name="KSO_WM_UNIT_TEXT_FILL_TYPE" val="1"/>
</p:tagLst>
</file>

<file path=ppt/tags/tag24.xml><?xml version="1.0" encoding="utf-8"?>
<p:tagLst xmlns:p="http://schemas.openxmlformats.org/presentationml/2006/main">
  <p:tag name="KSO_WM_TAG_VERSION" val="1.0"/>
  <p:tag name="KSO_WM_BEAUTIFY_FLAG" val="#wm#"/>
  <p:tag name="KSO_WM_TEMPLATE_CATEGORY" val="diagram"/>
  <p:tag name="KSO_WM_TEMPLATE_INDEX" val="20170977"/>
  <p:tag name="KSO_WM_UNIT_TYPE" val="m_h_a"/>
  <p:tag name="KSO_WM_UNIT_INDEX" val="1_3_1"/>
  <p:tag name="KSO_WM_UNIT_LAYERLEVEL" val="1_1_1"/>
  <p:tag name="KSO_WM_UNIT_VALUE" val="8"/>
  <p:tag name="KSO_WM_UNIT_HIGHLIGHT" val="0"/>
  <p:tag name="KSO_WM_UNIT_COMPATIBLE" val="0"/>
  <p:tag name="KSO_WM_UNIT_CLEAR" val="0"/>
  <p:tag name="KSO_WM_UNIT_PRESET_TEXT_INDEX" val="3"/>
  <p:tag name="KSO_WM_UNIT_PRESET_TEXT_LEN" val="12"/>
  <p:tag name="KSO_WM_DIAGRAM_GROUP_CODE" val="m1-1"/>
  <p:tag name="KSO_WM_UNIT_ID" val="diagram20170977_3*m_h_a*1_3_1"/>
  <p:tag name="KSO_WM_UNIT_TEXT_FILL_FORE_SCHEMECOLOR_INDEX" val="13"/>
  <p:tag name="KSO_WM_UNIT_TEXT_FILL_TYPE" val="1"/>
</p:tagLst>
</file>

<file path=ppt/tags/tag25.xml><?xml version="1.0" encoding="utf-8"?>
<p:tagLst xmlns:p="http://schemas.openxmlformats.org/presentationml/2006/main">
  <p:tag name="KSO_WM_TAG_VERSION" val="1.0"/>
  <p:tag name="KSO_WM_BEAUTIFY_FLAG" val="#wm#"/>
  <p:tag name="KSO_WM_TEMPLATE_CATEGORY" val="diagram"/>
  <p:tag name="KSO_WM_TEMPLATE_INDEX" val="20170977"/>
  <p:tag name="KSO_WM_UNIT_TYPE" val="m_h_f"/>
  <p:tag name="KSO_WM_UNIT_INDEX" val="1_3_1"/>
  <p:tag name="KSO_WM_UNIT_LAYERLEVEL" val="1_1_1"/>
  <p:tag name="KSO_WM_UNIT_VALUE" val="24"/>
  <p:tag name="KSO_WM_UNIT_HIGHLIGHT" val="0"/>
  <p:tag name="KSO_WM_UNIT_COMPATIBLE" val="0"/>
  <p:tag name="KSO_WM_UNIT_CLEAR" val="0"/>
  <p:tag name="KSO_WM_UNIT_PRESET_TEXT_INDEX" val="4"/>
  <p:tag name="KSO_WM_UNIT_PRESET_TEXT_LEN" val="40"/>
  <p:tag name="KSO_WM_DIAGRAM_GROUP_CODE" val="m1-1"/>
  <p:tag name="KSO_WM_UNIT_ID" val="diagram20170977_3*m_h_f*1_3_1"/>
  <p:tag name="KSO_WM_UNIT_TEXT_FILL_FORE_SCHEMECOLOR_INDEX" val="13"/>
  <p:tag name="KSO_WM_UNIT_TEXT_FILL_TYPE" val="1"/>
</p:tagLst>
</file>

<file path=ppt/tags/tag26.xml><?xml version="1.0" encoding="utf-8"?>
<p:tagLst xmlns:p="http://schemas.openxmlformats.org/presentationml/2006/main">
  <p:tag name="AS_UNIQUEID" val="1159"/>
</p:tagLst>
</file>

<file path=ppt/tags/tag27.xml><?xml version="1.0" encoding="utf-8"?>
<p:tagLst xmlns:p="http://schemas.openxmlformats.org/presentationml/2006/main">
  <p:tag name="commondata" val="eyJoZGlkIjoiNzI5YmM4ZGQ0NDY1YWZhZTM5MWRmNTg2NGQxMjJiZjkifQ=="/>
</p:tagLst>
</file>

<file path=ppt/theme/theme1.xml><?xml version="1.0" encoding="utf-8"?>
<a:theme xmlns:a="http://schemas.openxmlformats.org/drawingml/2006/main" name="Office 主题​​">
  <a:themeElements>
    <a:clrScheme name="自定义 4">
      <a:dk1>
        <a:sysClr val="windowText" lastClr="000000"/>
      </a:dk1>
      <a:lt1>
        <a:sysClr val="window" lastClr="FFFFFF"/>
      </a:lt1>
      <a:dk2>
        <a:srgbClr val="44546A"/>
      </a:dk2>
      <a:lt2>
        <a:srgbClr val="E7E6E6"/>
      </a:lt2>
      <a:accent1>
        <a:srgbClr val="115BD8"/>
      </a:accent1>
      <a:accent2>
        <a:srgbClr val="FBBD06"/>
      </a:accent2>
      <a:accent3>
        <a:srgbClr val="A5A5A5"/>
      </a:accent3>
      <a:accent4>
        <a:srgbClr val="FFC000"/>
      </a:accent4>
      <a:accent5>
        <a:srgbClr val="5B9BD5"/>
      </a:accent5>
      <a:accent6>
        <a:srgbClr val="70AD47"/>
      </a:accent6>
      <a:hlink>
        <a:srgbClr val="0563C1"/>
      </a:hlink>
      <a:folHlink>
        <a:srgbClr val="954F72"/>
      </a:folHlink>
    </a:clrScheme>
    <a:fontScheme name="font">
      <a:majorFont>
        <a:latin typeface="Arial Black"/>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100000">
              <a:schemeClr val="accent1"/>
            </a:gs>
            <a:gs pos="0">
              <a:schemeClr val="accent1">
                <a:lumMod val="75000"/>
              </a:schemeClr>
            </a:gs>
          </a:gsLst>
          <a:lin ang="0" scaled="1"/>
          <a:tileRect/>
        </a:gra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10575</Words>
  <Application>WPS 演示</Application>
  <PresentationFormat>宽屏</PresentationFormat>
  <Paragraphs>474</Paragraphs>
  <Slides>50</Slides>
  <Notes>7</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50</vt:i4>
      </vt:variant>
    </vt:vector>
  </HeadingPairs>
  <TitlesOfParts>
    <vt:vector size="68" baseType="lpstr">
      <vt:lpstr>Arial</vt:lpstr>
      <vt:lpstr>宋体</vt:lpstr>
      <vt:lpstr>Wingdings</vt:lpstr>
      <vt:lpstr>Arial Black</vt:lpstr>
      <vt:lpstr>微软雅黑</vt:lpstr>
      <vt:lpstr>庞门正道标题体3.0</vt:lpstr>
      <vt:lpstr>楷体</vt:lpstr>
      <vt:lpstr>Arial Unicode MS</vt:lpstr>
      <vt:lpstr>等线</vt:lpstr>
      <vt:lpstr>Times New Roman</vt:lpstr>
      <vt:lpstr>黑体</vt:lpstr>
      <vt:lpstr>等线 Light</vt:lpstr>
      <vt:lpstr>Calibri</vt:lpstr>
      <vt:lpstr>仿宋</vt:lpstr>
      <vt:lpstr>Calibri</vt:lpstr>
      <vt:lpstr>Arial</vt:lpstr>
      <vt:lpstr>华文楷体</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哲学关系类试题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刘 达鑫</dc:creator>
  <cp:lastModifiedBy>douzi</cp:lastModifiedBy>
  <cp:revision>380</cp:revision>
  <dcterms:created xsi:type="dcterms:W3CDTF">2022-07-12T06:21:00Z</dcterms:created>
  <dcterms:modified xsi:type="dcterms:W3CDTF">2024-04-14T06:16:50Z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3180359B976E439DA3D271732D67DA2C_12</vt:lpwstr>
  </property>
  <property fmtid="{D5CDD505-2E9C-101B-9397-08002B2CF9AE}" pid="3" name="KSOProductBuildVer">
    <vt:lpwstr>2052-12.1.0.16417</vt:lpwstr>
  </property>
</Properties>
</file>