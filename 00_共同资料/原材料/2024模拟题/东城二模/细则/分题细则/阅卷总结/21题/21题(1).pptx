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5605" r:id="rId7"/>
    <p:sldId id="5604" r:id="rId8"/>
    <p:sldId id="5624" r:id="rId9"/>
    <p:sldId id="562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64"/>
  </p:normalViewPr>
  <p:slideViewPr>
    <p:cSldViewPr snapToGrid="0">
      <p:cViewPr varScale="1">
        <p:scale>
          <a:sx n="81" d="100"/>
          <a:sy n="81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7168D-4644-EBAC-27AC-8A5F83DC8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FC57AC-BD74-230C-C91E-326E5382D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D6677E-BE7F-FA79-E2AE-4EA59CBA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BC599-FF73-5DCE-6293-E95A3EC8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699A3F-D52B-72A2-7DE8-1A2D3BB9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049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C0D0F-AE6E-D161-5303-6820B876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A1D05-297F-4DD0-3B0E-8CA88AAC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FA455-7403-A3D0-F153-5A91F024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FC293-D186-4165-4538-DE82F301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1E763-5467-8894-2872-6B0A691C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857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94E85-BCE7-AE5E-CAEA-BF39C5CC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1994AB-0DB7-D2D2-2371-BC77CB12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651B2-C609-D865-1D41-FE09707A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90D62-42AB-5035-A3C0-10F33C0C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74E3E-A5F6-7522-ABD2-1D37B2AA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64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47B89-71DA-6DD5-D055-8F33930E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7B8DB2-A0E5-EE61-A5E6-DB04ED1BC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5906C-71D2-FE70-CD1E-F5729B34E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B3CE30-AEA1-C760-15BE-52B5E2BD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B3CC6E-84F2-9A9C-D548-83133CFB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4046D-CD36-BD1E-5166-82332B93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458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698DD-F1BD-B78F-1436-52DB7553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3DDF55-003B-D5A5-85A5-B413C1B60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65536B-B9EA-D736-3009-9FD5A393B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AE78EC-11EC-8961-F6E8-EF3612C98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60566B-129F-E892-6D00-1CFB87B63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73A12A-B304-0E77-42E6-6A047825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8DD078-4093-D291-6525-37CC75F5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CBE9F8-2325-CC2D-8C0A-66B48E23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122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1B5D6-9DBB-2B83-B67E-13C52D18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E07291-B0D0-1DE8-9939-B65392A0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969B9D-EF08-BCA9-85D4-D24645A4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096BEC-D09B-AA56-A993-B6326040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45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D97963-7282-4DC3-E0F4-E425D077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FC40F3-C8B3-5D7F-9FFC-C6C6AB4A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4C078-61E0-E69D-1ECE-45328E67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35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6FED3-8DE1-7968-A9CB-807103C6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04ED7F-7587-972E-C95E-6D18EDDEA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908E9F-DA94-2833-6DB6-BAEDF54A0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9CD419-E087-0C3E-4F69-63255C44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7618F5-B181-42EE-5343-60DB4B92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D72011-4521-E0E2-0CA0-6506A576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516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C3CA9-8552-7E26-9349-FBC31BB0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EDD5B1-A867-CFBC-D110-779C32162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4910AA-62E0-C31B-C160-89B90A75F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90272-DFD9-1C3A-B043-03060D30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D2BFE4-62E8-31E6-C7BF-50341324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43804-7F50-147D-921E-618BEBFF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078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786D8-E9E4-30F6-FD74-6DF3C347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9FF0DC-7E8D-5F29-D6D5-1EAAE1407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C50A3-1243-6558-BD1B-99F9B975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968278-F5DB-401D-5848-BBC8D777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C45C9-DA6B-8DAA-919C-BCCAFD69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11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5E1DCD-AB64-F1F4-A3DC-77F822BA2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BB71C4-5BD7-690E-F68E-899AB0AD7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89340-50F8-9AB2-A5DE-ACE965BC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917C2-5950-765D-E278-818E5E22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B8607A-DF14-C86F-2CA9-A0BAD32E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416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65B5D6-D8D4-C2C7-F921-0D05ACF1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2150CA-80C2-73C6-C411-FE323D1D1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401EF-EEA4-3732-DEC1-EED109F9B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BAA7C-A9F2-584D-A71A-C19EFAB1EF46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FE8E4-4E8A-4B95-E5F8-B3B142185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575378-F85B-CC38-ABCA-F9B26D011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F4646-57BE-DD41-B003-52A4C4402C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180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angshi.people.com.cn/n1/2021/0914/c436975-32226432.html" TargetMode="External"/><Relationship Id="rId2" Type="http://schemas.openxmlformats.org/officeDocument/2006/relationships/hyperlink" Target="http://xh.xhby.net/pc/con/202109/14/content_971499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ory.gmw.cn/2021-10/14/content_35231056.htm" TargetMode="External"/><Relationship Id="rId4" Type="http://schemas.openxmlformats.org/officeDocument/2006/relationships/hyperlink" Target="https://epaper.gmw.cn/gmrb/html/2021-07/16/nw.D110000gmrb_20210716_1-07.ht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表格&#10;&#10;描述已自动生成">
            <a:extLst>
              <a:ext uri="{FF2B5EF4-FFF2-40B4-BE49-F238E27FC236}">
                <a16:creationId xmlns:a16="http://schemas.microsoft.com/office/drawing/2014/main" id="{464F4ECD-A1A4-C93A-3887-0C707DBE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13" y="283780"/>
            <a:ext cx="8601594" cy="54391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0A7EEE-69DE-424E-FCC3-D88FF45C7A30}"/>
              </a:ext>
            </a:extLst>
          </p:cNvPr>
          <p:cNvSpPr txBox="1"/>
          <p:nvPr/>
        </p:nvSpPr>
        <p:spPr>
          <a:xfrm>
            <a:off x="1569199" y="5722883"/>
            <a:ext cx="7984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2060"/>
                </a:solidFill>
              </a:rPr>
              <a:t>路径</a:t>
            </a:r>
            <a:r>
              <a:rPr kumimoji="1" lang="en-US" altLang="zh-CN" sz="2400" b="1" dirty="0">
                <a:solidFill>
                  <a:srgbClr val="002060"/>
                </a:solidFill>
              </a:rPr>
              <a:t>+</a:t>
            </a:r>
            <a:r>
              <a:rPr kumimoji="1" lang="zh-CN" altLang="en-US" sz="2400" b="1" dirty="0">
                <a:solidFill>
                  <a:srgbClr val="002060"/>
                </a:solidFill>
              </a:rPr>
              <a:t>效果</a:t>
            </a:r>
            <a:endParaRPr kumimoji="1" lang="en-US" altLang="zh-CN" sz="2400" b="1" dirty="0">
              <a:solidFill>
                <a:srgbClr val="002060"/>
              </a:solidFill>
            </a:endParaRPr>
          </a:p>
          <a:p>
            <a:r>
              <a:rPr kumimoji="1" lang="zh-CN" altLang="en-US" sz="2400" b="1" dirty="0">
                <a:solidFill>
                  <a:srgbClr val="002060"/>
                </a:solidFill>
              </a:rPr>
              <a:t>起点：战略性有利条件</a:t>
            </a:r>
            <a:r>
              <a:rPr kumimoji="1" lang="en-US" altLang="zh-CN" sz="2400" b="1" dirty="0">
                <a:solidFill>
                  <a:srgbClr val="002060"/>
                </a:solidFill>
              </a:rPr>
              <a:t>——</a:t>
            </a:r>
            <a:r>
              <a:rPr kumimoji="1" lang="zh-CN" altLang="en-US" sz="2400" b="1" dirty="0">
                <a:solidFill>
                  <a:srgbClr val="002060"/>
                </a:solidFill>
              </a:rPr>
              <a:t>路径</a:t>
            </a:r>
            <a:r>
              <a:rPr kumimoji="1" lang="en-US" altLang="zh-CN" sz="2400" b="1" dirty="0">
                <a:solidFill>
                  <a:srgbClr val="002060"/>
                </a:solidFill>
              </a:rPr>
              <a:t>——</a:t>
            </a:r>
            <a:r>
              <a:rPr kumimoji="1" lang="zh-CN" altLang="en-US" sz="2400" b="1" dirty="0">
                <a:solidFill>
                  <a:srgbClr val="002060"/>
                </a:solidFill>
              </a:rPr>
              <a:t>落点：民族复兴</a:t>
            </a:r>
          </a:p>
        </p:txBody>
      </p:sp>
    </p:spTree>
    <p:extLst>
      <p:ext uri="{BB962C8B-B14F-4D97-AF65-F5344CB8AC3E}">
        <p14:creationId xmlns:p14="http://schemas.microsoft.com/office/powerpoint/2010/main" val="121301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0558E3-4685-1ED5-C287-79FF79778CDA}"/>
              </a:ext>
            </a:extLst>
          </p:cNvPr>
          <p:cNvSpPr txBox="1"/>
          <p:nvPr/>
        </p:nvSpPr>
        <p:spPr>
          <a:xfrm>
            <a:off x="946484" y="45109"/>
            <a:ext cx="7984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002060"/>
                </a:solidFill>
              </a:rPr>
              <a:t>可以从中国共产党的领导，中国特色社会主义制度优势，中华民族精神等角度回答。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3E41EE-96B1-5A02-81CD-0F0273EA8BA9}"/>
              </a:ext>
            </a:extLst>
          </p:cNvPr>
          <p:cNvSpPr txBox="1"/>
          <p:nvPr/>
        </p:nvSpPr>
        <p:spPr>
          <a:xfrm>
            <a:off x="646662" y="876106"/>
            <a:ext cx="10898675" cy="6038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3080"/>
              </a:lnSpc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示例：</a:t>
            </a:r>
          </a:p>
          <a:p>
            <a:pPr indent="304800" algn="just">
              <a:lnSpc>
                <a:spcPts val="3080"/>
              </a:lnSpc>
            </a:pPr>
            <a:r>
              <a:rPr lang="zh-CN" altLang="zh-CN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党</a:t>
            </a: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的领导：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中国共产党始终发挥总揽全局、协调各方的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领导核心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作用，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以人民为中心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，团结带领中国人民接续奋斗，开辟伟大道路，建立伟大功业，是实现民主复兴的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根本政治保证。</a:t>
            </a: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制度优势</a:t>
            </a:r>
            <a:r>
              <a:rPr lang="zh-CN" altLang="en-US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中国特色社会主义制度和国家治理体系，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发挥新型举国体制优势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，将制度</a:t>
            </a:r>
            <a:r>
              <a:rPr lang="zh-CN" altLang="en-US" sz="2400" b="1" kern="10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优势转化为治理效能，为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实现中华民族伟大复兴提供可靠的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制度保障。</a:t>
            </a:r>
            <a:endParaRPr lang="en-US" altLang="zh-CN" sz="2400" b="1" kern="100" dirty="0">
              <a:solidFill>
                <a:srgbClr val="C00000"/>
              </a:solidFill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经济：</a:t>
            </a:r>
            <a:r>
              <a:rPr lang="zh-CN" altLang="en-US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持续快速发展积累的坚实基础，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我国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坚持基本经济制度，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经济稳步高质量发展，为实现中华民族伟大复兴提供坚实的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物质保障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kern="100" dirty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社会：</a:t>
            </a:r>
            <a:r>
              <a:rPr lang="zh-CN" altLang="en-US" sz="2400" b="1" kern="100" dirty="0">
                <a:solidFill>
                  <a:srgbClr val="C00000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主动把握新机遇，顺势而为，化解风险挑战</a:t>
            </a:r>
            <a:r>
              <a:rPr lang="zh-CN" altLang="en-US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坚持总体国家安全观，加强社会治安综合治理，为实现中华民族伟大复兴提供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稳定的社会条件和良好的内部环境。</a:t>
            </a:r>
            <a:endParaRPr lang="en-US" altLang="zh-CN" sz="2400" b="1" kern="100" dirty="0">
              <a:solidFill>
                <a:srgbClr val="C00000"/>
              </a:solidFill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文化</a:t>
            </a:r>
            <a:r>
              <a:rPr lang="zh-CN" altLang="en-US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自信自强是</a:t>
            </a:r>
            <a:r>
              <a:rPr lang="zh-CN" altLang="en-US" sz="2400" b="1" i="0" dirty="0">
                <a:effectLst/>
                <a:latin typeface="-apple-system-font"/>
              </a:rPr>
              <a:t>中华民族的固有品格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，中华民族自强不息</a:t>
            </a:r>
            <a:r>
              <a:rPr lang="zh-CN" altLang="en-US" sz="2400" b="1" dirty="0">
                <a:solidFill>
                  <a:srgbClr val="000000"/>
                </a:solidFill>
                <a:latin typeface="-apple-system-font"/>
              </a:rPr>
              <a:t>的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-apple-system-font"/>
              </a:rPr>
              <a:t>民族精神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，增强了中国人民</a:t>
            </a:r>
            <a:r>
              <a:rPr lang="zh-CN" altLang="en-US" sz="2400" b="1" dirty="0">
                <a:solidFill>
                  <a:srgbClr val="000000"/>
                </a:solidFill>
                <a:latin typeface="-apple-system-font"/>
              </a:rPr>
              <a:t>战胜风险挑战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的志气、底气</a:t>
            </a:r>
            <a:r>
              <a:rPr lang="zh-CN" altLang="en-US" sz="2400" b="1" dirty="0">
                <a:solidFill>
                  <a:srgbClr val="000000"/>
                </a:solidFill>
                <a:latin typeface="-apple-system-font"/>
              </a:rPr>
              <a:t>，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为实现中华民族伟大复兴提供了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-apple-system-font"/>
              </a:rPr>
              <a:t>强大精神</a:t>
            </a:r>
            <a:r>
              <a:rPr lang="zh-CN" altLang="en-US" sz="2400" b="1" dirty="0">
                <a:solidFill>
                  <a:srgbClr val="C00000"/>
                </a:solidFill>
                <a:latin typeface="-apple-system-font"/>
              </a:rPr>
              <a:t>动力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-apple-system-font"/>
              </a:rPr>
              <a:t>。或坚定四个自信。</a:t>
            </a:r>
            <a:endParaRPr lang="en-US" altLang="zh-CN" sz="2400" b="1" i="0" dirty="0">
              <a:solidFill>
                <a:srgbClr val="000000"/>
              </a:solidFill>
              <a:effectLst/>
              <a:latin typeface="-apple-system-font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细则：至少</a:t>
            </a:r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个点，</a:t>
            </a:r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分，</a:t>
            </a:r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8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E60788-16F1-76A1-18E3-C500A4A65843}"/>
              </a:ext>
            </a:extLst>
          </p:cNvPr>
          <p:cNvSpPr txBox="1"/>
          <p:nvPr/>
        </p:nvSpPr>
        <p:spPr>
          <a:xfrm>
            <a:off x="1265182" y="3702427"/>
            <a:ext cx="86670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、人民网：实现中华民族伟大复兴是党百年奋斗的主题</a:t>
            </a:r>
            <a:endParaRPr lang="en-US" altLang="zh-CN" sz="24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2021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10:11 | 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zh-CN" altLang="en-US" sz="2000" b="0" i="0" u="none" strike="noStrike" dirty="0">
                <a:solidFill>
                  <a:srgbClr val="1C1C1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新华日报</a:t>
            </a:r>
            <a:endParaRPr lang="zh-CN" altLang="en-US" sz="2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hlinkClick r:id="rId3"/>
              </a:rPr>
              <a:t>http://dangshi.people.com.cn/n1/2021/0914/c436975-32226432.html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874C5D-8DB1-EFE8-1646-3008B598D381}"/>
              </a:ext>
            </a:extLst>
          </p:cNvPr>
          <p:cNvSpPr txBox="1"/>
          <p:nvPr/>
        </p:nvSpPr>
        <p:spPr>
          <a:xfrm>
            <a:off x="1060230" y="694054"/>
            <a:ext cx="9723383" cy="2359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kern="180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1</a:t>
            </a:r>
            <a:r>
              <a:rPr lang="zh-CN" altLang="en-US" sz="2400" kern="180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、</a:t>
            </a:r>
            <a:r>
              <a:rPr lang="zh-CN" altLang="zh-CN" sz="2400" kern="180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中华民族伟大复兴何以不可逆转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来源：</a:t>
            </a:r>
            <a:r>
              <a:rPr lang="en-US" altLang="zh-CN" sz="1800" u="none" strike="noStrike" kern="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Helvetica" pitchFamily="2" charset="0"/>
                <a:hlinkClick r:id="rId4"/>
              </a:rPr>
              <a:t>光明日报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 | 2021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年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07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月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16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日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 14:30</a:t>
            </a:r>
            <a:endParaRPr lang="zh-CN" altLang="zh-CN" sz="16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光明日报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 | 2021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年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07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月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16</a:t>
            </a:r>
            <a:r>
              <a:rPr lang="zh-CN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日</a:t>
            </a:r>
            <a:r>
              <a:rPr lang="en-US" altLang="zh-CN" sz="1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 14:30</a:t>
            </a:r>
            <a:endParaRPr lang="zh-CN" altLang="zh-CN" sz="16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800" kern="0" dirty="0">
                <a:effectLst/>
                <a:latin typeface="Helvetica" pitchFamily="2" charset="0"/>
                <a:ea typeface="宋体" panose="02010600030101010101" pitchFamily="2" charset="-122"/>
                <a:cs typeface="Helvetica" pitchFamily="2" charset="0"/>
              </a:rPr>
              <a:t>原标题：中华民族伟大复兴何以不可逆转</a:t>
            </a:r>
            <a:endParaRPr lang="en-US" altLang="zh-CN" sz="800" kern="0" dirty="0">
              <a:effectLst/>
              <a:latin typeface="Helvetica" pitchFamily="2" charset="0"/>
              <a:ea typeface="宋体" panose="02010600030101010101" pitchFamily="2" charset="-122"/>
              <a:cs typeface="Helvetica" pitchFamily="2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  <a:hlinkClick r:id="rId5"/>
              </a:rPr>
              <a:t>https://theory.gmw.cn/2021-10/14/content_35231056.htm</a:t>
            </a:r>
            <a:endParaRPr lang="en-US" altLang="zh-CN" sz="800" kern="0" dirty="0">
              <a:latin typeface="Helvetica" pitchFamily="2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zh-CN" sz="16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1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F5C10CC-715B-724F-01E3-CACE234C6772}"/>
              </a:ext>
            </a:extLst>
          </p:cNvPr>
          <p:cNvSpPr txBox="1"/>
          <p:nvPr/>
        </p:nvSpPr>
        <p:spPr>
          <a:xfrm>
            <a:off x="641683" y="228602"/>
            <a:ext cx="10555706" cy="193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kern="100" dirty="0"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东城统练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】21. 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2880"/>
              </a:lnSpc>
            </a:pPr>
            <a:r>
              <a:rPr lang="zh-CN" altLang="en-US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一轴画卷，抒怀古今。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700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多年前，黄公望绘就旷世名作《富春山居图》，勾画出人与自然和谐共生之美。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2003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浙江省启动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千村示范、万村整治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工程（简称“千万工程”）以来，实施了一系列行之有效的做法，之江大地铺展村美、人和、共富的秀美画卷，绘就了现代版“富春山居图”。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E196CC-D87B-F054-4CA9-D09C1443A3D2}"/>
              </a:ext>
            </a:extLst>
          </p:cNvPr>
          <p:cNvSpPr txBox="1"/>
          <p:nvPr/>
        </p:nvSpPr>
        <p:spPr>
          <a:xfrm>
            <a:off x="304805" y="5144456"/>
            <a:ext cx="11478126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综合运用所学，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分析“千万工程”的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做法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如何绘就</a:t>
            </a:r>
            <a:r>
              <a:rPr lang="zh-CN" altLang="zh-CN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村美、人和、共富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的秀美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画卷。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图片包含 游戏机, 照片, 对着, 女人&#10;&#10;描述已自动生成">
            <a:extLst>
              <a:ext uri="{FF2B5EF4-FFF2-40B4-BE49-F238E27FC236}">
                <a16:creationId xmlns:a16="http://schemas.microsoft.com/office/drawing/2014/main" id="{2D669CCA-0A02-7049-AF33-BB6B4C10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11" y="2227992"/>
            <a:ext cx="6853984" cy="2959099"/>
          </a:xfrm>
          <a:prstGeom prst="rect">
            <a:avLst/>
          </a:prstGeom>
        </p:spPr>
      </p:pic>
      <p:pic>
        <p:nvPicPr>
          <p:cNvPr id="9" name="图片 8" descr="文本, 信件&#10;&#10;描述已自动生成">
            <a:extLst>
              <a:ext uri="{FF2B5EF4-FFF2-40B4-BE49-F238E27FC236}">
                <a16:creationId xmlns:a16="http://schemas.microsoft.com/office/drawing/2014/main" id="{3870DCBE-A922-0DC5-843C-46EF39C5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3" y="2227992"/>
            <a:ext cx="4533900" cy="2959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5D0828E-E8D3-975F-0ACD-CCC4933759C4}"/>
              </a:ext>
            </a:extLst>
          </p:cNvPr>
          <p:cNvSpPr txBox="1"/>
          <p:nvPr/>
        </p:nvSpPr>
        <p:spPr>
          <a:xfrm>
            <a:off x="376991" y="5728270"/>
            <a:ext cx="11085090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可从党的领导、改革、人民幸福、尊重规律发挥、主观能动性等角度回答。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F72140A-EDC8-73F4-6920-613EB2F692B7}"/>
              </a:ext>
            </a:extLst>
          </p:cNvPr>
          <p:cNvCxnSpPr>
            <a:cxnSpLocks/>
          </p:cNvCxnSpPr>
          <p:nvPr/>
        </p:nvCxnSpPr>
        <p:spPr>
          <a:xfrm>
            <a:off x="3166532" y="2850605"/>
            <a:ext cx="1500161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1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E3DAA82-428B-B436-B112-08FE67594BEE}"/>
              </a:ext>
            </a:extLst>
          </p:cNvPr>
          <p:cNvSpPr txBox="1"/>
          <p:nvPr/>
        </p:nvSpPr>
        <p:spPr>
          <a:xfrm>
            <a:off x="882315" y="1438895"/>
            <a:ext cx="10299032" cy="44419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3080"/>
              </a:lnSpc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示例：</a:t>
            </a:r>
          </a:p>
          <a:p>
            <a:pPr indent="304800" algn="just">
              <a:lnSpc>
                <a:spcPts val="3080"/>
              </a:lnSpc>
            </a:pPr>
            <a:r>
              <a:rPr lang="zh-CN" altLang="zh-CN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党建</a:t>
            </a: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中国共产党领导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是中国特色社会主义最本质的特征，千万工程的开展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坚持</a:t>
            </a:r>
            <a:r>
              <a:rPr lang="zh-CN" altLang="zh-CN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党建引领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，层层落实，为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乡村全面振兴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根本保证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kern="100" dirty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改革：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完善各项制度，调整上层建筑和生产关系，给村美、人和、共富提供有力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制度保障</a:t>
            </a:r>
            <a:r>
              <a:rPr lang="zh-CN" altLang="zh-CN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；坚持改革创新，释放活力，有力促进乡村旅游、特色农业等新产业新业态蓬勃发展，实现城乡居民收入差距缩小，绘就新时代</a:t>
            </a:r>
            <a:r>
              <a:rPr lang="zh-CN" altLang="zh-CN" sz="2400" b="1" kern="100" dirty="0">
                <a:solidFill>
                  <a:srgbClr val="0020DA"/>
                </a:solidFill>
                <a:highlight>
                  <a:srgbClr val="FFFF00"/>
                </a:highlight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“共富”</a:t>
            </a:r>
            <a:r>
              <a:rPr lang="zh-CN" altLang="zh-CN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画卷；</a:t>
            </a:r>
            <a:endParaRPr lang="en-US" altLang="zh-CN" sz="2400" b="1" kern="100" dirty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生态：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坚持生态优先、绿色发展，多管齐下治理农村环境，提高农村人居环境质量，绘就</a:t>
            </a:r>
            <a:r>
              <a:rPr lang="zh-CN" altLang="zh-CN" sz="2400" b="1" kern="100" dirty="0">
                <a:solidFill>
                  <a:srgbClr val="0020DA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“村美”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画卷；</a:t>
            </a:r>
            <a:endParaRPr lang="en-US" altLang="zh-CN" sz="2400" b="1" kern="100" dirty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ts val="3080"/>
              </a:lnSpc>
            </a:pPr>
            <a:r>
              <a:rPr lang="zh-CN" altLang="en-US" sz="2400" b="1" kern="100" dirty="0">
                <a:solidFill>
                  <a:srgbClr val="0020DA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基层：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鼓励基层探索，</a:t>
            </a:r>
            <a:r>
              <a:rPr lang="zh-CN" altLang="en-US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发挥协商民主，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充分调动各方积极性和创造性，</a:t>
            </a:r>
            <a:r>
              <a:rPr lang="zh-CN" altLang="en-US" sz="2400" b="1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提升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基层治理效能，打造和谐社会，绘就</a:t>
            </a:r>
            <a:r>
              <a:rPr lang="zh-CN" altLang="zh-CN" sz="2400" b="1" kern="100" dirty="0">
                <a:solidFill>
                  <a:srgbClr val="0020DA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“人和”</a:t>
            </a: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画卷。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F58E76-30B8-0020-3C1E-82FF7F9FA6F4}"/>
              </a:ext>
            </a:extLst>
          </p:cNvPr>
          <p:cNvSpPr txBox="1"/>
          <p:nvPr/>
        </p:nvSpPr>
        <p:spPr>
          <a:xfrm>
            <a:off x="356936" y="171403"/>
            <a:ext cx="11478126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综合运用所学，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分析“千万工程”的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做法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如何绘就</a:t>
            </a:r>
            <a:r>
              <a:rPr lang="zh-CN" altLang="zh-CN" sz="2400" b="1" kern="100" dirty="0">
                <a:solidFill>
                  <a:srgbClr val="0020DA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村美、人和、共富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的秀美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画卷。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CDFC4E-89F7-B348-6553-04B4C72EC0B4}"/>
              </a:ext>
            </a:extLst>
          </p:cNvPr>
          <p:cNvSpPr txBox="1"/>
          <p:nvPr/>
        </p:nvSpPr>
        <p:spPr>
          <a:xfrm>
            <a:off x="553454" y="755217"/>
            <a:ext cx="11085090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可从党的领导、改革、人民幸福、尊重规律发挥、主观能动性等角度回答。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7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D0A77061-1D29-C5BE-14D1-FD1F1A5E8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07" y="297184"/>
            <a:ext cx="9500768" cy="626363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31C397-91E8-78AA-0303-019BB28D9D66}"/>
              </a:ext>
            </a:extLst>
          </p:cNvPr>
          <p:cNvSpPr txBox="1"/>
          <p:nvPr/>
        </p:nvSpPr>
        <p:spPr>
          <a:xfrm>
            <a:off x="236483" y="0"/>
            <a:ext cx="1412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【2023</a:t>
            </a:r>
            <a:r>
              <a:rPr kumimoji="1" lang="zh-CN" altLang="en-US" dirty="0"/>
              <a:t>北京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18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中度可信度描述已自动生成">
            <a:extLst>
              <a:ext uri="{FF2B5EF4-FFF2-40B4-BE49-F238E27FC236}">
                <a16:creationId xmlns:a16="http://schemas.microsoft.com/office/drawing/2014/main" id="{60A006BF-3D0D-C2E3-C845-0B0CACCF2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20" y="416927"/>
            <a:ext cx="10587789" cy="40393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EDBEA4-C751-01E6-D998-0EAB8A41BE2E}"/>
              </a:ext>
            </a:extLst>
          </p:cNvPr>
          <p:cNvSpPr txBox="1"/>
          <p:nvPr/>
        </p:nvSpPr>
        <p:spPr>
          <a:xfrm>
            <a:off x="802105" y="4746506"/>
            <a:ext cx="10587790" cy="1437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4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答案：开放题</a:t>
            </a:r>
            <a:endParaRPr lang="zh-CN" altLang="zh-CN" sz="24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4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可从党的领导、制度优势、经济社会发展、国家治理、文化自信等角度作答</a:t>
            </a:r>
            <a:endParaRPr lang="zh-CN" altLang="zh-CN" sz="24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4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等级赋分表（略）</a:t>
            </a:r>
            <a:endParaRPr lang="zh-CN" altLang="zh-CN" sz="24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47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QR 代码&#10;&#10;描述已自动生成">
            <a:extLst>
              <a:ext uri="{FF2B5EF4-FFF2-40B4-BE49-F238E27FC236}">
                <a16:creationId xmlns:a16="http://schemas.microsoft.com/office/drawing/2014/main" id="{E45DE153-F354-E156-5BCA-ADC89C0A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134"/>
            <a:ext cx="11546630" cy="473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276699A-E530-51AD-CE0A-D74712B6ED67}"/>
              </a:ext>
            </a:extLst>
          </p:cNvPr>
          <p:cNvSpPr txBox="1"/>
          <p:nvPr/>
        </p:nvSpPr>
        <p:spPr>
          <a:xfrm>
            <a:off x="220718" y="0"/>
            <a:ext cx="11826904" cy="8138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kern="100" dirty="0">
                <a:solidFill>
                  <a:srgbClr val="0000CC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20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阅卷细则：</a:t>
            </a:r>
            <a:endParaRPr lang="zh-CN" altLang="zh-CN" sz="20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kern="100" dirty="0">
                <a:solidFill>
                  <a:srgbClr val="0000CC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基本条件：</a:t>
            </a:r>
            <a:endParaRPr lang="zh-CN" altLang="zh-CN" sz="20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①问题逻辑路径：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战略性条件→重要战略（一个）→现代化国家 围绕一个战略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②知识运用准确：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所选知识能够链接“战略性条件”和“战略”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③战略性条件：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任选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2-3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具体分析或一点深入层层透彻分析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上三个条件同时具备，其中一点路径清晰、知识运用准确并分析具体，如：中国共产党的领导是中国特色社会主义制度的最大优势，中国共产党总揽全局、协调各方，发挥新型举国体制优势，集中人力、物力、财力，攻克重大科研项目，推动技术攻关和经济发展的强大合力，推进社会主义现代化国家建设。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kern="100" dirty="0">
                <a:solidFill>
                  <a:srgbClr val="0000CC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rgbClr val="0000CC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具体水平层级：</a:t>
            </a:r>
            <a:endParaRPr lang="zh-CN" altLang="zh-CN" sz="2000" b="1" kern="100" dirty="0">
              <a:solidFill>
                <a:srgbClr val="0000CC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①水平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7-9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分）：路径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知识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分析，这三个条件同时具备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分：紧扣问题逻辑，路径清晰，知识运用准确，分析具体到位，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2-3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点（或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点深入，体现综合性）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7-8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分：紧扣问题逻辑，路径清晰，知识运用准确，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2-3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点中分析不够具体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②水平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4-6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分）：知识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分析，这两个条件同时具备，问题逻辑不清（或围绕战略阐述意义，或围绕战略性条件阐述如何做，）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5-6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分：知识运用比较准确，有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点以上分析，分析具体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分：有知识有分析，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点分析，分析不清楚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③水平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1-3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分）：知识或分析，只具备其中一个条件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分：罗列知识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分：白话简单解读材料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分：抄材料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5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1065</Words>
  <Application>Microsoft Macintosh PowerPoint</Application>
  <PresentationFormat>宽屏</PresentationFormat>
  <Paragraphs>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-apple-system-font</vt:lpstr>
      <vt:lpstr>等线</vt:lpstr>
      <vt:lpstr>等线</vt:lpstr>
      <vt:lpstr>等线 Light</vt:lpstr>
      <vt:lpstr>宋体</vt:lpstr>
      <vt:lpstr>Microsoft YaHei</vt:lpstr>
      <vt:lpstr>Arial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君帅 郝</dc:creator>
  <cp:lastModifiedBy>君帅 郝</cp:lastModifiedBy>
  <cp:revision>12</cp:revision>
  <dcterms:created xsi:type="dcterms:W3CDTF">2024-05-08T13:22:15Z</dcterms:created>
  <dcterms:modified xsi:type="dcterms:W3CDTF">2024-05-08T15:24:43Z</dcterms:modified>
</cp:coreProperties>
</file>