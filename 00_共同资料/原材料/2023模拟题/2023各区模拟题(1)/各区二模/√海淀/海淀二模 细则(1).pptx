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9" r:id="rId4"/>
    <p:sldId id="258" r:id="rId6"/>
    <p:sldId id="260" r:id="rId7"/>
    <p:sldId id="261" r:id="rId8"/>
    <p:sldId id="266" r:id="rId9"/>
    <p:sldId id="267" r:id="rId10"/>
    <p:sldId id="268" r:id="rId11"/>
    <p:sldId id="269" r:id="rId12"/>
    <p:sldId id="270" r:id="rId13"/>
    <p:sldId id="273" r:id="rId14"/>
    <p:sldId id="274" r:id="rId15"/>
    <p:sldId id="275" r:id="rId16"/>
    <p:sldId id="276" r:id="rId17"/>
    <p:sldId id="277" r:id="rId18"/>
    <p:sldId id="280" r:id="rId19"/>
    <p:sldId id="281" r:id="rId20"/>
    <p:sldId id="282" r:id="rId21"/>
    <p:sldId id="283" r:id="rId22"/>
    <p:sldId id="285" r:id="rId23"/>
    <p:sldId id="286" r:id="rId24"/>
    <p:sldId id="284" r:id="rId25"/>
    <p:sldId id="289" r:id="rId26"/>
    <p:sldId id="290" r:id="rId27"/>
    <p:sldId id="291" r:id="rId28"/>
    <p:sldId id="262" r:id="rId29"/>
    <p:sldId id="292" r:id="rId30"/>
    <p:sldId id="293" r:id="rId31"/>
    <p:sldId id="294" r:id="rId32"/>
    <p:sldId id="295" r:id="rId33"/>
    <p:sldId id="296" r:id="rId34"/>
    <p:sldId id="298" r:id="rId35"/>
    <p:sldId id="297" r:id="rId36"/>
    <p:sldId id="301" r:id="rId37"/>
    <p:sldId id="303" r:id="rId38"/>
    <p:sldId id="304" r:id="rId39"/>
    <p:sldId id="306" r:id="rId40"/>
    <p:sldId id="305" r:id="rId41"/>
    <p:sldId id="309" r:id="rId42"/>
    <p:sldId id="310" r:id="rId43"/>
    <p:sldId id="311" r:id="rId44"/>
    <p:sldId id="313" r:id="rId45"/>
    <p:sldId id="312" r:id="rId46"/>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98" d="100"/>
          <a:sy n="98" d="100"/>
        </p:scale>
        <p:origin x="60" y="159"/>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14:cpLocks xmlns:a14="http://schemas.microsoft.com/office/drawing/2010/main"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14:cpLocks xmlns:a14="http://schemas.microsoft.com/office/drawing/2010/main"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14:cpLocks xmlns:a14="http://schemas.microsoft.com/office/drawing/2010/main"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14:cpLocks xmlns:a14="http://schemas.microsoft.com/office/drawing/2010/main"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14:cpLocks xmlns:a14="http://schemas.microsoft.com/office/drawing/2010/main"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14:cpLocks xmlns:a14="http://schemas.microsoft.com/office/drawing/2010/main"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14:cpLocks xmlns:a14="http://schemas.microsoft.com/office/drawing/2010/main" noGrp="1" noRot="1" noChangeAspect="1"/>
          </p:cNvSpPr>
          <p:nvPr>
            <p:ph type="sldImg"/>
          </p:nvPr>
        </p:nvSpPr>
        <p:spPr/>
      </p:sp>
      <p:sp>
        <p:nvSpPr>
          <p:cNvPr id="3" name="备注占位符 2"/>
          <p:cNvSpPr>
            <a14:cpLocks xmlns:a14="http://schemas.microsoft.com/office/drawing/2010/main" noGrp="1"/>
          </p:cNvSpPr>
          <p:nvPr>
            <p:ph type="body" idx="1"/>
          </p:nvPr>
        </p:nvSpPr>
        <p:spPr/>
        <p:txBody>
          <a:bodyPr/>
          <a:lstStyle/>
          <a:p>
            <a:endParaRPr kumimoji="1" lang="zh-CN" altLang="en-US" dirty="0"/>
          </a:p>
        </p:txBody>
      </p:sp>
      <p:sp>
        <p:nvSpPr>
          <p:cNvPr id="4" name="幻灯片编号占位符 3"/>
          <p:cNvSpPr>
            <a14:cpLocks xmlns:a14="http://schemas.microsoft.com/office/drawing/2010/main"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615C117-C0D3-478F-A650-DDB9633867FD}" type="slidenum">
              <a:rPr kumimoji="0" lang="zh-CN" altLang="en-US" sz="1200" b="0" i="0" u="none" strike="noStrike" kern="1200" cap="none" spc="0" normalizeH="0" baseline="0" noProof="0" smtClean="0">
                <a:ln>
                  <a:noFill/>
                </a:ln>
                <a:solidFill>
                  <a:prstClr val="black"/>
                </a:solidFill>
                <a:effectLst/>
                <a:uLnTx/>
                <a:uFillTx/>
                <a:latin typeface="Calibri"/>
                <a:ea typeface="宋体" charset="-122"/>
                <a:cs typeface="+mn-cs"/>
              </a:rPr>
            </a:fld>
            <a:endParaRPr kumimoji="0" lang="zh-CN" altLang="en-US" sz="1200" b="0" i="0" u="none" strike="noStrike" kern="1200" cap="none" spc="0" normalizeH="0" baseline="0" noProof="0">
              <a:ln>
                <a:noFill/>
              </a:ln>
              <a:solidFill>
                <a:prstClr val="black"/>
              </a:solidFill>
              <a:effectLst/>
              <a:uLnTx/>
              <a:uFillTx/>
              <a:latin typeface="Calibri"/>
              <a:ea typeface="宋体"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14:cpLocks xmlns:a14="http://schemas.microsoft.com/office/drawing/2010/main"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14:cpLocks xmlns:a14="http://schemas.microsoft.com/office/drawing/2010/main"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14:cpLocks xmlns:a14="http://schemas.microsoft.com/office/drawing/2010/main" noGrp="1"/>
          </p:cNvSpPr>
          <p:nvPr>
            <p:ph type="ftr" sz="quarter" idx="11"/>
            <p:custDataLst>
              <p:tags r:id="rId5"/>
            </p:custDataLst>
          </p:nvPr>
        </p:nvSpPr>
        <p:spPr/>
        <p:txBody>
          <a:bodyPr/>
          <a:lstStyle/>
          <a:p>
            <a:endParaRPr lang="zh-CN" altLang="en-US" dirty="0"/>
          </a:p>
        </p:txBody>
      </p:sp>
      <p:sp>
        <p:nvSpPr>
          <p:cNvPr id="18" name="灯片编号占位符 17"/>
          <p:cNvSpPr>
            <a14:cpLocks xmlns:a14="http://schemas.microsoft.com/office/drawing/2010/main"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14:cpLocks xmlns:a14="http://schemas.microsoft.com/office/drawing/2010/main"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14:cpLocks xmlns:a14="http://schemas.microsoft.com/office/drawing/2010/main"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custDataLst>
              <p:tags r:id="rId5"/>
            </p:custDataLst>
          </p:nvPr>
        </p:nvSpPr>
        <p:spPr/>
        <p:txBody>
          <a:bodyPr/>
          <a:lstStyle/>
          <a:p>
            <a:endParaRPr lang="zh-CN" altLang="en-US"/>
          </a:p>
        </p:txBody>
      </p:sp>
      <p:sp>
        <p:nvSpPr>
          <p:cNvPr id="6" name="灯片编号占位符 5"/>
          <p:cNvSpPr>
            <a14:cpLocks xmlns:a14="http://schemas.microsoft.com/office/drawing/2010/main"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14:cpLocks xmlns:a14="http://schemas.microsoft.com/office/drawing/2010/main" noGrp="1"/>
          </p:cNvSpPr>
          <p:nvPr>
            <p:ph type="body" idx="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14:cpLocks xmlns:a14="http://schemas.microsoft.com/office/drawing/2010/main"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custDataLst>
              <p:tags r:id="rId5"/>
            </p:custDataLst>
          </p:nvPr>
        </p:nvSpPr>
        <p:spPr/>
        <p:txBody>
          <a:bodyPr/>
          <a:lstStyle/>
          <a:p>
            <a:endParaRPr lang="zh-CN" altLang="en-US"/>
          </a:p>
        </p:txBody>
      </p:sp>
      <p:sp>
        <p:nvSpPr>
          <p:cNvPr id="6" name="灯片编号占位符 5"/>
          <p:cNvSpPr>
            <a14:cpLocks xmlns:a14="http://schemas.microsoft.com/office/drawing/2010/main"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14:cpLocks xmlns:a14="http://schemas.microsoft.com/office/drawing/2010/main"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14:cpLocks xmlns:a14="http://schemas.microsoft.com/office/drawing/2010/main"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14:cpLocks xmlns:a14="http://schemas.microsoft.com/office/drawing/2010/main"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custDataLst>
              <p:tags r:id="rId6"/>
            </p:custDataLst>
          </p:nvPr>
        </p:nvSpPr>
        <p:spPr/>
        <p:txBody>
          <a:bodyPr/>
          <a:lstStyle/>
          <a:p>
            <a:endParaRPr lang="zh-CN" altLang="en-US"/>
          </a:p>
        </p:txBody>
      </p:sp>
      <p:sp>
        <p:nvSpPr>
          <p:cNvPr id="7" name="灯片编号占位符 6"/>
          <p:cNvSpPr>
            <a14:cpLocks xmlns:a14="http://schemas.microsoft.com/office/drawing/2010/main"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14:cpLocks xmlns:a14="http://schemas.microsoft.com/office/drawing/2010/main" noGrp="1"/>
          </p:cNvSpPr>
          <p:nvPr>
            <p:ph type="body" idx="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14:cpLocks xmlns:a14="http://schemas.microsoft.com/office/drawing/2010/main"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14:cpLocks xmlns:a14="http://schemas.microsoft.com/office/drawing/2010/main" noGrp="1"/>
          </p:cNvSpPr>
          <p:nvPr>
            <p:ph type="body" sz="quarter" idx="3"/>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14:cpLocks xmlns:a14="http://schemas.microsoft.com/office/drawing/2010/main"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14:cpLocks xmlns:a14="http://schemas.microsoft.com/office/drawing/2010/main"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14:cpLocks xmlns:a14="http://schemas.microsoft.com/office/drawing/2010/main" noGrp="1"/>
          </p:cNvSpPr>
          <p:nvPr>
            <p:ph type="ftr" sz="quarter" idx="11"/>
            <p:custDataLst>
              <p:tags r:id="rId8"/>
            </p:custDataLst>
          </p:nvPr>
        </p:nvSpPr>
        <p:spPr/>
        <p:txBody>
          <a:bodyPr/>
          <a:lstStyle/>
          <a:p>
            <a:endParaRPr lang="zh-CN" altLang="en-US"/>
          </a:p>
        </p:txBody>
      </p:sp>
      <p:sp>
        <p:nvSpPr>
          <p:cNvPr id="9" name="灯片编号占位符 8"/>
          <p:cNvSpPr>
            <a14:cpLocks xmlns:a14="http://schemas.microsoft.com/office/drawing/2010/main"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14:cpLocks xmlns:a14="http://schemas.microsoft.com/office/drawing/2010/main"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custDataLst>
              <p:tags r:id="rId4"/>
            </p:custDataLst>
          </p:nvPr>
        </p:nvSpPr>
        <p:spPr/>
        <p:txBody>
          <a:bodyPr/>
          <a:lstStyle/>
          <a:p>
            <a:endParaRPr lang="zh-CN" altLang="en-US"/>
          </a:p>
        </p:txBody>
      </p:sp>
      <p:sp>
        <p:nvSpPr>
          <p:cNvPr id="5" name="灯片编号占位符 4"/>
          <p:cNvSpPr>
            <a14:cpLocks xmlns:a14="http://schemas.microsoft.com/office/drawing/2010/main"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14:cpLocks xmlns:a14="http://schemas.microsoft.com/office/drawing/2010/main"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14:cpLocks xmlns:a14="http://schemas.microsoft.com/office/drawing/2010/main" noGrp="1"/>
          </p:cNvSpPr>
          <p:nvPr>
            <p:ph type="ftr" sz="quarter" idx="11"/>
            <p:custDataLst>
              <p:tags r:id="rId3"/>
            </p:custDataLst>
          </p:nvPr>
        </p:nvSpPr>
        <p:spPr/>
        <p:txBody>
          <a:bodyPr/>
          <a:lstStyle/>
          <a:p>
            <a:endParaRPr lang="zh-CN" altLang="en-US"/>
          </a:p>
        </p:txBody>
      </p:sp>
      <p:sp>
        <p:nvSpPr>
          <p:cNvPr id="4" name="灯片编号占位符 3"/>
          <p:cNvSpPr>
            <a14:cpLocks xmlns:a14="http://schemas.microsoft.com/office/drawing/2010/main"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14:cpLocks xmlns:a14="http://schemas.microsoft.com/office/drawing/2010/main"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14:cpLocks xmlns:a14="http://schemas.microsoft.com/office/drawing/2010/main"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14:cpLocks xmlns:a14="http://schemas.microsoft.com/office/drawing/2010/main"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14:cpLocks xmlns:a14="http://schemas.microsoft.com/office/drawing/2010/main" noGrp="1"/>
          </p:cNvSpPr>
          <p:nvPr>
            <p:ph type="ftr" sz="quarter" idx="11"/>
            <p:custDataLst>
              <p:tags r:id="rId5"/>
            </p:custDataLst>
          </p:nvPr>
        </p:nvSpPr>
        <p:spPr/>
        <p:txBody>
          <a:bodyPr/>
          <a:lstStyle/>
          <a:p>
            <a:endParaRPr lang="zh-CN" altLang="en-US" dirty="0"/>
          </a:p>
        </p:txBody>
      </p:sp>
      <p:sp>
        <p:nvSpPr>
          <p:cNvPr id="7" name="灯片编号占位符 6"/>
          <p:cNvSpPr>
            <a14:cpLocks xmlns:a14="http://schemas.microsoft.com/office/drawing/2010/main"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14:cpLocks xmlns:a14="http://schemas.microsoft.com/office/drawing/2010/main"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14:cpLocks xmlns:a14="http://schemas.microsoft.com/office/drawing/2010/main"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14:cpLocks xmlns:a14="http://schemas.microsoft.com/office/drawing/2010/main"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custDataLst>
              <p:tags r:id="rId5"/>
            </p:custDataLst>
          </p:nvPr>
        </p:nvSpPr>
        <p:spPr/>
        <p:txBody>
          <a:bodyPr/>
          <a:lstStyle/>
          <a:p>
            <a:endParaRPr lang="zh-CN" altLang="en-US"/>
          </a:p>
        </p:txBody>
      </p:sp>
      <p:sp>
        <p:nvSpPr>
          <p:cNvPr id="6" name="灯片编号占位符 5"/>
          <p:cNvSpPr>
            <a14:cpLocks xmlns:a14="http://schemas.microsoft.com/office/drawing/2010/main"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14:cpLocks xmlns:a14="http://schemas.microsoft.com/office/drawing/2010/main"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custDataLst>
              <p:tags r:id="rId3"/>
            </p:custDataLst>
          </p:nvPr>
        </p:nvSpPr>
        <p:spPr/>
        <p:txBody>
          <a:bodyPr/>
          <a:lstStyle/>
          <a:p>
            <a:endParaRPr lang="zh-CN" altLang="en-US"/>
          </a:p>
        </p:txBody>
      </p:sp>
      <p:sp>
        <p:nvSpPr>
          <p:cNvPr id="5" name="灯片编号占位符 4"/>
          <p:cNvSpPr>
            <a14:cpLocks xmlns:a14="http://schemas.microsoft.com/office/drawing/2010/main"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14:cpLocks xmlns:a14="http://schemas.microsoft.com/office/drawing/2010/main"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14:cpLocks xmlns:a14="http://schemas.microsoft.com/office/drawing/2010/main"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custDataLst>
              <p:tags r:id="rId3"/>
            </p:custDataLst>
          </p:nvPr>
        </p:nvSpPr>
        <p:spPr/>
        <p:txBody>
          <a:bodyPr/>
          <a:lstStyle/>
          <a:p>
            <a:endParaRPr lang="zh-CN" altLang="en-US"/>
          </a:p>
        </p:txBody>
      </p:sp>
      <p:sp>
        <p:nvSpPr>
          <p:cNvPr id="5" name="灯片编号占位符 4"/>
          <p:cNvSpPr>
            <a14:cpLocks xmlns:a14="http://schemas.microsoft.com/office/drawing/2010/main"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14:cpLocks xmlns:a14="http://schemas.microsoft.com/office/drawing/2010/main" noGrp="1"/>
          </p:cNvSpPr>
          <p:nvPr>
            <p:ph type="title"/>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14:cpLocks xmlns:a14="http://schemas.microsoft.com/office/drawing/2010/main"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14:cpLocks xmlns:a14="http://schemas.microsoft.com/office/drawing/2010/main"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14:cpLocks xmlns:a14="http://schemas.microsoft.com/office/drawing/2010/main"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14:cpLocks xmlns:a14="http://schemas.microsoft.com/office/drawing/2010/main"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14:cpLocks xmlns:a14="http://schemas.microsoft.com/office/drawing/2010/main"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14:cpLocks xmlns:a14="http://schemas.microsoft.com/office/drawing/2010/main"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charset="2"/>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image" Target="../media/image2.png"/><Relationship Id="rId1" Type="http://schemas.openxmlformats.org/officeDocument/2006/relationships/tags" Target="../tags/tag6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6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6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6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7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12.png"/><Relationship Id="rId1" Type="http://schemas.openxmlformats.org/officeDocument/2006/relationships/tags" Target="../tags/tag71.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13.png"/><Relationship Id="rId1" Type="http://schemas.openxmlformats.org/officeDocument/2006/relationships/tags" Target="../tags/tag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tags" Target="../tags/tag76.xml"/><Relationship Id="rId2" Type="http://schemas.openxmlformats.org/officeDocument/2006/relationships/image" Target="../media/image14.png"/><Relationship Id="rId1" Type="http://schemas.openxmlformats.org/officeDocument/2006/relationships/tags" Target="../tags/tag7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7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8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custDataLst>
              <p:tags r:id="rId1"/>
            </p:custDataLst>
          </p:nvPr>
        </p:nvSpPr>
        <p:spPr/>
        <p:txBody>
          <a:bodyPr/>
          <a:lstStyle/>
          <a:p>
            <a:r>
              <a:rPr lang="zh-CN" altLang="zh-CN"/>
              <a:t>海淀二模</a:t>
            </a:r>
            <a:endParaRPr lang="zh-CN" altLang="zh-CN"/>
          </a:p>
        </p:txBody>
      </p:sp>
      <p:sp>
        <p:nvSpPr>
          <p:cNvPr id="3" name="副标题 2"/>
          <p:cNvSpPr>
            <a14:cpLocks xmlns:a14="http://schemas.microsoft.com/office/drawing/2010/main" noGrp="1"/>
          </p:cNvSpPr>
          <p:nvPr>
            <p:ph type="subTitle" idx="1"/>
            <p:custDataLst>
              <p:tags r:id="rId2"/>
            </p:custDataLst>
          </p:nvPr>
        </p:nvSpPr>
        <p:spPr/>
        <p:txBody>
          <a:bodyPr/>
          <a:lstStyle/>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0" y="0"/>
            <a:ext cx="8556625" cy="750887"/>
          </a:xfrm>
        </p:spPr>
        <p:txBody>
          <a:bodyPr>
            <a:normAutofit/>
          </a:bodyPr>
          <a:lstStyle/>
          <a:p>
            <a:r>
              <a:rPr lang="en-US" sz="4000" b="1" dirty="0">
                <a:solidFill>
                  <a:srgbClr val="C00000"/>
                </a:solidFill>
                <a:latin typeface="微软雅黑" charset="-122"/>
                <a:ea typeface="微软雅黑" charset="-122"/>
              </a:rPr>
              <a:t>16</a:t>
            </a:r>
            <a:r>
              <a:rPr lang="zh-CN" altLang="en-US" sz="4000" b="1" dirty="0">
                <a:solidFill>
                  <a:srgbClr val="C00000"/>
                </a:solidFill>
                <a:latin typeface="微软雅黑" charset="-122"/>
                <a:ea typeface="微软雅黑" charset="-122"/>
              </a:rPr>
              <a:t>题</a:t>
            </a:r>
            <a:endParaRPr lang="zh-CN" altLang="en-US" sz="4000" b="1" dirty="0">
              <a:solidFill>
                <a:srgbClr val="C00000"/>
              </a:solidFill>
              <a:latin typeface="微软雅黑" charset="-122"/>
              <a:ea typeface="微软雅黑"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92" y="1400761"/>
            <a:ext cx="12192000" cy="4694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734647" y="371926"/>
            <a:ext cx="8556625" cy="750887"/>
          </a:xfrm>
        </p:spPr>
        <p:txBody>
          <a:bodyPr>
            <a:normAutofit/>
          </a:bodyPr>
          <a:lstStyle/>
          <a:p>
            <a:r>
              <a:rPr lang="zh-CN" altLang="en-US" sz="3600" b="1" dirty="0">
                <a:solidFill>
                  <a:schemeClr val="accent2">
                    <a:lumMod val="50000"/>
                  </a:schemeClr>
                </a:solidFill>
                <a:latin typeface="黑体" pitchFamily="49" charset="-122"/>
                <a:ea typeface="黑体" pitchFamily="49" charset="-122"/>
              </a:rPr>
              <a:t>一、试题分析</a:t>
            </a:r>
            <a:endParaRPr lang="zh-CN" altLang="en-US" sz="3600" b="1" dirty="0">
              <a:solidFill>
                <a:schemeClr val="accent2">
                  <a:lumMod val="50000"/>
                </a:schemeClr>
              </a:solidFill>
              <a:latin typeface="黑体" pitchFamily="49" charset="-122"/>
              <a:ea typeface="黑体" pitchFamily="49" charset="-122"/>
            </a:endParaRPr>
          </a:p>
        </p:txBody>
      </p:sp>
      <p:sp>
        <p:nvSpPr>
          <p:cNvPr id="6" name="矩形 5"/>
          <p:cNvSpPr/>
          <p:nvPr/>
        </p:nvSpPr>
        <p:spPr>
          <a:xfrm>
            <a:off x="353027" y="1394505"/>
            <a:ext cx="11485946" cy="5262979"/>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知识板块：</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中国特色社会主义</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相关知识</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能力板块：阐释与论证、辨识与理解</a:t>
            </a:r>
            <a:endPar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考查意图：</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本题引导学生运用</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中国特色社会主义</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相关知识，从理论维度正确理解“坚持自信自立”这一习近平新时代中国特色社会主义思想世界观和方法论的重要内容，从历史维度认识到党的百年奋斗史就是一部自信自立的探索史，进而明白，从实践维度看，自信自立是走好中国式现代化道路的必然选择。</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0" marR="0" lvl="0" indent="0" algn="l" defTabSz="914400" rtl="0" eaLnBrk="1" fontAlgn="auto" latinLnBrk="0" hangingPunct="1">
              <a:lnSpc>
                <a:spcPct val="2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3"/>
          <p:cNvSpPr txBox="1"/>
          <p:nvPr/>
        </p:nvSpPr>
        <p:spPr>
          <a:xfrm>
            <a:off x="192915" y="227550"/>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三、试题讲解示例</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410852"/>
            <a:ext cx="12192000" cy="4694679"/>
          </a:xfrm>
          <a:prstGeom prst="rect">
            <a:avLst/>
          </a:prstGeom>
        </p:spPr>
      </p:pic>
      <p:sp>
        <p:nvSpPr>
          <p:cNvPr id="3" name="圆角矩形 2"/>
          <p:cNvSpPr/>
          <p:nvPr/>
        </p:nvSpPr>
        <p:spPr>
          <a:xfrm>
            <a:off x="6076708" y="4930815"/>
            <a:ext cx="601883" cy="40511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4" name="下箭头 3"/>
          <p:cNvSpPr/>
          <p:nvPr/>
        </p:nvSpPr>
        <p:spPr>
          <a:xfrm>
            <a:off x="6302413" y="5439506"/>
            <a:ext cx="150471" cy="2546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5" name="文本框 4"/>
          <p:cNvSpPr txBox="1"/>
          <p:nvPr/>
        </p:nvSpPr>
        <p:spPr bwMode="auto">
          <a:xfrm>
            <a:off x="5529343" y="5756895"/>
            <a:ext cx="6603357" cy="830997"/>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要求有逻辑、有层次</a:t>
            </a:r>
            <a:endPar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能从是什么、为什么、如何做角度综合分析问题</a:t>
            </a:r>
            <a:endPar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sp>
        <p:nvSpPr>
          <p:cNvPr id="7" name="圆角矩形 6"/>
          <p:cNvSpPr/>
          <p:nvPr/>
        </p:nvSpPr>
        <p:spPr>
          <a:xfrm>
            <a:off x="6736464" y="4929640"/>
            <a:ext cx="3530279" cy="40511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9" name="文本框 8"/>
          <p:cNvSpPr txBox="1"/>
          <p:nvPr/>
        </p:nvSpPr>
        <p:spPr bwMode="auto">
          <a:xfrm>
            <a:off x="7836059" y="4225425"/>
            <a:ext cx="3298785" cy="461665"/>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a:ln>
                  <a:noFill/>
                </a:ln>
                <a:solidFill>
                  <a:srgbClr val="FF0000"/>
                </a:solidFill>
                <a:effectLst/>
                <a:uLnTx/>
                <a:uFillTx/>
                <a:latin typeface="宋体" charset="-122"/>
                <a:ea typeface="宋体" charset="-122"/>
                <a:cs typeface="+mn-cs"/>
                <a:sym typeface="Calibri"/>
              </a:rPr>
              <a:t>明确知识范围</a:t>
            </a:r>
            <a:endPar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sp>
        <p:nvSpPr>
          <p:cNvPr id="10" name="文本框 9"/>
          <p:cNvSpPr txBox="1"/>
          <p:nvPr/>
        </p:nvSpPr>
        <p:spPr bwMode="auto">
          <a:xfrm>
            <a:off x="49673" y="6095440"/>
            <a:ext cx="4846418" cy="461665"/>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能从自信和自立角度有针对性分析</a:t>
            </a:r>
            <a:endParaRPr kumimoji="1"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sp>
        <p:nvSpPr>
          <p:cNvPr id="11" name="圆角矩形 10"/>
          <p:cNvSpPr/>
          <p:nvPr/>
        </p:nvSpPr>
        <p:spPr>
          <a:xfrm>
            <a:off x="273936" y="5334754"/>
            <a:ext cx="1253921" cy="5020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3" name="下箭头 12"/>
          <p:cNvSpPr/>
          <p:nvPr/>
        </p:nvSpPr>
        <p:spPr>
          <a:xfrm>
            <a:off x="750425" y="5917751"/>
            <a:ext cx="150471" cy="2546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4" name="下箭头 13"/>
          <p:cNvSpPr/>
          <p:nvPr/>
        </p:nvSpPr>
        <p:spPr>
          <a:xfrm flipV="1">
            <a:off x="8749540" y="4687362"/>
            <a:ext cx="162965" cy="1959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6" name="圆角矩形 5"/>
          <p:cNvSpPr/>
          <p:nvPr/>
        </p:nvSpPr>
        <p:spPr>
          <a:xfrm>
            <a:off x="192915" y="1921397"/>
            <a:ext cx="11775308" cy="960699"/>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6" name="文本框 15"/>
          <p:cNvSpPr txBox="1"/>
          <p:nvPr/>
        </p:nvSpPr>
        <p:spPr bwMode="auto">
          <a:xfrm>
            <a:off x="6678591" y="949187"/>
            <a:ext cx="3055718" cy="46166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srgbClr val="5B9BD5">
                    <a:lumMod val="75000"/>
                  </a:srgbClr>
                </a:solidFill>
                <a:effectLst/>
                <a:uLnTx/>
                <a:uFillTx/>
                <a:latin typeface="宋体" charset="-122"/>
                <a:ea typeface="宋体" charset="-122"/>
                <a:cs typeface="+mn-cs"/>
                <a:sym typeface="Calibri"/>
              </a:rPr>
              <a:t>自信自立是什么</a:t>
            </a:r>
            <a:endParaRPr kumimoji="1" lang="zh-CN" altLang="en-US" sz="2400" b="1" i="0" u="none" strike="noStrike" kern="1200" cap="none" spc="0" normalizeH="0" baseline="0" noProof="0" dirty="0">
              <a:ln>
                <a:noFill/>
              </a:ln>
              <a:solidFill>
                <a:srgbClr val="5B9BD5">
                  <a:lumMod val="75000"/>
                </a:srgbClr>
              </a:solidFill>
              <a:effectLst/>
              <a:uLnTx/>
              <a:uFillTx/>
              <a:latin typeface="宋体" charset="-122"/>
              <a:ea typeface="宋体" charset="-122"/>
              <a:cs typeface="+mn-cs"/>
              <a:sym typeface="Calibri"/>
            </a:endParaRPr>
          </a:p>
        </p:txBody>
      </p:sp>
      <p:sp>
        <p:nvSpPr>
          <p:cNvPr id="17" name="圆角矩形 16"/>
          <p:cNvSpPr/>
          <p:nvPr/>
        </p:nvSpPr>
        <p:spPr>
          <a:xfrm>
            <a:off x="189054" y="2949272"/>
            <a:ext cx="11775308" cy="481824"/>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ED7D31"/>
              </a:solidFill>
              <a:effectLst/>
              <a:uLnTx/>
              <a:uFillTx/>
              <a:latin typeface="Calibri"/>
              <a:ea typeface="宋体" charset="-122"/>
              <a:cs typeface="+mn-cs"/>
            </a:endParaRPr>
          </a:p>
        </p:txBody>
      </p:sp>
      <p:sp>
        <p:nvSpPr>
          <p:cNvPr id="18" name="圆角矩形 17"/>
          <p:cNvSpPr/>
          <p:nvPr/>
        </p:nvSpPr>
        <p:spPr>
          <a:xfrm>
            <a:off x="189054" y="3531715"/>
            <a:ext cx="11775308" cy="1254039"/>
          </a:xfrm>
          <a:prstGeom prst="roundRect">
            <a:avLst/>
          </a:pr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24" name="文本框 23"/>
          <p:cNvSpPr txBox="1"/>
          <p:nvPr/>
        </p:nvSpPr>
        <p:spPr bwMode="auto">
          <a:xfrm>
            <a:off x="3856296" y="413195"/>
            <a:ext cx="3539925" cy="46166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srgbClr val="5B9BD5">
                    <a:lumMod val="75000"/>
                  </a:srgbClr>
                </a:solidFill>
                <a:effectLst/>
                <a:uLnTx/>
                <a:uFillTx/>
                <a:latin typeface="宋体" charset="-122"/>
                <a:ea typeface="宋体" charset="-122"/>
                <a:cs typeface="+mn-cs"/>
                <a:sym typeface="Calibri"/>
              </a:rPr>
              <a:t>为什么要坚持自信自立</a:t>
            </a:r>
            <a:endParaRPr kumimoji="1" lang="zh-CN" altLang="en-US" sz="2400" b="1" i="0" u="none" strike="noStrike" kern="1200" cap="none" spc="0" normalizeH="0" baseline="0" noProof="0" dirty="0">
              <a:ln>
                <a:noFill/>
              </a:ln>
              <a:solidFill>
                <a:srgbClr val="5B9BD5">
                  <a:lumMod val="75000"/>
                </a:srgbClr>
              </a:solidFill>
              <a:effectLst/>
              <a:uLnTx/>
              <a:uFillTx/>
              <a:latin typeface="宋体" charset="-122"/>
              <a:ea typeface="宋体" charset="-122"/>
              <a:cs typeface="+mn-cs"/>
              <a:sym typeface="Calibri"/>
            </a:endParaRPr>
          </a:p>
        </p:txBody>
      </p:sp>
      <p:sp>
        <p:nvSpPr>
          <p:cNvPr id="26" name="文本框 25"/>
          <p:cNvSpPr txBox="1"/>
          <p:nvPr/>
        </p:nvSpPr>
        <p:spPr bwMode="auto">
          <a:xfrm>
            <a:off x="9268385" y="1036537"/>
            <a:ext cx="3055718" cy="46166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srgbClr val="5B9BD5">
                    <a:lumMod val="75000"/>
                  </a:srgbClr>
                </a:solidFill>
                <a:effectLst/>
                <a:uLnTx/>
                <a:uFillTx/>
                <a:latin typeface="宋体" charset="-122"/>
                <a:ea typeface="宋体" charset="-122"/>
                <a:cs typeface="+mn-cs"/>
                <a:sym typeface="Calibri"/>
              </a:rPr>
              <a:t>如何坚持自信自立</a:t>
            </a:r>
            <a:endParaRPr kumimoji="1" lang="zh-CN" altLang="en-US" sz="2400" b="1" i="0" u="none" strike="noStrike" kern="1200" cap="none" spc="0" normalizeH="0" baseline="0" noProof="0" dirty="0">
              <a:ln>
                <a:noFill/>
              </a:ln>
              <a:solidFill>
                <a:srgbClr val="5B9BD5">
                  <a:lumMod val="75000"/>
                </a:srgbClr>
              </a:solidFill>
              <a:effectLst/>
              <a:uLnTx/>
              <a:uFillTx/>
              <a:latin typeface="宋体" charset="-122"/>
              <a:ea typeface="宋体" charset="-122"/>
              <a:cs typeface="+mn-cs"/>
              <a:sym typeface="Calibri"/>
            </a:endParaRPr>
          </a:p>
        </p:txBody>
      </p:sp>
      <p:sp>
        <p:nvSpPr>
          <p:cNvPr id="27" name="下箭头 26"/>
          <p:cNvSpPr/>
          <p:nvPr/>
        </p:nvSpPr>
        <p:spPr>
          <a:xfrm flipV="1">
            <a:off x="4771369" y="874859"/>
            <a:ext cx="158521" cy="20667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28" name="下箭头 27"/>
          <p:cNvSpPr/>
          <p:nvPr/>
        </p:nvSpPr>
        <p:spPr>
          <a:xfrm flipV="1">
            <a:off x="8138006" y="1428945"/>
            <a:ext cx="131351" cy="4921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29" name="下箭头 28"/>
          <p:cNvSpPr/>
          <p:nvPr/>
        </p:nvSpPr>
        <p:spPr>
          <a:xfrm flipV="1">
            <a:off x="10693036" y="1498201"/>
            <a:ext cx="166116" cy="20332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765796" y="478101"/>
            <a:ext cx="10461625" cy="589788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txBox="1"/>
          <p:nvPr/>
        </p:nvSpPr>
        <p:spPr>
          <a:xfrm>
            <a:off x="478665" y="29064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四、学生问题</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2" name="文本框 1"/>
          <p:cNvSpPr txBox="1"/>
          <p:nvPr/>
        </p:nvSpPr>
        <p:spPr bwMode="auto">
          <a:xfrm>
            <a:off x="967409" y="1855304"/>
            <a:ext cx="10310191" cy="1200329"/>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1"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1</a:t>
            </a:r>
            <a:r>
              <a:rPr kumimoji="1"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、知识乱堆砌，缺乏逻辑、答题无层次</a:t>
            </a:r>
            <a:endParaRPr kumimoji="1"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ctr" defTabSz="914400" rtl="0" eaLnBrk="1" fontAlgn="auto" latinLnBrk="0" hangingPunct="1">
              <a:lnSpc>
                <a:spcPct val="100000"/>
              </a:lnSpc>
              <a:spcBef>
                <a:spcPts val="0"/>
              </a:spcBef>
              <a:spcAft>
                <a:spcPts val="0"/>
              </a:spcAft>
              <a:buClrTx/>
              <a:buSzTx/>
              <a:buFont typeface="Arial" charset="0"/>
              <a:buNone/>
              <a:defRPr/>
            </a:pPr>
            <a:endParaRPr kumimoji="1"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1"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2</a:t>
            </a:r>
            <a:r>
              <a:rPr kumimoji="1"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、知识与论述匹配不充分</a:t>
            </a:r>
            <a:endParaRPr kumimoji="1"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94936" y="913898"/>
            <a:ext cx="9308409" cy="5380970"/>
          </a:xfrm>
          <a:prstGeom prst="rect">
            <a:avLst/>
          </a:prstGeom>
        </p:spPr>
      </p:pic>
      <p:sp>
        <p:nvSpPr>
          <p:cNvPr id="6" name="标题 3"/>
          <p:cNvSpPr txBox="1"/>
          <p:nvPr/>
        </p:nvSpPr>
        <p:spPr>
          <a:xfrm>
            <a:off x="70945" y="80715"/>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3600" b="1" i="0" u="none" strike="noStrike" kern="1200" cap="none" spc="0" normalizeH="0" baseline="0" noProof="0" dirty="0">
                <a:ln>
                  <a:noFill/>
                </a:ln>
                <a:solidFill>
                  <a:srgbClr val="C00000"/>
                </a:solidFill>
                <a:effectLst/>
                <a:uLnTx/>
                <a:uFillTx/>
                <a:latin typeface="微软雅黑" charset="-122"/>
                <a:ea typeface="微软雅黑" charset="-122"/>
                <a:cs typeface="+mj-cs"/>
              </a:rPr>
              <a:t>17</a:t>
            </a:r>
            <a:r>
              <a:rPr kumimoji="0" lang="zh-CN" altLang="en-US" sz="3600" b="1" i="0" u="none" strike="noStrike" kern="1200" cap="none" spc="0" normalizeH="0" baseline="0" noProof="0" dirty="0">
                <a:ln>
                  <a:noFill/>
                </a:ln>
                <a:solidFill>
                  <a:srgbClr val="C00000"/>
                </a:solidFill>
                <a:effectLst/>
                <a:uLnTx/>
                <a:uFillTx/>
                <a:latin typeface="微软雅黑" charset="-122"/>
                <a:ea typeface="微软雅黑" charset="-122"/>
                <a:cs typeface="+mj-cs"/>
              </a:rPr>
              <a:t>题 （</a:t>
            </a:r>
            <a:r>
              <a:rPr kumimoji="0" lang="en-US" altLang="zh-CN" sz="3600" b="1" i="0" u="none" strike="noStrike" kern="1200" cap="none" spc="0" normalizeH="0" baseline="0" noProof="0" dirty="0">
                <a:ln>
                  <a:noFill/>
                </a:ln>
                <a:solidFill>
                  <a:srgbClr val="C00000"/>
                </a:solidFill>
                <a:effectLst/>
                <a:uLnTx/>
                <a:uFillTx/>
                <a:latin typeface="微软雅黑" charset="-122"/>
                <a:ea typeface="微软雅黑" charset="-122"/>
                <a:cs typeface="+mj-cs"/>
              </a:rPr>
              <a:t>6</a:t>
            </a:r>
            <a:r>
              <a:rPr kumimoji="0" lang="zh-CN" altLang="en-US" sz="3600" b="1" i="0" u="none" strike="noStrike" kern="1200" cap="none" spc="0" normalizeH="0" baseline="0" noProof="0" dirty="0">
                <a:ln>
                  <a:noFill/>
                </a:ln>
                <a:solidFill>
                  <a:srgbClr val="C00000"/>
                </a:solidFill>
                <a:effectLst/>
                <a:uLnTx/>
                <a:uFillTx/>
                <a:latin typeface="微软雅黑" charset="-122"/>
                <a:ea typeface="微软雅黑" charset="-122"/>
                <a:cs typeface="+mj-cs"/>
              </a:rPr>
              <a:t>分） </a:t>
            </a:r>
            <a:endParaRPr kumimoji="0" lang="zh-CN" altLang="en-US" sz="3600" b="1" i="0" u="none" strike="noStrike" kern="1200" cap="none" spc="0" normalizeH="0" baseline="0" noProof="0" dirty="0">
              <a:ln>
                <a:noFill/>
              </a:ln>
              <a:solidFill>
                <a:srgbClr val="C00000"/>
              </a:solidFill>
              <a:effectLst/>
              <a:uLnTx/>
              <a:uFillTx/>
              <a:latin typeface="微软雅黑" charset="-122"/>
              <a:ea typeface="微软雅黑" charset="-122"/>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734647" y="371926"/>
            <a:ext cx="8556625" cy="750887"/>
          </a:xfrm>
        </p:spPr>
        <p:txBody>
          <a:bodyPr>
            <a:normAutofit/>
          </a:bodyPr>
          <a:lstStyle/>
          <a:p>
            <a:r>
              <a:rPr lang="zh-CN" altLang="en-US" sz="3600" b="1" dirty="0">
                <a:solidFill>
                  <a:schemeClr val="accent2">
                    <a:lumMod val="50000"/>
                  </a:schemeClr>
                </a:solidFill>
                <a:latin typeface="黑体" pitchFamily="49" charset="-122"/>
                <a:ea typeface="黑体" pitchFamily="49" charset="-122"/>
              </a:rPr>
              <a:t>一、试题分析</a:t>
            </a:r>
            <a:endParaRPr lang="zh-CN" altLang="en-US" sz="3600" b="1" dirty="0">
              <a:solidFill>
                <a:schemeClr val="accent2">
                  <a:lumMod val="50000"/>
                </a:schemeClr>
              </a:solidFill>
              <a:latin typeface="黑体" pitchFamily="49" charset="-122"/>
              <a:ea typeface="黑体" pitchFamily="49" charset="-122"/>
            </a:endParaRPr>
          </a:p>
        </p:txBody>
      </p:sp>
      <p:sp>
        <p:nvSpPr>
          <p:cNvPr id="6" name="矩形 5"/>
          <p:cNvSpPr/>
          <p:nvPr/>
        </p:nvSpPr>
        <p:spPr>
          <a:xfrm>
            <a:off x="1119645" y="1754723"/>
            <a:ext cx="9566828" cy="3652923"/>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知识板块：农业现代化、乡村振兴、农村产业结构优化等相关知识</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能力板块：探究与建构、辨识与理解</a:t>
            </a:r>
            <a:endPar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考查意图：</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本题试图引导学生从乡村振兴的具体事例中，从发展特色产业、产业融合升级、全产业链等方面，找到乡村振兴、实现共同富裕的具体路径逻辑。</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36987" y="978437"/>
            <a:ext cx="2480758"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微软雅黑" charset="-122"/>
                <a:ea typeface="微软雅黑" charset="-122"/>
                <a:cs typeface="+mn-cs"/>
              </a:rPr>
              <a:t>路径</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：依托特色资源，通过发挥市场的作用，打造特色品牌</a:t>
            </a:r>
            <a:endPar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微软雅黑" charset="-122"/>
                <a:ea typeface="微软雅黑" charset="-122"/>
                <a:cs typeface="+mn-cs"/>
              </a:rPr>
              <a:t>结果</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：提升产品价值，增强市场竞争力</a:t>
            </a:r>
            <a:endPar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13" name="矩形 12"/>
          <p:cNvSpPr/>
          <p:nvPr/>
        </p:nvSpPr>
        <p:spPr>
          <a:xfrm>
            <a:off x="9036987" y="2648283"/>
            <a:ext cx="2588593" cy="1754326"/>
          </a:xfrm>
          <a:prstGeom prst="rect">
            <a:avLst/>
          </a:prstGeom>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微软雅黑" charset="-122"/>
                <a:ea typeface="微软雅黑" charset="-122"/>
                <a:cs typeface="+mn-cs"/>
              </a:rPr>
              <a:t>路径</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：推动农村相关产业融合</a:t>
            </a: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完善农村产业体系</a:t>
            </a: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加强农村产业链建设</a:t>
            </a:r>
            <a:endPar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微软雅黑" charset="-122"/>
                <a:ea typeface="微软雅黑" charset="-122"/>
                <a:cs typeface="+mn-cs"/>
              </a:rPr>
              <a:t>结果</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：农业现代化</a:t>
            </a: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实现特色产业和特色资源融合发展</a:t>
            </a: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农业高质量发展</a:t>
            </a:r>
            <a:endPar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cxnSp>
        <p:nvCxnSpPr>
          <p:cNvPr id="14" name="直接箭头连接符 13"/>
          <p:cNvCxnSpPr/>
          <p:nvPr/>
        </p:nvCxnSpPr>
        <p:spPr>
          <a:xfrm>
            <a:off x="7459762" y="1626310"/>
            <a:ext cx="146939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148312" y="4865168"/>
            <a:ext cx="4947688" cy="646331"/>
          </a:xfrm>
          <a:prstGeom prst="rect">
            <a:avLst/>
          </a:prstGeom>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审题：路径：“农”字号产业怎么“旺”</a:t>
            </a:r>
            <a:endPar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          </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结果：让“希望的田野”迸发更多活力</a:t>
            </a:r>
            <a:endPar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
        <p:nvSpPr>
          <p:cNvPr id="15" name="标题 3"/>
          <p:cNvSpPr txBox="1"/>
          <p:nvPr/>
        </p:nvSpPr>
        <p:spPr>
          <a:xfrm>
            <a:off x="192915" y="227550"/>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三、试题讲解示例</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7807" y="923925"/>
            <a:ext cx="6480229" cy="3746067"/>
          </a:xfrm>
          <a:prstGeom prst="rect">
            <a:avLst/>
          </a:prstGeom>
        </p:spPr>
      </p:pic>
      <p:cxnSp>
        <p:nvCxnSpPr>
          <p:cNvPr id="5" name="直接箭头连接符 4"/>
          <p:cNvCxnSpPr/>
          <p:nvPr/>
        </p:nvCxnSpPr>
        <p:spPr>
          <a:xfrm>
            <a:off x="7459762" y="2796958"/>
            <a:ext cx="146939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6096000" y="3845285"/>
            <a:ext cx="1363762" cy="82470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bwMode="auto">
          <a:xfrm>
            <a:off x="7610763" y="4669992"/>
            <a:ext cx="3906982" cy="1477328"/>
          </a:xfrm>
          <a:prstGeom prst="rect">
            <a:avLst/>
          </a:prstGeom>
          <a:noFill/>
          <a:ln w="9525">
            <a:solidFill>
              <a:schemeClr val="accent1"/>
            </a:solid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微软雅黑" charset="-122"/>
                <a:ea typeface="微软雅黑" charset="-122"/>
                <a:cs typeface="+mn-cs"/>
              </a:rPr>
              <a:t>路径</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srgbClr val="FF0000"/>
                </a:solidFill>
                <a:effectLst/>
                <a:uLnTx/>
                <a:uFillTx/>
                <a:latin typeface="微软雅黑" charset="-122"/>
                <a:ea typeface="微软雅黑" charset="-122"/>
                <a:cs typeface="+mn-cs"/>
              </a:rPr>
              <a:t>发展新型农业经营主体</a:t>
            </a:r>
            <a:r>
              <a:rPr kumimoji="0" lang="en-US" altLang="zh-CN" sz="1800" b="0" i="0" u="none" strike="noStrike" kern="1200" cap="none" spc="0" normalizeH="0" baseline="0" noProof="0" dirty="0">
                <a:ln>
                  <a:noFill/>
                </a:ln>
                <a:solidFill>
                  <a:srgbClr val="FF0000"/>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农业合作社办企业，带动小农户形成企业农户优势互补、合作共赢的发展格局</a:t>
            </a:r>
            <a:endPar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微软雅黑" charset="-122"/>
                <a:ea typeface="微软雅黑" charset="-122"/>
                <a:cs typeface="+mn-cs"/>
              </a:rPr>
              <a:t>结果</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：增加农民收入</a:t>
            </a: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拓宽农民增收渠道</a:t>
            </a:r>
            <a:r>
              <a:rPr kumimoji="0" lang="en-US" altLang="zh-CN" sz="18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实现共同富裕</a:t>
            </a:r>
            <a:endPar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2"/>
          <a:stretch>
            <a:fillRect/>
          </a:stretch>
        </p:blipFill>
        <p:spPr>
          <a:xfrm>
            <a:off x="609600" y="984885"/>
            <a:ext cx="10876915" cy="45980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txBox="1"/>
          <p:nvPr/>
        </p:nvSpPr>
        <p:spPr>
          <a:xfrm>
            <a:off x="478665" y="29064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四、学生问题</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4" name="矩形 3"/>
          <p:cNvSpPr/>
          <p:nvPr/>
        </p:nvSpPr>
        <p:spPr>
          <a:xfrm>
            <a:off x="706120" y="1661289"/>
            <a:ext cx="10447020" cy="5013039"/>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Wingdings" charset="2"/>
              <a:buChar char="u"/>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“路径</a:t>
            </a:r>
            <a:r>
              <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结果”意识不强。</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u"/>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材料解读不够全面，答案堆砌、背诵教材知识。</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u"/>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 从具体材料生成学科术语的能力欠佳。</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l"/>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比如，通过农业一二三产业融合、农业产业链的完善，实现农业现代化，农业现代化这个学科术语不能提炼出来。</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l"/>
              <a:defRPr/>
            </a:pPr>
            <a:r>
              <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rPr>
              <a:t> </a:t>
            </a: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农村合作社办企业带小农户发展，不能敏锐捕捉是新型农业主体的产生。</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Wingdings" charset="2"/>
              <a:buChar char="l"/>
              <a:defRPr/>
            </a:pP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0" y="0"/>
            <a:ext cx="8556625" cy="750887"/>
          </a:xfrm>
        </p:spPr>
        <p:txBody>
          <a:bodyPr>
            <a:normAutofit/>
          </a:bodyPr>
          <a:lstStyle/>
          <a:p>
            <a:r>
              <a:rPr lang="en-US" sz="3600" b="1" dirty="0">
                <a:solidFill>
                  <a:srgbClr val="C00000"/>
                </a:solidFill>
                <a:latin typeface="微软雅黑" charset="-122"/>
                <a:ea typeface="微软雅黑" charset="-122"/>
              </a:rPr>
              <a:t>18</a:t>
            </a:r>
            <a:r>
              <a:rPr lang="zh-CN" altLang="en-US" sz="3600" b="1" dirty="0">
                <a:solidFill>
                  <a:srgbClr val="C00000"/>
                </a:solidFill>
                <a:latin typeface="微软雅黑" charset="-122"/>
                <a:ea typeface="微软雅黑" charset="-122"/>
              </a:rPr>
              <a:t>题 （</a:t>
            </a:r>
            <a:r>
              <a:rPr lang="en-US" altLang="zh-CN" sz="3600" b="1" dirty="0">
                <a:solidFill>
                  <a:srgbClr val="C00000"/>
                </a:solidFill>
                <a:latin typeface="微软雅黑" charset="-122"/>
                <a:ea typeface="微软雅黑" charset="-122"/>
              </a:rPr>
              <a:t>6</a:t>
            </a:r>
            <a:r>
              <a:rPr lang="zh-CN" altLang="en-US" sz="3600" b="1" dirty="0">
                <a:solidFill>
                  <a:srgbClr val="C00000"/>
                </a:solidFill>
                <a:latin typeface="微软雅黑" charset="-122"/>
                <a:ea typeface="微软雅黑" charset="-122"/>
              </a:rPr>
              <a:t>分）</a:t>
            </a:r>
            <a:endParaRPr lang="zh-CN" altLang="en-US" sz="3600" b="1" dirty="0">
              <a:solidFill>
                <a:srgbClr val="C00000"/>
              </a:solidFill>
              <a:latin typeface="微软雅黑" charset="-122"/>
              <a:ea typeface="微软雅黑" charset="-122"/>
            </a:endParaRPr>
          </a:p>
        </p:txBody>
      </p:sp>
      <p:sp>
        <p:nvSpPr>
          <p:cNvPr id="5" name="文本框 4"/>
          <p:cNvSpPr txBox="1"/>
          <p:nvPr/>
        </p:nvSpPr>
        <p:spPr bwMode="auto">
          <a:xfrm>
            <a:off x="246616" y="913898"/>
            <a:ext cx="11698768" cy="4832092"/>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一带江山如画，风物向秋潇洒。</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山如歌，青如曲，</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听此青绿，展卷入梦。</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一弦</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乐</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古今，</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回望千年，乐咏江山。</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     </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听此青绿</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一乐咏千里江山音乐会</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（以下简称</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听此青绿</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）选取了北宋王希孟的传世名作</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千里江山图</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中的</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12</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段图景，借鉴</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高山流水</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渔舟唱晚</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梅花三弄</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等古曲的艺术表达，将编钟、箜篌、筑、项等中国古老的民族乐器和西洋铜管乐相结合，用中西乐音传递着久远年代的神韵与壮丽，描绘古老东方民族独特的艺术气质，记录中华绵延五千年的悠久历史和锦绣河山。</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      </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音乐会还加入绘画、书法、意境化舞蹈等表现方式，以科技化的舞台技术让观众耳中见色、眼里闻声、随声赋形。音乐与光影交错，共同营造出</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野水连天碧，峰峦入海青</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的意境，引领观众沉浸在舞台上投射出的</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千里江山</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之中，</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听见</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祖国的千里江山，</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看到</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中华文明的瑰丽风范，感受中国意蕴的深邃苍远</a:t>
            </a:r>
            <a:r>
              <a:rPr kumimoji="0" lang="zh-CN" altLang="en-US" sz="2000" b="0" i="0" u="none" strike="noStrike" kern="1200" cap="none" spc="0" normalizeH="0" baseline="0" noProof="0" dirty="0">
                <a:ln>
                  <a:noFill/>
                </a:ln>
                <a:solidFill>
                  <a:prstClr val="black"/>
                </a:solidFill>
                <a:effectLst/>
                <a:uLnTx/>
                <a:uFillTx/>
                <a:latin typeface="Calibri"/>
                <a:ea typeface="宋体" charset="-122"/>
                <a:cs typeface="+mn-cs"/>
              </a:rPr>
              <a:t>。</a:t>
            </a:r>
            <a:endParaRPr kumimoji="0" lang="en-US" altLang="zh-CN" sz="2000" b="0" i="0" u="none" strike="noStrike" kern="1200" cap="none" spc="0" normalizeH="0" baseline="0" noProof="0" dirty="0">
              <a:ln>
                <a:noFill/>
              </a:ln>
              <a:solidFill>
                <a:prstClr val="black"/>
              </a:solidFill>
              <a:effectLst/>
              <a:uLnTx/>
              <a:uFillTx/>
              <a:latin typeface="Calibri"/>
              <a:ea typeface="宋体"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mn-ea"/>
                <a:cs typeface="+mn-cs"/>
              </a:rPr>
              <a:t>      结合材料，运用</a:t>
            </a:r>
            <a:r>
              <a:rPr kumimoji="0" lang="en-US" altLang="zh-CN" sz="2400" b="1" i="0" u="none" strike="noStrike" kern="1200" cap="none" spc="0" normalizeH="0" baseline="0" noProof="0" dirty="0">
                <a:ln>
                  <a:noFill/>
                </a:ln>
                <a:solidFill>
                  <a:prstClr val="black"/>
                </a:solidFill>
                <a:effectLst/>
                <a:uLnTx/>
                <a:uFillTx/>
                <a:latin typeface="+mn-ea"/>
                <a:cs typeface="+mn-cs"/>
              </a:rPr>
              <a:t>《</a:t>
            </a:r>
            <a:r>
              <a:rPr kumimoji="0" lang="zh-CN" altLang="en-US" sz="2400" b="1" i="0" u="none" strike="noStrike" kern="1200" cap="none" spc="0" normalizeH="0" baseline="0" noProof="0" dirty="0">
                <a:ln>
                  <a:noFill/>
                </a:ln>
                <a:solidFill>
                  <a:prstClr val="black"/>
                </a:solidFill>
                <a:effectLst/>
                <a:uLnTx/>
                <a:uFillTx/>
                <a:latin typeface="+mn-ea"/>
                <a:cs typeface="+mn-cs"/>
              </a:rPr>
              <a:t>哲学与文化</a:t>
            </a:r>
            <a:r>
              <a:rPr kumimoji="0" lang="en-US" altLang="zh-CN" sz="2400" b="1" i="0" u="none" strike="noStrike" kern="1200" cap="none" spc="0" normalizeH="0" baseline="0" noProof="0" dirty="0">
                <a:ln>
                  <a:noFill/>
                </a:ln>
                <a:solidFill>
                  <a:prstClr val="black"/>
                </a:solidFill>
                <a:effectLst/>
                <a:uLnTx/>
                <a:uFillTx/>
                <a:latin typeface="+mn-ea"/>
                <a:cs typeface="+mn-cs"/>
              </a:rPr>
              <a:t>》</a:t>
            </a:r>
            <a:r>
              <a:rPr kumimoji="0" lang="zh-CN" altLang="en-US" sz="2400" b="1" i="0" u="none" strike="noStrike" kern="1200" cap="none" spc="0" normalizeH="0" baseline="0" noProof="0" dirty="0">
                <a:ln>
                  <a:noFill/>
                </a:ln>
                <a:solidFill>
                  <a:prstClr val="black"/>
                </a:solidFill>
                <a:effectLst/>
                <a:uLnTx/>
                <a:uFillTx/>
                <a:latin typeface="+mn-ea"/>
                <a:cs typeface="+mn-cs"/>
              </a:rPr>
              <a:t>知识，说明</a:t>
            </a:r>
            <a:r>
              <a:rPr kumimoji="0" lang="en-US" altLang="zh-CN" sz="2400" b="1" i="0" u="none" strike="noStrike" kern="1200" cap="none" spc="0" normalizeH="0" baseline="0" noProof="0" dirty="0">
                <a:ln>
                  <a:noFill/>
                </a:ln>
                <a:solidFill>
                  <a:prstClr val="black"/>
                </a:solidFill>
                <a:effectLst/>
                <a:uLnTx/>
                <a:uFillTx/>
                <a:latin typeface="+mn-ea"/>
                <a:cs typeface="+mn-cs"/>
              </a:rPr>
              <a:t>《</a:t>
            </a:r>
            <a:r>
              <a:rPr kumimoji="0" lang="zh-CN" altLang="en-US" sz="2400" b="1" i="0" u="none" strike="noStrike" kern="1200" cap="none" spc="0" normalizeH="0" baseline="0" noProof="0" dirty="0">
                <a:ln>
                  <a:noFill/>
                </a:ln>
                <a:solidFill>
                  <a:prstClr val="black"/>
                </a:solidFill>
                <a:effectLst/>
                <a:uLnTx/>
                <a:uFillTx/>
                <a:latin typeface="+mn-ea"/>
                <a:cs typeface="+mn-cs"/>
              </a:rPr>
              <a:t>听此青绿</a:t>
            </a:r>
            <a:r>
              <a:rPr kumimoji="0" lang="en-US" altLang="zh-CN" sz="2400" b="1" i="0" u="none" strike="noStrike" kern="1200" cap="none" spc="0" normalizeH="0" baseline="0" noProof="0" dirty="0">
                <a:ln>
                  <a:noFill/>
                </a:ln>
                <a:solidFill>
                  <a:prstClr val="black"/>
                </a:solidFill>
                <a:effectLst/>
                <a:uLnTx/>
                <a:uFillTx/>
                <a:latin typeface="+mn-ea"/>
                <a:cs typeface="+mn-cs"/>
              </a:rPr>
              <a:t>》</a:t>
            </a:r>
            <a:r>
              <a:rPr kumimoji="0" lang="zh-CN" altLang="en-US" sz="2400" b="1" i="0" u="none" strike="noStrike" kern="1200" cap="none" spc="0" normalizeH="0" baseline="0" noProof="0" dirty="0">
                <a:ln>
                  <a:noFill/>
                </a:ln>
                <a:solidFill>
                  <a:prstClr val="black"/>
                </a:solidFill>
                <a:effectLst/>
                <a:uLnTx/>
                <a:uFillTx/>
                <a:latin typeface="+mn-ea"/>
                <a:cs typeface="+mn-cs"/>
              </a:rPr>
              <a:t>是如何让观众</a:t>
            </a:r>
            <a:r>
              <a:rPr lang="zh-CN" altLang="en-US" sz="2400" b="1" dirty="0">
                <a:solidFill>
                  <a:prstClr val="black"/>
                </a:solidFill>
                <a:latin typeface="+mn-ea"/>
              </a:rPr>
              <a:t>“</a:t>
            </a:r>
            <a:r>
              <a:rPr kumimoji="0" lang="zh-CN" altLang="en-US" sz="2400" b="1" i="0" u="none" strike="noStrike" kern="1200" cap="none" spc="0" normalizeH="0" baseline="0" noProof="0" dirty="0">
                <a:ln>
                  <a:noFill/>
                </a:ln>
                <a:solidFill>
                  <a:prstClr val="black"/>
                </a:solidFill>
                <a:effectLst/>
                <a:uLnTx/>
                <a:uFillTx/>
                <a:latin typeface="+mn-ea"/>
                <a:cs typeface="+mn-cs"/>
              </a:rPr>
              <a:t>听见</a:t>
            </a:r>
            <a:r>
              <a:rPr lang="zh-CN" altLang="en-US" sz="2400" b="1" dirty="0">
                <a:solidFill>
                  <a:prstClr val="black"/>
                </a:solidFill>
                <a:latin typeface="+mn-ea"/>
              </a:rPr>
              <a:t>”</a:t>
            </a:r>
            <a:r>
              <a:rPr kumimoji="0" lang="zh-CN" altLang="en-US" sz="2400" b="1" i="0" u="none" strike="noStrike" kern="1200" cap="none" spc="0" normalizeH="0" baseline="0" noProof="0" dirty="0">
                <a:ln>
                  <a:noFill/>
                </a:ln>
                <a:solidFill>
                  <a:prstClr val="black"/>
                </a:solidFill>
                <a:effectLst/>
                <a:uLnTx/>
                <a:uFillTx/>
                <a:latin typeface="+mn-ea"/>
                <a:cs typeface="+mn-cs"/>
              </a:rPr>
              <a:t>祖国的千里江山的。</a:t>
            </a:r>
            <a:endParaRPr kumimoji="0" lang="zh-CN" altLang="en-US" sz="2400" b="1" i="0" u="none" strike="noStrike" kern="1200" cap="none" spc="0" normalizeH="0" baseline="0" noProof="0" dirty="0">
              <a:ln>
                <a:noFill/>
              </a:ln>
              <a:solidFill>
                <a:prstClr val="black"/>
              </a:solidFill>
              <a:effectLst/>
              <a:uLnTx/>
              <a:uFillTx/>
              <a:latin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734647" y="371926"/>
            <a:ext cx="8556625" cy="750887"/>
          </a:xfrm>
        </p:spPr>
        <p:txBody>
          <a:bodyPr>
            <a:normAutofit/>
          </a:bodyPr>
          <a:lstStyle/>
          <a:p>
            <a:r>
              <a:rPr lang="zh-CN" altLang="en-US" sz="3600" b="1" dirty="0">
                <a:solidFill>
                  <a:schemeClr val="accent2">
                    <a:lumMod val="50000"/>
                  </a:schemeClr>
                </a:solidFill>
                <a:latin typeface="黑体" pitchFamily="49" charset="-122"/>
                <a:ea typeface="黑体" pitchFamily="49" charset="-122"/>
              </a:rPr>
              <a:t>一、试题分析</a:t>
            </a:r>
            <a:endParaRPr lang="zh-CN" altLang="en-US" sz="3600" b="1" dirty="0">
              <a:solidFill>
                <a:schemeClr val="accent2">
                  <a:lumMod val="50000"/>
                </a:schemeClr>
              </a:solidFill>
              <a:latin typeface="黑体" pitchFamily="49" charset="-122"/>
              <a:ea typeface="黑体" pitchFamily="49" charset="-122"/>
            </a:endParaRPr>
          </a:p>
        </p:txBody>
      </p:sp>
      <p:sp>
        <p:nvSpPr>
          <p:cNvPr id="6" name="矩形 5"/>
          <p:cNvSpPr/>
          <p:nvPr/>
        </p:nvSpPr>
        <p:spPr>
          <a:xfrm>
            <a:off x="353027" y="1548884"/>
            <a:ext cx="11485946" cy="3652923"/>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知识板块： 文化传承与创新、哲学等相关知识</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能力板块： 阐释与论证</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考查意图： </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本题试图引导学生“感受优秀文化的力量”，综合运用哲学与文化相关知识，思考优秀传统文化传承与创新的途径，最终实现综合创新，从而增强文化自信。</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bwMode="auto">
          <a:xfrm>
            <a:off x="360233" y="606790"/>
            <a:ext cx="11698768" cy="5139869"/>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一带江山如画，风物向秋潇洒。</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山如歌，青如曲，</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听此青绿，展卷入梦。</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一弦</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乐</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古今，</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回望千年，乐咏江山。</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     </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听此青绿</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一乐咏千里江山音乐会</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（以下简称</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听此青绿</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）选取了北宋王希孟的传世名作</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千里江山图</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中的</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12</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段图景，</a:t>
            </a:r>
            <a:r>
              <a:rPr kumimoji="0" lang="zh-CN" altLang="en-US" sz="2000" b="1" i="0" u="none" strike="noStrike" kern="1200" cap="none" spc="0" normalizeH="0" baseline="0" noProof="0" dirty="0">
                <a:ln>
                  <a:noFill/>
                </a:ln>
                <a:solidFill>
                  <a:srgbClr val="FF0000"/>
                </a:solidFill>
                <a:effectLst/>
                <a:uLnTx/>
                <a:uFillTx/>
                <a:latin typeface="华文楷体" pitchFamily="2" charset="-122"/>
                <a:ea typeface="华文楷体" pitchFamily="2" charset="-122"/>
                <a:cs typeface="+mn-cs"/>
              </a:rPr>
              <a:t>借鉴</a:t>
            </a:r>
            <a:r>
              <a:rPr kumimoji="0" lang="en-US" altLang="zh-CN" sz="2000" b="1" i="0" u="none" strike="noStrike" kern="1200" cap="none" spc="0" normalizeH="0" baseline="0" noProof="0" dirty="0">
                <a:ln>
                  <a:noFill/>
                </a:ln>
                <a:solidFill>
                  <a:srgbClr val="FF0000"/>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高山流水</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渔舟唱晚</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梅花三弄</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等</a:t>
            </a:r>
            <a:r>
              <a:rPr kumimoji="0" lang="zh-CN" altLang="en-US" sz="2000" b="1" i="0" u="none" strike="noStrike" kern="1200" cap="none" spc="0" normalizeH="0" baseline="0" noProof="0" dirty="0">
                <a:ln>
                  <a:noFill/>
                </a:ln>
                <a:solidFill>
                  <a:srgbClr val="FF0000"/>
                </a:solidFill>
                <a:effectLst/>
                <a:uLnTx/>
                <a:uFillTx/>
                <a:latin typeface="华文楷体" pitchFamily="2" charset="-122"/>
                <a:ea typeface="华文楷体" pitchFamily="2" charset="-122"/>
                <a:cs typeface="+mn-cs"/>
              </a:rPr>
              <a:t>古曲的艺术表达</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，将编钟、箜篌、筑、项等</a:t>
            </a:r>
            <a:r>
              <a:rPr kumimoji="0" lang="zh-CN" altLang="en-US" sz="2000" b="1" i="0" u="none" strike="noStrike" kern="1200" cap="none" spc="0" normalizeH="0" baseline="0" noProof="0" dirty="0">
                <a:ln>
                  <a:noFill/>
                </a:ln>
                <a:solidFill>
                  <a:srgbClr val="00B050"/>
                </a:solidFill>
                <a:effectLst/>
                <a:uLnTx/>
                <a:uFillTx/>
                <a:latin typeface="华文楷体" pitchFamily="2" charset="-122"/>
                <a:ea typeface="华文楷体" pitchFamily="2" charset="-122"/>
                <a:cs typeface="+mn-cs"/>
              </a:rPr>
              <a:t>中国古老的民族乐器和西洋铜管乐相结合</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1" i="0" u="none" strike="noStrike" kern="1200" cap="none" spc="0" normalizeH="0" baseline="0" noProof="0" dirty="0">
                <a:ln>
                  <a:noFill/>
                </a:ln>
                <a:solidFill>
                  <a:srgbClr val="00B050"/>
                </a:solidFill>
                <a:effectLst/>
                <a:uLnTx/>
                <a:uFillTx/>
                <a:latin typeface="华文楷体" pitchFamily="2" charset="-122"/>
                <a:ea typeface="华文楷体" pitchFamily="2" charset="-122"/>
                <a:cs typeface="+mn-cs"/>
              </a:rPr>
              <a:t>用中西乐音传递</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着久远年代的神韵与壮丽，</a:t>
            </a:r>
            <a:r>
              <a:rPr kumimoji="0" lang="zh-CN" altLang="en-US" sz="2000" b="1" i="0" u="none" strike="noStrike" kern="1200" cap="none" spc="0" normalizeH="0" baseline="0" noProof="0" dirty="0">
                <a:ln>
                  <a:noFill/>
                </a:ln>
                <a:solidFill>
                  <a:srgbClr val="FF0000"/>
                </a:solidFill>
                <a:effectLst/>
                <a:uLnTx/>
                <a:uFillTx/>
                <a:latin typeface="华文楷体" pitchFamily="2" charset="-122"/>
                <a:ea typeface="华文楷体" pitchFamily="2" charset="-122"/>
                <a:cs typeface="+mn-cs"/>
              </a:rPr>
              <a:t>描绘</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古老东方</a:t>
            </a:r>
            <a:r>
              <a:rPr kumimoji="0" lang="zh-CN" altLang="en-US" sz="2000" b="1" i="0" u="none" strike="noStrike" kern="1200" cap="none" spc="0" normalizeH="0" baseline="0" noProof="0" dirty="0">
                <a:ln>
                  <a:noFill/>
                </a:ln>
                <a:solidFill>
                  <a:srgbClr val="FF0000"/>
                </a:solidFill>
                <a:effectLst/>
                <a:uLnTx/>
                <a:uFillTx/>
                <a:latin typeface="华文楷体" pitchFamily="2" charset="-122"/>
                <a:ea typeface="华文楷体" pitchFamily="2" charset="-122"/>
                <a:cs typeface="+mn-cs"/>
              </a:rPr>
              <a:t>民族独特的艺术气质</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1" i="0" u="none" strike="noStrike" kern="1200" cap="none" spc="0" normalizeH="0" baseline="0" noProof="0" dirty="0">
                <a:ln>
                  <a:noFill/>
                </a:ln>
                <a:solidFill>
                  <a:srgbClr val="FF0000"/>
                </a:solidFill>
                <a:effectLst/>
                <a:uLnTx/>
                <a:uFillTx/>
                <a:latin typeface="华文楷体" pitchFamily="2" charset="-122"/>
                <a:ea typeface="华文楷体" pitchFamily="2" charset="-122"/>
                <a:cs typeface="+mn-cs"/>
              </a:rPr>
              <a:t>记录中华绵延五千年的悠久历史</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和锦绣河山。</a:t>
            </a:r>
            <a:endPar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      </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音乐会还</a:t>
            </a:r>
            <a:r>
              <a:rPr kumimoji="0" lang="zh-CN" altLang="en-US"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加入绘画、书法、意境化舞蹈等表现方式</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，以</a:t>
            </a:r>
            <a:r>
              <a:rPr kumimoji="0" lang="zh-CN" altLang="en-US"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科技化的舞台技术</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让</a:t>
            </a:r>
            <a:r>
              <a:rPr kumimoji="0" lang="zh-CN" altLang="en-US" sz="2000" b="1" i="0" u="none" strike="noStrike" kern="1200" cap="none" spc="0" normalizeH="0" baseline="0" noProof="0" dirty="0">
                <a:ln>
                  <a:noFill/>
                </a:ln>
                <a:solidFill>
                  <a:srgbClr val="7030A0"/>
                </a:solidFill>
                <a:effectLst/>
                <a:uLnTx/>
                <a:uFillTx/>
                <a:latin typeface="华文楷体" pitchFamily="2" charset="-122"/>
                <a:ea typeface="华文楷体" pitchFamily="2" charset="-122"/>
                <a:cs typeface="+mn-cs"/>
              </a:rPr>
              <a:t>观众</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耳中见色、眼里闻声、随声赋形。音乐与光影交错，共同营造出</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野水连天碧，峰峦入海青</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的意境，</a:t>
            </a:r>
            <a:r>
              <a:rPr kumimoji="0" lang="zh-CN" altLang="en-US"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引领观众沉浸在舞台上投射出的</a:t>
            </a:r>
            <a:r>
              <a:rPr kumimoji="0" lang="en-US" altLang="zh-CN"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千里江山</a:t>
            </a:r>
            <a:r>
              <a:rPr kumimoji="0" lang="en-US" altLang="zh-CN"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a:t>
            </a:r>
            <a:r>
              <a:rPr kumimoji="0" lang="zh-CN" altLang="en-US" sz="2000" b="1" i="0" u="none" strike="noStrike" kern="1200" cap="none" spc="0" normalizeH="0" baseline="0" noProof="0" dirty="0">
                <a:ln>
                  <a:noFill/>
                </a:ln>
                <a:solidFill>
                  <a:srgbClr val="0070C0"/>
                </a:solidFill>
                <a:effectLst/>
                <a:uLnTx/>
                <a:uFillTx/>
                <a:latin typeface="华文楷体" pitchFamily="2" charset="-122"/>
                <a:ea typeface="华文楷体" pitchFamily="2" charset="-122"/>
                <a:cs typeface="+mn-cs"/>
              </a:rPr>
              <a:t>之中</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听见</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祖国的千里江山，</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看到</a:t>
            </a:r>
            <a:r>
              <a:rPr kumimoji="0" lang="en-US" altLang="zh-CN"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a:t>
            </a:r>
            <a:r>
              <a:rPr kumimoji="0" lang="zh-CN" altLang="en-US" sz="2000" b="0" i="0" u="none" strike="noStrike" kern="1200" cap="none" spc="0" normalizeH="0" baseline="0" noProof="0" dirty="0">
                <a:ln>
                  <a:noFill/>
                </a:ln>
                <a:solidFill>
                  <a:prstClr val="black"/>
                </a:solidFill>
                <a:effectLst/>
                <a:uLnTx/>
                <a:uFillTx/>
                <a:latin typeface="华文楷体" pitchFamily="2" charset="-122"/>
                <a:ea typeface="华文楷体" pitchFamily="2" charset="-122"/>
                <a:cs typeface="+mn-cs"/>
              </a:rPr>
              <a:t>中华文明的瑰丽风范，感受中国意蕴的深邃苍远</a:t>
            </a:r>
            <a:r>
              <a:rPr kumimoji="0" lang="zh-CN" altLang="en-US" sz="2000" b="0" i="0" u="none" strike="noStrike" kern="1200" cap="none" spc="0" normalizeH="0" baseline="0" noProof="0" dirty="0">
                <a:ln>
                  <a:noFill/>
                </a:ln>
                <a:solidFill>
                  <a:prstClr val="black"/>
                </a:solidFill>
                <a:effectLst/>
                <a:uLnTx/>
                <a:uFillTx/>
                <a:latin typeface="Calibri"/>
                <a:ea typeface="宋体" charset="-122"/>
                <a:cs typeface="+mn-cs"/>
              </a:rPr>
              <a:t>。</a:t>
            </a:r>
            <a:endParaRPr kumimoji="0" lang="en-US" altLang="zh-CN" sz="2000" b="0" i="0" u="none" strike="noStrike" kern="1200" cap="none" spc="0" normalizeH="0" baseline="0" noProof="0" dirty="0">
              <a:ln>
                <a:noFill/>
              </a:ln>
              <a:solidFill>
                <a:prstClr val="black"/>
              </a:solidFill>
              <a:effectLst/>
              <a:uLnTx/>
              <a:uFillTx/>
              <a:latin typeface="Calibri"/>
              <a:ea typeface="宋体"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000" b="0" i="0" u="none" strike="noStrike" kern="1200" cap="none" spc="0" normalizeH="0" baseline="0" noProof="0" dirty="0">
              <a:ln>
                <a:noFill/>
              </a:ln>
              <a:solidFill>
                <a:prstClr val="black"/>
              </a:solidFill>
              <a:effectLst/>
              <a:uLnTx/>
              <a:uFillTx/>
              <a:latin typeface="Calibri"/>
              <a:ea typeface="宋体"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      结合材料，运用</a:t>
            </a:r>
            <a:r>
              <a:rPr kumimoji="0" lang="en-US" altLang="zh-CN" sz="2400" b="1" i="0" u="none" strike="noStrike" kern="1200" cap="none" spc="0" normalizeH="0" baseline="0" noProof="0" dirty="0">
                <a:ln>
                  <a:noFill/>
                </a:ln>
                <a:solidFill>
                  <a:prstClr val="black"/>
                </a:solidFill>
                <a:effectLst/>
                <a:uLnTx/>
                <a:uFillTx/>
                <a:latin typeface="Calibri"/>
                <a:ea typeface="宋体" charset="-122"/>
                <a:cs typeface="+mn-cs"/>
              </a:rPr>
              <a:t>《</a:t>
            </a: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哲学与文化</a:t>
            </a:r>
            <a:r>
              <a:rPr kumimoji="0" lang="en-US" altLang="zh-CN" sz="2400" b="1" i="0" u="none" strike="noStrike" kern="1200" cap="none" spc="0" normalizeH="0" baseline="0" noProof="0" dirty="0">
                <a:ln>
                  <a:noFill/>
                </a:ln>
                <a:solidFill>
                  <a:prstClr val="black"/>
                </a:solidFill>
                <a:effectLst/>
                <a:uLnTx/>
                <a:uFillTx/>
                <a:latin typeface="Calibri"/>
                <a:ea typeface="宋体" charset="-122"/>
                <a:cs typeface="+mn-cs"/>
              </a:rPr>
              <a:t>》</a:t>
            </a: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知识，说明</a:t>
            </a:r>
            <a:r>
              <a:rPr kumimoji="0" lang="en-US" altLang="zh-CN" sz="2400" b="1" i="0" u="none" strike="noStrike" kern="1200" cap="none" spc="0" normalizeH="0" baseline="0" noProof="0" dirty="0">
                <a:ln>
                  <a:noFill/>
                </a:ln>
                <a:solidFill>
                  <a:prstClr val="black"/>
                </a:solidFill>
                <a:effectLst/>
                <a:uLnTx/>
                <a:uFillTx/>
                <a:latin typeface="Calibri"/>
                <a:ea typeface="宋体" charset="-122"/>
                <a:cs typeface="+mn-cs"/>
              </a:rPr>
              <a:t>《</a:t>
            </a: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听此青绿</a:t>
            </a:r>
            <a:r>
              <a:rPr kumimoji="0" lang="en-US" altLang="zh-CN" sz="2400" b="1" i="0" u="none" strike="noStrike" kern="1200" cap="none" spc="0" normalizeH="0" baseline="0" noProof="0" dirty="0">
                <a:ln>
                  <a:noFill/>
                </a:ln>
                <a:solidFill>
                  <a:prstClr val="black"/>
                </a:solidFill>
                <a:effectLst/>
                <a:uLnTx/>
                <a:uFillTx/>
                <a:latin typeface="Calibri"/>
                <a:ea typeface="宋体" charset="-122"/>
                <a:cs typeface="+mn-cs"/>
              </a:rPr>
              <a:t>》</a:t>
            </a: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是</a:t>
            </a:r>
            <a:r>
              <a:rPr kumimoji="0" lang="zh-CN" altLang="en-US" sz="2400" b="1" i="0" u="none" strike="noStrike" kern="1200" cap="none" spc="0" normalizeH="0" baseline="0" noProof="0" dirty="0">
                <a:ln>
                  <a:noFill/>
                </a:ln>
                <a:solidFill>
                  <a:srgbClr val="FF0000"/>
                </a:solidFill>
                <a:effectLst/>
                <a:uLnTx/>
                <a:uFillTx/>
                <a:latin typeface="Calibri"/>
                <a:ea typeface="宋体" charset="-122"/>
                <a:cs typeface="+mn-cs"/>
              </a:rPr>
              <a:t>如何</a:t>
            </a: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让观众</a:t>
            </a:r>
            <a:r>
              <a:rPr kumimoji="0" lang="en-US" altLang="zh-CN" sz="2400" b="1" i="0" u="none" strike="noStrike" kern="1200" cap="none" spc="0" normalizeH="0" baseline="0" noProof="0" dirty="0">
                <a:ln>
                  <a:noFill/>
                </a:ln>
                <a:solidFill>
                  <a:prstClr val="black"/>
                </a:solidFill>
                <a:effectLst/>
                <a:uLnTx/>
                <a:uFillTx/>
                <a:latin typeface="Calibri"/>
                <a:ea typeface="宋体" charset="-122"/>
                <a:cs typeface="+mn-cs"/>
              </a:rPr>
              <a:t>"</a:t>
            </a:r>
            <a:r>
              <a:rPr kumimoji="0" lang="zh-CN" altLang="en-US" sz="2400" b="1" i="0" u="none" strike="noStrike" kern="1200" cap="none" spc="0" normalizeH="0" baseline="0" noProof="0" dirty="0">
                <a:ln>
                  <a:noFill/>
                </a:ln>
                <a:solidFill>
                  <a:srgbClr val="00B050"/>
                </a:solidFill>
                <a:effectLst/>
                <a:uLnTx/>
                <a:uFillTx/>
                <a:latin typeface="Calibri"/>
                <a:ea typeface="宋体" charset="-122"/>
                <a:cs typeface="+mn-cs"/>
              </a:rPr>
              <a:t>听见</a:t>
            </a:r>
            <a:r>
              <a:rPr kumimoji="0" lang="en-US" altLang="zh-CN" sz="2400" b="1" i="0" u="none" strike="noStrike" kern="1200" cap="none" spc="0" normalizeH="0" baseline="0" noProof="0" dirty="0">
                <a:ln>
                  <a:noFill/>
                </a:ln>
                <a:solidFill>
                  <a:prstClr val="black"/>
                </a:solidFill>
                <a:effectLst/>
                <a:uLnTx/>
                <a:uFillTx/>
                <a:latin typeface="Calibri"/>
                <a:ea typeface="宋体" charset="-122"/>
                <a:cs typeface="+mn-cs"/>
              </a:rPr>
              <a:t>"</a:t>
            </a:r>
            <a:r>
              <a:rPr kumimoji="0" lang="zh-CN" altLang="en-US" sz="2400" b="1" i="0" u="none" strike="noStrike" kern="1200" cap="none" spc="0" normalizeH="0" baseline="0" noProof="0" dirty="0">
                <a:ln>
                  <a:noFill/>
                </a:ln>
                <a:solidFill>
                  <a:srgbClr val="FF0000"/>
                </a:solidFill>
                <a:effectLst/>
                <a:uLnTx/>
                <a:uFillTx/>
                <a:latin typeface="Calibri"/>
                <a:ea typeface="宋体" charset="-122"/>
                <a:cs typeface="+mn-cs"/>
              </a:rPr>
              <a:t>祖国的千里江山的。</a:t>
            </a:r>
            <a:endParaRPr kumimoji="0" lang="zh-CN" altLang="en-US" sz="2400" b="1" i="0" u="none" strike="noStrike" kern="1200" cap="none" spc="0" normalizeH="0" baseline="0" noProof="0" dirty="0">
              <a:ln>
                <a:noFill/>
              </a:ln>
              <a:solidFill>
                <a:srgbClr val="FF0000"/>
              </a:solidFill>
              <a:effectLst/>
              <a:uLnTx/>
              <a:uFillTx/>
              <a:latin typeface="Calibri"/>
              <a:ea typeface="宋体" charset="-122"/>
              <a:cs typeface="+mn-cs"/>
            </a:endParaRPr>
          </a:p>
        </p:txBody>
      </p:sp>
      <p:sp>
        <p:nvSpPr>
          <p:cNvPr id="15" name="标题 3"/>
          <p:cNvSpPr txBox="1"/>
          <p:nvPr/>
        </p:nvSpPr>
        <p:spPr>
          <a:xfrm>
            <a:off x="192915" y="227550"/>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三、试题讲解示例</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5" name="对话气泡: 矩形 4"/>
          <p:cNvSpPr/>
          <p:nvPr/>
        </p:nvSpPr>
        <p:spPr>
          <a:xfrm>
            <a:off x="6472053" y="3706143"/>
            <a:ext cx="3918856" cy="1033154"/>
          </a:xfrm>
          <a:prstGeom prst="wedgeRectCallout">
            <a:avLst>
              <a:gd name="adj1" fmla="val -63097"/>
              <a:gd name="adj2" fmla="val -47845"/>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rPr>
              <a:t>中华优秀传统文化的</a:t>
            </a: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rPr>
              <a:t>创造性转化和创新性发展 </a:t>
            </a:r>
            <a:r>
              <a:rPr kumimoji="0" lang="en-US" altLang="zh-CN" sz="2400" b="1" i="0" u="none" strike="noStrike" kern="1200" cap="none" spc="0" normalizeH="0" baseline="0" noProof="0" dirty="0">
                <a:ln>
                  <a:noFill/>
                </a:ln>
                <a:solidFill>
                  <a:srgbClr val="FF0000"/>
                </a:solidFill>
                <a:effectLst/>
                <a:uLnTx/>
                <a:uFillTx/>
                <a:latin typeface="宋体" charset="-122"/>
                <a:ea typeface="宋体" charset="-122"/>
                <a:cs typeface="+mn-cs"/>
              </a:rPr>
              <a:t>(</a:t>
            </a: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rPr>
              <a:t>联系、辩证否定、发展、创新）</a:t>
            </a:r>
            <a:endPar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endParaRPr>
          </a:p>
        </p:txBody>
      </p:sp>
      <p:sp>
        <p:nvSpPr>
          <p:cNvPr id="6" name="对话气泡: 矩形 5"/>
          <p:cNvSpPr/>
          <p:nvPr/>
        </p:nvSpPr>
        <p:spPr>
          <a:xfrm>
            <a:off x="5834742" y="1942027"/>
            <a:ext cx="3546764" cy="566408"/>
          </a:xfrm>
          <a:prstGeom prst="wedgeRectCallout">
            <a:avLst>
              <a:gd name="adj1" fmla="val -41582"/>
              <a:gd name="adj2" fmla="val 102730"/>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在</a:t>
            </a:r>
            <a:r>
              <a:rPr kumimoji="0" lang="zh-CN" altLang="en-US" sz="2400" b="1" i="0" u="none" strike="noStrike" kern="1200" cap="none" spc="0" normalizeH="0" baseline="0" noProof="0" dirty="0">
                <a:ln>
                  <a:noFill/>
                </a:ln>
                <a:solidFill>
                  <a:srgbClr val="FF0000"/>
                </a:solidFill>
                <a:effectLst/>
                <a:uLnTx/>
                <a:uFillTx/>
                <a:latin typeface="Calibri"/>
                <a:ea typeface="宋体" charset="-122"/>
                <a:cs typeface="+mn-cs"/>
              </a:rPr>
              <a:t>文化交融</a:t>
            </a:r>
            <a:r>
              <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rPr>
              <a:t>中传递</a:t>
            </a:r>
            <a:endPar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endParaRPr>
          </a:p>
        </p:txBody>
      </p:sp>
      <p:sp>
        <p:nvSpPr>
          <p:cNvPr id="7" name="对话气泡: 矩形 6"/>
          <p:cNvSpPr/>
          <p:nvPr/>
        </p:nvSpPr>
        <p:spPr>
          <a:xfrm>
            <a:off x="1068779" y="1111341"/>
            <a:ext cx="3637209" cy="1481492"/>
          </a:xfrm>
          <a:prstGeom prst="wedgeRectCallout">
            <a:avLst>
              <a:gd name="adj1" fmla="val 5900"/>
              <a:gd name="adj2" fmla="val 111960"/>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rPr>
              <a:t>传承中华文化</a:t>
            </a:r>
            <a:r>
              <a:rPr kumimoji="0" lang="zh-CN" altLang="en-US" sz="2400" b="1" i="0" u="none" strike="noStrike" kern="1200" cap="none" spc="0" normalizeH="0" baseline="0" noProof="0" dirty="0">
                <a:ln>
                  <a:noFill/>
                </a:ln>
                <a:solidFill>
                  <a:srgbClr val="0070C0"/>
                </a:solidFill>
                <a:effectLst/>
                <a:uLnTx/>
                <a:uFillTx/>
                <a:latin typeface="宋体" charset="-122"/>
                <a:ea typeface="宋体" charset="-122"/>
                <a:cs typeface="+mn-cs"/>
              </a:rPr>
              <a:t>独特性（特殊性）、</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rPr>
              <a:t>展示中华文化</a:t>
            </a:r>
            <a:r>
              <a:rPr kumimoji="0" lang="zh-CN" altLang="en-US" sz="2400" b="1" i="0" u="none" strike="noStrike" kern="1200" cap="none" spc="0" normalizeH="0" baseline="0" noProof="0" dirty="0">
                <a:ln>
                  <a:noFill/>
                </a:ln>
                <a:solidFill>
                  <a:srgbClr val="0070C0"/>
                </a:solidFill>
                <a:effectLst/>
                <a:uLnTx/>
                <a:uFillTx/>
                <a:latin typeface="宋体" charset="-122"/>
                <a:ea typeface="宋体" charset="-122"/>
                <a:cs typeface="+mn-cs"/>
              </a:rPr>
              <a:t>源远流长、博大精深</a:t>
            </a:r>
            <a:endPar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endParaRPr>
          </a:p>
        </p:txBody>
      </p:sp>
      <p:sp>
        <p:nvSpPr>
          <p:cNvPr id="8" name="对话气泡: 矩形 7"/>
          <p:cNvSpPr/>
          <p:nvPr/>
        </p:nvSpPr>
        <p:spPr>
          <a:xfrm>
            <a:off x="9535886" y="2802576"/>
            <a:ext cx="1710046" cy="413849"/>
          </a:xfrm>
          <a:prstGeom prst="wedgeRectCallout">
            <a:avLst>
              <a:gd name="adj1" fmla="val -41582"/>
              <a:gd name="adj2" fmla="val 102730"/>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Calibri"/>
                <a:ea typeface="宋体" charset="-122"/>
                <a:cs typeface="+mn-cs"/>
              </a:rPr>
              <a:t>人民立场</a:t>
            </a:r>
            <a:endParaRPr kumimoji="0" lang="zh-CN" altLang="en-US" sz="2000" b="0" i="0" u="none" strike="noStrike" kern="1200" cap="none" spc="0" normalizeH="0" baseline="0" noProof="0" dirty="0">
              <a:ln>
                <a:noFill/>
              </a:ln>
              <a:solidFill>
                <a:prstClr val="black"/>
              </a:solidFill>
              <a:effectLst/>
              <a:uLnTx/>
              <a:uFillTx/>
              <a:latin typeface="Calibri"/>
              <a:ea typeface="宋体" charset="-122"/>
              <a:cs typeface="+mn-cs"/>
            </a:endParaRPr>
          </a:p>
        </p:txBody>
      </p:sp>
      <p:sp>
        <p:nvSpPr>
          <p:cNvPr id="11" name="对话气泡: 矩形 10"/>
          <p:cNvSpPr/>
          <p:nvPr/>
        </p:nvSpPr>
        <p:spPr>
          <a:xfrm flipH="1">
            <a:off x="463138" y="3643745"/>
            <a:ext cx="2584562" cy="1157950"/>
          </a:xfrm>
          <a:prstGeom prst="wedgeRectCallout">
            <a:avLst>
              <a:gd name="adj1" fmla="val -63097"/>
              <a:gd name="adj2" fmla="val -47845"/>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0070C0"/>
                </a:solidFill>
                <a:effectLst/>
                <a:uLnTx/>
                <a:uFillTx/>
                <a:latin typeface="宋体" charset="-122"/>
                <a:ea typeface="宋体" charset="-122"/>
                <a:cs typeface="+mn-cs"/>
              </a:rPr>
              <a:t>哲学：联系、发展、辩证否定创新、人民立场</a:t>
            </a:r>
            <a:endParaRPr kumimoji="0" lang="zh-CN" altLang="en-US" sz="2400" b="1" i="0" u="none" strike="noStrike" kern="1200" cap="none" spc="0" normalizeH="0" baseline="0" noProof="0" dirty="0">
              <a:ln>
                <a:noFill/>
              </a:ln>
              <a:solidFill>
                <a:prstClr val="black"/>
              </a:solidFill>
              <a:effectLst/>
              <a:uLnTx/>
              <a:uFillTx/>
              <a:latin typeface="Calibri"/>
              <a:ea typeface="宋体" charset="-122"/>
              <a:cs typeface="+mn-cs"/>
            </a:endParaRPr>
          </a:p>
        </p:txBody>
      </p:sp>
      <p:sp>
        <p:nvSpPr>
          <p:cNvPr id="13" name="文本框 12"/>
          <p:cNvSpPr txBox="1"/>
          <p:nvPr/>
        </p:nvSpPr>
        <p:spPr bwMode="auto">
          <a:xfrm>
            <a:off x="485795" y="5789545"/>
            <a:ext cx="2213069" cy="46166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材料限定</a:t>
            </a:r>
            <a:endPar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cxnSp>
        <p:nvCxnSpPr>
          <p:cNvPr id="16" name="直接连接符 15"/>
          <p:cNvCxnSpPr/>
          <p:nvPr/>
        </p:nvCxnSpPr>
        <p:spPr>
          <a:xfrm>
            <a:off x="1484416" y="5258141"/>
            <a:ext cx="0" cy="663767"/>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bwMode="auto">
          <a:xfrm>
            <a:off x="7643005" y="5789545"/>
            <a:ext cx="2213069" cy="46166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论述角度限定</a:t>
            </a:r>
            <a:endPar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cxnSp>
        <p:nvCxnSpPr>
          <p:cNvPr id="23" name="直接连接符 22"/>
          <p:cNvCxnSpPr/>
          <p:nvPr/>
        </p:nvCxnSpPr>
        <p:spPr>
          <a:xfrm>
            <a:off x="3957798" y="5163070"/>
            <a:ext cx="0" cy="583589"/>
          </a:xfrm>
          <a:prstGeom prst="line">
            <a:avLst/>
          </a:prstGeom>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bwMode="auto">
          <a:xfrm>
            <a:off x="2866182" y="5691075"/>
            <a:ext cx="2213069" cy="46166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知识限定</a:t>
            </a:r>
            <a:endPar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cxnSp>
        <p:nvCxnSpPr>
          <p:cNvPr id="27" name="直接连接符 26"/>
          <p:cNvCxnSpPr/>
          <p:nvPr/>
        </p:nvCxnSpPr>
        <p:spPr>
          <a:xfrm>
            <a:off x="9085959" y="5298229"/>
            <a:ext cx="0" cy="583589"/>
          </a:xfrm>
          <a:prstGeom prst="line">
            <a:avLst/>
          </a:prstGeom>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bwMode="auto">
          <a:xfrm>
            <a:off x="10616411" y="5687810"/>
            <a:ext cx="1710046" cy="830997"/>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优秀传统文化</a:t>
            </a:r>
            <a:endPar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cxnSp>
        <p:nvCxnSpPr>
          <p:cNvPr id="29" name="直接连接符 28"/>
          <p:cNvCxnSpPr/>
          <p:nvPr/>
        </p:nvCxnSpPr>
        <p:spPr>
          <a:xfrm>
            <a:off x="11330919" y="5192187"/>
            <a:ext cx="0" cy="583589"/>
          </a:xfrm>
          <a:prstGeom prst="line">
            <a:avLst/>
          </a:prstGeom>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bwMode="auto">
          <a:xfrm>
            <a:off x="9625324" y="5628961"/>
            <a:ext cx="1231615" cy="830997"/>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传承与创新</a:t>
            </a:r>
            <a:endParaRPr kumimoji="0" lang="zh-CN" altLang="en-US" sz="24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cxnSp>
        <p:nvCxnSpPr>
          <p:cNvPr id="33" name="直接连接符 32"/>
          <p:cNvCxnSpPr/>
          <p:nvPr/>
        </p:nvCxnSpPr>
        <p:spPr>
          <a:xfrm>
            <a:off x="10616411" y="5192186"/>
            <a:ext cx="0" cy="58358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1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2"/>
          <a:stretch>
            <a:fillRect/>
          </a:stretch>
        </p:blipFill>
        <p:spPr>
          <a:xfrm>
            <a:off x="876935" y="760095"/>
            <a:ext cx="9525000" cy="50914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txBox="1"/>
          <p:nvPr/>
        </p:nvSpPr>
        <p:spPr>
          <a:xfrm>
            <a:off x="478665" y="29064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四、学生问题</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6" name="文本框 5"/>
          <p:cNvSpPr txBox="1"/>
          <p:nvPr/>
        </p:nvSpPr>
        <p:spPr bwMode="auto">
          <a:xfrm>
            <a:off x="661554" y="1905506"/>
            <a:ext cx="10868892" cy="2246769"/>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知识调动：堆砌、缺乏针对性；</a:t>
            </a:r>
            <a:endPar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分析论证：角度单一；</a:t>
            </a:r>
            <a:endPar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          </a:t>
            </a:r>
            <a:r>
              <a:rPr kumimoji="0" lang="zh-CN" altLang="en-US"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混淆“价值意义类”与“如何”措施类的表述差异</a:t>
            </a:r>
            <a:endPar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          </a:t>
            </a:r>
            <a:r>
              <a:rPr kumimoji="0" lang="zh-CN" altLang="en-US"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层次混乱；</a:t>
            </a:r>
            <a:endPar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          </a:t>
            </a:r>
            <a:r>
              <a:rPr kumimoji="0" lang="zh-CN" altLang="en-US" sz="28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角度过多面面俱到，时间分配不合理；</a:t>
            </a:r>
            <a:endParaRPr kumimoji="0" lang="zh-CN" altLang="en-US" sz="2800" b="0" i="0" u="none" strike="noStrike" kern="1200" cap="none" spc="0" normalizeH="0" baseline="0" noProof="0" dirty="0">
              <a:ln>
                <a:noFill/>
              </a:ln>
              <a:solidFill>
                <a:prstClr val="black"/>
              </a:solidFill>
              <a:effectLst/>
              <a:uLnTx/>
              <a:uFillTx/>
              <a:latin typeface="Calibri"/>
              <a:ea typeface="宋体"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75764" y="907403"/>
            <a:ext cx="9470312" cy="5950597"/>
          </a:xfrm>
          <a:prstGeom prst="rect">
            <a:avLst/>
          </a:prstGeom>
        </p:spPr>
      </p:pic>
      <p:sp>
        <p:nvSpPr>
          <p:cNvPr id="5" name="标题 3"/>
          <p:cNvSpPr txBox="1"/>
          <p:nvPr/>
        </p:nvSpPr>
        <p:spPr>
          <a:xfrm>
            <a:off x="0" y="0"/>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19</a:t>
            </a:r>
            <a:r>
              <a:rPr kumimoji="0" lang="zh-CN" alt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题</a:t>
            </a:r>
            <a:endParaRPr kumimoji="0" lang="zh-CN" alt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734647" y="371926"/>
            <a:ext cx="8556625" cy="750887"/>
          </a:xfrm>
        </p:spPr>
        <p:txBody>
          <a:bodyPr>
            <a:normAutofit/>
          </a:bodyPr>
          <a:lstStyle/>
          <a:p>
            <a:r>
              <a:rPr lang="zh-CN" altLang="en-US" sz="3600" b="1" dirty="0">
                <a:solidFill>
                  <a:schemeClr val="accent2">
                    <a:lumMod val="50000"/>
                  </a:schemeClr>
                </a:solidFill>
                <a:latin typeface="黑体" pitchFamily="49" charset="-122"/>
                <a:ea typeface="黑体" pitchFamily="49" charset="-122"/>
              </a:rPr>
              <a:t>一、试题分析</a:t>
            </a:r>
            <a:endParaRPr lang="zh-CN" altLang="en-US" sz="3600" b="1" dirty="0">
              <a:solidFill>
                <a:schemeClr val="accent2">
                  <a:lumMod val="50000"/>
                </a:schemeClr>
              </a:solidFill>
              <a:latin typeface="黑体" pitchFamily="49" charset="-122"/>
              <a:ea typeface="黑体" pitchFamily="49" charset="-122"/>
            </a:endParaRPr>
          </a:p>
        </p:txBody>
      </p:sp>
      <p:sp>
        <p:nvSpPr>
          <p:cNvPr id="6" name="矩形 5"/>
          <p:cNvSpPr/>
          <p:nvPr/>
        </p:nvSpPr>
        <p:spPr>
          <a:xfrm>
            <a:off x="635821" y="1648405"/>
            <a:ext cx="10789042" cy="3784600"/>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知识板块：法律与生活的相关知识</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能力板块：阐释与论证、反思与评价</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考查意图：</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本题通过创设</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车位充电桩安装</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诉讼案件的模拟判案情境，要求学生建立清晰的思维路径，以事实为依据，以法律为准绳，分析相关主体的权利、义务关系，体会权利行使的界限，深入理解民法基本原则。</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212350" y="713732"/>
            <a:ext cx="9421402" cy="5919865"/>
          </a:xfrm>
          <a:prstGeom prst="rect">
            <a:avLst/>
          </a:prstGeom>
        </p:spPr>
      </p:pic>
      <p:sp>
        <p:nvSpPr>
          <p:cNvPr id="3" name="标题 3"/>
          <p:cNvSpPr txBox="1"/>
          <p:nvPr/>
        </p:nvSpPr>
        <p:spPr>
          <a:xfrm>
            <a:off x="151819" y="-37155"/>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三、试题讲解示例</a:t>
            </a:r>
            <a:endParaRPr kumimoji="0" lang="zh-CN" altLang="en-US" sz="28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4" name="椭圆 3"/>
          <p:cNvSpPr/>
          <p:nvPr/>
        </p:nvSpPr>
        <p:spPr>
          <a:xfrm>
            <a:off x="2527443" y="6215866"/>
            <a:ext cx="554805" cy="4177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cxnSp>
        <p:nvCxnSpPr>
          <p:cNvPr id="6" name="直接连接符 5"/>
          <p:cNvCxnSpPr/>
          <p:nvPr/>
        </p:nvCxnSpPr>
        <p:spPr>
          <a:xfrm>
            <a:off x="4232953" y="6588992"/>
            <a:ext cx="1027416" cy="0"/>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7096875" y="6577173"/>
            <a:ext cx="566790" cy="11819"/>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8270697" y="1027415"/>
            <a:ext cx="2085654" cy="328773"/>
          </a:xfrm>
          <a:prstGeom prst="rect">
            <a:avLst/>
          </a:prstGeom>
          <a:solidFill>
            <a:srgbClr val="5B9BD5">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0" name="矩形 9"/>
          <p:cNvSpPr/>
          <p:nvPr/>
        </p:nvSpPr>
        <p:spPr>
          <a:xfrm>
            <a:off x="1333927" y="1361878"/>
            <a:ext cx="6936769" cy="307994"/>
          </a:xfrm>
          <a:prstGeom prst="rect">
            <a:avLst/>
          </a:prstGeom>
          <a:solidFill>
            <a:srgbClr val="5B9BD5">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1" name="矩形 10"/>
          <p:cNvSpPr/>
          <p:nvPr/>
        </p:nvSpPr>
        <p:spPr>
          <a:xfrm>
            <a:off x="5206430" y="698642"/>
            <a:ext cx="3269749" cy="328773"/>
          </a:xfrm>
          <a:prstGeom prst="rect">
            <a:avLst/>
          </a:prstGeom>
          <a:solidFill>
            <a:srgbClr val="5B9BD5">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2" name="矩形 11"/>
          <p:cNvSpPr/>
          <p:nvPr/>
        </p:nvSpPr>
        <p:spPr>
          <a:xfrm>
            <a:off x="6185041" y="1684963"/>
            <a:ext cx="4171309" cy="319372"/>
          </a:xfrm>
          <a:prstGeom prst="rect">
            <a:avLst/>
          </a:prstGeom>
          <a:solidFill>
            <a:srgbClr val="5B9BD5">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3" name="矩形 12"/>
          <p:cNvSpPr/>
          <p:nvPr/>
        </p:nvSpPr>
        <p:spPr>
          <a:xfrm>
            <a:off x="1333927" y="2013736"/>
            <a:ext cx="9022423" cy="648147"/>
          </a:xfrm>
          <a:prstGeom prst="rect">
            <a:avLst/>
          </a:prstGeom>
          <a:solidFill>
            <a:srgbClr val="5B9BD5">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4" name="矩形 13"/>
          <p:cNvSpPr/>
          <p:nvPr/>
        </p:nvSpPr>
        <p:spPr>
          <a:xfrm>
            <a:off x="3954694" y="3302268"/>
            <a:ext cx="6093432" cy="283413"/>
          </a:xfrm>
          <a:prstGeom prst="rect">
            <a:avLst/>
          </a:prstGeom>
          <a:solidFill>
            <a:srgbClr val="FF00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5" name="矩形 14"/>
          <p:cNvSpPr/>
          <p:nvPr/>
        </p:nvSpPr>
        <p:spPr>
          <a:xfrm>
            <a:off x="3794588" y="3673665"/>
            <a:ext cx="6253538" cy="271612"/>
          </a:xfrm>
          <a:prstGeom prst="rect">
            <a:avLst/>
          </a:prstGeom>
          <a:solidFill>
            <a:srgbClr val="92D05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6" name="矩形 15"/>
          <p:cNvSpPr/>
          <p:nvPr/>
        </p:nvSpPr>
        <p:spPr>
          <a:xfrm>
            <a:off x="1933253" y="4016652"/>
            <a:ext cx="4909336" cy="251063"/>
          </a:xfrm>
          <a:prstGeom prst="rect">
            <a:avLst/>
          </a:prstGeom>
          <a:solidFill>
            <a:srgbClr val="92D05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7" name="矩形 16"/>
          <p:cNvSpPr/>
          <p:nvPr/>
        </p:nvSpPr>
        <p:spPr>
          <a:xfrm>
            <a:off x="7096874" y="4635939"/>
            <a:ext cx="2951251" cy="321120"/>
          </a:xfrm>
          <a:prstGeom prst="rect">
            <a:avLst/>
          </a:prstGeom>
          <a:solidFill>
            <a:srgbClr val="FFFF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8" name="矩形 17"/>
          <p:cNvSpPr/>
          <p:nvPr/>
        </p:nvSpPr>
        <p:spPr>
          <a:xfrm>
            <a:off x="1990857" y="4957059"/>
            <a:ext cx="4520390" cy="262213"/>
          </a:xfrm>
          <a:prstGeom prst="rect">
            <a:avLst/>
          </a:prstGeom>
          <a:solidFill>
            <a:srgbClr val="FFFF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9" name="矩形 18"/>
          <p:cNvSpPr/>
          <p:nvPr/>
        </p:nvSpPr>
        <p:spPr>
          <a:xfrm>
            <a:off x="4145623" y="4326620"/>
            <a:ext cx="847617" cy="270843"/>
          </a:xfrm>
          <a:prstGeom prst="rect">
            <a:avLst/>
          </a:prstGeom>
          <a:solidFill>
            <a:srgbClr val="FFFF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20" name="矩形 19"/>
          <p:cNvSpPr/>
          <p:nvPr/>
        </p:nvSpPr>
        <p:spPr>
          <a:xfrm>
            <a:off x="6499689" y="4957059"/>
            <a:ext cx="3548436" cy="262213"/>
          </a:xfrm>
          <a:prstGeom prst="rect">
            <a:avLst/>
          </a:prstGeom>
          <a:solidFill>
            <a:srgbClr val="7030A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21" name="矩形 20"/>
          <p:cNvSpPr/>
          <p:nvPr/>
        </p:nvSpPr>
        <p:spPr>
          <a:xfrm>
            <a:off x="2020369" y="5314997"/>
            <a:ext cx="8027755" cy="225395"/>
          </a:xfrm>
          <a:prstGeom prst="rect">
            <a:avLst/>
          </a:prstGeom>
          <a:solidFill>
            <a:srgbClr val="7030A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823595" y="831850"/>
            <a:ext cx="10317480" cy="48856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955040" y="1052830"/>
            <a:ext cx="10370185" cy="48742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txBox="1"/>
          <p:nvPr/>
        </p:nvSpPr>
        <p:spPr>
          <a:xfrm>
            <a:off x="478665" y="29064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四、学生问题</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4" name="矩形 3"/>
          <p:cNvSpPr/>
          <p:nvPr/>
        </p:nvSpPr>
        <p:spPr>
          <a:xfrm>
            <a:off x="867653" y="930225"/>
            <a:ext cx="10447020" cy="5078313"/>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endPar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3600" b="0" i="0" u="none" strike="noStrike" kern="1200" cap="none" spc="0" normalizeH="0" baseline="0" noProof="0" dirty="0">
                <a:ln>
                  <a:noFill/>
                </a:ln>
                <a:solidFill>
                  <a:prstClr val="black"/>
                </a:solidFill>
                <a:effectLst/>
                <a:uLnTx/>
                <a:uFillTx/>
                <a:latin typeface="微软雅黑" charset="-122"/>
                <a:ea typeface="微软雅黑" charset="-122"/>
                <a:cs typeface="+mn-cs"/>
              </a:rPr>
              <a:t>思考角度不够全面</a:t>
            </a:r>
            <a:r>
              <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rPr>
              <a:t>,</a:t>
            </a:r>
            <a:r>
              <a:rPr kumimoji="0" lang="zh-CN" altLang="en-US" sz="3600" b="0" i="0" u="none" strike="noStrike" kern="1200" cap="none" spc="0" normalizeH="0" baseline="0" noProof="0" dirty="0">
                <a:ln>
                  <a:noFill/>
                </a:ln>
                <a:solidFill>
                  <a:prstClr val="black"/>
                </a:solidFill>
                <a:effectLst/>
                <a:uLnTx/>
                <a:uFillTx/>
                <a:latin typeface="微软雅黑" charset="-122"/>
                <a:ea typeface="微软雅黑" charset="-122"/>
                <a:cs typeface="+mn-cs"/>
              </a:rPr>
              <a:t>缺少法治意义</a:t>
            </a:r>
            <a:endPar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endPar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3600" b="0" i="0" u="none" strike="noStrike" kern="1200" cap="none" spc="0" normalizeH="0" baseline="0" noProof="0" dirty="0">
                <a:ln>
                  <a:noFill/>
                </a:ln>
                <a:solidFill>
                  <a:prstClr val="black"/>
                </a:solidFill>
                <a:effectLst/>
                <a:uLnTx/>
                <a:uFillTx/>
                <a:latin typeface="微软雅黑" charset="-122"/>
                <a:ea typeface="微软雅黑" charset="-122"/>
                <a:cs typeface="+mn-cs"/>
              </a:rPr>
              <a:t>材料解读不够全面、法律事实有缺失</a:t>
            </a:r>
            <a:endPar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endPar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3600" b="0" i="0" u="none" strike="noStrike" kern="1200" cap="none" spc="0" normalizeH="0" baseline="0" noProof="0" dirty="0">
                <a:ln>
                  <a:noFill/>
                </a:ln>
                <a:solidFill>
                  <a:prstClr val="black"/>
                </a:solidFill>
                <a:effectLst/>
                <a:uLnTx/>
                <a:uFillTx/>
                <a:latin typeface="微软雅黑" charset="-122"/>
                <a:ea typeface="微软雅黑" charset="-122"/>
                <a:cs typeface="+mn-cs"/>
              </a:rPr>
              <a:t>少数学生表态和后面的论述逻辑不一致</a:t>
            </a:r>
            <a:endParaRPr kumimoji="0" lang="en-US" altLang="zh-CN" sz="3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326977" y="163011"/>
            <a:ext cx="8556625" cy="750887"/>
          </a:xfrm>
        </p:spPr>
        <p:txBody>
          <a:bodyPr>
            <a:normAutofit/>
          </a:bodyPr>
          <a:lstStyle/>
          <a:p>
            <a:r>
              <a:rPr lang="en-US" sz="3600" b="1" dirty="0">
                <a:solidFill>
                  <a:schemeClr val="accent2">
                    <a:lumMod val="50000"/>
                  </a:schemeClr>
                </a:solidFill>
                <a:latin typeface="黑体" pitchFamily="49" charset="-122"/>
                <a:ea typeface="黑体" pitchFamily="49" charset="-122"/>
              </a:rPr>
              <a:t>20</a:t>
            </a:r>
            <a:r>
              <a:rPr lang="zh-CN" altLang="en-US" sz="3600" b="1" dirty="0">
                <a:solidFill>
                  <a:schemeClr val="accent2">
                    <a:lumMod val="50000"/>
                  </a:schemeClr>
                </a:solidFill>
                <a:latin typeface="黑体" pitchFamily="49" charset="-122"/>
                <a:ea typeface="黑体" pitchFamily="49" charset="-122"/>
              </a:rPr>
              <a:t>（</a:t>
            </a:r>
            <a:r>
              <a:rPr lang="en-US" altLang="zh-CN" sz="3600" b="1" dirty="0">
                <a:solidFill>
                  <a:schemeClr val="accent2">
                    <a:lumMod val="50000"/>
                  </a:schemeClr>
                </a:solidFill>
                <a:latin typeface="黑体" pitchFamily="49" charset="-122"/>
                <a:ea typeface="黑体" pitchFamily="49" charset="-122"/>
              </a:rPr>
              <a:t>1</a:t>
            </a:r>
            <a:r>
              <a:rPr lang="zh-CN" altLang="en-US" sz="3600" b="1" dirty="0">
                <a:solidFill>
                  <a:schemeClr val="accent2">
                    <a:lumMod val="50000"/>
                  </a:schemeClr>
                </a:solidFill>
                <a:latin typeface="黑体" pitchFamily="49" charset="-122"/>
                <a:ea typeface="黑体" pitchFamily="49" charset="-122"/>
              </a:rPr>
              <a:t>）题</a:t>
            </a:r>
            <a:endParaRPr lang="zh-CN" altLang="en-US" sz="3600" b="1" dirty="0">
              <a:solidFill>
                <a:schemeClr val="accent2">
                  <a:lumMod val="50000"/>
                </a:schemeClr>
              </a:solidFill>
              <a:latin typeface="黑体" pitchFamily="49" charset="-122"/>
              <a:ea typeface="黑体" pitchFamily="49"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25525" y="1756410"/>
            <a:ext cx="9406890" cy="38671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326977" y="163011"/>
            <a:ext cx="8556625" cy="750887"/>
          </a:xfrm>
        </p:spPr>
        <p:txBody>
          <a:bodyPr>
            <a:normAutofit/>
          </a:bodyPr>
          <a:lstStyle/>
          <a:p>
            <a:r>
              <a:rPr lang="en-US" sz="3600" b="1" dirty="0">
                <a:solidFill>
                  <a:schemeClr val="accent2">
                    <a:lumMod val="50000"/>
                  </a:schemeClr>
                </a:solidFill>
                <a:latin typeface="黑体" pitchFamily="49" charset="-122"/>
                <a:ea typeface="黑体" pitchFamily="49" charset="-122"/>
              </a:rPr>
              <a:t>20</a:t>
            </a:r>
            <a:r>
              <a:rPr lang="zh-CN" altLang="en-US" sz="3600" b="1" dirty="0">
                <a:solidFill>
                  <a:schemeClr val="accent2">
                    <a:lumMod val="50000"/>
                  </a:schemeClr>
                </a:solidFill>
                <a:latin typeface="黑体" pitchFamily="49" charset="-122"/>
                <a:ea typeface="黑体" pitchFamily="49" charset="-122"/>
              </a:rPr>
              <a:t>（</a:t>
            </a:r>
            <a:r>
              <a:rPr lang="en-US" altLang="zh-CN" sz="3600" b="1" dirty="0">
                <a:solidFill>
                  <a:schemeClr val="accent2">
                    <a:lumMod val="50000"/>
                  </a:schemeClr>
                </a:solidFill>
                <a:latin typeface="黑体" pitchFamily="49" charset="-122"/>
                <a:ea typeface="黑体" pitchFamily="49" charset="-122"/>
              </a:rPr>
              <a:t>2</a:t>
            </a:r>
            <a:r>
              <a:rPr lang="zh-CN" altLang="en-US" sz="3600" b="1" dirty="0">
                <a:solidFill>
                  <a:schemeClr val="accent2">
                    <a:lumMod val="50000"/>
                  </a:schemeClr>
                </a:solidFill>
                <a:latin typeface="黑体" pitchFamily="49" charset="-122"/>
                <a:ea typeface="黑体" pitchFamily="49" charset="-122"/>
              </a:rPr>
              <a:t>）题</a:t>
            </a:r>
            <a:endParaRPr lang="zh-CN" altLang="en-US" sz="3600" b="1" dirty="0">
              <a:solidFill>
                <a:schemeClr val="accent2">
                  <a:lumMod val="50000"/>
                </a:schemeClr>
              </a:solidFill>
              <a:latin typeface="黑体" pitchFamily="49" charset="-122"/>
              <a:ea typeface="黑体" pitchFamily="49"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0661" y="913898"/>
            <a:ext cx="9285225" cy="5240911"/>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977" y="6154808"/>
            <a:ext cx="10142822" cy="39839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734647" y="371926"/>
            <a:ext cx="8556625" cy="750887"/>
          </a:xfrm>
        </p:spPr>
        <p:txBody>
          <a:bodyPr>
            <a:normAutofit/>
          </a:bodyPr>
          <a:lstStyle/>
          <a:p>
            <a:r>
              <a:rPr lang="zh-CN" altLang="en-US" sz="3600" b="1" dirty="0">
                <a:solidFill>
                  <a:schemeClr val="accent2">
                    <a:lumMod val="50000"/>
                  </a:schemeClr>
                </a:solidFill>
                <a:latin typeface="黑体" pitchFamily="49" charset="-122"/>
                <a:ea typeface="黑体" pitchFamily="49" charset="-122"/>
              </a:rPr>
              <a:t>一、试题分析</a:t>
            </a:r>
            <a:endParaRPr lang="zh-CN" altLang="en-US" sz="3600" b="1" dirty="0">
              <a:solidFill>
                <a:schemeClr val="accent2">
                  <a:lumMod val="50000"/>
                </a:schemeClr>
              </a:solidFill>
              <a:latin typeface="黑体" pitchFamily="49" charset="-122"/>
              <a:ea typeface="黑体" pitchFamily="49" charset="-122"/>
            </a:endParaRPr>
          </a:p>
        </p:txBody>
      </p:sp>
      <p:sp>
        <p:nvSpPr>
          <p:cNvPr id="6" name="矩形 5"/>
          <p:cNvSpPr/>
          <p:nvPr/>
        </p:nvSpPr>
        <p:spPr>
          <a:xfrm>
            <a:off x="353027" y="1394505"/>
            <a:ext cx="11485946" cy="4391587"/>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知识板块：法律</a:t>
            </a:r>
            <a:r>
              <a:rPr lang="zh-CN" altLang="en-US" sz="2400" dirty="0">
                <a:solidFill>
                  <a:prstClr val="black"/>
                </a:solidFill>
                <a:latin typeface="黑体" pitchFamily="49" charset="-122"/>
                <a:ea typeface="黑体" pitchFamily="49" charset="-122"/>
              </a:rPr>
              <a:t>作用</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、马克思主义哲学的基本观点</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能力板块：阐释与论证、反思与评价</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考查意图：</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本题借助我国持续推进网络空间法治化的具体情境，培育学生政治认同与科学精神。第</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1</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问侧重引导学生认识我国法治建设所取得的一系列重大成果；第</a:t>
            </a:r>
            <a:r>
              <a:rPr kumimoji="0" lang="en-US" altLang="zh-CN"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2</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问侧重考查学生从哲学角度分析我国走特色法治道路的原因，要求学生从不同角度分析事物的变化发展。</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405255" y="2049780"/>
            <a:ext cx="9525000" cy="2647950"/>
          </a:xfrm>
          <a:prstGeom prst="rect">
            <a:avLst/>
          </a:prstGeom>
        </p:spPr>
      </p:pic>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047115" y="1170305"/>
            <a:ext cx="9525000" cy="3933825"/>
          </a:xfrm>
          <a:prstGeom prst="rect">
            <a:avLst/>
          </a:prstGeom>
        </p:spPr>
      </p:pic>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txBox="1"/>
          <p:nvPr/>
        </p:nvSpPr>
        <p:spPr>
          <a:xfrm>
            <a:off x="478665" y="29064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四、学生问题</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4" name="矩形 3"/>
          <p:cNvSpPr/>
          <p:nvPr/>
        </p:nvSpPr>
        <p:spPr>
          <a:xfrm>
            <a:off x="960120" y="1803529"/>
            <a:ext cx="10447020" cy="1689052"/>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哲学观点与问题的阐释论证割裂。</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问题分析比较肤浅，思维完整度低。</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用错知识板块。</a:t>
            </a:r>
            <a:endPar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091565" y="789940"/>
            <a:ext cx="10008870" cy="50800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851025" y="5821680"/>
            <a:ext cx="8803005" cy="815340"/>
          </a:xfrm>
          <a:prstGeom prst="rect">
            <a:avLst/>
          </a:prstGeom>
        </p:spPr>
      </p:pic>
      <p:sp>
        <p:nvSpPr>
          <p:cNvPr id="6" name="标题 3"/>
          <p:cNvSpPr txBox="1"/>
          <p:nvPr/>
        </p:nvSpPr>
        <p:spPr>
          <a:xfrm>
            <a:off x="0" y="0"/>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20</a:t>
            </a:r>
            <a:r>
              <a:rPr kumimoji="0" lang="zh-CN" alt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a:t>
            </a:r>
            <a:r>
              <a:rPr kumimoji="0" lang="en-US" altLang="zh-CN" sz="4000" b="1" i="0" u="none" strike="noStrike" kern="1200" cap="none" spc="0" normalizeH="0" baseline="0" noProof="0" dirty="0">
                <a:ln>
                  <a:noFill/>
                </a:ln>
                <a:solidFill>
                  <a:srgbClr val="C00000"/>
                </a:solidFill>
                <a:effectLst/>
                <a:uLnTx/>
                <a:uFillTx/>
                <a:latin typeface="微软雅黑" charset="-122"/>
                <a:ea typeface="微软雅黑" charset="-122"/>
                <a:cs typeface="+mj-cs"/>
              </a:rPr>
              <a:t>3</a:t>
            </a:r>
            <a:r>
              <a:rPr kumimoji="0" lang="zh-CN" alt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a:t>
            </a:r>
            <a:r>
              <a:rPr kumimoji="0" 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 </a:t>
            </a:r>
            <a:r>
              <a:rPr kumimoji="0" lang="zh-CN" alt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rPr>
              <a:t>题</a:t>
            </a:r>
            <a:endParaRPr kumimoji="0" lang="zh-CN" altLang="en-US" sz="4000" b="1" i="0" u="none" strike="noStrike" kern="1200" cap="none" spc="0" normalizeH="0" baseline="0" noProof="0" dirty="0">
              <a:ln>
                <a:noFill/>
              </a:ln>
              <a:solidFill>
                <a:srgbClr val="C00000"/>
              </a:solidFill>
              <a:effectLst/>
              <a:uLnTx/>
              <a:uFillTx/>
              <a:latin typeface="微软雅黑" charset="-122"/>
              <a:ea typeface="微软雅黑" charset="-122"/>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483822" y="363036"/>
            <a:ext cx="8556625" cy="750887"/>
          </a:xfrm>
        </p:spPr>
        <p:txBody>
          <a:bodyPr>
            <a:normAutofit/>
          </a:bodyPr>
          <a:lstStyle/>
          <a:p>
            <a:r>
              <a:rPr lang="zh-CN" altLang="en-US" sz="3600" b="1" dirty="0">
                <a:solidFill>
                  <a:schemeClr val="accent2">
                    <a:lumMod val="50000"/>
                  </a:schemeClr>
                </a:solidFill>
                <a:latin typeface="黑体" pitchFamily="49" charset="-122"/>
                <a:ea typeface="黑体" pitchFamily="49" charset="-122"/>
              </a:rPr>
              <a:t>一、试题分析</a:t>
            </a:r>
            <a:endParaRPr lang="zh-CN" altLang="en-US" sz="3600" b="1" dirty="0">
              <a:solidFill>
                <a:schemeClr val="accent2">
                  <a:lumMod val="50000"/>
                </a:schemeClr>
              </a:solidFill>
              <a:latin typeface="黑体" pitchFamily="49" charset="-122"/>
              <a:ea typeface="黑体" pitchFamily="49" charset="-122"/>
            </a:endParaRPr>
          </a:p>
        </p:txBody>
      </p:sp>
      <p:sp>
        <p:nvSpPr>
          <p:cNvPr id="6" name="矩形 5"/>
          <p:cNvSpPr/>
          <p:nvPr/>
        </p:nvSpPr>
        <p:spPr>
          <a:xfrm>
            <a:off x="353027" y="1663745"/>
            <a:ext cx="11485946" cy="4523105"/>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知识板块：党的领导、人民当家作主、依法治国的相关知识</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能力板块：阐释与论证、探究与建构</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rPr>
              <a:t>考查意图：</a:t>
            </a:r>
            <a:r>
              <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rPr>
              <a:t>本题以互联网空间法治治理为情境载体，结合材料中多元主体的具体行为，考查学生面对身边真问题，意在引导学生关注依法治网，运用学科知识思考不同主体在互联网背景下协调解决问题的重要性，以此推进网络空间法治化，走出一条中国特色的网络法治道路。</a:t>
            </a:r>
            <a:endParaRPr kumimoji="0" lang="zh-CN" altLang="en-US" sz="2400" b="0" i="0" u="none" strike="noStrike" kern="1200" cap="none" spc="0" normalizeH="0" baseline="0" noProof="0" dirty="0">
              <a:ln>
                <a:noFill/>
              </a:ln>
              <a:solidFill>
                <a:prstClr val="black"/>
              </a:solidFill>
              <a:effectLst/>
              <a:uLnTx/>
              <a:uFillTx/>
              <a:latin typeface="黑体" pitchFamily="49" charset="-122"/>
              <a:ea typeface="黑体" pitchFamily="49" charset="-122"/>
              <a:cs typeface="+mn-cs"/>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14:cpLocks xmlns:a14="http://schemas.microsoft.com/office/drawing/2010/main" noGrp="1"/>
          </p:cNvSpPr>
          <p:nvPr>
            <p:ph type="body" sz="half" idx="4294967295"/>
            <p:custDataLst>
              <p:tags r:id="rId1"/>
            </p:custDataLst>
          </p:nvPr>
        </p:nvSpPr>
        <p:spPr>
          <a:xfrm>
            <a:off x="495300" y="1433830"/>
            <a:ext cx="11201400" cy="6287135"/>
          </a:xfrm>
        </p:spPr>
        <p:txBody>
          <a:bodyPr>
            <a:noAutofit/>
          </a:bodyPr>
          <a:lstStyle/>
          <a:p>
            <a:pPr fontAlgn="auto">
              <a:lnSpc>
                <a:spcPct val="100000"/>
              </a:lnSpc>
            </a:pPr>
            <a:r>
              <a:rPr sz="2000" dirty="0">
                <a:latin typeface="黑体" pitchFamily="49" charset="-122"/>
                <a:ea typeface="黑体" pitchFamily="49" charset="-122"/>
              </a:rPr>
              <a:t>20.（15分）</a:t>
            </a:r>
            <a:endParaRPr sz="2000" dirty="0">
              <a:latin typeface="黑体" pitchFamily="49" charset="-122"/>
              <a:ea typeface="黑体" pitchFamily="49" charset="-122"/>
            </a:endParaRPr>
          </a:p>
          <a:p>
            <a:pPr marL="0" indent="0" fontAlgn="auto">
              <a:lnSpc>
                <a:spcPct val="100000"/>
              </a:lnSpc>
              <a:buNone/>
            </a:pPr>
            <a:r>
              <a:rPr sz="1800" dirty="0">
                <a:latin typeface="黑体" pitchFamily="49" charset="-122"/>
                <a:ea typeface="黑体" pitchFamily="49" charset="-122"/>
              </a:rPr>
              <a:t>材料一</a:t>
            </a:r>
            <a:r>
              <a:rPr lang="en-US" sz="1800" dirty="0">
                <a:latin typeface="黑体" pitchFamily="49" charset="-122"/>
                <a:ea typeface="黑体" pitchFamily="49" charset="-122"/>
              </a:rPr>
              <a:t>    </a:t>
            </a:r>
            <a:r>
              <a:rPr sz="1800" dirty="0">
                <a:latin typeface="黑体" pitchFamily="49" charset="-122"/>
                <a:ea typeface="黑体" pitchFamily="49" charset="-122"/>
              </a:rPr>
              <a:t>自全功能接入国际互联网以来，中国坚持依法治网，持续推进网络空间法治化，推动互联网在法治轨道上健康运行。进入新时代，</a:t>
            </a:r>
            <a:r>
              <a:rPr lang="zh-CN" altLang="en-US" sz="1800" dirty="0">
                <a:solidFill>
                  <a:srgbClr val="0070C0"/>
                </a:solidFill>
                <a:latin typeface="微软雅黑" charset="-122"/>
                <a:ea typeface="微软雅黑" charset="-122"/>
              </a:rPr>
              <a:t>在以习近平同志为核心的党中央坚强领导下</a:t>
            </a:r>
            <a:r>
              <a:rPr sz="1800" dirty="0">
                <a:latin typeface="黑体" pitchFamily="49" charset="-122"/>
                <a:ea typeface="黑体" pitchFamily="49" charset="-122"/>
              </a:rPr>
              <a:t>，中国顺应全球信息化发展大势，立足中国互联网发展实践，不断深化对依法治网的规律性认识，走出了一条中国特色的网络法治道路。</a:t>
            </a:r>
            <a:endParaRPr sz="1800" dirty="0">
              <a:latin typeface="黑体" pitchFamily="49" charset="-122"/>
              <a:ea typeface="黑体" pitchFamily="49" charset="-122"/>
            </a:endParaRPr>
          </a:p>
          <a:p>
            <a:pPr marL="0" indent="0" fontAlgn="auto">
              <a:lnSpc>
                <a:spcPct val="100000"/>
              </a:lnSpc>
              <a:buNone/>
            </a:pPr>
            <a:r>
              <a:rPr lang="en-US" sz="1800" dirty="0">
                <a:latin typeface="黑体" pitchFamily="49" charset="-122"/>
                <a:ea typeface="黑体" pitchFamily="49" charset="-122"/>
              </a:rPr>
              <a:t>   </a:t>
            </a:r>
            <a:r>
              <a:rPr sz="1800" dirty="0">
                <a:latin typeface="黑体" pitchFamily="49" charset="-122"/>
                <a:ea typeface="黑体" pitchFamily="49" charset="-122"/>
              </a:rPr>
              <a:t>10年来，</a:t>
            </a:r>
            <a:r>
              <a:rPr lang="zh-CN" altLang="en-US" sz="1800" dirty="0">
                <a:solidFill>
                  <a:srgbClr val="0070C0"/>
                </a:solidFill>
                <a:latin typeface="微软雅黑" charset="-122"/>
                <a:ea typeface="微软雅黑" charset="-122"/>
              </a:rPr>
              <a:t>我国先后制定了网络安全法、</a:t>
            </a:r>
            <a:r>
              <a:rPr sz="1800" dirty="0">
                <a:latin typeface="黑体" pitchFamily="49" charset="-122"/>
                <a:ea typeface="黑体" pitchFamily="49" charset="-122"/>
              </a:rPr>
              <a:t>电子商务法、数据安全法、</a:t>
            </a:r>
            <a:r>
              <a:rPr lang="zh-CN" altLang="en-US" sz="1800" dirty="0">
                <a:solidFill>
                  <a:srgbClr val="0070C0"/>
                </a:solidFill>
                <a:latin typeface="微软雅黑" charset="-122"/>
                <a:ea typeface="微软雅黑" charset="-122"/>
              </a:rPr>
              <a:t>个人信息保护法</a:t>
            </a:r>
            <a:r>
              <a:rPr sz="1800" dirty="0">
                <a:latin typeface="黑体" pitchFamily="49" charset="-122"/>
                <a:ea typeface="黑体" pitchFamily="49" charset="-122"/>
              </a:rPr>
              <a:t>、反电信网络诈骗法等五部专门法律。</a:t>
            </a:r>
            <a:r>
              <a:rPr lang="zh-CN" altLang="en-US" sz="1800" dirty="0">
                <a:solidFill>
                  <a:srgbClr val="0070C0"/>
                </a:solidFill>
                <a:latin typeface="微软雅黑" charset="-122"/>
                <a:ea typeface="微软雅黑" charset="-122"/>
              </a:rPr>
              <a:t>全国人大常委会</a:t>
            </a:r>
            <a:r>
              <a:rPr sz="1800" dirty="0">
                <a:latin typeface="黑体" pitchFamily="49" charset="-122"/>
                <a:ea typeface="黑体" pitchFamily="49" charset="-122"/>
              </a:rPr>
              <a:t>还持续推进传统法律规范向网络领域延伸，近年来陆续修改消费者权益保护法、食品安全法等法律；针对网络交易的消费者权益保护、网络平台的食品安全责任、互联网领域的不正当竞争和垄断等，完善了相关制度规范；通过编纂民法典、制定刑法修正案等，对</a:t>
            </a:r>
            <a:r>
              <a:rPr lang="zh-CN" altLang="en-US" sz="1800" dirty="0">
                <a:solidFill>
                  <a:srgbClr val="0070C0"/>
                </a:solidFill>
                <a:latin typeface="微软雅黑" charset="-122"/>
                <a:ea typeface="微软雅黑" charset="-122"/>
              </a:rPr>
              <a:t>网络新业态下的民事权利保护</a:t>
            </a:r>
            <a:r>
              <a:rPr sz="1800" dirty="0">
                <a:latin typeface="黑体" pitchFamily="49" charset="-122"/>
                <a:ea typeface="黑体" pitchFamily="49" charset="-122"/>
              </a:rPr>
              <a:t>、打击新型网络犯罪等作出专门规定。</a:t>
            </a:r>
            <a:endParaRPr sz="1800" dirty="0">
              <a:latin typeface="黑体" pitchFamily="49" charset="-122"/>
              <a:ea typeface="黑体" pitchFamily="49" charset="-122"/>
            </a:endParaRPr>
          </a:p>
          <a:p>
            <a:pPr marL="0" indent="0" fontAlgn="auto">
              <a:lnSpc>
                <a:spcPct val="100000"/>
              </a:lnSpc>
              <a:buNone/>
            </a:pPr>
            <a:r>
              <a:rPr sz="1800" dirty="0">
                <a:latin typeface="黑体" pitchFamily="49" charset="-122"/>
                <a:ea typeface="黑体" pitchFamily="49" charset="-122"/>
              </a:rPr>
              <a:t>材料二</a:t>
            </a:r>
            <a:r>
              <a:rPr lang="en-US" sz="1800" dirty="0">
                <a:latin typeface="黑体" pitchFamily="49" charset="-122"/>
                <a:ea typeface="黑体" pitchFamily="49" charset="-122"/>
              </a:rPr>
              <a:t>   </a:t>
            </a:r>
            <a:r>
              <a:rPr sz="1800" dirty="0">
                <a:latin typeface="黑体" pitchFamily="49" charset="-122"/>
                <a:ea typeface="黑体" pitchFamily="49" charset="-122"/>
              </a:rPr>
              <a:t>依法加强网络空间治理，</a:t>
            </a:r>
            <a:r>
              <a:rPr lang="zh-CN" altLang="en-US" sz="1800" dirty="0">
                <a:solidFill>
                  <a:srgbClr val="0070C0"/>
                </a:solidFill>
                <a:latin typeface="微软雅黑" charset="-122"/>
                <a:ea typeface="微软雅黑" charset="-122"/>
              </a:rPr>
              <a:t>充分尊重网民意见</a:t>
            </a:r>
            <a:r>
              <a:rPr sz="1800" dirty="0">
                <a:latin typeface="黑体" pitchFamily="49" charset="-122"/>
                <a:ea typeface="黑体" pitchFamily="49" charset="-122"/>
              </a:rPr>
              <a:t>，坚决打击网络违法犯罪活动，构建网络空间良好秩序；针对我国网民规模大、平台多、业态丰富的实际情况，适应法律主体多元、关系多样、场景多变的特点，运用法治方式解决制约互联网发展的瓶颈问题；网络立法丰富和完善了中国特色社会主义法律体系，</a:t>
            </a:r>
            <a:r>
              <a:rPr lang="zh-CN" altLang="en-US" sz="1800" dirty="0">
                <a:solidFill>
                  <a:srgbClr val="0070C0"/>
                </a:solidFill>
                <a:latin typeface="微软雅黑" charset="-122"/>
                <a:ea typeface="微软雅黑" charset="-122"/>
              </a:rPr>
              <a:t>网络执法不断加强，网络司法裁判规则逐步完善，网络普法深入推进</a:t>
            </a:r>
            <a:r>
              <a:rPr sz="1800" dirty="0">
                <a:latin typeface="黑体" pitchFamily="49" charset="-122"/>
                <a:ea typeface="黑体" pitchFamily="49" charset="-122"/>
              </a:rPr>
              <a:t>。在全面建设社会主义现代化国家新征程上，坚持依法治网的理念，推动互联网依法有序健康运行，为网络强国建设提供更加坚实的法治保障。</a:t>
            </a:r>
            <a:endParaRPr sz="1800" dirty="0">
              <a:latin typeface="黑体" pitchFamily="49" charset="-122"/>
              <a:ea typeface="黑体" pitchFamily="49" charset="-122"/>
            </a:endParaRPr>
          </a:p>
          <a:p>
            <a:pPr marL="0" indent="0" fontAlgn="auto">
              <a:lnSpc>
                <a:spcPct val="100000"/>
              </a:lnSpc>
              <a:buNone/>
            </a:pPr>
            <a:r>
              <a:rPr lang="en-US" sz="2000" dirty="0">
                <a:latin typeface="黑体" pitchFamily="49" charset="-122"/>
                <a:ea typeface="黑体" pitchFamily="49" charset="-122"/>
              </a:rPr>
              <a:t>     </a:t>
            </a:r>
            <a:r>
              <a:rPr sz="2000" dirty="0">
                <a:latin typeface="黑体" pitchFamily="49" charset="-122"/>
                <a:ea typeface="黑体" pitchFamily="49" charset="-122"/>
              </a:rPr>
              <a:t>（3）结合材料一、二，运用《政治与法治》知识，说明</a:t>
            </a:r>
            <a:r>
              <a:rPr lang="zh-CN" altLang="en-US" sz="2000" b="1" dirty="0">
                <a:solidFill>
                  <a:srgbClr val="0070C0"/>
                </a:solidFill>
                <a:latin typeface="微软雅黑" charset="-122"/>
                <a:ea typeface="微软雅黑" charset="-122"/>
              </a:rPr>
              <a:t>我国是如何走出一条中国特色的网络法治道路的。</a:t>
            </a:r>
            <a:r>
              <a:rPr sz="2000" dirty="0">
                <a:latin typeface="黑体" pitchFamily="49" charset="-122"/>
                <a:ea typeface="黑体" pitchFamily="49" charset="-122"/>
              </a:rPr>
              <a:t>（7分）</a:t>
            </a:r>
            <a:endParaRPr lang="zh-CN" altLang="en-US" sz="2000" b="1" dirty="0">
              <a:solidFill>
                <a:srgbClr val="0070C0"/>
              </a:solidFill>
              <a:latin typeface="微软雅黑" charset="-122"/>
              <a:ea typeface="微软雅黑" charset="-122"/>
            </a:endParaRPr>
          </a:p>
        </p:txBody>
      </p:sp>
      <p:sp>
        <p:nvSpPr>
          <p:cNvPr id="15" name="标题 3"/>
          <p:cNvSpPr txBox="1"/>
          <p:nvPr>
            <p:custDataLst>
              <p:tags r:id="rId2"/>
            </p:custDataLst>
          </p:nvPr>
        </p:nvSpPr>
        <p:spPr>
          <a:xfrm>
            <a:off x="383415" y="111345"/>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三、试题讲解示例</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cxnSp>
        <p:nvCxnSpPr>
          <p:cNvPr id="8" name="直接箭头连接符 7"/>
          <p:cNvCxnSpPr/>
          <p:nvPr/>
        </p:nvCxnSpPr>
        <p:spPr>
          <a:xfrm flipV="1">
            <a:off x="6606540" y="1751847"/>
            <a:ext cx="1143635" cy="38735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385435" y="1044575"/>
            <a:ext cx="6635115" cy="645160"/>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坚持党的领导，发挥党总揽全局，协调各方的作用，持续推进网络空间法治化，走出了一条中国特色的网络法治道路。</a:t>
            </a:r>
            <a:endPar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cxnSp>
        <p:nvCxnSpPr>
          <p:cNvPr id="12" name="直接箭头连接符 11"/>
          <p:cNvCxnSpPr/>
          <p:nvPr/>
        </p:nvCxnSpPr>
        <p:spPr>
          <a:xfrm flipV="1">
            <a:off x="4560229" y="4042623"/>
            <a:ext cx="1102995" cy="32258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H="1">
            <a:off x="7733030" y="3144402"/>
            <a:ext cx="1358265" cy="7366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08955" y="3994785"/>
            <a:ext cx="6411595" cy="337185"/>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charset="-122"/>
                <a:ea typeface="微软雅黑" charset="-122"/>
                <a:cs typeface="+mn-cs"/>
              </a:rPr>
              <a:t>发展全过程人民民主，充分尊重网民意见，依法加强网络空间治理。</a:t>
            </a:r>
            <a:endParaRPr kumimoji="0" lang="zh-CN" altLang="en-US" sz="1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cxnSp>
        <p:nvCxnSpPr>
          <p:cNvPr id="9" name="直接箭头连接符 8"/>
          <p:cNvCxnSpPr/>
          <p:nvPr/>
        </p:nvCxnSpPr>
        <p:spPr>
          <a:xfrm flipH="1" flipV="1">
            <a:off x="1604304" y="2178263"/>
            <a:ext cx="760730" cy="7270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67640" y="829945"/>
            <a:ext cx="5027930" cy="922020"/>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rPr>
              <a:t>科学立法、民主立法，先后制定与网络发展相关的专门法律，推进传统法律规范向网络领域延伸，丰富和完善了中国特色社会主义法律体系。</a:t>
            </a:r>
            <a:endParaRPr kumimoji="0" lang="zh-CN" altLang="en-US" sz="1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cxnSp>
        <p:nvCxnSpPr>
          <p:cNvPr id="11" name="直接箭头连接符 10"/>
          <p:cNvCxnSpPr/>
          <p:nvPr/>
        </p:nvCxnSpPr>
        <p:spPr>
          <a:xfrm>
            <a:off x="3839845" y="5207517"/>
            <a:ext cx="139700" cy="11385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199765" y="6274435"/>
            <a:ext cx="8557895" cy="583565"/>
          </a:xfrm>
          <a:prstGeom prst="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微软雅黑" charset="-122"/>
                <a:ea typeface="微软雅黑" charset="-122"/>
                <a:cs typeface="+mn-cs"/>
              </a:rPr>
              <a:t>严格执法，公正司法，通过不断加强网络执法，逐步完善网络司法裁判规则，构建网络空间良好秩序。推进网络普法，提高公民法治意识，促进全民守法，为网络法治建设奠定良好基础。</a:t>
            </a:r>
            <a:endParaRPr kumimoji="0" lang="zh-CN" altLang="en-US" sz="16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anim calcmode="lin" valueType="num">
                                      <p:cBhvr>
                                        <p:cTn id="39" dur="1000" fill="hold"/>
                                        <p:tgtEl>
                                          <p:spTgt spid="12"/>
                                        </p:tgtEl>
                                        <p:attrNameLst>
                                          <p:attrName>ppt_x</p:attrName>
                                        </p:attrNameLst>
                                      </p:cBhvr>
                                      <p:tavLst>
                                        <p:tav tm="0">
                                          <p:val>
                                            <p:strVal val="#ppt_x"/>
                                          </p:val>
                                        </p:tav>
                                        <p:tav tm="100000">
                                          <p:val>
                                            <p:strVal val="#ppt_x"/>
                                          </p:val>
                                        </p:tav>
                                      </p:tavLst>
                                    </p:anim>
                                    <p:anim calcmode="lin" valueType="num">
                                      <p:cBhvr>
                                        <p:cTn id="40" dur="1000" fill="hold"/>
                                        <p:tgtEl>
                                          <p:spTgt spid="1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ppt_x"/>
                                          </p:val>
                                        </p:tav>
                                        <p:tav tm="100000">
                                          <p:val>
                                            <p:strVal val="#ppt_x"/>
                                          </p:val>
                                        </p:tav>
                                      </p:tavLst>
                                    </p:anim>
                                    <p:anim calcmode="lin" valueType="num">
                                      <p:cBhvr additive="base">
                                        <p:cTn id="5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7" grpId="0" bldLvl="0" animBg="1"/>
      <p:bldP spid="7" grpId="1" animBg="1"/>
      <p:bldP spid="10" grpId="0" bldLvl="0" animBg="1"/>
      <p:bldP spid="10" grpId="1" animBg="1"/>
      <p:bldP spid="13" grpId="0" bldLvl="0" animBg="1"/>
      <p:bldP spid="13"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384300" y="810260"/>
            <a:ext cx="9525000" cy="47104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txBox="1"/>
          <p:nvPr/>
        </p:nvSpPr>
        <p:spPr>
          <a:xfrm>
            <a:off x="478665" y="29064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rPr>
              <a:t>四、学生问题</a:t>
            </a:r>
            <a:endParaRPr kumimoji="0" lang="zh-CN" altLang="en-US" sz="3600" b="1" i="0" u="none" strike="noStrike" kern="1200" cap="none" spc="0" normalizeH="0" baseline="0" noProof="0" dirty="0">
              <a:ln>
                <a:noFill/>
              </a:ln>
              <a:solidFill>
                <a:srgbClr val="ED7D31">
                  <a:lumMod val="50000"/>
                </a:srgbClr>
              </a:solidFill>
              <a:effectLst/>
              <a:uLnTx/>
              <a:uFillTx/>
              <a:latin typeface="黑体" pitchFamily="49" charset="-122"/>
              <a:ea typeface="黑体" pitchFamily="49" charset="-122"/>
              <a:cs typeface="+mj-cs"/>
            </a:endParaRPr>
          </a:p>
        </p:txBody>
      </p:sp>
      <p:sp>
        <p:nvSpPr>
          <p:cNvPr id="4" name="矩形 3"/>
          <p:cNvSpPr/>
          <p:nvPr/>
        </p:nvSpPr>
        <p:spPr>
          <a:xfrm>
            <a:off x="574675" y="1421130"/>
            <a:ext cx="10946130" cy="5169535"/>
          </a:xfrm>
          <a:prstGeom prst="rect">
            <a:avLst/>
          </a:prstGeom>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endPar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思考问题不全面，不能从多角度分析问题，缺少人民民主角度分析，缺少三个统一，思维缺少高度</a:t>
            </a:r>
            <a:endPar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材料解读不够全面</a:t>
            </a:r>
            <a:endParaRPr kumimoji="0" lang="en-US" altLang="zh-CN"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术语使用不准确，三个统一表述不准（人民当家作主写成人民为主体），不给分</a:t>
            </a:r>
            <a:endPar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charset="0"/>
              <a:buChar char="•"/>
              <a:defRPr/>
            </a:pPr>
            <a:r>
              <a:rPr kumimoji="0" lang="en-US" altLang="zh-CN" sz="2800" b="0" i="0" u="none" strike="noStrike" kern="1200" cap="none" spc="0" normalizeH="0" baseline="0" noProof="0" dirty="0">
                <a:ln>
                  <a:noFill/>
                </a:ln>
                <a:solidFill>
                  <a:prstClr val="black"/>
                </a:solidFill>
                <a:effectLst/>
                <a:uLnTx/>
                <a:uFillTx/>
                <a:latin typeface="微软雅黑" charset="-122"/>
                <a:ea typeface="微软雅黑" charset="-122"/>
                <a:cs typeface="+mn-cs"/>
              </a:rPr>
              <a:t>单纯概括材料，但是没有学科观点。</a:t>
            </a:r>
            <a:endParaRPr kumimoji="0" lang="en-US" altLang="zh-CN"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en-US" altLang="zh-CN"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80089" y="89859"/>
            <a:ext cx="8556625" cy="750887"/>
          </a:xfrm>
        </p:spPr>
        <p:txBody>
          <a:bodyPr>
            <a:normAutofit/>
          </a:bodyPr>
          <a:lstStyle/>
          <a:p>
            <a:r>
              <a:rPr lang="en-US" altLang="zh-CN" b="1" dirty="0">
                <a:solidFill>
                  <a:srgbClr val="C00000"/>
                </a:solidFill>
                <a:latin typeface="微软雅黑" charset="-122"/>
                <a:ea typeface="微软雅黑" charset="-122"/>
              </a:rPr>
              <a:t>21</a:t>
            </a:r>
            <a:r>
              <a:rPr lang="zh-CN" altLang="en-US" b="1" dirty="0">
                <a:solidFill>
                  <a:srgbClr val="C00000"/>
                </a:solidFill>
                <a:latin typeface="微软雅黑" charset="-122"/>
                <a:ea typeface="微软雅黑" charset="-122"/>
              </a:rPr>
              <a:t>（</a:t>
            </a:r>
            <a:r>
              <a:rPr lang="en-US" altLang="zh-CN" b="1" dirty="0">
                <a:solidFill>
                  <a:srgbClr val="C00000"/>
                </a:solidFill>
                <a:latin typeface="微软雅黑" charset="-122"/>
                <a:ea typeface="微软雅黑" charset="-122"/>
              </a:rPr>
              <a:t>1</a:t>
            </a:r>
            <a:r>
              <a:rPr lang="zh-CN" altLang="en-US" b="1" dirty="0">
                <a:solidFill>
                  <a:srgbClr val="C00000"/>
                </a:solidFill>
                <a:latin typeface="微软雅黑" charset="-122"/>
                <a:ea typeface="微软雅黑" charset="-122"/>
              </a:rPr>
              <a:t>）题</a:t>
            </a:r>
            <a:endParaRPr lang="zh-CN" altLang="en-US" b="1" dirty="0">
              <a:solidFill>
                <a:srgbClr val="C00000"/>
              </a:solidFill>
              <a:latin typeface="微软雅黑" charset="-122"/>
              <a:ea typeface="微软雅黑" charset="-122"/>
            </a:endParaRPr>
          </a:p>
        </p:txBody>
      </p:sp>
      <p:pic>
        <p:nvPicPr>
          <p:cNvPr id="3" name="图片 2"/>
          <p:cNvPicPr>
            <a:picLocks noChangeAspect="1"/>
          </p:cNvPicPr>
          <p:nvPr/>
        </p:nvPicPr>
        <p:blipFill>
          <a:blip r:embed="rId1"/>
          <a:stretch>
            <a:fillRect/>
          </a:stretch>
        </p:blipFill>
        <p:spPr>
          <a:xfrm>
            <a:off x="2056765" y="913765"/>
            <a:ext cx="7791450" cy="57054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0" y="-18288"/>
            <a:ext cx="8556625" cy="750887"/>
          </a:xfrm>
        </p:spPr>
        <p:txBody>
          <a:bodyPr>
            <a:normAutofit/>
          </a:bodyPr>
          <a:lstStyle/>
          <a:p>
            <a:r>
              <a:rPr lang="zh-CN" altLang="en-US" sz="3600" b="1" dirty="0">
                <a:solidFill>
                  <a:schemeClr val="accent2">
                    <a:lumMod val="75000"/>
                  </a:schemeClr>
                </a:solidFill>
                <a:latin typeface="微软雅黑" charset="-122"/>
                <a:ea typeface="微软雅黑" charset="-122"/>
              </a:rPr>
              <a:t>一、试题分析</a:t>
            </a:r>
            <a:endParaRPr lang="zh-CN" altLang="en-US" sz="3600" b="1" dirty="0">
              <a:solidFill>
                <a:schemeClr val="accent2">
                  <a:lumMod val="75000"/>
                </a:schemeClr>
              </a:solidFill>
              <a:latin typeface="微软雅黑" charset="-122"/>
              <a:ea typeface="微软雅黑" charset="-122"/>
            </a:endParaRPr>
          </a:p>
        </p:txBody>
      </p:sp>
      <p:sp>
        <p:nvSpPr>
          <p:cNvPr id="6" name="矩形 5"/>
          <p:cNvSpPr/>
          <p:nvPr/>
        </p:nvSpPr>
        <p:spPr>
          <a:xfrm>
            <a:off x="264160" y="1277620"/>
            <a:ext cx="11481435" cy="3784600"/>
          </a:xfrm>
          <a:prstGeom prst="rect">
            <a:avLst/>
          </a:prstGeom>
        </p:spPr>
        <p:txBody>
          <a:bodyPr wrap="square">
            <a:spAutoFit/>
          </a:bodyPr>
          <a:lstStyle/>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知识板块：《逻辑与思维》 </a:t>
            </a:r>
            <a:endPar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能力板块：</a:t>
            </a:r>
            <a:r>
              <a:rPr kumimoji="0" lang="en-US" altLang="zh-CN" sz="2400" b="0" i="0" u="none" strike="noStrike" kern="1200" cap="none" spc="0" normalizeH="0" baseline="0" noProof="0" dirty="0">
                <a:ln>
                  <a:noFill/>
                </a:ln>
                <a:solidFill>
                  <a:prstClr val="black"/>
                </a:solidFill>
                <a:effectLst/>
                <a:uLnTx/>
                <a:uFillTx/>
                <a:latin typeface="微软雅黑" charset="-122"/>
                <a:ea typeface="微软雅黑" charset="-122"/>
                <a:cs typeface="+mn-cs"/>
              </a:rPr>
              <a:t> </a:t>
            </a: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sym typeface="+mn-ea"/>
              </a:rPr>
              <a:t>阐释与论证</a:t>
            </a:r>
            <a:endPar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457200" marR="0" lvl="0" indent="-457200" algn="l" defTabSz="914400" rtl="0" eaLnBrk="1" fontAlgn="auto" latinLnBrk="0" hangingPunct="1">
              <a:lnSpc>
                <a:spcPct val="200000"/>
              </a:lnSpc>
              <a:spcBef>
                <a:spcPts val="0"/>
              </a:spcBef>
              <a:spcAft>
                <a:spcPts val="0"/>
              </a:spcAft>
              <a:buClrTx/>
              <a:buSzTx/>
              <a:buFont typeface="Arial"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rPr>
              <a:t>考查意图：</a:t>
            </a:r>
            <a:r>
              <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sym typeface="+mn-ea"/>
              </a:rPr>
              <a:t> 本题依托中国让沙特和伊朗“握手言和”的国际关系实例，考查学生运用科学思维理论阐释和论证的能力，通过分析让学生感受到中国积极参与国际事务，在国际社会中发挥建设性作用。</a:t>
            </a:r>
            <a:endParaRPr kumimoji="0" lang="zh-CN" altLang="en-US" sz="2400" b="0" i="0" u="none" strike="noStrike" kern="1200" cap="none" spc="0" normalizeH="0" baseline="0" noProof="0" dirty="0">
              <a:ln>
                <a:noFill/>
              </a:ln>
              <a:solidFill>
                <a:prstClr val="black"/>
              </a:solidFill>
              <a:effectLst/>
              <a:uLnTx/>
              <a:uFillTx/>
              <a:latin typeface="微软雅黑" charset="-122"/>
              <a:ea typeface="微软雅黑" charset="-122"/>
              <a:cs typeface="+mn-cs"/>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056765" y="699770"/>
            <a:ext cx="7825105" cy="5943600"/>
          </a:xfrm>
          <a:prstGeom prst="rect">
            <a:avLst/>
          </a:prstGeom>
        </p:spPr>
      </p:pic>
      <p:sp>
        <p:nvSpPr>
          <p:cNvPr id="4" name="标题 3"/>
          <p:cNvSpPr>
            <a14:cpLocks xmlns:a14="http://schemas.microsoft.com/office/drawing/2010/main" noGrp="1"/>
          </p:cNvSpPr>
          <p:nvPr>
            <p:ph type="title" idx="4294967295"/>
          </p:nvPr>
        </p:nvSpPr>
        <p:spPr>
          <a:xfrm>
            <a:off x="0" y="0"/>
            <a:ext cx="8556625" cy="750887"/>
          </a:xfrm>
        </p:spPr>
        <p:txBody>
          <a:bodyPr>
            <a:normAutofit/>
          </a:bodyPr>
          <a:lstStyle/>
          <a:p>
            <a:r>
              <a:rPr lang="zh-CN" altLang="en-US" sz="3600" b="1" dirty="0">
                <a:solidFill>
                  <a:schemeClr val="accent2">
                    <a:lumMod val="75000"/>
                  </a:schemeClr>
                </a:solidFill>
                <a:latin typeface="微软雅黑" charset="-122"/>
                <a:ea typeface="微软雅黑" charset="-122"/>
              </a:rPr>
              <a:t>三、试题讲解示例</a:t>
            </a:r>
            <a:endParaRPr lang="zh-CN" altLang="en-US" sz="3600" b="1" dirty="0">
              <a:solidFill>
                <a:schemeClr val="accent2">
                  <a:lumMod val="75000"/>
                </a:schemeClr>
              </a:solidFill>
              <a:latin typeface="微软雅黑" charset="-122"/>
              <a:ea typeface="微软雅黑" charset="-122"/>
            </a:endParaRPr>
          </a:p>
        </p:txBody>
      </p:sp>
      <p:sp>
        <p:nvSpPr>
          <p:cNvPr id="33" name="矩形 32"/>
          <p:cNvSpPr/>
          <p:nvPr/>
        </p:nvSpPr>
        <p:spPr>
          <a:xfrm flipV="1">
            <a:off x="6419215" y="5937885"/>
            <a:ext cx="2933700" cy="2711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0" name="文本框 9"/>
          <p:cNvSpPr txBox="1"/>
          <p:nvPr/>
        </p:nvSpPr>
        <p:spPr bwMode="auto">
          <a:xfrm>
            <a:off x="3739515" y="6244590"/>
            <a:ext cx="8386445" cy="398780"/>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宋体" charset="-122"/>
                <a:ea typeface="宋体" charset="-122"/>
                <a:cs typeface="+mn-cs"/>
                <a:sym typeface="Calibri"/>
              </a:rPr>
              <a:t>梳理“让沙特和伊朗‘握手言和’”的事件主线，分析背后的科学思维</a:t>
            </a:r>
            <a:endParaRPr kumimoji="1" lang="zh-CN" altLang="en-US" sz="2000" b="1" i="0" u="none" strike="noStrike" kern="1200" cap="none" spc="0" normalizeH="0" baseline="0" noProof="0" dirty="0">
              <a:ln>
                <a:noFill/>
              </a:ln>
              <a:solidFill>
                <a:srgbClr val="FF0000"/>
              </a:solidFill>
              <a:effectLst/>
              <a:uLnTx/>
              <a:uFillTx/>
              <a:latin typeface="宋体" charset="-122"/>
              <a:ea typeface="宋体" charset="-122"/>
              <a:cs typeface="+mn-cs"/>
              <a:sym typeface="Calibri"/>
            </a:endParaRPr>
          </a:p>
        </p:txBody>
      </p:sp>
      <p:sp>
        <p:nvSpPr>
          <p:cNvPr id="2" name="矩形 1"/>
          <p:cNvSpPr/>
          <p:nvPr/>
        </p:nvSpPr>
        <p:spPr>
          <a:xfrm flipV="1">
            <a:off x="2585085" y="2273935"/>
            <a:ext cx="2712085" cy="2717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5" name="矩形 4"/>
          <p:cNvSpPr/>
          <p:nvPr/>
        </p:nvSpPr>
        <p:spPr>
          <a:xfrm flipV="1">
            <a:off x="2585085" y="3348990"/>
            <a:ext cx="7082790" cy="25895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32" name="文本框 31"/>
          <p:cNvSpPr txBox="1"/>
          <p:nvPr/>
        </p:nvSpPr>
        <p:spPr bwMode="auto">
          <a:xfrm>
            <a:off x="152400" y="2056130"/>
            <a:ext cx="2259965" cy="70675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客观中立的立场，基于双方实际利益</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p:txBody>
      </p:sp>
      <p:sp>
        <p:nvSpPr>
          <p:cNvPr id="6" name="文本框 5"/>
          <p:cNvSpPr txBox="1"/>
          <p:nvPr/>
        </p:nvSpPr>
        <p:spPr bwMode="auto">
          <a:xfrm>
            <a:off x="152400" y="1386205"/>
            <a:ext cx="2259965" cy="46037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prstClr val="black"/>
                </a:solidFill>
                <a:effectLst/>
                <a:highlight>
                  <a:srgbClr val="FFFF00"/>
                </a:highlight>
                <a:uLnTx/>
                <a:uFillTx/>
                <a:latin typeface="黑体" pitchFamily="49" charset="-122"/>
                <a:ea typeface="黑体" pitchFamily="49" charset="-122"/>
                <a:cs typeface="楷体" pitchFamily="49" charset="-122"/>
                <a:sym typeface="Calibri"/>
              </a:rPr>
              <a:t>事件分析</a:t>
            </a:r>
            <a:endParaRPr kumimoji="1" lang="zh-CN" altLang="en-US" sz="2400" b="1" i="0" u="none" strike="noStrike" kern="1200" cap="none" spc="0" normalizeH="0" baseline="0" noProof="0" dirty="0">
              <a:ln>
                <a:noFill/>
              </a:ln>
              <a:solidFill>
                <a:prstClr val="black"/>
              </a:solidFill>
              <a:effectLst/>
              <a:highlight>
                <a:srgbClr val="FFFF00"/>
              </a:highlight>
              <a:uLnTx/>
              <a:uFillTx/>
              <a:latin typeface="黑体" pitchFamily="49" charset="-122"/>
              <a:ea typeface="黑体" pitchFamily="49" charset="-122"/>
              <a:cs typeface="楷体" pitchFamily="49" charset="-122"/>
              <a:sym typeface="Calibri"/>
            </a:endParaRPr>
          </a:p>
        </p:txBody>
      </p:sp>
      <p:sp>
        <p:nvSpPr>
          <p:cNvPr id="7" name="文本框 6"/>
          <p:cNvSpPr txBox="1"/>
          <p:nvPr/>
        </p:nvSpPr>
        <p:spPr bwMode="auto">
          <a:xfrm>
            <a:off x="242570" y="3348990"/>
            <a:ext cx="2259965" cy="70675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放眼全球，利用和平外交化解矛盾</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p:txBody>
      </p:sp>
      <p:sp>
        <p:nvSpPr>
          <p:cNvPr id="8" name="文本框 7"/>
          <p:cNvSpPr txBox="1"/>
          <p:nvPr/>
        </p:nvSpPr>
        <p:spPr bwMode="auto">
          <a:xfrm>
            <a:off x="242570" y="4636135"/>
            <a:ext cx="2259965" cy="70675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建设性介入的成功实践</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p:txBody>
      </p:sp>
      <p:sp>
        <p:nvSpPr>
          <p:cNvPr id="11" name="矩形 10"/>
          <p:cNvSpPr/>
          <p:nvPr/>
        </p:nvSpPr>
        <p:spPr>
          <a:xfrm flipV="1">
            <a:off x="2268220" y="1591945"/>
            <a:ext cx="6672580" cy="2711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4" name="下箭头 13"/>
          <p:cNvSpPr/>
          <p:nvPr/>
        </p:nvSpPr>
        <p:spPr>
          <a:xfrm>
            <a:off x="1024255" y="2847340"/>
            <a:ext cx="443865" cy="4610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5" name="下箭头 14"/>
          <p:cNvSpPr/>
          <p:nvPr/>
        </p:nvSpPr>
        <p:spPr>
          <a:xfrm>
            <a:off x="1060450" y="4166870"/>
            <a:ext cx="443865" cy="4610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16" name="文本框 15"/>
          <p:cNvSpPr txBox="1"/>
          <p:nvPr/>
        </p:nvSpPr>
        <p:spPr bwMode="auto">
          <a:xfrm>
            <a:off x="9667875" y="1386205"/>
            <a:ext cx="2259965" cy="46037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400" b="1" i="0" u="none" strike="noStrike" kern="1200" cap="none" spc="0" normalizeH="0" baseline="0" noProof="0" dirty="0">
                <a:ln>
                  <a:noFill/>
                </a:ln>
                <a:solidFill>
                  <a:prstClr val="black"/>
                </a:solidFill>
                <a:effectLst/>
                <a:highlight>
                  <a:srgbClr val="FFFF00"/>
                </a:highlight>
                <a:uLnTx/>
                <a:uFillTx/>
                <a:latin typeface="黑体" pitchFamily="49" charset="-122"/>
                <a:ea typeface="黑体" pitchFamily="49" charset="-122"/>
                <a:cs typeface="楷体" pitchFamily="49" charset="-122"/>
                <a:sym typeface="Calibri"/>
              </a:rPr>
              <a:t>科学思维</a:t>
            </a:r>
            <a:endParaRPr kumimoji="1" lang="zh-CN" altLang="en-US" sz="2400" b="1" i="0" u="none" strike="noStrike" kern="1200" cap="none" spc="0" normalizeH="0" baseline="0" noProof="0" dirty="0">
              <a:ln>
                <a:noFill/>
              </a:ln>
              <a:solidFill>
                <a:prstClr val="black"/>
              </a:solidFill>
              <a:effectLst/>
              <a:highlight>
                <a:srgbClr val="FFFF00"/>
              </a:highlight>
              <a:uLnTx/>
              <a:uFillTx/>
              <a:latin typeface="黑体" pitchFamily="49" charset="-122"/>
              <a:ea typeface="黑体" pitchFamily="49" charset="-122"/>
              <a:cs typeface="楷体" pitchFamily="49" charset="-122"/>
              <a:sym typeface="Calibri"/>
            </a:endParaRPr>
          </a:p>
        </p:txBody>
      </p:sp>
      <p:sp>
        <p:nvSpPr>
          <p:cNvPr id="17" name="文本框 16"/>
          <p:cNvSpPr txBox="1"/>
          <p:nvPr/>
        </p:nvSpPr>
        <p:spPr bwMode="auto">
          <a:xfrm>
            <a:off x="9667875" y="2056130"/>
            <a:ext cx="2458085" cy="398780"/>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追求认识的客观性</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p:txBody>
      </p:sp>
      <p:sp>
        <p:nvSpPr>
          <p:cNvPr id="18" name="文本框 17"/>
          <p:cNvSpPr txBox="1"/>
          <p:nvPr/>
        </p:nvSpPr>
        <p:spPr bwMode="auto">
          <a:xfrm>
            <a:off x="9650730" y="3039110"/>
            <a:ext cx="2560320" cy="1322070"/>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结果具有预见性、</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联系、矛盾、发展、</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分析综合、逆向、联想、发散聚合</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p:txBody>
      </p:sp>
      <p:sp>
        <p:nvSpPr>
          <p:cNvPr id="19" name="文本框 18"/>
          <p:cNvSpPr txBox="1"/>
          <p:nvPr/>
        </p:nvSpPr>
        <p:spPr bwMode="auto">
          <a:xfrm>
            <a:off x="9750425" y="4944110"/>
            <a:ext cx="2458085" cy="706755"/>
          </a:xfrm>
          <a:prstGeom prst="rect">
            <a:avLst/>
          </a:prstGeom>
          <a:noFill/>
          <a:ln w="9525">
            <a:noFill/>
            <a:miter lim="800000"/>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结果可检验、超前、</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a:p>
            <a:pPr marL="0" marR="0" lvl="0" indent="0" algn="ctr" defTabSz="914400" rtl="0" eaLnBrk="1" fontAlgn="auto" latinLnBrk="0" hangingPunct="1">
              <a:lnSpc>
                <a:spcPct val="100000"/>
              </a:lnSpc>
              <a:spcBef>
                <a:spcPts val="0"/>
              </a:spcBef>
              <a:spcAft>
                <a:spcPts val="0"/>
              </a:spcAft>
              <a:buClrTx/>
              <a:buSzTx/>
              <a:buFont typeface="Arial" charset="0"/>
              <a:buNone/>
              <a:defRPr/>
            </a:pPr>
            <a:r>
              <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rPr>
              <a:t>创新思维三新</a:t>
            </a:r>
            <a:endParaRPr kumimoji="1" lang="zh-CN" altLang="en-US" sz="2000" b="1" i="0" u="none" strike="noStrike" kern="1200" cap="none" spc="0" normalizeH="0" baseline="0" noProof="0" dirty="0">
              <a:ln>
                <a:noFill/>
              </a:ln>
              <a:solidFill>
                <a:srgbClr val="FF0000"/>
              </a:solidFill>
              <a:effectLst/>
              <a:uLnTx/>
              <a:uFillTx/>
              <a:latin typeface="楷体" pitchFamily="49" charset="-122"/>
              <a:ea typeface="楷体" pitchFamily="49" charset="-122"/>
              <a:cs typeface="楷体" pitchFamily="49" charset="-122"/>
              <a:sym typeface="Calibri"/>
            </a:endParaRPr>
          </a:p>
        </p:txBody>
      </p:sp>
      <p:sp>
        <p:nvSpPr>
          <p:cNvPr id="20" name="下箭头 19"/>
          <p:cNvSpPr/>
          <p:nvPr/>
        </p:nvSpPr>
        <p:spPr>
          <a:xfrm>
            <a:off x="10757535" y="2499995"/>
            <a:ext cx="443865" cy="4610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21" name="下箭头 20"/>
          <p:cNvSpPr/>
          <p:nvPr/>
        </p:nvSpPr>
        <p:spPr>
          <a:xfrm>
            <a:off x="10748645" y="4396740"/>
            <a:ext cx="443865" cy="46101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1055370" y="855980"/>
            <a:ext cx="9525000" cy="47148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0" y="0"/>
            <a:ext cx="8556625" cy="750887"/>
          </a:xfrm>
        </p:spPr>
        <p:txBody>
          <a:bodyPr>
            <a:normAutofit/>
          </a:bodyPr>
          <a:lstStyle/>
          <a:p>
            <a:r>
              <a:rPr lang="zh-CN" altLang="en-US" sz="3600" b="1" dirty="0">
                <a:solidFill>
                  <a:schemeClr val="accent2">
                    <a:lumMod val="75000"/>
                  </a:schemeClr>
                </a:solidFill>
                <a:latin typeface="微软雅黑" charset="-122"/>
                <a:ea typeface="微软雅黑" charset="-122"/>
              </a:rPr>
              <a:t>四、学生问题</a:t>
            </a:r>
            <a:endParaRPr lang="zh-CN" altLang="en-US" sz="3600" b="1" dirty="0">
              <a:solidFill>
                <a:schemeClr val="accent2">
                  <a:lumMod val="75000"/>
                </a:schemeClr>
              </a:solidFill>
              <a:latin typeface="微软雅黑" charset="-122"/>
              <a:ea typeface="微软雅黑" charset="-122"/>
            </a:endParaRPr>
          </a:p>
        </p:txBody>
      </p:sp>
      <p:sp>
        <p:nvSpPr>
          <p:cNvPr id="2" name="文本框 1"/>
          <p:cNvSpPr txBox="1"/>
          <p:nvPr/>
        </p:nvSpPr>
        <p:spPr>
          <a:xfrm>
            <a:off x="857250" y="1426210"/>
            <a:ext cx="10598150" cy="2306955"/>
          </a:xfrm>
          <a:prstGeom prst="rect">
            <a:avLst/>
          </a:prstGeom>
          <a:noFill/>
          <a:ln w="9525">
            <a:noFill/>
            <a:miter lim="800000"/>
          </a:ln>
        </p:spPr>
        <p:txBody>
          <a:bodyPr wrap="square" anchor="t">
            <a:spAutoFit/>
          </a:bodyPr>
          <a:lstStyle/>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1.</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对科学思维的知识体系把握不好；</a:t>
            </a:r>
            <a:endPar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2.</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没有聚焦问题解决的过程展开分析，机械堆砌知识；</a:t>
            </a:r>
            <a:endPar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3.</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理论和分析不匹配；</a:t>
            </a:r>
            <a:endPar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4.</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审题不清，答错知识模块，仅用《当代国际政治与经济》知识作答。</a:t>
            </a:r>
            <a:endPar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74395" y="913898"/>
            <a:ext cx="10137164" cy="5619750"/>
          </a:xfrm>
          <a:prstGeom prst="rect">
            <a:avLst/>
          </a:prstGeom>
        </p:spPr>
      </p:pic>
      <p:sp>
        <p:nvSpPr>
          <p:cNvPr id="5" name="标题 3"/>
          <p:cNvSpPr txBox="1"/>
          <p:nvPr/>
        </p:nvSpPr>
        <p:spPr>
          <a:xfrm>
            <a:off x="80089" y="89859"/>
            <a:ext cx="8556625" cy="7508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4400" b="1" i="0" u="none" strike="noStrike" kern="1200" cap="none" spc="0" normalizeH="0" baseline="0" noProof="0" dirty="0">
                <a:ln>
                  <a:noFill/>
                </a:ln>
                <a:solidFill>
                  <a:srgbClr val="C00000"/>
                </a:solidFill>
                <a:effectLst/>
                <a:uLnTx/>
                <a:uFillTx/>
                <a:latin typeface="微软雅黑" charset="-122"/>
                <a:ea typeface="微软雅黑" charset="-122"/>
                <a:cs typeface="+mj-cs"/>
              </a:rPr>
              <a:t>21</a:t>
            </a:r>
            <a:r>
              <a:rPr kumimoji="0" lang="zh-CN" altLang="en-US" sz="4400" b="1" i="0" u="none" strike="noStrike" kern="1200" cap="none" spc="0" normalizeH="0" baseline="0" noProof="0" dirty="0">
                <a:ln>
                  <a:noFill/>
                </a:ln>
                <a:solidFill>
                  <a:srgbClr val="C00000"/>
                </a:solidFill>
                <a:effectLst/>
                <a:uLnTx/>
                <a:uFillTx/>
                <a:latin typeface="微软雅黑" charset="-122"/>
                <a:ea typeface="微软雅黑" charset="-122"/>
                <a:cs typeface="+mj-cs"/>
              </a:rPr>
              <a:t>（</a:t>
            </a:r>
            <a:r>
              <a:rPr kumimoji="0" lang="en-US" altLang="zh-CN" sz="4400" b="1" i="0" u="none" strike="noStrike" kern="1200" cap="none" spc="0" normalizeH="0" baseline="0" noProof="0" dirty="0">
                <a:ln>
                  <a:noFill/>
                </a:ln>
                <a:solidFill>
                  <a:srgbClr val="C00000"/>
                </a:solidFill>
                <a:effectLst/>
                <a:uLnTx/>
                <a:uFillTx/>
                <a:latin typeface="微软雅黑" charset="-122"/>
                <a:ea typeface="微软雅黑" charset="-122"/>
                <a:cs typeface="+mj-cs"/>
              </a:rPr>
              <a:t>2</a:t>
            </a:r>
            <a:r>
              <a:rPr kumimoji="0" lang="zh-CN" altLang="en-US" sz="4400" b="1" i="0" u="none" strike="noStrike" kern="1200" cap="none" spc="0" normalizeH="0" baseline="0" noProof="0" dirty="0">
                <a:ln>
                  <a:noFill/>
                </a:ln>
                <a:solidFill>
                  <a:srgbClr val="C00000"/>
                </a:solidFill>
                <a:effectLst/>
                <a:uLnTx/>
                <a:uFillTx/>
                <a:latin typeface="微软雅黑" charset="-122"/>
                <a:ea typeface="微软雅黑" charset="-122"/>
                <a:cs typeface="+mj-cs"/>
              </a:rPr>
              <a:t>）题</a:t>
            </a:r>
            <a:endParaRPr kumimoji="0" lang="zh-CN" altLang="en-US" sz="4400" b="1" i="0" u="none" strike="noStrike" kern="1200" cap="none" spc="0" normalizeH="0" baseline="0" noProof="0" dirty="0">
              <a:ln>
                <a:noFill/>
              </a:ln>
              <a:solidFill>
                <a:srgbClr val="C00000"/>
              </a:solidFill>
              <a:effectLst/>
              <a:uLnTx/>
              <a:uFillTx/>
              <a:latin typeface="微软雅黑" charset="-122"/>
              <a:ea typeface="微软雅黑" charset="-122"/>
              <a:cs typeface="+mj-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0" y="203385"/>
            <a:ext cx="8556625" cy="750887"/>
          </a:xfrm>
        </p:spPr>
        <p:txBody>
          <a:bodyPr>
            <a:normAutofit/>
          </a:bodyPr>
          <a:lstStyle/>
          <a:p>
            <a:r>
              <a:rPr lang="zh-CN" altLang="en-US" sz="3600" b="1" dirty="0">
                <a:solidFill>
                  <a:schemeClr val="accent2">
                    <a:lumMod val="75000"/>
                  </a:schemeClr>
                </a:solidFill>
                <a:latin typeface="微软雅黑" charset="-122"/>
                <a:ea typeface="微软雅黑" charset="-122"/>
              </a:rPr>
              <a:t>一、试题分析</a:t>
            </a:r>
            <a:endParaRPr lang="zh-CN" altLang="en-US" sz="3600" b="1" dirty="0">
              <a:solidFill>
                <a:schemeClr val="accent2">
                  <a:lumMod val="75000"/>
                </a:schemeClr>
              </a:solidFill>
              <a:latin typeface="微软雅黑" charset="-122"/>
              <a:ea typeface="微软雅黑" charset="-122"/>
            </a:endParaRPr>
          </a:p>
        </p:txBody>
      </p:sp>
      <p:sp>
        <p:nvSpPr>
          <p:cNvPr id="6" name="矩形 5"/>
          <p:cNvSpPr/>
          <p:nvPr/>
        </p:nvSpPr>
        <p:spPr>
          <a:xfrm>
            <a:off x="398317" y="1613477"/>
            <a:ext cx="11136545" cy="3970318"/>
          </a:xfrm>
          <a:prstGeom prst="rect">
            <a:avLst/>
          </a:prstGeom>
        </p:spPr>
        <p:txBody>
          <a:bodyPr wrap="square">
            <a:spAutoFit/>
          </a:bodyPr>
          <a:lstStyle/>
          <a:p>
            <a:pPr marL="457200" marR="0" lvl="0" indent="-4572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知识板块：哲学与文化，当代国际政治与经济，中国特色社会主义 </a:t>
            </a:r>
            <a:endPar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457200" lvl="0" indent="-457200">
              <a:lnSpc>
                <a:spcPct val="150000"/>
              </a:lnSpc>
              <a:buFont typeface="Arial" charset="0"/>
              <a:buChar char="•"/>
            </a:pP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能力板块：阐释与</a:t>
            </a:r>
            <a:r>
              <a:rPr lang="zh-CN" altLang="en-US" sz="2800" dirty="0">
                <a:solidFill>
                  <a:prstClr val="black"/>
                </a:solidFill>
                <a:latin typeface="微软雅黑" charset="-122"/>
                <a:ea typeface="微软雅黑" charset="-122"/>
              </a:rPr>
              <a:t>论证、反思与评价</a:t>
            </a:r>
            <a:endParaRPr kumimoji="0" lang="en-US" altLang="zh-CN"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a:p>
            <a:pPr marL="457200" marR="0" lvl="0" indent="-457200" algn="l" defTabSz="914400" rtl="0" eaLnBrk="1" fontAlgn="auto" latinLnBrk="0" hangingPunct="1">
              <a:lnSpc>
                <a:spcPct val="150000"/>
              </a:lnSpc>
              <a:spcBef>
                <a:spcPts val="0"/>
              </a:spcBef>
              <a:spcAft>
                <a:spcPts val="0"/>
              </a:spcAft>
              <a:buClrTx/>
              <a:buSzTx/>
              <a:buFont typeface="Arial" charset="0"/>
              <a:buChar char="•"/>
              <a:defRPr/>
            </a:pP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考查意图：</a:t>
            </a: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sym typeface="+mn-ea"/>
              </a:rPr>
              <a:t>本题基于真实情境，引导学生分析材料，综合运用多模块所学知识，从</a:t>
            </a: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rPr>
              <a:t>现代化道路、文化的交流与交融、世界的和平与发展</a:t>
            </a:r>
            <a:r>
              <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sym typeface="+mn-ea"/>
              </a:rPr>
              <a:t>等角度论证我国提出“全球文明倡议”的必要性和合理性，进而引导学生树立科学精神，增强政治认同。</a:t>
            </a:r>
            <a:endParaRPr kumimoji="0" lang="zh-CN" altLang="en-US" sz="2800" b="0" i="0" u="none" strike="noStrike" kern="1200" cap="none" spc="0" normalizeH="0" baseline="0" noProof="0" dirty="0">
              <a:ln>
                <a:noFill/>
              </a:ln>
              <a:solidFill>
                <a:prstClr val="black"/>
              </a:solidFill>
              <a:effectLst/>
              <a:uLnTx/>
              <a:uFillTx/>
              <a:latin typeface="微软雅黑" charset="-122"/>
              <a:ea typeface="微软雅黑"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l="2307"/>
          <a:stretch>
            <a:fillRect/>
          </a:stretch>
        </p:blipFill>
        <p:spPr>
          <a:xfrm>
            <a:off x="220718" y="987471"/>
            <a:ext cx="8556625" cy="4855545"/>
          </a:xfrm>
          <a:prstGeom prst="rect">
            <a:avLst/>
          </a:prstGeom>
        </p:spPr>
      </p:pic>
      <p:cxnSp>
        <p:nvCxnSpPr>
          <p:cNvPr id="12" name="直接连接符 11"/>
          <p:cNvCxnSpPr/>
          <p:nvPr/>
        </p:nvCxnSpPr>
        <p:spPr>
          <a:xfrm>
            <a:off x="1730997" y="3499874"/>
            <a:ext cx="2322717"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167854" y="2785016"/>
            <a:ext cx="85272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497998" y="4763284"/>
            <a:ext cx="1150862"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612784" y="4763284"/>
            <a:ext cx="1071433"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4" name="标题 3"/>
          <p:cNvSpPr>
            <a14:cpLocks xmlns:a14="http://schemas.microsoft.com/office/drawing/2010/main" noGrp="1"/>
          </p:cNvSpPr>
          <p:nvPr>
            <p:ph type="title" idx="4294967295"/>
          </p:nvPr>
        </p:nvSpPr>
        <p:spPr>
          <a:xfrm>
            <a:off x="0" y="0"/>
            <a:ext cx="8556625" cy="750887"/>
          </a:xfrm>
        </p:spPr>
        <p:txBody>
          <a:bodyPr>
            <a:normAutofit/>
          </a:bodyPr>
          <a:lstStyle/>
          <a:p>
            <a:r>
              <a:rPr lang="zh-CN" altLang="en-US" sz="3600" b="1" dirty="0">
                <a:solidFill>
                  <a:schemeClr val="accent2">
                    <a:lumMod val="75000"/>
                  </a:schemeClr>
                </a:solidFill>
                <a:latin typeface="微软雅黑" charset="-122"/>
                <a:ea typeface="微软雅黑" charset="-122"/>
              </a:rPr>
              <a:t>三、试题讲解示例</a:t>
            </a:r>
            <a:endParaRPr lang="zh-CN" altLang="en-US" sz="3600" b="1" dirty="0">
              <a:solidFill>
                <a:schemeClr val="accent2">
                  <a:lumMod val="75000"/>
                </a:schemeClr>
              </a:solidFill>
              <a:latin typeface="微软雅黑" charset="-122"/>
              <a:ea typeface="微软雅黑" charset="-122"/>
            </a:endParaRPr>
          </a:p>
        </p:txBody>
      </p:sp>
      <p:sp>
        <p:nvSpPr>
          <p:cNvPr id="11" name="矩形 10"/>
          <p:cNvSpPr/>
          <p:nvPr/>
        </p:nvSpPr>
        <p:spPr>
          <a:xfrm>
            <a:off x="8550495" y="1451199"/>
            <a:ext cx="3414660" cy="369332"/>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矛盾的普遍性与特殊性</a:t>
            </a:r>
            <a:endParaRPr kumimoji="0" lang="en-US" altLang="zh-CN"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14" name="矩形 13"/>
          <p:cNvSpPr/>
          <p:nvPr/>
        </p:nvSpPr>
        <p:spPr>
          <a:xfrm>
            <a:off x="8550495" y="1889018"/>
            <a:ext cx="3414660" cy="92333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人类社会发展遵循一般规律，又是由各国、各地区、各民族历史的多样性反映出来</a:t>
            </a:r>
            <a:endParaRPr kumimoji="0" lang="en-US" altLang="zh-CN"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20" name="矩形 19"/>
          <p:cNvSpPr/>
          <p:nvPr/>
        </p:nvSpPr>
        <p:spPr>
          <a:xfrm>
            <a:off x="8550495" y="2880835"/>
            <a:ext cx="3414660" cy="646331"/>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一切从实际出发（物质决定意识，社会存在决定社会意识）</a:t>
            </a:r>
            <a:endParaRPr kumimoji="0" lang="en-US" altLang="zh-CN"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22" name="矩形 21"/>
          <p:cNvSpPr/>
          <p:nvPr/>
        </p:nvSpPr>
        <p:spPr>
          <a:xfrm>
            <a:off x="8550495" y="4374645"/>
            <a:ext cx="3414660" cy="369332"/>
          </a:xfrm>
          <a:prstGeom prst="rect">
            <a:avLst/>
          </a:prstGeom>
          <a:solidFill>
            <a:schemeClr val="accent6">
              <a:lumMod val="20000"/>
              <a:lumOff val="80000"/>
            </a:schemeClr>
          </a:solidFill>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辩证否定观</a:t>
            </a:r>
            <a:endParaRPr kumimoji="0" lang="en-US" altLang="zh-CN"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23" name="矩形 22"/>
          <p:cNvSpPr/>
          <p:nvPr/>
        </p:nvSpPr>
        <p:spPr>
          <a:xfrm>
            <a:off x="8550495" y="4799984"/>
            <a:ext cx="3414660" cy="369332"/>
          </a:xfrm>
          <a:prstGeom prst="rect">
            <a:avLst/>
          </a:prstGeom>
          <a:solidFill>
            <a:schemeClr val="accent6">
              <a:lumMod val="20000"/>
              <a:lumOff val="80000"/>
            </a:schemeClr>
          </a:solidFill>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文化多样性，文化交流与交融</a:t>
            </a:r>
            <a:endPar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31" name="矩形 30"/>
          <p:cNvSpPr/>
          <p:nvPr/>
        </p:nvSpPr>
        <p:spPr>
          <a:xfrm>
            <a:off x="8556623" y="5517887"/>
            <a:ext cx="3414660" cy="1200329"/>
          </a:xfrm>
          <a:prstGeom prst="rect">
            <a:avLst/>
          </a:prstGeom>
          <a:solidFill>
            <a:schemeClr val="accent4">
              <a:lumMod val="20000"/>
              <a:lumOff val="80000"/>
            </a:schemeClr>
          </a:solidFill>
          <a:ln>
            <a:solidFill>
              <a:schemeClr val="accent4">
                <a:lumMod val="75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和平与发展是时代的主题</a:t>
            </a:r>
            <a:endPar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共同利益是国家间合作的基础</a:t>
            </a:r>
            <a:endPar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合作共赢为核心的新型国际关系</a:t>
            </a:r>
            <a:endPar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构建人类命运共同体</a:t>
            </a:r>
            <a:endPar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33" name="椭圆 32"/>
          <p:cNvSpPr/>
          <p:nvPr/>
        </p:nvSpPr>
        <p:spPr>
          <a:xfrm>
            <a:off x="6096000" y="2186153"/>
            <a:ext cx="2119539" cy="1513488"/>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34" name="矩形 33"/>
          <p:cNvSpPr/>
          <p:nvPr/>
        </p:nvSpPr>
        <p:spPr>
          <a:xfrm>
            <a:off x="8550495" y="3949305"/>
            <a:ext cx="3414660" cy="369332"/>
          </a:xfrm>
          <a:prstGeom prst="rect">
            <a:avLst/>
          </a:prstGeom>
          <a:solidFill>
            <a:schemeClr val="accent6">
              <a:lumMod val="20000"/>
              <a:lumOff val="80000"/>
            </a:schemeClr>
          </a:solidFill>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rPr>
              <a:t>矛盾的普遍性与特殊性</a:t>
            </a:r>
            <a:endParaRPr kumimoji="0" lang="en-US" altLang="zh-CN" sz="18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endParaRPr>
          </a:p>
        </p:txBody>
      </p:sp>
      <p:sp>
        <p:nvSpPr>
          <p:cNvPr id="35" name="椭圆 34"/>
          <p:cNvSpPr/>
          <p:nvPr/>
        </p:nvSpPr>
        <p:spPr>
          <a:xfrm>
            <a:off x="1114097" y="2049517"/>
            <a:ext cx="1053758" cy="484480"/>
          </a:xfrm>
          <a:prstGeom prst="ellipse">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36" name="椭圆 35"/>
          <p:cNvSpPr/>
          <p:nvPr/>
        </p:nvSpPr>
        <p:spPr>
          <a:xfrm>
            <a:off x="2070538" y="3714347"/>
            <a:ext cx="630621" cy="484480"/>
          </a:xfrm>
          <a:prstGeom prst="ellipse">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a:ea typeface="宋体" charset="-122"/>
              <a:cs typeface="+mn-cs"/>
            </a:endParaRPr>
          </a:p>
        </p:txBody>
      </p:sp>
      <p:sp>
        <p:nvSpPr>
          <p:cNvPr id="37" name="文本框 36"/>
          <p:cNvSpPr txBox="1"/>
          <p:nvPr/>
        </p:nvSpPr>
        <p:spPr bwMode="auto">
          <a:xfrm>
            <a:off x="8550495" y="5169343"/>
            <a:ext cx="3005958" cy="338554"/>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角度</a:t>
            </a:r>
            <a:r>
              <a:rPr kumimoji="0" lang="en-US" altLang="zh-CN"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3</a:t>
            </a:r>
            <a:r>
              <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：世界的和平与发展</a:t>
            </a:r>
            <a:endPar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endParaRPr>
          </a:p>
        </p:txBody>
      </p:sp>
      <p:sp>
        <p:nvSpPr>
          <p:cNvPr id="38" name="文本框 37"/>
          <p:cNvSpPr txBox="1"/>
          <p:nvPr/>
        </p:nvSpPr>
        <p:spPr bwMode="auto">
          <a:xfrm>
            <a:off x="8550495" y="3613822"/>
            <a:ext cx="3005958" cy="338554"/>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角度</a:t>
            </a:r>
            <a:r>
              <a:rPr kumimoji="0" lang="en-US" altLang="zh-CN"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2</a:t>
            </a:r>
            <a:r>
              <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：文化的交流与交融</a:t>
            </a:r>
            <a:endPar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endParaRPr>
          </a:p>
        </p:txBody>
      </p:sp>
      <p:sp>
        <p:nvSpPr>
          <p:cNvPr id="39" name="文本框 38"/>
          <p:cNvSpPr txBox="1"/>
          <p:nvPr/>
        </p:nvSpPr>
        <p:spPr bwMode="auto">
          <a:xfrm>
            <a:off x="8550495" y="1112618"/>
            <a:ext cx="3005958" cy="338554"/>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 typeface="Arial" charset="0"/>
              <a:buNone/>
              <a:defRPr/>
            </a:pPr>
            <a:r>
              <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角度</a:t>
            </a:r>
            <a:r>
              <a:rPr kumimoji="0" lang="en-US" altLang="zh-CN"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1</a:t>
            </a:r>
            <a:r>
              <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rPr>
              <a:t>：现代化道路</a:t>
            </a:r>
            <a:endParaRPr kumimoji="0" lang="zh-CN" altLang="en-US" sz="1600" b="0" i="0" u="none" strike="noStrike" kern="1200" cap="none" spc="0" normalizeH="0" baseline="0" noProof="0" dirty="0">
              <a:ln>
                <a:noFill/>
              </a:ln>
              <a:solidFill>
                <a:prstClr val="black"/>
              </a:solidFill>
              <a:effectLst/>
              <a:uLnTx/>
              <a:uFillTx/>
              <a:latin typeface="楷体" pitchFamily="49" charset="-122"/>
              <a:ea typeface="楷体" pitchFamily="49" charset="-122"/>
              <a:cs typeface="+mn-cs"/>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20" grpId="0" bldLvl="0" animBg="1"/>
      <p:bldP spid="22" grpId="0" bldLvl="0" animBg="1"/>
      <p:bldP spid="23" grpId="0" bldLvl="0" animBg="1"/>
      <p:bldP spid="31" grpId="0" bldLvl="0" animBg="1"/>
      <p:bldP spid="34"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19785" y="1099185"/>
            <a:ext cx="10552430" cy="479107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14:cpLocks xmlns:a14="http://schemas.microsoft.com/office/drawing/2010/main" noGrp="1"/>
          </p:cNvSpPr>
          <p:nvPr>
            <p:ph type="title" idx="4294967295"/>
          </p:nvPr>
        </p:nvSpPr>
        <p:spPr>
          <a:xfrm>
            <a:off x="0" y="0"/>
            <a:ext cx="8556625" cy="750887"/>
          </a:xfrm>
        </p:spPr>
        <p:txBody>
          <a:bodyPr>
            <a:normAutofit/>
          </a:bodyPr>
          <a:lstStyle/>
          <a:p>
            <a:r>
              <a:rPr lang="zh-CN" altLang="en-US" sz="3600" b="1" dirty="0">
                <a:solidFill>
                  <a:schemeClr val="accent2">
                    <a:lumMod val="75000"/>
                  </a:schemeClr>
                </a:solidFill>
                <a:latin typeface="微软雅黑" charset="-122"/>
                <a:ea typeface="微软雅黑" charset="-122"/>
              </a:rPr>
              <a:t>四、学生问题</a:t>
            </a:r>
            <a:endParaRPr lang="zh-CN" altLang="en-US" sz="3600" b="1" dirty="0">
              <a:solidFill>
                <a:schemeClr val="accent2">
                  <a:lumMod val="75000"/>
                </a:schemeClr>
              </a:solidFill>
              <a:latin typeface="微软雅黑" charset="-122"/>
              <a:ea typeface="微软雅黑" charset="-122"/>
            </a:endParaRPr>
          </a:p>
        </p:txBody>
      </p:sp>
      <p:sp>
        <p:nvSpPr>
          <p:cNvPr id="2" name="文本框 1"/>
          <p:cNvSpPr txBox="1"/>
          <p:nvPr/>
        </p:nvSpPr>
        <p:spPr bwMode="auto">
          <a:xfrm>
            <a:off x="788563" y="1551962"/>
            <a:ext cx="10503019" cy="3970318"/>
          </a:xfrm>
          <a:prstGeom prst="rect">
            <a:avLst/>
          </a:prstGeom>
          <a:noFill/>
          <a:ln w="9525">
            <a:noFill/>
            <a:miter lim="800000"/>
          </a:ln>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1.</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基本上都从两个模块回答本题。</a:t>
            </a:r>
            <a:endPar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2.</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没有遵循材料的逻辑进行归纳与提炼，层次逻辑有些不清晰；</a:t>
            </a:r>
            <a:endPar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3.</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从</a:t>
            </a: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当代国际政治与经济</a:t>
            </a: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的角度写得多，从现代化道路角度少，想不到用“一切从实际出发、社会存在社会意识、普特关系”这些角度回答问题，没有分析出我国提出“全球文明倡议”的原因；</a:t>
            </a:r>
            <a:endPar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a:p>
            <a:pPr marL="0" marR="0" lvl="0" indent="0" algn="l" defTabSz="914400" rtl="0" eaLnBrk="1" fontAlgn="auto" latinLnBrk="0" hangingPunct="1">
              <a:lnSpc>
                <a:spcPct val="150000"/>
              </a:lnSpc>
              <a:spcBef>
                <a:spcPts val="0"/>
              </a:spcBef>
              <a:spcAft>
                <a:spcPts val="0"/>
              </a:spcAft>
              <a:buClrTx/>
              <a:buSzTx/>
              <a:buFont typeface="Arial" charset="0"/>
              <a:buNone/>
              <a:defRPr/>
            </a:pPr>
            <a:r>
              <a:rPr kumimoji="0" lang="en-US" altLang="zh-CN"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4.</a:t>
            </a:r>
            <a:r>
              <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rPr>
              <a:t>普特关系、人类社会发展一般规律与多样性很少有学生写出来，说明对设问层次的理解不够深入和全面。</a:t>
            </a:r>
            <a:endParaRPr kumimoji="0" lang="zh-CN" altLang="en-US" sz="2400" b="1" i="0" u="none" strike="noStrike" kern="1200" cap="none" spc="0" normalizeH="0" baseline="0" noProof="0" dirty="0">
              <a:ln>
                <a:noFill/>
              </a:ln>
              <a:solidFill>
                <a:prstClr val="black"/>
              </a:solidFill>
              <a:effectLst/>
              <a:uLnTx/>
              <a:uFillTx/>
              <a:latin typeface="宋体" charset="-122"/>
              <a:ea typeface="宋体" charset="-122"/>
              <a:cs typeface="+mn-cs"/>
              <a:sym typeface="Calibri"/>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193</Paragraphs>
  <Slides>0</Slides>
  <Notes>24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43</vt:i4>
      </vt:variant>
    </vt:vector>
  </HeadingPairs>
  <TitlesOfParts>
    <vt:vector size="52" baseType="lpstr">
      <vt:lpstr>Arial</vt:lpstr>
      <vt:lpstr>宋体</vt:lpstr>
      <vt:lpstr>Wingdings</vt:lpstr>
      <vt:lpstr>微软雅黑</vt:lpstr>
      <vt:lpstr>Calibri</vt:lpstr>
      <vt:lpstr>黑体</vt:lpstr>
      <vt:lpstr>华文楷体</vt:lpstr>
      <vt:lpstr>楷体</vt:lpstr>
      <vt:lpstr>Office 主题​​</vt:lpstr>
      <vt:lpstr>海淀二模</vt:lpstr>
      <vt:lpstr>16题</vt:lpstr>
      <vt:lpstr>一、试题分析</vt:lpstr>
      <vt:lpstr>PowerPoint 演示文稿</vt:lpstr>
      <vt:lpstr>PowerPoint 演示文稿</vt:lpstr>
      <vt:lpstr>PowerPoint 演示文稿</vt:lpstr>
      <vt:lpstr>PowerPoint 演示文稿</vt:lpstr>
      <vt:lpstr>一、试题分析</vt:lpstr>
      <vt:lpstr>PowerPoint 演示文稿</vt:lpstr>
      <vt:lpstr>PowerPoint 演示文稿</vt:lpstr>
      <vt:lpstr>PowerPoint 演示文稿</vt:lpstr>
      <vt:lpstr>18题 （6分）</vt:lpstr>
      <vt:lpstr>一、试题分析</vt:lpstr>
      <vt:lpstr>PowerPoint 演示文稿</vt:lpstr>
      <vt:lpstr>PowerPoint 演示文稿</vt:lpstr>
      <vt:lpstr>PowerPoint 演示文稿</vt:lpstr>
      <vt:lpstr>PowerPoint 演示文稿</vt:lpstr>
      <vt:lpstr>一、试题分析</vt:lpstr>
      <vt:lpstr>PowerPoint 演示文稿</vt:lpstr>
      <vt:lpstr>PowerPoint 演示文稿</vt:lpstr>
      <vt:lpstr>PowerPoint 演示文稿</vt:lpstr>
      <vt:lpstr>PowerPoint 演示文稿</vt:lpstr>
      <vt:lpstr>20（1）题</vt:lpstr>
      <vt:lpstr>20（2）题</vt:lpstr>
      <vt:lpstr>一、试题分析</vt:lpstr>
      <vt:lpstr>PowerPoint 演示文稿</vt:lpstr>
      <vt:lpstr>PowerPoint 演示文稿</vt:lpstr>
      <vt:lpstr>PowerPoint 演示文稿</vt:lpstr>
      <vt:lpstr>PowerPoint 演示文稿</vt:lpstr>
      <vt:lpstr>一、试题分析</vt:lpstr>
      <vt:lpstr>PowerPoint 演示文稿</vt:lpstr>
      <vt:lpstr>PowerPoint 演示文稿</vt:lpstr>
      <vt:lpstr>PowerPoint 演示文稿</vt:lpstr>
      <vt:lpstr>21（1）题</vt:lpstr>
      <vt:lpstr>一、试题分析</vt:lpstr>
      <vt:lpstr>三、试题讲解示例</vt:lpstr>
      <vt:lpstr>PowerPoint 演示文稿</vt:lpstr>
      <vt:lpstr>四、学生问题</vt:lpstr>
      <vt:lpstr>PowerPoint 演示文稿</vt:lpstr>
      <vt:lpstr>一、试题分析</vt:lpstr>
      <vt:lpstr>三、试题讲解示例</vt:lpstr>
      <vt:lpstr>PowerPoint 演示文稿</vt:lpstr>
      <vt:lpstr>四、学生问题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iPad</cp:lastModifiedBy>
  <cp:revision>169</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57ACA7A6228746DA90F395EEDCFDEAD7_13</vt:lpwstr>
  </property>
</Properties>
</file>