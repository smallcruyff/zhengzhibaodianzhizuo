
<file path=[Content_Types].xml><?xml version="1.0" encoding="utf-8"?>
<Types xmlns="http://schemas.openxmlformats.org/package/2006/content-types">
  <Default Extension="png" ContentType="image/png"/>
  <Default Extension="xml" ContentType="application/xml"/>
  <Default Extension="rels" ContentType="application/vnd.openxmlformats-package.relationships+xml"/>
  <Override PartName="/ppt/tags/tag117.xml" ContentType="application/vnd.openxmlformats-officedocument.presentationml.tags+xml"/>
  <Override PartName="/ppt/theme/theme2.xml" ContentType="application/vnd.openxmlformats-officedocument.theme+xml"/>
  <Override PartName="/ppt/tags/tag107.xml" ContentType="application/vnd.openxmlformats-officedocument.presentationml.tags+xml"/>
  <Override PartName="/ppt/tags/tag92.xml" ContentType="application/vnd.openxmlformats-officedocument.presentationml.tags+xml"/>
  <Override PartName="/ppt/tags/tag91.xml" ContentType="application/vnd.openxmlformats-officedocument.presentationml.tags+xml"/>
  <Override PartName="/ppt/tags/tag88.xml" ContentType="application/vnd.openxmlformats-officedocument.presentationml.tags+xml"/>
  <Override PartName="/ppt/media/image2.png" ContentType="image/png"/>
  <Override PartName="/ppt/media/image3.png" ContentType="image/png"/>
  <Override PartName="/ppt/tags/tag86.xml" ContentType="application/vnd.openxmlformats-officedocument.presentationml.tags+xml"/>
  <Override PartName="/ppt/tags/tag71.xml" ContentType="application/vnd.openxmlformats-officedocument.presentationml.tags+xml"/>
  <Override PartName="/ppt/tags/tag6.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08.xml" ContentType="application/vnd.openxmlformats-officedocument.presentationml.tags+xml"/>
  <Override PartName="/ppt/tags/tag85.xml" ContentType="application/vnd.openxmlformats-officedocument.presentationml.tags+xml"/>
  <Override PartName="/ppt/tags/tag68.xml" ContentType="application/vnd.openxmlformats-officedocument.presentationml.tags+xml"/>
  <Override PartName="/ppt/tags/tag74.xml" ContentType="application/vnd.openxmlformats-officedocument.presentationml.tags+xml"/>
  <Override PartName="/ppt/tags/tag7.xml" ContentType="application/vnd.openxmlformats-officedocument.presentationml.tags+xml"/>
  <Override PartName="/ppt/tags/tag52.xml" ContentType="application/vnd.openxmlformats-officedocument.presentationml.tags+xml"/>
  <Override PartName="/ppt/tags/tag6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78.xml" ContentType="application/vnd.openxmlformats-officedocument.presentationml.tags+xml"/>
  <Override PartName="/ppt/tags/tag81.xml" ContentType="application/vnd.openxmlformats-officedocument.presentationml.tags+xml"/>
  <Override PartName="/ppt/tags/tag44.xml" ContentType="application/vnd.openxmlformats-officedocument.presentationml.tags+xml"/>
  <Override PartName="/ppt/media/image1.png" ContentType="image/png"/>
  <Override PartName="/ppt/tags/tag11.xml" ContentType="application/vnd.openxmlformats-officedocument.presentationml.tags+xml"/>
  <Override PartName="/ppt/tags/tag12.xml" ContentType="application/vnd.openxmlformats-officedocument.presentationml.tags+xml"/>
  <Override PartName="/ppt/tags/tag116.xml" ContentType="application/vnd.openxmlformats-officedocument.presentationml.tags+xml"/>
  <Override PartName="/ppt/tags/tag13.xml" ContentType="application/vnd.openxmlformats-officedocument.presentationml.tags+xml"/>
  <Override PartName="/ppt/tags/tag54.xml" ContentType="application/vnd.openxmlformats-officedocument.presentationml.tags+xml"/>
  <Override PartName="/ppt/tags/tag15.xml" ContentType="application/vnd.openxmlformats-officedocument.presentationml.tags+xml"/>
  <Override PartName="/ppt/tags/tag14.xml" ContentType="application/vnd.openxmlformats-officedocument.presentationml.tags+xml"/>
  <Override PartName="/ppt/tags/tag65.xml" ContentType="application/vnd.openxmlformats-officedocument.presentationml.tags+xml"/>
  <Override PartName="/ppt/slides/slide15.xml" ContentType="application/vnd.openxmlformats-officedocument.presentationml.slide+xml"/>
  <Override PartName="/ppt/tags/tag110.xml" ContentType="application/vnd.openxmlformats-officedocument.presentationml.tags+xml"/>
  <Override PartName="/ppt/slides/slide7.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19.xml" ContentType="application/vnd.openxmlformats-officedocument.presentationml.slide+xml"/>
  <Override PartName="/ppt/tags/tag8.xml" ContentType="application/vnd.openxmlformats-officedocument.presentationml.tags+xml"/>
  <Override PartName="/ppt/slides/slide6.xml" ContentType="application/vnd.openxmlformats-officedocument.presentationml.slide+xml"/>
  <Override PartName="/ppt/tags/tag76.xml" ContentType="application/vnd.openxmlformats-officedocument.presentationml.tags+xml"/>
  <Override PartName="/ppt/commentAuthors.xml" ContentType="application/vnd.openxmlformats-officedocument.presentationml.commentAuthors+xml"/>
  <Override PartName="/ppt/tags/tag118.xml" ContentType="application/vnd.openxmlformats-officedocument.presentationml.tags+xml"/>
  <Override PartName="/ppt/slides/slide2.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tags/tag70.xml" ContentType="application/vnd.openxmlformats-officedocument.presentationml.tags+xml"/>
  <Override PartName="/ppt/slides/slide21.xml" ContentType="application/vnd.openxmlformats-officedocument.presentationml.slide+xml"/>
  <Override PartName="/ppt/tags/tag28.xml" ContentType="application/vnd.openxmlformats-officedocument.presentationml.tags+xml"/>
  <Override PartName="/ppt/slides/slide29.xml" ContentType="application/vnd.openxmlformats-officedocument.presentationml.slide+xml"/>
  <Override PartName="/ppt/tags/tag83.xml" ContentType="application/vnd.openxmlformats-officedocument.presentationml.tags+xml"/>
  <Override PartName="/ppt/tags/tag45.xml" ContentType="application/vnd.openxmlformats-officedocument.presentationml.tags+xml"/>
  <Override PartName="/ppt/tags/tag37.xml" ContentType="application/vnd.openxmlformats-officedocument.presentationml.tags+xml"/>
  <Override PartName="/ppt/slides/slide9.xml" ContentType="application/vnd.openxmlformats-officedocument.presentationml.slide+xml"/>
  <Override PartName="/ppt/presProps.xml" ContentType="application/vnd.openxmlformats-officedocument.presentationml.presProps+xml"/>
  <Override PartName="/ppt/slides/slide13.xml" ContentType="application/vnd.openxmlformats-officedocument.presentationml.slide+xml"/>
  <Override PartName="/ppt/viewProps.xml" ContentType="application/vnd.openxmlformats-officedocument.presentationml.viewProps+xml"/>
  <Override PartName="/ppt/slides/slide10.xml" ContentType="application/vnd.openxmlformats-officedocument.presentationml.slide+xml"/>
  <Override PartName="/ppt/tableStyles.xml" ContentType="application/vnd.openxmlformats-officedocument.presentationml.tableStyles+xml"/>
  <Override PartName="/ppt/slides/slide11.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32.xml" ContentType="application/vnd.openxmlformats-officedocument.presentationml.slide+xml"/>
  <Override PartName="/ppt/tags/tag26.xml" ContentType="application/vnd.openxmlformats-officedocument.presentationml.tags+xml"/>
  <Override PartName="/ppt/notesMasters/notesMaster1.xml" ContentType="application/vnd.openxmlformats-officedocument.presentationml.notesMaster+xml"/>
  <Override PartName="/ppt/tags/tag2.xml" ContentType="application/vnd.openxmlformats-officedocument.presentationml.tags+xml"/>
  <Override PartName="/ppt/tags/tag112.xml" ContentType="application/vnd.openxmlformats-officedocument.presentationml.tags+xml"/>
  <Override PartName="/ppt/tags/tag41.xml" ContentType="application/vnd.openxmlformats-officedocument.presentationml.tags+xml"/>
  <Override PartName="/ppt/tags/tag1.xml" ContentType="application/vnd.openxmlformats-officedocument.presentationml.tags+xml"/>
  <Override PartName="/ppt/tags/tag3.xml" ContentType="application/vnd.openxmlformats-officedocument.presentationml.tags+xml"/>
  <Override PartName="/ppt/tags/tag32.xml" ContentType="application/vnd.openxmlformats-officedocument.presentationml.tags+xml"/>
  <Override PartName="/ppt/slides/slide3.xml" ContentType="application/vnd.openxmlformats-officedocument.presentationml.slide+xml"/>
  <Override PartName="/ppt/slides/slide25.xml" ContentType="application/vnd.openxmlformats-officedocument.presentationml.slide+xml"/>
  <Override PartName="/ppt/tags/tag33.xml" ContentType="application/vnd.openxmlformats-officedocument.presentationml.tags+xml"/>
  <Override PartName="/ppt/tags/tag47.xml" ContentType="application/vnd.openxmlformats-officedocument.presentationml.tags+xml"/>
  <Override PartName="/ppt/tags/tag105.xml" ContentType="application/vnd.openxmlformats-officedocument.presentationml.tags+xml"/>
  <Override PartName="/ppt/slides/slide24.xml" ContentType="application/vnd.openxmlformats-officedocument.presentationml.slide+xml"/>
  <Override PartName="/ppt/tags/tag106.xml" ContentType="application/vnd.openxmlformats-officedocument.presentationml.tags+xml"/>
  <Override PartName="/ppt/tags/tag93.xml" ContentType="application/vnd.openxmlformats-officedocument.presentationml.tags+xml"/>
  <Override PartName="/ppt/tags/tag63.xml" ContentType="application/vnd.openxmlformats-officedocument.presentationml.tags+xml"/>
  <Override PartName="/ppt/slides/slide34.xml" ContentType="application/vnd.openxmlformats-officedocument.presentationml.slide+xml"/>
  <Override PartName="/ppt/slides/slide14.xml" ContentType="application/vnd.openxmlformats-officedocument.presentationml.slide+xml"/>
  <Override PartName="/ppt/tags/tag24.xml" ContentType="application/vnd.openxmlformats-officedocument.presentationml.tags+xml"/>
  <Override PartName="/ppt/tags/tag27.xml" ContentType="application/vnd.openxmlformats-officedocument.presentationml.tags+xml"/>
  <Override PartName="/ppt/slides/slide5.xml" ContentType="application/vnd.openxmlformats-officedocument.presentationml.slide+xml"/>
  <Override PartName="/ppt/slides/slide26.xml" ContentType="application/vnd.openxmlformats-officedocument.presentationml.slide+xml"/>
  <Override PartName="/ppt/tags/tag49.xml" ContentType="application/vnd.openxmlformats-officedocument.presentationml.tags+xml"/>
  <Override PartName="/ppt/tags/tag34.xml" ContentType="application/vnd.openxmlformats-officedocument.presentationml.tags+xml"/>
  <Override PartName="/ppt/slideLayouts/slideLayout6.xml" ContentType="application/vnd.openxmlformats-officedocument.presentationml.slideLayout+xml"/>
  <Override PartName="/ppt/tags/tag72.xml" ContentType="application/vnd.openxmlformats-officedocument.presentationml.tags+xml"/>
  <Override PartName="/ppt/tags/tag36.xml" ContentType="application/vnd.openxmlformats-officedocument.presentationml.tags+xml"/>
  <Override PartName="/ppt/tags/tag58.xml" ContentType="application/vnd.openxmlformats-officedocument.presentationml.tags+xml"/>
  <Override PartName="/ppt/slides/slide4.xml" ContentType="application/vnd.openxmlformats-officedocument.presentationml.slide+xml"/>
  <Override PartName="/ppt/slides/slide22.xml" ContentType="application/vnd.openxmlformats-officedocument.presentationml.slide+xml"/>
  <Override PartName="/ppt/slides/slide28.xml" ContentType="application/vnd.openxmlformats-officedocument.presentationml.slide+xml"/>
  <Override PartName="/ppt/tags/tag30.xml" ContentType="application/vnd.openxmlformats-officedocument.presentationml.tags+xml"/>
  <Override PartName="/docProps/custom.xml" ContentType="application/vnd.openxmlformats-officedocument.custom-properties+xml"/>
  <Override PartName="/ppt/tags/tag35.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tags/tag53.xml" ContentType="application/vnd.openxmlformats-officedocument.presentationml.tags+xml"/>
  <Override PartName="/ppt/tags/tag5.xml" ContentType="application/vnd.openxmlformats-officedocument.presentationml.tags+xml"/>
  <Override PartName="/ppt/slideLayouts/slideLayout9.xml" ContentType="application/vnd.openxmlformats-officedocument.presentationml.slideLayout+xml"/>
  <Override PartName="/ppt/tags/tag51.xml" ContentType="application/vnd.openxmlformats-officedocument.presentationml.tags+xml"/>
  <Override PartName="/ppt/tags/tag43.xml" ContentType="application/vnd.openxmlformats-officedocument.presentationml.tags+xml"/>
  <Override PartName="/ppt/tags/tag20.xml" ContentType="application/vnd.openxmlformats-officedocument.presentationml.tags+xml"/>
  <Override PartName="/ppt/tags/tag62.xml" ContentType="application/vnd.openxmlformats-officedocument.presentationml.tags+xml"/>
  <Override PartName="/ppt/tags/tag46.xml" ContentType="application/vnd.openxmlformats-officedocument.presentationml.tags+xml"/>
  <Override PartName="/docProps/core.xml" ContentType="application/vnd.openxmlformats-package.core-properties+xml"/>
  <Override PartName="/ppt/slideLayouts/slideLayout8.xml" ContentType="application/vnd.openxmlformats-officedocument.presentationml.slideLayout+xml"/>
  <Override PartName="/ppt/tags/tag50.xml" ContentType="application/vnd.openxmlformats-officedocument.presentationml.tags+xml"/>
  <Override PartName="/ppt/slideLayouts/slideLayout4.xml" ContentType="application/vnd.openxmlformats-officedocument.presentationml.slideLayout+xml"/>
  <Override PartName="/ppt/tags/tag29.xml" ContentType="application/vnd.openxmlformats-officedocument.presentationml.tags+xml"/>
  <Override PartName="/ppt/slides/slide3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tags/tag31.xml" ContentType="application/vnd.openxmlformats-officedocument.presentationml.tags+xml"/>
  <Override PartName="/ppt/slideLayouts/slideLayout3.xml" ContentType="application/vnd.openxmlformats-officedocument.presentationml.slideLayout+xml"/>
  <Override PartName="/ppt/slides/slide18.xml" ContentType="application/vnd.openxmlformats-officedocument.presentationml.slide+xml"/>
  <Override PartName="/ppt/tags/tag61.xml" ContentType="application/vnd.openxmlformats-officedocument.presentationml.tags+xml"/>
  <Override PartName="/ppt/tags/tag59.xml" ContentType="application/vnd.openxmlformats-officedocument.presentationml.tags+xml"/>
  <Override PartName="/ppt/tags/tag67.xml" ContentType="application/vnd.openxmlformats-officedocument.presentationml.tags+xml"/>
  <Override PartName="/ppt/tags/tag22.xml" ContentType="application/vnd.openxmlformats-officedocument.presentationml.tags+xml"/>
  <Override PartName="/ppt/tags/tag21.xml" ContentType="application/vnd.openxmlformats-officedocument.presentationml.tags+xml"/>
  <Override PartName="/ppt/tags/tag48.xml" ContentType="application/vnd.openxmlformats-officedocument.presentationml.tags+xml"/>
  <Override PartName="/ppt/tags/tag69.xml" ContentType="application/vnd.openxmlformats-officedocument.presentationml.tags+xml"/>
  <Override PartName="/ppt/tags/tag82.xml" ContentType="application/vnd.openxmlformats-officedocument.presentationml.tags+xml"/>
  <Override PartName="/ppt/tags/tag16.xml" ContentType="application/vnd.openxmlformats-officedocument.presentationml.tags+xml"/>
  <Override PartName="/ppt/tags/tag89.xml" ContentType="application/vnd.openxmlformats-officedocument.presentationml.tags+xml"/>
  <Override PartName="/ppt/tags/tag17.xml" ContentType="application/vnd.openxmlformats-officedocument.presentationml.tags+xml"/>
  <Override PartName="/ppt/tags/tag111.xml" ContentType="application/vnd.openxmlformats-officedocument.presentationml.tags+xml"/>
  <Override PartName="/ppt/slideLayouts/slideLayout11.xml" ContentType="application/vnd.openxmlformats-officedocument.presentationml.slideLayout+xml"/>
  <Override PartName="/ppt/tags/tag39.xml" ContentType="application/vnd.openxmlformats-officedocument.presentationml.tags+xml"/>
  <Override PartName="/ppt/tags/tag113.xml" ContentType="application/vnd.openxmlformats-officedocument.presentationml.tags+xml"/>
  <Override PartName="/ppt/tags/tag57.xml" ContentType="application/vnd.openxmlformats-officedocument.presentationml.tags+xml"/>
  <Override PartName="/ppt/theme/theme1.xml" ContentType="application/vnd.openxmlformats-officedocument.theme+xml"/>
  <Override PartName="/ppt/tags/tag104.xml" ContentType="application/vnd.openxmlformats-officedocument.presentationml.tags+xml"/>
  <Override PartName="/ppt/tags/tag23.xml" ContentType="application/vnd.openxmlformats-officedocument.presentationml.tags+xml"/>
  <Override PartName="/ppt/tags/tag18.xml" ContentType="application/vnd.openxmlformats-officedocument.presentationml.tags+xml"/>
  <Override PartName="/ppt/tags/tag79.xml" ContentType="application/vnd.openxmlformats-officedocument.presentationml.tag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23.xml" ContentType="application/vnd.openxmlformats-officedocument.presentationml.slide+xml"/>
  <Override PartName="/ppt/tags/tag38.xml" ContentType="application/vnd.openxmlformats-officedocument.presentationml.tags+xml"/>
  <Override PartName="/ppt/slides/slide31.xml" ContentType="application/vnd.openxmlformats-officedocument.presentationml.slide+xml"/>
  <Override PartName="/docProps/app.xml" ContentType="application/vnd.openxmlformats-officedocument.extended-properties+xml"/>
  <Override PartName="/ppt/tags/tag66.xml" ContentType="application/vnd.openxmlformats-officedocument.presentationml.tags+xml"/>
  <Override PartName="/ppt/slideLayouts/slideLayout7.xml" ContentType="application/vnd.openxmlformats-officedocument.presentationml.slideLayout+xml"/>
  <Override PartName="/ppt/tags/tag109.xml" ContentType="application/vnd.openxmlformats-officedocument.presentationml.tags+xml"/>
  <Override PartName="/ppt/tags/tag73.xml" ContentType="application/vnd.openxmlformats-officedocument.presentationml.tags+xml"/>
  <Override PartName="/ppt/slides/slide8.xml" ContentType="application/vnd.openxmlformats-officedocument.presentationml.slide+xml"/>
  <Override PartName="/ppt/tags/tag87.xml" ContentType="application/vnd.openxmlformats-officedocument.presentationml.tags+xml"/>
  <Override PartName="/ppt/tags/tag19.xml" ContentType="application/vnd.openxmlformats-officedocument.presentationml.tags+xml"/>
  <Override PartName="/ppt/slideLayouts/slideLayout10.xml" ContentType="application/vnd.openxmlformats-officedocument.presentationml.slideLayout+xml"/>
  <Override PartName="/ppt/tags/tag115.xml" ContentType="application/vnd.openxmlformats-officedocument.presentationml.tags+xml"/>
  <Override PartName="/ppt/tags/tag42.xml" ContentType="application/vnd.openxmlformats-officedocument.presentationml.tags+xml"/>
  <Override PartName="/ppt/tags/tag75.xml" ContentType="application/vnd.openxmlformats-officedocument.presentationml.tags+xml"/>
  <Override PartName="/ppt/slideMasters/slideMaster1.xml" ContentType="application/vnd.openxmlformats-officedocument.presentationml.slideMaster+xml"/>
  <Override PartName="/ppt/presentation.xml" ContentType="application/vnd.openxmlformats-officedocument.presentationml.presentation.main+xml"/>
  <Override PartName="/ppt/slides/slide36.xml" ContentType="application/vnd.openxmlformats-officedocument.presentationml.slide+xml"/>
  <Override PartName="/ppt/tags/tag77.xml" ContentType="application/vnd.openxmlformats-officedocument.presentationml.tags+xml"/>
  <Override PartName="/ppt/tags/tag60.xml" ContentType="application/vnd.openxmlformats-officedocument.presentationml.tags+xml"/>
  <Override PartName="/ppt/tags/tag80.xml" ContentType="application/vnd.openxmlformats-officedocument.presentationml.tags+xml"/>
  <Override PartName="/ppt/tags/tag40.xml" ContentType="application/vnd.openxmlformats-officedocument.presentationml.tags+xml"/>
  <Override PartName="/ppt/tags/tag114.xml" ContentType="application/vnd.openxmlformats-officedocument.presentationml.tags+xml"/>
</Types>
</file>

<file path=_rels/.rels><?xml version="1.0" encoding="UTF-8" standalone="yes"?><Relationships xmlns="http://schemas.openxmlformats.org/package/2006/relationships"><Relationship Id="rId3" Type="http://schemas.openxmlformats.org/officeDocument/2006/relationships/custom-properties" Target="docProps/custom.xml" /><Relationship Id="rId2" Type="http://schemas.openxmlformats.org/officeDocument/2006/relationships/extended-properties" Target="docProps/app.xml" /><Relationship Id="rId1" Type="http://schemas.openxmlformats.org/package/2006/relationships/metadata/core-properties" Target="docProps/core.xml" /><Relationship Id="rId0" Type="http://schemas.openxmlformats.org/officeDocument/2006/relationships/officeDocument" Target="ppt/presentation.xml" /></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39"/>
  </p:notesMasterIdLst>
  <p:sldIdLst>
    <p:sldId id="256" r:id="rId3"/>
    <p:sldId id="257" r:id="rId4"/>
    <p:sldId id="271" r:id="rId5"/>
    <p:sldId id="270" r:id="rId6"/>
    <p:sldId id="272" r:id="rId7"/>
    <p:sldId id="269" r:id="rId8"/>
    <p:sldId id="268" r:id="rId9"/>
    <p:sldId id="267" r:id="rId10"/>
    <p:sldId id="266" r:id="rId11"/>
    <p:sldId id="265" r:id="rId12"/>
    <p:sldId id="264" r:id="rId13"/>
    <p:sldId id="263" r:id="rId14"/>
    <p:sldId id="273" r:id="rId15"/>
    <p:sldId id="262" r:id="rId16"/>
    <p:sldId id="261" r:id="rId17"/>
    <p:sldId id="260" r:id="rId18"/>
    <p:sldId id="259" r:id="rId19"/>
    <p:sldId id="258" r:id="rId20"/>
    <p:sldId id="275" r:id="rId21"/>
    <p:sldId id="274" r:id="rId22"/>
    <p:sldId id="279" r:id="rId23"/>
    <p:sldId id="278" r:id="rId24"/>
    <p:sldId id="281" r:id="rId25"/>
    <p:sldId id="282" r:id="rId26"/>
    <p:sldId id="283" r:id="rId27"/>
    <p:sldId id="289" r:id="rId28"/>
    <p:sldId id="284" r:id="rId29"/>
    <p:sldId id="286" r:id="rId30"/>
    <p:sldId id="290" r:id="rId31"/>
    <p:sldId id="285" r:id="rId32"/>
    <p:sldId id="287" r:id="rId33"/>
    <p:sldId id="293" r:id="rId34"/>
    <p:sldId id="294" r:id="rId35"/>
    <p:sldId id="291" r:id="rId36"/>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7" userDrawn="1">
          <p15:clr>
            <a:srgbClr val="A4A3A4"/>
          </p15:clr>
        </p15:guide>
        <p15:guide id="2" pos="385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杜永波" initials="" lastIdx="4" clrIdx="0"/>
  <p:cmAuthor id="43" name="seewo" initials="s" lastIdx="0" clrIdx="42"/>
  <p:cmAuthor id="1" name="作者" initials="作" lastIdx="0" clrIdx="1"/>
  <p:cmAuthor id="44" name="jinjuan" initials="j" lastIdx="0" clrIdx="43"/>
  <p:cmAuthor id="2" name="Administrator" initials="A" lastIdx="2" clrIdx="1"/>
  <p:cmAuthor id="45" name="86187" initials="8" lastIdx="0" clrIdx="44"/>
  <p:cmAuthor id="3" name="Pueschner, Franziska {FA~Shanghai}" initials="P" lastIdx="0" clrIdx="0"/>
  <p:cmAuthor id="46" name="纪小欢" initials="纪" lastIdx="0" clrIdx="45"/>
  <p:cmAuthor id="4" name="宋洁然" initials="宋" lastIdx="0" clrIdx="1"/>
  <p:cmAuthor id="47" name="钱小琳" initials="钱" lastIdx="0" clrIdx="46"/>
  <p:cmAuthor id="5" name="wz" initials="w" lastIdx="0" clrIdx="0"/>
  <p:cmAuthor id="6" name="LJH" initials="L" lastIdx="0" clrIdx="0"/>
  <p:cmAuthor id="7" name="ming qiu" initials="m" lastIdx="0" clrIdx="1"/>
  <p:cmAuthor id="8" name="dongyu" initials="d" lastIdx="0" clrIdx="8"/>
  <p:cmAuthor id="9" name="win" initials="w" lastIdx="0" clrIdx="0"/>
  <p:cmAuthor id="10" name="姜伟光" initials="姜" lastIdx="0" clrIdx="0"/>
  <p:cmAuthor id="476406771" name="等等。。" initials="等" lastIdx="2" clrIdx="38"/>
  <p:cmAuthor id="11" name="Mia Vida Villanueva" initials="M" lastIdx="0" clrIdx="0"/>
  <p:cmAuthor id="12" name="Lenovo" initials="L" lastIdx="0" clrIdx="11"/>
  <p:cmAuthor id="13" name="26291" initials="2" lastIdx="0" clrIdx="12"/>
  <p:cmAuthor id="14" name="coocaa" initials="c" lastIdx="0" clrIdx="13"/>
  <p:cmAuthor id="15" name="Vivian Liu" initials="" lastIdx="0" clrIdx="1"/>
  <p:cmAuthor id="16" name="张洁" initials="张洁" lastIdx="1" clrIdx="15"/>
  <p:cmAuthor id="17" name="孙宇婷" initials="" lastIdx="0" clrIdx="21"/>
  <p:cmAuthor id="18" name="86137" initials="" lastIdx="0" clrIdx="10"/>
  <p:cmAuthor id="19" name="Windows 用户" initials="" lastIdx="0" clrIdx="0"/>
  <p:cmAuthor id="20" name="ASUS" initials="" lastIdx="0" clrIdx="0"/>
  <p:cmAuthor id="21" name="li marry" initials="" lastIdx="0" clrIdx="0"/>
  <p:cmAuthor id="22" name="84046" initials="8" lastIdx="0" clrIdx="21"/>
  <p:cmAuthor id="2000" name="孔艳萍" initials="authorId_621919196" lastIdx="0" clrIdx="0"/>
  <p:cmAuthor id="23" name="xj" initials="" lastIdx="0" clrIdx="23"/>
  <p:cmAuthor id="2001" name="Dino._6ZFrB7nA" initials="authorId_1257418890" lastIdx="0" clrIdx="1"/>
  <p:cmAuthor id="24" name="古" initials="" lastIdx="0" clrIdx="24"/>
  <p:cmAuthor id="25" name="李彦利" initials="" lastIdx="0" clrIdx="25"/>
  <p:cmAuthor id="49837068" name="周 道" initials="周" lastIdx="0" clrIdx="25"/>
  <p:cmAuthor id="26" name="刘刘" initials="" lastIdx="0" clrIdx="20"/>
  <p:cmAuthor id="264508205" name="子衿" initials="子" lastIdx="1" clrIdx="1"/>
  <p:cmAuthor id="27" name="86136" initials="8" lastIdx="0" clrIdx="26"/>
  <p:cmAuthor id="28" name="nijingen" initials="n" lastIdx="0" clrIdx="27"/>
  <p:cmAuthor id="29" name="86151" initials="8" lastIdx="0" clrIdx="28"/>
  <p:cmAuthor id="30" name="yisimin" initials="y" lastIdx="0" clrIdx="29"/>
  <p:cmAuthor id="31" name="未知用户1" initials="未" lastIdx="0" clrIdx="22"/>
  <p:cmAuthor id="32" name="陈庆" initials="陈" lastIdx="0" clrIdx="31"/>
  <p:cmAuthor id="75" name="未知用户2" initials="未知用户2" lastIdx="0" clrIdx="41"/>
  <p:cmAuthor id="76" name="叶 思冰" initials="叶" lastIdx="0" clrIdx="25"/>
  <p:cmAuthor id="33" name="86138" initials="8" lastIdx="0" clrIdx="33"/>
  <p:cmAuthor id="77" name="雨昕" initials="雨" lastIdx="0" clrIdx="26"/>
  <p:cmAuthor id="34" name="a'su's" initials="a" lastIdx="0" clrIdx="33"/>
  <p:cmAuthor id="35" name="陈芳" initials="" lastIdx="0" clrIdx="35"/>
  <p:cmAuthor id="37" name="DELL" initials="" lastIdx="0" clrIdx="25"/>
  <p:cmAuthor id="38" name="NFB" initials="N" lastIdx="0" clrIdx="14"/>
  <p:cmAuthor id="39" name="可飞 孙" initials="可飞" lastIdx="0" clrIdx="28"/>
  <p:cmAuthor id="40" name="lishanghe" initials="l" lastIdx="0" clrIdx="39"/>
  <p:cmAuthor id="41" name="EXX008" initials="E" lastIdx="0" clrIdx="40"/>
  <p:cmAuthor id="42" name="1" initials="1" lastIdx="0" clrIdx="41"/>
  <p:cmAuthor id="209535715" name="代超" initials="代" lastIdx="1" clrIdx="48"/>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17"/>
        <p:guide pos="385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Relationships xmlns="http://schemas.openxmlformats.org/package/2006/relationships"><Relationship Id="rId39" Type="http://schemas.openxmlformats.org/officeDocument/2006/relationships/notesMaster" Target="notesMasters/notesMaster1.xml" /><Relationship Id="rId34" Type="http://schemas.openxmlformats.org/officeDocument/2006/relationships/slide" Target="slides/slide32.xml" /><Relationship Id="rId28" Type="http://schemas.openxmlformats.org/officeDocument/2006/relationships/slide" Target="slides/slide26.xml" /><Relationship Id="rId27" Type="http://schemas.openxmlformats.org/officeDocument/2006/relationships/slide" Target="slides/slide25.xml" /><Relationship Id="rId26" Type="http://schemas.openxmlformats.org/officeDocument/2006/relationships/slide" Target="slides/slide24.xml" /><Relationship Id="rId44" Type="http://schemas.openxmlformats.org/officeDocument/2006/relationships/tableStyles" Target="tableStyles.xml" /><Relationship Id="rId20" Type="http://schemas.openxmlformats.org/officeDocument/2006/relationships/slide" Target="slides/slide18.xml" /><Relationship Id="rId7" Type="http://schemas.openxmlformats.org/officeDocument/2006/relationships/slide" Target="slides/slide5.xml" /><Relationship Id="rId14" Type="http://schemas.openxmlformats.org/officeDocument/2006/relationships/slide" Target="slides/slide12.xml" /><Relationship Id="rId22" Type="http://schemas.openxmlformats.org/officeDocument/2006/relationships/slide" Target="slides/slide20.xml" /><Relationship Id="rId24" Type="http://schemas.openxmlformats.org/officeDocument/2006/relationships/slide" Target="slides/slide22.xml" /><Relationship Id="rId13" Type="http://schemas.openxmlformats.org/officeDocument/2006/relationships/slide" Target="slides/slide11.xml" /><Relationship Id="rId30" Type="http://schemas.openxmlformats.org/officeDocument/2006/relationships/slide" Target="slides/slide28.xml" /><Relationship Id="rId12" Type="http://schemas.openxmlformats.org/officeDocument/2006/relationships/slide" Target="slides/slide10.xml" /><Relationship Id="rId15" Type="http://schemas.openxmlformats.org/officeDocument/2006/relationships/slide" Target="slides/slide13.xml" /><Relationship Id="rId1" Type="http://schemas.openxmlformats.org/officeDocument/2006/relationships/slideMaster" Target="slideMasters/slideMaster1.xml" /><Relationship Id="rId6" Type="http://schemas.openxmlformats.org/officeDocument/2006/relationships/slide" Target="slides/slide4.xml" /><Relationship Id="rId10" Type="http://schemas.openxmlformats.org/officeDocument/2006/relationships/slide" Target="slides/slide8.xml" /><Relationship Id="rId11" Type="http://schemas.openxmlformats.org/officeDocument/2006/relationships/slide" Target="slides/slide9.xml" /><Relationship Id="rId33" Type="http://schemas.openxmlformats.org/officeDocument/2006/relationships/slide" Target="slides/slide31.xml" /><Relationship Id="rId31" Type="http://schemas.openxmlformats.org/officeDocument/2006/relationships/slide" Target="slides/slide29.xml" /><Relationship Id="rId23" Type="http://schemas.openxmlformats.org/officeDocument/2006/relationships/slide" Target="slides/slide21.xml" /><Relationship Id="rId5" Type="http://schemas.openxmlformats.org/officeDocument/2006/relationships/slide" Target="slides/slide3.xml" /><Relationship Id="rId43" Type="http://schemas.openxmlformats.org/officeDocument/2006/relationships/viewProps" Target="viewProps.xml" /><Relationship Id="rId32" Type="http://schemas.openxmlformats.org/officeDocument/2006/relationships/slide" Target="slides/slide30.xml" /><Relationship Id="rId16" Type="http://schemas.openxmlformats.org/officeDocument/2006/relationships/slide" Target="slides/slide14.xml" /><Relationship Id="rId25" Type="http://schemas.openxmlformats.org/officeDocument/2006/relationships/slide" Target="slides/slide23.xml" /><Relationship Id="rId3" Type="http://schemas.openxmlformats.org/officeDocument/2006/relationships/slide" Target="slides/slide1.xml" /><Relationship Id="rId36" Type="http://schemas.openxmlformats.org/officeDocument/2006/relationships/slide" Target="slides/slide34.xml" /><Relationship Id="rId4" Type="http://schemas.openxmlformats.org/officeDocument/2006/relationships/slide" Target="slides/slide2.xml" /><Relationship Id="rId46" Type="http://schemas.openxmlformats.org/officeDocument/2006/relationships/tags" Target="tags/tag118.xml" /><Relationship Id="rId45" Type="http://schemas.openxmlformats.org/officeDocument/2006/relationships/commentAuthors" Target="commentAuthors.xml" /><Relationship Id="rId8" Type="http://schemas.openxmlformats.org/officeDocument/2006/relationships/slide" Target="slides/slide6.xml" /><Relationship Id="rId42" Type="http://schemas.openxmlformats.org/officeDocument/2006/relationships/presProps" Target="presProps.xml" /><Relationship Id="rId21" Type="http://schemas.openxmlformats.org/officeDocument/2006/relationships/slide" Target="slides/slide19.xml" /><Relationship Id="rId19" Type="http://schemas.openxmlformats.org/officeDocument/2006/relationships/slide" Target="slides/slide17.xml" /><Relationship Id="rId35" Type="http://schemas.openxmlformats.org/officeDocument/2006/relationships/slide" Target="slides/slide33.xml" /><Relationship Id="rId29" Type="http://schemas.openxmlformats.org/officeDocument/2006/relationships/slide" Target="slides/slide27.xml" /><Relationship Id="rId18" Type="http://schemas.openxmlformats.org/officeDocument/2006/relationships/slide" Target="slides/slide16.xml" /><Relationship Id="rId9" Type="http://schemas.openxmlformats.org/officeDocument/2006/relationships/slide" Target="slides/slide7.xml" /><Relationship Id="rId2" Type="http://schemas.openxmlformats.org/officeDocument/2006/relationships/theme" Target="theme/theme1.xml" /><Relationship Id="rId17" Type="http://schemas.openxmlformats.org/officeDocument/2006/relationships/slide" Target="slides/slide15.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34" Type="http://schemas.openxmlformats.org/officeDocument/2006/relationships/slide" Target="../slides/slide36.xml" /><Relationship Id="rId2" Type="http://schemas.openxmlformats.org/officeDocument/2006/relationships/notesMaster" Target="../notesMasters/notesMaster1.xml" /></Relationships>
</file>

<file path=ppt/notesSlides/notesSlide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幻灯片图像占位符 1"/>
          <p:cNvSpPr/>
          <p:nvPr>
            <p:ph type="sldImg"/>
          </p:nvPr>
        </p:nvSpPr>
        <p:spPr/>
      </p:sp>
      <p:sp>
        <p:nvSpPr>
          <p:cNvPr id="3" name="备注占位符 2"/>
          <p:cNvSpPr/>
          <p:nvPr>
            <p:ph type="body" idx="1"/>
          </p:nvPr>
        </p:nvSpPr>
        <p:spPr/>
        <p:txBody>
          <a:bodyPr/>
          <a:lstStyle/>
          <a:p>
            <a:pPr/>
            <a:r>
              <a:rPr altLang="en-US" dirty="0" lang="zh-CN" b="0" i="0">
                <a:solidFill>
                  <a:srgbClr val="333333"/>
                </a:solidFill>
                <a:effectLst/>
                <a:ea typeface="宋体" panose="02010600030101010101" pitchFamily="2" charset="-122"/>
                <a:latin typeface="宋体" panose="02010600030101010101" pitchFamily="2" charset="-122"/>
              </a:rPr>
              <a:t>先进性是马克思主义政党的本质属性</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是马克思主义政党的生命所系、力量所在。无论是党的整体</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还是党的成员</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在自身素质、思想觉悟、政治行为等方面</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都应该具有先进性</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1" i="0">
                <a:solidFill>
                  <a:srgbClr val="333333"/>
                </a:solidFill>
                <a:effectLst/>
                <a:ea typeface="宋体" panose="02010600030101010101" pitchFamily="2" charset="-122"/>
                <a:latin typeface="宋体" panose="02010600030101010101" pitchFamily="2" charset="-122"/>
              </a:rPr>
              <a:t>始终走在时代前列</a:t>
            </a:r>
            <a:r>
              <a:rPr altLang="zh-CN" dirty="0" lang="en-US" b="1" i="0">
                <a:solidFill>
                  <a:srgbClr val="333333"/>
                </a:solidFill>
                <a:effectLst/>
                <a:ea typeface="宋体" panose="02010600030101010101" pitchFamily="2" charset="-122"/>
                <a:latin typeface="宋体" panose="02010600030101010101" pitchFamily="2" charset="-122"/>
              </a:rPr>
              <a:t>,</a:t>
            </a:r>
            <a:r>
              <a:rPr altLang="en-US" dirty="0" lang="zh-CN" b="1" i="0">
                <a:solidFill>
                  <a:srgbClr val="333333"/>
                </a:solidFill>
                <a:effectLst/>
                <a:ea typeface="宋体" panose="02010600030101010101" pitchFamily="2" charset="-122"/>
                <a:latin typeface="宋体" panose="02010600030101010101" pitchFamily="2" charset="-122"/>
              </a:rPr>
              <a:t>始终走在人民前列</a:t>
            </a:r>
            <a:r>
              <a:rPr altLang="zh-CN" dirty="0" lang="en-US" b="1" i="0">
                <a:solidFill>
                  <a:srgbClr val="333333"/>
                </a:solidFill>
                <a:effectLst/>
                <a:ea typeface="宋体" panose="02010600030101010101" pitchFamily="2" charset="-122"/>
                <a:latin typeface="宋体" panose="02010600030101010101" pitchFamily="2" charset="-122"/>
              </a:rPr>
              <a:t>,</a:t>
            </a:r>
            <a:r>
              <a:rPr altLang="en-US" dirty="0" lang="zh-CN" b="1" i="0">
                <a:solidFill>
                  <a:srgbClr val="333333"/>
                </a:solidFill>
                <a:effectLst/>
                <a:ea typeface="宋体" panose="02010600030101010101" pitchFamily="2" charset="-122"/>
                <a:latin typeface="宋体" panose="02010600030101010101" pitchFamily="2" charset="-122"/>
              </a:rPr>
              <a:t>充分发挥其先导、先锋、模范和榜样的作用。</a:t>
            </a:r>
            <a:endParaRPr altLang="zh-CN" dirty="0" lang="en-US" b="1"/>
          </a:p>
          <a:p>
            <a:pPr/>
            <a:endParaRPr altLang="zh-CN" dirty="0" lang="en-US"/>
          </a:p>
          <a:p>
            <a:pPr/>
            <a:r>
              <a:rPr altLang="en-US" dirty="0" lang="zh-CN"/>
              <a:t>政党是特定阶级或阶层利益的集中代表</a:t>
            </a:r>
            <a:r>
              <a:rPr altLang="zh-CN" dirty="0" lang="en-US"/>
              <a:t>,</a:t>
            </a:r>
            <a:r>
              <a:rPr altLang="en-US" dirty="0" lang="zh-CN"/>
              <a:t>是由特定阶级的骨干分子在共同政治纲领的指引下</a:t>
            </a:r>
            <a:r>
              <a:rPr altLang="zh-CN" dirty="0" lang="en-US"/>
              <a:t>,</a:t>
            </a:r>
            <a:r>
              <a:rPr altLang="en-US" dirty="0" lang="zh-CN"/>
              <a:t>为谋取和巩固政权</a:t>
            </a:r>
            <a:endParaRPr altLang="zh-CN" dirty="0" lang="en-US"/>
          </a:p>
          <a:p>
            <a:pPr/>
            <a:r>
              <a:rPr altLang="en-US" dirty="0" lang="zh-CN"/>
              <a:t>党的先进性来源于党的阶级基础的先进性，工人阶级最远大前途的阶级，是最大公无私的阶级，</a:t>
            </a:r>
            <a:endParaRPr altLang="zh-CN" dirty="0" lang="en-US"/>
          </a:p>
          <a:p>
            <a:pPr/>
            <a:r>
              <a:rPr altLang="en-US" dirty="0" lang="zh-CN"/>
              <a:t>人民是历史的创造者，中国共产党的宗旨是全心全意为人民，中国共产党倾听人民的呼声，汲取人民的智慧，就能保障自己正确的历史方向，</a:t>
            </a:r>
            <a:endParaRPr altLang="zh-CN" dirty="0" lang="en-US"/>
          </a:p>
          <a:p>
            <a:pPr/>
            <a:endParaRPr altLang="zh-CN" dirty="0" lang="en-US"/>
          </a:p>
          <a:p>
            <a:pPr marL="0" marR="0" indent="0" lvl="0" algn="l" defTabSz="914400" rtl="0" eaLnBrk="1" latinLnBrk="0" hangingPunct="1" fontAlgn="auto">
              <a:lnSpc>
                <a:spcPct val="100000"/>
              </a:lnSpc>
              <a:spcBef>
                <a:spcPts val="0"/>
              </a:spcBef>
              <a:spcAft>
                <a:spcPts val="0"/>
              </a:spcAft>
              <a:buNone/>
              <a:defRPr/>
            </a:pPr>
            <a:r>
              <a:rPr altLang="en-US" dirty="0" lang="zh-CN" b="0" i="0">
                <a:solidFill>
                  <a:srgbClr val="333333"/>
                </a:solidFill>
                <a:effectLst/>
                <a:ea typeface="宋体" panose="02010600030101010101" pitchFamily="2" charset="-122"/>
                <a:latin typeface="宋体" panose="02010600030101010101" pitchFamily="2" charset="-122"/>
              </a:rPr>
              <a:t>中国共产党为什么能，中国特色社会主义为什么好，归根到底是因为马克思主义行     </a:t>
            </a:r>
            <a:r>
              <a:rPr altLang="en-US" dirty="0" lang="zh-CN" b="0" i="0">
                <a:solidFill>
                  <a:srgbClr val="262626"/>
                </a:solidFill>
                <a:effectLst/>
                <a:ea typeface="微软雅黑" panose="020B0503020204020204" charset="-122"/>
                <a:latin typeface="微软雅黑" panose="020B0503020204020204" charset="-122"/>
              </a:rPr>
              <a:t>马克思主义是我们立党立国的根本指导思想，是我们党的灵魂和旗帜。但马克思主义理论不是教条而是行动指南，必须随着实践发展而发展，必须中国化才能落地生根、本土化才能深入人心。纵览党的百年历史，我们党之所以能够领导人民在一次次艰辛求索、一次次战胜挫折、一次次开拓前进中完成中国其他政治力量不可能完成的艰巨任务，根本就在于始终坚持把马克思主义基本原理同中国具体实际相结合、同中华优秀传统文化相结合，不断推进马克思主义中国化时代化。</a:t>
            </a:r>
            <a:endParaRPr altLang="en-US" dirty="0" lang="zh-CN"/>
          </a:p>
          <a:p>
            <a:pPr/>
            <a:endParaRPr altLang="zh-CN" dirty="0" lang="en-US" b="0" i="0">
              <a:solidFill>
                <a:srgbClr val="333333"/>
              </a:solidFill>
              <a:effectLst/>
              <a:ea typeface="宋体" panose="02010600030101010101" pitchFamily="2" charset="-122"/>
              <a:latin typeface="宋体" panose="02010600030101010101" pitchFamily="2" charset="-122"/>
            </a:endParaRPr>
          </a:p>
          <a:p>
            <a:pPr/>
            <a:r>
              <a:rPr altLang="en-US" dirty="0" lang="zh-CN" b="0" i="0">
                <a:solidFill>
                  <a:srgbClr val="333333"/>
                </a:solidFill>
                <a:effectLst/>
                <a:ea typeface="宋体" panose="02010600030101010101" pitchFamily="2" charset="-122"/>
                <a:latin typeface="宋体" panose="02010600030101010101" pitchFamily="2" charset="-122"/>
              </a:rPr>
              <a:t>党走在时代前列必须积极进取</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开拓创新</a:t>
            </a:r>
            <a:endParaRPr altLang="zh-CN" dirty="0" lang="en-US" b="0" i="0">
              <a:solidFill>
                <a:srgbClr val="333333"/>
              </a:solidFill>
              <a:effectLst/>
              <a:ea typeface="宋体" panose="02010600030101010101" pitchFamily="2" charset="-122"/>
              <a:latin typeface="宋体" panose="02010600030101010101" pitchFamily="2" charset="-122"/>
            </a:endParaRPr>
          </a:p>
          <a:p>
            <a:pPr/>
            <a:endParaRPr altLang="zh-CN" dirty="0" lang="en-US" b="0" i="0">
              <a:solidFill>
                <a:srgbClr val="333333"/>
              </a:solidFill>
              <a:effectLst/>
              <a:ea typeface="宋体" panose="02010600030101010101" pitchFamily="2" charset="-122"/>
              <a:latin typeface="宋体" panose="02010600030101010101" pitchFamily="2" charset="-122"/>
            </a:endParaRPr>
          </a:p>
          <a:p>
            <a:pPr/>
            <a:r>
              <a:rPr altLang="en-US" dirty="0" lang="zh-CN" b="0" i="0">
                <a:solidFill>
                  <a:srgbClr val="333333"/>
                </a:solidFill>
                <a:effectLst/>
                <a:ea typeface="宋体" panose="02010600030101010101" pitchFamily="2" charset="-122"/>
                <a:latin typeface="宋体" panose="02010600030101010101" pitchFamily="2" charset="-122"/>
              </a:rPr>
              <a:t>党的先进性是具体的</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而不是抽象的</a:t>
            </a:r>
            <a:endParaRPr altLang="zh-CN" dirty="0" lang="en-US" b="0" i="0">
              <a:solidFill>
                <a:srgbClr val="333333"/>
              </a:solidFill>
              <a:effectLst/>
              <a:ea typeface="宋体" panose="02010600030101010101" pitchFamily="2" charset="-122"/>
              <a:latin typeface="宋体" panose="02010600030101010101" pitchFamily="2" charset="-122"/>
            </a:endParaRPr>
          </a:p>
          <a:p>
            <a:pPr/>
            <a:endParaRPr altLang="zh-CN" dirty="0" lang="en-US" b="0" i="0">
              <a:solidFill>
                <a:srgbClr val="333333"/>
              </a:solidFill>
              <a:effectLst/>
              <a:ea typeface="宋体" panose="02010600030101010101" pitchFamily="2" charset="-122"/>
              <a:latin typeface="宋体" panose="02010600030101010101" pitchFamily="2" charset="-122"/>
            </a:endParaRPr>
          </a:p>
          <a:p>
            <a:pPr marL="0" marR="0" indent="0" lvl="0" algn="l" defTabSz="914400" rtl="0" eaLnBrk="1" latinLnBrk="0" hangingPunct="1" fontAlgn="auto">
              <a:lnSpc>
                <a:spcPct val="100000"/>
              </a:lnSpc>
              <a:spcBef>
                <a:spcPts val="0"/>
              </a:spcBef>
              <a:spcAft>
                <a:spcPts val="0"/>
              </a:spcAft>
              <a:buNone/>
              <a:defRPr/>
            </a:pPr>
            <a:r>
              <a:rPr altLang="en-US" dirty="0" lang="zh-CN" b="0" i="0">
                <a:solidFill>
                  <a:srgbClr val="333333"/>
                </a:solidFill>
                <a:effectLst/>
                <a:ea typeface="宋体" panose="02010600030101010101" pitchFamily="2" charset="-122"/>
                <a:latin typeface="宋体" panose="02010600030101010101" pitchFamily="2" charset="-122"/>
              </a:rPr>
              <a:t>党的先进性和执政地位都不是一劳永逸、一成不变的</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过去先进不等于现在先进</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现在先进不等于永远先进</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过去拥有不等于现在拥有</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现在拥有不等于永远拥有党要保持先进性</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就必须与时俱进</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始终站在时代的前列</a:t>
            </a:r>
            <a:r>
              <a:rPr altLang="zh-CN" dirty="0" lang="en-US" b="0" i="0">
                <a:solidFill>
                  <a:srgbClr val="333333"/>
                </a:solidFill>
                <a:effectLst/>
                <a:ea typeface="宋体" panose="02010600030101010101" pitchFamily="2" charset="-122"/>
                <a:latin typeface="宋体" panose="02010600030101010101" pitchFamily="2" charset="-122"/>
              </a:rPr>
              <a:t>,</a:t>
            </a:r>
            <a:r>
              <a:rPr altLang="en-US" dirty="0" lang="zh-CN" b="0" i="0">
                <a:solidFill>
                  <a:srgbClr val="333333"/>
                </a:solidFill>
                <a:effectLst/>
                <a:ea typeface="宋体" panose="02010600030101010101" pitchFamily="2" charset="-122"/>
                <a:latin typeface="宋体" panose="02010600030101010101" pitchFamily="2" charset="-122"/>
              </a:rPr>
              <a:t>不断提高执政能力和执政成效。</a:t>
            </a:r>
            <a:endParaRPr altLang="zh-CN" dirty="0" lang="en-US" b="0" i="0">
              <a:solidFill>
                <a:srgbClr val="333333"/>
              </a:solidFill>
              <a:effectLst/>
              <a:ea typeface="宋体" panose="02010600030101010101" pitchFamily="2" charset="-122"/>
              <a:latin typeface="宋体" panose="02010600030101010101" pitchFamily="2" charset="-122"/>
            </a:endParaRPr>
          </a:p>
        </p:txBody>
      </p:sp>
      <p:sp>
        <p:nvSpPr>
          <p:cNvPr id="4" name="灯片编号占位符 3"/>
          <p:cNvSpPr/>
          <p:nvPr>
            <p:ph type="sldNum" idx="5"/>
          </p:nvPr>
        </p:nvSpPr>
        <p:spPr/>
        <p:txBody>
          <a:bodyPr/>
          <a:lstStyle/>
          <a:p>
            <a:pPr marL="0" marR="0" indent="0" lvl="0" algn="r" defTabSz="914400" rtl="0" eaLnBrk="1" latinLnBrk="0" hangingPunct="1" fontAlgn="auto">
              <a:lnSpc>
                <a:spcPct val="100000"/>
              </a:lnSpc>
              <a:spcBef>
                <a:spcPts val="0"/>
              </a:spcBef>
              <a:spcAft>
                <a:spcPts val="0"/>
              </a:spcAft>
              <a:buNone/>
              <a:defRPr/>
            </a:pPr>
            <a:fld id="{B7DBC9C7-E9B4-458D-894D-478B2ACB440F}" type="slidenum">
              <a:rPr altLang="en-US" kern="1200" kumimoji="0" lang="zh-CN" normalizeH="0" smtClean="0" b="0" cap="none" i="0" noProof="0" spc="0" strike="noStrike" sz="1200" u="none">
                <a:ln>
                  <a:noFill/>
                </a:ln>
                <a:solidFill>
                  <a:prstClr val="black"/>
                </a:solidFill>
                <a:effectLst/>
                <a:uLnTx/>
                <a:uFillTx/>
                <a:cs typeface="+mn-cs"/>
                <a:ea typeface="等线" panose="02010600030101010101" charset="-122"/>
                <a:latin typeface="等线" panose="02010600030101010101" charset="-122"/>
              </a:rPr>
              <a:t/>
            </a:fld>
            <a:endParaRPr altLang="en-US" kern="1200" kumimoji="0" lang="zh-CN" normalizeH="0" b="0" cap="none" i="0" noProof="0" spc="0" strike="noStrike" sz="1200" u="none">
              <a:ln>
                <a:noFill/>
              </a:ln>
              <a:solidFill>
                <a:prstClr val="black"/>
              </a:solidFill>
              <a:effectLst/>
              <a:uLnTx/>
              <a:uFillTx/>
              <a:cs typeface="+mn-cs"/>
              <a:ea typeface="等线" panose="02010600030101010101" charset="-122"/>
              <a:latin typeface="等线" panose="02010600030101010101" charset="-122"/>
            </a:endParaRPr>
          </a:p>
        </p:txBody>
      </p:sp>
    </p:spTree>
  </p:cSld>
</p:notes>
</file>

<file path=ppt/slideLayouts/_rels/slideLayout1.xml.rels><?xml version="1.0" encoding="UTF-8" standalone="yes"?><Relationships xmlns="http://schemas.openxmlformats.org/package/2006/relationships"><Relationship Id="rId4" Type="http://schemas.openxmlformats.org/officeDocument/2006/relationships/tags" Target="../tags/tag3.xml" /><Relationship Id="rId6" Type="http://schemas.openxmlformats.org/officeDocument/2006/relationships/tags" Target="../tags/tag5.xml" /><Relationship Id="rId3" Type="http://schemas.openxmlformats.org/officeDocument/2006/relationships/tags" Target="../tags/tag2.xml" /><Relationship Id="rId2" Type="http://schemas.openxmlformats.org/officeDocument/2006/relationships/tags" Target="../tags/tag1.xml" /><Relationship Id="rId5" Type="http://schemas.openxmlformats.org/officeDocument/2006/relationships/tags" Target="../tags/tag4.xml" /><Relationship Id="rId1"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6" Type="http://schemas.openxmlformats.org/officeDocument/2006/relationships/tags" Target="../tags/tag10.xml" /><Relationship Id="rId5" Type="http://schemas.openxmlformats.org/officeDocument/2006/relationships/tags" Target="../tags/tag9.xml" /><Relationship Id="rId4" Type="http://schemas.openxmlformats.org/officeDocument/2006/relationships/tags" Target="../tags/tag8.xml" /><Relationship Id="rId3" Type="http://schemas.openxmlformats.org/officeDocument/2006/relationships/tags" Target="../tags/tag7.xml" /><Relationship Id="rId2" Type="http://schemas.openxmlformats.org/officeDocument/2006/relationships/tags" Target="../tags/tag6.xml" /><Relationship Id="rId1"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5" Type="http://schemas.openxmlformats.org/officeDocument/2006/relationships/tags" Target="../tags/tag14.xml" /><Relationship Id="rId6" Type="http://schemas.openxmlformats.org/officeDocument/2006/relationships/tags" Target="../tags/tag15.xml" /><Relationship Id="rId4" Type="http://schemas.openxmlformats.org/officeDocument/2006/relationships/tags" Target="../tags/tag13.xml" /><Relationship Id="rId3" Type="http://schemas.openxmlformats.org/officeDocument/2006/relationships/tags" Target="../tags/tag12.xml" /><Relationship Id="rId2" Type="http://schemas.openxmlformats.org/officeDocument/2006/relationships/tags" Target="../tags/tag11.xml" /><Relationship Id="rId1"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6" Type="http://schemas.openxmlformats.org/officeDocument/2006/relationships/tags" Target="../tags/tag20.xml" /><Relationship Id="rId4" Type="http://schemas.openxmlformats.org/officeDocument/2006/relationships/tags" Target="../tags/tag18.xml" /><Relationship Id="rId3" Type="http://schemas.openxmlformats.org/officeDocument/2006/relationships/tags" Target="../tags/tag17.xml" /><Relationship Id="rId7" Type="http://schemas.openxmlformats.org/officeDocument/2006/relationships/tags" Target="../tags/tag21.xml" /><Relationship Id="rId5" Type="http://schemas.openxmlformats.org/officeDocument/2006/relationships/tags" Target="../tags/tag19.xml" /><Relationship Id="rId2" Type="http://schemas.openxmlformats.org/officeDocument/2006/relationships/tags" Target="../tags/tag16.xml" /><Relationship Id="rId1"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8" Type="http://schemas.openxmlformats.org/officeDocument/2006/relationships/tags" Target="../tags/tag28.xml" /><Relationship Id="rId9" Type="http://schemas.openxmlformats.org/officeDocument/2006/relationships/tags" Target="../tags/tag29.xml" /><Relationship Id="rId7" Type="http://schemas.openxmlformats.org/officeDocument/2006/relationships/tags" Target="../tags/tag27.xml" /><Relationship Id="rId4" Type="http://schemas.openxmlformats.org/officeDocument/2006/relationships/tags" Target="../tags/tag24.xml" /><Relationship Id="rId2" Type="http://schemas.openxmlformats.org/officeDocument/2006/relationships/tags" Target="../tags/tag22.xml" /><Relationship Id="rId5" Type="http://schemas.openxmlformats.org/officeDocument/2006/relationships/tags" Target="../tags/tag25.xml" /><Relationship Id="rId6" Type="http://schemas.openxmlformats.org/officeDocument/2006/relationships/tags" Target="../tags/tag26.xml" /><Relationship Id="rId3" Type="http://schemas.openxmlformats.org/officeDocument/2006/relationships/tags" Target="../tags/tag23.xml" /><Relationship Id="rId1"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5" Type="http://schemas.openxmlformats.org/officeDocument/2006/relationships/tags" Target="../tags/tag33.xml" /><Relationship Id="rId4" Type="http://schemas.openxmlformats.org/officeDocument/2006/relationships/tags" Target="../tags/tag32.xml" /><Relationship Id="rId3" Type="http://schemas.openxmlformats.org/officeDocument/2006/relationships/tags" Target="../tags/tag31.xml" /><Relationship Id="rId2" Type="http://schemas.openxmlformats.org/officeDocument/2006/relationships/tags" Target="../tags/tag30.xml" /><Relationship Id="rId1"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3" Type="http://schemas.openxmlformats.org/officeDocument/2006/relationships/tags" Target="../tags/tag35.xml" /><Relationship Id="rId4" Type="http://schemas.openxmlformats.org/officeDocument/2006/relationships/tags" Target="../tags/tag36.xml" /><Relationship Id="rId2" Type="http://schemas.openxmlformats.org/officeDocument/2006/relationships/tags" Target="../tags/tag34.xml" /><Relationship Id="rId1"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7" Type="http://schemas.openxmlformats.org/officeDocument/2006/relationships/tags" Target="../tags/tag42.xml" /><Relationship Id="rId6" Type="http://schemas.openxmlformats.org/officeDocument/2006/relationships/tags" Target="../tags/tag41.xml" /><Relationship Id="rId5" Type="http://schemas.openxmlformats.org/officeDocument/2006/relationships/tags" Target="../tags/tag40.xml" /><Relationship Id="rId4" Type="http://schemas.openxmlformats.org/officeDocument/2006/relationships/tags" Target="../tags/tag39.xml" /><Relationship Id="rId3" Type="http://schemas.openxmlformats.org/officeDocument/2006/relationships/tags" Target="../tags/tag38.xml" /><Relationship Id="rId2" Type="http://schemas.openxmlformats.org/officeDocument/2006/relationships/tags" Target="../tags/tag37.xml" /><Relationship Id="rId1"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6" Type="http://schemas.openxmlformats.org/officeDocument/2006/relationships/tags" Target="../tags/tag47.xml" /><Relationship Id="rId5" Type="http://schemas.openxmlformats.org/officeDocument/2006/relationships/tags" Target="../tags/tag46.xml" /><Relationship Id="rId4" Type="http://schemas.openxmlformats.org/officeDocument/2006/relationships/tags" Target="../tags/tag45.xml" /><Relationship Id="rId3" Type="http://schemas.openxmlformats.org/officeDocument/2006/relationships/tags" Target="../tags/tag44.xml" /><Relationship Id="rId2" Type="http://schemas.openxmlformats.org/officeDocument/2006/relationships/tags" Target="../tags/tag43.xml" /><Relationship Id="rId1"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5" Type="http://schemas.openxmlformats.org/officeDocument/2006/relationships/tags" Target="../tags/tag51.xml" /><Relationship Id="rId4" Type="http://schemas.openxmlformats.org/officeDocument/2006/relationships/tags" Target="../tags/tag50.xml" /><Relationship Id="rId2" Type="http://schemas.openxmlformats.org/officeDocument/2006/relationships/tags" Target="../tags/tag48.xml" /><Relationship Id="rId3" Type="http://schemas.openxmlformats.org/officeDocument/2006/relationships/tags" Target="../tags/tag49.xml" /><Relationship Id="rId1"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6" Type="http://schemas.openxmlformats.org/officeDocument/2006/relationships/tags" Target="../tags/tag56.xml" /><Relationship Id="rId5" Type="http://schemas.openxmlformats.org/officeDocument/2006/relationships/tags" Target="../tags/tag55.xml" /><Relationship Id="rId4" Type="http://schemas.openxmlformats.org/officeDocument/2006/relationships/tags" Target="../tags/tag54.xml" /><Relationship Id="rId3" Type="http://schemas.openxmlformats.org/officeDocument/2006/relationships/tags" Target="../tags/tag53.xml" /><Relationship Id="rId2" Type="http://schemas.openxmlformats.org/officeDocument/2006/relationships/tags" Target="../tags/tag52.xml"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Relationships xmlns="http://schemas.openxmlformats.org/package/2006/relationships"><Relationship Id="rId18" Type="http://schemas.openxmlformats.org/officeDocument/2006/relationships/theme" Target="../theme/theme1.xml" /><Relationship Id="rId15" Type="http://schemas.openxmlformats.org/officeDocument/2006/relationships/tags" Target="../tags/tag60.xml" /><Relationship Id="rId14" Type="http://schemas.openxmlformats.org/officeDocument/2006/relationships/tags" Target="../tags/tag59.xml" /><Relationship Id="rId13" Type="http://schemas.openxmlformats.org/officeDocument/2006/relationships/tags" Target="../tags/tag58.xml" /><Relationship Id="rId12" Type="http://schemas.openxmlformats.org/officeDocument/2006/relationships/tags" Target="../tags/tag57.xml" /><Relationship Id="rId11" Type="http://schemas.openxmlformats.org/officeDocument/2006/relationships/slideLayout" Target="../slideLayouts/slideLayout1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9" Type="http://schemas.openxmlformats.org/officeDocument/2006/relationships/slideLayout" Target="../slideLayouts/slideLayout9.xml" /><Relationship Id="rId7" Type="http://schemas.openxmlformats.org/officeDocument/2006/relationships/slideLayout" Target="../slideLayouts/slideLayout7.xml" /><Relationship Id="rId17" Type="http://schemas.openxmlformats.org/officeDocument/2006/relationships/tags" Target="../tags/tag62.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1" Type="http://schemas.openxmlformats.org/officeDocument/2006/relationships/slideLayout" Target="../slideLayouts/slideLayout1.xml" /><Relationship Id="rId4" Type="http://schemas.openxmlformats.org/officeDocument/2006/relationships/slideLayout" Target="../slideLayouts/slideLayout4.xml" /><Relationship Id="rId8" Type="http://schemas.openxmlformats.org/officeDocument/2006/relationships/slideLayout" Target="../slideLayouts/slideLayout8.xml" /><Relationship Id="rId16" Type="http://schemas.openxmlformats.org/officeDocument/2006/relationships/tags" Target="../tags/tag61.xml" /><Relationship Id="rId6" Type="http://schemas.openxmlformats.org/officeDocument/2006/relationships/slideLayout" Target="../slideLayouts/slideLayout6.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3" Type="http://schemas.openxmlformats.org/officeDocument/2006/relationships/slideLayout" Target="../slideLayouts/slideLayout1.xml" /><Relationship Id="rId1" Type="http://schemas.openxmlformats.org/officeDocument/2006/relationships/tags" Target="../tags/tag63.xml" /></Relationships>
</file>

<file path=ppt/slides/_rels/slide2.xml.rels><?xml version="1.0" encoding="UTF-8" standalone="yes"?><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65.xml" /><Relationship Id="rId1" Type="http://schemas.openxmlformats.org/officeDocument/2006/relationships/tags" Target="../tags/tag64.xml" /></Relationships>
</file>

<file path=ppt/slides/_rels/slide3.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66.xml" /></Relationships>
</file>

<file path=ppt/slides/_rels/slide4.xml.rels><?xml version="1.0" encoding="UTF-8" standalone="yes"?><Relationships xmlns="http://schemas.openxmlformats.org/package/2006/relationships"><Relationship Id="rId3" Type="http://schemas.openxmlformats.org/officeDocument/2006/relationships/slideLayout" Target="../slideLayouts/slideLayout2.xml" /><Relationship Id="rId1" Type="http://schemas.openxmlformats.org/officeDocument/2006/relationships/tags" Target="../tags/tag67.xml" /></Relationships>
</file>

<file path=ppt/slides/_rels/slide5.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68.xml" /></Relationships>
</file>

<file path=ppt/slides/_rels/slide6.xml.rels><?xml version="1.0" encoding="UTF-8" standalone="yes"?><Relationships xmlns="http://schemas.openxmlformats.org/package/2006/relationships"><Relationship Id="rId3" Type="http://schemas.openxmlformats.org/officeDocument/2006/relationships/slideLayout" Target="../slideLayouts/slideLayout2.xml" /><Relationship Id="rId1" Type="http://schemas.openxmlformats.org/officeDocument/2006/relationships/tags" Target="../tags/tag69.xml" /></Relationships>
</file>

<file path=ppt/slides/_rels/slide7.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70.xml" /></Relationships>
</file>

<file path=ppt/slides/_rels/slide8.xml.rels><?xml version="1.0" encoding="UTF-8" standalone="yes"?><Relationships xmlns="http://schemas.openxmlformats.org/package/2006/relationships"><Relationship Id="rId3" Type="http://schemas.openxmlformats.org/officeDocument/2006/relationships/slideLayout" Target="../slideLayouts/slideLayout2.xml" /><Relationship Id="rId1" Type="http://schemas.openxmlformats.org/officeDocument/2006/relationships/tags" Target="../tags/tag71.xml" /></Relationships>
</file>

<file path=ppt/slides/_rels/slide9.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72.xml" /></Relationships>
</file>

<file path=ppt/slides/_rels/slide10.xml.rels><?xml version="1.0" encoding="UTF-8" standalone="yes"?><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74.xml" /><Relationship Id="rId1" Type="http://schemas.openxmlformats.org/officeDocument/2006/relationships/tags" Target="../tags/tag73.xml" /></Relationships>
</file>

<file path=ppt/slides/_rels/slide11.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75.xml" /></Relationships>
</file>

<file path=ppt/slides/_rels/slide12.xml.rels><?xml version="1.0" encoding="UTF-8" standalone="yes"?><Relationships xmlns="http://schemas.openxmlformats.org/package/2006/relationships"><Relationship Id="rId3" Type="http://schemas.openxmlformats.org/officeDocument/2006/relationships/slideLayout" Target="../slideLayouts/slideLayout2.xml" /><Relationship Id="rId1" Type="http://schemas.openxmlformats.org/officeDocument/2006/relationships/tags" Target="../tags/tag76.xml" /></Relationships>
</file>

<file path=ppt/slides/_rels/slide13.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77.xml" /></Relationships>
</file>

<file path=ppt/slides/_rels/slide14.xml.rels><?xml version="1.0" encoding="UTF-8" standalone="yes"?><Relationships xmlns="http://schemas.openxmlformats.org/package/2006/relationships"><Relationship Id="rId3" Type="http://schemas.openxmlformats.org/officeDocument/2006/relationships/slideLayout" Target="../slideLayouts/slideLayout2.xml" /><Relationship Id="rId1" Type="http://schemas.openxmlformats.org/officeDocument/2006/relationships/tags" Target="../tags/tag78.xml" /></Relationships>
</file>

<file path=ppt/slides/_rels/slide15.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79.xml" /></Relationships>
</file>

<file path=ppt/slides/_rels/slide16.xml.rels><?xml version="1.0" encoding="UTF-8" standalone="yes"?><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80.xml" /><Relationship Id="rId1" Type="http://schemas.openxmlformats.org/officeDocument/2006/relationships/image" Target="../media/image1.png" /></Relationships>
</file>

<file path=ppt/slides/_rels/slide17.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81.xml" /></Relationships>
</file>

<file path=ppt/slides/_rels/slide18.xml.rels><?xml version="1.0" encoding="UTF-8" standalone="yes"?><Relationships xmlns="http://schemas.openxmlformats.org/package/2006/relationships"><Relationship Id="rId3" Type="http://schemas.openxmlformats.org/officeDocument/2006/relationships/slideLayout" Target="../slideLayouts/slideLayout2.xml" /><Relationship Id="rId1" Type="http://schemas.openxmlformats.org/officeDocument/2006/relationships/tags" Target="../tags/tag82.xml" /></Relationships>
</file>

<file path=ppt/slides/_rels/slide19.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83.xml" /></Relationships>
</file>

<file path=ppt/slides/_rels/slide20.xml.rels><?xml version="1.0" encoding="UTF-8" standalone="yes"?><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86.xml" /><Relationship Id="rId1" Type="http://schemas.openxmlformats.org/officeDocument/2006/relationships/tags" Target="../tags/tag85.xml" /></Relationships>
</file>

<file path=ppt/slides/_rels/slide21.xml.rels><?xml version="1.0" encoding="UTF-8" standalone="yes"?><Relationships xmlns="http://schemas.openxmlformats.org/package/2006/relationships"><Relationship Id="rId4" Type="http://schemas.openxmlformats.org/officeDocument/2006/relationships/slideLayout" Target="../slideLayouts/slideLayout2.xml" /><Relationship Id="rId2" Type="http://schemas.openxmlformats.org/officeDocument/2006/relationships/image" Target="../media/image3.png" /><Relationship Id="rId3" Type="http://schemas.openxmlformats.org/officeDocument/2006/relationships/tags" Target="../tags/tag87.xml" /><Relationship Id="rId1" Type="http://schemas.openxmlformats.org/officeDocument/2006/relationships/image" Target="../media/image2.png" /></Relationships>
</file>

<file path=ppt/slides/_rels/slide22.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88.xml" /></Relationships>
</file>

<file path=ppt/slides/_rels/slide23.xml.rels><?xml version="1.0" encoding="UTF-8" standalone="yes"?><Relationships xmlns="http://schemas.openxmlformats.org/package/2006/relationships"><Relationship Id="rId3" Type="http://schemas.openxmlformats.org/officeDocument/2006/relationships/slideLayout" Target="../slideLayouts/slideLayout2.xml" /><Relationship Id="rId1" Type="http://schemas.openxmlformats.org/officeDocument/2006/relationships/tags" Target="../tags/tag89.xml" /></Relationships>
</file>

<file path=ppt/slides/_rels/slide24.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91.xml" /></Relationships>
</file>

<file path=ppt/slides/_rels/slide25.xml.rels><?xml version="1.0" encoding="UTF-8" standalone="yes"?><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93.xml" /><Relationship Id="rId1" Type="http://schemas.openxmlformats.org/officeDocument/2006/relationships/tags" Target="../tags/tag92.xml" /></Relationships>
</file>

<file path=ppt/slides/_rels/slide26.xml.rels><?xml version="1.0" encoding="UTF-8" standalone="yes"?><Relationships xmlns="http://schemas.openxmlformats.org/package/2006/relationships"><Relationship Id="rId4" Type="http://schemas.openxmlformats.org/officeDocument/2006/relationships/slideLayout" Target="../slideLayouts/slideLayout2.xml" /><Relationship Id="rId3" Type="http://schemas.openxmlformats.org/officeDocument/2006/relationships/tags" Target="../tags/tag106.xml" /><Relationship Id="rId2" Type="http://schemas.openxmlformats.org/officeDocument/2006/relationships/tags" Target="../tags/tag105.xml" /><Relationship Id="rId1" Type="http://schemas.openxmlformats.org/officeDocument/2006/relationships/tags" Target="../tags/tag104.xml" /></Relationships>
</file>

<file path=ppt/slides/_rels/slide27.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107.xml" /></Relationships>
</file>

<file path=ppt/slides/_rels/slide28.xml.rels><?xml version="1.0" encoding="UTF-8" standalone="yes"?><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tags" Target="../tags/tag109.xml" /><Relationship Id="rId1" Type="http://schemas.openxmlformats.org/officeDocument/2006/relationships/tags" Target="../tags/tag108.xml" /></Relationships>
</file>

<file path=ppt/slides/_rels/slide29.xml.rels><?xml version="1.0" encoding="UTF-8" standalone="yes"?><Relationships xmlns="http://schemas.openxmlformats.org/package/2006/relationships"><Relationship Id="rId4" Type="http://schemas.openxmlformats.org/officeDocument/2006/relationships/slideLayout" Target="../slideLayouts/slideLayout2.xml" /><Relationship Id="rId2" Type="http://schemas.openxmlformats.org/officeDocument/2006/relationships/tags" Target="../tags/tag111.xml" /><Relationship Id="rId1" Type="http://schemas.openxmlformats.org/officeDocument/2006/relationships/tags" Target="../tags/tag110.xml" /></Relationships>
</file>

<file path=ppt/slides/_rels/slide30.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112.xml" /></Relationships>
</file>

<file path=ppt/slides/_rels/slide31.xml.rels><?xml version="1.0" encoding="UTF-8" standalone="yes"?><Relationships xmlns="http://schemas.openxmlformats.org/package/2006/relationships"><Relationship Id="rId3" Type="http://schemas.openxmlformats.org/officeDocument/2006/relationships/slideLayout" Target="../slideLayouts/slideLayout2.xml" /><Relationship Id="rId1" Type="http://schemas.openxmlformats.org/officeDocument/2006/relationships/tags" Target="../tags/tag113.xml" /></Relationships>
</file>

<file path=ppt/slides/_rels/slide32.xml.rels><?xml version="1.0" encoding="UTF-8" standalone="yes"?><Relationships xmlns="http://schemas.openxmlformats.org/package/2006/relationships"><Relationship Id="rId4" Type="http://schemas.openxmlformats.org/officeDocument/2006/relationships/notesSlide" Target="../notesSlides/notesSlide1.xml" /><Relationship Id="rId2" Type="http://schemas.openxmlformats.org/officeDocument/2006/relationships/slideLayout" Target="../slideLayouts/slideLayout7.xml" /><Relationship Id="rId1" Type="http://schemas.openxmlformats.org/officeDocument/2006/relationships/tags" Target="../tags/tag114.xml" /></Relationships>
</file>

<file path=ppt/slides/_rels/slide33.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116.xml" /><Relationship Id="rId1" Type="http://schemas.openxmlformats.org/officeDocument/2006/relationships/tags" Target="../tags/tag115.xml" /></Relationships>
</file>

<file path=ppt/slides/_rels/slide34.xml.rels><?xml version="1.0" encoding="UTF-8" standalone="yes"?><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117.xml" /></Relationships>
</file>

<file path=ppt/slides/slide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4" name="文本框 3"/>
          <p:cNvSpPr/>
          <p:nvPr/>
        </p:nvSpPr>
        <p:spPr>
          <a:xfrm>
            <a:off x="3529965" y="1933575"/>
            <a:ext cx="5658485" cy="645160"/>
          </a:xfrm>
          <a:prstGeom prst="rect">
            <a:avLst/>
          </a:prstGeom>
          <a:noFill/>
        </p:spPr>
        <p:txBody>
          <a:bodyPr wrap="square" rtlCol="0">
            <a:spAutoFit/>
          </a:bodyPr>
          <a:p>
            <a:pPr/>
            <a:r>
              <a:rPr altLang="en-US" lang="zh-CN" b="1" sz="3600">
                <a:ea typeface="微软雅黑" panose="020B0503020204020204" charset="-122"/>
                <a:latin typeface="微软雅黑" panose="020B0503020204020204" charset="-122"/>
              </a:rPr>
              <a:t>高三政治一模考试讲评</a:t>
            </a:r>
            <a:endParaRPr altLang="en-US" lang="zh-CN" b="1" sz="3600">
              <a:ea typeface="微软雅黑" panose="020B0503020204020204" charset="-122"/>
              <a:latin typeface="微软雅黑" panose="020B0503020204020204" charset="-122"/>
            </a:endParaRPr>
          </a:p>
        </p:txBody>
      </p:sp>
      <p:sp>
        <p:nvSpPr>
          <p:cNvPr id="5" name="文本框 4"/>
          <p:cNvSpPr/>
          <p:nvPr/>
        </p:nvSpPr>
        <p:spPr>
          <a:xfrm>
            <a:off x="3020060" y="3622040"/>
            <a:ext cx="5998845" cy="521970"/>
          </a:xfrm>
          <a:prstGeom prst="rect">
            <a:avLst/>
          </a:prstGeom>
          <a:noFill/>
        </p:spPr>
        <p:txBody>
          <a:bodyPr wrap="square" rtlCol="0">
            <a:spAutoFit/>
          </a:bodyPr>
          <a:p>
            <a:pPr/>
            <a:r>
              <a:rPr altLang="en-US" lang="zh-CN" b="1" sz="2800"/>
              <a:t>高三政治备课组</a:t>
            </a:r>
            <a:r>
              <a:rPr altLang="zh-CN" lang="en-US" b="1" sz="2800"/>
              <a:t>               2025.03.31</a:t>
            </a:r>
            <a:endParaRPr altLang="zh-CN" lang="en-US" b="1" sz="2800"/>
          </a:p>
        </p:txBody>
      </p:sp>
    </p:spTree>
    <p:custDataLst>
      <p:tags r:id="rId1"/>
    </p:custData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graphicFrame>
        <p:nvGraphicFramePr>
          <p:cNvPr id="4" name="表格 3"/>
          <p:cNvGraphicFramePr/>
          <p:nvPr>
            <p:custDataLst>
              <p:tags r:id="rId1"/>
            </p:custDataLst>
          </p:nvPr>
        </p:nvGraphicFramePr>
        <p:xfrm>
          <a:off x="291465" y="1243330"/>
          <a:ext cx="11623040" cy="2713990"/>
        </p:xfrm>
        <a:graphic>
          <a:graphicData uri="http://schemas.openxmlformats.org/drawingml/2006/table">
            <a:tbl>
              <a:tblPr firstRow="1" bandRow="1">
                <a:tableStyleId>{5C22544A-7EE6-4342-B048-85BDC9FD1C3A}</a:tableStyleId>
              </a:tblPr>
              <a:tblGrid>
                <a:gridCol w="726440"/>
                <a:gridCol w="726440"/>
                <a:gridCol w="726440"/>
                <a:gridCol w="726440"/>
                <a:gridCol w="726440"/>
                <a:gridCol w="726440"/>
                <a:gridCol w="726440"/>
                <a:gridCol w="726440"/>
                <a:gridCol w="726440"/>
                <a:gridCol w="726440"/>
                <a:gridCol w="726440"/>
                <a:gridCol w="726440"/>
                <a:gridCol w="726440"/>
                <a:gridCol w="726440"/>
                <a:gridCol w="726440"/>
                <a:gridCol w="726440"/>
              </a:tblGrid>
              <a:tr h="1356995">
                <a:tc>
                  <a:txBody>
                    <a:bodyPr/>
                    <a:p>
                      <a:pPr>
                        <a:buNone/>
                      </a:pPr>
                      <a:r>
                        <a:rPr altLang="en-US" lang="zh-CN" b="1" sz="3600"/>
                        <a:t>题号</a:t>
                      </a:r>
                      <a:endParaRPr altLang="en-US" lang="zh-CN" b="1" sz="3600"/>
                    </a:p>
                  </a:txBody>
                  <a:tcPr anchor="ctr" anchorCtr="1"/>
                </a:tc>
                <a:tc>
                  <a:txBody>
                    <a:bodyPr/>
                    <a:p>
                      <a:pPr>
                        <a:buNone/>
                      </a:pPr>
                      <a:r>
                        <a:rPr altLang="zh-CN" lang="en-US" b="1" sz="3600"/>
                        <a:t>1</a:t>
                      </a:r>
                      <a:endParaRPr altLang="zh-CN" lang="en-US" b="1" sz="3600"/>
                    </a:p>
                  </a:txBody>
                  <a:tcPr anchor="ctr" anchorCtr="1"/>
                </a:tc>
                <a:tc>
                  <a:txBody>
                    <a:bodyPr/>
                    <a:p>
                      <a:pPr>
                        <a:buNone/>
                      </a:pPr>
                      <a:r>
                        <a:rPr altLang="zh-CN" lang="en-US" b="1" sz="3600"/>
                        <a:t>2</a:t>
                      </a:r>
                      <a:endParaRPr altLang="zh-CN" lang="en-US" b="1" sz="3600"/>
                    </a:p>
                  </a:txBody>
                  <a:tcPr anchor="ctr" anchorCtr="1"/>
                </a:tc>
                <a:tc>
                  <a:txBody>
                    <a:bodyPr/>
                    <a:p>
                      <a:pPr>
                        <a:buNone/>
                      </a:pPr>
                      <a:r>
                        <a:rPr altLang="zh-CN" lang="en-US" b="1" sz="3600"/>
                        <a:t>3</a:t>
                      </a:r>
                      <a:endParaRPr altLang="zh-CN" lang="en-US" b="1" sz="3600"/>
                    </a:p>
                  </a:txBody>
                  <a:tcPr anchor="ctr" anchorCtr="1"/>
                </a:tc>
                <a:tc>
                  <a:txBody>
                    <a:bodyPr/>
                    <a:p>
                      <a:pPr>
                        <a:buNone/>
                      </a:pPr>
                      <a:r>
                        <a:rPr altLang="zh-CN" lang="en-US" b="1" sz="3600"/>
                        <a:t>4</a:t>
                      </a:r>
                      <a:endParaRPr altLang="zh-CN" lang="en-US" b="1" sz="3600"/>
                    </a:p>
                  </a:txBody>
                  <a:tcPr anchor="ctr" anchorCtr="1"/>
                </a:tc>
                <a:tc>
                  <a:txBody>
                    <a:bodyPr/>
                    <a:p>
                      <a:pPr>
                        <a:buNone/>
                      </a:pPr>
                      <a:r>
                        <a:rPr altLang="zh-CN" lang="en-US" b="1" sz="3600"/>
                        <a:t>5</a:t>
                      </a:r>
                      <a:endParaRPr altLang="zh-CN" lang="en-US" b="1" sz="3600"/>
                    </a:p>
                  </a:txBody>
                  <a:tcPr anchor="ctr" anchorCtr="1"/>
                </a:tc>
                <a:tc>
                  <a:txBody>
                    <a:bodyPr/>
                    <a:p>
                      <a:pPr>
                        <a:buNone/>
                      </a:pPr>
                      <a:r>
                        <a:rPr altLang="zh-CN" lang="en-US" b="1" sz="3600"/>
                        <a:t>6</a:t>
                      </a:r>
                      <a:endParaRPr altLang="zh-CN" lang="en-US" b="1" sz="3600"/>
                    </a:p>
                  </a:txBody>
                  <a:tcPr anchor="ctr" anchorCtr="1"/>
                </a:tc>
                <a:tc>
                  <a:txBody>
                    <a:bodyPr/>
                    <a:p>
                      <a:pPr>
                        <a:buNone/>
                      </a:pPr>
                      <a:r>
                        <a:rPr altLang="zh-CN" lang="en-US" b="1" sz="3600"/>
                        <a:t>7</a:t>
                      </a:r>
                      <a:endParaRPr altLang="zh-CN" lang="en-US" b="1" sz="3600"/>
                    </a:p>
                  </a:txBody>
                  <a:tcPr anchor="ctr" anchorCtr="1"/>
                </a:tc>
                <a:tc>
                  <a:txBody>
                    <a:bodyPr/>
                    <a:p>
                      <a:pPr>
                        <a:buNone/>
                      </a:pPr>
                      <a:r>
                        <a:rPr altLang="zh-CN" lang="en-US" b="1" sz="3600"/>
                        <a:t>8</a:t>
                      </a:r>
                      <a:endParaRPr altLang="zh-CN" lang="en-US" b="1" sz="3600"/>
                    </a:p>
                  </a:txBody>
                  <a:tcPr anchor="ctr" anchorCtr="1"/>
                </a:tc>
                <a:tc>
                  <a:txBody>
                    <a:bodyPr/>
                    <a:p>
                      <a:pPr>
                        <a:buNone/>
                      </a:pPr>
                      <a:r>
                        <a:rPr altLang="zh-CN" lang="en-US" b="1" sz="3600"/>
                        <a:t>9</a:t>
                      </a:r>
                      <a:endParaRPr altLang="zh-CN" lang="en-US" b="1" sz="3600"/>
                    </a:p>
                  </a:txBody>
                  <a:tcPr anchor="ctr" anchorCtr="1"/>
                </a:tc>
                <a:tc>
                  <a:txBody>
                    <a:bodyPr/>
                    <a:p>
                      <a:pPr>
                        <a:buNone/>
                      </a:pPr>
                      <a:r>
                        <a:rPr altLang="zh-CN" lang="en-US" b="1" sz="3600"/>
                        <a:t>10</a:t>
                      </a:r>
                      <a:endParaRPr altLang="zh-CN" lang="en-US" b="1" sz="3600"/>
                    </a:p>
                  </a:txBody>
                  <a:tcPr anchor="ctr" anchorCtr="1"/>
                </a:tc>
                <a:tc>
                  <a:txBody>
                    <a:bodyPr/>
                    <a:p>
                      <a:pPr>
                        <a:buNone/>
                      </a:pPr>
                      <a:r>
                        <a:rPr altLang="zh-CN" lang="en-US" b="1" sz="3600"/>
                        <a:t>11</a:t>
                      </a:r>
                      <a:endParaRPr altLang="zh-CN" lang="en-US" b="1" sz="3600"/>
                    </a:p>
                  </a:txBody>
                  <a:tcPr anchor="ctr" anchorCtr="1"/>
                </a:tc>
                <a:tc>
                  <a:txBody>
                    <a:bodyPr/>
                    <a:p>
                      <a:pPr>
                        <a:buNone/>
                      </a:pPr>
                      <a:r>
                        <a:rPr altLang="zh-CN" lang="en-US" b="1" sz="3600"/>
                        <a:t>12</a:t>
                      </a:r>
                      <a:endParaRPr altLang="zh-CN" lang="en-US" b="1" sz="3600"/>
                    </a:p>
                  </a:txBody>
                  <a:tcPr anchor="ctr" anchorCtr="1"/>
                </a:tc>
                <a:tc>
                  <a:txBody>
                    <a:bodyPr/>
                    <a:p>
                      <a:pPr>
                        <a:buNone/>
                      </a:pPr>
                      <a:r>
                        <a:rPr altLang="zh-CN" lang="en-US" b="1" sz="3600"/>
                        <a:t>13</a:t>
                      </a:r>
                      <a:endParaRPr altLang="zh-CN" lang="en-US" b="1" sz="3600"/>
                    </a:p>
                  </a:txBody>
                  <a:tcPr anchor="ctr" anchorCtr="1"/>
                </a:tc>
                <a:tc>
                  <a:txBody>
                    <a:bodyPr/>
                    <a:p>
                      <a:pPr>
                        <a:buNone/>
                      </a:pPr>
                      <a:r>
                        <a:rPr altLang="zh-CN" lang="en-US" b="1" sz="3600"/>
                        <a:t>14</a:t>
                      </a:r>
                      <a:endParaRPr altLang="zh-CN" lang="en-US" b="1" sz="3600"/>
                    </a:p>
                  </a:txBody>
                  <a:tcPr anchor="ctr" anchorCtr="1"/>
                </a:tc>
                <a:tc>
                  <a:txBody>
                    <a:bodyPr/>
                    <a:p>
                      <a:pPr>
                        <a:buNone/>
                      </a:pPr>
                      <a:r>
                        <a:rPr altLang="zh-CN" lang="en-US" b="1" sz="3600"/>
                        <a:t>15</a:t>
                      </a:r>
                      <a:endParaRPr altLang="zh-CN" lang="en-US" b="1" sz="3600"/>
                    </a:p>
                  </a:txBody>
                  <a:tcPr anchor="ctr" anchorCtr="1"/>
                </a:tc>
              </a:tr>
              <a:tr h="1356995">
                <a:tc>
                  <a:txBody>
                    <a:bodyPr/>
                    <a:p>
                      <a:pPr>
                        <a:buNone/>
                      </a:pPr>
                      <a:r>
                        <a:rPr altLang="en-US" lang="zh-CN" b="1" sz="3600"/>
                        <a:t>答案</a:t>
                      </a:r>
                      <a:endParaRPr altLang="en-US" lang="zh-CN" b="1" sz="3600"/>
                    </a:p>
                  </a:txBody>
                  <a:tcPr anchor="ctr" anchorCtr="1"/>
                </a:tc>
                <a:tc>
                  <a:txBody>
                    <a:bodyPr/>
                    <a:p>
                      <a:pPr>
                        <a:buNone/>
                      </a:pPr>
                      <a:r>
                        <a:rPr altLang="zh-CN" lang="en-US" b="1" sz="3600"/>
                        <a:t>C</a:t>
                      </a:r>
                      <a:endParaRPr altLang="zh-CN" lang="en-US" b="1" sz="3600"/>
                    </a:p>
                  </a:txBody>
                  <a:tcPr anchor="ctr" anchorCtr="1"/>
                </a:tc>
                <a:tc>
                  <a:txBody>
                    <a:bodyPr/>
                    <a:p>
                      <a:pPr>
                        <a:buNone/>
                      </a:pPr>
                      <a:r>
                        <a:rPr altLang="zh-CN" lang="en-US" b="1" sz="3600"/>
                        <a:t>D</a:t>
                      </a:r>
                      <a:endParaRPr altLang="zh-CN" lang="en-US" b="1" sz="3600"/>
                    </a:p>
                  </a:txBody>
                  <a:tcPr anchor="ctr" anchorCtr="1"/>
                </a:tc>
                <a:tc>
                  <a:txBody>
                    <a:bodyPr/>
                    <a:p>
                      <a:pPr>
                        <a:buNone/>
                      </a:pPr>
                      <a:r>
                        <a:rPr altLang="zh-CN" lang="en-US" b="1" sz="3600"/>
                        <a:t>C</a:t>
                      </a:r>
                      <a:endParaRPr altLang="zh-CN" lang="en-US" b="1" sz="3600"/>
                    </a:p>
                  </a:txBody>
                  <a:tcPr anchor="ctr" anchorCtr="1"/>
                </a:tc>
                <a:tc>
                  <a:txBody>
                    <a:bodyPr/>
                    <a:p>
                      <a:pPr>
                        <a:buNone/>
                      </a:pPr>
                      <a:r>
                        <a:rPr altLang="zh-CN" lang="en-US" b="1" sz="3600"/>
                        <a:t>B</a:t>
                      </a:r>
                      <a:endParaRPr altLang="zh-CN" lang="en-US" b="1" sz="3600"/>
                    </a:p>
                  </a:txBody>
                  <a:tcPr anchor="ctr" anchorCtr="1"/>
                </a:tc>
                <a:tc>
                  <a:txBody>
                    <a:bodyPr/>
                    <a:p>
                      <a:pPr>
                        <a:buNone/>
                      </a:pPr>
                      <a:r>
                        <a:rPr altLang="zh-CN" lang="en-US" b="1" sz="3600"/>
                        <a:t>D</a:t>
                      </a:r>
                      <a:endParaRPr altLang="zh-CN" lang="en-US" b="1" sz="3600"/>
                    </a:p>
                  </a:txBody>
                  <a:tcPr anchor="ctr" anchorCtr="1"/>
                </a:tc>
                <a:tc>
                  <a:txBody>
                    <a:bodyPr/>
                    <a:p>
                      <a:pPr>
                        <a:buNone/>
                      </a:pPr>
                      <a:r>
                        <a:rPr altLang="zh-CN" lang="en-US" b="1" sz="3600"/>
                        <a:t>A</a:t>
                      </a:r>
                      <a:endParaRPr altLang="zh-CN" lang="en-US" b="1" sz="3600"/>
                    </a:p>
                  </a:txBody>
                  <a:tcPr anchor="ctr" anchorCtr="1"/>
                </a:tc>
                <a:tc>
                  <a:txBody>
                    <a:bodyPr/>
                    <a:p>
                      <a:pPr>
                        <a:buNone/>
                      </a:pPr>
                      <a:r>
                        <a:rPr altLang="zh-CN" lang="en-US" b="1" sz="3600"/>
                        <a:t>C</a:t>
                      </a:r>
                      <a:endParaRPr altLang="zh-CN" lang="en-US" b="1" sz="3600"/>
                    </a:p>
                  </a:txBody>
                  <a:tcPr anchor="ctr" anchorCtr="1"/>
                </a:tc>
                <a:tc>
                  <a:txBody>
                    <a:bodyPr/>
                    <a:p>
                      <a:pPr>
                        <a:buNone/>
                      </a:pPr>
                      <a:r>
                        <a:rPr altLang="zh-CN" lang="en-US" b="1" sz="3600"/>
                        <a:t>C</a:t>
                      </a:r>
                      <a:endParaRPr altLang="zh-CN" lang="en-US" b="1" sz="3600"/>
                    </a:p>
                  </a:txBody>
                  <a:tcPr anchor="ctr" anchorCtr="1"/>
                </a:tc>
                <a:tc>
                  <a:txBody>
                    <a:bodyPr/>
                    <a:p>
                      <a:pPr>
                        <a:buNone/>
                      </a:pPr>
                      <a:r>
                        <a:rPr altLang="zh-CN" lang="en-US" b="1" sz="3600"/>
                        <a:t>B</a:t>
                      </a:r>
                      <a:endParaRPr altLang="zh-CN" lang="en-US" b="1" sz="3600"/>
                    </a:p>
                  </a:txBody>
                  <a:tcPr anchor="ctr" anchorCtr="1"/>
                </a:tc>
                <a:tc>
                  <a:txBody>
                    <a:bodyPr/>
                    <a:p>
                      <a:pPr>
                        <a:buNone/>
                      </a:pPr>
                      <a:r>
                        <a:rPr altLang="zh-CN" lang="en-US" b="1" sz="3600"/>
                        <a:t>D</a:t>
                      </a:r>
                      <a:endParaRPr altLang="zh-CN" lang="en-US" b="1" sz="3600"/>
                    </a:p>
                  </a:txBody>
                  <a:tcPr anchor="ctr" anchorCtr="1"/>
                </a:tc>
                <a:tc>
                  <a:txBody>
                    <a:bodyPr/>
                    <a:p>
                      <a:pPr>
                        <a:buNone/>
                      </a:pPr>
                      <a:r>
                        <a:rPr altLang="zh-CN" lang="en-US" b="1" sz="3600"/>
                        <a:t>D</a:t>
                      </a:r>
                      <a:endParaRPr altLang="zh-CN" lang="en-US" b="1" sz="3600"/>
                    </a:p>
                  </a:txBody>
                  <a:tcPr anchor="ctr" anchorCtr="1"/>
                </a:tc>
                <a:tc>
                  <a:txBody>
                    <a:bodyPr/>
                    <a:p>
                      <a:pPr>
                        <a:buNone/>
                      </a:pPr>
                      <a:r>
                        <a:rPr altLang="zh-CN" lang="en-US" b="1" sz="3600"/>
                        <a:t>B</a:t>
                      </a:r>
                      <a:endParaRPr altLang="zh-CN" lang="en-US" b="1" sz="3600"/>
                    </a:p>
                  </a:txBody>
                  <a:tcPr anchor="ctr" anchorCtr="1"/>
                </a:tc>
                <a:tc>
                  <a:txBody>
                    <a:bodyPr/>
                    <a:p>
                      <a:pPr>
                        <a:buNone/>
                      </a:pPr>
                      <a:r>
                        <a:rPr altLang="zh-CN" lang="en-US" b="1" sz="3600"/>
                        <a:t>A</a:t>
                      </a:r>
                      <a:endParaRPr altLang="zh-CN" lang="en-US" b="1" sz="3600"/>
                    </a:p>
                  </a:txBody>
                  <a:tcPr anchor="ctr" anchorCtr="1"/>
                </a:tc>
                <a:tc>
                  <a:txBody>
                    <a:bodyPr/>
                    <a:p>
                      <a:pPr>
                        <a:buNone/>
                      </a:pPr>
                      <a:r>
                        <a:rPr altLang="zh-CN" lang="en-US" b="1" sz="3600"/>
                        <a:t>C</a:t>
                      </a:r>
                      <a:endParaRPr altLang="zh-CN" lang="en-US" b="1" sz="3600"/>
                    </a:p>
                  </a:txBody>
                  <a:tcPr anchor="ctr" anchorCtr="1"/>
                </a:tc>
                <a:tc>
                  <a:txBody>
                    <a:bodyPr/>
                    <a:p>
                      <a:pPr>
                        <a:buNone/>
                      </a:pPr>
                      <a:r>
                        <a:rPr altLang="zh-CN" lang="en-US" b="1" sz="3600"/>
                        <a:t>B</a:t>
                      </a:r>
                      <a:endParaRPr altLang="zh-CN" lang="en-US" b="1" sz="3600"/>
                    </a:p>
                  </a:txBody>
                  <a:tcPr anchor="ctr" anchorCtr="1"/>
                </a:tc>
              </a:tr>
            </a:tbl>
          </a:graphicData>
        </a:graphic>
      </p:graphicFrame>
      <p:sp>
        <p:nvSpPr>
          <p:cNvPr id="5" name="文本框 4"/>
          <p:cNvSpPr/>
          <p:nvPr/>
        </p:nvSpPr>
        <p:spPr>
          <a:xfrm>
            <a:off x="3413760" y="4826000"/>
            <a:ext cx="10092690" cy="650875"/>
          </a:xfrm>
          <a:prstGeom prst="rect">
            <a:avLst/>
          </a:prstGeom>
          <a:noFill/>
        </p:spPr>
        <p:txBody>
          <a:bodyPr wrap="square" rtlCol="0">
            <a:spAutoFit/>
          </a:bodyPr>
          <a:p>
            <a:pPr>
              <a:lnSpc>
                <a:spcPct val="129999"/>
              </a:lnSpc>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1</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2</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6</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11</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13</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14</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15</a:t>
            </a:r>
            <a:endParaRPr altLang="zh-CN" lang="en-US" b="1" sz="2800">
              <a:solidFill>
                <a:srgbClr val="FF0000"/>
              </a:solidFill>
              <a:cs typeface="微软雅黑" panose="020B0503020204020204" charset="-122"/>
              <a:sym typeface="+mn-ea"/>
              <a:ea typeface="微软雅黑" panose="020B0503020204020204" charset="-122"/>
              <a:latin typeface="微软雅黑" panose="020B0503020204020204" charset="-122"/>
            </a:endParaRPr>
          </a:p>
        </p:txBody>
      </p:sp>
    </p:spTree>
    <p:custDataLst>
      <p:tags r:id="rId2"/>
    </p:custData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231775" y="442595"/>
            <a:ext cx="10631170" cy="1808480"/>
          </a:xfrm>
          <a:prstGeom prst="rect">
            <a:avLst/>
          </a:prstGeom>
        </p:spPr>
        <p:txBody>
          <a:bodyPr>
            <a:noAutofit/>
          </a:bodyPr>
          <a:p>
            <a:pPr marL="0" indent="0" algn="just" defTabSz="266700">
              <a:lnSpc>
                <a:spcPct val="113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1.</a:t>
            </a:r>
            <a:r>
              <a:rPr altLang="en-US" lang="zh-CN" b="1" sz="2800">
                <a:cs typeface="微软雅黑" panose="020B0503020204020204" charset="-122"/>
                <a:ea typeface="微软雅黑" panose="020B0503020204020204" charset="-122"/>
                <a:latin typeface="微软雅黑" panose="020B0503020204020204" charset="-122"/>
              </a:rPr>
              <a:t>回顾中国共产党领导人民的奋斗历程，革命也好，建设也好，改革也好，都经历了从量的积累到质的飞跃的不同发展阶段。党的十八大以来，中国特色社会主义进入新时代，这是我国发展新的历史方位。明确中国特色社会主义进入新时代，彰显出中国共产党</a:t>
            </a:r>
            <a:endParaRPr altLang="en-US" lang="zh-CN" b="1" sz="2800">
              <a:cs typeface="微软雅黑" panose="020B0503020204020204" charset="-122"/>
              <a:ea typeface="微软雅黑" panose="020B0503020204020204" charset="-122"/>
              <a:latin typeface="微软雅黑" panose="020B0503020204020204" charset="-122"/>
            </a:endParaRPr>
          </a:p>
          <a:p>
            <a:pPr marL="0" indent="284480" algn="just" defTabSz="266700">
              <a:lnSpc>
                <a:spcPct val="113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①</a:t>
            </a:r>
            <a:r>
              <a:rPr altLang="en-US" lang="zh-CN" b="1" sz="2800">
                <a:cs typeface="微软雅黑" panose="020B0503020204020204" charset="-122"/>
                <a:ea typeface="微软雅黑" panose="020B0503020204020204" charset="-122"/>
                <a:latin typeface="微软雅黑" panose="020B0503020204020204" charset="-122"/>
              </a:rPr>
              <a:t>对人类社会发展基本规律的清醒认识和创造性发展</a:t>
            </a:r>
            <a:endParaRPr altLang="en-US" lang="zh-CN" b="1" sz="2800">
              <a:cs typeface="微软雅黑" panose="020B0503020204020204" charset="-122"/>
              <a:ea typeface="微软雅黑" panose="020B0503020204020204" charset="-122"/>
              <a:latin typeface="微软雅黑" panose="020B0503020204020204" charset="-122"/>
            </a:endParaRPr>
          </a:p>
          <a:p>
            <a:pPr marL="0" indent="284480" algn="just" defTabSz="266700">
              <a:lnSpc>
                <a:spcPct val="113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②</a:t>
            </a:r>
            <a:r>
              <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与时俱进、</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科学把握世情国情党情深刻变化的能力</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81940" algn="just" defTabSz="266700">
              <a:lnSpc>
                <a:spcPct val="113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③</a:t>
            </a:r>
            <a:r>
              <a:rPr altLang="en-US" lang="zh-CN" b="1" sz="2800">
                <a:cs typeface="微软雅黑" panose="020B0503020204020204" charset="-122"/>
                <a:ea typeface="微软雅黑" panose="020B0503020204020204" charset="-122"/>
                <a:latin typeface="微软雅黑" panose="020B0503020204020204" charset="-122"/>
              </a:rPr>
              <a:t>成功克服了满足人民美好生活需要的主要制约因素</a:t>
            </a:r>
            <a:endParaRPr altLang="en-US" lang="zh-CN" b="1" sz="2800">
              <a:cs typeface="微软雅黑" panose="020B0503020204020204" charset="-122"/>
              <a:ea typeface="微软雅黑" panose="020B0503020204020204" charset="-122"/>
              <a:latin typeface="微软雅黑" panose="020B0503020204020204" charset="-122"/>
            </a:endParaRPr>
          </a:p>
          <a:p>
            <a:pPr marL="0" indent="281940" algn="just" defTabSz="266700">
              <a:lnSpc>
                <a:spcPct val="113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④</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把握历史规律和历史趋势的高度自觉和高度自信 </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 </a:t>
            </a:r>
            <a:endParaRPr altLang="zh-CN" lang="en-US"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13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A. ①②</a:t>
            </a:r>
            <a:r>
              <a:rPr altLang="zh-CN" lang="en-US" b="1" sz="2800">
                <a:cs typeface="微软雅黑" panose="020B0503020204020204" charset="-122"/>
                <a:ea typeface="微软雅黑" panose="020B0503020204020204" charset="-122"/>
                <a:latin typeface="微软雅黑" panose="020B0503020204020204" charset="-122"/>
              </a:rPr>
              <a:t/>
            </a:r>
            <a:r>
              <a:rPr altLang="zh-CN" lang="en-US" b="1" sz="2800">
                <a:cs typeface="微软雅黑" panose="020B0503020204020204" charset="-122"/>
                <a:ea typeface="微软雅黑" panose="020B0503020204020204" charset="-122"/>
                <a:latin typeface="微软雅黑" panose="020B0503020204020204" charset="-122"/>
              </a:rPr>
              <a:t>    B. ①③</a:t>
            </a:r>
            <a:r>
              <a:rPr altLang="zh-CN" lang="en-US" b="1" sz="2800">
                <a:cs typeface="微软雅黑" panose="020B0503020204020204" charset="-122"/>
                <a:ea typeface="微软雅黑" panose="020B0503020204020204" charset="-122"/>
                <a:latin typeface="微软雅黑" panose="020B0503020204020204" charset="-122"/>
              </a:rPr>
              <a:t/>
            </a:r>
            <a:r>
              <a:rPr altLang="zh-CN" lang="en-US" b="1" sz="2800">
                <a:cs typeface="微软雅黑" panose="020B0503020204020204" charset="-122"/>
                <a:ea typeface="微软雅黑" panose="020B0503020204020204" charset="-122"/>
                <a:latin typeface="微软雅黑" panose="020B0503020204020204" charset="-122"/>
              </a:rPr>
              <a:t>    </a:t>
            </a:r>
            <a:r>
              <a:rPr altLang="zh-CN" lang="en-US" b="1" sz="2800">
                <a:cs typeface="微软雅黑" panose="020B0503020204020204" charset="-122"/>
                <a:ea typeface="微软雅黑" panose="020B0503020204020204" charset="-122"/>
                <a:latin typeface="微软雅黑" panose="020B0503020204020204" charset="-122"/>
              </a:rPr>
              <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C. ②④</a:t>
            </a:r>
            <a:r>
              <a:rPr altLang="zh-CN" lang="en-US" b="1" sz="2800">
                <a:cs typeface="微软雅黑" panose="020B0503020204020204" charset="-122"/>
                <a:ea typeface="微软雅黑" panose="020B0503020204020204" charset="-122"/>
                <a:latin typeface="微软雅黑" panose="020B0503020204020204" charset="-122"/>
              </a:rPr>
              <a:t>   </a:t>
            </a:r>
            <a:r>
              <a:rPr altLang="zh-CN" lang="en-US" b="1" sz="2800">
                <a:cs typeface="微软雅黑" panose="020B0503020204020204" charset="-122"/>
                <a:ea typeface="微软雅黑" panose="020B0503020204020204" charset="-122"/>
                <a:latin typeface="微软雅黑" panose="020B0503020204020204" charset="-122"/>
              </a:rPr>
              <a:t/>
            </a:r>
            <a:r>
              <a:rPr altLang="zh-CN" lang="en-US" b="1" sz="2800">
                <a:cs typeface="微软雅黑" panose="020B0503020204020204" charset="-122"/>
                <a:ea typeface="微软雅黑" panose="020B0503020204020204" charset="-122"/>
                <a:latin typeface="微软雅黑" panose="020B0503020204020204" charset="-122"/>
              </a:rPr>
              <a:t>D. ③④</a:t>
            </a:r>
            <a:endParaRPr altLang="zh-CN" lang="en-US" b="1" sz="2800">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8948420" y="2407920"/>
            <a:ext cx="3050540" cy="460375"/>
          </a:xfrm>
          <a:prstGeom prst="rect">
            <a:avLst/>
          </a:prstGeom>
          <a:noFill/>
        </p:spPr>
        <p:txBody>
          <a:bodyPr wrap="square" rtlCol="0">
            <a:spAutoFit/>
          </a:bodyPr>
          <a:p>
            <a:pPr/>
            <a:r>
              <a:rPr altLang="en-US" lang="zh-CN" b="1" sz="2400">
                <a:solidFill>
                  <a:srgbClr val="FF0000"/>
                </a:solidFill>
              </a:rPr>
              <a:t>规律不能创造性发展</a:t>
            </a:r>
            <a:endParaRPr altLang="en-US" lang="zh-CN" b="1" sz="2400">
              <a:solidFill>
                <a:srgbClr val="FF0000"/>
              </a:solidFill>
            </a:endParaRPr>
          </a:p>
        </p:txBody>
      </p:sp>
      <p:sp>
        <p:nvSpPr>
          <p:cNvPr id="4" name="文本框 3"/>
          <p:cNvSpPr/>
          <p:nvPr/>
        </p:nvSpPr>
        <p:spPr>
          <a:xfrm>
            <a:off x="8924290" y="3429000"/>
            <a:ext cx="3465195" cy="460375"/>
          </a:xfrm>
          <a:prstGeom prst="rect">
            <a:avLst/>
          </a:prstGeom>
          <a:noFill/>
        </p:spPr>
        <p:txBody>
          <a:bodyPr wrap="square" rtlCol="0">
            <a:spAutoFit/>
          </a:bodyPr>
          <a:p>
            <a:pPr/>
            <a:r>
              <a:rPr altLang="en-US" lang="zh-CN" b="1" sz="2400">
                <a:solidFill>
                  <a:srgbClr val="FF0000"/>
                </a:solidFill>
              </a:rPr>
              <a:t>没有完全克服制约因素</a:t>
            </a:r>
            <a:endParaRPr altLang="en-US" lang="zh-CN" b="1" sz="2400">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448310" y="0"/>
            <a:ext cx="11454130" cy="5242560"/>
          </a:xfrm>
          <a:prstGeom prst="rect">
            <a:avLst/>
          </a:prstGeom>
        </p:spPr>
        <p:txBody>
          <a:bodyPr wrap="square">
            <a:spAutoFit/>
          </a:bodyPr>
          <a:p>
            <a:pPr marL="0" indent="0" algn="l" defTabSz="266700">
              <a:lnSpc>
                <a:spcPct val="92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2.</a:t>
            </a:r>
            <a:r>
              <a:rPr altLang="en-US" lang="zh-CN" b="1" sz="2800">
                <a:cs typeface="微软雅黑" panose="020B0503020204020204" charset="-122"/>
                <a:ea typeface="微软雅黑" panose="020B0503020204020204" charset="-122"/>
                <a:latin typeface="微软雅黑" panose="020B0503020204020204" charset="-122"/>
              </a:rPr>
              <a:t>中共中央、国务院印发的</a:t>
            </a:r>
            <a:r>
              <a:rPr altLang="zh-CN" lang="en-US" b="1" sz="2800">
                <a:cs typeface="微软雅黑" panose="020B0503020204020204" charset="-122"/>
                <a:ea typeface="微软雅黑" panose="020B0503020204020204" charset="-122"/>
                <a:latin typeface="微软雅黑" panose="020B0503020204020204" charset="-122"/>
              </a:rPr>
              <a:t>《</a:t>
            </a:r>
            <a:r>
              <a:rPr altLang="en-US" lang="zh-CN" b="1" sz="2800">
                <a:cs typeface="微软雅黑" panose="020B0503020204020204" charset="-122"/>
                <a:ea typeface="微软雅黑" panose="020B0503020204020204" charset="-122"/>
                <a:latin typeface="微软雅黑" panose="020B0503020204020204" charset="-122"/>
              </a:rPr>
              <a:t>教育强国建设规划纲要（</a:t>
            </a:r>
            <a:r>
              <a:rPr altLang="zh-CN" lang="en-US" b="1" sz="2800">
                <a:cs typeface="微软雅黑" panose="020B0503020204020204" charset="-122"/>
                <a:ea typeface="微软雅黑" panose="020B0503020204020204" charset="-122"/>
                <a:latin typeface="微软雅黑" panose="020B0503020204020204" charset="-122"/>
              </a:rPr>
              <a:t>2024</a:t>
            </a:r>
            <a:r>
              <a:rPr altLang="en-US" lang="zh-CN" b="1" sz="2800">
                <a:cs typeface="微软雅黑" panose="020B0503020204020204" charset="-122"/>
                <a:ea typeface="微软雅黑" panose="020B0503020204020204" charset="-122"/>
                <a:latin typeface="微软雅黑" panose="020B0503020204020204" charset="-122"/>
              </a:rPr>
              <a:t>－</a:t>
            </a:r>
            <a:r>
              <a:rPr altLang="zh-CN" lang="en-US" b="1" sz="2800">
                <a:cs typeface="微软雅黑" panose="020B0503020204020204" charset="-122"/>
                <a:ea typeface="微软雅黑" panose="020B0503020204020204" charset="-122"/>
                <a:latin typeface="微软雅黑" panose="020B0503020204020204" charset="-122"/>
              </a:rPr>
              <a:t>2035</a:t>
            </a:r>
            <a:r>
              <a:rPr altLang="en-US" lang="zh-CN" b="1" sz="2800">
                <a:cs typeface="微软雅黑" panose="020B0503020204020204" charset="-122"/>
                <a:ea typeface="微软雅黑" panose="020B0503020204020204" charset="-122"/>
                <a:latin typeface="微软雅黑" panose="020B0503020204020204" charset="-122"/>
              </a:rPr>
              <a:t>年）</a:t>
            </a:r>
            <a:r>
              <a:rPr altLang="zh-CN" lang="en-US" b="1" sz="2800">
                <a:cs typeface="微软雅黑" panose="020B0503020204020204" charset="-122"/>
                <a:ea typeface="微软雅黑" panose="020B0503020204020204" charset="-122"/>
                <a:latin typeface="微软雅黑" panose="020B0503020204020204" charset="-122"/>
              </a:rPr>
              <a:t>》</a:t>
            </a:r>
            <a:r>
              <a:rPr altLang="en-US" lang="zh-CN" b="1" sz="2800">
                <a:cs typeface="微软雅黑" panose="020B0503020204020204" charset="-122"/>
                <a:ea typeface="微软雅黑" panose="020B0503020204020204" charset="-122"/>
                <a:latin typeface="微软雅黑" panose="020B0503020204020204" charset="-122"/>
              </a:rPr>
              <a:t>强调，要促进学生健康成长、全面发展，深入实施素质教育，健全德智体美劳全面培养体系，加快补齐体育、美育、劳动教育短板。关于落实上述规划要求，下列说法正确的是</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92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①</a:t>
            </a:r>
            <a:r>
              <a:rPr altLang="en-US" lang="zh-CN" b="1" sz="2800">
                <a:cs typeface="微软雅黑" panose="020B0503020204020204" charset="-122"/>
                <a:ea typeface="微软雅黑" panose="020B0503020204020204" charset="-122"/>
                <a:latin typeface="微软雅黑" panose="020B0503020204020204" charset="-122"/>
              </a:rPr>
              <a:t>健全德智体美劳全面培养体系，关键在于监测学生体质健康和心理健康水平</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92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②</a:t>
            </a:r>
            <a:r>
              <a:rPr altLang="en-US" lang="zh-CN" b="1" sz="2800">
                <a:cs typeface="微软雅黑" panose="020B0503020204020204" charset="-122"/>
                <a:ea typeface="微软雅黑" panose="020B0503020204020204" charset="-122"/>
                <a:latin typeface="微软雅黑" panose="020B0503020204020204" charset="-122"/>
              </a:rPr>
              <a:t>补齐美育短板，要把开足音乐课、临摹名画作、参观博物馆艺术馆作为充分条件</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92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③</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加强宪法法治教育、国家安全教育、国防教育，有利于践行社会主义核心价值观</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92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④</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加强劳动教育，有助于提升学生动手实践能力、解决问题能力和社会适应能力</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0" algn="just" defTabSz="266700">
              <a:lnSpc>
                <a:spcPct val="92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A.①②     B.①④     C.②③     </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D. ③④</a:t>
            </a:r>
            <a:endParaRPr altLang="zh-CN" lang="en-US" b="1" sz="28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105410" y="5203825"/>
            <a:ext cx="11892915" cy="1568450"/>
          </a:xfrm>
          <a:prstGeom prst="rect">
            <a:avLst/>
          </a:prstGeom>
          <a:noFill/>
        </p:spPr>
        <p:txBody>
          <a:bodyPr wrap="square" rtlCol="0">
            <a:spAutoFit/>
          </a:bodyPr>
          <a:p>
            <a:pPr/>
            <a:r>
              <a:rPr altLang="en-US" lang="zh-CN" b="1" sz="2400">
                <a:solidFill>
                  <a:srgbClr val="FF0000"/>
                </a:solidFill>
              </a:rPr>
              <a:t>①错误：监测学生体质健康和心理健康水平只是其中一个重要方面，但不能称之为关键。</a:t>
            </a:r>
            <a:endParaRPr altLang="en-US" lang="zh-CN" b="1" sz="2400">
              <a:solidFill>
                <a:srgbClr val="FF0000"/>
              </a:solidFill>
            </a:endParaRPr>
          </a:p>
          <a:p>
            <a:pPr/>
            <a:r>
              <a:rPr altLang="en-US" lang="zh-CN" b="1" sz="2400">
                <a:solidFill>
                  <a:srgbClr val="FF0000"/>
                </a:solidFill>
              </a:rPr>
              <a:t>②错误：补齐美育短板，需要多方面的努力，开足音乐课、临摹名画作、参观博物馆艺术馆等是重要举措，但不能将其作为充分条件。美育还包括培养学生的审美能力、艺术素养、创造力等多个方面，是一个综合性的教育过程，仅靠这些活动是不够的。</a:t>
            </a:r>
            <a:endParaRPr altLang="en-US" lang="zh-CN" b="1" sz="2400">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353695" y="141605"/>
            <a:ext cx="11483975" cy="4892040"/>
          </a:xfrm>
          <a:prstGeom prst="rect">
            <a:avLst/>
          </a:prstGeom>
        </p:spPr>
        <p:txBody>
          <a:bodyPr wrap="square">
            <a:noAutofit/>
          </a:bodyPr>
          <a:p>
            <a:pPr marL="0" indent="0" algn="just" defTabSz="266700">
              <a:lnSpc>
                <a:spcPct val="11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3.</a:t>
            </a:r>
            <a:r>
              <a:rPr altLang="en-US" lang="zh-CN" b="1" sz="2800">
                <a:cs typeface="微软雅黑" panose="020B0503020204020204" charset="-122"/>
                <a:ea typeface="微软雅黑" panose="020B0503020204020204" charset="-122"/>
                <a:latin typeface="微软雅黑" panose="020B0503020204020204" charset="-122"/>
              </a:rPr>
              <a:t>杭州深度求索人工智能基础技术研究有限公司锐意创新，</a:t>
            </a:r>
            <a:r>
              <a:rPr altLang="en-US" lang="zh-CN" b="1" sz="2800">
                <a:cs typeface="微软雅黑" panose="020B0503020204020204" charset="-122"/>
                <a:ea typeface="微软雅黑" panose="020B0503020204020204" charset="-122"/>
                <a:latin typeface="微软雅黑" panose="020B0503020204020204" charset="-122"/>
              </a:rPr>
              <a:t>研发出智能助手</a:t>
            </a:r>
            <a:r>
              <a:rPr altLang="zh-CN" lang="en-US" b="1" sz="2800">
                <a:cs typeface="微软雅黑" panose="020B0503020204020204" charset="-122"/>
                <a:ea typeface="微软雅黑" panose="020B0503020204020204" charset="-122"/>
                <a:latin typeface="微软雅黑" panose="020B0503020204020204" charset="-122"/>
              </a:rPr>
              <a:t>DeepSeek</a:t>
            </a:r>
            <a:r>
              <a:rPr altLang="en-US" lang="zh-CN" b="1" sz="2800">
                <a:cs typeface="微软雅黑" panose="020B0503020204020204" charset="-122"/>
                <a:ea typeface="微软雅黑" panose="020B0503020204020204" charset="-122"/>
                <a:latin typeface="微软雅黑" panose="020B0503020204020204" charset="-122"/>
              </a:rPr>
              <a:t>系列模型。该系列模型通过优化算法和流程，能够用更少算力、更低成本完成更复杂的任务，颠覆了全球算力市场，大幅降低了大模型对芯片性能的需求。同时，该公司公开源代码，有利于技术普及，为全球人工智能发展注入活力。下列说法正确的是</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cs typeface="微软雅黑" panose="020B0503020204020204" charset="-122"/>
                <a:highlight>
                  <a:srgbClr val="FFFF00"/>
                </a:highlight>
                <a:ea typeface="微软雅黑" panose="020B0503020204020204" charset="-122"/>
                <a:latin typeface="微软雅黑" panose="020B0503020204020204" charset="-122"/>
              </a:rPr>
              <a:t>①</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当今时代的人工智能语言模型以强大算力改变了物质和意识的关系</a:t>
            </a:r>
            <a:endParaRPr altLang="en-US" lang="zh-CN" b="1" sz="2800">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②</a:t>
            </a:r>
            <a:r>
              <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人工智能语言模型的算力增强，能助力人们更好地进行分析与综合</a:t>
            </a:r>
            <a:endPar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cs typeface="微软雅黑" panose="020B0503020204020204" charset="-122"/>
                <a:highlight>
                  <a:srgbClr val="FFFF00"/>
                </a:highlight>
                <a:ea typeface="微软雅黑" panose="020B0503020204020204" charset="-122"/>
                <a:latin typeface="微软雅黑" panose="020B0503020204020204" charset="-122"/>
              </a:rPr>
              <a:t>③</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公开源代码，舍独享求共享，对企业、对用户、对社会都是利大于弊</a:t>
            </a:r>
            <a:endParaRPr altLang="en-US" lang="zh-CN" b="1" sz="2800">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④</a:t>
            </a:r>
            <a:r>
              <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持续优化算法，人工智能语言模型可在一定程度上不断解放生产力</a:t>
            </a:r>
            <a:endPar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A.①②     B.①③     </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 C.②④</a:t>
            </a:r>
            <a:r>
              <a:rPr altLang="zh-CN" lang="en-US" b="1" sz="2800">
                <a:cs typeface="微软雅黑" panose="020B0503020204020204" charset="-122"/>
                <a:ea typeface="微软雅黑" panose="020B0503020204020204" charset="-122"/>
                <a:latin typeface="微软雅黑" panose="020B0503020204020204" charset="-122"/>
              </a:rPr>
              <a:t>     D.③④</a:t>
            </a:r>
            <a:endParaRPr altLang="zh-CN" lang="en-US" b="1" sz="2800">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404495" y="5033645"/>
            <a:ext cx="10985500" cy="829945"/>
          </a:xfrm>
          <a:prstGeom prst="rect">
            <a:avLst/>
          </a:prstGeom>
          <a:noFill/>
        </p:spPr>
        <p:txBody>
          <a:bodyPr wrap="square" rtlCol="0">
            <a:spAutoFit/>
          </a:bodyPr>
          <a:p>
            <a:pPr/>
            <a:r>
              <a:rPr altLang="en-US" lang="zh-CN" b="1" sz="2400">
                <a:solidFill>
                  <a:srgbClr val="FF0000"/>
                </a:solidFill>
              </a:rPr>
              <a:t>①错误：物质决定意识，意识是物质的反映，人工智能语言模型的发展并没有改变物质和意识的关系，该说法夸大了人工智能的作用</a:t>
            </a:r>
            <a:endParaRPr altLang="en-US" lang="zh-CN" b="1" sz="2400">
              <a:solidFill>
                <a:srgbClr val="FF0000"/>
              </a:solidFill>
            </a:endParaRPr>
          </a:p>
        </p:txBody>
      </p:sp>
      <p:sp>
        <p:nvSpPr>
          <p:cNvPr id="5" name="文本框 4"/>
          <p:cNvSpPr/>
          <p:nvPr/>
        </p:nvSpPr>
        <p:spPr>
          <a:xfrm>
            <a:off x="527050" y="5863590"/>
            <a:ext cx="10862310" cy="829945"/>
          </a:xfrm>
          <a:prstGeom prst="rect">
            <a:avLst/>
          </a:prstGeom>
          <a:noFill/>
        </p:spPr>
        <p:txBody>
          <a:bodyPr wrap="square" rtlCol="0">
            <a:spAutoFit/>
          </a:bodyPr>
          <a:p>
            <a:pPr/>
            <a:r>
              <a:rPr altLang="en-US" lang="zh-CN" b="1" sz="2400">
                <a:solidFill>
                  <a:srgbClr val="FF0000"/>
                </a:solidFill>
              </a:rPr>
              <a:t>③错误：公开源代码对企业而言，虽然有利于技术普及和行业发展，但也可能会面临知识产权保护、市场竞争等问题，不能简单地说利大于弊。</a:t>
            </a:r>
            <a:endParaRPr altLang="en-US" lang="zh-CN" b="1" sz="2400">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p:bldP spid="5" grpId="1"/>
    </p:bldLst>
  </p:timing>
</p:sld>
</file>

<file path=ppt/slides/slide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0" y="214630"/>
            <a:ext cx="12277725" cy="3969385"/>
          </a:xfrm>
          <a:prstGeom prst="rect">
            <a:avLst/>
          </a:prstGeom>
        </p:spPr>
        <p:txBody>
          <a:bodyPr wrap="square">
            <a:spAutoFit/>
          </a:bodyPr>
          <a:p>
            <a:pPr marL="0" indent="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4.</a:t>
            </a:r>
            <a:r>
              <a:rPr altLang="en-US" lang="zh-CN" b="1" sz="2800">
                <a:cs typeface="微软雅黑" panose="020B0503020204020204" charset="-122"/>
                <a:ea typeface="微软雅黑" panose="020B0503020204020204" charset="-122"/>
                <a:latin typeface="微软雅黑" panose="020B0503020204020204" charset="-122"/>
              </a:rPr>
              <a:t>中文承载着中华民族数千年的文明智慧，是中国贡献给世界的重要公共文化产品。中文产品具有历史传承性，中文文化具有世界连通性，中文作为公共文化产品具有世界共享性。有位学者曾说：“汉语是世界语言里最简练的一个语种。同样表达一个意思，如果英语要</a:t>
            </a:r>
            <a:r>
              <a:rPr altLang="zh-CN" lang="en-US" b="1" sz="2800">
                <a:cs typeface="微软雅黑" panose="020B0503020204020204" charset="-122"/>
                <a:ea typeface="微软雅黑" panose="020B0503020204020204" charset="-122"/>
                <a:latin typeface="微软雅黑" panose="020B0503020204020204" charset="-122"/>
              </a:rPr>
              <a:t>60 </a:t>
            </a:r>
            <a:r>
              <a:rPr altLang="en-US" lang="zh-CN" b="1" sz="2800">
                <a:cs typeface="微软雅黑" panose="020B0503020204020204" charset="-122"/>
                <a:ea typeface="微软雅黑" panose="020B0503020204020204" charset="-122"/>
                <a:latin typeface="微软雅黑" panose="020B0503020204020204" charset="-122"/>
              </a:rPr>
              <a:t>秒，汉语</a:t>
            </a:r>
            <a:r>
              <a:rPr altLang="zh-CN" lang="en-US" b="1" sz="2800">
                <a:cs typeface="微软雅黑" panose="020B0503020204020204" charset="-122"/>
                <a:ea typeface="微软雅黑" panose="020B0503020204020204" charset="-122"/>
                <a:latin typeface="微软雅黑" panose="020B0503020204020204" charset="-122"/>
              </a:rPr>
              <a:t>5</a:t>
            </a:r>
            <a:r>
              <a:rPr altLang="en-US" lang="zh-CN" b="1" sz="2800">
                <a:cs typeface="微软雅黑" panose="020B0503020204020204" charset="-122"/>
                <a:ea typeface="微软雅黑" panose="020B0503020204020204" charset="-122"/>
                <a:latin typeface="微软雅黑" panose="020B0503020204020204" charset="-122"/>
              </a:rPr>
              <a:t>秒就够了。”下列说法正确的</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是</a:t>
            </a:r>
            <a:endParaRPr altLang="en-US" lang="zh-CN" b="1" sz="2800">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A.“</a:t>
            </a:r>
            <a:r>
              <a:rPr altLang="en-US" lang="zh-CN" b="1" sz="2800">
                <a:cs typeface="微软雅黑" panose="020B0503020204020204" charset="-122"/>
                <a:ea typeface="微软雅黑" panose="020B0503020204020204" charset="-122"/>
                <a:latin typeface="微软雅黑" panose="020B0503020204020204" charset="-122"/>
              </a:rPr>
              <a:t>人尽其才，物尽其用，地尽其利，货畅其流”，阐明了世界的物质性 </a:t>
            </a:r>
            <a:r>
              <a:rPr altLang="zh-CN" lang="en-US" b="1" sz="2800">
                <a:cs typeface="微软雅黑" panose="020B0503020204020204" charset="-122"/>
                <a:ea typeface="微软雅黑" panose="020B0503020204020204" charset="-122"/>
                <a:latin typeface="微软雅黑" panose="020B0503020204020204" charset="-122"/>
              </a:rPr>
              <a:t>   </a:t>
            </a:r>
            <a:endParaRPr altLang="zh-CN" lang="en-US" b="1" sz="28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B.“</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敌进我退，敌驻我扰，敌疲我打，敌退我追”，把握了具体分析方法</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C.“</a:t>
            </a:r>
            <a:r>
              <a:rPr altLang="en-US" lang="zh-CN" b="1" sz="2800">
                <a:cs typeface="微软雅黑" panose="020B0503020204020204" charset="-122"/>
                <a:ea typeface="微软雅黑" panose="020B0503020204020204" charset="-122"/>
                <a:latin typeface="微软雅黑" panose="020B0503020204020204" charset="-122"/>
              </a:rPr>
              <a:t>简言达旨，博文</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赅</a:t>
            </a:r>
            <a:r>
              <a:rPr altLang="en-US" lang="zh-CN" b="1" sz="2800">
                <a:cs typeface="微软雅黑" panose="020B0503020204020204" charset="-122"/>
                <a:ea typeface="微软雅黑" panose="020B0503020204020204" charset="-122"/>
                <a:latin typeface="微软雅黑" panose="020B0503020204020204" charset="-122"/>
              </a:rPr>
              <a:t>情，明理立体，隐义藏用”，阐释了辩证的否定观 </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D.“</a:t>
            </a:r>
            <a:r>
              <a:rPr altLang="en-US" lang="zh-CN" b="1" sz="2800">
                <a:cs typeface="微软雅黑" panose="020B0503020204020204" charset="-122"/>
                <a:ea typeface="微软雅黑" panose="020B0503020204020204" charset="-122"/>
                <a:latin typeface="微软雅黑" panose="020B0503020204020204" charset="-122"/>
              </a:rPr>
              <a:t>纵有千古，横有八荒，前途似海，来日方长”，论证了认识的无限性</a:t>
            </a:r>
            <a:endParaRPr altLang="en-US" lang="zh-CN" b="1" sz="2800">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367665" y="4297045"/>
            <a:ext cx="11543030" cy="706755"/>
          </a:xfrm>
          <a:prstGeom prst="rect">
            <a:avLst/>
          </a:prstGeom>
          <a:noFill/>
        </p:spPr>
        <p:txBody>
          <a:bodyPr wrap="square" rtlCol="0">
            <a:spAutoFit/>
          </a:bodyPr>
          <a:p>
            <a:pPr/>
            <a:r>
              <a:rPr altLang="en-US" lang="zh-CN" b="1" sz="2000">
                <a:solidFill>
                  <a:srgbClr val="FF0000"/>
                </a:solidFill>
              </a:rPr>
              <a:t>A 选项：主要强调的是要充分发挥人的才能、物的效用、地的潜力以及促进货物的流通，重点在于如何合理利用资源，而非阐明世界的物质性，</a:t>
            </a:r>
            <a:endParaRPr altLang="en-US" lang="zh-CN" b="1" sz="2000">
              <a:solidFill>
                <a:srgbClr val="FF0000"/>
              </a:solidFill>
            </a:endParaRPr>
          </a:p>
        </p:txBody>
      </p:sp>
      <p:sp>
        <p:nvSpPr>
          <p:cNvPr id="4" name="文本框 3"/>
          <p:cNvSpPr/>
          <p:nvPr/>
        </p:nvSpPr>
        <p:spPr>
          <a:xfrm>
            <a:off x="340360" y="5116830"/>
            <a:ext cx="11570335" cy="706755"/>
          </a:xfrm>
          <a:prstGeom prst="rect">
            <a:avLst/>
          </a:prstGeom>
          <a:noFill/>
        </p:spPr>
        <p:txBody>
          <a:bodyPr wrap="square" rtlCol="0">
            <a:spAutoFit/>
          </a:bodyPr>
          <a:p>
            <a:pPr/>
            <a:r>
              <a:rPr altLang="en-US" lang="zh-CN" b="1" sz="2000">
                <a:solidFill>
                  <a:srgbClr val="FF0000"/>
                </a:solidFill>
              </a:rPr>
              <a:t>C 选项：主要是在描述中文语言表达的特点，即简洁地表达主旨、用丰富的内容包含情感、明白道理并构建体系、蕴含深刻的意义和作用，与辩证的否定观并无直接关联，故 C 项错误。</a:t>
            </a:r>
            <a:endParaRPr altLang="en-US" lang="zh-CN" b="1" sz="2000">
              <a:solidFill>
                <a:srgbClr val="FF0000"/>
              </a:solidFill>
            </a:endParaRPr>
          </a:p>
        </p:txBody>
      </p:sp>
      <p:sp>
        <p:nvSpPr>
          <p:cNvPr id="5" name="文本框 4"/>
          <p:cNvSpPr/>
          <p:nvPr/>
        </p:nvSpPr>
        <p:spPr>
          <a:xfrm>
            <a:off x="340360" y="6044565"/>
            <a:ext cx="11250295" cy="706755"/>
          </a:xfrm>
          <a:prstGeom prst="rect">
            <a:avLst/>
          </a:prstGeom>
          <a:noFill/>
        </p:spPr>
        <p:txBody>
          <a:bodyPr wrap="square" rtlCol="0">
            <a:spAutoFit/>
          </a:bodyPr>
          <a:p>
            <a:pPr/>
            <a:r>
              <a:rPr altLang="en-US" lang="zh-CN" b="1" sz="2000">
                <a:solidFill>
                  <a:srgbClr val="FF0000"/>
                </a:solidFill>
              </a:rPr>
              <a:t>D 选项：“ 主要是在表达对国家和民族前途的展望，强调未来的发展空间广阔，时间充裕，并非论证认识的无限性，故 D 项错误。</a:t>
            </a:r>
            <a:endParaRPr altLang="en-US" lang="zh-CN" b="1" sz="2000">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Lst>
  </p:timing>
</p:sld>
</file>

<file path=ppt/slides/slide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505460" y="206375"/>
            <a:ext cx="11181715" cy="4356100"/>
          </a:xfrm>
          <a:prstGeom prst="rect">
            <a:avLst/>
          </a:prstGeom>
        </p:spPr>
        <p:txBody>
          <a:bodyPr wrap="square">
            <a:spAutoFit/>
          </a:bodyPr>
          <a:p>
            <a:pPr marL="0" indent="0" algn="just" defTabSz="266700">
              <a:lnSpc>
                <a:spcPct val="11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5. </a:t>
            </a:r>
            <a:r>
              <a:rPr altLang="en-US" lang="zh-CN" b="1" sz="2800">
                <a:cs typeface="微软雅黑" panose="020B0503020204020204" charset="-122"/>
                <a:ea typeface="微软雅黑" panose="020B0503020204020204" charset="-122"/>
                <a:latin typeface="微软雅黑" panose="020B0503020204020204" charset="-122"/>
              </a:rPr>
              <a:t>我们认识事物，必然会对事物作出断定，或者肯定它们是什么、相互之间有什么关系，或者否定它们是什么、相互之间有什么关系。判断就是对认识对象有所断定的思维形式。下列说法正确的是</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①“</a:t>
            </a:r>
            <a:r>
              <a:rPr altLang="en-US" lang="zh-CN" b="1" sz="2800">
                <a:cs typeface="微软雅黑" panose="020B0503020204020204" charset="-122"/>
                <a:ea typeface="微软雅黑" panose="020B0503020204020204" charset="-122"/>
                <a:latin typeface="微软雅黑" panose="020B0503020204020204" charset="-122"/>
              </a:rPr>
              <a:t>经济基础决定上层建筑”，这里的“决定”关系属于</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非对称关系</a:t>
            </a:r>
            <a:endParaRPr altLang="en-US" lang="zh-CN" b="1" sz="2800">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②“</a:t>
            </a:r>
            <a:r>
              <a:rPr altLang="en-US" lang="zh-CN" b="1" sz="2800">
                <a:cs typeface="微软雅黑" panose="020B0503020204020204" charset="-122"/>
                <a:ea typeface="微软雅黑" panose="020B0503020204020204" charset="-122"/>
                <a:latin typeface="微软雅黑" panose="020B0503020204020204" charset="-122"/>
              </a:rPr>
              <a:t>单靠市场调节，会产生不正当竞争”，是在断定对象的可能情况</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③“</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法是由国家制定和认可的行为规范”，这个判断的主项是周延的</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④“</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赡养父母要在生活上照料父母，还要在精神上慰藉父母”，这属于联言判断</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1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A</a:t>
            </a:r>
            <a:r>
              <a:rPr altLang="en-US" lang="zh-CN" b="1" sz="2800">
                <a:cs typeface="微软雅黑" panose="020B0503020204020204" charset="-122"/>
                <a:ea typeface="微软雅黑" panose="020B0503020204020204" charset="-122"/>
                <a:latin typeface="微软雅黑" panose="020B0503020204020204" charset="-122"/>
              </a:rPr>
              <a:t>．</a:t>
            </a:r>
            <a:r>
              <a:rPr altLang="zh-CN" lang="en-US" b="1" sz="2800">
                <a:cs typeface="微软雅黑" panose="020B0503020204020204" charset="-122"/>
                <a:ea typeface="微软雅黑" panose="020B0503020204020204" charset="-122"/>
                <a:latin typeface="微软雅黑" panose="020B0503020204020204" charset="-122"/>
              </a:rPr>
              <a:t>①②</a:t>
            </a:r>
            <a:r>
              <a:rPr altLang="zh-CN" lang="en-US" b="1" sz="2800">
                <a:cs typeface="微软雅黑" panose="020B0503020204020204" charset="-122"/>
                <a:ea typeface="微软雅黑" panose="020B0503020204020204" charset="-122"/>
                <a:latin typeface="微软雅黑" panose="020B0503020204020204" charset="-122"/>
              </a:rPr>
              <a:t/>
            </a:r>
            <a:r>
              <a:rPr altLang="zh-CN" lang="en-US" b="1" sz="2800">
                <a:cs typeface="微软雅黑" panose="020B0503020204020204" charset="-122"/>
                <a:ea typeface="微软雅黑" panose="020B0503020204020204" charset="-122"/>
                <a:latin typeface="微软雅黑" panose="020B0503020204020204" charset="-122"/>
              </a:rPr>
              <a:t>    B</a:t>
            </a:r>
            <a:r>
              <a:rPr altLang="en-US" lang="zh-CN" b="1" sz="2800">
                <a:cs typeface="微软雅黑" panose="020B0503020204020204" charset="-122"/>
                <a:ea typeface="微软雅黑" panose="020B0503020204020204" charset="-122"/>
                <a:latin typeface="微软雅黑" panose="020B0503020204020204" charset="-122"/>
              </a:rPr>
              <a:t>．</a:t>
            </a:r>
            <a:r>
              <a:rPr altLang="zh-CN" lang="en-US" b="1" sz="2800">
                <a:cs typeface="微软雅黑" panose="020B0503020204020204" charset="-122"/>
                <a:ea typeface="微软雅黑" panose="020B0503020204020204" charset="-122"/>
                <a:latin typeface="微软雅黑" panose="020B0503020204020204" charset="-122"/>
              </a:rPr>
              <a:t>①③</a:t>
            </a:r>
            <a:r>
              <a:rPr altLang="zh-CN" lang="en-US" b="1" sz="2800">
                <a:cs typeface="微软雅黑" panose="020B0503020204020204" charset="-122"/>
                <a:ea typeface="微软雅黑" panose="020B0503020204020204" charset="-122"/>
                <a:latin typeface="微软雅黑" panose="020B0503020204020204" charset="-122"/>
              </a:rPr>
              <a:t/>
            </a:r>
            <a:r>
              <a:rPr altLang="zh-CN" lang="en-US" b="1" sz="2800">
                <a:cs typeface="微软雅黑" panose="020B0503020204020204" charset="-122"/>
                <a:ea typeface="微软雅黑" panose="020B0503020204020204" charset="-122"/>
                <a:latin typeface="微软雅黑" panose="020B0503020204020204" charset="-122"/>
              </a:rPr>
              <a:t>   C</a:t>
            </a:r>
            <a:r>
              <a:rPr altLang="en-US" lang="zh-CN" b="1" sz="2800">
                <a:cs typeface="微软雅黑" panose="020B0503020204020204" charset="-122"/>
                <a:ea typeface="微软雅黑" panose="020B0503020204020204" charset="-122"/>
                <a:latin typeface="微软雅黑" panose="020B0503020204020204" charset="-122"/>
              </a:rPr>
              <a:t>．</a:t>
            </a:r>
            <a:r>
              <a:rPr altLang="zh-CN" lang="en-US" b="1" sz="2800">
                <a:cs typeface="微软雅黑" panose="020B0503020204020204" charset="-122"/>
                <a:ea typeface="微软雅黑" panose="020B0503020204020204" charset="-122"/>
                <a:latin typeface="微软雅黑" panose="020B0503020204020204" charset="-122"/>
              </a:rPr>
              <a:t>②④</a:t>
            </a:r>
            <a:r>
              <a:rPr altLang="zh-CN" lang="en-US" b="1" sz="2800">
                <a:cs typeface="微软雅黑" panose="020B0503020204020204" charset="-122"/>
                <a:ea typeface="微软雅黑" panose="020B0503020204020204" charset="-122"/>
                <a:latin typeface="微软雅黑" panose="020B0503020204020204" charset="-122"/>
              </a:rPr>
              <a:t/>
            </a:r>
            <a:r>
              <a:rPr altLang="zh-CN" lang="en-US" b="1" sz="2800">
                <a:cs typeface="微软雅黑" panose="020B0503020204020204" charset="-122"/>
                <a:ea typeface="微软雅黑" panose="020B0503020204020204" charset="-122"/>
                <a:latin typeface="微软雅黑" panose="020B0503020204020204" charset="-122"/>
              </a:rPr>
              <a:t>   </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D</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③④</a:t>
            </a:r>
            <a:endParaRPr altLang="zh-CN" lang="en-US" b="1" sz="28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250825" y="4733290"/>
            <a:ext cx="11285855" cy="829945"/>
          </a:xfrm>
          <a:prstGeom prst="rect">
            <a:avLst/>
          </a:prstGeom>
        </p:spPr>
        <p:txBody>
          <a:bodyPr wrap="square">
            <a:spAutoFit/>
          </a:bodyPr>
          <a:p>
            <a:pPr marL="0" indent="0" algn="just" defTabSz="266700">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①</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错误：在 “经济基础决定上层建筑” 中，“决定” 关系是一种</a:t>
            </a:r>
            <a:r>
              <a:rPr altLang="en-US" lang="zh-CN" b="1" sz="24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反对称关系</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。因为经济基础决定上层建筑，但上层建筑对经济基础也有反作用。</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4" name="文本框 3"/>
          <p:cNvSpPr/>
          <p:nvPr/>
        </p:nvSpPr>
        <p:spPr>
          <a:xfrm>
            <a:off x="250825" y="5631180"/>
            <a:ext cx="11512550" cy="1198880"/>
          </a:xfrm>
          <a:prstGeom prst="rect">
            <a:avLst/>
          </a:prstGeom>
        </p:spPr>
        <p:txBody>
          <a:bodyPr wrap="square">
            <a:spAutoFit/>
          </a:bodyPr>
          <a:p>
            <a:pPr marL="0" indent="266700" algn="just" defTabSz="266700">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②</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错误：“单靠市场调节，会产生不正当竞争”，这是在断定一种必然的情况，而不是可能情况。该判断表明单靠市场调节必然会产生不正当竞争这一结果，是一种确定性的断定。</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175260" y="175260"/>
            <a:ext cx="11510645" cy="3107690"/>
          </a:xfrm>
          <a:prstGeom prst="rect">
            <a:avLst/>
          </a:prstGeom>
        </p:spPr>
        <p:txBody>
          <a:bodyPr wrap="square">
            <a:spAutoFit/>
          </a:bodyPr>
          <a:p>
            <a:pPr marL="0" indent="0" algn="just" defTabSz="266700">
              <a:lnSpc>
                <a:spcPct val="100000"/>
              </a:lnSpc>
              <a:spcBef>
                <a:spcPct val="0"/>
              </a:spcBef>
              <a:spcAft>
                <a:spcPct val="0"/>
              </a:spcAft>
            </a:pPr>
            <a:r>
              <a:rPr altLang="zh-CN" lang="en-US" b="1" sz="2800">
                <a:cs typeface="微软雅黑" panose="020B0503020204020204" charset="-122"/>
                <a:highlight>
                  <a:srgbClr val="FFFF00"/>
                </a:highlight>
                <a:ea typeface="微软雅黑" panose="020B0503020204020204" charset="-122"/>
                <a:latin typeface="微软雅黑" panose="020B0503020204020204" charset="-122"/>
              </a:rPr>
              <a:t>6.</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中国的书法五体，是指篆、隶、行、楷、草。每种字体又细分为若干小类，如篆书有大篆、小篆，楷书有魏碑、唐楷，草书有章草、今草、狂草。下列说法符合逻辑规则的是</a:t>
            </a:r>
            <a:endParaRPr altLang="en-US" lang="zh-CN" b="1" sz="2800">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A.</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篆书线条规整，所以，有些线条规整的字体是篆书</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B.</a:t>
            </a:r>
            <a:r>
              <a:rPr altLang="en-US" lang="zh-CN" b="1" sz="2800">
                <a:cs typeface="微软雅黑" panose="020B0503020204020204" charset="-122"/>
                <a:ea typeface="微软雅黑" panose="020B0503020204020204" charset="-122"/>
                <a:latin typeface="微软雅黑" panose="020B0503020204020204" charset="-122"/>
              </a:rPr>
              <a:t>书法字体分为篆书、隶书、行书、楷书和草书</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 </a:t>
            </a:r>
            <a:endParaRPr altLang="zh-CN" lang="en-US"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solidFill>
                  <a:srgbClr val="000000"/>
                </a:solidFill>
                <a:cs typeface="微软雅黑" panose="020B0503020204020204" charset="-122"/>
                <a:ea typeface="微软雅黑" panose="020B0503020204020204" charset="-122"/>
                <a:latin typeface="微软雅黑" panose="020B0503020204020204" charset="-122"/>
              </a:rPr>
              <a:t>C.</a:t>
            </a:r>
            <a:r>
              <a:rPr altLang="en-US" lang="zh-CN" b="1" sz="2800">
                <a:solidFill>
                  <a:srgbClr val="000000"/>
                </a:solidFill>
                <a:cs typeface="微软雅黑" panose="020B0503020204020204" charset="-122"/>
                <a:ea typeface="微软雅黑" panose="020B0503020204020204" charset="-122"/>
                <a:latin typeface="微软雅黑" panose="020B0503020204020204" charset="-122"/>
              </a:rPr>
              <a:t>隶书笔画粗细分明，所以，如果不是隶书，笔画粗细不分明</a:t>
            </a:r>
            <a:endParaRPr altLang="en-US" lang="zh-CN" b="1" sz="2800">
              <a:solidFill>
                <a:srgbClr val="00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D.</a:t>
            </a:r>
            <a:r>
              <a:rPr altLang="en-US" lang="zh-CN" b="1" sz="2800">
                <a:cs typeface="微软雅黑" panose="020B0503020204020204" charset="-122"/>
                <a:ea typeface="微软雅黑" panose="020B0503020204020204" charset="-122"/>
                <a:latin typeface="微软雅黑" panose="020B0503020204020204" charset="-122"/>
              </a:rPr>
              <a:t>楷书具有实用性，行书不是楷书，所以，行书不具有实用性</a:t>
            </a:r>
            <a:endParaRPr altLang="en-US" lang="zh-CN" b="1" sz="2800">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175260" y="3137535"/>
            <a:ext cx="11814175" cy="3938270"/>
          </a:xfrm>
          <a:prstGeom prst="rect">
            <a:avLst/>
          </a:prstGeom>
        </p:spPr>
        <p:txBody>
          <a:bodyPr wrap="square">
            <a:spAutoFit/>
          </a:bodyPr>
          <a:p>
            <a:pPr marL="0" indent="266700" algn="just" defTabSz="266700">
              <a:lnSpc>
                <a:spcPct val="100000"/>
              </a:lnSpc>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A </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选项：“篆书线条规整”，可以换位推理得出 “有些线条规整的字体是篆书”，符合逻辑规则。</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B </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选项：中国书法五体是指篆、隶、行、楷、草，但每种字体又细分为若干小类，该选项只列举了大的类别，没有包含细分的小类，划分不全，不符合逻辑规则。</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C </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选项：“隶书笔画粗细分明”，只能得出 “有些笔画粗细分明的是隶书”，不能得出 “如果不是隶书，笔画粗细不分明”，这属于否前推否后的错误推理，不符合逻辑规则。</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D </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选项：“楷书具有实用性”，“行书不是楷书”，这是一个三段论推理，但是在前提中 “具有实用性” 是不周延的，在结论中却周延了，犯了 “大项不当扩大” 的逻辑错误，不符合逻辑规则。</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ts val="1200"/>
              </a:lnSpc>
              <a:spcBef>
                <a:spcPct val="0"/>
              </a:spcBef>
              <a:spcAft>
                <a:spcPct val="0"/>
              </a:spcAft>
            </a:pPr>
            <a:r>
              <a:rPr altLang="zh-CN" lang="en-US" sz="1600">
                <a:solidFill>
                  <a:srgbClr val="0000FF"/>
                </a:solidFill>
                <a:ea typeface="宋体" panose="02010600030101010101" pitchFamily="2" charset="-122"/>
                <a:latin typeface="宋体" panose="02010600030101010101" pitchFamily="2" charset="-122"/>
              </a:rPr>
              <a:t> </a:t>
            </a:r>
            <a:endParaRPr altLang="zh-CN" lang="en-US" sz="1600">
              <a:solidFill>
                <a:srgbClr val="0000FF"/>
              </a:solidFill>
              <a:ea typeface="宋体" panose="02010600030101010101" pitchFamily="2" charset="-122"/>
              <a:latin typeface="宋体" panose="0201060003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635" y="141605"/>
            <a:ext cx="12045950" cy="4399915"/>
          </a:xfrm>
          <a:prstGeom prst="rect">
            <a:avLst/>
          </a:prstGeom>
        </p:spPr>
        <p:txBody>
          <a:bodyPr wrap="square">
            <a:spAutoFit/>
          </a:bodyPr>
          <a:p>
            <a:pPr marL="0" indent="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7.</a:t>
            </a:r>
            <a:r>
              <a:rPr altLang="en-US" lang="zh-CN" b="1" sz="2800">
                <a:cs typeface="微软雅黑" panose="020B0503020204020204" charset="-122"/>
                <a:ea typeface="微软雅黑" panose="020B0503020204020204" charset="-122"/>
                <a:latin typeface="微软雅黑" panose="020B0503020204020204" charset="-122"/>
              </a:rPr>
              <a:t>数学家拉格朗日在聆听音乐时萌发了求积分极值的变分法念头；物理学家海森堡由于受音乐理论中泛音振动的频率是基音振动的整倍数的启发，做了原子跃迁的基频与次频的实验；化学家纽兰兹受音阶的启示而发现了元素按原子量递增的排序规律，从而创造了元素周期的“八音律”表。下列</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说法</a:t>
            </a:r>
            <a:r>
              <a:rPr altLang="en-US" lang="zh-CN" b="1" sz="2800">
                <a:cs typeface="微软雅黑" panose="020B0503020204020204" charset="-122"/>
                <a:ea typeface="微软雅黑" panose="020B0503020204020204" charset="-122"/>
                <a:latin typeface="微软雅黑" panose="020B0503020204020204" charset="-122"/>
              </a:rPr>
              <a:t>正确的是</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highlight>
                  <a:srgbClr val="FFFF00"/>
                </a:highlight>
                <a:ea typeface="微软雅黑" panose="020B0503020204020204" charset="-122"/>
                <a:latin typeface="微软雅黑" panose="020B0503020204020204" charset="-122"/>
              </a:rPr>
              <a:t>①</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借助音乐，人们才能发挥思维的能动性，创造出前所未有的事物</a:t>
            </a:r>
            <a:endParaRPr altLang="en-US" lang="zh-CN" b="1" sz="2800">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②</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科学家把不同的认识进行联结和思考，这种思维的联结方式具有跨越性</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③</a:t>
            </a:r>
            <a:r>
              <a:rPr altLang="en-US" lang="zh-CN" b="1" sz="2800">
                <a:cs typeface="微软雅黑" panose="020B0503020204020204" charset="-122"/>
                <a:ea typeface="微软雅黑" panose="020B0503020204020204" charset="-122"/>
                <a:latin typeface="微软雅黑" panose="020B0503020204020204" charset="-122"/>
              </a:rPr>
              <a:t>科学研究中的创新思维，往往能突破客观条件的制约实现认识的飞跃</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④</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形象思维和抽象思维各有其功能和作用，在科学研究工作中具有互补性</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A. ①②    B. ①③     </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C.②④</a:t>
            </a:r>
            <a:r>
              <a:rPr altLang="zh-CN" lang="en-US" b="1" sz="2800">
                <a:cs typeface="微软雅黑" panose="020B0503020204020204" charset="-122"/>
                <a:ea typeface="微软雅黑" panose="020B0503020204020204" charset="-122"/>
                <a:latin typeface="微软雅黑" panose="020B0503020204020204" charset="-122"/>
              </a:rPr>
              <a:t>     D.③④</a:t>
            </a:r>
            <a:endParaRPr altLang="zh-CN" lang="en-US" b="1" sz="2800">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295275" y="4589780"/>
            <a:ext cx="11750040" cy="829945"/>
          </a:xfrm>
          <a:prstGeom prst="rect">
            <a:avLst/>
          </a:prstGeom>
          <a:noFill/>
        </p:spPr>
        <p:txBody>
          <a:bodyPr wrap="square" rtlCol="0">
            <a:spAutoFit/>
          </a:bodyPr>
          <a:p>
            <a:pPr/>
            <a:r>
              <a:rPr altLang="en-US" lang="zh-CN" b="1" sz="2400">
                <a:solidFill>
                  <a:srgbClr val="FF0000"/>
                </a:solidFill>
              </a:rPr>
              <a:t>①错误：思维的能动性是人类特有的能力，人们发挥思维能动性并不一定借助音乐才能创造出前所未有的事物，借助其他各种因素和方式都可以发挥思维能动性进行创造。</a:t>
            </a:r>
            <a:endParaRPr altLang="en-US" lang="zh-CN" b="1" sz="2400">
              <a:solidFill>
                <a:srgbClr val="FF0000"/>
              </a:solidFill>
            </a:endParaRPr>
          </a:p>
        </p:txBody>
      </p:sp>
      <p:sp>
        <p:nvSpPr>
          <p:cNvPr id="4" name="文本框 3"/>
          <p:cNvSpPr/>
          <p:nvPr/>
        </p:nvSpPr>
        <p:spPr>
          <a:xfrm>
            <a:off x="328295" y="5553710"/>
            <a:ext cx="12034520" cy="972185"/>
          </a:xfrm>
          <a:prstGeom prst="rect">
            <a:avLst/>
          </a:prstGeom>
          <a:noFill/>
        </p:spPr>
        <p:txBody>
          <a:bodyPr wrap="square" rtlCol="0">
            <a:noAutofit/>
          </a:bodyPr>
          <a:p>
            <a:pPr/>
            <a:r>
              <a:rPr altLang="en-US" lang="zh-CN" b="1" sz="2400">
                <a:solidFill>
                  <a:srgbClr val="FF0000"/>
                </a:solidFill>
              </a:rPr>
              <a:t>③错误：科学研究中的创新思维受到客观条件的制约，不能突破客观条件的限制，而是在尊重客观条件的基础上，充分发挥主观能动性，实现认识的飞跃。</a:t>
            </a:r>
            <a:endParaRPr altLang="en-US" lang="zh-CN" b="1" sz="2400">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1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449580" y="70485"/>
            <a:ext cx="11614785" cy="521970"/>
          </a:xfrm>
          <a:prstGeom prst="rect">
            <a:avLst/>
          </a:prstGeom>
        </p:spPr>
        <p:txBody>
          <a:bodyPr wrap="square">
            <a:spAutoFit/>
          </a:bodyPr>
          <a:p>
            <a:pPr marL="0" indent="0" algn="l" defTabSz="266700">
              <a:lnSpc>
                <a:spcPct val="100000"/>
              </a:lnSpc>
              <a:spcBef>
                <a:spcPct val="0"/>
              </a:spcBef>
              <a:spcAft>
                <a:spcPct val="0"/>
              </a:spcAft>
            </a:pPr>
            <a:r>
              <a:rPr altLang="zh-CN" lang="en-US" b="1" sz="2800">
                <a:solidFill>
                  <a:srgbClr val="333333"/>
                </a:solidFill>
                <a:cs typeface="微软雅黑" panose="020B0503020204020204" charset="-122"/>
                <a:ea typeface="微软雅黑" panose="020B0503020204020204" charset="-122"/>
                <a:latin typeface="微软雅黑" panose="020B0503020204020204" charset="-122"/>
              </a:rPr>
              <a:t>8.2025</a:t>
            </a:r>
            <a:r>
              <a:rPr altLang="en-US" lang="zh-CN" b="1" sz="2800">
                <a:solidFill>
                  <a:srgbClr val="333333"/>
                </a:solidFill>
                <a:cs typeface="微软雅黑" panose="020B0503020204020204" charset="-122"/>
                <a:ea typeface="微软雅黑" panose="020B0503020204020204" charset="-122"/>
                <a:latin typeface="微软雅黑" panose="020B0503020204020204" charset="-122"/>
              </a:rPr>
              <a:t>年两会召开，</a:t>
            </a:r>
            <a:r>
              <a:rPr altLang="en-US" lang="zh-CN" b="1" sz="2800">
                <a:solidFill>
                  <a:srgbClr val="333333"/>
                </a:solidFill>
                <a:cs typeface="微软雅黑" panose="020B0503020204020204" charset="-122"/>
                <a:highlight>
                  <a:srgbClr val="FFFF00"/>
                </a:highlight>
                <a:ea typeface="微软雅黑" panose="020B0503020204020204" charset="-122"/>
                <a:latin typeface="微软雅黑" panose="020B0503020204020204" charset="-122"/>
              </a:rPr>
              <a:t>代表委员所提建议和议案</a:t>
            </a:r>
            <a:r>
              <a:rPr altLang="en-US" lang="zh-CN" b="1" sz="2800">
                <a:solidFill>
                  <a:srgbClr val="333333"/>
                </a:solidFill>
                <a:cs typeface="微软雅黑" panose="020B0503020204020204" charset="-122"/>
                <a:ea typeface="微软雅黑" panose="020B0503020204020204" charset="-122"/>
                <a:latin typeface="微软雅黑" panose="020B0503020204020204" charset="-122"/>
              </a:rPr>
              <a:t>的相关数据受到广泛关注。</a:t>
            </a:r>
            <a:endParaRPr altLang="en-US" lang="zh-CN" b="1" sz="2800">
              <a:solidFill>
                <a:srgbClr val="333333"/>
              </a:solidFill>
              <a:cs typeface="微软雅黑" panose="020B0503020204020204" charset="-122"/>
              <a:ea typeface="微软雅黑" panose="020B0503020204020204" charset="-122"/>
              <a:latin typeface="微软雅黑" panose="020B0503020204020204" charset="-122"/>
            </a:endParaRPr>
          </a:p>
        </p:txBody>
      </p:sp>
      <p:graphicFrame>
        <p:nvGraphicFramePr>
          <p:cNvPr id="3" name="表格 2"/>
          <p:cNvGraphicFramePr/>
          <p:nvPr>
            <p:custDataLst>
              <p:tags r:id="rId1"/>
            </p:custDataLst>
          </p:nvPr>
        </p:nvGraphicFramePr>
        <p:xfrm>
          <a:off x="1021080" y="592455"/>
          <a:ext cx="9825355" cy="1524000"/>
        </p:xfrm>
        <a:graphic>
          <a:graphicData uri="http://schemas.openxmlformats.org/drawingml/2006/table">
            <a:tbl>
              <a:tblPr/>
              <a:tblGrid>
                <a:gridCol w="9825355"/>
              </a:tblGrid>
              <a:tr h="1524000">
                <a:tc>
                  <a:txBody>
                    <a:bodyPr/>
                    <a:p>
                      <a:pPr marL="0" indent="266700" algn="l">
                        <a:lnSpc>
                          <a:spcPct val="100000"/>
                        </a:lnSpc>
                        <a:spcBef>
                          <a:spcPct val="0"/>
                        </a:spcBef>
                        <a:spcAft>
                          <a:spcPct val="0"/>
                        </a:spcAft>
                      </a:pPr>
                      <a:r>
                        <a:rPr altLang="zh-CN" lang="en-US" sz="2000">
                          <a:solidFill>
                            <a:srgbClr val="333333"/>
                          </a:solidFill>
                          <a:ea typeface="楷体" panose="02010609060101010101" charset="-122"/>
                          <a:latin typeface="楷体" panose="02010609060101010101" charset="-122"/>
                        </a:rPr>
                        <a:t>2024</a:t>
                      </a:r>
                      <a:r>
                        <a:rPr altLang="en-US" lang="zh-CN" sz="2000">
                          <a:solidFill>
                            <a:srgbClr val="333333"/>
                          </a:solidFill>
                          <a:ea typeface="楷体" panose="02010609060101010101" charset="-122"/>
                          <a:latin typeface="楷体" panose="02010609060101010101" charset="-122"/>
                        </a:rPr>
                        <a:t>年，国务院各部门共承办两会全国人大代表建议</a:t>
                      </a:r>
                      <a:r>
                        <a:rPr altLang="zh-CN" lang="en-US" sz="2000">
                          <a:solidFill>
                            <a:srgbClr val="333333"/>
                          </a:solidFill>
                          <a:ea typeface="楷体" panose="02010609060101010101" charset="-122"/>
                          <a:latin typeface="楷体" panose="02010609060101010101" charset="-122"/>
                        </a:rPr>
                        <a:t>8783</a:t>
                      </a:r>
                      <a:r>
                        <a:rPr altLang="en-US" lang="zh-CN" sz="2000">
                          <a:solidFill>
                            <a:srgbClr val="333333"/>
                          </a:solidFill>
                          <a:ea typeface="楷体" panose="02010609060101010101" charset="-122"/>
                          <a:latin typeface="楷体" panose="02010609060101010101" charset="-122"/>
                        </a:rPr>
                        <a:t>件、政协提案</a:t>
                      </a:r>
                      <a:r>
                        <a:rPr altLang="zh-CN" lang="en-US" sz="2000">
                          <a:solidFill>
                            <a:srgbClr val="333333"/>
                          </a:solidFill>
                          <a:ea typeface="楷体" panose="02010609060101010101" charset="-122"/>
                          <a:latin typeface="楷体" panose="02010609060101010101" charset="-122"/>
                        </a:rPr>
                        <a:t>4813</a:t>
                      </a:r>
                      <a:r>
                        <a:rPr altLang="en-US" lang="zh-CN" sz="2000">
                          <a:solidFill>
                            <a:srgbClr val="333333"/>
                          </a:solidFill>
                          <a:ea typeface="楷体" panose="02010609060101010101" charset="-122"/>
                          <a:latin typeface="楷体" panose="02010609060101010101" charset="-122"/>
                        </a:rPr>
                        <a:t>件，分别占建议、提案总数的</a:t>
                      </a:r>
                      <a:r>
                        <a:rPr altLang="zh-CN" lang="en-US" sz="2000">
                          <a:solidFill>
                            <a:srgbClr val="333333"/>
                          </a:solidFill>
                          <a:ea typeface="楷体" panose="02010609060101010101" charset="-122"/>
                          <a:latin typeface="楷体" panose="02010609060101010101" charset="-122"/>
                        </a:rPr>
                        <a:t>95.1%</a:t>
                      </a:r>
                      <a:r>
                        <a:rPr altLang="en-US" lang="zh-CN" sz="2000">
                          <a:solidFill>
                            <a:srgbClr val="333333"/>
                          </a:solidFill>
                          <a:ea typeface="楷体" panose="02010609060101010101" charset="-122"/>
                          <a:latin typeface="楷体" panose="02010609060101010101" charset="-122"/>
                        </a:rPr>
                        <a:t>、</a:t>
                      </a:r>
                      <a:r>
                        <a:rPr altLang="zh-CN" lang="en-US" sz="2000">
                          <a:solidFill>
                            <a:srgbClr val="333333"/>
                          </a:solidFill>
                          <a:ea typeface="楷体" panose="02010609060101010101" charset="-122"/>
                          <a:latin typeface="楷体" panose="02010609060101010101" charset="-122"/>
                        </a:rPr>
                        <a:t>96.1%</a:t>
                      </a:r>
                      <a:r>
                        <a:rPr altLang="en-US" lang="zh-CN" sz="2000">
                          <a:solidFill>
                            <a:srgbClr val="333333"/>
                          </a:solidFill>
                          <a:ea typeface="楷体" panose="02010609060101010101" charset="-122"/>
                          <a:latin typeface="楷体" panose="02010609060101010101" charset="-122"/>
                        </a:rPr>
                        <a:t>，均已按时办结。</a:t>
                      </a:r>
                      <a:endParaRPr altLang="en-US" lang="zh-CN" sz="2000">
                        <a:solidFill>
                          <a:srgbClr val="333333"/>
                        </a:solidFill>
                        <a:ea typeface="楷体" panose="02010609060101010101" charset="-122"/>
                        <a:latin typeface="楷体" panose="02010609060101010101" charset="-122"/>
                      </a:endParaRPr>
                    </a:p>
                    <a:p>
                      <a:pPr marL="0" indent="304800" algn="l">
                        <a:lnSpc>
                          <a:spcPct val="100000"/>
                        </a:lnSpc>
                        <a:spcBef>
                          <a:spcPct val="0"/>
                        </a:spcBef>
                        <a:spcAft>
                          <a:spcPct val="0"/>
                        </a:spcAft>
                      </a:pPr>
                      <a:r>
                        <a:rPr altLang="zh-CN" lang="en-US" sz="2000">
                          <a:solidFill>
                            <a:srgbClr val="333333"/>
                          </a:solidFill>
                          <a:ea typeface="楷体" panose="02010609060101010101" charset="-122"/>
                          <a:latin typeface="楷体" panose="02010609060101010101" charset="-122"/>
                        </a:rPr>
                        <a:t>2024</a:t>
                      </a:r>
                      <a:r>
                        <a:rPr altLang="en-US" lang="zh-CN" sz="2000">
                          <a:solidFill>
                            <a:srgbClr val="333333"/>
                          </a:solidFill>
                          <a:ea typeface="楷体" panose="02010609060101010101" charset="-122"/>
                          <a:latin typeface="楷体" panose="02010609060101010101" charset="-122"/>
                        </a:rPr>
                        <a:t>年，国务院各部门共采纳代表委员所提意见建议</a:t>
                      </a:r>
                      <a:r>
                        <a:rPr altLang="zh-CN" lang="en-US" sz="2000">
                          <a:solidFill>
                            <a:srgbClr val="333333"/>
                          </a:solidFill>
                          <a:ea typeface="楷体" panose="02010609060101010101" charset="-122"/>
                          <a:latin typeface="楷体" panose="02010609060101010101" charset="-122"/>
                        </a:rPr>
                        <a:t>5000</a:t>
                      </a:r>
                      <a:r>
                        <a:rPr altLang="en-US" lang="zh-CN" sz="2000">
                          <a:solidFill>
                            <a:srgbClr val="333333"/>
                          </a:solidFill>
                          <a:ea typeface="楷体" panose="02010609060101010101" charset="-122"/>
                          <a:latin typeface="楷体" panose="02010609060101010101" charset="-122"/>
                        </a:rPr>
                        <a:t>余条，出台相关政策措施</a:t>
                      </a:r>
                      <a:r>
                        <a:rPr altLang="zh-CN" lang="en-US" sz="2000">
                          <a:solidFill>
                            <a:srgbClr val="333333"/>
                          </a:solidFill>
                          <a:ea typeface="楷体" panose="02010609060101010101" charset="-122"/>
                          <a:latin typeface="楷体" panose="02010609060101010101" charset="-122"/>
                        </a:rPr>
                        <a:t>2000</a:t>
                      </a:r>
                      <a:r>
                        <a:rPr altLang="en-US" lang="zh-CN" sz="2000">
                          <a:solidFill>
                            <a:srgbClr val="333333"/>
                          </a:solidFill>
                          <a:ea typeface="楷体" panose="02010609060101010101" charset="-122"/>
                          <a:latin typeface="楷体" panose="02010609060101010101" charset="-122"/>
                        </a:rPr>
                        <a:t>余项，在促进经济高质量发展、推动实施科教兴国战略、推进乡村全面振兴、保障和改善民生等领域取得新的工作成效。</a:t>
                      </a:r>
                      <a:endParaRPr altLang="en-US" lang="zh-CN" sz="2000">
                        <a:solidFill>
                          <a:srgbClr val="333333"/>
                        </a:solidFill>
                        <a:ea typeface="楷体" panose="02010609060101010101" charset="-122"/>
                        <a:latin typeface="楷体" panose="02010609060101010101" charset="-122"/>
                      </a:endParaRPr>
                    </a:p>
                  </a:txBody>
                  <a:tcPr marL="68580" marR="68580" marT="0" marB="0" anchor="t" anchorCtr="0">
                    <a:lnL w="6350" cmpd="sng">
                      <a:solidFill>
                        <a:srgbClr val="000008"/>
                      </a:solidFill>
                      <a:prstDash val="solid"/>
                      <a:headEnd type="none" w="med" len="med"/>
                      <a:tailEnd type="none" w="med" len="med"/>
                    </a:lnL>
                    <a:lnR w="6350" cmpd="sng">
                      <a:solidFill>
                        <a:srgbClr val="000008"/>
                      </a:solidFill>
                      <a:prstDash val="solid"/>
                      <a:headEnd type="none" w="med" len="med"/>
                      <a:tailEnd type="none" w="med" len="med"/>
                    </a:lnR>
                    <a:lnT w="6350" cmpd="sng">
                      <a:solidFill>
                        <a:srgbClr val="000008"/>
                      </a:solidFill>
                      <a:prstDash val="solid"/>
                      <a:headEnd type="none" w="med" len="med"/>
                      <a:tailEnd type="none" w="med" len="med"/>
                    </a:lnT>
                    <a:lnB w="6350" cmpd="sng">
                      <a:solidFill>
                        <a:srgbClr val="000008"/>
                      </a:solidFill>
                      <a:prstDash val="solid"/>
                      <a:headEnd type="none" w="med" len="med"/>
                      <a:tailEnd type="none" w="med" len="med"/>
                    </a:lnB>
                    <a:noFill/>
                  </a:tcPr>
                </a:tc>
              </a:tr>
            </a:tbl>
          </a:graphicData>
        </a:graphic>
      </p:graphicFrame>
      <p:sp>
        <p:nvSpPr>
          <p:cNvPr id="4" name="文本框 3"/>
          <p:cNvSpPr/>
          <p:nvPr/>
        </p:nvSpPr>
        <p:spPr>
          <a:xfrm>
            <a:off x="591820" y="2116455"/>
            <a:ext cx="11472545" cy="1807210"/>
          </a:xfrm>
          <a:prstGeom prst="rect">
            <a:avLst/>
          </a:prstGeom>
        </p:spPr>
        <p:txBody>
          <a:bodyPr>
            <a:noAutofit/>
          </a:bodyPr>
          <a:p>
            <a:pPr/>
            <a:r>
              <a:rPr altLang="en-US" lang="zh-CN" b="1" sz="2400">
                <a:solidFill>
                  <a:srgbClr val="333333"/>
                </a:solidFill>
                <a:cs typeface="微软雅黑" panose="020B0503020204020204" charset="-122"/>
                <a:ea typeface="微软雅黑" panose="020B0503020204020204" charset="-122"/>
                <a:latin typeface="微软雅黑" panose="020B0503020204020204" charset="-122"/>
              </a:rPr>
              <a:t>下列说法正确的是</a:t>
            </a:r>
            <a:endParaRPr altLang="en-US" lang="zh-CN" b="1" sz="2400">
              <a:solidFill>
                <a:srgbClr val="333333"/>
              </a:solidFill>
              <a:cs typeface="微软雅黑" panose="020B0503020204020204" charset="-122"/>
              <a:ea typeface="微软雅黑" panose="020B0503020204020204" charset="-122"/>
              <a:latin typeface="微软雅黑" panose="020B0503020204020204" charset="-122"/>
            </a:endParaRPr>
          </a:p>
          <a:p>
            <a:pPr marL="0" indent="266700" algn="just" defTabSz="266700" fontAlgn="ctr">
              <a:lnSpc>
                <a:spcPct val="120000"/>
              </a:lnSpc>
              <a:spcBef>
                <a:spcPct val="0"/>
              </a:spcBef>
              <a:spcAft>
                <a:spcPct val="0"/>
              </a:spcAft>
            </a:pP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①</a:t>
            </a:r>
            <a:r>
              <a:rPr altLang="en-US" lang="zh-CN" b="1" sz="2400">
                <a:solidFill>
                  <a:srgbClr val="000000"/>
                </a:solidFill>
                <a:cs typeface="微软雅黑" panose="020B0503020204020204" charset="-122"/>
                <a:ea typeface="微软雅黑" panose="020B0503020204020204" charset="-122"/>
                <a:latin typeface="微软雅黑" panose="020B0503020204020204" charset="-122"/>
              </a:rPr>
              <a:t>代表委员所提意见建议与国务院各部门出台的政策措施具有同等的法律效力</a:t>
            </a:r>
            <a:endParaRPr altLang="en-US" lang="zh-CN" b="1" sz="2400">
              <a:solidFill>
                <a:srgbClr val="000000"/>
              </a:solidFill>
              <a:cs typeface="微软雅黑" panose="020B0503020204020204" charset="-122"/>
              <a:ea typeface="微软雅黑" panose="020B0503020204020204" charset="-122"/>
              <a:latin typeface="微软雅黑" panose="020B0503020204020204" charset="-122"/>
            </a:endParaRPr>
          </a:p>
          <a:p>
            <a:pPr marL="0" indent="266700" algn="just" defTabSz="266700" fontAlgn="ctr">
              <a:lnSpc>
                <a:spcPct val="120000"/>
              </a:lnSpc>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②</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人大代表和政协委员履行职责，有途径、有载体、有保障、有支撑、有效果</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fontAlgn="ctr">
              <a:lnSpc>
                <a:spcPct val="120000"/>
              </a:lnSpc>
              <a:spcBef>
                <a:spcPct val="0"/>
              </a:spcBef>
              <a:spcAft>
                <a:spcPct val="0"/>
              </a:spcAft>
            </a:pP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③</a:t>
            </a:r>
            <a:r>
              <a:rPr altLang="en-US" lang="zh-CN" b="1" sz="2400">
                <a:solidFill>
                  <a:srgbClr val="000000"/>
                </a:solidFill>
                <a:cs typeface="微软雅黑" panose="020B0503020204020204" charset="-122"/>
                <a:ea typeface="微软雅黑" panose="020B0503020204020204" charset="-122"/>
                <a:latin typeface="微软雅黑" panose="020B0503020204020204" charset="-122"/>
              </a:rPr>
              <a:t>如全国人大代表建议和政协提案未按时办结，代表委员可依照法律行使质询权</a:t>
            </a:r>
            <a:endParaRPr altLang="en-US" lang="zh-CN" b="1" sz="2400">
              <a:solidFill>
                <a:srgbClr val="000000"/>
              </a:solidFill>
              <a:cs typeface="微软雅黑" panose="020B0503020204020204" charset="-122"/>
              <a:ea typeface="微软雅黑" panose="020B0503020204020204" charset="-122"/>
              <a:latin typeface="微软雅黑" panose="020B0503020204020204" charset="-122"/>
            </a:endParaRPr>
          </a:p>
          <a:p>
            <a:pPr marL="0" indent="266700" algn="just" defTabSz="266700" fontAlgn="ctr">
              <a:lnSpc>
                <a:spcPct val="120000"/>
              </a:lnSpc>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④</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承办建议和提案的部门在办理后具体反馈答复，有助于代表和委员</a:t>
            </a:r>
            <a:r>
              <a:rPr altLang="en-US" lang="zh-CN" b="1" sz="24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更好</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履行职责</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0" algn="just" defTabSz="266700">
              <a:spcBef>
                <a:spcPct val="0"/>
              </a:spcBef>
              <a:spcAft>
                <a:spcPct val="0"/>
              </a:spcAft>
            </a:pP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A. ①②      B. ①③       </a:t>
            </a: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C. ②④   </a:t>
            </a: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
            </a: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D.③④</a:t>
            </a:r>
            <a:endParaRPr altLang="zh-CN" lang="en-US" b="1" sz="2400">
              <a:solidFill>
                <a:srgbClr val="000000"/>
              </a:solidFill>
              <a:cs typeface="微软雅黑" panose="020B0503020204020204" charset="-122"/>
              <a:ea typeface="微软雅黑" panose="020B0503020204020204" charset="-122"/>
              <a:latin typeface="微软雅黑" panose="020B0503020204020204" charset="-122"/>
            </a:endParaRPr>
          </a:p>
        </p:txBody>
      </p:sp>
      <p:sp>
        <p:nvSpPr>
          <p:cNvPr id="5" name="文本框 4"/>
          <p:cNvSpPr/>
          <p:nvPr/>
        </p:nvSpPr>
        <p:spPr>
          <a:xfrm>
            <a:off x="449580" y="4736465"/>
            <a:ext cx="11975465" cy="829945"/>
          </a:xfrm>
          <a:prstGeom prst="rect">
            <a:avLst/>
          </a:prstGeom>
        </p:spPr>
        <p:txBody>
          <a:bodyPr wrap="square">
            <a:spAutoFit/>
          </a:bodyPr>
          <a:p>
            <a:pPr marL="0" indent="0" algn="just" defTabSz="266700">
              <a:spcBef>
                <a:spcPct val="0"/>
              </a:spcBef>
              <a:spcAft>
                <a:spcPct val="0"/>
              </a:spcAft>
            </a:pPr>
            <a:r>
              <a:rPr altLang="zh-CN" lang="en-US" b="1" sz="2400">
                <a:solidFill>
                  <a:srgbClr val="FF0000"/>
                </a:solidFill>
                <a:ea typeface="微软雅黑" panose="020B0503020204020204" charset="-122"/>
                <a:latin typeface="微软雅黑" panose="020B0503020204020204" charset="-122"/>
              </a:rPr>
              <a:t>①</a:t>
            </a:r>
            <a:r>
              <a:rPr altLang="en-US" lang="zh-CN" b="1" sz="2400">
                <a:solidFill>
                  <a:srgbClr val="FF0000"/>
                </a:solidFill>
                <a:ea typeface="微软雅黑" panose="020B0503020204020204" charset="-122"/>
                <a:latin typeface="微软雅黑" panose="020B0503020204020204" charset="-122"/>
              </a:rPr>
              <a:t>错误：人大代表议案具有法律的约束力，起法律监督作用，承办单位必须执行，但代表委员所提意见建议并非都具有法律效力。</a:t>
            </a:r>
            <a:endParaRPr altLang="en-US" lang="zh-CN" b="1" sz="2400">
              <a:solidFill>
                <a:srgbClr val="FF0000"/>
              </a:solidFill>
              <a:ea typeface="微软雅黑" panose="020B0503020204020204" charset="-122"/>
              <a:latin typeface="微软雅黑" panose="020B0503020204020204" charset="-122"/>
            </a:endParaRPr>
          </a:p>
        </p:txBody>
      </p:sp>
      <p:sp>
        <p:nvSpPr>
          <p:cNvPr id="6" name="文本框 5"/>
          <p:cNvSpPr/>
          <p:nvPr/>
        </p:nvSpPr>
        <p:spPr>
          <a:xfrm>
            <a:off x="89535" y="5659120"/>
            <a:ext cx="11974830" cy="1198880"/>
          </a:xfrm>
          <a:prstGeom prst="rect">
            <a:avLst/>
          </a:prstGeom>
        </p:spPr>
        <p:txBody>
          <a:bodyPr wrap="square">
            <a:spAutoFit/>
          </a:bodyPr>
          <a:p>
            <a:pPr marL="0" indent="266700" algn="just" defTabSz="266700">
              <a:spcBef>
                <a:spcPct val="0"/>
              </a:spcBef>
              <a:spcAft>
                <a:spcPct val="0"/>
              </a:spcAft>
            </a:pPr>
            <a:r>
              <a:rPr altLang="en-US" lang="zh-CN" b="1" sz="2400">
                <a:solidFill>
                  <a:srgbClr val="FF0000"/>
                </a:solidFill>
                <a:ea typeface="微软雅黑" panose="020B0503020204020204" charset="-122"/>
                <a:latin typeface="微软雅黑" panose="020B0503020204020204" charset="-122"/>
              </a:rPr>
              <a:t>③错误：质询权是人大代表的一项重要权利，但针对的是政府等机关的工作，一般是对政府的工作提出质问并要求答复。对于全国人大代表建议未按时办结的情况，代表可通过一定的程序进行督促等，但并非简单地行使质询权；而政协委员没有质询权。</a:t>
            </a:r>
            <a:endParaRPr altLang="en-US" lang="zh-CN" b="1" sz="2400">
              <a:solidFill>
                <a:srgbClr val="FF0000"/>
              </a:solidFill>
              <a:ea typeface="微软雅黑" panose="020B0503020204020204" charset="-122"/>
              <a:latin typeface="微软雅黑" panose="020B0503020204020204"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Lst>
  </p:timing>
</p:sld>
</file>

<file path=ppt/slides/slide1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182245" y="272415"/>
            <a:ext cx="12009755" cy="4399915"/>
          </a:xfrm>
          <a:prstGeom prst="rect">
            <a:avLst/>
          </a:prstGeom>
        </p:spPr>
        <p:txBody>
          <a:bodyPr wrap="square">
            <a:spAutoFit/>
          </a:bodyPr>
          <a:p>
            <a:pPr marL="0" indent="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9.</a:t>
            </a:r>
            <a:r>
              <a:rPr altLang="en-US" lang="zh-CN" b="1" sz="2800">
                <a:cs typeface="微软雅黑" panose="020B0503020204020204" charset="-122"/>
                <a:ea typeface="微软雅黑" panose="020B0503020204020204" charset="-122"/>
                <a:latin typeface="微软雅黑" panose="020B0503020204020204" charset="-122"/>
              </a:rPr>
              <a:t>目前，我国已设立三江源、大熊猫、东北虎豹、海南热带雨林、武夷山五个国家公园。国家公园是我国自然生态系统最重要、自然景观最独特、自然遗产最精华、生物多样性最富集的部分。</a:t>
            </a:r>
            <a:r>
              <a:rPr altLang="zh-CN" lang="en-US" b="1" sz="2800">
                <a:cs typeface="微软雅黑" panose="020B0503020204020204" charset="-122"/>
                <a:ea typeface="微软雅黑" panose="020B0503020204020204" charset="-122"/>
                <a:latin typeface="微软雅黑" panose="020B0503020204020204" charset="-122"/>
              </a:rPr>
              <a:t>2024</a:t>
            </a:r>
            <a:r>
              <a:rPr altLang="en-US" lang="zh-CN" b="1" sz="2800">
                <a:cs typeface="微软雅黑" panose="020B0503020204020204" charset="-122"/>
                <a:ea typeface="微软雅黑" panose="020B0503020204020204" charset="-122"/>
                <a:latin typeface="微软雅黑" panose="020B0503020204020204" charset="-122"/>
              </a:rPr>
              <a:t>年</a:t>
            </a:r>
            <a:r>
              <a:rPr altLang="zh-CN" lang="en-US" b="1" sz="2800">
                <a:cs typeface="微软雅黑" panose="020B0503020204020204" charset="-122"/>
                <a:ea typeface="微软雅黑" panose="020B0503020204020204" charset="-122"/>
                <a:latin typeface="微软雅黑" panose="020B0503020204020204" charset="-122"/>
              </a:rPr>
              <a:t>12</a:t>
            </a:r>
            <a:r>
              <a:rPr altLang="en-US" lang="zh-CN" b="1" sz="2800">
                <a:cs typeface="微软雅黑" panose="020B0503020204020204" charset="-122"/>
                <a:ea typeface="微软雅黑" panose="020B0503020204020204" charset="-122"/>
                <a:latin typeface="微软雅黑" panose="020B0503020204020204" charset="-122"/>
              </a:rPr>
              <a:t>月，国家公园法草案二审稿提请十四届全国人大常委会第十三次会议审议。在高质量推进国家公园建设中</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①</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要统筹保护和发展，坚持生态保护、绿色发展、民生改善相统一</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②</a:t>
            </a:r>
            <a:r>
              <a:rPr altLang="en-US" lang="zh-CN" b="1" sz="2800">
                <a:cs typeface="微软雅黑" panose="020B0503020204020204" charset="-122"/>
                <a:ea typeface="微软雅黑" panose="020B0503020204020204" charset="-122"/>
                <a:latin typeface="微软雅黑" panose="020B0503020204020204" charset="-122"/>
              </a:rPr>
              <a:t>制定国家公园法，意味着我国已形成完备的国家生态安全体系</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③</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省级国家权力机关可以就国家公园保护和管理开展区域协同立法</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solidFill>
                  <a:srgbClr val="000000"/>
                </a:solidFill>
                <a:cs typeface="微软雅黑" panose="020B0503020204020204" charset="-122"/>
                <a:ea typeface="微软雅黑" panose="020B0503020204020204" charset="-122"/>
                <a:latin typeface="微软雅黑" panose="020B0503020204020204" charset="-122"/>
              </a:rPr>
              <a:t>④</a:t>
            </a:r>
            <a:r>
              <a:rPr altLang="en-US" lang="zh-CN" b="1" sz="2800">
                <a:solidFill>
                  <a:srgbClr val="000000"/>
                </a:solidFill>
                <a:cs typeface="微软雅黑" panose="020B0503020204020204" charset="-122"/>
                <a:ea typeface="微软雅黑" panose="020B0503020204020204" charset="-122"/>
                <a:latin typeface="微软雅黑" panose="020B0503020204020204" charset="-122"/>
              </a:rPr>
              <a:t>国家公园区域内原有居民</a:t>
            </a:r>
            <a:r>
              <a:rPr altLang="en-US" lang="zh-CN" b="1" sz="2800">
                <a:solidFill>
                  <a:srgbClr val="000000"/>
                </a:solidFill>
                <a:cs typeface="微软雅黑" panose="020B0503020204020204" charset="-122"/>
                <a:highlight>
                  <a:srgbClr val="FFFF00"/>
                </a:highlight>
                <a:ea typeface="微软雅黑" panose="020B0503020204020204" charset="-122"/>
                <a:latin typeface="微软雅黑" panose="020B0503020204020204" charset="-122"/>
              </a:rPr>
              <a:t>、企业</a:t>
            </a:r>
            <a:r>
              <a:rPr altLang="en-US" lang="zh-CN" b="1" sz="2800">
                <a:solidFill>
                  <a:srgbClr val="000000"/>
                </a:solidFill>
                <a:cs typeface="微软雅黑" panose="020B0503020204020204" charset="-122"/>
                <a:ea typeface="微软雅黑" panose="020B0503020204020204" charset="-122"/>
                <a:latin typeface="微软雅黑" panose="020B0503020204020204" charset="-122"/>
              </a:rPr>
              <a:t>确有必要迁出的，应由村委会妥善安置</a:t>
            </a:r>
            <a:endParaRPr altLang="en-US" lang="zh-CN" b="1" sz="2800">
              <a:solidFill>
                <a:srgbClr val="000000"/>
              </a:solidFill>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A.①②          </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B.①③ </a:t>
            </a:r>
            <a:r>
              <a:rPr altLang="zh-CN" lang="en-US" b="1" sz="2800">
                <a:cs typeface="微软雅黑" panose="020B0503020204020204" charset="-122"/>
                <a:ea typeface="微软雅黑" panose="020B0503020204020204" charset="-122"/>
                <a:latin typeface="微软雅黑" panose="020B0503020204020204" charset="-122"/>
              </a:rPr>
              <a:t>         C.②④          D.③④</a:t>
            </a:r>
            <a:endParaRPr altLang="zh-CN" lang="en-US" b="1" sz="2800">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551180" y="4672330"/>
            <a:ext cx="10645775" cy="1198880"/>
          </a:xfrm>
          <a:prstGeom prst="rect">
            <a:avLst/>
          </a:prstGeom>
        </p:spPr>
        <p:txBody>
          <a:bodyPr wrap="square">
            <a:spAutoFit/>
          </a:bodyPr>
          <a:p>
            <a:pPr marL="0" indent="266700" algn="just" defTabSz="266700">
              <a:lnSpc>
                <a:spcPct val="100000"/>
              </a:lnSpc>
              <a:spcBef>
                <a:spcPct val="0"/>
              </a:spcBef>
              <a:spcAft>
                <a:spcPct val="0"/>
              </a:spcAft>
            </a:pPr>
            <a:r>
              <a:rPr altLang="zh-CN" lang="en-US" b="1" sz="2400">
                <a:solidFill>
                  <a:srgbClr val="FF0000"/>
                </a:solidFill>
                <a:ea typeface="微软雅黑" panose="020B0503020204020204" charset="-122"/>
                <a:latin typeface="微软雅黑" panose="020B0503020204020204" charset="-122"/>
              </a:rPr>
              <a:t>②</a:t>
            </a:r>
            <a:r>
              <a:rPr altLang="en-US" lang="zh-CN" b="1" sz="2400">
                <a:solidFill>
                  <a:srgbClr val="FF0000"/>
                </a:solidFill>
                <a:ea typeface="微软雅黑" panose="020B0503020204020204" charset="-122"/>
                <a:latin typeface="微软雅黑" panose="020B0503020204020204" charset="-122"/>
              </a:rPr>
              <a:t>错误：制定国家公园法是完善国家生态安全体系的重要举措，但仅制定该法并不意味着我国已形成完备的国家生态安全体系，国家生态安全体系的完备还涉及多个方面的制度建设和措施落实。</a:t>
            </a:r>
            <a:endParaRPr altLang="en-US" lang="zh-CN" b="1" sz="2400">
              <a:solidFill>
                <a:srgbClr val="FF0000"/>
              </a:solidFill>
              <a:ea typeface="微软雅黑" panose="020B0503020204020204" charset="-122"/>
              <a:latin typeface="微软雅黑" panose="020B0503020204020204" charset="-122"/>
            </a:endParaRPr>
          </a:p>
        </p:txBody>
      </p:sp>
      <p:sp>
        <p:nvSpPr>
          <p:cNvPr id="4" name="文本框 3"/>
          <p:cNvSpPr/>
          <p:nvPr/>
        </p:nvSpPr>
        <p:spPr>
          <a:xfrm>
            <a:off x="551180" y="5871210"/>
            <a:ext cx="11017250" cy="829945"/>
          </a:xfrm>
          <a:prstGeom prst="rect">
            <a:avLst/>
          </a:prstGeom>
        </p:spPr>
        <p:txBody>
          <a:bodyPr wrap="square">
            <a:spAutoFit/>
          </a:bodyPr>
          <a:p>
            <a:pPr marL="0" indent="266700" algn="just" defTabSz="266700">
              <a:lnSpc>
                <a:spcPct val="100000"/>
              </a:lnSpc>
              <a:spcBef>
                <a:spcPct val="0"/>
              </a:spcBef>
              <a:spcAft>
                <a:spcPct val="0"/>
              </a:spcAft>
            </a:pPr>
            <a:r>
              <a:rPr altLang="en-US" lang="zh-CN" b="1" sz="2400">
                <a:solidFill>
                  <a:srgbClr val="FF0000"/>
                </a:solidFill>
                <a:ea typeface="微软雅黑" panose="020B0503020204020204" charset="-122"/>
                <a:latin typeface="微软雅黑" panose="020B0503020204020204" charset="-122"/>
              </a:rPr>
              <a:t>④错误：国家公园区域内原有居民、企业确有必要迁出的，由有关地方人民政府妥善安置，而不是村委会。故本题选 B。</a:t>
            </a:r>
            <a:endParaRPr altLang="en-US" lang="zh-CN" b="1" sz="2400">
              <a:solidFill>
                <a:srgbClr val="FF0000"/>
              </a:solidFill>
              <a:ea typeface="微软雅黑" panose="020B0503020204020204" charset="-122"/>
              <a:latin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0" y="0"/>
            <a:ext cx="12255500" cy="4831080"/>
          </a:xfrm>
          <a:prstGeom prst="rect">
            <a:avLst/>
          </a:prstGeom>
        </p:spPr>
        <p:txBody>
          <a:bodyPr wrap="square">
            <a:spAutoFit/>
          </a:bodyPr>
          <a:p>
            <a:pPr marL="0" indent="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10.</a:t>
            </a:r>
            <a:r>
              <a:rPr altLang="en-US" lang="zh-CN" b="1" sz="2800">
                <a:cs typeface="微软雅黑" panose="020B0503020204020204" charset="-122"/>
                <a:ea typeface="微软雅黑" panose="020B0503020204020204" charset="-122"/>
                <a:latin typeface="微软雅黑" panose="020B0503020204020204" charset="-122"/>
              </a:rPr>
              <a:t>王某是一名</a:t>
            </a:r>
            <a:r>
              <a:rPr altLang="zh-CN" lang="en-US" b="1" sz="2800">
                <a:cs typeface="微软雅黑" panose="020B0503020204020204" charset="-122"/>
                <a:ea typeface="微软雅黑" panose="020B0503020204020204" charset="-122"/>
                <a:latin typeface="微软雅黑" panose="020B0503020204020204" charset="-122"/>
              </a:rPr>
              <a:t>AI</a:t>
            </a:r>
            <a:r>
              <a:rPr altLang="en-US" lang="zh-CN" b="1" sz="2800">
                <a:cs typeface="微软雅黑" panose="020B0503020204020204" charset="-122"/>
                <a:ea typeface="微软雅黑" panose="020B0503020204020204" charset="-122"/>
                <a:latin typeface="微软雅黑" panose="020B0503020204020204" charset="-122"/>
              </a:rPr>
              <a:t>（人工智能）生成内容的创作者，他发现某公司发布的广告图片与自己用</a:t>
            </a:r>
            <a:r>
              <a:rPr altLang="zh-CN" lang="en-US" b="1" sz="2800">
                <a:cs typeface="微软雅黑" panose="020B0503020204020204" charset="-122"/>
                <a:ea typeface="微软雅黑" panose="020B0503020204020204" charset="-122"/>
                <a:latin typeface="微软雅黑" panose="020B0503020204020204" charset="-122"/>
              </a:rPr>
              <a:t>AI</a:t>
            </a:r>
            <a:r>
              <a:rPr altLang="en-US" lang="zh-CN" b="1" sz="2800">
                <a:cs typeface="微软雅黑" panose="020B0503020204020204" charset="-122"/>
                <a:ea typeface="微软雅黑" panose="020B0503020204020204" charset="-122"/>
                <a:latin typeface="微软雅黑" panose="020B0503020204020204" charset="-122"/>
              </a:rPr>
              <a:t>创作的图片完全一致，认为该公司侵犯了自己的著作权，遂诉至法院。法院经审理认为</a:t>
            </a:r>
            <a:r>
              <a:rPr altLang="zh-CN" lang="en-US" b="1" sz="2800">
                <a:cs typeface="微软雅黑" panose="020B0503020204020204" charset="-122"/>
                <a:ea typeface="微软雅黑" panose="020B0503020204020204" charset="-122"/>
                <a:latin typeface="微软雅黑" panose="020B0503020204020204" charset="-122"/>
              </a:rPr>
              <a:t>, </a:t>
            </a:r>
            <a:r>
              <a:rPr altLang="en-US" lang="zh-CN" b="1" sz="2800">
                <a:cs typeface="微软雅黑" panose="020B0503020204020204" charset="-122"/>
                <a:ea typeface="微软雅黑" panose="020B0503020204020204" charset="-122"/>
                <a:latin typeface="微软雅黑" panose="020B0503020204020204" charset="-122"/>
              </a:rPr>
              <a:t>该图片虽用</a:t>
            </a:r>
            <a:r>
              <a:rPr altLang="zh-CN" lang="en-US" b="1" sz="2800">
                <a:cs typeface="微软雅黑" panose="020B0503020204020204" charset="-122"/>
                <a:ea typeface="微软雅黑" panose="020B0503020204020204" charset="-122"/>
                <a:latin typeface="微软雅黑" panose="020B0503020204020204" charset="-122"/>
              </a:rPr>
              <a:t>AI</a:t>
            </a:r>
            <a:r>
              <a:rPr altLang="en-US" lang="zh-CN" b="1" sz="2800">
                <a:cs typeface="微软雅黑" panose="020B0503020204020204" charset="-122"/>
                <a:ea typeface="微软雅黑" panose="020B0503020204020204" charset="-122"/>
                <a:latin typeface="微软雅黑" panose="020B0503020204020204" charset="-122"/>
              </a:rPr>
              <a:t>创作，但需王某构思画面、</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在人机对话中</a:t>
            </a:r>
            <a:r>
              <a:rPr altLang="en-US" lang="zh-CN" b="1" sz="2800">
                <a:cs typeface="微软雅黑" panose="020B0503020204020204" charset="-122"/>
                <a:ea typeface="微软雅黑" panose="020B0503020204020204" charset="-122"/>
                <a:latin typeface="微软雅黑" panose="020B0503020204020204" charset="-122"/>
              </a:rPr>
              <a:t>多次提交和调整关键词以获得理想的图案，体现了王某的个性化表达，凝结了王某的智力劳动成果，</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遂</a:t>
            </a:r>
            <a:r>
              <a:rPr altLang="en-US" lang="zh-CN" b="1" sz="2800">
                <a:cs typeface="微软雅黑" panose="020B0503020204020204" charset="-122"/>
                <a:ea typeface="微软雅黑" panose="020B0503020204020204" charset="-122"/>
                <a:latin typeface="微软雅黑" panose="020B0503020204020204" charset="-122"/>
              </a:rPr>
              <a:t>判令该公司停止侵权并赔偿王某经济损失。由</a:t>
            </a:r>
            <a:r>
              <a:rPr altLang="zh-CN" lang="en-US" b="1" sz="2800">
                <a:cs typeface="微软雅黑" panose="020B0503020204020204" charset="-122"/>
                <a:ea typeface="微软雅黑" panose="020B0503020204020204" charset="-122"/>
                <a:latin typeface="微软雅黑" panose="020B0503020204020204" charset="-122"/>
              </a:rPr>
              <a:t>AI</a:t>
            </a:r>
            <a:r>
              <a:rPr altLang="en-US" lang="zh-CN" b="1" sz="2800">
                <a:cs typeface="微软雅黑" panose="020B0503020204020204" charset="-122"/>
                <a:ea typeface="微软雅黑" panose="020B0503020204020204" charset="-122"/>
                <a:latin typeface="微软雅黑" panose="020B0503020204020204" charset="-122"/>
              </a:rPr>
              <a:t>生成的图片</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highlight>
                  <a:srgbClr val="FFFF00"/>
                </a:highlight>
                <a:ea typeface="微软雅黑" panose="020B0503020204020204" charset="-122"/>
                <a:latin typeface="微软雅黑" panose="020B0503020204020204" charset="-122"/>
              </a:rPr>
              <a:t>①</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并非由人类直接创作，故不属于艺术作品</a:t>
            </a:r>
            <a:endParaRPr altLang="en-US" lang="zh-CN" b="1" sz="2800">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highlight>
                  <a:srgbClr val="FFFF00"/>
                </a:highlight>
                <a:ea typeface="微软雅黑" panose="020B0503020204020204" charset="-122"/>
                <a:latin typeface="微软雅黑" panose="020B0503020204020204" charset="-122"/>
              </a:rPr>
              <a:t>②</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使得法律和法院都难以界定艺术作品的创作主体</a:t>
            </a:r>
            <a:endParaRPr altLang="en-US" lang="zh-CN" b="1" sz="2800">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③</a:t>
            </a:r>
            <a:r>
              <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如果符合一定的条件，可以受到著作权法的保护</a:t>
            </a:r>
            <a:endPar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④</a:t>
            </a:r>
            <a:r>
              <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是否构成法律意义上的作品，关键在于是否体现出作者的独创性智力投入</a:t>
            </a:r>
            <a:endPar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A.①②      B. ①④      C. ②③     </a:t>
            </a: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 D.③④</a:t>
            </a:r>
            <a:endParaRPr altLang="zh-CN" lang="en-US" b="1" sz="28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438150" y="4831080"/>
            <a:ext cx="11817350" cy="1014730"/>
          </a:xfrm>
          <a:prstGeom prst="rect">
            <a:avLst/>
          </a:prstGeom>
        </p:spPr>
        <p:txBody>
          <a:bodyPr wrap="square">
            <a:spAutoFit/>
          </a:bodyPr>
          <a:p>
            <a:pPr marL="0" indent="0" algn="just" defTabSz="266700">
              <a:spcBef>
                <a:spcPct val="0"/>
              </a:spcBef>
              <a:spcAft>
                <a:spcPct val="0"/>
              </a:spcAft>
            </a:pP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①</a:t>
            </a: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错误：虽然该图片是由 </a:t>
            </a: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AI </a:t>
            </a: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生成，但法院经审理认为其体现了王某的个性化表达，凝结了王某的智力劳动成果，属于艺术作品。所以不能简单地认为 </a:t>
            </a: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AI </a:t>
            </a: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生成的图片就不属于艺术作品，关键看是否有人类的创造性智力投入。</a:t>
            </a:r>
            <a:endParaRPr altLang="en-US" lang="zh-CN" b="1" sz="20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4" name="文本框 3"/>
          <p:cNvSpPr/>
          <p:nvPr/>
        </p:nvSpPr>
        <p:spPr>
          <a:xfrm>
            <a:off x="438150" y="5967095"/>
            <a:ext cx="11816715" cy="706755"/>
          </a:xfrm>
          <a:prstGeom prst="rect">
            <a:avLst/>
          </a:prstGeom>
        </p:spPr>
        <p:txBody>
          <a:bodyPr wrap="square">
            <a:spAutoFit/>
          </a:bodyPr>
          <a:p>
            <a:pPr marL="0" indent="266700" algn="just" defTabSz="266700">
              <a:lnSpc>
                <a:spcPct val="100000"/>
              </a:lnSpc>
              <a:spcBef>
                <a:spcPct val="0"/>
              </a:spcBef>
              <a:spcAft>
                <a:spcPct val="0"/>
              </a:spcAft>
            </a:pP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②错误：在本题中，法院能够根据作品体现的王某的个性化表达和智力劳动成果，界定出创作主体是王某，说明对于 AI 生成内容的创作主体，法律和法院是可以根据具体情况进行界定的，并非难以界定。</a:t>
            </a:r>
            <a:endParaRPr altLang="en-US" lang="zh-CN" sz="1600">
              <a:solidFill>
                <a:srgbClr val="0000FF"/>
              </a:solidFill>
              <a:ea typeface="宋体" panose="02010600030101010101" pitchFamily="2" charset="-122"/>
              <a:latin typeface="宋体" panose="0201060003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1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314960" y="66040"/>
            <a:ext cx="11653520" cy="3969385"/>
          </a:xfrm>
          <a:prstGeom prst="rect">
            <a:avLst/>
          </a:prstGeom>
        </p:spPr>
        <p:txBody>
          <a:bodyPr wrap="square">
            <a:spAutoFit/>
          </a:bodyPr>
          <a:p>
            <a:pPr marL="0" indent="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11. </a:t>
            </a:r>
            <a:r>
              <a:rPr altLang="en-US" lang="zh-CN" b="1" sz="2800">
                <a:cs typeface="微软雅黑" panose="020B0503020204020204" charset="-122"/>
                <a:ea typeface="微软雅黑" panose="020B0503020204020204" charset="-122"/>
                <a:latin typeface="微软雅黑" panose="020B0503020204020204" charset="-122"/>
              </a:rPr>
              <a:t>某区人民检察院</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发现</a:t>
            </a:r>
            <a:r>
              <a:rPr altLang="en-US" lang="zh-CN" b="1" sz="2800">
                <a:cs typeface="微软雅黑" panose="020B0503020204020204" charset="-122"/>
                <a:ea typeface="微软雅黑" panose="020B0503020204020204" charset="-122"/>
                <a:latin typeface="微软雅黑" panose="020B0503020204020204" charset="-122"/>
              </a:rPr>
              <a:t>，辖区内的一座古桥（市级保护文物）双侧壁附生的榕树树根大面积侵入桥体，存在全桥坍塌的风险，遂向区文旅局发出检察建议，建议其依法履行监管职责。区文旅局在接到检察建议后，并未采取有效措施进行修缮整改。区人民检察院依法向区人民法院提起行政公益诉讼。对此，下列说法正确的是</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A.</a:t>
            </a:r>
            <a:r>
              <a:rPr altLang="en-US" lang="zh-CN" b="1" sz="2800">
                <a:cs typeface="微软雅黑" panose="020B0503020204020204" charset="-122"/>
                <a:ea typeface="微软雅黑" panose="020B0503020204020204" charset="-122"/>
                <a:latin typeface="微软雅黑" panose="020B0503020204020204" charset="-122"/>
              </a:rPr>
              <a:t>区人民检察院代表公众维权，</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属于</a:t>
            </a:r>
            <a:r>
              <a:rPr altLang="en-US" lang="zh-CN" b="1" sz="2800">
                <a:cs typeface="微软雅黑" panose="020B0503020204020204" charset="-122"/>
                <a:ea typeface="微软雅黑" panose="020B0503020204020204" charset="-122"/>
                <a:latin typeface="微软雅黑" panose="020B0503020204020204" charset="-122"/>
              </a:rPr>
              <a:t>无偿提供代理法律服务</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B.</a:t>
            </a:r>
            <a:r>
              <a:rPr altLang="en-US" lang="zh-CN" b="1" sz="2800">
                <a:cs typeface="微软雅黑" panose="020B0503020204020204" charset="-122"/>
                <a:ea typeface="微软雅黑" panose="020B0503020204020204" charset="-122"/>
                <a:latin typeface="微软雅黑" panose="020B0503020204020204" charset="-122"/>
              </a:rPr>
              <a:t>本案适用审判监督程序，一经做出判决，即发生法律效力</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C.</a:t>
            </a:r>
            <a:r>
              <a:rPr altLang="en-US" lang="zh-CN" b="1" sz="2800">
                <a:cs typeface="微软雅黑" panose="020B0503020204020204" charset="-122"/>
                <a:ea typeface="微软雅黑" panose="020B0503020204020204" charset="-122"/>
                <a:latin typeface="微软雅黑" panose="020B0503020204020204" charset="-122"/>
              </a:rPr>
              <a:t>在行政公益诉讼中，区文旅局作为行政相对人始终处于被告地位</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D.</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区人民检察院当诉则诉，</a:t>
            </a:r>
            <a:r>
              <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rPr>
              <a:t>展现了以检察职能维护社会公共利益的担当</a:t>
            </a:r>
            <a:endParaRPr altLang="en-US" lang="zh-CN" b="1" sz="2800">
              <a:solidFill>
                <a:srgbClr val="FF0000"/>
              </a:solidFill>
              <a:cs typeface="微软雅黑" panose="020B0503020204020204" charset="-122"/>
              <a:highlight>
                <a:srgbClr val="FFFF00"/>
              </a:highlight>
              <a:ea typeface="微软雅黑" panose="020B0503020204020204" charset="-122"/>
              <a:latin typeface="微软雅黑" panose="020B0503020204020204" charset="-122"/>
            </a:endParaRPr>
          </a:p>
        </p:txBody>
      </p:sp>
      <p:sp>
        <p:nvSpPr>
          <p:cNvPr id="3" name="文本框 2"/>
          <p:cNvSpPr/>
          <p:nvPr/>
        </p:nvSpPr>
        <p:spPr>
          <a:xfrm>
            <a:off x="685165" y="4035425"/>
            <a:ext cx="10707370" cy="829945"/>
          </a:xfrm>
          <a:prstGeom prst="rect">
            <a:avLst/>
          </a:prstGeom>
        </p:spPr>
        <p:txBody>
          <a:bodyPr wrap="square">
            <a:spAutoFit/>
          </a:bodyPr>
          <a:p>
            <a:pPr marL="0" indent="266700" algn="just" defTabSz="266700">
              <a:lnSpc>
                <a:spcPct val="100000"/>
              </a:lnSpc>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A </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项错误：区人民检察院提起行政公益诉讼，是代表国家和社会公共利益进行法律监督，不是为公众提供代理法律服务，二者性质不同。</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4" name="文本框 3"/>
          <p:cNvSpPr/>
          <p:nvPr/>
        </p:nvSpPr>
        <p:spPr>
          <a:xfrm>
            <a:off x="376555" y="4865370"/>
            <a:ext cx="11499850" cy="829945"/>
          </a:xfrm>
          <a:prstGeom prst="rect">
            <a:avLst/>
          </a:prstGeom>
        </p:spPr>
        <p:txBody>
          <a:bodyPr wrap="square">
            <a:spAutoFit/>
          </a:bodyPr>
          <a:p>
            <a:pPr marL="0" indent="266700" algn="just" defTabSz="266700">
              <a:lnSpc>
                <a:spcPct val="100000"/>
              </a:lnSpc>
              <a:spcBef>
                <a:spcPct val="0"/>
              </a:spcBef>
              <a:spcAft>
                <a:spcPct val="0"/>
              </a:spcAft>
            </a:pP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B 项错误：本案适用行政公益诉讼程序，而不是审判监督程序。并且行政诉讼案件一般不是一经判决就发生法律效力，当事人在法定期限内不上诉，判决才会生效。</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5" name="文本框 4"/>
          <p:cNvSpPr/>
          <p:nvPr/>
        </p:nvSpPr>
        <p:spPr>
          <a:xfrm>
            <a:off x="314325" y="5695315"/>
            <a:ext cx="11376025" cy="1198880"/>
          </a:xfrm>
          <a:prstGeom prst="rect">
            <a:avLst/>
          </a:prstGeom>
        </p:spPr>
        <p:txBody>
          <a:bodyPr wrap="square">
            <a:spAutoFit/>
          </a:bodyPr>
          <a:p>
            <a:pPr marL="0" indent="266700" algn="just" defTabSz="266700">
              <a:lnSpc>
                <a:spcPct val="100000"/>
              </a:lnSpc>
              <a:spcBef>
                <a:spcPct val="0"/>
              </a:spcBef>
              <a:spcAft>
                <a:spcPct val="0"/>
              </a:spcAft>
            </a:pP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C 项错误：在行政公益诉讼中，区文旅局是行政机关，作为被告是因为其未依法履行监管职责，而行政相对人是指行政管理过程中的被管理者，这里区文旅局不是行政相对人。</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Lst>
  </p:timing>
</p:sld>
</file>

<file path=ppt/slides/slide1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490220" y="188595"/>
            <a:ext cx="11036300" cy="3415030"/>
          </a:xfrm>
          <a:prstGeom prst="rect">
            <a:avLst/>
          </a:prstGeom>
        </p:spPr>
        <p:txBody>
          <a:bodyPr wrap="square">
            <a:spAutoFit/>
          </a:bodyPr>
          <a:p>
            <a:pPr marL="0" indent="0" algn="just" defTabSz="266700">
              <a:spcBef>
                <a:spcPct val="0"/>
              </a:spcBef>
              <a:spcAft>
                <a:spcPct val="0"/>
              </a:spcAft>
            </a:pPr>
            <a:r>
              <a:rPr altLang="zh-CN" lang="en-US" b="1" sz="2400">
                <a:cs typeface="微软雅黑" panose="020B0503020204020204" charset="-122"/>
                <a:ea typeface="微软雅黑" panose="020B0503020204020204" charset="-122"/>
                <a:latin typeface="微软雅黑" panose="020B0503020204020204" charset="-122"/>
              </a:rPr>
              <a:t>12. </a:t>
            </a:r>
            <a:r>
              <a:rPr altLang="en-US" lang="zh-CN" b="1" sz="2400">
                <a:cs typeface="微软雅黑" panose="020B0503020204020204" charset="-122"/>
                <a:ea typeface="微软雅黑" panose="020B0503020204020204" charset="-122"/>
                <a:latin typeface="微软雅黑" panose="020B0503020204020204" charset="-122"/>
              </a:rPr>
              <a:t>林下可生金，绿富可双赢。林下经济是指依托森林、林地及其生态环境，遵循可持续经营原则，以开展复合经营为主要特征的生态友好型经济，包括林下种植、林下养殖、相关产品采集加工、森林景观利用等。目前，全国林下经济产值</a:t>
            </a:r>
            <a:r>
              <a:rPr altLang="zh-CN" lang="en-US" b="1" sz="2400">
                <a:cs typeface="微软雅黑" panose="020B0503020204020204" charset="-122"/>
                <a:ea typeface="微软雅黑" panose="020B0503020204020204" charset="-122"/>
                <a:latin typeface="微软雅黑" panose="020B0503020204020204" charset="-122"/>
              </a:rPr>
              <a:t>1</a:t>
            </a:r>
            <a:r>
              <a:rPr altLang="en-US" lang="zh-CN" b="1" sz="2400">
                <a:cs typeface="微软雅黑" panose="020B0503020204020204" charset="-122"/>
                <a:ea typeface="微软雅黑" panose="020B0503020204020204" charset="-122"/>
                <a:latin typeface="微软雅黑" panose="020B0503020204020204" charset="-122"/>
              </a:rPr>
              <a:t>万多亿元，从事林下经济生产的人数达到了</a:t>
            </a:r>
            <a:r>
              <a:rPr altLang="zh-CN" lang="en-US" b="1" sz="2400">
                <a:cs typeface="微软雅黑" panose="020B0503020204020204" charset="-122"/>
                <a:ea typeface="微软雅黑" panose="020B0503020204020204" charset="-122"/>
                <a:latin typeface="微软雅黑" panose="020B0503020204020204" charset="-122"/>
              </a:rPr>
              <a:t>3400</a:t>
            </a:r>
            <a:r>
              <a:rPr altLang="en-US" lang="zh-CN" b="1" sz="2400">
                <a:cs typeface="微软雅黑" panose="020B0503020204020204" charset="-122"/>
                <a:ea typeface="微软雅黑" panose="020B0503020204020204" charset="-122"/>
                <a:latin typeface="微软雅黑" panose="020B0503020204020204" charset="-122"/>
              </a:rPr>
              <a:t>多万人。发展林下经济</a:t>
            </a:r>
            <a:endParaRPr altLang="en-US" lang="zh-CN" b="1" sz="24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①</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是践行“绿水青山就是金山银山”理念的生动实践</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400">
                <a:cs typeface="微软雅黑" panose="020B0503020204020204" charset="-122"/>
                <a:ea typeface="微软雅黑" panose="020B0503020204020204" charset="-122"/>
                <a:latin typeface="微软雅黑" panose="020B0503020204020204" charset="-122"/>
              </a:rPr>
              <a:t>②</a:t>
            </a:r>
            <a:r>
              <a:rPr altLang="en-US" lang="zh-CN" b="1" sz="2400">
                <a:cs typeface="微软雅黑" panose="020B0503020204020204" charset="-122"/>
                <a:ea typeface="微软雅黑" panose="020B0503020204020204" charset="-122"/>
                <a:latin typeface="微软雅黑" panose="020B0503020204020204" charset="-122"/>
              </a:rPr>
              <a:t>实现了全国各地“富”与“绿”的结合与双赢</a:t>
            </a:r>
            <a:endParaRPr altLang="en-US" lang="zh-CN" b="1" sz="24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400">
                <a:cs typeface="微软雅黑" panose="020B0503020204020204" charset="-122"/>
                <a:ea typeface="微软雅黑" panose="020B0503020204020204" charset="-122"/>
                <a:latin typeface="微软雅黑" panose="020B0503020204020204" charset="-122"/>
              </a:rPr>
              <a:t>③</a:t>
            </a:r>
            <a:r>
              <a:rPr altLang="en-US" lang="zh-CN" b="1" sz="2400">
                <a:cs typeface="微软雅黑" panose="020B0503020204020204" charset="-122"/>
                <a:ea typeface="微软雅黑" panose="020B0503020204020204" charset="-122"/>
                <a:latin typeface="微软雅黑" panose="020B0503020204020204" charset="-122"/>
              </a:rPr>
              <a:t>需要扩大森林开采面积，以提高森林资源利用水平</a:t>
            </a:r>
            <a:endParaRPr altLang="en-US" lang="zh-CN" b="1" sz="24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④</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要注意研究市场，突出多种经营，防止一哄而上、产销失衡</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400">
                <a:cs typeface="微软雅黑" panose="020B0503020204020204" charset="-122"/>
                <a:ea typeface="微软雅黑" panose="020B0503020204020204" charset="-122"/>
                <a:latin typeface="微软雅黑" panose="020B0503020204020204" charset="-122"/>
              </a:rPr>
              <a:t>A.①②    </a:t>
            </a: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  B. ①④</a:t>
            </a:r>
            <a:r>
              <a:rPr altLang="zh-CN" lang="en-US" b="1" sz="2400">
                <a:cs typeface="微软雅黑" panose="020B0503020204020204" charset="-122"/>
                <a:ea typeface="微软雅黑" panose="020B0503020204020204" charset="-122"/>
                <a:latin typeface="微软雅黑" panose="020B0503020204020204" charset="-122"/>
              </a:rPr>
              <a:t>      C. ②③      D.③④</a:t>
            </a:r>
            <a:endParaRPr altLang="zh-CN" lang="en-US" b="1" sz="2400">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389255" y="3847465"/>
            <a:ext cx="11323955" cy="1198880"/>
          </a:xfrm>
          <a:prstGeom prst="rect">
            <a:avLst/>
          </a:prstGeom>
        </p:spPr>
        <p:txBody>
          <a:bodyPr wrap="square">
            <a:spAutoFit/>
          </a:bodyPr>
          <a:p>
            <a:pPr marL="0" indent="266700" algn="just" defTabSz="266700">
              <a:lnSpc>
                <a:spcPct val="100000"/>
              </a:lnSpc>
              <a:spcBef>
                <a:spcPct val="0"/>
              </a:spcBef>
              <a:spcAft>
                <a:spcPct val="0"/>
              </a:spcAft>
            </a:pP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②错误：目前全国林下经济产值虽已达 1 万多亿元，但不能就此说明已实现了全国各地 “富” 与 “绿” 的结合与双赢，这种说法过于绝对，在一些地区可能还存在发展不足等情况。</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4" name="文本框 3"/>
          <p:cNvSpPr/>
          <p:nvPr/>
        </p:nvSpPr>
        <p:spPr>
          <a:xfrm>
            <a:off x="389255" y="5194935"/>
            <a:ext cx="11457305" cy="829945"/>
          </a:xfrm>
          <a:prstGeom prst="rect">
            <a:avLst/>
          </a:prstGeom>
        </p:spPr>
        <p:txBody>
          <a:bodyPr wrap="square">
            <a:spAutoFit/>
          </a:bodyPr>
          <a:p>
            <a:pPr marL="0" indent="266700" algn="just" defTabSz="266700">
              <a:lnSpc>
                <a:spcPct val="100000"/>
              </a:lnSpc>
              <a:spcBef>
                <a:spcPct val="0"/>
              </a:spcBef>
              <a:spcAft>
                <a:spcPct val="0"/>
              </a:spcAft>
            </a:pP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③错误：发展林下经济强调的是依托森林、林地及其生态环境进行复合经营，而不是扩大森林开采面积，过度开采森林会破坏生态环境，违背林下经济的发展理念。</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1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233680" y="180975"/>
            <a:ext cx="11475085" cy="3538220"/>
          </a:xfrm>
          <a:prstGeom prst="rect">
            <a:avLst/>
          </a:prstGeom>
        </p:spPr>
        <p:txBody>
          <a:bodyPr wrap="square">
            <a:spAutoFit/>
          </a:bodyPr>
          <a:p>
            <a:pPr marL="0" indent="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13.</a:t>
            </a:r>
            <a:r>
              <a:rPr altLang="en-US" lang="zh-CN" b="1" sz="2800">
                <a:cs typeface="微软雅黑" panose="020B0503020204020204" charset="-122"/>
                <a:highlight>
                  <a:srgbClr val="FFFF00"/>
                </a:highlight>
                <a:ea typeface="微软雅黑" panose="020B0503020204020204" charset="-122"/>
                <a:latin typeface="微软雅黑" panose="020B0503020204020204" charset="-122"/>
              </a:rPr>
              <a:t>国家发展改革委</a:t>
            </a:r>
            <a:r>
              <a:rPr altLang="en-US" lang="zh-CN" b="1" sz="2800">
                <a:cs typeface="微软雅黑" panose="020B0503020204020204" charset="-122"/>
                <a:ea typeface="微软雅黑" panose="020B0503020204020204" charset="-122"/>
                <a:latin typeface="微软雅黑" panose="020B0503020204020204" charset="-122"/>
              </a:rPr>
              <a:t>印发</a:t>
            </a:r>
            <a:r>
              <a:rPr altLang="zh-CN" lang="en-US" b="1" sz="2800">
                <a:cs typeface="微软雅黑" panose="020B0503020204020204" charset="-122"/>
                <a:ea typeface="微软雅黑" panose="020B0503020204020204" charset="-122"/>
                <a:latin typeface="微软雅黑" panose="020B0503020204020204" charset="-122"/>
              </a:rPr>
              <a:t>《</a:t>
            </a:r>
            <a:r>
              <a:rPr altLang="en-US" lang="zh-CN" b="1" sz="2800">
                <a:cs typeface="微软雅黑" panose="020B0503020204020204" charset="-122"/>
                <a:ea typeface="微软雅黑" panose="020B0503020204020204" charset="-122"/>
                <a:latin typeface="微软雅黑" panose="020B0503020204020204" charset="-122"/>
              </a:rPr>
              <a:t>全国统一大市场建设指引（试行）</a:t>
            </a:r>
            <a:r>
              <a:rPr altLang="zh-CN" lang="en-US" b="1" sz="2800">
                <a:cs typeface="微软雅黑" panose="020B0503020204020204" charset="-122"/>
                <a:ea typeface="微软雅黑" panose="020B0503020204020204" charset="-122"/>
                <a:latin typeface="微软雅黑" panose="020B0503020204020204" charset="-122"/>
              </a:rPr>
              <a:t>》</a:t>
            </a:r>
            <a:r>
              <a:rPr altLang="en-US" lang="zh-CN" b="1" sz="2800">
                <a:cs typeface="微软雅黑" panose="020B0503020204020204" charset="-122"/>
                <a:ea typeface="微软雅黑" panose="020B0503020204020204" charset="-122"/>
                <a:latin typeface="微软雅黑" panose="020B0503020204020204" charset="-122"/>
              </a:rPr>
              <a:t>，强调“打造统一的要素和资源市场”。下列措施有利于实现统一的要素和资源市场的是</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①</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完善就业公共服务体系，建设全国就业公共服务平台</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②</a:t>
            </a:r>
            <a:r>
              <a:rPr altLang="en-US" lang="zh-CN" b="1" sz="2800">
                <a:solidFill>
                  <a:srgbClr val="FF0000"/>
                </a:solidFill>
                <a:cs typeface="微软雅黑" panose="020B0503020204020204" charset="-122"/>
                <a:ea typeface="微软雅黑" panose="020B0503020204020204" charset="-122"/>
                <a:latin typeface="微软雅黑" panose="020B0503020204020204" charset="-122"/>
              </a:rPr>
              <a:t>制定全国统一的数据交易、安全等标准体系，健全数据收益分配制度</a:t>
            </a:r>
            <a:endParaRPr altLang="en-US" lang="zh-CN" b="1" sz="28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③</a:t>
            </a:r>
            <a:r>
              <a:rPr altLang="en-US" lang="zh-CN" b="1" sz="2800">
                <a:cs typeface="微软雅黑" panose="020B0503020204020204" charset="-122"/>
                <a:ea typeface="微软雅黑" panose="020B0503020204020204" charset="-122"/>
                <a:latin typeface="微软雅黑" panose="020B0503020204020204" charset="-122"/>
              </a:rPr>
              <a:t>推动产品和服务消费体验标准研制，完善重点领域消费品的统一标准</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cs typeface="微软雅黑" panose="020B0503020204020204" charset="-122"/>
                <a:ea typeface="微软雅黑" panose="020B0503020204020204" charset="-122"/>
                <a:latin typeface="微软雅黑" panose="020B0503020204020204" charset="-122"/>
              </a:rPr>
              <a:t>④</a:t>
            </a:r>
            <a:r>
              <a:rPr altLang="en-US" lang="zh-CN" b="1" sz="2800">
                <a:cs typeface="微软雅黑" panose="020B0503020204020204" charset="-122"/>
                <a:ea typeface="微软雅黑" panose="020B0503020204020204" charset="-122"/>
                <a:latin typeface="微软雅黑" panose="020B0503020204020204" charset="-122"/>
              </a:rPr>
              <a:t>发展全国统一的农村土地交易市场，促进农村土地的自由交易和使用</a:t>
            </a:r>
            <a:endParaRPr altLang="en-US" lang="zh-CN" b="1" sz="2800">
              <a:cs typeface="微软雅黑" panose="020B0503020204020204" charset="-122"/>
              <a:ea typeface="微软雅黑" panose="020B0503020204020204" charset="-122"/>
              <a:latin typeface="微软雅黑" panose="020B0503020204020204" charset="-122"/>
            </a:endParaRPr>
          </a:p>
          <a:p>
            <a:pPr marL="0" indent="266700" algn="just" defTabSz="266700">
              <a:lnSpc>
                <a:spcPct val="100000"/>
              </a:lnSpc>
              <a:spcBef>
                <a:spcPct val="0"/>
              </a:spcBef>
              <a:spcAft>
                <a:spcPct val="0"/>
              </a:spcAft>
            </a:pPr>
            <a:r>
              <a:rPr altLang="zh-CN" lang="en-US" b="1" sz="2800">
                <a:solidFill>
                  <a:srgbClr val="FF0000"/>
                </a:solidFill>
                <a:cs typeface="微软雅黑" panose="020B0503020204020204" charset="-122"/>
                <a:ea typeface="微软雅黑" panose="020B0503020204020204" charset="-122"/>
                <a:latin typeface="微软雅黑" panose="020B0503020204020204" charset="-122"/>
              </a:rPr>
              <a:t>A.①② </a:t>
            </a:r>
            <a:r>
              <a:rPr altLang="zh-CN" lang="en-US" b="1" sz="2800">
                <a:cs typeface="微软雅黑" panose="020B0503020204020204" charset="-122"/>
                <a:ea typeface="微软雅黑" panose="020B0503020204020204" charset="-122"/>
                <a:latin typeface="微软雅黑" panose="020B0503020204020204" charset="-122"/>
              </a:rPr>
              <a:t>       B.①③        C.②④       D.③④</a:t>
            </a:r>
            <a:endParaRPr altLang="zh-CN" lang="en-US" b="1" sz="2800">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593725" y="3872865"/>
            <a:ext cx="10202545" cy="1198880"/>
          </a:xfrm>
          <a:prstGeom prst="rect">
            <a:avLst/>
          </a:prstGeom>
        </p:spPr>
        <p:txBody>
          <a:bodyPr wrap="square">
            <a:spAutoFit/>
          </a:bodyPr>
          <a:p>
            <a:pPr marL="0" indent="266700" algn="just" defTabSz="266700">
              <a:lnSpc>
                <a:spcPct val="100000"/>
              </a:lnSpc>
              <a:spcBef>
                <a:spcPct val="0"/>
              </a:spcBef>
              <a:spcAft>
                <a:spcPct val="0"/>
              </a:spcAft>
            </a:pP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③错误：推动产品和服务消费体验标准研制，完善重点领域消费品的统一标准，这主要是针对消费市场，属于商品和服务市场范畴，而非要素和资源市场。</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4" name="文本框 3"/>
          <p:cNvSpPr/>
          <p:nvPr/>
        </p:nvSpPr>
        <p:spPr>
          <a:xfrm>
            <a:off x="593725" y="5225415"/>
            <a:ext cx="11189970" cy="1568450"/>
          </a:xfrm>
          <a:prstGeom prst="rect">
            <a:avLst/>
          </a:prstGeom>
        </p:spPr>
        <p:txBody>
          <a:bodyPr wrap="square">
            <a:spAutoFit/>
          </a:bodyPr>
          <a:p>
            <a:pPr marL="0" indent="0" algn="just" defTabSz="266700">
              <a:spcBef>
                <a:spcPct val="0"/>
              </a:spcBef>
              <a:spcAft>
                <a:spcPct val="0"/>
              </a:spcAft>
            </a:pP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④错误：农村土地属于集体所有，不能自由交易。我国实行土地用途管制制度，农村土地有严格的使用规范和流转程序，发展全国统一的农村土地交易市场，应是在符合法律法规和政策规定的前提下，规范农村土地经营权等流转，而不是促进农村土地的自由交易和使用。</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1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398145" y="246380"/>
            <a:ext cx="10902950" cy="829945"/>
          </a:xfrm>
          <a:prstGeom prst="rect">
            <a:avLst/>
          </a:prstGeom>
        </p:spPr>
        <p:txBody>
          <a:bodyPr wrap="square">
            <a:spAutoFit/>
          </a:bodyPr>
          <a:p>
            <a:pPr marL="0" indent="0" algn="just" defTabSz="266700">
              <a:spcBef>
                <a:spcPct val="0"/>
              </a:spcBef>
              <a:spcAft>
                <a:spcPct val="0"/>
              </a:spcAft>
            </a:pPr>
            <a:r>
              <a:rPr altLang="zh-CN" lang="en-US" b="1" sz="2400">
                <a:cs typeface="微软雅黑" panose="020B0503020204020204" charset="-122"/>
                <a:ea typeface="微软雅黑" panose="020B0503020204020204" charset="-122"/>
                <a:latin typeface="微软雅黑" panose="020B0503020204020204" charset="-122"/>
              </a:rPr>
              <a:t>14.</a:t>
            </a:r>
            <a:r>
              <a:rPr altLang="en-US" lang="zh-CN" b="1" sz="2400">
                <a:cs typeface="微软雅黑" panose="020B0503020204020204" charset="-122"/>
                <a:ea typeface="微软雅黑" panose="020B0503020204020204" charset="-122"/>
                <a:latin typeface="微软雅黑" panose="020B0503020204020204" charset="-122"/>
              </a:rPr>
              <a:t>贸易顺差，是指出口贸易总额大于进口贸易总额。贸易逆差，是指出口贸易总额小于进口贸易总额。</a:t>
            </a:r>
            <a:r>
              <a:rPr altLang="zh-CN" lang="en-US" b="1" sz="2400">
                <a:cs typeface="微软雅黑" panose="020B0503020204020204" charset="-122"/>
                <a:ea typeface="微软雅黑" panose="020B0503020204020204" charset="-122"/>
                <a:latin typeface="微软雅黑" panose="020B0503020204020204" charset="-122"/>
              </a:rPr>
              <a:t>2024</a:t>
            </a:r>
            <a:r>
              <a:rPr altLang="en-US" lang="zh-CN" b="1" sz="2400">
                <a:cs typeface="微软雅黑" panose="020B0503020204020204" charset="-122"/>
                <a:ea typeface="微软雅黑" panose="020B0503020204020204" charset="-122"/>
                <a:latin typeface="微软雅黑" panose="020B0503020204020204" charset="-122"/>
              </a:rPr>
              <a:t>年我国货物进出口总额及其增长速度见下表。</a:t>
            </a:r>
            <a:endParaRPr altLang="en-US" lang="zh-CN" b="1" sz="2400">
              <a:cs typeface="微软雅黑" panose="020B0503020204020204" charset="-122"/>
              <a:ea typeface="微软雅黑" panose="020B0503020204020204" charset="-122"/>
              <a:latin typeface="微软雅黑" panose="020B0503020204020204" charset="-122"/>
            </a:endParaRPr>
          </a:p>
        </p:txBody>
      </p:sp>
      <p:pic>
        <p:nvPicPr>
          <p:cNvPr id="4" name="图片 3"/>
          <p:cNvPicPr/>
          <p:nvPr/>
        </p:nvPicPr>
        <p:blipFill>
          <a:blip r:embed="rId1"/>
          <a:stretch>
            <a:fillRect/>
          </a:stretch>
        </p:blipFill>
        <p:spPr>
          <a:xfrm>
            <a:off x="0" y="1271270"/>
            <a:ext cx="5901690" cy="3352800"/>
          </a:xfrm>
          <a:prstGeom prst="rect">
            <a:avLst/>
          </a:prstGeom>
        </p:spPr>
      </p:pic>
      <p:sp>
        <p:nvSpPr>
          <p:cNvPr id="5" name="文本框 4"/>
          <p:cNvSpPr/>
          <p:nvPr/>
        </p:nvSpPr>
        <p:spPr>
          <a:xfrm>
            <a:off x="5901690" y="1271270"/>
            <a:ext cx="6228080" cy="3476625"/>
          </a:xfrm>
          <a:prstGeom prst="rect">
            <a:avLst/>
          </a:prstGeom>
        </p:spPr>
        <p:txBody>
          <a:bodyPr wrap="square">
            <a:spAutoFit/>
          </a:bodyPr>
          <a:p>
            <a:pPr marL="0" indent="266700" algn="just" defTabSz="266700">
              <a:spcBef>
                <a:spcPct val="0"/>
              </a:spcBef>
              <a:spcAft>
                <a:spcPct val="0"/>
              </a:spcAft>
            </a:pPr>
            <a:r>
              <a:rPr altLang="en-US" lang="zh-CN" b="1" sz="2000">
                <a:cs typeface="微软雅黑" panose="020B0503020204020204" charset="-122"/>
                <a:ea typeface="微软雅黑" panose="020B0503020204020204" charset="-122"/>
                <a:latin typeface="微软雅黑" panose="020B0503020204020204" charset="-122"/>
              </a:rPr>
              <a:t>根据以上材料，下列关于</a:t>
            </a:r>
            <a:r>
              <a:rPr altLang="zh-CN" lang="en-US" b="1" sz="2000">
                <a:cs typeface="微软雅黑" panose="020B0503020204020204" charset="-122"/>
                <a:ea typeface="微软雅黑" panose="020B0503020204020204" charset="-122"/>
                <a:latin typeface="微软雅黑" panose="020B0503020204020204" charset="-122"/>
              </a:rPr>
              <a:t>2024</a:t>
            </a:r>
            <a:r>
              <a:rPr altLang="en-US" lang="zh-CN" b="1" sz="2000">
                <a:cs typeface="微软雅黑" panose="020B0503020204020204" charset="-122"/>
                <a:ea typeface="微软雅黑" panose="020B0503020204020204" charset="-122"/>
                <a:latin typeface="微软雅黑" panose="020B0503020204020204" charset="-122"/>
              </a:rPr>
              <a:t>年我国对外贸易的说法正确的是</a:t>
            </a:r>
            <a:endParaRPr altLang="en-US" lang="zh-CN" b="1" sz="20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000">
                <a:cs typeface="微软雅黑" panose="020B0503020204020204" charset="-122"/>
                <a:ea typeface="微软雅黑" panose="020B0503020204020204" charset="-122"/>
                <a:latin typeface="微软雅黑" panose="020B0503020204020204" charset="-122"/>
              </a:rPr>
              <a:t>①</a:t>
            </a:r>
            <a:r>
              <a:rPr altLang="en-US" lang="zh-CN" b="1" sz="2000">
                <a:cs typeface="微软雅黑" panose="020B0503020204020204" charset="-122"/>
                <a:ea typeface="微软雅黑" panose="020B0503020204020204" charset="-122"/>
                <a:latin typeface="微软雅黑" panose="020B0503020204020204" charset="-122"/>
              </a:rPr>
              <a:t>货物贸易和服务贸易顺差比上年有所增加，为世界经济注入新动能</a:t>
            </a:r>
            <a:endParaRPr altLang="en-US" lang="zh-CN" b="1" sz="20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②</a:t>
            </a: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机电产品出口额占货物出口额比重上升，对经济增长的作用增强</a:t>
            </a:r>
            <a:endParaRPr altLang="en-US" lang="zh-CN" b="1" sz="20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000">
                <a:cs typeface="微软雅黑" panose="020B0503020204020204" charset="-122"/>
                <a:ea typeface="微软雅黑" panose="020B0503020204020204" charset="-122"/>
                <a:latin typeface="微软雅黑" panose="020B0503020204020204" charset="-122"/>
              </a:rPr>
              <a:t>③</a:t>
            </a:r>
            <a:r>
              <a:rPr altLang="en-US" lang="zh-CN" b="1" sz="2000">
                <a:cs typeface="微软雅黑" panose="020B0503020204020204" charset="-122"/>
                <a:ea typeface="微软雅黑" panose="020B0503020204020204" charset="-122"/>
                <a:latin typeface="微软雅黑" panose="020B0503020204020204" charset="-122"/>
              </a:rPr>
              <a:t>高新技术产品进口额大幅增长，国内高新技术产品的供给量下降</a:t>
            </a:r>
            <a:endParaRPr altLang="en-US" lang="zh-CN" b="1" sz="2000">
              <a:cs typeface="微软雅黑" panose="020B0503020204020204" charset="-122"/>
              <a:ea typeface="微软雅黑" panose="020B0503020204020204" charset="-122"/>
              <a:latin typeface="微软雅黑" panose="020B0503020204020204" charset="-122"/>
            </a:endParaRPr>
          </a:p>
          <a:p>
            <a:pPr marL="0" indent="266700" algn="just" defTabSz="266700">
              <a:spcBef>
                <a:spcPct val="0"/>
              </a:spcBef>
              <a:spcAft>
                <a:spcPct val="0"/>
              </a:spcAft>
            </a:pP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④</a:t>
            </a: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高新技术产品出口增长率低于货物出口增长率，应加强科技研发</a:t>
            </a:r>
            <a:endParaRPr altLang="en-US" lang="zh-CN" b="1" sz="2000">
              <a:solidFill>
                <a:srgbClr val="FF0000"/>
              </a:solidFill>
              <a:cs typeface="微软雅黑" panose="020B0503020204020204" charset="-122"/>
              <a:ea typeface="微软雅黑" panose="020B0503020204020204" charset="-122"/>
              <a:latin typeface="微软雅黑" panose="020B0503020204020204" charset="-122"/>
            </a:endParaRPr>
          </a:p>
          <a:p>
            <a:pPr marL="133350" indent="133350" algn="just" defTabSz="266700">
              <a:spcBef>
                <a:spcPct val="0"/>
              </a:spcBef>
              <a:spcAft>
                <a:spcPct val="0"/>
              </a:spcAft>
            </a:pPr>
            <a:r>
              <a:rPr altLang="zh-CN" lang="en-US" b="1" sz="2000">
                <a:cs typeface="微软雅黑" panose="020B0503020204020204" charset="-122"/>
                <a:ea typeface="微软雅黑" panose="020B0503020204020204" charset="-122"/>
                <a:latin typeface="微软雅黑" panose="020B0503020204020204" charset="-122"/>
              </a:rPr>
              <a:t>A.①②    B.①③   </a:t>
            </a: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C.②④ </a:t>
            </a:r>
            <a:r>
              <a:rPr altLang="zh-CN" lang="en-US" b="1" sz="2000">
                <a:cs typeface="微软雅黑" panose="020B0503020204020204" charset="-122"/>
                <a:ea typeface="微软雅黑" panose="020B0503020204020204" charset="-122"/>
                <a:latin typeface="微软雅黑" panose="020B0503020204020204" charset="-122"/>
              </a:rPr>
              <a:t>  D.③④  </a:t>
            </a:r>
            <a:endParaRPr altLang="zh-CN" lang="en-US" b="1" sz="2000">
              <a:cs typeface="微软雅黑" panose="020B0503020204020204" charset="-122"/>
              <a:ea typeface="微软雅黑" panose="020B0503020204020204" charset="-122"/>
              <a:latin typeface="微软雅黑" panose="020B0503020204020204" charset="-122"/>
            </a:endParaRPr>
          </a:p>
        </p:txBody>
      </p:sp>
      <p:sp>
        <p:nvSpPr>
          <p:cNvPr id="6" name="文本框 5"/>
          <p:cNvSpPr/>
          <p:nvPr/>
        </p:nvSpPr>
        <p:spPr>
          <a:xfrm>
            <a:off x="654685" y="4819015"/>
            <a:ext cx="10552430" cy="1014730"/>
          </a:xfrm>
          <a:prstGeom prst="rect">
            <a:avLst/>
          </a:prstGeom>
        </p:spPr>
        <p:txBody>
          <a:bodyPr wrap="square">
            <a:spAutoFit/>
          </a:bodyPr>
          <a:p>
            <a:pPr marL="0" indent="266700" algn="just" defTabSz="266700">
              <a:lnSpc>
                <a:spcPct val="100000"/>
              </a:lnSpc>
              <a:spcBef>
                <a:spcPct val="0"/>
              </a:spcBef>
              <a:spcAft>
                <a:spcPct val="0"/>
              </a:spcAft>
            </a:pP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①</a:t>
            </a: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错误：计算货物贸易顺差为</a:t>
            </a: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254545</a:t>
            </a: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−183923=70622</a:t>
            </a: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亿元，</a:t>
            </a:r>
            <a:endParaRPr altLang="en-US" lang="zh-CN" b="1" sz="2000">
              <a:solidFill>
                <a:srgbClr val="FF0000"/>
              </a:solidFill>
              <a:cs typeface="微软雅黑" panose="020B0503020204020204" charset="-122"/>
              <a:ea typeface="微软雅黑" panose="020B0503020204020204" charset="-122"/>
              <a:latin typeface="微软雅黑" panose="020B0503020204020204" charset="-122"/>
            </a:endParaRPr>
          </a:p>
          <a:p>
            <a:pPr marL="0" indent="933450" algn="just" defTabSz="266700">
              <a:lnSpc>
                <a:spcPct val="100000"/>
              </a:lnSpc>
              <a:spcBef>
                <a:spcPct val="0"/>
              </a:spcBef>
              <a:spcAft>
                <a:spcPct val="0"/>
              </a:spcAft>
            </a:pP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服务贸易逆差为</a:t>
            </a: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43482</a:t>
            </a:r>
            <a:r>
              <a:rPr altLang="zh-CN" lang="en-US" b="1" sz="2000">
                <a:solidFill>
                  <a:srgbClr val="FF0000"/>
                </a:solidFill>
                <a:cs typeface="微软雅黑" panose="020B0503020204020204" charset="-122"/>
                <a:ea typeface="微软雅黑" panose="020B0503020204020204" charset="-122"/>
                <a:latin typeface="微软雅黑" panose="020B0503020204020204" charset="-122"/>
              </a:rPr>
              <a:t>−31756=11726</a:t>
            </a: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亿元。</a:t>
            </a:r>
            <a:endParaRPr altLang="en-US" lang="zh-CN" b="1" sz="2000">
              <a:solidFill>
                <a:srgbClr val="FF0000"/>
              </a:solidFill>
              <a:cs typeface="微软雅黑" panose="020B0503020204020204" charset="-122"/>
              <a:ea typeface="微软雅黑" panose="020B0503020204020204" charset="-122"/>
              <a:latin typeface="微软雅黑" panose="020B0503020204020204" charset="-122"/>
            </a:endParaRPr>
          </a:p>
          <a:p>
            <a:pPr marL="0" indent="0" algn="just" defTabSz="266700">
              <a:lnSpc>
                <a:spcPct val="100000"/>
              </a:lnSpc>
              <a:spcBef>
                <a:spcPct val="0"/>
              </a:spcBef>
              <a:spcAft>
                <a:spcPct val="0"/>
              </a:spcAft>
            </a:pP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材料中没有给出上一年的顺差数据，无法判断货物贸易和服务贸易顺差比上年有所增加。</a:t>
            </a:r>
            <a:endParaRPr altLang="en-US" lang="zh-CN" b="1" sz="20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7" name="文本框 6"/>
          <p:cNvSpPr/>
          <p:nvPr/>
        </p:nvSpPr>
        <p:spPr>
          <a:xfrm>
            <a:off x="654685" y="6028690"/>
            <a:ext cx="10234930" cy="706755"/>
          </a:xfrm>
          <a:prstGeom prst="rect">
            <a:avLst/>
          </a:prstGeom>
        </p:spPr>
        <p:txBody>
          <a:bodyPr wrap="square">
            <a:spAutoFit/>
          </a:bodyPr>
          <a:p>
            <a:pPr marL="0" indent="266700" algn="just" defTabSz="266700">
              <a:lnSpc>
                <a:spcPct val="100000"/>
              </a:lnSpc>
              <a:spcBef>
                <a:spcPct val="0"/>
              </a:spcBef>
              <a:spcAft>
                <a:spcPct val="0"/>
              </a:spcAft>
            </a:pP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③错误：高新技术产品进口额大幅增长，意味着更多的高新技术产品进入国内市场，国内高新技术产品的供给量应该是增加而不是下降。</a:t>
            </a:r>
            <a:endParaRPr altLang="en-US" lang="zh-CN" b="1" sz="2000">
              <a:solidFill>
                <a:srgbClr val="FF0000"/>
              </a:solidFill>
              <a:cs typeface="微软雅黑" panose="020B0503020204020204" charset="-122"/>
              <a:ea typeface="微软雅黑" panose="020B0503020204020204" charset="-122"/>
              <a:latin typeface="微软雅黑" panose="020B0503020204020204"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407035" y="247015"/>
            <a:ext cx="11633200" cy="3784600"/>
          </a:xfrm>
          <a:prstGeom prst="rect">
            <a:avLst/>
          </a:prstGeom>
        </p:spPr>
        <p:txBody>
          <a:bodyPr wrap="square">
            <a:spAutoFit/>
          </a:bodyPr>
          <a:p>
            <a:pPr marL="0" indent="0" algn="l" defTabSz="266700">
              <a:lnSpc>
                <a:spcPct val="100000"/>
              </a:lnSpc>
              <a:spcBef>
                <a:spcPct val="0"/>
              </a:spcBef>
              <a:spcAft>
                <a:spcPct val="0"/>
              </a:spcAft>
            </a:pPr>
            <a:r>
              <a:rPr altLang="zh-CN" lang="en-US" b="1" sz="2400">
                <a:solidFill>
                  <a:srgbClr val="333333"/>
                </a:solidFill>
                <a:cs typeface="微软雅黑" panose="020B0503020204020204" charset="-122"/>
                <a:ea typeface="微软雅黑" panose="020B0503020204020204" charset="-122"/>
                <a:latin typeface="微软雅黑" panose="020B0503020204020204" charset="-122"/>
              </a:rPr>
              <a:t>15.</a:t>
            </a:r>
            <a:r>
              <a:rPr altLang="zh-CN" lang="en-US" b="1" sz="2400">
                <a:solidFill>
                  <a:srgbClr val="333333"/>
                </a:solidFill>
                <a:cs typeface="微软雅黑" panose="020B0503020204020204" charset="-122"/>
                <a:highlight>
                  <a:srgbClr val="FFFF00"/>
                </a:highlight>
                <a:ea typeface="微软雅黑" panose="020B0503020204020204" charset="-122"/>
                <a:latin typeface="微软雅黑" panose="020B0503020204020204" charset="-122"/>
              </a:rPr>
              <a:t>2025</a:t>
            </a:r>
            <a:r>
              <a:rPr altLang="en-US" lang="zh-CN" b="1" sz="2400">
                <a:solidFill>
                  <a:srgbClr val="333333"/>
                </a:solidFill>
                <a:cs typeface="微软雅黑" panose="020B0503020204020204" charset="-122"/>
                <a:highlight>
                  <a:srgbClr val="FFFF00"/>
                </a:highlight>
                <a:ea typeface="微软雅黑" panose="020B0503020204020204" charset="-122"/>
                <a:latin typeface="微软雅黑" panose="020B0503020204020204" charset="-122"/>
              </a:rPr>
              <a:t>年是联合国成立</a:t>
            </a:r>
            <a:r>
              <a:rPr altLang="zh-CN" lang="en-US" b="1" sz="2400">
                <a:solidFill>
                  <a:srgbClr val="333333"/>
                </a:solidFill>
                <a:cs typeface="微软雅黑" panose="020B0503020204020204" charset="-122"/>
                <a:highlight>
                  <a:srgbClr val="FFFF00"/>
                </a:highlight>
                <a:ea typeface="微软雅黑" panose="020B0503020204020204" charset="-122"/>
                <a:latin typeface="微软雅黑" panose="020B0503020204020204" charset="-122"/>
              </a:rPr>
              <a:t>80</a:t>
            </a:r>
            <a:r>
              <a:rPr altLang="en-US" lang="zh-CN" b="1" sz="2400">
                <a:solidFill>
                  <a:srgbClr val="333333"/>
                </a:solidFill>
                <a:cs typeface="微软雅黑" panose="020B0503020204020204" charset="-122"/>
                <a:highlight>
                  <a:srgbClr val="FFFF00"/>
                </a:highlight>
                <a:ea typeface="微软雅黑" panose="020B0503020204020204" charset="-122"/>
                <a:latin typeface="微软雅黑" panose="020B0503020204020204" charset="-122"/>
              </a:rPr>
              <a:t>周年</a:t>
            </a:r>
            <a:r>
              <a:rPr altLang="en-US" lang="zh-CN" b="1" sz="2400">
                <a:solidFill>
                  <a:srgbClr val="333333"/>
                </a:solidFill>
                <a:cs typeface="微软雅黑" panose="020B0503020204020204" charset="-122"/>
                <a:ea typeface="微软雅黑" panose="020B0503020204020204" charset="-122"/>
                <a:latin typeface="微软雅黑" panose="020B0503020204020204" charset="-122"/>
              </a:rPr>
              <a:t>。二战结束前后，国际社会做出的最重要决定就是成立联合国，打造一个维护世界和平、开展全球治理的最主要平台。现在形势发生了很大变化，单边主义抬头，强权政治泛滥，有的国家对联合国提出了这样那样的质疑，但中方认为，矛盾越是复杂，越要突出联合国的重要地位；挑战越是紧迫，越要维护联合国的应有权威。各国都希望避免世界重回丛林法则，为此</a:t>
            </a:r>
            <a:endParaRPr altLang="en-US" lang="zh-CN" b="1" sz="2400">
              <a:solidFill>
                <a:srgbClr val="333333"/>
              </a:solidFill>
              <a:cs typeface="微软雅黑" panose="020B0503020204020204" charset="-122"/>
              <a:ea typeface="微软雅黑" panose="020B0503020204020204" charset="-122"/>
              <a:latin typeface="微软雅黑" panose="020B0503020204020204" charset="-122"/>
            </a:endParaRPr>
          </a:p>
          <a:p>
            <a:pPr marL="0" indent="266700" algn="just" defTabSz="266700" fontAlgn="ctr">
              <a:lnSpc>
                <a:spcPct val="100000"/>
              </a:lnSpc>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①</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要筑牢主权平等的基石，承认国家不分大小强弱，都是国际社会平等一员</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fontAlgn="ctr">
              <a:lnSpc>
                <a:spcPct val="100000"/>
              </a:lnSpc>
              <a:spcBef>
                <a:spcPct val="0"/>
              </a:spcBef>
              <a:spcAft>
                <a:spcPct val="0"/>
              </a:spcAft>
            </a:pPr>
            <a:r>
              <a:rPr altLang="zh-CN" lang="en-US" b="1" sz="2400">
                <a:cs typeface="微软雅黑" panose="020B0503020204020204" charset="-122"/>
                <a:ea typeface="微软雅黑" panose="020B0503020204020204" charset="-122"/>
                <a:latin typeface="微软雅黑" panose="020B0503020204020204" charset="-122"/>
              </a:rPr>
              <a:t>②</a:t>
            </a:r>
            <a:r>
              <a:rPr altLang="en-US" lang="zh-CN" b="1" sz="2400">
                <a:cs typeface="微软雅黑" panose="020B0503020204020204" charset="-122"/>
                <a:ea typeface="微软雅黑" panose="020B0503020204020204" charset="-122"/>
                <a:latin typeface="微软雅黑" panose="020B0503020204020204" charset="-122"/>
              </a:rPr>
              <a:t>要坚持公平正义的原则，反对大国垄断国际事务，充分保护各国的当下利益</a:t>
            </a:r>
            <a:endParaRPr altLang="en-US" lang="zh-CN" b="1" sz="2400">
              <a:cs typeface="微软雅黑" panose="020B0503020204020204" charset="-122"/>
              <a:ea typeface="微软雅黑" panose="020B0503020204020204" charset="-122"/>
              <a:latin typeface="微软雅黑" panose="020B0503020204020204" charset="-122"/>
            </a:endParaRPr>
          </a:p>
          <a:p>
            <a:pPr marL="0" indent="266700" algn="just" defTabSz="266700" fontAlgn="ctr">
              <a:lnSpc>
                <a:spcPct val="100000"/>
              </a:lnSpc>
              <a:spcBef>
                <a:spcPct val="0"/>
              </a:spcBef>
              <a:spcAft>
                <a:spcPct val="0"/>
              </a:spcAft>
            </a:pP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③</a:t>
            </a:r>
            <a:r>
              <a:rPr altLang="en-US" lang="zh-CN" b="1" sz="2400">
                <a:solidFill>
                  <a:srgbClr val="FF0000"/>
                </a:solidFill>
                <a:cs typeface="微软雅黑" panose="020B0503020204020204" charset="-122"/>
                <a:ea typeface="微软雅黑" panose="020B0503020204020204" charset="-122"/>
                <a:latin typeface="微软雅黑" panose="020B0503020204020204" charset="-122"/>
              </a:rPr>
              <a:t>要恪守多边主义的理念，秉持共商共建共享原则，以包容协作取代集团对抗</a:t>
            </a:r>
            <a:endParaRPr altLang="en-US" lang="zh-CN" b="1" sz="2400">
              <a:solidFill>
                <a:srgbClr val="FF0000"/>
              </a:solidFill>
              <a:cs typeface="微软雅黑" panose="020B0503020204020204" charset="-122"/>
              <a:ea typeface="微软雅黑" panose="020B0503020204020204" charset="-122"/>
              <a:latin typeface="微软雅黑" panose="020B0503020204020204" charset="-122"/>
            </a:endParaRPr>
          </a:p>
          <a:p>
            <a:pPr marL="0" indent="266700" algn="just" defTabSz="266700" fontAlgn="ctr">
              <a:lnSpc>
                <a:spcPct val="100000"/>
              </a:lnSpc>
              <a:spcBef>
                <a:spcPct val="0"/>
              </a:spcBef>
              <a:spcAft>
                <a:spcPct val="0"/>
              </a:spcAft>
            </a:pPr>
            <a:r>
              <a:rPr altLang="zh-CN" lang="en-US" b="1" sz="2400">
                <a:cs typeface="微软雅黑" panose="020B0503020204020204" charset="-122"/>
                <a:ea typeface="微软雅黑" panose="020B0503020204020204" charset="-122"/>
                <a:latin typeface="微软雅黑" panose="020B0503020204020204" charset="-122"/>
              </a:rPr>
              <a:t>④</a:t>
            </a:r>
            <a:r>
              <a:rPr altLang="en-US" lang="zh-CN" b="1" sz="2400">
                <a:cs typeface="微软雅黑" panose="020B0503020204020204" charset="-122"/>
                <a:ea typeface="微软雅黑" panose="020B0503020204020204" charset="-122"/>
                <a:latin typeface="微软雅黑" panose="020B0503020204020204" charset="-122"/>
              </a:rPr>
              <a:t>要加强国际法治的权威，监督大国讲法治，反对适用国际法时采用单一标准</a:t>
            </a:r>
            <a:endParaRPr altLang="en-US" lang="zh-CN" b="1" sz="2400">
              <a:cs typeface="微软雅黑" panose="020B0503020204020204" charset="-122"/>
              <a:ea typeface="微软雅黑" panose="020B0503020204020204" charset="-122"/>
              <a:latin typeface="微软雅黑" panose="020B0503020204020204" charset="-122"/>
            </a:endParaRPr>
          </a:p>
          <a:p>
            <a:pPr marL="0" indent="266700" algn="l" defTabSz="266700" fontAlgn="ctr">
              <a:lnSpc>
                <a:spcPct val="100000"/>
              </a:lnSpc>
              <a:spcBef>
                <a:spcPct val="0"/>
              </a:spcBef>
              <a:spcAft>
                <a:spcPct val="0"/>
              </a:spcAft>
            </a:pP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A. ①②</a:t>
            </a: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
            </a:r>
            <a:r>
              <a:rPr altLang="zh-CN" lang="en-US" b="1" sz="2400">
                <a:solidFill>
                  <a:srgbClr val="FF0000"/>
                </a:solidFill>
                <a:cs typeface="微软雅黑" panose="020B0503020204020204" charset="-122"/>
                <a:ea typeface="微软雅黑" panose="020B0503020204020204" charset="-122"/>
                <a:latin typeface="微软雅黑" panose="020B0503020204020204" charset="-122"/>
              </a:rPr>
              <a:t>B. ①③ </a:t>
            </a: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       C. ②④</a:t>
            </a: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
            </a:r>
            <a:r>
              <a:rPr altLang="zh-CN" lang="en-US" b="1" sz="2400">
                <a:solidFill>
                  <a:srgbClr val="000000"/>
                </a:solidFill>
                <a:cs typeface="微软雅黑" panose="020B0503020204020204" charset="-122"/>
                <a:ea typeface="微软雅黑" panose="020B0503020204020204" charset="-122"/>
                <a:latin typeface="微软雅黑" panose="020B0503020204020204" charset="-122"/>
              </a:rPr>
              <a:t>D. ③④</a:t>
            </a:r>
            <a:endParaRPr altLang="zh-CN" lang="en-US" b="1" sz="2400">
              <a:solidFill>
                <a:srgbClr val="000000"/>
              </a:solidFill>
              <a:cs typeface="微软雅黑" panose="020B0503020204020204" charset="-122"/>
              <a:ea typeface="微软雅黑" panose="020B0503020204020204" charset="-122"/>
              <a:latin typeface="微软雅黑" panose="020B0503020204020204" charset="-122"/>
            </a:endParaRPr>
          </a:p>
        </p:txBody>
      </p:sp>
      <p:sp>
        <p:nvSpPr>
          <p:cNvPr id="3" name="文本框 2"/>
          <p:cNvSpPr/>
          <p:nvPr/>
        </p:nvSpPr>
        <p:spPr>
          <a:xfrm>
            <a:off x="624205" y="4124325"/>
            <a:ext cx="10634980" cy="706755"/>
          </a:xfrm>
          <a:prstGeom prst="rect">
            <a:avLst/>
          </a:prstGeom>
        </p:spPr>
        <p:txBody>
          <a:bodyPr wrap="square">
            <a:spAutoFit/>
          </a:bodyPr>
          <a:p>
            <a:pPr marL="0" indent="0" algn="just" defTabSz="266700">
              <a:spcBef>
                <a:spcPct val="0"/>
              </a:spcBef>
              <a:spcAft>
                <a:spcPct val="0"/>
              </a:spcAft>
            </a:pP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②坚持公平正义原则，反对大国垄断国际事务是正确的。然而，“充分保护各国的当下利益” 表述不准确。</a:t>
            </a:r>
            <a:endParaRPr altLang="en-US" lang="zh-CN" b="1" sz="2000">
              <a:solidFill>
                <a:srgbClr val="FF0000"/>
              </a:solidFill>
              <a:cs typeface="微软雅黑" panose="020B0503020204020204" charset="-122"/>
              <a:ea typeface="微软雅黑" panose="020B0503020204020204" charset="-122"/>
              <a:latin typeface="微软雅黑" panose="020B0503020204020204" charset="-122"/>
            </a:endParaRPr>
          </a:p>
        </p:txBody>
      </p:sp>
      <p:sp>
        <p:nvSpPr>
          <p:cNvPr id="4" name="文本框 3"/>
          <p:cNvSpPr/>
          <p:nvPr/>
        </p:nvSpPr>
        <p:spPr>
          <a:xfrm>
            <a:off x="511175" y="4923790"/>
            <a:ext cx="10850880" cy="1287780"/>
          </a:xfrm>
          <a:prstGeom prst="rect">
            <a:avLst/>
          </a:prstGeom>
        </p:spPr>
        <p:txBody>
          <a:bodyPr>
            <a:noAutofit/>
          </a:bodyPr>
          <a:p>
            <a:pPr marL="0" indent="266700" algn="l" defTabSz="266700" fontAlgn="ctr">
              <a:lnSpc>
                <a:spcPct val="120000"/>
              </a:lnSpc>
              <a:spcBef>
                <a:spcPct val="0"/>
              </a:spcBef>
              <a:spcAft>
                <a:spcPct val="0"/>
              </a:spcAft>
            </a:pPr>
            <a:r>
              <a:rPr altLang="en-US" lang="zh-CN" b="1" sz="2000">
                <a:solidFill>
                  <a:srgbClr val="FF0000"/>
                </a:solidFill>
                <a:cs typeface="微软雅黑" panose="020B0503020204020204" charset="-122"/>
                <a:ea typeface="微软雅黑" panose="020B0503020204020204" charset="-122"/>
                <a:latin typeface="微软雅黑" panose="020B0503020204020204" charset="-122"/>
              </a:rPr>
              <a:t>④加强国际法治的权威，监督各国（包括大国）讲法治，反对适用国际法时采用双重标准（而不是单一标准 ）是正确的。但材料中主要强调的是应对单边主义、强权政治等问题，突出联合国的重要性，④选项的表述与题干中避免世界重回丛林法则的核心关联不大，所以④错误。</a:t>
            </a:r>
            <a:endParaRPr altLang="en-US" lang="zh-CN" b="1" sz="2000">
              <a:solidFill>
                <a:srgbClr val="FF0000"/>
              </a:solidFill>
              <a:cs typeface="微软雅黑" panose="020B0503020204020204" charset="-122"/>
              <a:ea typeface="微软雅黑" panose="020B0503020204020204" charset="-122"/>
              <a:latin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1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 name="文本框 1"/>
          <p:cNvSpPr/>
          <p:nvPr/>
        </p:nvSpPr>
        <p:spPr>
          <a:xfrm>
            <a:off x="491490" y="624205"/>
            <a:ext cx="11370310" cy="5631180"/>
          </a:xfrm>
          <a:prstGeom prst="rect">
            <a:avLst/>
          </a:prstGeom>
        </p:spPr>
        <p:txBody>
          <a:bodyPr wrap="square">
            <a:spAutoFit/>
          </a:bodyPr>
          <a:p>
            <a:pPr marL="0" indent="0" algn="just" defTabSz="266700">
              <a:spcBef>
                <a:spcPct val="0"/>
              </a:spcBef>
              <a:spcAft>
                <a:spcPct val="0"/>
              </a:spcAft>
            </a:pPr>
            <a:r>
              <a:rPr altLang="zh-CN" lang="en-US" b="1" sz="2400">
                <a:ea typeface="宋体" panose="02010600030101010101" pitchFamily="2" charset="-122"/>
                <a:latin typeface="宋体" panose="02010600030101010101" pitchFamily="2" charset="-122"/>
              </a:rPr>
              <a:t>16.</a:t>
            </a:r>
            <a:r>
              <a:rPr altLang="en-US" lang="zh-CN" b="1" sz="2400">
                <a:ea typeface="宋体" panose="02010600030101010101" pitchFamily="2" charset="-122"/>
                <a:latin typeface="宋体" panose="02010600030101010101" pitchFamily="2" charset="-122"/>
              </a:rPr>
              <a:t>（</a:t>
            </a:r>
            <a:r>
              <a:rPr altLang="zh-CN" lang="en-US" b="1" sz="2400">
                <a:ea typeface="宋体" panose="02010600030101010101" pitchFamily="2" charset="-122"/>
                <a:latin typeface="宋体" panose="02010600030101010101" pitchFamily="2" charset="-122"/>
              </a:rPr>
              <a:t>8</a:t>
            </a:r>
            <a:r>
              <a:rPr altLang="en-US" lang="zh-CN" b="1" sz="2400">
                <a:ea typeface="宋体" panose="02010600030101010101" pitchFamily="2" charset="-122"/>
                <a:latin typeface="宋体" panose="02010600030101010101" pitchFamily="2" charset="-122"/>
              </a:rPr>
              <a:t>分）</a:t>
            </a:r>
            <a:r>
              <a:rPr altLang="en-US" lang="zh-CN" b="1" sz="2400">
                <a:ea typeface="楷体" panose="02010609060101010101" charset="-122"/>
                <a:latin typeface="楷体" panose="02010609060101010101" charset="-122"/>
              </a:rPr>
              <a:t>中华优秀传统文化在新时代绽放新光彩。国产动画电影持续实现票房和口碑双丰收。</a:t>
            </a:r>
            <a:endParaRPr altLang="en-US" lang="zh-CN" b="1" sz="2400">
              <a:ea typeface="楷体" panose="02010609060101010101" charset="-122"/>
              <a:latin typeface="楷体" panose="02010609060101010101" charset="-122"/>
            </a:endParaRPr>
          </a:p>
          <a:p>
            <a:pPr marL="0" indent="280670" algn="just" defTabSz="266700">
              <a:spcBef>
                <a:spcPct val="0"/>
              </a:spcBef>
              <a:spcAft>
                <a:spcPct val="0"/>
              </a:spcAft>
            </a:pPr>
            <a:r>
              <a:rPr altLang="zh-CN" lang="en-US" b="1" sz="2400">
                <a:ea typeface="楷体" panose="02010609060101010101" charset="-122"/>
                <a:latin typeface="Wingdings" panose="05000000000000000000"/>
              </a:rPr>
              <a:t>² </a:t>
            </a:r>
            <a:r>
              <a:rPr altLang="zh-CN" lang="en-US" b="1" sz="2400">
                <a:ea typeface="楷体" panose="02010609060101010101" charset="-122"/>
                <a:latin typeface="楷体" panose="02010609060101010101" charset="-122"/>
              </a:rPr>
              <a:t>《</a:t>
            </a:r>
            <a:r>
              <a:rPr altLang="en-US" lang="zh-CN" b="1" sz="2400">
                <a:ea typeface="楷体" panose="02010609060101010101" charset="-122"/>
                <a:latin typeface="楷体" panose="02010609060101010101" charset="-122"/>
              </a:rPr>
              <a:t>长安三万里</a:t>
            </a:r>
            <a:r>
              <a:rPr altLang="zh-CN" lang="en-US" b="1" sz="2400">
                <a:ea typeface="楷体" panose="02010609060101010101" charset="-122"/>
                <a:latin typeface="楷体" panose="02010609060101010101" charset="-122"/>
              </a:rPr>
              <a:t>》</a:t>
            </a:r>
            <a:r>
              <a:rPr altLang="en-US" lang="zh-CN" b="1" sz="2400">
                <a:ea typeface="楷体" panose="02010609060101010101" charset="-122"/>
                <a:latin typeface="楷体" panose="02010609060101010101" charset="-122"/>
              </a:rPr>
              <a:t>引发了全国上下的唐诗热、传统文化热，钩沉出绵延千年的中华文明的独特魅力，其出品公司负责人说，“要让中华民族储备千年的优秀故事一代代传承下去。在这条路上走得越久，就越能感受到中华文化是一个巨大的宝藏。”</a:t>
            </a:r>
            <a:endParaRPr altLang="en-US" lang="zh-CN" b="1" sz="2400">
              <a:ea typeface="楷体" panose="02010609060101010101" charset="-122"/>
              <a:latin typeface="楷体" panose="02010609060101010101" charset="-122"/>
            </a:endParaRPr>
          </a:p>
          <a:p>
            <a:pPr marL="0" indent="280670" algn="just" defTabSz="266700">
              <a:spcBef>
                <a:spcPct val="0"/>
              </a:spcBef>
              <a:spcAft>
                <a:spcPct val="0"/>
              </a:spcAft>
            </a:pPr>
            <a:r>
              <a:rPr altLang="zh-CN" lang="en-US" b="1" sz="2400">
                <a:ea typeface="楷体" panose="02010609060101010101" charset="-122"/>
                <a:latin typeface="Wingdings" panose="05000000000000000000"/>
              </a:rPr>
              <a:t>² </a:t>
            </a:r>
            <a:r>
              <a:rPr altLang="zh-CN" lang="en-US" b="1" sz="2400">
                <a:ea typeface="楷体" panose="02010609060101010101" charset="-122"/>
                <a:latin typeface="楷体" panose="02010609060101010101" charset="-122"/>
              </a:rPr>
              <a:t>《</a:t>
            </a:r>
            <a:r>
              <a:rPr altLang="en-US" lang="zh-CN" b="1" sz="2400">
                <a:ea typeface="楷体" panose="02010609060101010101" charset="-122"/>
                <a:latin typeface="楷体" panose="02010609060101010101" charset="-122"/>
              </a:rPr>
              <a:t>哪吒之魔童闹海</a:t>
            </a:r>
            <a:r>
              <a:rPr altLang="zh-CN" lang="en-US" b="1" sz="2400">
                <a:ea typeface="楷体" panose="02010609060101010101" charset="-122"/>
                <a:latin typeface="楷体" panose="02010609060101010101" charset="-122"/>
              </a:rPr>
              <a:t>》</a:t>
            </a:r>
            <a:r>
              <a:rPr altLang="en-US" lang="zh-CN" b="1" sz="2400">
                <a:ea typeface="楷体" panose="02010609060101010101" charset="-122"/>
                <a:latin typeface="楷体" panose="02010609060101010101" charset="-122"/>
              </a:rPr>
              <a:t>的创作团队依托中国电影视效技术，精心雕琢每一个细节，取得突破性成果。这部电影的关键戏份，历经特效团队九个月努力才完成，为整部电影情节的推进、哪吒形象的塑造发挥了重要作用。</a:t>
            </a:r>
            <a:endParaRPr altLang="en-US" lang="zh-CN" b="1" sz="2400">
              <a:ea typeface="楷体" panose="02010609060101010101" charset="-122"/>
              <a:latin typeface="楷体" panose="02010609060101010101" charset="-122"/>
            </a:endParaRPr>
          </a:p>
          <a:p>
            <a:pPr marL="0" indent="280670" algn="just" defTabSz="266700">
              <a:spcBef>
                <a:spcPct val="0"/>
              </a:spcBef>
              <a:spcAft>
                <a:spcPct val="0"/>
              </a:spcAft>
            </a:pPr>
            <a:r>
              <a:rPr altLang="zh-CN" lang="en-US" b="1" sz="2400">
                <a:ea typeface="楷体" panose="02010609060101010101" charset="-122"/>
                <a:latin typeface="Wingdings" panose="05000000000000000000"/>
              </a:rPr>
              <a:t>² </a:t>
            </a:r>
            <a:r>
              <a:rPr altLang="en-US" lang="zh-CN" b="1" sz="2400">
                <a:ea typeface="楷体" panose="02010609060101010101" charset="-122"/>
                <a:latin typeface="楷体" panose="02010609060101010101" charset="-122"/>
              </a:rPr>
              <a:t>在一位导演看来，国产动画电影取得成功并非偶然。“随着中国经济社会的发展，当人民群众的艺术生活需求达到一定阶段的时候，自然会有这么大的市场来承载这样的作品，来包容这样的创作者。”“我们遇上了一个好时代，所以才有这样的机会去做自己喜欢的事，去心无旁骛地投入创作，最终还能得到相应的回报。”</a:t>
            </a:r>
            <a:endParaRPr altLang="en-US" lang="zh-CN" b="1" sz="2400">
              <a:ea typeface="楷体" panose="02010609060101010101" charset="-122"/>
              <a:latin typeface="楷体" panose="02010609060101010101" charset="-122"/>
            </a:endParaRPr>
          </a:p>
          <a:p>
            <a:pPr marL="0" indent="266700" algn="just" defTabSz="266700">
              <a:spcBef>
                <a:spcPct val="0"/>
              </a:spcBef>
              <a:spcAft>
                <a:spcPct val="0"/>
              </a:spcAft>
            </a:pPr>
            <a:r>
              <a:rPr altLang="zh-CN" lang="en-US" b="1" sz="2400">
                <a:ea typeface="宋体" panose="02010600030101010101" pitchFamily="2" charset="-122"/>
                <a:latin typeface="宋体" panose="02010600030101010101" pitchFamily="2" charset="-122"/>
              </a:rPr>
              <a:t>  </a:t>
            </a:r>
            <a:r>
              <a:rPr altLang="en-US" lang="zh-CN" b="1" sz="2400">
                <a:ea typeface="宋体" panose="02010600030101010101" pitchFamily="2" charset="-122"/>
                <a:latin typeface="宋体" panose="02010600030101010101" pitchFamily="2" charset="-122"/>
              </a:rPr>
              <a:t>结合材料，运用</a:t>
            </a:r>
            <a:r>
              <a:rPr altLang="zh-CN" lang="en-US" b="1" sz="2400">
                <a:ea typeface="宋体" panose="02010600030101010101" pitchFamily="2" charset="-122"/>
                <a:latin typeface="宋体" panose="02010600030101010101" pitchFamily="2" charset="-122"/>
              </a:rPr>
              <a:t>《</a:t>
            </a:r>
            <a:r>
              <a:rPr altLang="en-US" lang="zh-CN" b="1" sz="2400">
                <a:ea typeface="宋体" panose="02010600030101010101" pitchFamily="2" charset="-122"/>
                <a:latin typeface="宋体" panose="02010600030101010101" pitchFamily="2" charset="-122"/>
              </a:rPr>
              <a:t>哲学与文化</a:t>
            </a:r>
            <a:r>
              <a:rPr altLang="zh-CN" lang="en-US" b="1" sz="2400">
                <a:ea typeface="宋体" panose="02010600030101010101" pitchFamily="2" charset="-122"/>
                <a:latin typeface="宋体" panose="02010600030101010101" pitchFamily="2" charset="-122"/>
              </a:rPr>
              <a:t>》</a:t>
            </a:r>
            <a:r>
              <a:rPr altLang="en-US" lang="zh-CN" b="1" sz="2400">
                <a:ea typeface="宋体" panose="02010600030101010101" pitchFamily="2" charset="-122"/>
                <a:latin typeface="宋体" panose="02010600030101010101" pitchFamily="2" charset="-122"/>
              </a:rPr>
              <a:t>知识，说明为什么国产动画电影能够让中华优秀传统文化在新时代绽放新光彩。</a:t>
            </a:r>
            <a:endParaRPr altLang="en-US" lang="zh-CN" b="1" sz="2400">
              <a:ea typeface="宋体" panose="02010600030101010101" pitchFamily="2" charset="-122"/>
              <a:latin typeface="宋体" panose="02010600030101010101" pitchFamily="2" charset="-122"/>
            </a:endParaRPr>
          </a:p>
        </p:txBody>
      </p:sp>
    </p:spTree>
    <p:custDataLst>
      <p:tags r:id="rId1"/>
    </p:custDataLst>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13970" y="217805"/>
            <a:ext cx="12124055" cy="6369685"/>
          </a:xfrm>
          <a:prstGeom prst="rect">
            <a:avLst/>
          </a:prstGeom>
        </p:spPr>
        <p:txBody>
          <a:bodyPr wrap="square">
            <a:spAutoFit/>
          </a:bodyPr>
          <a:p>
            <a:pPr marL="304800" indent="0" defTabSz="266700" eaLnBrk="0" fontAlgn="base">
              <a:spcBef>
                <a:spcPct val="0"/>
              </a:spcBef>
              <a:spcAft>
                <a:spcPct val="0"/>
              </a:spcAft>
            </a:pPr>
            <a:r>
              <a:rPr altLang="zh-CN" lang="en-US" b="1" sz="2400">
                <a:solidFill>
                  <a:srgbClr val="FF0000"/>
                </a:solidFill>
                <a:ea typeface="宋体" panose="02010600030101010101" pitchFamily="2" charset="-122"/>
                <a:latin typeface="宋体" panose="02010600030101010101" pitchFamily="2" charset="-122"/>
              </a:rPr>
              <a:t>①</a:t>
            </a:r>
            <a:r>
              <a:rPr altLang="en-US" lang="zh-CN" b="1" sz="2400">
                <a:solidFill>
                  <a:srgbClr val="FF0000"/>
                </a:solidFill>
                <a:ea typeface="宋体" panose="02010600030101010101" pitchFamily="2" charset="-122"/>
                <a:latin typeface="宋体" panose="02010600030101010101" pitchFamily="2" charset="-122"/>
              </a:rPr>
              <a:t>作为</a:t>
            </a:r>
            <a:r>
              <a:rPr altLang="en-US" lang="zh-CN" b="1" sz="2400">
                <a:solidFill>
                  <a:srgbClr val="FF0000"/>
                </a:solidFill>
                <a:highlight>
                  <a:srgbClr val="00FF00"/>
                </a:highlight>
                <a:ea typeface="宋体" panose="02010600030101010101" pitchFamily="2" charset="-122"/>
                <a:latin typeface="宋体" panose="02010600030101010101" pitchFamily="2" charset="-122"/>
              </a:rPr>
              <a:t>文化载体</a:t>
            </a:r>
            <a:r>
              <a:rPr altLang="en-US" lang="zh-CN" b="1" sz="2400">
                <a:solidFill>
                  <a:srgbClr val="FF0000"/>
                </a:solidFill>
                <a:ea typeface="宋体" panose="02010600030101010101" pitchFamily="2" charset="-122"/>
                <a:latin typeface="宋体" panose="02010600030101010101" pitchFamily="2" charset="-122"/>
              </a:rPr>
              <a:t>。</a:t>
            </a:r>
            <a:r>
              <a:rPr altLang="en-US" lang="zh-CN" b="1" sz="2400">
                <a:solidFill>
                  <a:srgbClr val="0000FF"/>
                </a:solidFill>
                <a:ea typeface="宋体" panose="02010600030101010101" pitchFamily="2" charset="-122"/>
                <a:latin typeface="宋体" panose="02010600030101010101" pitchFamily="2" charset="-122"/>
              </a:rPr>
              <a:t>（</a:t>
            </a:r>
            <a:r>
              <a:rPr altLang="zh-CN" lang="en-US" b="1" sz="2400">
                <a:solidFill>
                  <a:srgbClr val="0000FF"/>
                </a:solidFill>
                <a:ea typeface="宋体" panose="02010600030101010101" pitchFamily="2" charset="-122"/>
                <a:latin typeface="宋体" panose="02010600030101010101" pitchFamily="2" charset="-122"/>
              </a:rPr>
              <a:t>1</a:t>
            </a:r>
            <a:r>
              <a:rPr altLang="en-US" lang="zh-CN" b="1" sz="2400">
                <a:solidFill>
                  <a:srgbClr val="0000FF"/>
                </a:solidFill>
                <a:ea typeface="宋体" panose="02010600030101010101" pitchFamily="2" charset="-122"/>
                <a:latin typeface="宋体" panose="02010600030101010101" pitchFamily="2" charset="-122"/>
              </a:rPr>
              <a:t>分）</a:t>
            </a:r>
            <a:r>
              <a:rPr altLang="en-US" lang="zh-CN" b="1" sz="2400">
                <a:solidFill>
                  <a:srgbClr val="000000"/>
                </a:solidFill>
                <a:ea typeface="宋体" panose="02010600030101010101" pitchFamily="2" charset="-122"/>
                <a:latin typeface="宋体" panose="02010600030101010101" pitchFamily="2" charset="-122"/>
              </a:rPr>
              <a:t>国产动画电影作为文化载体，承载千年故事，荟萃文化元素，凸显文化符号，超越时间空间，为中华优秀传统文化在新时代绽放光彩</a:t>
            </a:r>
            <a:r>
              <a:rPr altLang="en-US" lang="zh-CN" b="1" sz="2400">
                <a:solidFill>
                  <a:srgbClr val="FF0000"/>
                </a:solidFill>
                <a:highlight>
                  <a:srgbClr val="FFFF00"/>
                </a:highlight>
                <a:ea typeface="宋体" panose="02010600030101010101" pitchFamily="2" charset="-122"/>
                <a:latin typeface="宋体" panose="02010600030101010101" pitchFamily="2" charset="-122"/>
              </a:rPr>
              <a:t>提供了展示平台</a:t>
            </a:r>
            <a:endParaRPr altLang="zh-CN" lang="en-US" b="1" sz="2400">
              <a:solidFill>
                <a:srgbClr val="000000"/>
              </a:solidFill>
              <a:highlight>
                <a:srgbClr val="FFFF00"/>
              </a:highlight>
              <a:ea typeface="宋体" panose="02010600030101010101" pitchFamily="2" charset="-122"/>
              <a:latin typeface="宋体" panose="02010600030101010101" pitchFamily="2" charset="-122"/>
            </a:endParaRPr>
          </a:p>
          <a:p>
            <a:pPr marL="0" indent="304800" defTabSz="266700" eaLnBrk="0" fontAlgn="base">
              <a:spcBef>
                <a:spcPct val="0"/>
              </a:spcBef>
              <a:spcAft>
                <a:spcPct val="0"/>
              </a:spcAft>
            </a:pPr>
            <a:r>
              <a:rPr altLang="zh-CN" lang="en-US" b="1" sz="2400">
                <a:solidFill>
                  <a:srgbClr val="FF0000"/>
                </a:solidFill>
                <a:ea typeface="宋体" panose="02010600030101010101" pitchFamily="2" charset="-122"/>
                <a:latin typeface="宋体" panose="02010600030101010101" pitchFamily="2" charset="-122"/>
              </a:rPr>
              <a:t>②</a:t>
            </a:r>
            <a:r>
              <a:rPr altLang="en-US" lang="zh-CN" b="1" sz="2400">
                <a:solidFill>
                  <a:srgbClr val="FF0000"/>
                </a:solidFill>
                <a:ea typeface="宋体" panose="02010600030101010101" pitchFamily="2" charset="-122"/>
                <a:latin typeface="宋体" panose="02010600030101010101" pitchFamily="2" charset="-122"/>
              </a:rPr>
              <a:t>重视</a:t>
            </a:r>
            <a:r>
              <a:rPr altLang="en-US" lang="zh-CN" b="1" sz="2400">
                <a:solidFill>
                  <a:srgbClr val="FF0000"/>
                </a:solidFill>
                <a:highlight>
                  <a:srgbClr val="00FF00"/>
                </a:highlight>
                <a:ea typeface="宋体" panose="02010600030101010101" pitchFamily="2" charset="-122"/>
                <a:latin typeface="宋体" panose="02010600030101010101" pitchFamily="2" charset="-122"/>
              </a:rPr>
              <a:t>文化传承，</a:t>
            </a:r>
            <a:r>
              <a:rPr altLang="en-US" lang="zh-CN" b="1" sz="2400">
                <a:solidFill>
                  <a:srgbClr val="FF0000"/>
                </a:solidFill>
                <a:sym typeface="+mn-ea"/>
                <a:highlight>
                  <a:srgbClr val="00FF00"/>
                </a:highlight>
                <a:ea typeface="宋体" panose="02010600030101010101" pitchFamily="2" charset="-122"/>
                <a:latin typeface="宋体" panose="02010600030101010101" pitchFamily="2" charset="-122"/>
              </a:rPr>
              <a:t>弘扬民族精神</a:t>
            </a:r>
            <a:r>
              <a:rPr altLang="en-US" lang="zh-CN" b="1" sz="2400">
                <a:solidFill>
                  <a:srgbClr val="FF0000"/>
                </a:solidFill>
                <a:ea typeface="宋体" panose="02010600030101010101" pitchFamily="2" charset="-122"/>
                <a:latin typeface="宋体" panose="02010600030101010101" pitchFamily="2" charset="-122"/>
              </a:rPr>
              <a:t>。</a:t>
            </a:r>
            <a:r>
              <a:rPr altLang="en-US" lang="zh-CN" b="1" sz="2400">
                <a:solidFill>
                  <a:srgbClr val="0000FF"/>
                </a:solidFill>
                <a:ea typeface="宋体" panose="02010600030101010101" pitchFamily="2" charset="-122"/>
                <a:latin typeface="宋体" panose="02010600030101010101" pitchFamily="2" charset="-122"/>
              </a:rPr>
              <a:t>（</a:t>
            </a:r>
            <a:r>
              <a:rPr altLang="zh-CN" lang="en-US" b="1" sz="2400">
                <a:solidFill>
                  <a:srgbClr val="0000FF"/>
                </a:solidFill>
                <a:ea typeface="宋体" panose="02010600030101010101" pitchFamily="2" charset="-122"/>
                <a:latin typeface="宋体" panose="02010600030101010101" pitchFamily="2" charset="-122"/>
              </a:rPr>
              <a:t>2</a:t>
            </a:r>
            <a:r>
              <a:rPr altLang="en-US" lang="zh-CN" b="1" sz="2400">
                <a:solidFill>
                  <a:srgbClr val="0000FF"/>
                </a:solidFill>
                <a:ea typeface="宋体" panose="02010600030101010101" pitchFamily="2" charset="-122"/>
                <a:latin typeface="宋体" panose="02010600030101010101" pitchFamily="2" charset="-122"/>
              </a:rPr>
              <a:t>分）</a:t>
            </a:r>
            <a:r>
              <a:rPr altLang="en-US" lang="zh-CN" b="1" sz="2400">
                <a:solidFill>
                  <a:srgbClr val="000000"/>
                </a:solidFill>
                <a:ea typeface="宋体" panose="02010600030101010101" pitchFamily="2" charset="-122"/>
                <a:latin typeface="宋体" panose="02010600030101010101" pitchFamily="2" charset="-122"/>
              </a:rPr>
              <a:t>国产动画电影重视文化传承，钩沉千年中华文明独特魅力，传承千年故事，向观众传递正确价值观和奋斗精神，</a:t>
            </a:r>
            <a:r>
              <a:rPr altLang="en-US" lang="zh-CN" b="1" sz="2400">
                <a:solidFill>
                  <a:srgbClr val="FF0000"/>
                </a:solidFill>
                <a:highlight>
                  <a:srgbClr val="FFFF00"/>
                </a:highlight>
                <a:ea typeface="宋体" panose="02010600030101010101" pitchFamily="2" charset="-122"/>
                <a:latin typeface="宋体" panose="02010600030101010101" pitchFamily="2" charset="-122"/>
              </a:rPr>
              <a:t>为中华优秀传统文化在新时代创造性转化探索了路径。</a:t>
            </a:r>
            <a:r>
              <a:rPr altLang="zh-CN" lang="en-US" b="1" sz="2400">
                <a:solidFill>
                  <a:srgbClr val="000000"/>
                </a:solidFill>
                <a:ea typeface="宋体" panose="02010600030101010101" pitchFamily="2" charset="-122"/>
                <a:latin typeface="宋体" panose="02010600030101010101" pitchFamily="2" charset="-122"/>
              </a:rPr>
              <a:t> </a:t>
            </a:r>
            <a:endParaRPr altLang="zh-CN" lang="en-US" b="1" sz="2400">
              <a:solidFill>
                <a:srgbClr val="000000"/>
              </a:solidFill>
              <a:ea typeface="宋体" panose="02010600030101010101" pitchFamily="2" charset="-122"/>
              <a:latin typeface="宋体" panose="02010600030101010101" pitchFamily="2" charset="-122"/>
            </a:endParaRPr>
          </a:p>
          <a:p>
            <a:pPr marL="0" indent="304800" defTabSz="266700" eaLnBrk="0" fontAlgn="base">
              <a:spcBef>
                <a:spcPct val="0"/>
              </a:spcBef>
              <a:spcAft>
                <a:spcPct val="0"/>
              </a:spcAft>
            </a:pPr>
            <a:r>
              <a:rPr altLang="zh-CN" lang="en-US" b="1" sz="2400">
                <a:solidFill>
                  <a:srgbClr val="FF0000"/>
                </a:solidFill>
                <a:ea typeface="宋体" panose="02010600030101010101" pitchFamily="2" charset="-122"/>
                <a:latin typeface="宋体" panose="02010600030101010101" pitchFamily="2" charset="-122"/>
              </a:rPr>
              <a:t>③</a:t>
            </a:r>
            <a:r>
              <a:rPr altLang="en-US" lang="zh-CN" b="1" sz="2400">
                <a:solidFill>
                  <a:srgbClr val="FF0000"/>
                </a:solidFill>
                <a:sym typeface="+mn-ea"/>
                <a:highlight>
                  <a:srgbClr val="00FF00"/>
                </a:highlight>
                <a:ea typeface="楷体" panose="02010609060101010101" charset="-122"/>
                <a:latin typeface="楷体" panose="02010609060101010101" charset="-122"/>
              </a:rPr>
              <a:t>融通不同资源，实现综合创新，</a:t>
            </a:r>
            <a:r>
              <a:rPr altLang="en-US" lang="zh-CN" b="1" sz="2400">
                <a:solidFill>
                  <a:srgbClr val="FF0000"/>
                </a:solidFill>
                <a:highlight>
                  <a:srgbClr val="00FF00"/>
                </a:highlight>
                <a:ea typeface="宋体" panose="02010600030101010101" pitchFamily="2" charset="-122"/>
                <a:latin typeface="宋体" panose="02010600030101010101" pitchFamily="2" charset="-122"/>
              </a:rPr>
              <a:t>借助科技推动创新。</a:t>
            </a:r>
            <a:r>
              <a:rPr altLang="en-US" lang="zh-CN" b="1" sz="2400">
                <a:solidFill>
                  <a:srgbClr val="0000FF"/>
                </a:solidFill>
                <a:ea typeface="宋体" panose="02010600030101010101" pitchFamily="2" charset="-122"/>
                <a:latin typeface="宋体" panose="02010600030101010101" pitchFamily="2" charset="-122"/>
              </a:rPr>
              <a:t>（</a:t>
            </a:r>
            <a:r>
              <a:rPr altLang="zh-CN" lang="en-US" b="1" sz="2400">
                <a:solidFill>
                  <a:srgbClr val="0000FF"/>
                </a:solidFill>
                <a:ea typeface="宋体" panose="02010600030101010101" pitchFamily="2" charset="-122"/>
                <a:latin typeface="宋体" panose="02010600030101010101" pitchFamily="2" charset="-122"/>
              </a:rPr>
              <a:t>2</a:t>
            </a:r>
            <a:r>
              <a:rPr altLang="en-US" lang="zh-CN" b="1" sz="2400">
                <a:solidFill>
                  <a:srgbClr val="0000FF"/>
                </a:solidFill>
                <a:ea typeface="宋体" panose="02010600030101010101" pitchFamily="2" charset="-122"/>
                <a:latin typeface="宋体" panose="02010600030101010101" pitchFamily="2" charset="-122"/>
              </a:rPr>
              <a:t>分）</a:t>
            </a:r>
            <a:r>
              <a:rPr altLang="en-US" lang="zh-CN" b="1" sz="2400">
                <a:solidFill>
                  <a:srgbClr val="000000"/>
                </a:solidFill>
                <a:ea typeface="宋体" panose="02010600030101010101" pitchFamily="2" charset="-122"/>
                <a:latin typeface="宋体" panose="02010600030101010101" pitchFamily="2" charset="-122"/>
              </a:rPr>
              <a:t>创作团队借助现代科技推动文化创新，依托关键技术，提供技术支持，精雕细节，打造关键戏份，让优秀传统文化与现代传播方式结合，以更加生动、形象、震撼的方式呈现给观众，</a:t>
            </a:r>
            <a:r>
              <a:rPr altLang="en-US" lang="zh-CN" b="1" sz="2400">
                <a:solidFill>
                  <a:srgbClr val="FF0000"/>
                </a:solidFill>
                <a:highlight>
                  <a:srgbClr val="FFFF00"/>
                </a:highlight>
                <a:ea typeface="宋体" panose="02010600030101010101" pitchFamily="2" charset="-122"/>
                <a:latin typeface="宋体" panose="02010600030101010101" pitchFamily="2" charset="-122"/>
              </a:rPr>
              <a:t>为优秀传统文化在新时代创新性发展增添了活力。</a:t>
            </a:r>
            <a:endParaRPr altLang="zh-CN" lang="en-US" b="1" sz="2400">
              <a:solidFill>
                <a:srgbClr val="000000"/>
              </a:solidFill>
              <a:ea typeface="宋体" panose="02010600030101010101" pitchFamily="2" charset="-122"/>
              <a:latin typeface="宋体" panose="02010600030101010101" pitchFamily="2" charset="-122"/>
            </a:endParaRPr>
          </a:p>
          <a:p>
            <a:pPr marL="0" indent="304800" defTabSz="266700" eaLnBrk="0" fontAlgn="base">
              <a:spcBef>
                <a:spcPct val="0"/>
              </a:spcBef>
              <a:spcAft>
                <a:spcPct val="0"/>
              </a:spcAft>
            </a:pPr>
            <a:r>
              <a:rPr altLang="zh-CN" lang="en-US" b="1" sz="2400">
                <a:solidFill>
                  <a:srgbClr val="FF0000"/>
                </a:solidFill>
                <a:ea typeface="宋体" panose="02010600030101010101" pitchFamily="2" charset="-122"/>
                <a:latin typeface="宋体" panose="02010600030101010101" pitchFamily="2" charset="-122"/>
              </a:rPr>
              <a:t>④</a:t>
            </a:r>
            <a:r>
              <a:rPr altLang="en-US" lang="zh-CN" b="1" sz="2400">
                <a:solidFill>
                  <a:srgbClr val="FF0000"/>
                </a:solidFill>
                <a:ea typeface="宋体" panose="02010600030101010101" pitchFamily="2" charset="-122"/>
                <a:latin typeface="宋体" panose="02010600030101010101" pitchFamily="2" charset="-122"/>
              </a:rPr>
              <a:t>立足时代之基，面向人民需求</a:t>
            </a:r>
            <a:r>
              <a:rPr altLang="en-US" lang="zh-CN" b="1" sz="2400">
                <a:solidFill>
                  <a:srgbClr val="FF0000"/>
                </a:solidFill>
                <a:ea typeface="宋体" panose="02010600030101010101" pitchFamily="2" charset="-122"/>
                <a:latin typeface="宋体" panose="02010600030101010101" pitchFamily="2" charset="-122"/>
              </a:rPr>
              <a:t>。</a:t>
            </a:r>
            <a:r>
              <a:rPr altLang="en-US" lang="zh-CN" b="1" sz="2400">
                <a:solidFill>
                  <a:srgbClr val="0000FF"/>
                </a:solidFill>
                <a:ea typeface="宋体" panose="02010600030101010101" pitchFamily="2" charset="-122"/>
                <a:latin typeface="宋体" panose="02010600030101010101" pitchFamily="2" charset="-122"/>
              </a:rPr>
              <a:t>（</a:t>
            </a:r>
            <a:r>
              <a:rPr altLang="zh-CN" lang="en-US" b="1" sz="2400">
                <a:solidFill>
                  <a:srgbClr val="0000FF"/>
                </a:solidFill>
                <a:ea typeface="宋体" panose="02010600030101010101" pitchFamily="2" charset="-122"/>
                <a:latin typeface="宋体" panose="02010600030101010101" pitchFamily="2" charset="-122"/>
              </a:rPr>
              <a:t>2</a:t>
            </a:r>
            <a:r>
              <a:rPr altLang="en-US" lang="zh-CN" b="1" sz="2400">
                <a:solidFill>
                  <a:srgbClr val="0000FF"/>
                </a:solidFill>
                <a:ea typeface="宋体" panose="02010600030101010101" pitchFamily="2" charset="-122"/>
                <a:latin typeface="宋体" panose="02010600030101010101" pitchFamily="2" charset="-122"/>
              </a:rPr>
              <a:t>分）</a:t>
            </a:r>
            <a:r>
              <a:rPr altLang="en-US" lang="zh-CN" b="1" sz="2400">
                <a:solidFill>
                  <a:srgbClr val="000000"/>
                </a:solidFill>
                <a:ea typeface="宋体" panose="02010600030101010101" pitchFamily="2" charset="-122"/>
                <a:latin typeface="宋体" panose="02010600030101010101" pitchFamily="2" charset="-122"/>
              </a:rPr>
              <a:t>经济社会发展为国产动画电影产业提供物质基础、市场空间、产业平台。创作团队</a:t>
            </a:r>
            <a:r>
              <a:rPr altLang="en-US" lang="zh-CN" b="1" sz="2400">
                <a:solidFill>
                  <a:srgbClr val="000000"/>
                </a:solidFill>
                <a:highlight>
                  <a:srgbClr val="FFFF00"/>
                </a:highlight>
                <a:ea typeface="宋体" panose="02010600030101010101" pitchFamily="2" charset="-122"/>
                <a:latin typeface="宋体" panose="02010600030101010101" pitchFamily="2" charset="-122"/>
              </a:rPr>
              <a:t>立足时代之基，面向</a:t>
            </a:r>
            <a:r>
              <a:rPr altLang="en-US" lang="zh-CN" b="1" sz="2400">
                <a:solidFill>
                  <a:srgbClr val="000000"/>
                </a:solidFill>
                <a:highlight>
                  <a:srgbClr val="FFFF00"/>
                </a:highlight>
                <a:ea typeface="宋体" panose="02010600030101010101" pitchFamily="2" charset="-122"/>
                <a:latin typeface="宋体" panose="02010600030101010101" pitchFamily="2" charset="-122"/>
              </a:rPr>
              <a:t>人民需求</a:t>
            </a:r>
            <a:r>
              <a:rPr altLang="en-US" lang="zh-CN" b="1" sz="2400">
                <a:solidFill>
                  <a:srgbClr val="000000"/>
                </a:solidFill>
                <a:ea typeface="宋体" panose="02010600030101010101" pitchFamily="2" charset="-122"/>
                <a:latin typeface="宋体" panose="02010600030101010101" pitchFamily="2" charset="-122"/>
              </a:rPr>
              <a:t>，衔接传统文化内涵与时代审美愿望，创作出现代社会观众需求的电影作品，使传统文化精神与当代观众情感产生共鸣，增强了中华文明的</a:t>
            </a:r>
            <a:r>
              <a:rPr altLang="en-US" lang="zh-CN" b="1" sz="2400">
                <a:solidFill>
                  <a:srgbClr val="000000"/>
                </a:solidFill>
                <a:highlight>
                  <a:srgbClr val="FFFF00"/>
                </a:highlight>
                <a:ea typeface="宋体" panose="02010600030101010101" pitchFamily="2" charset="-122"/>
                <a:latin typeface="宋体" panose="02010600030101010101" pitchFamily="2" charset="-122"/>
              </a:rPr>
              <a:t>传播力</a:t>
            </a:r>
            <a:r>
              <a:rPr altLang="en-US" lang="zh-CN" b="1" sz="2400">
                <a:solidFill>
                  <a:srgbClr val="000000"/>
                </a:solidFill>
                <a:ea typeface="宋体" panose="02010600030101010101" pitchFamily="2" charset="-122"/>
                <a:latin typeface="宋体" panose="02010600030101010101" pitchFamily="2" charset="-122"/>
              </a:rPr>
              <a:t>和</a:t>
            </a:r>
            <a:r>
              <a:rPr altLang="en-US" lang="zh-CN" b="1" sz="2400">
                <a:solidFill>
                  <a:srgbClr val="000000"/>
                </a:solidFill>
                <a:highlight>
                  <a:srgbClr val="FFFF00"/>
                </a:highlight>
                <a:ea typeface="宋体" panose="02010600030101010101" pitchFamily="2" charset="-122"/>
                <a:latin typeface="宋体" panose="02010600030101010101" pitchFamily="2" charset="-122"/>
              </a:rPr>
              <a:t>影响力</a:t>
            </a:r>
            <a:r>
              <a:rPr altLang="en-US" lang="zh-CN" b="1" sz="2400">
                <a:solidFill>
                  <a:srgbClr val="000000"/>
                </a:solidFill>
                <a:ea typeface="宋体" panose="02010600030101010101" pitchFamily="2" charset="-122"/>
                <a:latin typeface="宋体" panose="02010600030101010101" pitchFamily="2" charset="-122"/>
              </a:rPr>
              <a:t>，让中华优秀传统文化绽放出新光彩。</a:t>
            </a:r>
            <a:endParaRPr altLang="en-US" lang="zh-CN" b="1" sz="2400">
              <a:solidFill>
                <a:srgbClr val="000000"/>
              </a:solidFill>
              <a:ea typeface="宋体" panose="02010600030101010101" pitchFamily="2" charset="-122"/>
              <a:latin typeface="宋体" panose="02010600030101010101" pitchFamily="2" charset="-122"/>
            </a:endParaRPr>
          </a:p>
          <a:p>
            <a:pPr marL="0" indent="304800" defTabSz="266700" eaLnBrk="0" fontAlgn="base">
              <a:spcBef>
                <a:spcPct val="0"/>
              </a:spcBef>
              <a:spcAft>
                <a:spcPct val="0"/>
              </a:spcAft>
            </a:pPr>
            <a:r>
              <a:rPr altLang="en-US" lang="zh-CN" b="1" sz="2400">
                <a:solidFill>
                  <a:srgbClr val="0070C0"/>
                </a:solidFill>
                <a:ea typeface="宋体" panose="02010600030101010101" pitchFamily="2" charset="-122"/>
                <a:latin typeface="宋体" panose="02010600030101010101" pitchFamily="2" charset="-122"/>
              </a:rPr>
              <a:t>（社会存在</a:t>
            </a:r>
            <a:r>
              <a:rPr altLang="en-US" lang="zh-CN" b="1" sz="2400">
                <a:solidFill>
                  <a:srgbClr val="0070C0"/>
                </a:solidFill>
                <a:ea typeface="楷体" panose="02010609060101010101" charset="-122"/>
                <a:latin typeface="楷体" panose="02010609060101010101" charset="-122"/>
              </a:rPr>
              <a:t>决定社会意识</a:t>
            </a:r>
            <a:r>
              <a:rPr altLang="zh-CN" lang="en-US" b="1" sz="2400">
                <a:solidFill>
                  <a:srgbClr val="0070C0"/>
                </a:solidFill>
                <a:ea typeface="楷体" panose="02010609060101010101" charset="-122"/>
                <a:latin typeface="楷体" panose="02010609060101010101" charset="-122"/>
              </a:rPr>
              <a:t>/</a:t>
            </a:r>
            <a:r>
              <a:rPr altLang="en-US" lang="zh-CN" b="1" sz="2400">
                <a:solidFill>
                  <a:srgbClr val="0070C0"/>
                </a:solidFill>
                <a:ea typeface="宋体" panose="02010600030101010101" pitchFamily="2" charset="-122"/>
                <a:latin typeface="宋体" panose="02010600030101010101" pitchFamily="2" charset="-122"/>
              </a:rPr>
              <a:t>经济</a:t>
            </a:r>
            <a:r>
              <a:rPr altLang="en-US" lang="zh-CN" b="1" sz="2400">
                <a:solidFill>
                  <a:srgbClr val="0070C0"/>
                </a:solidFill>
                <a:ea typeface="楷体" panose="02010609060101010101" charset="-122"/>
                <a:latin typeface="楷体" panose="02010609060101010101" charset="-122"/>
              </a:rPr>
              <a:t>发展推动文化发展</a:t>
            </a:r>
            <a:r>
              <a:rPr altLang="zh-CN" lang="en-US" b="1" sz="2400">
                <a:solidFill>
                  <a:srgbClr val="0070C0"/>
                </a:solidFill>
                <a:ea typeface="楷体" panose="02010609060101010101" charset="-122"/>
                <a:latin typeface="楷体" panose="02010609060101010101" charset="-122"/>
              </a:rPr>
              <a:t>/</a:t>
            </a:r>
            <a:r>
              <a:rPr altLang="en-US" lang="zh-CN" b="1" sz="2400">
                <a:solidFill>
                  <a:srgbClr val="0070C0"/>
                </a:solidFill>
                <a:ea typeface="楷体" panose="02010609060101010101" charset="-122"/>
                <a:latin typeface="楷体" panose="02010609060101010101" charset="-122"/>
              </a:rPr>
              <a:t>人民立场</a:t>
            </a:r>
            <a:r>
              <a:rPr altLang="zh-CN" lang="en-US" b="1" sz="2400">
                <a:solidFill>
                  <a:srgbClr val="0070C0"/>
                </a:solidFill>
                <a:ea typeface="楷体" panose="02010609060101010101" charset="-122"/>
                <a:latin typeface="楷体" panose="02010609060101010101" charset="-122"/>
              </a:rPr>
              <a:t>/</a:t>
            </a:r>
            <a:r>
              <a:rPr altLang="en-US" lang="zh-CN" b="1" sz="2400">
                <a:solidFill>
                  <a:srgbClr val="0070C0"/>
                </a:solidFill>
                <a:ea typeface="楷体" panose="02010609060101010101" charset="-122"/>
                <a:latin typeface="楷体" panose="02010609060101010101" charset="-122"/>
              </a:rPr>
              <a:t>群众观点、群众路线）</a:t>
            </a:r>
            <a:endParaRPr altLang="en-US" lang="zh-CN" b="1" sz="2400">
              <a:solidFill>
                <a:srgbClr val="0070C0"/>
              </a:solidFill>
              <a:ea typeface="楷体" panose="02010609060101010101" charset="-122"/>
              <a:latin typeface="楷体" panose="02010609060101010101" charset="-122"/>
            </a:endParaRPr>
          </a:p>
          <a:p>
            <a:pPr marL="0" indent="304800" defTabSz="266700" eaLnBrk="0" fontAlgn="base">
              <a:spcBef>
                <a:spcPct val="0"/>
              </a:spcBef>
              <a:spcAft>
                <a:spcPct val="0"/>
              </a:spcAft>
            </a:pPr>
            <a:r>
              <a:rPr altLang="zh-CN" lang="en-US" b="1" sz="2400">
                <a:solidFill>
                  <a:srgbClr val="FF0000"/>
                </a:solidFill>
                <a:ea typeface="宋体" panose="02010600030101010101" pitchFamily="2" charset="-122"/>
                <a:latin typeface="宋体" panose="02010600030101010101" pitchFamily="2" charset="-122"/>
              </a:rPr>
              <a:t>⑤</a:t>
            </a:r>
            <a:r>
              <a:rPr altLang="en-US" lang="zh-CN" b="1" sz="2400">
                <a:solidFill>
                  <a:srgbClr val="FF0000"/>
                </a:solidFill>
                <a:ea typeface="宋体" panose="02010600030101010101" pitchFamily="2" charset="-122"/>
                <a:latin typeface="宋体" panose="02010600030101010101" pitchFamily="2" charset="-122"/>
              </a:rPr>
              <a:t>发挥</a:t>
            </a:r>
            <a:r>
              <a:rPr altLang="en-US" lang="zh-CN" b="1" sz="2400">
                <a:solidFill>
                  <a:srgbClr val="FF0000"/>
                </a:solidFill>
                <a:highlight>
                  <a:srgbClr val="00FF00"/>
                </a:highlight>
                <a:ea typeface="宋体" panose="02010600030101010101" pitchFamily="2" charset="-122"/>
                <a:latin typeface="宋体" panose="02010600030101010101" pitchFamily="2" charset="-122"/>
              </a:rPr>
              <a:t>主观能动性</a:t>
            </a:r>
            <a:r>
              <a:rPr altLang="en-US" lang="zh-CN" b="1" sz="2400">
                <a:solidFill>
                  <a:srgbClr val="FF0000"/>
                </a:solidFill>
                <a:ea typeface="宋体" panose="02010600030101010101" pitchFamily="2" charset="-122"/>
                <a:latin typeface="宋体" panose="02010600030101010101" pitchFamily="2" charset="-122"/>
              </a:rPr>
              <a:t>。</a:t>
            </a:r>
            <a:r>
              <a:rPr altLang="en-US" lang="zh-CN" b="1" sz="2400">
                <a:solidFill>
                  <a:srgbClr val="0000FF"/>
                </a:solidFill>
                <a:ea typeface="宋体" panose="02010600030101010101" pitchFamily="2" charset="-122"/>
                <a:latin typeface="宋体" panose="02010600030101010101" pitchFamily="2" charset="-122"/>
              </a:rPr>
              <a:t>（</a:t>
            </a:r>
            <a:r>
              <a:rPr altLang="zh-CN" lang="en-US" b="1" sz="2400">
                <a:solidFill>
                  <a:srgbClr val="0000FF"/>
                </a:solidFill>
                <a:ea typeface="宋体" panose="02010600030101010101" pitchFamily="2" charset="-122"/>
                <a:latin typeface="宋体" panose="02010600030101010101" pitchFamily="2" charset="-122"/>
              </a:rPr>
              <a:t>1</a:t>
            </a:r>
            <a:r>
              <a:rPr altLang="en-US" lang="zh-CN" b="1" sz="2400">
                <a:solidFill>
                  <a:srgbClr val="0000FF"/>
                </a:solidFill>
                <a:ea typeface="宋体" panose="02010600030101010101" pitchFamily="2" charset="-122"/>
                <a:latin typeface="宋体" panose="02010600030101010101" pitchFamily="2" charset="-122"/>
              </a:rPr>
              <a:t>分）</a:t>
            </a:r>
            <a:r>
              <a:rPr altLang="en-US" lang="zh-CN" b="1" sz="2400">
                <a:solidFill>
                  <a:srgbClr val="000000"/>
                </a:solidFill>
                <a:ea typeface="宋体" panose="02010600030101010101" pitchFamily="2" charset="-122"/>
                <a:latin typeface="宋体" panose="02010600030101010101" pitchFamily="2" charset="-122"/>
              </a:rPr>
              <a:t>创作者团队把握社会提供的客观条件，把握个人与社会的统一，弘扬劳动精神、工匠精神、创新精神，推动行业变革，</a:t>
            </a:r>
            <a:r>
              <a:rPr altLang="en-US" lang="zh-CN" b="1" sz="2400">
                <a:solidFill>
                  <a:srgbClr val="FF0000"/>
                </a:solidFill>
                <a:ea typeface="宋体" panose="02010600030101010101" pitchFamily="2" charset="-122"/>
                <a:latin typeface="宋体" panose="02010600030101010101" pitchFamily="2" charset="-122"/>
              </a:rPr>
              <a:t>实现人生价值，</a:t>
            </a:r>
            <a:r>
              <a:rPr altLang="en-US" lang="zh-CN" b="1" sz="2400">
                <a:solidFill>
                  <a:srgbClr val="000000"/>
                </a:solidFill>
                <a:ea typeface="宋体" panose="02010600030101010101" pitchFamily="2" charset="-122"/>
                <a:latin typeface="宋体" panose="02010600030101010101" pitchFamily="2" charset="-122"/>
              </a:rPr>
              <a:t>以</a:t>
            </a:r>
            <a:r>
              <a:rPr altLang="en-US" lang="zh-CN" b="1" sz="2400">
                <a:solidFill>
                  <a:srgbClr val="000000"/>
                </a:solidFill>
                <a:highlight>
                  <a:srgbClr val="C0C0C0"/>
                </a:highlight>
                <a:ea typeface="宋体" panose="02010600030101010101" pitchFamily="2" charset="-122"/>
                <a:latin typeface="宋体" panose="02010600030101010101" pitchFamily="2" charset="-122"/>
              </a:rPr>
              <a:t>局部</a:t>
            </a:r>
            <a:r>
              <a:rPr altLang="en-US" lang="zh-CN" b="1" sz="2400">
                <a:solidFill>
                  <a:srgbClr val="000000"/>
                </a:solidFill>
                <a:ea typeface="宋体" panose="02010600030101010101" pitchFamily="2" charset="-122"/>
                <a:latin typeface="宋体" panose="02010600030101010101" pitchFamily="2" charset="-122"/>
              </a:rPr>
              <a:t>推动整体，推动中华优秀传统文化以新形式展现，绽放新光彩。</a:t>
            </a:r>
            <a:r>
              <a:rPr altLang="en-US" lang="zh-CN" b="1" sz="2400">
                <a:solidFill>
                  <a:srgbClr val="0000FF"/>
                </a:solidFill>
                <a:ea typeface="楷体" panose="02010609060101010101" charset="-122"/>
                <a:latin typeface="楷体" panose="02010609060101010101" charset="-122"/>
              </a:rPr>
              <a:t>立足整体</a:t>
            </a:r>
            <a:r>
              <a:rPr altLang="zh-CN" lang="en-US" b="1" sz="2400">
                <a:solidFill>
                  <a:srgbClr val="0000FF"/>
                </a:solidFill>
                <a:ea typeface="楷体" panose="02010609060101010101" charset="-122"/>
                <a:latin typeface="楷体" panose="02010609060101010101" charset="-122"/>
              </a:rPr>
              <a:t>/</a:t>
            </a:r>
            <a:r>
              <a:rPr altLang="en-US" lang="zh-CN" b="1" sz="2400">
                <a:solidFill>
                  <a:srgbClr val="0000FF"/>
                </a:solidFill>
                <a:ea typeface="楷体" panose="02010609060101010101" charset="-122"/>
                <a:latin typeface="楷体" panose="02010609060101010101" charset="-122"/>
              </a:rPr>
              <a:t>实践</a:t>
            </a:r>
            <a:r>
              <a:rPr altLang="zh-CN" lang="en-US" b="1" sz="2400">
                <a:solidFill>
                  <a:srgbClr val="0000FF"/>
                </a:solidFill>
                <a:ea typeface="楷体" panose="02010609060101010101" charset="-122"/>
                <a:latin typeface="楷体" panose="02010609060101010101" charset="-122"/>
              </a:rPr>
              <a:t>/</a:t>
            </a:r>
            <a:endParaRPr altLang="zh-CN" lang="en-US" b="1" sz="2400">
              <a:solidFill>
                <a:srgbClr val="0000FF"/>
              </a:solidFill>
              <a:ea typeface="楷体" panose="02010609060101010101" charset="-122"/>
              <a:latin typeface="楷体" panose="02010609060101010101" charset="-122"/>
            </a:endParaRPr>
          </a:p>
        </p:txBody>
      </p:sp>
      <p:sp>
        <p:nvSpPr>
          <p:cNvPr id="5" name="文本框 4"/>
          <p:cNvSpPr/>
          <p:nvPr/>
        </p:nvSpPr>
        <p:spPr>
          <a:xfrm>
            <a:off x="2018665" y="6505575"/>
            <a:ext cx="10097135" cy="368300"/>
          </a:xfrm>
          <a:prstGeom prst="rect">
            <a:avLst/>
          </a:prstGeom>
        </p:spPr>
        <p:txBody>
          <a:bodyPr wrap="square">
            <a:spAutoFit/>
          </a:bodyPr>
          <a:p>
            <a:pPr marL="0" indent="304800" defTabSz="266700" eaLnBrk="0" fontAlgn="base">
              <a:spcBef>
                <a:spcPct val="0"/>
              </a:spcBef>
              <a:spcAft>
                <a:spcPct val="0"/>
              </a:spcAft>
            </a:pPr>
            <a:r>
              <a:rPr altLang="en-US" lang="zh-CN" b="1">
                <a:solidFill>
                  <a:srgbClr val="000000"/>
                </a:solidFill>
                <a:highlight>
                  <a:srgbClr val="FFFF00"/>
                </a:highlight>
                <a:ea typeface="宋体" panose="02010600030101010101" pitchFamily="2" charset="-122"/>
                <a:latin typeface="宋体" panose="02010600030101010101" pitchFamily="2" charset="-122"/>
              </a:rPr>
              <a:t>以上都没答出，习近平文化思想</a:t>
            </a:r>
            <a:r>
              <a:rPr altLang="zh-CN" lang="en-US" b="1">
                <a:solidFill>
                  <a:srgbClr val="000000"/>
                </a:solidFill>
                <a:highlight>
                  <a:srgbClr val="FFFF00"/>
                </a:highlight>
                <a:ea typeface="宋体" panose="02010600030101010101" pitchFamily="2" charset="-122"/>
                <a:latin typeface="宋体" panose="02010600030101010101" pitchFamily="2" charset="-122"/>
              </a:rPr>
              <a:t>/</a:t>
            </a:r>
            <a:r>
              <a:rPr altLang="en-US" lang="zh-CN" b="1">
                <a:solidFill>
                  <a:srgbClr val="000000"/>
                </a:solidFill>
                <a:highlight>
                  <a:srgbClr val="FFFF00"/>
                </a:highlight>
                <a:ea typeface="宋体" panose="02010600030101010101" pitchFamily="2" charset="-122"/>
                <a:latin typeface="宋体" panose="02010600030101010101" pitchFamily="2" charset="-122"/>
              </a:rPr>
              <a:t>建设文化强国</a:t>
            </a:r>
            <a:r>
              <a:rPr altLang="zh-CN" lang="en-US" b="1">
                <a:solidFill>
                  <a:srgbClr val="000000"/>
                </a:solidFill>
                <a:highlight>
                  <a:srgbClr val="FFFF00"/>
                </a:highlight>
                <a:ea typeface="宋体" panose="02010600030101010101" pitchFamily="2" charset="-122"/>
                <a:latin typeface="宋体" panose="02010600030101010101" pitchFamily="2" charset="-122"/>
              </a:rPr>
              <a:t>/</a:t>
            </a:r>
            <a:r>
              <a:rPr altLang="en-US" lang="zh-CN" b="1">
                <a:solidFill>
                  <a:srgbClr val="000000"/>
                </a:solidFill>
                <a:highlight>
                  <a:srgbClr val="FFFF00"/>
                </a:highlight>
                <a:ea typeface="宋体" panose="02010600030101010101" pitchFamily="2" charset="-122"/>
                <a:latin typeface="宋体" panose="02010600030101010101" pitchFamily="2" charset="-122"/>
              </a:rPr>
              <a:t>坚定文化自信</a:t>
            </a:r>
            <a:r>
              <a:rPr altLang="zh-CN" lang="en-US" b="1">
                <a:solidFill>
                  <a:srgbClr val="000000"/>
                </a:solidFill>
                <a:highlight>
                  <a:srgbClr val="FFFF00"/>
                </a:highlight>
                <a:ea typeface="宋体" panose="02010600030101010101" pitchFamily="2" charset="-122"/>
                <a:latin typeface="宋体" panose="02010600030101010101" pitchFamily="2" charset="-122"/>
              </a:rPr>
              <a:t>——1</a:t>
            </a:r>
            <a:r>
              <a:rPr altLang="en-US" lang="zh-CN" b="1">
                <a:solidFill>
                  <a:srgbClr val="000000"/>
                </a:solidFill>
                <a:highlight>
                  <a:srgbClr val="FFFF00"/>
                </a:highlight>
                <a:ea typeface="宋体" panose="02010600030101010101" pitchFamily="2" charset="-122"/>
                <a:latin typeface="宋体" panose="02010600030101010101" pitchFamily="2" charset="-122"/>
              </a:rPr>
              <a:t>分</a:t>
            </a:r>
            <a:endParaRPr altLang="en-US" lang="zh-CN" b="1">
              <a:solidFill>
                <a:srgbClr val="000000"/>
              </a:solidFill>
              <a:highlight>
                <a:srgbClr val="FFFF00"/>
              </a:highlight>
              <a:ea typeface="宋体" panose="02010600030101010101" pitchFamily="2" charset="-122"/>
              <a:latin typeface="宋体" panose="02010600030101010101" pitchFamily="2" charset="-122"/>
            </a:endParaRPr>
          </a:p>
        </p:txBody>
      </p:sp>
    </p:spTree>
    <p:custDataLst>
      <p:tags r:id="rId1"/>
    </p:custDataLst>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502285" y="43815"/>
            <a:ext cx="11196955" cy="2676525"/>
          </a:xfrm>
          <a:prstGeom prst="rect">
            <a:avLst/>
          </a:prstGeom>
        </p:spPr>
        <p:txBody>
          <a:bodyPr wrap="square">
            <a:spAutoFit/>
          </a:bodyPr>
          <a:p>
            <a:pPr indent="0" algn="l" defTabSz="266700" fontAlgn="auto">
              <a:lnSpc>
                <a:spcPct val="100000"/>
              </a:lnSpc>
              <a:spcBef>
                <a:spcPct val="0"/>
              </a:spcBef>
              <a:spcAft>
                <a:spcPct val="0"/>
              </a:spcAft>
            </a:pPr>
            <a:r>
              <a:rPr altLang="zh-CN" lang="en-US" b="1" sz="2400">
                <a:ea typeface="宋体" panose="02010600030101010101" pitchFamily="2" charset="-122"/>
                <a:latin typeface="宋体" panose="02010600030101010101" pitchFamily="2" charset="-122"/>
              </a:rPr>
              <a:t>17. </a:t>
            </a:r>
            <a:r>
              <a:rPr altLang="en-US" lang="zh-CN" b="1" sz="2400">
                <a:ea typeface="宋体" panose="02010600030101010101" pitchFamily="2" charset="-122"/>
                <a:latin typeface="宋体" panose="02010600030101010101" pitchFamily="2" charset="-122"/>
              </a:rPr>
              <a:t>（</a:t>
            </a:r>
            <a:r>
              <a:rPr altLang="zh-CN" lang="en-US" b="1" sz="2400">
                <a:ea typeface="宋体" panose="02010600030101010101" pitchFamily="2" charset="-122"/>
                <a:latin typeface="宋体" panose="02010600030101010101" pitchFamily="2" charset="-122"/>
              </a:rPr>
              <a:t>12</a:t>
            </a:r>
            <a:r>
              <a:rPr altLang="en-US" lang="zh-CN" b="1" sz="2400">
                <a:ea typeface="宋体" panose="02010600030101010101" pitchFamily="2" charset="-122"/>
                <a:latin typeface="宋体" panose="02010600030101010101" pitchFamily="2" charset="-122"/>
              </a:rPr>
              <a:t>分）</a:t>
            </a:r>
            <a:r>
              <a:rPr altLang="zh-CN" lang="en-US" b="1" sz="2400">
                <a:ea typeface="楷体" panose="02010609060101010101" charset="-122"/>
                <a:latin typeface="楷体" panose="02010609060101010101" charset="-122"/>
              </a:rPr>
              <a:t>2025</a:t>
            </a:r>
            <a:r>
              <a:rPr altLang="en-US" lang="zh-CN" b="1" sz="2400">
                <a:ea typeface="楷体" panose="02010609060101010101" charset="-122"/>
                <a:latin typeface="楷体" panose="02010609060101010101" charset="-122"/>
              </a:rPr>
              <a:t>年国务院政府工作报告提出，培育壮大新兴产业、未来产业。</a:t>
            </a:r>
            <a:endParaRPr altLang="en-US" lang="zh-CN" b="1" sz="2400">
              <a:ea typeface="楷体" panose="02010609060101010101" charset="-122"/>
              <a:latin typeface="楷体" panose="02010609060101010101" charset="-122"/>
            </a:endParaRPr>
          </a:p>
          <a:p>
            <a:pPr indent="267970" algn="l" defTabSz="266700" fontAlgn="auto">
              <a:lnSpc>
                <a:spcPct val="100000"/>
              </a:lnSpc>
              <a:spcBef>
                <a:spcPct val="0"/>
              </a:spcBef>
              <a:spcAft>
                <a:spcPct val="0"/>
              </a:spcAft>
            </a:pP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材料一</a:t>
            </a: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具身智能，是指有身体并支持与物理世界进行交互的智能体。目前，人工智能正在迈向通用智能的路上，大模型展示出满足人类需求的交互能力。然而，这种交互仍局限于数字世界，它能够回答问题、画画，却不能帮助我们做家务或是盖房子。</a:t>
            </a:r>
            <a:r>
              <a:rPr altLang="en-US" lang="zh-CN" b="1" sz="2400">
                <a:highlight>
                  <a:srgbClr val="FFFF00"/>
                </a:highlight>
                <a:ea typeface="楷体" panose="02010609060101010101" charset="-122"/>
                <a:latin typeface="楷体" panose="02010609060101010101" charset="-122"/>
              </a:rPr>
              <a:t>我们想要实现虚拟和现实的深度融合，就必须要让人工智能拥有一个智能硬件载体</a:t>
            </a:r>
            <a:r>
              <a:rPr altLang="en-US" lang="zh-CN" b="1" sz="2400">
                <a:ea typeface="楷体" panose="02010609060101010101" charset="-122"/>
                <a:latin typeface="楷体" panose="02010609060101010101" charset="-122"/>
              </a:rPr>
              <a:t>，让它们像人类一样具备感知和行动能力。</a:t>
            </a:r>
            <a:endParaRPr altLang="en-US" lang="zh-CN" b="1" sz="2400">
              <a:ea typeface="楷体" panose="02010609060101010101" charset="-122"/>
              <a:latin typeface="楷体" panose="02010609060101010101" charset="-122"/>
            </a:endParaRPr>
          </a:p>
          <a:p>
            <a:pPr indent="266700" algn="just" defTabSz="266700" fontAlgn="auto">
              <a:lnSpc>
                <a:spcPct val="100000"/>
              </a:lnSpc>
              <a:spcBef>
                <a:spcPct val="0"/>
              </a:spcBef>
              <a:spcAft>
                <a:spcPct val="0"/>
              </a:spcAft>
            </a:pP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据此，有人作出如下推理：</a:t>
            </a:r>
            <a:endParaRPr altLang="en-US" lang="zh-CN" b="1" sz="2400">
              <a:ea typeface="楷体" panose="02010609060101010101" charset="-122"/>
              <a:latin typeface="楷体" panose="02010609060101010101" charset="-122"/>
            </a:endParaRPr>
          </a:p>
        </p:txBody>
      </p:sp>
      <p:graphicFrame>
        <p:nvGraphicFramePr>
          <p:cNvPr id="5" name="表格 4"/>
          <p:cNvGraphicFramePr/>
          <p:nvPr>
            <p:custDataLst>
              <p:tags r:id="rId1"/>
            </p:custDataLst>
          </p:nvPr>
        </p:nvGraphicFramePr>
        <p:xfrm>
          <a:off x="644525" y="2675255"/>
          <a:ext cx="10677525" cy="1241425"/>
        </p:xfrm>
        <a:graphic>
          <a:graphicData uri="http://schemas.openxmlformats.org/drawingml/2006/table">
            <a:tbl>
              <a:tblPr/>
              <a:tblGrid>
                <a:gridCol w="10677525"/>
              </a:tblGrid>
              <a:tr h="1241425">
                <a:tc>
                  <a:txBody>
                    <a:bodyPr/>
                    <a:p>
                      <a:pPr marL="0" indent="266700" algn="just">
                        <a:spcBef>
                          <a:spcPct val="0"/>
                        </a:spcBef>
                        <a:spcAft>
                          <a:spcPct val="0"/>
                        </a:spcAft>
                      </a:pPr>
                      <a:r>
                        <a:rPr altLang="zh-CN" lang="en-US" sz="2400">
                          <a:ea typeface="楷体" panose="02010609060101010101" charset="-122"/>
                          <a:latin typeface="楷体" panose="02010609060101010101" charset="-122"/>
                        </a:rPr>
                        <a:t>  </a:t>
                      </a:r>
                      <a:r>
                        <a:rPr lang="zh-CN" b="1" sz="2400">
                          <a:ea typeface="楷体" panose="02010609060101010101" charset="-122"/>
                          <a:latin typeface="楷体" panose="02010609060101010101" charset="-122"/>
                        </a:rPr>
                        <a:t>我们想要实现虚拟与现实的深度融合，就必须要让人工智能拥有一个智能硬件载体。</a:t>
                      </a:r>
                      <a:endParaRPr lang="zh-CN" b="1" sz="2400">
                        <a:ea typeface="楷体" panose="02010609060101010101" charset="-122"/>
                        <a:latin typeface="楷体" panose="02010609060101010101" charset="-122"/>
                      </a:endParaRPr>
                    </a:p>
                    <a:p>
                      <a:pPr marL="0" indent="266700" algn="just">
                        <a:spcBef>
                          <a:spcPct val="0"/>
                        </a:spcBef>
                        <a:spcAft>
                          <a:spcPct val="0"/>
                        </a:spcAft>
                      </a:pPr>
                      <a:r>
                        <a:rPr altLang="zh-CN" lang="en-US" b="1" sz="2400">
                          <a:ea typeface="楷体" panose="02010609060101010101" charset="-122"/>
                          <a:latin typeface="楷体" panose="02010609060101010101" charset="-122"/>
                        </a:rPr>
                        <a:t>  </a:t>
                      </a:r>
                      <a:r>
                        <a:rPr lang="zh-CN" b="1" sz="2400">
                          <a:ea typeface="楷体" panose="02010609060101010101" charset="-122"/>
                          <a:latin typeface="楷体" panose="02010609060101010101" charset="-122"/>
                        </a:rPr>
                        <a:t>所以，让人工智能拥有一个智能载体，就能实现虚拟与现实的深度融合。</a:t>
                      </a:r>
                      <a:endParaRPr lang="zh-CN" b="1" sz="2400">
                        <a:ea typeface="楷体" panose="02010609060101010101" charset="-122"/>
                        <a:latin typeface="楷体" panose="02010609060101010101" charset="-122"/>
                      </a:endParaRPr>
                    </a:p>
                  </a:txBody>
                  <a:tcPr marL="68580" marR="68580" marT="0" marB="0" anchor="t" anchorCtr="0">
                    <a:lnL w="6350" cmpd="sng">
                      <a:solidFill>
                        <a:srgbClr val="000008"/>
                      </a:solidFill>
                      <a:prstDash val="solid"/>
                      <a:headEnd type="none" w="med" len="med"/>
                      <a:tailEnd type="none" w="med" len="med"/>
                    </a:lnL>
                    <a:lnR w="6350" cmpd="sng">
                      <a:solidFill>
                        <a:srgbClr val="000008"/>
                      </a:solidFill>
                      <a:prstDash val="solid"/>
                      <a:headEnd type="none" w="med" len="med"/>
                      <a:tailEnd type="none" w="med" len="med"/>
                    </a:lnR>
                    <a:lnT w="6350" cmpd="sng">
                      <a:solidFill>
                        <a:srgbClr val="000008"/>
                      </a:solidFill>
                      <a:prstDash val="solid"/>
                      <a:headEnd type="none" w="med" len="med"/>
                      <a:tailEnd type="none" w="med" len="med"/>
                    </a:lnT>
                    <a:lnB w="6350" cmpd="sng">
                      <a:solidFill>
                        <a:srgbClr val="000008"/>
                      </a:solidFill>
                      <a:prstDash val="solid"/>
                      <a:headEnd type="none" w="med" len="med"/>
                      <a:tailEnd type="none" w="med" len="med"/>
                    </a:lnB>
                    <a:noFill/>
                  </a:tcPr>
                </a:tc>
              </a:tr>
            </a:tbl>
          </a:graphicData>
        </a:graphic>
      </p:graphicFrame>
      <p:sp>
        <p:nvSpPr>
          <p:cNvPr id="6" name="文本框 5"/>
          <p:cNvSpPr/>
          <p:nvPr/>
        </p:nvSpPr>
        <p:spPr>
          <a:xfrm>
            <a:off x="856615" y="3917950"/>
            <a:ext cx="11927205" cy="460375"/>
          </a:xfrm>
          <a:prstGeom prst="rect">
            <a:avLst/>
          </a:prstGeom>
        </p:spPr>
        <p:txBody>
          <a:bodyPr wrap="square">
            <a:spAutoFit/>
          </a:bodyPr>
          <a:p>
            <a:pPr/>
            <a:r>
              <a:rPr altLang="en-US" lang="zh-CN" b="1" sz="2400">
                <a:ea typeface="宋体" panose="02010600030101010101" pitchFamily="2" charset="-122"/>
                <a:latin typeface="宋体" panose="02010600030101010101" pitchFamily="2" charset="-122"/>
              </a:rPr>
              <a:t>（</a:t>
            </a:r>
            <a:r>
              <a:rPr altLang="zh-CN" lang="en-US" b="1" sz="2400">
                <a:ea typeface="宋体" panose="02010600030101010101" pitchFamily="2" charset="-122"/>
                <a:latin typeface="宋体" panose="02010600030101010101" pitchFamily="2" charset="-122"/>
              </a:rPr>
              <a:t>1</a:t>
            </a:r>
            <a:r>
              <a:rPr altLang="en-US" lang="zh-CN" b="1" sz="2400">
                <a:ea typeface="宋体" panose="02010600030101010101" pitchFamily="2" charset="-122"/>
                <a:latin typeface="宋体" panose="02010600030101010101" pitchFamily="2" charset="-122"/>
              </a:rPr>
              <a:t>）运用</a:t>
            </a:r>
            <a:r>
              <a:rPr altLang="zh-CN" lang="en-US" b="1" sz="2400">
                <a:ea typeface="宋体" panose="02010600030101010101" pitchFamily="2" charset="-122"/>
                <a:latin typeface="宋体" panose="02010600030101010101" pitchFamily="2" charset="-122"/>
              </a:rPr>
              <a:t>《</a:t>
            </a:r>
            <a:r>
              <a:rPr altLang="en-US" lang="zh-CN" b="1" sz="2400">
                <a:ea typeface="宋体" panose="02010600030101010101" pitchFamily="2" charset="-122"/>
                <a:latin typeface="宋体" panose="02010600030101010101" pitchFamily="2" charset="-122"/>
              </a:rPr>
              <a:t>逻辑与思维</a:t>
            </a:r>
            <a:r>
              <a:rPr altLang="zh-CN" lang="en-US" b="1" sz="2400">
                <a:ea typeface="宋体" panose="02010600030101010101" pitchFamily="2" charset="-122"/>
                <a:latin typeface="宋体" panose="02010600030101010101" pitchFamily="2" charset="-122"/>
              </a:rPr>
              <a:t>》</a:t>
            </a:r>
            <a:r>
              <a:rPr altLang="en-US" lang="zh-CN" b="1" sz="2400">
                <a:ea typeface="宋体" panose="02010600030101010101" pitchFamily="2" charset="-122"/>
                <a:latin typeface="宋体" panose="02010600030101010101" pitchFamily="2" charset="-122"/>
              </a:rPr>
              <a:t>知识，判断该推理正确与否，并说明理由。（</a:t>
            </a:r>
            <a:r>
              <a:rPr altLang="zh-CN" lang="en-US" b="1" sz="2400">
                <a:ea typeface="宋体" panose="02010600030101010101" pitchFamily="2" charset="-122"/>
                <a:latin typeface="宋体" panose="02010600030101010101" pitchFamily="2" charset="-122"/>
              </a:rPr>
              <a:t>5</a:t>
            </a:r>
            <a:r>
              <a:rPr altLang="en-US" lang="zh-CN" b="1" sz="2400">
                <a:ea typeface="宋体" panose="02010600030101010101" pitchFamily="2" charset="-122"/>
                <a:latin typeface="宋体" panose="02010600030101010101" pitchFamily="2" charset="-122"/>
              </a:rPr>
              <a:t>分）</a:t>
            </a:r>
            <a:endParaRPr altLang="en-US" lang="zh-CN" b="1" sz="2400">
              <a:ea typeface="宋体" panose="02010600030101010101" pitchFamily="2" charset="-122"/>
              <a:latin typeface="宋体" panose="02010600030101010101" pitchFamily="2" charset="-122"/>
            </a:endParaRPr>
          </a:p>
        </p:txBody>
      </p:sp>
      <p:sp>
        <p:nvSpPr>
          <p:cNvPr id="7" name="文本框 6"/>
          <p:cNvSpPr/>
          <p:nvPr/>
        </p:nvSpPr>
        <p:spPr>
          <a:xfrm>
            <a:off x="36195" y="4386580"/>
            <a:ext cx="12037060" cy="2306955"/>
          </a:xfrm>
          <a:prstGeom prst="rect">
            <a:avLst/>
          </a:prstGeom>
        </p:spPr>
        <p:txBody>
          <a:bodyPr wrap="square">
            <a:spAutoFit/>
          </a:bodyPr>
          <a:p>
            <a:pPr indent="304800" algn="just" defTabSz="266700" fontAlgn="auto">
              <a:lnSpc>
                <a:spcPct val="100000"/>
              </a:lnSpc>
              <a:spcBef>
                <a:spcPct val="0"/>
              </a:spcBef>
              <a:spcAft>
                <a:spcPct val="0"/>
              </a:spcAft>
            </a:pPr>
            <a:r>
              <a:rPr altLang="en-US" lang="zh-CN" b="1" sz="2400">
                <a:solidFill>
                  <a:srgbClr val="FF0000"/>
                </a:solidFill>
                <a:ea typeface="宋体" panose="02010600030101010101" pitchFamily="2" charset="-122"/>
                <a:latin typeface="宋体" panose="02010600030101010101" pitchFamily="2" charset="-122"/>
              </a:rPr>
              <a:t>该推理不正确。</a:t>
            </a:r>
            <a:endParaRPr altLang="en-US" lang="zh-CN" b="1" sz="2400">
              <a:solidFill>
                <a:srgbClr val="FF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400">
                <a:solidFill>
                  <a:srgbClr val="FF0000"/>
                </a:solidFill>
                <a:ea typeface="宋体" panose="02010600030101010101" pitchFamily="2" charset="-122"/>
                <a:latin typeface="宋体" panose="02010600030101010101" pitchFamily="2" charset="-122"/>
              </a:rPr>
              <a:t>“想要实现虚拟与现实的深度融合，就必须让人工智能拥有智能硬件载体”，这表明拥有智能硬件载体是实现深度融合的必要条件，而非充分条件。这是一个必要条件假言判断。在此判断基础上进行</a:t>
            </a:r>
            <a:r>
              <a:rPr altLang="en-US" lang="zh-CN" b="1" sz="2400">
                <a:solidFill>
                  <a:srgbClr val="FF0000"/>
                </a:solidFill>
                <a:ea typeface="宋体" panose="02010600030101010101" pitchFamily="2" charset="-122"/>
                <a:latin typeface="宋体" panose="02010600030101010101" pitchFamily="2" charset="-122"/>
              </a:rPr>
              <a:t>推理。</a:t>
            </a:r>
            <a:endParaRPr altLang="en-US" lang="zh-CN" b="1" sz="2400">
              <a:solidFill>
                <a:srgbClr val="FF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zh-CN" lang="en-US" b="1" sz="2400">
                <a:solidFill>
                  <a:srgbClr val="FF0000"/>
                </a:solidFill>
                <a:ea typeface="宋体" panose="02010600030101010101" pitchFamily="2" charset="-122"/>
                <a:latin typeface="宋体" panose="02010600030101010101" pitchFamily="2" charset="-122"/>
              </a:rPr>
              <a:t>  </a:t>
            </a:r>
            <a:r>
              <a:rPr altLang="en-US" lang="zh-CN" b="1" sz="2400">
                <a:solidFill>
                  <a:srgbClr val="FF0000"/>
                </a:solidFill>
                <a:ea typeface="宋体" panose="02010600030101010101" pitchFamily="2" charset="-122"/>
                <a:latin typeface="宋体" panose="02010600030101010101" pitchFamily="2" charset="-122"/>
              </a:rPr>
              <a:t>必要条件假言推理中，肯定前件并不能必然肯定后件。所以仅让人工智能拥有智能载体，不能得出就能实现虚拟与现实深度融合的结论，此推理违反了相应逻辑规则。</a:t>
            </a:r>
            <a:endParaRPr altLang="en-US" lang="zh-CN" b="1" sz="2400">
              <a:solidFill>
                <a:srgbClr val="FF0000"/>
              </a:solidFill>
              <a:ea typeface="宋体" panose="02010600030101010101" pitchFamily="2" charset="-122"/>
              <a:latin typeface="宋体" panose="02010600030101010101" pitchFamily="2" charset="-122"/>
            </a:endParaRPr>
          </a:p>
        </p:txBody>
      </p:sp>
    </p:spTree>
    <p:custDataLst>
      <p:tags r:id="rId2"/>
    </p:custDataLst>
  </p:cSld>
  <p:clrMapOvr>
    <a:masterClrMapping/>
  </p:clrMapOvr>
</p:sld>
</file>

<file path=ppt/slides/slide2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4" name="图片 3"/>
          <p:cNvPicPr/>
          <p:nvPr/>
        </p:nvPicPr>
        <p:blipFill>
          <a:blip r:embed="rId1"/>
          <a:stretch>
            <a:fillRect/>
          </a:stretch>
        </p:blipFill>
        <p:spPr>
          <a:xfrm>
            <a:off x="-24130" y="41910"/>
            <a:ext cx="6374130" cy="6777990"/>
          </a:xfrm>
          <a:prstGeom prst="rect">
            <a:avLst/>
          </a:prstGeom>
        </p:spPr>
      </p:pic>
      <p:pic>
        <p:nvPicPr>
          <p:cNvPr id="5" name="图片 4"/>
          <p:cNvPicPr/>
          <p:nvPr/>
        </p:nvPicPr>
        <p:blipFill>
          <a:blip r:embed="rId2"/>
          <a:stretch>
            <a:fillRect/>
          </a:stretch>
        </p:blipFill>
        <p:spPr>
          <a:xfrm>
            <a:off x="6077585" y="308610"/>
            <a:ext cx="6087745" cy="6160135"/>
          </a:xfrm>
          <a:prstGeom prst="rect">
            <a:avLst/>
          </a:prstGeom>
        </p:spPr>
      </p:pic>
    </p:spTree>
    <p:custDataLst>
      <p:tags r:id="rId3"/>
    </p:custDataLst>
  </p:cSld>
  <p:clrMapOvr>
    <a:masterClrMapping/>
  </p:clrMapOvr>
</p:sld>
</file>

<file path=ppt/slides/slide2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329565" y="767715"/>
            <a:ext cx="11289030" cy="5262245"/>
          </a:xfrm>
          <a:prstGeom prst="rect">
            <a:avLst/>
          </a:prstGeom>
        </p:spPr>
        <p:txBody>
          <a:bodyPr wrap="square">
            <a:spAutoFit/>
          </a:bodyPr>
          <a:p>
            <a:pPr indent="267970" algn="l" defTabSz="266700" fontAlgn="auto">
              <a:lnSpc>
                <a:spcPct val="100000"/>
              </a:lnSpc>
              <a:spcBef>
                <a:spcPct val="0"/>
              </a:spcBef>
              <a:spcAft>
                <a:spcPct val="0"/>
              </a:spcAft>
            </a:pP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材料二</a:t>
            </a: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人形机器人又称类人机器人、仿生机器人等，通常具有头部、躯干、双臂双腿等，在结构和功能上尽可能接近人类，具备一定的运动能力和感知能力。从商用服务到智能制造，从陪伴老人到理货看店</a:t>
            </a:r>
            <a:r>
              <a:rPr altLang="zh-CN" lang="en-US" b="1" sz="2400">
                <a:ea typeface="楷体" panose="02010609060101010101" charset="-122"/>
                <a:latin typeface="楷体" panose="02010609060101010101" charset="-122"/>
              </a:rPr>
              <a:t>……</a:t>
            </a:r>
            <a:r>
              <a:rPr altLang="en-US" lang="zh-CN" b="1" sz="2400">
                <a:ea typeface="楷体" panose="02010609060101010101" charset="-122"/>
                <a:latin typeface="楷体" panose="02010609060101010101" charset="-122"/>
              </a:rPr>
              <a:t>人形机器人制造在“加速跑”。</a:t>
            </a:r>
            <a:endParaRPr altLang="en-US" lang="zh-CN" b="1" sz="2400">
              <a:ea typeface="楷体" panose="02010609060101010101" charset="-122"/>
              <a:latin typeface="楷体" panose="02010609060101010101" charset="-122"/>
            </a:endParaRPr>
          </a:p>
          <a:p>
            <a:pPr indent="266700" algn="l" defTabSz="266700" fontAlgn="auto">
              <a:lnSpc>
                <a:spcPct val="100000"/>
              </a:lnSpc>
              <a:spcBef>
                <a:spcPct val="0"/>
              </a:spcBef>
              <a:spcAft>
                <a:spcPct val="0"/>
              </a:spcAft>
            </a:pP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与此同时，市场上主流的人形机器人价格甚至超</a:t>
            </a:r>
            <a:r>
              <a:rPr altLang="zh-CN" lang="en-US" b="1" sz="2400">
                <a:ea typeface="楷体" panose="02010609060101010101" charset="-122"/>
                <a:latin typeface="楷体" panose="02010609060101010101" charset="-122"/>
              </a:rPr>
              <a:t>50</a:t>
            </a:r>
            <a:r>
              <a:rPr altLang="en-US" lang="zh-CN" b="1" sz="2400">
                <a:ea typeface="楷体" panose="02010609060101010101" charset="-122"/>
                <a:latin typeface="楷体" panose="02010609060101010101" charset="-122"/>
              </a:rPr>
              <a:t>万元。人形机器人产业链高度复杂，人形机器人产品呈现出高度的定制化倾向，缺乏真正通用的零部件，导致成本居高不下。</a:t>
            </a:r>
            <a:endParaRPr altLang="en-US" lang="zh-CN" b="1" sz="2400">
              <a:ea typeface="楷体" panose="02010609060101010101" charset="-122"/>
              <a:latin typeface="楷体" panose="02010609060101010101" charset="-122"/>
            </a:endParaRPr>
          </a:p>
          <a:p>
            <a:pPr indent="266700" algn="l" defTabSz="266700" fontAlgn="auto">
              <a:lnSpc>
                <a:spcPct val="100000"/>
              </a:lnSpc>
              <a:spcBef>
                <a:spcPct val="0"/>
              </a:spcBef>
              <a:spcAft>
                <a:spcPct val="0"/>
              </a:spcAft>
            </a:pP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在工厂环节，只有少部分先进工厂开始探索在某些工作流程中使用人形机器人，更多走进生产线可能在未来三到五年实现；而真正走进人们的生活，需要更高的精确度和安全性，所需时间会更长。</a:t>
            </a:r>
            <a:endParaRPr altLang="en-US" lang="zh-CN" b="1" sz="2400">
              <a:ea typeface="楷体" panose="02010609060101010101" charset="-122"/>
              <a:latin typeface="楷体" panose="02010609060101010101" charset="-122"/>
            </a:endParaRPr>
          </a:p>
          <a:p>
            <a:pPr indent="0" algn="l" defTabSz="266700" fontAlgn="auto">
              <a:lnSpc>
                <a:spcPct val="100000"/>
              </a:lnSpc>
              <a:spcBef>
                <a:spcPct val="0"/>
              </a:spcBef>
              <a:spcAft>
                <a:spcPct val="0"/>
              </a:spcAft>
            </a:pPr>
            <a:r>
              <a:rPr altLang="en-US" lang="zh-CN" b="1" sz="2400">
                <a:ea typeface="楷体" panose="02010609060101010101" charset="-122"/>
                <a:latin typeface="楷体" panose="02010609060101010101" charset="-122"/>
              </a:rPr>
              <a:t>人形机器人的应用首先要保证可靠性和稳定性，由于目前这方面尚未完全成熟，人形机器人更适合那些容错率较高的场合。专家建议要尽快完善人形机器人的相关标准，不断开放应用场景，让人形机器人“先应用起来”。</a:t>
            </a:r>
            <a:endParaRPr altLang="en-US" lang="zh-CN" b="1" sz="2400">
              <a:ea typeface="楷体" panose="02010609060101010101" charset="-122"/>
              <a:latin typeface="楷体" panose="02010609060101010101" charset="-122"/>
            </a:endParaRPr>
          </a:p>
          <a:p>
            <a:pPr indent="266700" algn="l" defTabSz="266700" fontAlgn="auto">
              <a:lnSpc>
                <a:spcPct val="100000"/>
              </a:lnSpc>
              <a:spcBef>
                <a:spcPct val="0"/>
              </a:spcBef>
              <a:spcAft>
                <a:spcPct val="0"/>
              </a:spcAft>
            </a:pPr>
            <a:r>
              <a:rPr altLang="en-US" lang="zh-CN" b="1" sz="2400">
                <a:ea typeface="宋体" panose="02010600030101010101" pitchFamily="2" charset="-122"/>
                <a:latin typeface="宋体" panose="02010600030101010101" pitchFamily="2" charset="-122"/>
              </a:rPr>
              <a:t>（</a:t>
            </a:r>
            <a:r>
              <a:rPr altLang="zh-CN" lang="en-US" b="1" sz="2400">
                <a:ea typeface="宋体" panose="02010600030101010101" pitchFamily="2" charset="-122"/>
                <a:latin typeface="宋体" panose="02010600030101010101" pitchFamily="2" charset="-122"/>
              </a:rPr>
              <a:t>2</a:t>
            </a:r>
            <a:r>
              <a:rPr altLang="en-US" lang="zh-CN" b="1" sz="2400">
                <a:ea typeface="宋体" panose="02010600030101010101" pitchFamily="2" charset="-122"/>
                <a:latin typeface="宋体" panose="02010600030101010101" pitchFamily="2" charset="-122"/>
              </a:rPr>
              <a:t>）结合材料二，运用</a:t>
            </a:r>
            <a:r>
              <a:rPr altLang="zh-CN" lang="en-US" b="1" sz="2400">
                <a:ea typeface="宋体" panose="02010600030101010101" pitchFamily="2" charset="-122"/>
                <a:latin typeface="宋体" panose="02010600030101010101" pitchFamily="2" charset="-122"/>
              </a:rPr>
              <a:t>《</a:t>
            </a:r>
            <a:r>
              <a:rPr altLang="en-US" lang="zh-CN" b="1" sz="2400">
                <a:ea typeface="宋体" panose="02010600030101010101" pitchFamily="2" charset="-122"/>
                <a:latin typeface="宋体" panose="02010600030101010101" pitchFamily="2" charset="-122"/>
              </a:rPr>
              <a:t>经济与社会</a:t>
            </a:r>
            <a:r>
              <a:rPr altLang="zh-CN" lang="en-US" b="1" sz="2400">
                <a:ea typeface="宋体" panose="02010600030101010101" pitchFamily="2" charset="-122"/>
                <a:latin typeface="宋体" panose="02010600030101010101" pitchFamily="2" charset="-122"/>
              </a:rPr>
              <a:t>》</a:t>
            </a:r>
            <a:r>
              <a:rPr altLang="en-US" lang="zh-CN" b="1" sz="2400">
                <a:ea typeface="宋体" panose="02010600030101010101" pitchFamily="2" charset="-122"/>
                <a:latin typeface="宋体" panose="02010600030101010101" pitchFamily="2" charset="-122"/>
              </a:rPr>
              <a:t>知识，说明如何加快人形机器人服务于生产生活的进程。（</a:t>
            </a:r>
            <a:r>
              <a:rPr altLang="zh-CN" lang="en-US" b="1" sz="2400">
                <a:ea typeface="宋体" panose="02010600030101010101" pitchFamily="2" charset="-122"/>
                <a:latin typeface="宋体" panose="02010600030101010101" pitchFamily="2" charset="-122"/>
              </a:rPr>
              <a:t>7</a:t>
            </a:r>
            <a:r>
              <a:rPr altLang="en-US" lang="zh-CN" b="1" sz="2400">
                <a:ea typeface="宋体" panose="02010600030101010101" pitchFamily="2" charset="-122"/>
                <a:latin typeface="宋体" panose="02010600030101010101" pitchFamily="2" charset="-122"/>
              </a:rPr>
              <a:t>分）</a:t>
            </a:r>
            <a:endParaRPr altLang="en-US" lang="zh-CN" b="1" sz="2400">
              <a:ea typeface="宋体" panose="02010600030101010101" pitchFamily="2" charset="-122"/>
              <a:latin typeface="宋体" panose="02010600030101010101" pitchFamily="2" charset="-122"/>
            </a:endParaRPr>
          </a:p>
        </p:txBody>
      </p:sp>
    </p:spTree>
    <p:custDataLst>
      <p:tags r:id="rId1"/>
    </p:custDataLst>
  </p:cSld>
  <p:clrMapOvr>
    <a:masterClrMapping/>
  </p:clrMapOvr>
</p:sld>
</file>

<file path=ppt/slides/slide2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329565" y="767715"/>
            <a:ext cx="11289030" cy="5262245"/>
          </a:xfrm>
          <a:prstGeom prst="rect">
            <a:avLst/>
          </a:prstGeom>
        </p:spPr>
        <p:txBody>
          <a:bodyPr wrap="square">
            <a:spAutoFit/>
          </a:bodyPr>
          <a:p>
            <a:pPr indent="267970" algn="l" defTabSz="266700" fontAlgn="auto">
              <a:lnSpc>
                <a:spcPct val="100000"/>
              </a:lnSpc>
              <a:spcBef>
                <a:spcPct val="0"/>
              </a:spcBef>
              <a:spcAft>
                <a:spcPct val="0"/>
              </a:spcAft>
            </a:pP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材料二</a:t>
            </a: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人形机器人又称类人机器人、仿生机器人等，通常具有头部、躯干、双臂双腿等，在结构和功能上尽可能接近人类，具备一定的运动能力和感知能力。从商用服务到智能制造，从陪伴老人到理货看店</a:t>
            </a:r>
            <a:r>
              <a:rPr altLang="zh-CN" lang="en-US" b="1" sz="2400">
                <a:ea typeface="楷体" panose="02010609060101010101" charset="-122"/>
                <a:latin typeface="楷体" panose="02010609060101010101" charset="-122"/>
              </a:rPr>
              <a:t>……</a:t>
            </a:r>
            <a:r>
              <a:rPr altLang="en-US" lang="zh-CN" b="1" sz="2400">
                <a:ea typeface="楷体" panose="02010609060101010101" charset="-122"/>
                <a:latin typeface="楷体" panose="02010609060101010101" charset="-122"/>
              </a:rPr>
              <a:t>人形机器人制造在“加速跑”。</a:t>
            </a:r>
            <a:endParaRPr altLang="en-US" lang="zh-CN" b="1" sz="2400">
              <a:ea typeface="楷体" panose="02010609060101010101" charset="-122"/>
              <a:latin typeface="楷体" panose="02010609060101010101" charset="-122"/>
            </a:endParaRPr>
          </a:p>
          <a:p>
            <a:pPr indent="266700" algn="l" defTabSz="266700" fontAlgn="auto">
              <a:lnSpc>
                <a:spcPct val="100000"/>
              </a:lnSpc>
              <a:spcBef>
                <a:spcPct val="0"/>
              </a:spcBef>
              <a:spcAft>
                <a:spcPct val="0"/>
              </a:spcAft>
            </a:pP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与此同时，市场上主流的人形机器人</a:t>
            </a:r>
            <a:r>
              <a:rPr altLang="en-US" lang="zh-CN" b="1" sz="2400">
                <a:solidFill>
                  <a:srgbClr val="FF0000"/>
                </a:solidFill>
                <a:highlight>
                  <a:srgbClr val="FFFF00"/>
                </a:highlight>
                <a:ea typeface="楷体" panose="02010609060101010101" charset="-122"/>
                <a:latin typeface="楷体" panose="02010609060101010101" charset="-122"/>
              </a:rPr>
              <a:t>价格甚至超</a:t>
            </a:r>
            <a:r>
              <a:rPr altLang="zh-CN" lang="en-US" b="1" sz="2400">
                <a:solidFill>
                  <a:srgbClr val="FF0000"/>
                </a:solidFill>
                <a:highlight>
                  <a:srgbClr val="FFFF00"/>
                </a:highlight>
                <a:ea typeface="楷体" panose="02010609060101010101" charset="-122"/>
                <a:latin typeface="楷体" panose="02010609060101010101" charset="-122"/>
              </a:rPr>
              <a:t>50</a:t>
            </a:r>
            <a:r>
              <a:rPr altLang="en-US" lang="zh-CN" b="1" sz="2400">
                <a:solidFill>
                  <a:srgbClr val="FF0000"/>
                </a:solidFill>
                <a:highlight>
                  <a:srgbClr val="FFFF00"/>
                </a:highlight>
                <a:ea typeface="楷体" panose="02010609060101010101" charset="-122"/>
                <a:latin typeface="楷体" panose="02010609060101010101" charset="-122"/>
              </a:rPr>
              <a:t>万元</a:t>
            </a:r>
            <a:r>
              <a:rPr altLang="en-US" lang="zh-CN" b="1" sz="2400">
                <a:ea typeface="楷体" panose="02010609060101010101" charset="-122"/>
                <a:latin typeface="楷体" panose="02010609060101010101" charset="-122"/>
              </a:rPr>
              <a:t>。人形机器人</a:t>
            </a:r>
            <a:r>
              <a:rPr altLang="en-US" lang="zh-CN" b="1" sz="2400">
                <a:solidFill>
                  <a:srgbClr val="FF0000"/>
                </a:solidFill>
                <a:ea typeface="楷体" panose="02010609060101010101" charset="-122"/>
                <a:latin typeface="楷体" panose="02010609060101010101" charset="-122"/>
              </a:rPr>
              <a:t>产业链高度复杂</a:t>
            </a:r>
            <a:r>
              <a:rPr altLang="en-US" lang="zh-CN" b="1" sz="2400">
                <a:ea typeface="楷体" panose="02010609060101010101" charset="-122"/>
                <a:latin typeface="楷体" panose="02010609060101010101" charset="-122"/>
              </a:rPr>
              <a:t>，人形机器人产品呈现出高度的</a:t>
            </a:r>
            <a:r>
              <a:rPr altLang="en-US" lang="zh-CN" b="1" sz="2400">
                <a:solidFill>
                  <a:srgbClr val="FF0000"/>
                </a:solidFill>
                <a:ea typeface="楷体" panose="02010609060101010101" charset="-122"/>
                <a:latin typeface="楷体" panose="02010609060101010101" charset="-122"/>
              </a:rPr>
              <a:t>定制化倾向</a:t>
            </a:r>
            <a:r>
              <a:rPr altLang="en-US" lang="zh-CN" b="1" sz="2400">
                <a:ea typeface="楷体" panose="02010609060101010101" charset="-122"/>
                <a:latin typeface="楷体" panose="02010609060101010101" charset="-122"/>
              </a:rPr>
              <a:t>，缺乏真正通用的</a:t>
            </a:r>
            <a:r>
              <a:rPr altLang="en-US" lang="zh-CN" b="1" sz="2400">
                <a:solidFill>
                  <a:srgbClr val="FF0000"/>
                </a:solidFill>
                <a:ea typeface="楷体" panose="02010609060101010101" charset="-122"/>
                <a:latin typeface="楷体" panose="02010609060101010101" charset="-122"/>
              </a:rPr>
              <a:t>零部件</a:t>
            </a:r>
            <a:r>
              <a:rPr altLang="en-US" lang="zh-CN" b="1" sz="2400">
                <a:ea typeface="楷体" panose="02010609060101010101" charset="-122"/>
                <a:latin typeface="楷体" panose="02010609060101010101" charset="-122"/>
              </a:rPr>
              <a:t>，导致成本居高不下。</a:t>
            </a:r>
            <a:endParaRPr altLang="en-US" lang="zh-CN" b="1" sz="2400">
              <a:ea typeface="楷体" panose="02010609060101010101" charset="-122"/>
              <a:latin typeface="楷体" panose="02010609060101010101" charset="-122"/>
            </a:endParaRPr>
          </a:p>
          <a:p>
            <a:pPr indent="266700" algn="l" defTabSz="266700" fontAlgn="auto">
              <a:lnSpc>
                <a:spcPct val="100000"/>
              </a:lnSpc>
              <a:spcBef>
                <a:spcPct val="0"/>
              </a:spcBef>
              <a:spcAft>
                <a:spcPct val="0"/>
              </a:spcAft>
            </a:pPr>
            <a:r>
              <a:rPr altLang="zh-CN" lang="en-US" b="1" sz="2400">
                <a:ea typeface="楷体" panose="02010609060101010101" charset="-122"/>
                <a:latin typeface="楷体" panose="02010609060101010101" charset="-122"/>
              </a:rPr>
              <a:t>  </a:t>
            </a:r>
            <a:r>
              <a:rPr altLang="en-US" lang="zh-CN" b="1" sz="2400">
                <a:ea typeface="楷体" panose="02010609060101010101" charset="-122"/>
                <a:latin typeface="楷体" panose="02010609060101010101" charset="-122"/>
              </a:rPr>
              <a:t>在工厂环节，只有</a:t>
            </a:r>
            <a:r>
              <a:rPr altLang="en-US" lang="zh-CN" b="1" sz="2400">
                <a:solidFill>
                  <a:srgbClr val="FF0000"/>
                </a:solidFill>
                <a:ea typeface="楷体" panose="02010609060101010101" charset="-122"/>
                <a:latin typeface="楷体" panose="02010609060101010101" charset="-122"/>
              </a:rPr>
              <a:t>少部分先进工厂开始探索</a:t>
            </a:r>
            <a:r>
              <a:rPr altLang="en-US" lang="zh-CN" b="1" sz="2400">
                <a:ea typeface="楷体" panose="02010609060101010101" charset="-122"/>
                <a:latin typeface="楷体" panose="02010609060101010101" charset="-122"/>
              </a:rPr>
              <a:t>在某些工作流程中使用人形机器人，更多走进生产线可能在未来三到五年实现；而真正走进人们的生活，需要更高的精确度和安全性，所需时间会更长。</a:t>
            </a:r>
            <a:endParaRPr altLang="en-US" lang="zh-CN" b="1" sz="2400">
              <a:ea typeface="楷体" panose="02010609060101010101" charset="-122"/>
              <a:latin typeface="楷体" panose="02010609060101010101" charset="-122"/>
            </a:endParaRPr>
          </a:p>
          <a:p>
            <a:pPr indent="0" algn="l" defTabSz="266700" fontAlgn="auto">
              <a:lnSpc>
                <a:spcPct val="100000"/>
              </a:lnSpc>
              <a:spcBef>
                <a:spcPct val="0"/>
              </a:spcBef>
              <a:spcAft>
                <a:spcPct val="0"/>
              </a:spcAft>
            </a:pPr>
            <a:r>
              <a:rPr altLang="en-US" lang="zh-CN" b="1" sz="2400">
                <a:ea typeface="楷体" panose="02010609060101010101" charset="-122"/>
                <a:latin typeface="楷体" panose="02010609060101010101" charset="-122"/>
              </a:rPr>
              <a:t>人形机器人的应用首先要保证可靠性和稳定性，由于目前</a:t>
            </a:r>
            <a:r>
              <a:rPr altLang="en-US" lang="zh-CN" b="1" sz="2400">
                <a:solidFill>
                  <a:srgbClr val="FF0000"/>
                </a:solidFill>
                <a:ea typeface="楷体" panose="02010609060101010101" charset="-122"/>
                <a:latin typeface="楷体" panose="02010609060101010101" charset="-122"/>
              </a:rPr>
              <a:t>这方面尚未完全成熟</a:t>
            </a:r>
            <a:r>
              <a:rPr altLang="en-US" lang="zh-CN" b="1" sz="2400">
                <a:ea typeface="楷体" panose="02010609060101010101" charset="-122"/>
                <a:latin typeface="楷体" panose="02010609060101010101" charset="-122"/>
              </a:rPr>
              <a:t>，人形机器人更适合那些容错率较高的场合。专家建议要尽快完善人形机器人的</a:t>
            </a:r>
            <a:r>
              <a:rPr altLang="en-US" lang="zh-CN" b="1" sz="2400">
                <a:solidFill>
                  <a:srgbClr val="FF0000"/>
                </a:solidFill>
                <a:ea typeface="楷体" panose="02010609060101010101" charset="-122"/>
                <a:latin typeface="楷体" panose="02010609060101010101" charset="-122"/>
              </a:rPr>
              <a:t>相关标准</a:t>
            </a:r>
            <a:r>
              <a:rPr altLang="en-US" lang="zh-CN" b="1" sz="2400">
                <a:ea typeface="楷体" panose="02010609060101010101" charset="-122"/>
                <a:latin typeface="楷体" panose="02010609060101010101" charset="-122"/>
              </a:rPr>
              <a:t>，不断开放应用场景，让人形机器人“先应用起来”。</a:t>
            </a:r>
            <a:endParaRPr altLang="en-US" lang="zh-CN" b="1" sz="2400">
              <a:ea typeface="楷体" panose="02010609060101010101" charset="-122"/>
              <a:latin typeface="楷体" panose="02010609060101010101" charset="-122"/>
            </a:endParaRPr>
          </a:p>
          <a:p>
            <a:pPr indent="266700" algn="l" defTabSz="266700" fontAlgn="auto">
              <a:lnSpc>
                <a:spcPct val="100000"/>
              </a:lnSpc>
              <a:spcBef>
                <a:spcPct val="0"/>
              </a:spcBef>
              <a:spcAft>
                <a:spcPct val="0"/>
              </a:spcAft>
            </a:pPr>
            <a:r>
              <a:rPr altLang="en-US" lang="zh-CN" b="1" sz="2400">
                <a:ea typeface="宋体" panose="02010600030101010101" pitchFamily="2" charset="-122"/>
                <a:latin typeface="宋体" panose="02010600030101010101" pitchFamily="2" charset="-122"/>
              </a:rPr>
              <a:t>（</a:t>
            </a:r>
            <a:r>
              <a:rPr altLang="zh-CN" lang="en-US" b="1" sz="2400">
                <a:ea typeface="宋体" panose="02010600030101010101" pitchFamily="2" charset="-122"/>
                <a:latin typeface="宋体" panose="02010600030101010101" pitchFamily="2" charset="-122"/>
              </a:rPr>
              <a:t>2</a:t>
            </a:r>
            <a:r>
              <a:rPr altLang="en-US" lang="zh-CN" b="1" sz="2400">
                <a:ea typeface="宋体" panose="02010600030101010101" pitchFamily="2" charset="-122"/>
                <a:latin typeface="宋体" panose="02010600030101010101" pitchFamily="2" charset="-122"/>
              </a:rPr>
              <a:t>）结合材料二，运用</a:t>
            </a:r>
            <a:r>
              <a:rPr altLang="zh-CN" lang="en-US" b="1" sz="2400">
                <a:ea typeface="宋体" panose="02010600030101010101" pitchFamily="2" charset="-122"/>
                <a:latin typeface="宋体" panose="02010600030101010101" pitchFamily="2" charset="-122"/>
              </a:rPr>
              <a:t>《</a:t>
            </a:r>
            <a:r>
              <a:rPr altLang="en-US" lang="zh-CN" b="1" sz="2400">
                <a:ea typeface="宋体" panose="02010600030101010101" pitchFamily="2" charset="-122"/>
                <a:latin typeface="宋体" panose="02010600030101010101" pitchFamily="2" charset="-122"/>
              </a:rPr>
              <a:t>经济与社会</a:t>
            </a:r>
            <a:r>
              <a:rPr altLang="zh-CN" lang="en-US" b="1" sz="2400">
                <a:ea typeface="宋体" panose="02010600030101010101" pitchFamily="2" charset="-122"/>
                <a:latin typeface="宋体" panose="02010600030101010101" pitchFamily="2" charset="-122"/>
              </a:rPr>
              <a:t>》</a:t>
            </a:r>
            <a:r>
              <a:rPr altLang="en-US" lang="zh-CN" b="1" sz="2400">
                <a:ea typeface="宋体" panose="02010600030101010101" pitchFamily="2" charset="-122"/>
                <a:latin typeface="宋体" panose="02010600030101010101" pitchFamily="2" charset="-122"/>
              </a:rPr>
              <a:t>知识，说明如何加快人形机器人服务于生产生活的进程。（</a:t>
            </a:r>
            <a:r>
              <a:rPr altLang="zh-CN" lang="en-US" b="1" sz="2400">
                <a:ea typeface="宋体" panose="02010600030101010101" pitchFamily="2" charset="-122"/>
                <a:latin typeface="宋体" panose="02010600030101010101" pitchFamily="2" charset="-122"/>
              </a:rPr>
              <a:t>7</a:t>
            </a:r>
            <a:r>
              <a:rPr altLang="en-US" lang="zh-CN" b="1" sz="2400">
                <a:ea typeface="宋体" panose="02010600030101010101" pitchFamily="2" charset="-122"/>
                <a:latin typeface="宋体" panose="02010600030101010101" pitchFamily="2" charset="-122"/>
              </a:rPr>
              <a:t>分）</a:t>
            </a:r>
            <a:endParaRPr altLang="en-US" lang="zh-CN" b="1" sz="2400">
              <a:ea typeface="宋体" panose="02010600030101010101" pitchFamily="2" charset="-122"/>
              <a:latin typeface="宋体" panose="02010600030101010101" pitchFamily="2" charset="-122"/>
            </a:endParaRPr>
          </a:p>
        </p:txBody>
      </p:sp>
    </p:spTree>
    <p:custDataLst>
      <p:tags r:id="rId1"/>
    </p:custDataLst>
  </p:cSld>
  <p:clrMapOvr>
    <a:masterClrMapping/>
  </p:clrMapOvr>
</p:sld>
</file>

<file path=ppt/slides/slide2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532130" y="1471295"/>
            <a:ext cx="11197590" cy="3969385"/>
          </a:xfrm>
          <a:prstGeom prst="rect">
            <a:avLst/>
          </a:prstGeom>
        </p:spPr>
        <p:txBody>
          <a:bodyPr wrap="square">
            <a:spAutoFit/>
          </a:bodyPr>
          <a:p>
            <a:pPr indent="320040" algn="l" defTabSz="266700" eaLnBrk="0" fontAlgn="auto">
              <a:lnSpc>
                <a:spcPct val="100000"/>
              </a:lnSpc>
              <a:spcBef>
                <a:spcPct val="0"/>
              </a:spcBef>
              <a:spcAft>
                <a:spcPct val="0"/>
              </a:spcAft>
            </a:pPr>
            <a:r>
              <a:rPr altLang="zh-CN" lang="en-US" b="1" sz="2800">
                <a:solidFill>
                  <a:schemeClr val="tx1"/>
                </a:solidFill>
                <a:ea typeface="宋体" panose="02010600030101010101" pitchFamily="2" charset="-122"/>
                <a:latin typeface="宋体" panose="02010600030101010101" pitchFamily="2" charset="-122"/>
              </a:rPr>
              <a:t>①</a:t>
            </a:r>
            <a:r>
              <a:rPr altLang="en-US" lang="zh-CN" b="1" sz="2800">
                <a:solidFill>
                  <a:schemeClr val="tx1"/>
                </a:solidFill>
                <a:ea typeface="宋体" panose="02010600030101010101" pitchFamily="2" charset="-122"/>
                <a:latin typeface="宋体" panose="02010600030101010101" pitchFamily="2" charset="-122"/>
              </a:rPr>
              <a:t>企业加大技术创新与研发，降低人形机器人制造成本，提高产品的可靠性和稳定性，使其能够更好地适应复杂多变的应用场景。（</a:t>
            </a:r>
            <a:r>
              <a:rPr altLang="zh-CN" lang="en-US" b="1" sz="2800">
                <a:solidFill>
                  <a:schemeClr val="tx1"/>
                </a:solidFill>
                <a:ea typeface="宋体" panose="02010600030101010101" pitchFamily="2" charset="-122"/>
                <a:latin typeface="宋体" panose="02010600030101010101" pitchFamily="2" charset="-122"/>
              </a:rPr>
              <a:t>2</a:t>
            </a:r>
            <a:r>
              <a:rPr altLang="en-US" lang="zh-CN" b="1" sz="2800">
                <a:solidFill>
                  <a:schemeClr val="tx1"/>
                </a:solidFill>
                <a:ea typeface="宋体" panose="02010600030101010101" pitchFamily="2" charset="-122"/>
                <a:latin typeface="宋体" panose="02010600030101010101" pitchFamily="2" charset="-122"/>
              </a:rPr>
              <a:t>分）</a:t>
            </a:r>
            <a:endParaRPr altLang="en-US" lang="zh-CN" b="1" sz="2800">
              <a:solidFill>
                <a:schemeClr val="tx1"/>
              </a:solidFill>
              <a:ea typeface="宋体" panose="02010600030101010101" pitchFamily="2" charset="-122"/>
              <a:latin typeface="宋体" panose="02010600030101010101" pitchFamily="2" charset="-122"/>
            </a:endParaRPr>
          </a:p>
          <a:p>
            <a:pPr indent="320040" algn="l" defTabSz="266700" eaLnBrk="0" fontAlgn="auto">
              <a:lnSpc>
                <a:spcPct val="100000"/>
              </a:lnSpc>
              <a:spcBef>
                <a:spcPct val="0"/>
              </a:spcBef>
              <a:spcAft>
                <a:spcPct val="0"/>
              </a:spcAft>
            </a:pPr>
            <a:r>
              <a:rPr altLang="zh-CN" lang="en-US" b="1" sz="2800">
                <a:solidFill>
                  <a:schemeClr val="tx1"/>
                </a:solidFill>
                <a:ea typeface="宋体" panose="02010600030101010101" pitchFamily="2" charset="-122"/>
                <a:latin typeface="宋体" panose="02010600030101010101" pitchFamily="2" charset="-122"/>
              </a:rPr>
              <a:t>②</a:t>
            </a:r>
            <a:r>
              <a:rPr altLang="en-US" lang="zh-CN" b="1" sz="2800">
                <a:solidFill>
                  <a:schemeClr val="tx1"/>
                </a:solidFill>
                <a:ea typeface="宋体" panose="02010600030101010101" pitchFamily="2" charset="-122"/>
                <a:latin typeface="宋体" panose="02010600030101010101" pitchFamily="2" charset="-122"/>
              </a:rPr>
              <a:t>产业链上下游企业加强协同合作，推动人形机器人零部件的通用化和模块化，提高生产规模和效率，降低生产成本。（</a:t>
            </a:r>
            <a:r>
              <a:rPr altLang="zh-CN" lang="en-US" b="1" sz="2800">
                <a:solidFill>
                  <a:schemeClr val="tx1"/>
                </a:solidFill>
                <a:ea typeface="宋体" panose="02010600030101010101" pitchFamily="2" charset="-122"/>
                <a:latin typeface="宋体" panose="02010600030101010101" pitchFamily="2" charset="-122"/>
              </a:rPr>
              <a:t>1</a:t>
            </a:r>
            <a:r>
              <a:rPr altLang="en-US" lang="zh-CN" b="1" sz="2800">
                <a:solidFill>
                  <a:schemeClr val="tx1"/>
                </a:solidFill>
                <a:ea typeface="宋体" panose="02010600030101010101" pitchFamily="2" charset="-122"/>
                <a:latin typeface="宋体" panose="02010600030101010101" pitchFamily="2" charset="-122"/>
              </a:rPr>
              <a:t>分）</a:t>
            </a:r>
            <a:endParaRPr altLang="en-US" lang="zh-CN" b="1" sz="2800">
              <a:solidFill>
                <a:schemeClr val="tx1"/>
              </a:solidFill>
              <a:ea typeface="宋体" panose="02010600030101010101" pitchFamily="2" charset="-122"/>
              <a:latin typeface="宋体" panose="02010600030101010101" pitchFamily="2" charset="-122"/>
            </a:endParaRPr>
          </a:p>
          <a:p>
            <a:pPr indent="320040" algn="l" defTabSz="266700" eaLnBrk="0" fontAlgn="auto">
              <a:lnSpc>
                <a:spcPct val="100000"/>
              </a:lnSpc>
              <a:spcBef>
                <a:spcPct val="0"/>
              </a:spcBef>
              <a:spcAft>
                <a:spcPct val="0"/>
              </a:spcAft>
            </a:pPr>
            <a:r>
              <a:rPr altLang="zh-CN" lang="en-US" b="1" sz="2800">
                <a:solidFill>
                  <a:schemeClr val="tx1"/>
                </a:solidFill>
                <a:ea typeface="宋体" panose="02010600030101010101" pitchFamily="2" charset="-122"/>
                <a:latin typeface="宋体" panose="02010600030101010101" pitchFamily="2" charset="-122"/>
              </a:rPr>
              <a:t>③</a:t>
            </a:r>
            <a:r>
              <a:rPr altLang="en-US" lang="zh-CN" b="1" sz="2800">
                <a:solidFill>
                  <a:schemeClr val="tx1"/>
                </a:solidFill>
                <a:ea typeface="宋体" panose="02010600030101010101" pitchFamily="2" charset="-122"/>
                <a:latin typeface="宋体" panose="02010600030101010101" pitchFamily="2" charset="-122"/>
              </a:rPr>
              <a:t>国家制定和完善相关标准，推动人形机器人在生产生活中的应用，积累经验，优化产品性能，提升用户体验，加快服务生产生活。（</a:t>
            </a:r>
            <a:r>
              <a:rPr altLang="zh-CN" lang="en-US" b="1" sz="2800">
                <a:solidFill>
                  <a:schemeClr val="tx1"/>
                </a:solidFill>
                <a:ea typeface="宋体" panose="02010600030101010101" pitchFamily="2" charset="-122"/>
                <a:latin typeface="宋体" panose="02010600030101010101" pitchFamily="2" charset="-122"/>
              </a:rPr>
              <a:t>2</a:t>
            </a:r>
            <a:r>
              <a:rPr altLang="en-US" lang="zh-CN" b="1" sz="2800">
                <a:solidFill>
                  <a:schemeClr val="tx1"/>
                </a:solidFill>
                <a:ea typeface="宋体" panose="02010600030101010101" pitchFamily="2" charset="-122"/>
                <a:latin typeface="宋体" panose="02010600030101010101" pitchFamily="2" charset="-122"/>
              </a:rPr>
              <a:t>分）</a:t>
            </a:r>
            <a:endParaRPr altLang="en-US" lang="zh-CN" b="1" sz="2800">
              <a:solidFill>
                <a:schemeClr val="tx1"/>
              </a:solidFill>
              <a:ea typeface="宋体" panose="02010600030101010101" pitchFamily="2" charset="-122"/>
              <a:latin typeface="宋体" panose="02010600030101010101" pitchFamily="2" charset="-122"/>
            </a:endParaRPr>
          </a:p>
          <a:p>
            <a:pPr indent="0" algn="just" defTabSz="266700" fontAlgn="auto">
              <a:lnSpc>
                <a:spcPct val="100000"/>
              </a:lnSpc>
              <a:spcBef>
                <a:spcPct val="0"/>
              </a:spcBef>
              <a:spcAft>
                <a:spcPct val="0"/>
              </a:spcAft>
            </a:pPr>
            <a:r>
              <a:rPr altLang="zh-CN" lang="en-US" b="1" sz="2800">
                <a:solidFill>
                  <a:schemeClr val="tx1"/>
                </a:solidFill>
                <a:ea typeface="宋体" panose="02010600030101010101" pitchFamily="2" charset="-122"/>
                <a:latin typeface="宋体" panose="02010600030101010101" pitchFamily="2" charset="-122"/>
              </a:rPr>
              <a:t>  ④</a:t>
            </a:r>
            <a:r>
              <a:rPr altLang="en-US" lang="zh-CN" b="1" sz="2800">
                <a:solidFill>
                  <a:schemeClr val="tx1"/>
                </a:solidFill>
                <a:ea typeface="宋体" panose="02010600030101010101" pitchFamily="2" charset="-122"/>
                <a:latin typeface="宋体" panose="02010600030101010101" pitchFamily="2" charset="-122"/>
              </a:rPr>
              <a:t>政府履行经济职能，制定和实施产业政策，提供资金、税收等方面的优惠，鼓励企业加大研发投入，鼓励企业和消费者使用人形机器人。（</a:t>
            </a:r>
            <a:r>
              <a:rPr altLang="zh-CN" lang="en-US" b="1" sz="2800">
                <a:solidFill>
                  <a:schemeClr val="tx1"/>
                </a:solidFill>
                <a:ea typeface="宋体" panose="02010600030101010101" pitchFamily="2" charset="-122"/>
                <a:latin typeface="宋体" panose="02010600030101010101" pitchFamily="2" charset="-122"/>
              </a:rPr>
              <a:t>2</a:t>
            </a:r>
            <a:r>
              <a:rPr altLang="en-US" lang="zh-CN" b="1" sz="2800">
                <a:solidFill>
                  <a:schemeClr val="tx1"/>
                </a:solidFill>
                <a:ea typeface="宋体" panose="02010600030101010101" pitchFamily="2" charset="-122"/>
                <a:latin typeface="宋体" panose="02010600030101010101" pitchFamily="2" charset="-122"/>
              </a:rPr>
              <a:t>分）</a:t>
            </a:r>
            <a:endParaRPr altLang="en-US" lang="zh-CN" b="1" sz="2800">
              <a:solidFill>
                <a:schemeClr val="tx1"/>
              </a:solidFill>
              <a:ea typeface="宋体" panose="02010600030101010101" pitchFamily="2" charset="-122"/>
              <a:latin typeface="宋体" panose="02010600030101010101" pitchFamily="2" charset="-122"/>
            </a:endParaRPr>
          </a:p>
        </p:txBody>
      </p:sp>
    </p:spTree>
    <p:custDataLst>
      <p:tags r:id="rId1"/>
    </p:custDataLst>
  </p:cSld>
  <p:clrMapOvr>
    <a:masterClrMapping/>
  </p:clrMapOvr>
</p:sld>
</file>

<file path=ppt/slides/slide2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229870" y="-47625"/>
            <a:ext cx="11864340" cy="4154170"/>
          </a:xfrm>
          <a:prstGeom prst="rect">
            <a:avLst/>
          </a:prstGeom>
        </p:spPr>
        <p:txBody>
          <a:bodyPr wrap="square">
            <a:spAutoFit/>
          </a:bodyPr>
          <a:p>
            <a:pPr marL="0" indent="0" algn="just" defTabSz="266700">
              <a:spcBef>
                <a:spcPct val="0"/>
              </a:spcBef>
              <a:spcAft>
                <a:spcPct val="0"/>
              </a:spcAft>
            </a:pPr>
            <a:r>
              <a:rPr altLang="zh-CN" lang="en-US" b="1" sz="2400">
                <a:ea typeface="宋体" panose="02010600030101010101" pitchFamily="2" charset="-122"/>
                <a:latin typeface="宋体" panose="02010600030101010101" pitchFamily="2" charset="-122"/>
              </a:rPr>
              <a:t>19. </a:t>
            </a:r>
            <a:r>
              <a:rPr altLang="en-US" lang="zh-CN" b="1" sz="2400">
                <a:ea typeface="宋体" panose="02010600030101010101" pitchFamily="2" charset="-122"/>
                <a:latin typeface="宋体" panose="02010600030101010101" pitchFamily="2" charset="-122"/>
              </a:rPr>
              <a:t>（</a:t>
            </a:r>
            <a:r>
              <a:rPr altLang="zh-CN" lang="en-US" b="1" sz="2400">
                <a:ea typeface="宋体" panose="02010600030101010101" pitchFamily="2" charset="-122"/>
                <a:latin typeface="宋体" panose="02010600030101010101" pitchFamily="2" charset="-122"/>
              </a:rPr>
              <a:t>8</a:t>
            </a:r>
            <a:r>
              <a:rPr altLang="en-US" lang="zh-CN" b="1" sz="2400">
                <a:ea typeface="宋体" panose="02010600030101010101" pitchFamily="2" charset="-122"/>
                <a:latin typeface="宋体" panose="02010600030101010101" pitchFamily="2" charset="-122"/>
              </a:rPr>
              <a:t>分）</a:t>
            </a:r>
            <a:endParaRPr altLang="en-US" lang="zh-CN" b="1" sz="2400">
              <a:ea typeface="宋体" panose="02010600030101010101" pitchFamily="2" charset="-122"/>
              <a:latin typeface="宋体" panose="02010600030101010101" pitchFamily="2" charset="-122"/>
            </a:endParaRPr>
          </a:p>
          <a:p>
            <a:pPr marL="0" indent="266700" algn="just" defTabSz="266700">
              <a:spcBef>
                <a:spcPct val="0"/>
              </a:spcBef>
              <a:spcAft>
                <a:spcPct val="0"/>
              </a:spcAft>
            </a:pPr>
            <a:r>
              <a:rPr altLang="en-US" lang="zh-CN" b="1" sz="2400">
                <a:ea typeface="楷体" panose="02010609060101010101" charset="-122"/>
                <a:latin typeface="楷体" panose="02010609060101010101" charset="-122"/>
              </a:rPr>
              <a:t>司法护航，营造在线文旅消费法治环境。</a:t>
            </a:r>
            <a:endParaRPr altLang="en-US" lang="zh-CN" b="1" sz="2400">
              <a:ea typeface="楷体" panose="02010609060101010101" charset="-122"/>
              <a:latin typeface="楷体" panose="02010609060101010101" charset="-122"/>
            </a:endParaRPr>
          </a:p>
          <a:p>
            <a:pPr marL="0" indent="266700" algn="just" defTabSz="266700">
              <a:spcBef>
                <a:spcPct val="0"/>
              </a:spcBef>
              <a:spcAft>
                <a:spcPct val="0"/>
              </a:spcAft>
            </a:pPr>
            <a:r>
              <a:rPr altLang="en-US" lang="zh-CN" b="1" sz="2400">
                <a:ea typeface="楷体" panose="02010609060101010101" charset="-122"/>
                <a:latin typeface="楷体" panose="02010609060101010101" charset="-122"/>
              </a:rPr>
              <a:t>某市互联网法院召开涉在线文化旅游消费案件审理情况新闻发布会，介绍涉在线文化旅游消费案件的审理情况，发布典型案例。以下为其中一例：</a:t>
            </a:r>
            <a:endParaRPr altLang="en-US" lang="zh-CN" b="1" sz="2400">
              <a:ea typeface="楷体" panose="02010609060101010101" charset="-122"/>
              <a:latin typeface="楷体" panose="02010609060101010101" charset="-122"/>
            </a:endParaRPr>
          </a:p>
          <a:p>
            <a:pPr marL="0" indent="266700" algn="just" defTabSz="266700">
              <a:spcBef>
                <a:spcPct val="0"/>
              </a:spcBef>
              <a:spcAft>
                <a:spcPct val="0"/>
              </a:spcAft>
            </a:pPr>
            <a:r>
              <a:rPr altLang="en-US" lang="zh-CN" b="1" sz="2400">
                <a:ea typeface="楷体" panose="02010609060101010101" charset="-122"/>
                <a:latin typeface="楷体" panose="02010609060101010101" charset="-122"/>
              </a:rPr>
              <a:t>王某通过</a:t>
            </a:r>
            <a:r>
              <a:rPr altLang="zh-CN" lang="en-US" b="1" sz="2400">
                <a:ea typeface="楷体" panose="02010609060101010101" charset="-122"/>
                <a:latin typeface="楷体" panose="02010609060101010101" charset="-122"/>
              </a:rPr>
              <a:t>A</a:t>
            </a:r>
            <a:r>
              <a:rPr altLang="en-US" lang="zh-CN" b="1" sz="2400">
                <a:ea typeface="楷体" panose="02010609060101010101" charset="-122"/>
                <a:latin typeface="楷体" panose="02010609060101010101" charset="-122"/>
              </a:rPr>
              <a:t>机票代销平台公司（以下简称“</a:t>
            </a:r>
            <a:r>
              <a:rPr altLang="zh-CN" lang="en-US" b="1" sz="2400">
                <a:ea typeface="楷体" panose="02010609060101010101" charset="-122"/>
                <a:latin typeface="楷体" panose="02010609060101010101" charset="-122"/>
              </a:rPr>
              <a:t>A</a:t>
            </a:r>
            <a:r>
              <a:rPr altLang="en-US" lang="zh-CN" b="1" sz="2400">
                <a:ea typeface="楷体" panose="02010609060101010101" charset="-122"/>
                <a:latin typeface="楷体" panose="02010609060101010101" charset="-122"/>
              </a:rPr>
              <a:t>公司”）购买青岛至宁波的机票，页面显示总价</a:t>
            </a:r>
            <a:r>
              <a:rPr altLang="zh-CN" lang="en-US" b="1" sz="2400">
                <a:ea typeface="楷体" panose="02010609060101010101" charset="-122"/>
                <a:latin typeface="楷体" panose="02010609060101010101" charset="-122"/>
              </a:rPr>
              <a:t>350</a:t>
            </a:r>
            <a:r>
              <a:rPr altLang="en-US" lang="zh-CN" b="1" sz="2400">
                <a:ea typeface="楷体" panose="02010609060101010101" charset="-122"/>
                <a:latin typeface="楷体" panose="02010609060101010101" charset="-122"/>
              </a:rPr>
              <a:t>元（含基建燃油费</a:t>
            </a:r>
            <a:r>
              <a:rPr altLang="zh-CN" lang="en-US" b="1" sz="2400">
                <a:ea typeface="楷体" panose="02010609060101010101" charset="-122"/>
                <a:latin typeface="楷体" panose="02010609060101010101" charset="-122"/>
              </a:rPr>
              <a:t>70</a:t>
            </a:r>
            <a:r>
              <a:rPr altLang="en-US" lang="zh-CN" b="1" sz="2400">
                <a:ea typeface="楷体" panose="02010609060101010101" charset="-122"/>
                <a:latin typeface="楷体" panose="02010609060101010101" charset="-122"/>
              </a:rPr>
              <a:t>元），优惠</a:t>
            </a:r>
            <a:r>
              <a:rPr altLang="zh-CN" lang="en-US" b="1" sz="2400">
                <a:ea typeface="楷体" panose="02010609060101010101" charset="-122"/>
                <a:latin typeface="楷体" panose="02010609060101010101" charset="-122"/>
              </a:rPr>
              <a:t>40</a:t>
            </a:r>
            <a:r>
              <a:rPr altLang="en-US" lang="zh-CN" b="1" sz="2400">
                <a:ea typeface="楷体" panose="02010609060101010101" charset="-122"/>
                <a:latin typeface="楷体" panose="02010609060101010101" charset="-122"/>
              </a:rPr>
              <a:t>元后实付</a:t>
            </a:r>
            <a:r>
              <a:rPr altLang="zh-CN" lang="en-US" b="1" sz="2400">
                <a:ea typeface="楷体" panose="02010609060101010101" charset="-122"/>
                <a:latin typeface="楷体" panose="02010609060101010101" charset="-122"/>
              </a:rPr>
              <a:t>310</a:t>
            </a:r>
            <a:r>
              <a:rPr altLang="en-US" lang="zh-CN" b="1" sz="2400">
                <a:ea typeface="楷体" panose="02010609060101010101" charset="-122"/>
                <a:latin typeface="楷体" panose="02010609060101010101" charset="-122"/>
              </a:rPr>
              <a:t>元。事后，王某在航空公司官网查验发现，机票实际总价为</a:t>
            </a:r>
            <a:r>
              <a:rPr altLang="zh-CN" lang="en-US" b="1" sz="2400">
                <a:ea typeface="楷体" panose="02010609060101010101" charset="-122"/>
                <a:latin typeface="楷体" panose="02010609060101010101" charset="-122"/>
              </a:rPr>
              <a:t>300</a:t>
            </a:r>
            <a:r>
              <a:rPr altLang="en-US" lang="zh-CN" b="1" sz="2400">
                <a:ea typeface="楷体" panose="02010609060101010101" charset="-122"/>
                <a:latin typeface="楷体" panose="02010609060101010101" charset="-122"/>
              </a:rPr>
              <a:t>元。经查，</a:t>
            </a:r>
            <a:r>
              <a:rPr altLang="zh-CN" lang="en-US" b="1" sz="2400">
                <a:ea typeface="楷体" panose="02010609060101010101" charset="-122"/>
                <a:latin typeface="楷体" panose="02010609060101010101" charset="-122"/>
              </a:rPr>
              <a:t>A</a:t>
            </a:r>
            <a:r>
              <a:rPr altLang="en-US" lang="zh-CN" b="1" sz="2400">
                <a:ea typeface="楷体" panose="02010609060101010101" charset="-122"/>
                <a:latin typeface="楷体" panose="02010609060101010101" charset="-122"/>
              </a:rPr>
              <a:t>公司在向王某销售机票的过程中通过技术手段擅自搭售了</a:t>
            </a:r>
            <a:r>
              <a:rPr altLang="zh-CN" lang="en-US" b="1" sz="2400">
                <a:ea typeface="楷体" panose="02010609060101010101" charset="-122"/>
                <a:latin typeface="楷体" panose="02010609060101010101" charset="-122"/>
              </a:rPr>
              <a:t>10</a:t>
            </a:r>
            <a:r>
              <a:rPr altLang="en-US" lang="zh-CN" b="1" sz="2400">
                <a:ea typeface="楷体" panose="02010609060101010101" charset="-122"/>
                <a:latin typeface="楷体" panose="02010609060101010101" charset="-122"/>
              </a:rPr>
              <a:t>元的外卖红包，王某在购买界面并不能清楚地知悉费用的支出细节，也无法拒绝支付</a:t>
            </a:r>
            <a:r>
              <a:rPr altLang="zh-CN" lang="en-US" b="1" sz="2400">
                <a:ea typeface="楷体" panose="02010609060101010101" charset="-122"/>
                <a:latin typeface="楷体" panose="02010609060101010101" charset="-122"/>
              </a:rPr>
              <a:t>10</a:t>
            </a:r>
            <a:r>
              <a:rPr altLang="en-US" lang="zh-CN" b="1" sz="2400">
                <a:ea typeface="楷体" panose="02010609060101010101" charset="-122"/>
                <a:latin typeface="楷体" panose="02010609060101010101" charset="-122"/>
              </a:rPr>
              <a:t>元的额外费用。</a:t>
            </a:r>
            <a:endParaRPr altLang="en-US" lang="zh-CN" b="1" sz="2400">
              <a:ea typeface="楷体" panose="02010609060101010101" charset="-122"/>
              <a:latin typeface="楷体" panose="02010609060101010101" charset="-122"/>
            </a:endParaRPr>
          </a:p>
          <a:p>
            <a:pPr marL="0" indent="266700" algn="just" defTabSz="266700">
              <a:spcBef>
                <a:spcPct val="0"/>
              </a:spcBef>
              <a:spcAft>
                <a:spcPct val="0"/>
              </a:spcAft>
            </a:pPr>
            <a:r>
              <a:rPr altLang="en-US" lang="zh-CN" b="1" sz="2400">
                <a:ea typeface="楷体" panose="02010609060101010101" charset="-122"/>
                <a:latin typeface="楷体" panose="02010609060101010101" charset="-122"/>
              </a:rPr>
              <a:t>王某遂向该市互联网法院提起诉讼，要求</a:t>
            </a:r>
            <a:r>
              <a:rPr altLang="zh-CN" lang="en-US" b="1" sz="2400">
                <a:ea typeface="楷体" panose="02010609060101010101" charset="-122"/>
                <a:latin typeface="楷体" panose="02010609060101010101" charset="-122"/>
              </a:rPr>
              <a:t>A</a:t>
            </a:r>
            <a:r>
              <a:rPr altLang="en-US" lang="zh-CN" b="1" sz="2400">
                <a:ea typeface="楷体" panose="02010609060101010101" charset="-122"/>
                <a:latin typeface="楷体" panose="02010609060101010101" charset="-122"/>
              </a:rPr>
              <a:t>公司退还其支付的票款</a:t>
            </a:r>
            <a:r>
              <a:rPr altLang="zh-CN" lang="en-US" b="1" sz="2400">
                <a:ea typeface="楷体" panose="02010609060101010101" charset="-122"/>
                <a:latin typeface="楷体" panose="02010609060101010101" charset="-122"/>
              </a:rPr>
              <a:t>310</a:t>
            </a:r>
            <a:r>
              <a:rPr altLang="en-US" lang="zh-CN" b="1" sz="2400">
                <a:ea typeface="楷体" panose="02010609060101010101" charset="-122"/>
                <a:latin typeface="楷体" panose="02010609060101010101" charset="-122"/>
              </a:rPr>
              <a:t>元，并予以三倍赔偿。该法院的判决支持了王某的诉讼请求。</a:t>
            </a:r>
            <a:endParaRPr altLang="en-US" lang="zh-CN" b="1" sz="2400">
              <a:ea typeface="楷体" panose="02010609060101010101" charset="-122"/>
              <a:latin typeface="楷体" panose="02010609060101010101" charset="-122"/>
            </a:endParaRPr>
          </a:p>
        </p:txBody>
      </p:sp>
      <p:graphicFrame>
        <p:nvGraphicFramePr>
          <p:cNvPr id="5" name="表格 4"/>
          <p:cNvGraphicFramePr/>
          <p:nvPr>
            <p:custDataLst>
              <p:tags r:id="rId1"/>
            </p:custDataLst>
          </p:nvPr>
        </p:nvGraphicFramePr>
        <p:xfrm>
          <a:off x="1138555" y="4131310"/>
          <a:ext cx="9563735" cy="1828800"/>
        </p:xfrm>
        <a:graphic>
          <a:graphicData uri="http://schemas.openxmlformats.org/drawingml/2006/table">
            <a:tbl>
              <a:tblPr/>
              <a:tblGrid>
                <a:gridCol w="9563735"/>
              </a:tblGrid>
              <a:tr h="1828800">
                <a:tc>
                  <a:txBody>
                    <a:bodyPr/>
                    <a:p>
                      <a:pPr marL="0" indent="0" algn="ctr">
                        <a:spcBef>
                          <a:spcPct val="0"/>
                        </a:spcBef>
                        <a:spcAft>
                          <a:spcPct val="0"/>
                        </a:spcAft>
                      </a:pPr>
                      <a:r>
                        <a:rPr lang="zh-CN" b="1" sz="2400">
                          <a:ea typeface="楷体" panose="02010609060101010101" charset="-122"/>
                          <a:latin typeface="楷体" panose="02010609060101010101" charset="-122"/>
                        </a:rPr>
                        <a:t>《中华人民共和国消费者权益保护法》（节选）</a:t>
                      </a:r>
                      <a:endParaRPr lang="zh-CN" b="1" sz="2400">
                        <a:ea typeface="楷体" panose="02010609060101010101" charset="-122"/>
                        <a:latin typeface="楷体" panose="02010609060101010101" charset="-122"/>
                      </a:endParaRPr>
                    </a:p>
                    <a:p>
                      <a:pPr marL="0" indent="266700" algn="just">
                        <a:spcBef>
                          <a:spcPct val="0"/>
                        </a:spcBef>
                        <a:spcAft>
                          <a:spcPct val="0"/>
                        </a:spcAft>
                      </a:pPr>
                      <a:r>
                        <a:rPr lang="zh-CN" b="1" sz="2400">
                          <a:ea typeface="楷体" panose="02010609060101010101" charset="-122"/>
                          <a:latin typeface="楷体" panose="02010609060101010101" charset="-122"/>
                        </a:rPr>
                        <a:t>第五十五条</a:t>
                      </a:r>
                      <a:r>
                        <a:rPr altLang="en-US" lang="zh-CN" b="1" sz="2400">
                          <a:ea typeface="楷体" panose="02010609060101010101" charset="-122"/>
                          <a:latin typeface="楷体" panose="02010609060101010101" charset="-122"/>
                        </a:rPr>
                        <a:t> </a:t>
                      </a:r>
                      <a:r>
                        <a:rPr lang="zh-CN" b="1" sz="2400">
                          <a:ea typeface="楷体" panose="02010609060101010101" charset="-122"/>
                          <a:latin typeface="楷体" panose="02010609060101010101" charset="-122"/>
                        </a:rPr>
                        <a:t>经营者提供商品或者服务有欺诈行为的，应当按照消费者的要求增加赔偿其受到的损失，增加赔偿的金额为消费者购买商品的价款或者接受服务的费用的三倍；增加赔偿的金额不足五百元的，为五百元。法律另有规定的，依照其规定。</a:t>
                      </a:r>
                      <a:endParaRPr lang="zh-CN" b="1" sz="2400">
                        <a:ea typeface="楷体" panose="02010609060101010101" charset="-122"/>
                        <a:latin typeface="楷体" panose="02010609060101010101" charset="-122"/>
                      </a:endParaRPr>
                    </a:p>
                  </a:txBody>
                  <a:tcPr marL="68580" marR="68580" marT="0" marB="0" anchor="t" anchorCtr="0">
                    <a:lnL w="6350" cmpd="sng">
                      <a:solidFill>
                        <a:srgbClr val="000008"/>
                      </a:solidFill>
                      <a:prstDash val="solid"/>
                      <a:headEnd type="none" w="med" len="med"/>
                      <a:tailEnd type="none" w="med" len="med"/>
                    </a:lnL>
                    <a:lnR w="6350" cmpd="sng">
                      <a:solidFill>
                        <a:srgbClr val="000008"/>
                      </a:solidFill>
                      <a:prstDash val="solid"/>
                      <a:headEnd type="none" w="med" len="med"/>
                      <a:tailEnd type="none" w="med" len="med"/>
                    </a:lnR>
                    <a:lnT w="6350" cmpd="sng">
                      <a:solidFill>
                        <a:srgbClr val="000008"/>
                      </a:solidFill>
                      <a:prstDash val="solid"/>
                      <a:headEnd type="none" w="med" len="med"/>
                      <a:tailEnd type="none" w="med" len="med"/>
                    </a:lnT>
                    <a:lnB w="6350" cmpd="sng">
                      <a:solidFill>
                        <a:srgbClr val="000008"/>
                      </a:solidFill>
                      <a:prstDash val="solid"/>
                      <a:headEnd type="none" w="med" len="med"/>
                      <a:tailEnd type="none" w="med" len="med"/>
                    </a:lnB>
                    <a:noFill/>
                  </a:tcPr>
                </a:tc>
              </a:tr>
            </a:tbl>
          </a:graphicData>
        </a:graphic>
      </p:graphicFrame>
      <p:sp>
        <p:nvSpPr>
          <p:cNvPr id="6" name="文本框 5"/>
          <p:cNvSpPr/>
          <p:nvPr/>
        </p:nvSpPr>
        <p:spPr>
          <a:xfrm>
            <a:off x="441325" y="5691505"/>
            <a:ext cx="11410315" cy="860425"/>
          </a:xfrm>
          <a:prstGeom prst="rect">
            <a:avLst/>
          </a:prstGeom>
        </p:spPr>
        <p:txBody>
          <a:bodyPr wrap="square">
            <a:spAutoFit/>
          </a:bodyPr>
          <a:p>
            <a:pPr/>
            <a:endParaRPr altLang="zh-CN" lang="en-US" sz="2600"/>
          </a:p>
          <a:p>
            <a:pPr marL="0" indent="266700" algn="just" defTabSz="266700">
              <a:spcBef>
                <a:spcPct val="0"/>
              </a:spcBef>
              <a:spcAft>
                <a:spcPct val="0"/>
              </a:spcAft>
            </a:pPr>
            <a:r>
              <a:rPr altLang="en-US" lang="zh-CN" b="1" sz="2400">
                <a:ea typeface="宋体" panose="02010600030101010101" pitchFamily="2" charset="-122"/>
                <a:latin typeface="Calibri" panose="020F0502020204030204"/>
              </a:rPr>
              <a:t>结合材料，运用</a:t>
            </a:r>
            <a:r>
              <a:rPr altLang="zh-CN" lang="en-US" b="1" sz="2400">
                <a:ea typeface="宋体" panose="02010600030101010101" pitchFamily="2" charset="-122"/>
                <a:latin typeface="Calibri" panose="020F0502020204030204"/>
              </a:rPr>
              <a:t>《</a:t>
            </a:r>
            <a:r>
              <a:rPr altLang="en-US" lang="zh-CN" b="1" sz="2400">
                <a:ea typeface="宋体" panose="02010600030101010101" pitchFamily="2" charset="-122"/>
                <a:latin typeface="Calibri" panose="020F0502020204030204"/>
              </a:rPr>
              <a:t>法律与生活</a:t>
            </a:r>
            <a:r>
              <a:rPr altLang="zh-CN" lang="en-US" b="1" sz="2400">
                <a:ea typeface="宋体" panose="02010600030101010101" pitchFamily="2" charset="-122"/>
                <a:latin typeface="Calibri" panose="020F0502020204030204"/>
              </a:rPr>
              <a:t>》</a:t>
            </a:r>
            <a:r>
              <a:rPr altLang="en-US" lang="zh-CN" b="1" sz="2400">
                <a:ea typeface="宋体" panose="02010600030101010101" pitchFamily="2" charset="-122"/>
                <a:latin typeface="Calibri" panose="020F0502020204030204"/>
              </a:rPr>
              <a:t>知识，说明人民法院支持王某的诉讼请求的理由。</a:t>
            </a:r>
            <a:endParaRPr altLang="en-US" lang="zh-CN" b="1" sz="2400">
              <a:ea typeface="宋体" panose="02010600030101010101" pitchFamily="2" charset="-122"/>
              <a:latin typeface="Calibri" panose="020F0502020204030204"/>
            </a:endParaRPr>
          </a:p>
        </p:txBody>
      </p:sp>
    </p:spTree>
    <p:custDataLst>
      <p:tags r:id="rId2"/>
    </p:custDataLst>
  </p:cSld>
  <p:clrMapOvr>
    <a:masterClrMapping/>
  </p:clrMapOvr>
</p:sld>
</file>

<file path=ppt/slides/slide2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240030" y="583565"/>
          <a:ext cx="4748530" cy="5946140"/>
        </p:xfrm>
        <a:graphic>
          <a:graphicData uri="http://schemas.openxmlformats.org/drawingml/2006/table">
            <a:tbl>
              <a:tblPr firstRow="1" bandRow="1">
                <a:tableStyleId>{5C22544A-7EE6-4342-B048-85BDC9FD1C3A}</a:tableStyleId>
              </a:tblPr>
              <a:tblGrid>
                <a:gridCol w="675640"/>
                <a:gridCol w="1421765"/>
                <a:gridCol w="2651125"/>
              </a:tblGrid>
              <a:tr h="803910">
                <a:tc rowSpan="5">
                  <a:txBody>
                    <a:bodyPr/>
                    <a:lstStyle/>
                    <a:p>
                      <a:pPr marL="0" marR="0" indent="0" algn="ctr" defTabSz="685800" rtl="0" eaLnBrk="1" latinLnBrk="0" hangingPunct="1" fontAlgn="auto">
                        <a:lnSpc>
                          <a:spcPct val="100000"/>
                        </a:lnSpc>
                        <a:spcBef>
                          <a:spcPts val="0"/>
                        </a:spcBef>
                        <a:spcAft>
                          <a:spcPts val="0"/>
                        </a:spcAft>
                        <a:buNone/>
                        <a:defRPr/>
                      </a:pPr>
                      <a:r>
                        <a:rPr altLang="en-US" dirty="0" lang="zh-CN" sz="2000">
                          <a:solidFill>
                            <a:schemeClr val="bg1"/>
                          </a:solidFill>
                          <a:sym typeface="+mn-ea"/>
                          <a:ea typeface="黑体" panose="02010609060101010101" pitchFamily="49" charset="-122"/>
                          <a:latin typeface="黑体" panose="02010609060101010101" pitchFamily="49" charset="-122"/>
                        </a:rPr>
                        <a:t>“</a:t>
                      </a:r>
                      <a:r>
                        <a:rPr altLang="zh-CN" dirty="0" lang="en-US" sz="2000">
                          <a:solidFill>
                            <a:schemeClr val="tx1"/>
                          </a:solidFill>
                          <a:sym typeface="+mn-ea"/>
                          <a:ea typeface="黑体" panose="02010609060101010101" pitchFamily="49" charset="-122"/>
                          <a:latin typeface="黑体" panose="02010609060101010101" pitchFamily="49" charset="-122"/>
                        </a:rPr>
                        <a:t>“</a:t>
                      </a:r>
                      <a:r>
                        <a:rPr altLang="en-US" dirty="0" lang="zh-CN" sz="2000">
                          <a:solidFill>
                            <a:schemeClr val="tx1"/>
                          </a:solidFill>
                          <a:sym typeface="+mn-ea"/>
                          <a:ea typeface="黑体" panose="02010609060101010101" pitchFamily="49" charset="-122"/>
                          <a:latin typeface="黑体" panose="02010609060101010101" pitchFamily="49" charset="-122"/>
                        </a:rPr>
                        <a:t>侵权责任” 问题</a:t>
                      </a:r>
                      <a:endParaRPr altLang="en-US" dirty="0" lang="zh-CN" b="1" sz="2000">
                        <a:solidFill>
                          <a:schemeClr val="tx1"/>
                        </a:solidFill>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olidFill>
                            <a:srgbClr val="000000"/>
                          </a:solidFill>
                          <a:ea typeface="楷体" panose="02010609060101010101" charset="-122"/>
                          <a:latin typeface="楷体" panose="02010609060101010101" charset="-122"/>
                        </a:rPr>
                        <a:t>问题逻辑</a:t>
                      </a:r>
                      <a:endParaRPr altLang="en-US" dirty="0" lang="zh-CN" b="1" sz="2000">
                        <a:solidFill>
                          <a:srgbClr val="000000"/>
                        </a:solidFill>
                        <a:ea typeface="楷体" panose="02010609060101010101" charset="-122"/>
                        <a:latin typeface="楷体" panose="02010609060101010101"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olidFill>
                            <a:srgbClr val="000000"/>
                          </a:solidFill>
                          <a:ea typeface="楷体" panose="02010609060101010101" charset="-122"/>
                          <a:latin typeface="楷体" panose="02010609060101010101" charset="-122"/>
                        </a:rPr>
                        <a:t>知识逻辑</a:t>
                      </a:r>
                      <a:endParaRPr altLang="en-US" dirty="0" lang="zh-CN" b="1" sz="2000">
                        <a:solidFill>
                          <a:srgbClr val="000000"/>
                        </a:solidFill>
                        <a:ea typeface="楷体" panose="02010609060101010101" charset="-122"/>
                        <a:latin typeface="楷体" panose="02010609060101010101"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r h="1294130">
                <a:tc vMerge="1">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olidFill>
                            <a:srgbClr val="000000"/>
                          </a:solidFill>
                          <a:sym typeface="+mn-ea"/>
                        </a:rPr>
                        <a:t>是否侵权</a:t>
                      </a:r>
                      <a:endParaRPr altLang="en-US" dirty="0" lang="zh-CN" b="1" sz="2000">
                        <a:solidFill>
                          <a:srgbClr val="000000"/>
                        </a:solidFill>
                        <a:sym typeface="+mn-ea"/>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olidFill>
                            <a:srgbClr val="000000"/>
                          </a:solidFill>
                          <a:sym typeface="+mn-ea"/>
                        </a:rPr>
                        <a:t>侵权责任的构成要件</a:t>
                      </a:r>
                      <a:endParaRPr altLang="en-US" dirty="0" lang="zh-CN" b="1" sz="2000">
                        <a:solidFill>
                          <a:srgbClr val="000000"/>
                        </a:solidFill>
                        <a:sym typeface="+mn-ea"/>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r h="617220">
                <a:tc vMerge="1">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olidFill>
                            <a:srgbClr val="000000"/>
                          </a:solidFill>
                          <a:sym typeface="+mn-ea"/>
                        </a:rPr>
                        <a:t>谁侵权</a:t>
                      </a:r>
                      <a:endParaRPr altLang="en-US" dirty="0" lang="zh-CN" b="1" sz="2000">
                        <a:solidFill>
                          <a:srgbClr val="000000"/>
                        </a:solidFill>
                        <a:sym typeface="+mn-ea"/>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olidFill>
                            <a:srgbClr val="000000"/>
                          </a:solidFill>
                          <a:sym typeface="+mn-ea"/>
                        </a:rPr>
                        <a:t>民事主体</a:t>
                      </a:r>
                      <a:endParaRPr altLang="en-US" dirty="0" lang="zh-CN" b="1" sz="2000">
                        <a:solidFill>
                          <a:srgbClr val="000000"/>
                        </a:solidFill>
                        <a:sym typeface="+mn-ea"/>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r h="701040">
                <a:tc vMerge="1">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ym typeface="+mn-ea"/>
                          <a:ea typeface="黑体" panose="02010609060101010101" pitchFamily="49" charset="-122"/>
                          <a:latin typeface="黑体" panose="02010609060101010101" pitchFamily="49" charset="-122"/>
                        </a:rPr>
                        <a:t>侵犯什么权利</a:t>
                      </a:r>
                      <a:endParaRPr altLang="en-US" dirty="0" lang="zh-CN" b="1" sz="2000">
                        <a:solidFill>
                          <a:srgbClr val="000000"/>
                        </a:solidFill>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olidFill>
                            <a:srgbClr val="000000"/>
                          </a:solidFill>
                          <a:sym typeface="+mn-ea"/>
                        </a:rPr>
                        <a:t>民事权利</a:t>
                      </a:r>
                      <a:endParaRPr altLang="en-US" dirty="0" lang="zh-CN" b="1" sz="2000">
                        <a:solidFill>
                          <a:srgbClr val="000000"/>
                        </a:solidFill>
                        <a:sym typeface="+mn-ea"/>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r h="2529840">
                <a:tc vMerge="1">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ym typeface="+mn-ea"/>
                          <a:ea typeface="黑体" panose="02010609060101010101" pitchFamily="49" charset="-122"/>
                          <a:latin typeface="黑体" panose="02010609060101010101" pitchFamily="49" charset="-122"/>
                        </a:rPr>
                        <a:t>承担什么责任</a:t>
                      </a:r>
                      <a:endParaRPr altLang="en-US" dirty="0" lang="zh-CN" b="1" sz="2000">
                        <a:solidFill>
                          <a:srgbClr val="000000"/>
                        </a:solidFill>
                      </a:endParaRPr>
                    </a:p>
                    <a:p>
                      <a:pPr marL="0" marR="0" indent="0" algn="ctr" defTabSz="685800" rtl="0" eaLnBrk="1" latinLnBrk="0" hangingPunct="1" fontAlgn="auto">
                        <a:lnSpc>
                          <a:spcPct val="100000"/>
                        </a:lnSpc>
                        <a:spcBef>
                          <a:spcPts val="0"/>
                        </a:spcBef>
                        <a:spcAft>
                          <a:spcPts val="0"/>
                        </a:spcAft>
                        <a:buNone/>
                        <a:defRPr/>
                      </a:pPr>
                      <a:endParaRPr altLang="en-US" dirty="0" lang="zh-CN" b="1" sz="2000">
                        <a:solidFill>
                          <a:srgbClr val="000000"/>
                        </a:solidFill>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olidFill>
                            <a:srgbClr val="000000"/>
                          </a:solidFill>
                          <a:sym typeface="+mn-ea"/>
                        </a:rPr>
                        <a:t>停止侵害、排除妨碍、消除危险、返还钱财、恢复原状、赔偿损失、赔礼道歉、消除影响、恢复名誉。法律规定惩罚性赔偿的，依照其规定。</a:t>
                      </a:r>
                      <a:endParaRPr altLang="en-US" dirty="0" lang="zh-CN" b="1" sz="2000">
                        <a:solidFill>
                          <a:srgbClr val="000000"/>
                        </a:solidFill>
                      </a:endParaRPr>
                    </a:p>
                    <a:p>
                      <a:pPr algn="ctr"/>
                      <a:endParaRPr altLang="en-US" dirty="0" lang="zh-CN" b="1" sz="2000">
                        <a:solidFill>
                          <a:srgbClr val="000000"/>
                        </a:solidFill>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bl>
          </a:graphicData>
        </a:graphic>
      </p:graphicFrame>
      <p:graphicFrame>
        <p:nvGraphicFramePr>
          <p:cNvPr id="21" name="表格 20"/>
          <p:cNvGraphicFramePr>
            <a:graphicFrameLocks noGrp="1"/>
          </p:cNvGraphicFramePr>
          <p:nvPr>
            <p:custDataLst>
              <p:tags r:id="rId2"/>
            </p:custDataLst>
          </p:nvPr>
        </p:nvGraphicFramePr>
        <p:xfrm>
          <a:off x="5777230" y="589280"/>
          <a:ext cx="6167120" cy="5885180"/>
        </p:xfrm>
        <a:graphic>
          <a:graphicData uri="http://schemas.openxmlformats.org/drawingml/2006/table">
            <a:tbl>
              <a:tblPr firstRow="1" bandRow="1">
                <a:tableStyleId>{5C22544A-7EE6-4342-B048-85BDC9FD1C3A}</a:tableStyleId>
              </a:tblPr>
              <a:tblGrid>
                <a:gridCol w="613410"/>
                <a:gridCol w="2705735"/>
                <a:gridCol w="2847975"/>
              </a:tblGrid>
              <a:tr h="746125">
                <a:tc rowSpan="6">
                  <a:txBody>
                    <a:bodyPr/>
                    <a:lstStyle/>
                    <a:p>
                      <a:pPr marL="0" marR="0" indent="0" algn="ctr" defTabSz="685800" rtl="0" eaLnBrk="1" latinLnBrk="0" hangingPunct="1" fontAlgn="auto">
                        <a:lnSpc>
                          <a:spcPct val="100000"/>
                        </a:lnSpc>
                        <a:spcBef>
                          <a:spcPts val="0"/>
                        </a:spcBef>
                        <a:spcAft>
                          <a:spcPts val="0"/>
                        </a:spcAft>
                        <a:buNone/>
                        <a:defRPr/>
                      </a:pPr>
                      <a:r>
                        <a:rPr altLang="en-US" dirty="0" lang="zh-CN" sz="2000">
                          <a:solidFill>
                            <a:schemeClr val="tx1"/>
                          </a:solidFill>
                          <a:sym typeface="+mn-ea"/>
                          <a:ea typeface="黑体" panose="02010609060101010101" pitchFamily="49" charset="-122"/>
                          <a:latin typeface="黑体" panose="02010609060101010101" pitchFamily="49" charset="-122"/>
                        </a:rPr>
                        <a:t>“违约责任” 问题</a:t>
                      </a:r>
                      <a:endParaRPr altLang="en-US" dirty="0" lang="zh-CN" b="1" sz="2000">
                        <a:solidFill>
                          <a:schemeClr val="tx1"/>
                        </a:solidFill>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olidFill>
                            <a:srgbClr val="000000"/>
                          </a:solidFill>
                          <a:ea typeface="楷体" panose="02010609060101010101" charset="-122"/>
                          <a:latin typeface="楷体" panose="02010609060101010101" charset="-122"/>
                        </a:rPr>
                        <a:t>问题逻辑</a:t>
                      </a:r>
                      <a:endParaRPr altLang="en-US" dirty="0" lang="zh-CN" b="1" sz="2000">
                        <a:solidFill>
                          <a:srgbClr val="000000"/>
                        </a:solidFill>
                        <a:ea typeface="楷体" panose="02010609060101010101" charset="-122"/>
                        <a:latin typeface="楷体" panose="02010609060101010101"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olidFill>
                            <a:srgbClr val="000000"/>
                          </a:solidFill>
                          <a:ea typeface="楷体" panose="02010609060101010101" charset="-122"/>
                          <a:latin typeface="楷体" panose="02010609060101010101" charset="-122"/>
                        </a:rPr>
                        <a:t>知识逻辑</a:t>
                      </a:r>
                      <a:endParaRPr altLang="en-US" dirty="0" lang="zh-CN" b="1" sz="2000">
                        <a:solidFill>
                          <a:srgbClr val="000000"/>
                        </a:solidFill>
                        <a:ea typeface="楷体" panose="02010609060101010101" charset="-122"/>
                        <a:latin typeface="楷体" panose="02010609060101010101"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r h="676910">
                <a:tc vMerge="1">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olidFill>
                            <a:srgbClr val="000000"/>
                          </a:solidFill>
                          <a:sym typeface="+mn-ea"/>
                        </a:rPr>
                        <a:t>合同是否成立</a:t>
                      </a:r>
                      <a:endParaRPr altLang="en-US" dirty="0" lang="zh-CN" b="1" sz="2000">
                        <a:solidFill>
                          <a:srgbClr val="000000"/>
                        </a:solidFill>
                        <a:sym typeface="+mn-ea"/>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olidFill>
                            <a:srgbClr val="000000"/>
                          </a:solidFill>
                          <a:sym typeface="+mn-ea"/>
                        </a:rPr>
                        <a:t>要约、承诺</a:t>
                      </a:r>
                      <a:endParaRPr altLang="en-US" dirty="0" lang="zh-CN" b="1" sz="2000">
                        <a:solidFill>
                          <a:srgbClr val="000000"/>
                        </a:solidFill>
                        <a:sym typeface="+mn-ea"/>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r h="1158240">
                <a:tc vMerge="1">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olidFill>
                            <a:srgbClr val="000000"/>
                          </a:solidFill>
                          <a:sym typeface="+mn-ea"/>
                        </a:rPr>
                        <a:t>合同是否有效</a:t>
                      </a:r>
                      <a:endParaRPr altLang="en-US" dirty="0" lang="zh-CN" b="1" sz="2000">
                        <a:solidFill>
                          <a:srgbClr val="000000"/>
                        </a:solidFill>
                        <a:sym typeface="+mn-ea"/>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l"/>
                      <a:r>
                        <a:rPr altLang="en-US" dirty="0" lang="zh-CN" b="1" sz="1000">
                          <a:solidFill>
                            <a:srgbClr val="000000"/>
                          </a:solidFill>
                          <a:sym typeface="+mn-ea"/>
                        </a:rPr>
                        <a:t>（</a:t>
                      </a:r>
                      <a:r>
                        <a:rPr altLang="zh-CN" dirty="0" lang="en-US" b="1" sz="1000">
                          <a:solidFill>
                            <a:srgbClr val="000000"/>
                          </a:solidFill>
                          <a:sym typeface="+mn-ea"/>
                        </a:rPr>
                        <a:t>1</a:t>
                      </a:r>
                      <a:r>
                        <a:rPr altLang="en-US" dirty="0" lang="zh-CN" b="1" sz="1000">
                          <a:solidFill>
                            <a:srgbClr val="000000"/>
                          </a:solidFill>
                          <a:sym typeface="+mn-ea"/>
                        </a:rPr>
                        <a:t>）合同内容出现违反法律、行政法规的强制性规定</a:t>
                      </a:r>
                      <a:endParaRPr altLang="en-US" dirty="0" lang="zh-CN" b="1" sz="1000">
                        <a:solidFill>
                          <a:srgbClr val="000000"/>
                        </a:solidFill>
                      </a:endParaRPr>
                    </a:p>
                    <a:p>
                      <a:pPr algn="l"/>
                      <a:r>
                        <a:rPr altLang="en-US" dirty="0" lang="zh-CN" b="1" sz="1000">
                          <a:solidFill>
                            <a:srgbClr val="000000"/>
                          </a:solidFill>
                          <a:sym typeface="+mn-ea"/>
                        </a:rPr>
                        <a:t>（</a:t>
                      </a:r>
                      <a:r>
                        <a:rPr altLang="zh-CN" dirty="0" lang="en-US" b="1" sz="1000">
                          <a:solidFill>
                            <a:srgbClr val="000000"/>
                          </a:solidFill>
                          <a:sym typeface="+mn-ea"/>
                        </a:rPr>
                        <a:t>2</a:t>
                      </a:r>
                      <a:r>
                        <a:rPr altLang="en-US" dirty="0" lang="zh-CN" b="1" sz="1000">
                          <a:solidFill>
                            <a:srgbClr val="000000"/>
                          </a:solidFill>
                          <a:sym typeface="+mn-ea"/>
                        </a:rPr>
                        <a:t>）违背公序良俗等情形</a:t>
                      </a:r>
                      <a:endParaRPr altLang="en-US" dirty="0" lang="zh-CN" b="1" sz="1000">
                        <a:solidFill>
                          <a:srgbClr val="000000"/>
                        </a:solidFill>
                      </a:endParaRPr>
                    </a:p>
                    <a:p>
                      <a:pPr algn="l"/>
                      <a:r>
                        <a:rPr altLang="en-US" dirty="0" lang="zh-CN" b="1" sz="1000">
                          <a:solidFill>
                            <a:srgbClr val="000000"/>
                          </a:solidFill>
                          <a:sym typeface="+mn-ea"/>
                        </a:rPr>
                        <a:t>（</a:t>
                      </a:r>
                      <a:r>
                        <a:rPr altLang="zh-CN" dirty="0" lang="en-US" b="1" sz="1000">
                          <a:solidFill>
                            <a:srgbClr val="000000"/>
                          </a:solidFill>
                          <a:sym typeface="+mn-ea"/>
                        </a:rPr>
                        <a:t>3</a:t>
                      </a:r>
                      <a:r>
                        <a:rPr altLang="en-US" dirty="0" lang="zh-CN" b="1" sz="1000">
                          <a:solidFill>
                            <a:srgbClr val="000000"/>
                          </a:solidFill>
                          <a:sym typeface="+mn-ea"/>
                        </a:rPr>
                        <a:t>）合同主体不适格</a:t>
                      </a:r>
                      <a:endParaRPr altLang="en-US" dirty="0" lang="zh-CN" b="1" sz="1000">
                        <a:solidFill>
                          <a:srgbClr val="000000"/>
                        </a:solidFill>
                      </a:endParaRPr>
                    </a:p>
                    <a:p>
                      <a:pPr algn="l"/>
                      <a:r>
                        <a:rPr altLang="en-US" dirty="0" lang="zh-CN" b="1" sz="1000">
                          <a:solidFill>
                            <a:srgbClr val="000000"/>
                          </a:solidFill>
                          <a:sym typeface="+mn-ea"/>
                        </a:rPr>
                        <a:t>（</a:t>
                      </a:r>
                      <a:r>
                        <a:rPr altLang="zh-CN" dirty="0" lang="en-US" b="1" sz="1000">
                          <a:solidFill>
                            <a:srgbClr val="000000"/>
                          </a:solidFill>
                          <a:sym typeface="+mn-ea"/>
                        </a:rPr>
                        <a:t>4</a:t>
                      </a:r>
                      <a:r>
                        <a:rPr altLang="en-US" dirty="0" lang="zh-CN" b="1" sz="1000">
                          <a:solidFill>
                            <a:srgbClr val="000000"/>
                          </a:solidFill>
                          <a:sym typeface="+mn-ea"/>
                        </a:rPr>
                        <a:t>）欺诈、胁迫导致当事人意思表示不真实</a:t>
                      </a:r>
                      <a:endParaRPr altLang="en-US" dirty="0" lang="zh-CN" b="1" sz="1000">
                        <a:solidFill>
                          <a:srgbClr val="000000"/>
                        </a:solidFill>
                      </a:endParaRPr>
                    </a:p>
                    <a:p>
                      <a:pPr defTabSz="685800">
                        <a:defRPr/>
                      </a:pPr>
                      <a:r>
                        <a:rPr altLang="en-US" dirty="0" lang="zh-CN" b="1" sz="1000">
                          <a:solidFill>
                            <a:schemeClr val="tx1">
                              <a:lumMod val="50000"/>
                            </a:schemeClr>
                          </a:solidFill>
                          <a:cs typeface="微软雅黑" panose="020B0503020204020204" charset="-122"/>
                          <a:sym typeface="+mn-ea"/>
                          <a:ea typeface="黑体" panose="02010609060101010101" pitchFamily="49" charset="-122"/>
                          <a:latin typeface="黑体" panose="02010609060101010101" pitchFamily="49" charset="-122"/>
                        </a:rPr>
                        <a:t>    行为人具有相应的民事行为能力，意思表示真实，内容合法。</a:t>
                      </a:r>
                      <a:endParaRPr altLang="en-US" dirty="0" lang="zh-CN" b="1" sz="1000">
                        <a:solidFill>
                          <a:schemeClr val="tx1">
                            <a:lumMod val="50000"/>
                          </a:schemeClr>
                        </a:solidFill>
                        <a:cs typeface="微软雅黑" panose="020B0503020204020204" charset="-122"/>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r h="1067435">
                <a:tc vMerge="1">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ym typeface="+mn-ea"/>
                          <a:ea typeface="黑体" panose="02010609060101010101" pitchFamily="49" charset="-122"/>
                          <a:latin typeface="黑体" panose="02010609060101010101" pitchFamily="49" charset="-122"/>
                        </a:rPr>
                        <a:t>合同是否履行</a:t>
                      </a:r>
                      <a:endParaRPr altLang="en-US" dirty="0" lang="zh-CN" b="1" sz="2000">
                        <a:solidFill>
                          <a:srgbClr val="000000"/>
                        </a:solidFill>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ym typeface="+mn-ea"/>
                          <a:ea typeface="黑体" panose="02010609060101010101" pitchFamily="49" charset="-122"/>
                          <a:latin typeface="黑体" panose="02010609060101010101" pitchFamily="49" charset="-122"/>
                        </a:rPr>
                        <a:t>全面履行、诚信履行、协作履行</a:t>
                      </a:r>
                      <a:endParaRPr altLang="en-US" dirty="0" lang="zh-CN" b="1" sz="2000">
                        <a:solidFill>
                          <a:srgbClr val="000000"/>
                        </a:solidFill>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r h="725170">
                <a:tc vMerge="1">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ym typeface="+mn-ea"/>
                          <a:ea typeface="黑体" panose="02010609060101010101" pitchFamily="49" charset="-122"/>
                          <a:latin typeface="黑体" panose="02010609060101010101" pitchFamily="49" charset="-122"/>
                        </a:rPr>
                        <a:t>如果违约是否涉及免责</a:t>
                      </a:r>
                      <a:endParaRPr altLang="en-US" dirty="0" lang="zh-CN" b="1" sz="2000">
                        <a:solidFill>
                          <a:srgbClr val="000000"/>
                        </a:solidFill>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ym typeface="+mn-ea"/>
                          <a:ea typeface="黑体" panose="02010609060101010101" pitchFamily="49" charset="-122"/>
                          <a:latin typeface="黑体" panose="02010609060101010101" pitchFamily="49" charset="-122"/>
                        </a:rPr>
                        <a:t>免责事由、不可抗力</a:t>
                      </a:r>
                      <a:endParaRPr altLang="en-US" dirty="0" lang="zh-CN" b="1" sz="2000">
                        <a:solidFill>
                          <a:srgbClr val="000000"/>
                        </a:solidFill>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r h="1511300">
                <a:tc vMerge="1">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marL="0" marR="0" indent="0" algn="ctr" defTabSz="685800" rtl="0" eaLnBrk="1" latinLnBrk="0" hangingPunct="1" fontAlgn="auto">
                        <a:lnSpc>
                          <a:spcPct val="100000"/>
                        </a:lnSpc>
                        <a:spcBef>
                          <a:spcPts val="0"/>
                        </a:spcBef>
                        <a:spcAft>
                          <a:spcPts val="0"/>
                        </a:spcAft>
                        <a:buNone/>
                        <a:defRPr/>
                      </a:pPr>
                      <a:r>
                        <a:rPr altLang="en-US" dirty="0" lang="zh-CN" b="1" sz="2000">
                          <a:sym typeface="+mn-ea"/>
                          <a:ea typeface="黑体" panose="02010609060101010101" pitchFamily="49" charset="-122"/>
                          <a:latin typeface="黑体" panose="02010609060101010101" pitchFamily="49" charset="-122"/>
                        </a:rPr>
                        <a:t>如不免责承担什么违约责任</a:t>
                      </a:r>
                      <a:endParaRPr altLang="en-US" dirty="0" lang="zh-CN" b="1" sz="2000">
                        <a:solidFill>
                          <a:srgbClr val="000000"/>
                        </a:solidFill>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c>
                  <a:txBody>
                    <a:bodyPr/>
                    <a:lstStyle/>
                    <a:p>
                      <a:pPr algn="ctr"/>
                      <a:r>
                        <a:rPr altLang="en-US" dirty="0" lang="zh-CN" b="1" sz="2000">
                          <a:sym typeface="+mn-ea"/>
                          <a:ea typeface="黑体" panose="02010609060101010101" pitchFamily="49" charset="-122"/>
                          <a:latin typeface="黑体" panose="02010609060101010101" pitchFamily="49" charset="-122"/>
                        </a:rPr>
                        <a:t>继续履行、采取补救措施、赔偿损失、支付违约金、适用定金罚则</a:t>
                      </a:r>
                      <a:endParaRPr altLang="en-US" dirty="0" lang="zh-CN" b="1" sz="2000">
                        <a:solidFill>
                          <a:srgbClr val="000000"/>
                        </a:solidFill>
                        <a:sym typeface="+mn-ea"/>
                        <a:ea typeface="黑体" panose="02010609060101010101" pitchFamily="49" charset="-122"/>
                        <a:latin typeface="黑体" panose="02010609060101010101" pitchFamily="49" charset="-122"/>
                      </a:endParaRPr>
                    </a:p>
                  </a:txBody>
                  <a:tcPr anchor="ctr">
                    <a:lnL w="12700" cmpd="sng">
                      <a:solidFill>
                        <a:schemeClr val="tx1"/>
                      </a:solidFill>
                      <a:prstDash val="solid"/>
                      <a:round/>
                      <a:headEnd type="none" w="med" len="med"/>
                      <a:tailEnd type="none" w="med" len="med"/>
                    </a:lnL>
                    <a:lnR w="12700" cmpd="sng">
                      <a:solidFill>
                        <a:schemeClr val="tx1"/>
                      </a:solidFill>
                      <a:prstDash val="solid"/>
                      <a:round/>
                      <a:headEnd type="none" w="med" len="med"/>
                      <a:tailEnd type="none" w="med" len="med"/>
                    </a:lnR>
                    <a:lnT w="12700" cmpd="sng">
                      <a:solidFill>
                        <a:schemeClr val="tx1"/>
                      </a:solidFill>
                      <a:prstDash val="solid"/>
                      <a:round/>
                      <a:headEnd type="none" w="med" len="med"/>
                      <a:tailEnd type="none" w="med" len="med"/>
                    </a:lnT>
                    <a:lnB w="12700" cmpd="sng">
                      <a:solidFill>
                        <a:schemeClr val="tx1"/>
                      </a:solidFill>
                      <a:prstDash val="solid"/>
                      <a:round/>
                      <a:headEnd type="none" w="med" len="med"/>
                      <a:tailEnd type="none" w="med" len="med"/>
                    </a:lnB>
                    <a:noFill/>
                  </a:tcPr>
                </a:tc>
              </a:tr>
            </a:tbl>
          </a:graphicData>
        </a:graphic>
      </p:graphicFrame>
    </p:spTree>
    <p:custDataLst>
      <p:tags r:id="rId3"/>
    </p:custDataLst>
  </p:cSld>
  <p:clrMapOvr>
    <a:masterClrMapping/>
  </p:clrMapOvr>
</p:sld>
</file>

<file path=ppt/slides/slide2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269875" y="884555"/>
            <a:ext cx="11622405" cy="5262245"/>
          </a:xfrm>
          <a:prstGeom prst="rect">
            <a:avLst/>
          </a:prstGeom>
        </p:spPr>
        <p:txBody>
          <a:bodyPr wrap="square">
            <a:spAutoFit/>
          </a:bodyPr>
          <a:p>
            <a:pPr marL="0" indent="304800" algn="just" defTabSz="266700">
              <a:spcBef>
                <a:spcPct val="0"/>
              </a:spcBef>
              <a:spcAft>
                <a:spcPct val="0"/>
              </a:spcAft>
            </a:pPr>
            <a:r>
              <a:rPr altLang="en-US" lang="en-US" b="1" sz="2800">
                <a:cs typeface="黑体" panose="02010609060101010101" pitchFamily="49" charset="-122"/>
                <a:ea typeface="黑体" panose="02010609060101010101" pitchFamily="49" charset="-122"/>
                <a:latin typeface="黑体" panose="02010609060101010101" pitchFamily="49" charset="-122"/>
              </a:rPr>
              <a:t>①</a:t>
            </a:r>
            <a:r>
              <a:rPr altLang="en-US" lang="zh-CN" b="1" sz="2800">
                <a:cs typeface="黑体" panose="02010609060101010101" pitchFamily="49" charset="-122"/>
                <a:ea typeface="黑体" panose="02010609060101010101" pitchFamily="49" charset="-122"/>
                <a:latin typeface="黑体" panose="02010609060101010101" pitchFamily="49" charset="-122"/>
              </a:rPr>
              <a:t>原告通过</a:t>
            </a:r>
            <a:r>
              <a:rPr altLang="zh-CN" lang="en-US" b="1" sz="2800">
                <a:cs typeface="黑体" panose="02010609060101010101" pitchFamily="49" charset="-122"/>
                <a:ea typeface="黑体" panose="02010609060101010101" pitchFamily="49" charset="-122"/>
                <a:latin typeface="黑体" panose="02010609060101010101" pitchFamily="49" charset="-122"/>
              </a:rPr>
              <a:t>A</a:t>
            </a:r>
            <a:r>
              <a:rPr altLang="en-US" lang="zh-CN" b="1" sz="2800">
                <a:cs typeface="黑体" panose="02010609060101010101" pitchFamily="49" charset="-122"/>
                <a:ea typeface="黑体" panose="02010609060101010101" pitchFamily="49" charset="-122"/>
                <a:latin typeface="黑体" panose="02010609060101010101" pitchFamily="49" charset="-122"/>
              </a:rPr>
              <a:t>公司平台购买机票，双方有</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要约、承诺</a:t>
            </a:r>
            <a:r>
              <a:rPr altLang="zh-CN" lang="en-US" b="1" sz="2800">
                <a:cs typeface="黑体" panose="02010609060101010101" pitchFamily="49" charset="-122"/>
                <a:highlight>
                  <a:srgbClr val="FFFF00"/>
                </a:highlight>
                <a:ea typeface="黑体" panose="02010609060101010101" pitchFamily="49" charset="-122"/>
                <a:latin typeface="黑体" panose="02010609060101010101" pitchFamily="49" charset="-122"/>
              </a:rPr>
              <a:t>/</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合同成立</a:t>
            </a:r>
            <a:r>
              <a:rPr altLang="en-US" lang="zh-CN" b="1" sz="2800">
                <a:cs typeface="黑体" panose="02010609060101010101" pitchFamily="49" charset="-122"/>
                <a:ea typeface="黑体" panose="02010609060101010101" pitchFamily="49" charset="-122"/>
                <a:latin typeface="黑体" panose="02010609060101010101" pitchFamily="49" charset="-122"/>
              </a:rPr>
              <a:t>。</a:t>
            </a:r>
            <a:r>
              <a:rPr altLang="zh-CN" lang="en-US" b="1" sz="2800">
                <a:cs typeface="黑体" panose="02010609060101010101" pitchFamily="49" charset="-122"/>
                <a:ea typeface="黑体" panose="02010609060101010101" pitchFamily="49" charset="-122"/>
                <a:latin typeface="黑体" panose="02010609060101010101" pitchFamily="49" charset="-122"/>
              </a:rPr>
              <a:t> </a:t>
            </a:r>
            <a:r>
              <a:rPr altLang="en-US" lang="zh-CN" b="1" sz="2800">
                <a:cs typeface="黑体" panose="02010609060101010101" pitchFamily="49" charset="-122"/>
                <a:ea typeface="黑体" panose="02010609060101010101" pitchFamily="49" charset="-122"/>
                <a:latin typeface="黑体" panose="02010609060101010101" pitchFamily="49" charset="-122"/>
              </a:rPr>
              <a:t>（</a:t>
            </a:r>
            <a:r>
              <a:rPr altLang="zh-CN" lang="en-US" b="1" sz="2800">
                <a:cs typeface="黑体" panose="02010609060101010101" pitchFamily="49" charset="-122"/>
                <a:ea typeface="黑体" panose="02010609060101010101" pitchFamily="49" charset="-122"/>
                <a:latin typeface="黑体" panose="02010609060101010101" pitchFamily="49" charset="-122"/>
              </a:rPr>
              <a:t>1</a:t>
            </a:r>
            <a:r>
              <a:rPr altLang="en-US" lang="zh-CN" b="1" sz="2800">
                <a:cs typeface="黑体" panose="02010609060101010101" pitchFamily="49" charset="-122"/>
                <a:ea typeface="黑体" panose="02010609060101010101" pitchFamily="49" charset="-122"/>
                <a:latin typeface="黑体" panose="02010609060101010101" pitchFamily="49" charset="-122"/>
              </a:rPr>
              <a:t>分）</a:t>
            </a:r>
            <a:endParaRPr altLang="en-US" lang="zh-CN" b="1" sz="2800">
              <a:cs typeface="黑体" panose="02010609060101010101" pitchFamily="49" charset="-122"/>
              <a:ea typeface="黑体" panose="02010609060101010101" pitchFamily="49" charset="-122"/>
              <a:latin typeface="黑体" panose="02010609060101010101" pitchFamily="49" charset="-122"/>
            </a:endParaRPr>
          </a:p>
          <a:p>
            <a:pPr marL="0" indent="304800" algn="just" defTabSz="266700">
              <a:spcBef>
                <a:spcPct val="0"/>
              </a:spcBef>
              <a:spcAft>
                <a:spcPct val="0"/>
              </a:spcAft>
            </a:pPr>
            <a:r>
              <a:rPr altLang="zh-CN" lang="en-US" b="1" sz="2800">
                <a:cs typeface="黑体" panose="02010609060101010101" pitchFamily="49" charset="-122"/>
                <a:ea typeface="黑体" panose="02010609060101010101" pitchFamily="49" charset="-122"/>
                <a:latin typeface="黑体" panose="02010609060101010101" pitchFamily="49" charset="-122"/>
              </a:rPr>
              <a:t>②A</a:t>
            </a:r>
            <a:r>
              <a:rPr altLang="en-US" lang="zh-CN" b="1" sz="2800">
                <a:cs typeface="黑体" panose="02010609060101010101" pitchFamily="49" charset="-122"/>
                <a:ea typeface="黑体" panose="02010609060101010101" pitchFamily="49" charset="-122"/>
                <a:latin typeface="黑体" panose="02010609060101010101" pitchFamily="49" charset="-122"/>
              </a:rPr>
              <a:t>公司</a:t>
            </a:r>
            <a:r>
              <a:rPr altLang="en-US" lang="zh-CN" b="1" sz="2800">
                <a:solidFill>
                  <a:srgbClr val="FF0000"/>
                </a:solidFill>
                <a:cs typeface="黑体" panose="02010609060101010101" pitchFamily="49" charset="-122"/>
                <a:ea typeface="黑体" panose="02010609060101010101" pitchFamily="49" charset="-122"/>
                <a:latin typeface="黑体" panose="02010609060101010101" pitchFamily="49" charset="-122"/>
              </a:rPr>
              <a:t>擅自搭售</a:t>
            </a:r>
            <a:r>
              <a:rPr altLang="zh-CN" lang="en-US" b="1" sz="2800">
                <a:cs typeface="黑体" panose="02010609060101010101" pitchFamily="49" charset="-122"/>
                <a:ea typeface="黑体" panose="02010609060101010101" pitchFamily="49" charset="-122"/>
                <a:latin typeface="黑体" panose="02010609060101010101" pitchFamily="49" charset="-122"/>
              </a:rPr>
              <a:t>10</a:t>
            </a:r>
            <a:r>
              <a:rPr altLang="en-US" lang="zh-CN" b="1" sz="2800">
                <a:cs typeface="黑体" panose="02010609060101010101" pitchFamily="49" charset="-122"/>
                <a:ea typeface="黑体" panose="02010609060101010101" pitchFamily="49" charset="-122"/>
                <a:latin typeface="黑体" panose="02010609060101010101" pitchFamily="49" charset="-122"/>
              </a:rPr>
              <a:t>元外卖红包，王某在购买界面</a:t>
            </a:r>
            <a:r>
              <a:rPr altLang="en-US" lang="zh-CN" b="1" sz="2800">
                <a:solidFill>
                  <a:srgbClr val="FF0000"/>
                </a:solidFill>
                <a:cs typeface="黑体" panose="02010609060101010101" pitchFamily="49" charset="-122"/>
                <a:ea typeface="黑体" panose="02010609060101010101" pitchFamily="49" charset="-122"/>
                <a:latin typeface="黑体" panose="02010609060101010101" pitchFamily="49" charset="-122"/>
              </a:rPr>
              <a:t>不能清楚地知悉</a:t>
            </a:r>
            <a:r>
              <a:rPr altLang="en-US" lang="zh-CN" b="1" sz="2800">
                <a:cs typeface="黑体" panose="02010609060101010101" pitchFamily="49" charset="-122"/>
                <a:ea typeface="黑体" panose="02010609060101010101" pitchFamily="49" charset="-122"/>
                <a:latin typeface="黑体" panose="02010609060101010101" pitchFamily="49" charset="-122"/>
              </a:rPr>
              <a:t>费用支出细节，也</a:t>
            </a:r>
            <a:r>
              <a:rPr altLang="en-US" lang="zh-CN" b="1" sz="2800">
                <a:solidFill>
                  <a:srgbClr val="FF0000"/>
                </a:solidFill>
                <a:cs typeface="黑体" panose="02010609060101010101" pitchFamily="49" charset="-122"/>
                <a:ea typeface="黑体" panose="02010609060101010101" pitchFamily="49" charset="-122"/>
                <a:latin typeface="黑体" panose="02010609060101010101" pitchFamily="49" charset="-122"/>
              </a:rPr>
              <a:t>无法拒绝</a:t>
            </a:r>
            <a:r>
              <a:rPr altLang="en-US" lang="zh-CN" b="1" sz="2800">
                <a:cs typeface="黑体" panose="02010609060101010101" pitchFamily="49" charset="-122"/>
                <a:ea typeface="黑体" panose="02010609060101010101" pitchFamily="49" charset="-122"/>
                <a:latin typeface="黑体" panose="02010609060101010101" pitchFamily="49" charset="-122"/>
              </a:rPr>
              <a:t>支付</a:t>
            </a:r>
            <a:r>
              <a:rPr altLang="zh-CN" lang="en-US" b="1" sz="2800">
                <a:cs typeface="黑体" panose="02010609060101010101" pitchFamily="49" charset="-122"/>
                <a:ea typeface="黑体" panose="02010609060101010101" pitchFamily="49" charset="-122"/>
                <a:latin typeface="黑体" panose="02010609060101010101" pitchFamily="49" charset="-122"/>
              </a:rPr>
              <a:t>10</a:t>
            </a:r>
            <a:r>
              <a:rPr altLang="en-US" lang="zh-CN" b="1" sz="2800">
                <a:cs typeface="黑体" panose="02010609060101010101" pitchFamily="49" charset="-122"/>
                <a:ea typeface="黑体" panose="02010609060101010101" pitchFamily="49" charset="-122"/>
                <a:latin typeface="黑体" panose="02010609060101010101" pitchFamily="49" charset="-122"/>
              </a:rPr>
              <a:t>元额外费用。（</a:t>
            </a:r>
            <a:r>
              <a:rPr altLang="zh-CN" lang="en-US" b="1" sz="2800">
                <a:cs typeface="黑体" panose="02010609060101010101" pitchFamily="49" charset="-122"/>
                <a:ea typeface="黑体" panose="02010609060101010101" pitchFamily="49" charset="-122"/>
                <a:latin typeface="黑体" panose="02010609060101010101" pitchFamily="49" charset="-122"/>
              </a:rPr>
              <a:t>1</a:t>
            </a:r>
            <a:r>
              <a:rPr altLang="en-US" lang="zh-CN" b="1" sz="2800">
                <a:cs typeface="黑体" panose="02010609060101010101" pitchFamily="49" charset="-122"/>
                <a:ea typeface="黑体" panose="02010609060101010101" pitchFamily="49" charset="-122"/>
                <a:latin typeface="黑体" panose="02010609060101010101" pitchFamily="49" charset="-122"/>
              </a:rPr>
              <a:t>分）</a:t>
            </a:r>
            <a:r>
              <a:rPr altLang="en-US" lang="zh-CN" b="1" sz="2800">
                <a:solidFill>
                  <a:srgbClr val="00B0F0"/>
                </a:solidFill>
                <a:cs typeface="黑体" panose="02010609060101010101" pitchFamily="49" charset="-122"/>
                <a:ea typeface="黑体" panose="02010609060101010101" pitchFamily="49" charset="-122"/>
                <a:latin typeface="黑体" panose="02010609060101010101" pitchFamily="49" charset="-122"/>
              </a:rPr>
              <a:t>材料</a:t>
            </a:r>
            <a:r>
              <a:rPr altLang="zh-CN" lang="en-US" b="1" sz="2800">
                <a:solidFill>
                  <a:srgbClr val="00B0F0"/>
                </a:solidFill>
                <a:cs typeface="黑体" panose="02010609060101010101" pitchFamily="49" charset="-122"/>
                <a:ea typeface="黑体" panose="02010609060101010101" pitchFamily="49" charset="-122"/>
                <a:latin typeface="黑体" panose="02010609060101010101" pitchFamily="49" charset="-122"/>
              </a:rPr>
              <a:t>3</a:t>
            </a:r>
            <a:r>
              <a:rPr altLang="en-US" lang="zh-CN" b="1" sz="2800">
                <a:solidFill>
                  <a:srgbClr val="00B0F0"/>
                </a:solidFill>
                <a:cs typeface="黑体" panose="02010609060101010101" pitchFamily="49" charset="-122"/>
                <a:ea typeface="黑体" panose="02010609060101010101" pitchFamily="49" charset="-122"/>
                <a:latin typeface="黑体" panose="02010609060101010101" pitchFamily="49" charset="-122"/>
              </a:rPr>
              <a:t>个条件必须写全才得分</a:t>
            </a:r>
            <a:r>
              <a:rPr altLang="zh-CN" lang="en-US" b="1" sz="2800">
                <a:cs typeface="黑体" panose="02010609060101010101" pitchFamily="49" charset="-122"/>
                <a:ea typeface="黑体" panose="02010609060101010101" pitchFamily="49" charset="-122"/>
                <a:latin typeface="黑体" panose="02010609060101010101" pitchFamily="49" charset="-122"/>
              </a:rPr>
              <a:t>A</a:t>
            </a:r>
            <a:r>
              <a:rPr altLang="en-US" lang="zh-CN" b="1" sz="2800">
                <a:cs typeface="黑体" panose="02010609060101010101" pitchFamily="49" charset="-122"/>
                <a:ea typeface="黑体" panose="02010609060101010101" pitchFamily="49" charset="-122"/>
                <a:latin typeface="黑体" panose="02010609060101010101" pitchFamily="49" charset="-122"/>
              </a:rPr>
              <a:t>公司的合同欺诈导致王某在</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违背真实意思表示</a:t>
            </a:r>
            <a:r>
              <a:rPr altLang="en-US" lang="zh-CN" b="1" sz="2800">
                <a:cs typeface="黑体" panose="02010609060101010101" pitchFamily="49" charset="-122"/>
                <a:ea typeface="黑体" panose="02010609060101010101" pitchFamily="49" charset="-122"/>
                <a:latin typeface="黑体" panose="02010609060101010101" pitchFamily="49" charset="-122"/>
              </a:rPr>
              <a:t>的情况下订立合同。（</a:t>
            </a:r>
            <a:r>
              <a:rPr altLang="zh-CN" lang="en-US" b="1" sz="2800">
                <a:cs typeface="黑体" panose="02010609060101010101" pitchFamily="49" charset="-122"/>
                <a:ea typeface="黑体" panose="02010609060101010101" pitchFamily="49" charset="-122"/>
                <a:latin typeface="黑体" panose="02010609060101010101" pitchFamily="49" charset="-122"/>
              </a:rPr>
              <a:t>1</a:t>
            </a:r>
            <a:r>
              <a:rPr altLang="en-US" lang="zh-CN" b="1" sz="2800">
                <a:cs typeface="黑体" panose="02010609060101010101" pitchFamily="49" charset="-122"/>
                <a:ea typeface="黑体" panose="02010609060101010101" pitchFamily="49" charset="-122"/>
                <a:latin typeface="黑体" panose="02010609060101010101" pitchFamily="49" charset="-122"/>
              </a:rPr>
              <a:t>分）合同无效</a:t>
            </a:r>
            <a:r>
              <a:rPr altLang="zh-CN" lang="en-US" b="1" sz="2800">
                <a:cs typeface="黑体" panose="02010609060101010101" pitchFamily="49" charset="-122"/>
                <a:ea typeface="黑体" panose="02010609060101010101" pitchFamily="49" charset="-122"/>
                <a:latin typeface="黑体" panose="02010609060101010101" pitchFamily="49" charset="-122"/>
              </a:rPr>
              <a:t>/</a:t>
            </a:r>
            <a:r>
              <a:rPr altLang="en-US" lang="zh-CN" b="1" sz="2800">
                <a:cs typeface="黑体" panose="02010609060101010101" pitchFamily="49" charset="-122"/>
                <a:ea typeface="黑体" panose="02010609060101010101" pitchFamily="49" charset="-122"/>
                <a:latin typeface="黑体" panose="02010609060101010101" pitchFamily="49" charset="-122"/>
              </a:rPr>
              <a:t>可撤销。（</a:t>
            </a:r>
            <a:r>
              <a:rPr altLang="zh-CN" lang="en-US" b="1" sz="2800">
                <a:cs typeface="黑体" panose="02010609060101010101" pitchFamily="49" charset="-122"/>
                <a:ea typeface="黑体" panose="02010609060101010101" pitchFamily="49" charset="-122"/>
                <a:latin typeface="黑体" panose="02010609060101010101" pitchFamily="49" charset="-122"/>
              </a:rPr>
              <a:t>1</a:t>
            </a:r>
            <a:r>
              <a:rPr altLang="en-US" lang="zh-CN" b="1" sz="2800">
                <a:cs typeface="黑体" panose="02010609060101010101" pitchFamily="49" charset="-122"/>
                <a:ea typeface="黑体" panose="02010609060101010101" pitchFamily="49" charset="-122"/>
                <a:latin typeface="黑体" panose="02010609060101010101" pitchFamily="49" charset="-122"/>
              </a:rPr>
              <a:t>分）</a:t>
            </a:r>
            <a:r>
              <a:rPr altLang="zh-CN" lang="en-US" b="1" sz="2800">
                <a:cs typeface="黑体" panose="02010609060101010101" pitchFamily="49" charset="-122"/>
                <a:ea typeface="黑体" panose="02010609060101010101" pitchFamily="49" charset="-122"/>
                <a:latin typeface="黑体" panose="02010609060101010101" pitchFamily="49" charset="-122"/>
              </a:rPr>
              <a:t>③</a:t>
            </a:r>
            <a:r>
              <a:rPr altLang="en-US" lang="zh-CN" b="1" sz="2800">
                <a:cs typeface="黑体" panose="02010609060101010101" pitchFamily="49" charset="-122"/>
                <a:ea typeface="黑体" panose="02010609060101010101" pitchFamily="49" charset="-122"/>
                <a:latin typeface="黑体" panose="02010609060101010101" pitchFamily="49" charset="-122"/>
              </a:rPr>
              <a:t>根据消费者权益保护法，（</a:t>
            </a:r>
            <a:r>
              <a:rPr altLang="zh-CN" lang="en-US" b="1" sz="2800">
                <a:cs typeface="黑体" panose="02010609060101010101" pitchFamily="49" charset="-122"/>
                <a:ea typeface="黑体" panose="02010609060101010101" pitchFamily="49" charset="-122"/>
                <a:latin typeface="黑体" panose="02010609060101010101" pitchFamily="49" charset="-122"/>
              </a:rPr>
              <a:t>1</a:t>
            </a:r>
            <a:r>
              <a:rPr altLang="en-US" lang="zh-CN" b="1" sz="2800">
                <a:cs typeface="黑体" panose="02010609060101010101" pitchFamily="49" charset="-122"/>
                <a:ea typeface="黑体" panose="02010609060101010101" pitchFamily="49" charset="-122"/>
                <a:latin typeface="黑体" panose="02010609060101010101" pitchFamily="49" charset="-122"/>
              </a:rPr>
              <a:t>分）</a:t>
            </a:r>
            <a:r>
              <a:rPr altLang="zh-CN" lang="en-US" b="1" sz="2800">
                <a:solidFill>
                  <a:srgbClr val="00B0F0"/>
                </a:solidFill>
                <a:cs typeface="黑体" panose="02010609060101010101" pitchFamily="49" charset="-122"/>
                <a:ea typeface="黑体" panose="02010609060101010101" pitchFamily="49" charset="-122"/>
                <a:latin typeface="黑体" panose="02010609060101010101" pitchFamily="49" charset="-122"/>
              </a:rPr>
              <a:t> </a:t>
            </a:r>
            <a:r>
              <a:rPr altLang="en-US" lang="zh-CN" b="1" sz="2800">
                <a:solidFill>
                  <a:srgbClr val="00B0F0"/>
                </a:solidFill>
                <a:cs typeface="黑体" panose="02010609060101010101" pitchFamily="49" charset="-122"/>
                <a:ea typeface="黑体" panose="02010609060101010101" pitchFamily="49" charset="-122"/>
                <a:latin typeface="黑体" panose="02010609060101010101" pitchFamily="49" charset="-122"/>
              </a:rPr>
              <a:t>必须有消费者法律字样，“保护法”等不给分</a:t>
            </a:r>
            <a:r>
              <a:rPr altLang="zh-CN" lang="en-US" b="1" sz="2800">
                <a:cs typeface="黑体" panose="02010609060101010101" pitchFamily="49" charset="-122"/>
                <a:ea typeface="黑体" panose="02010609060101010101" pitchFamily="49" charset="-122"/>
                <a:latin typeface="黑体" panose="02010609060101010101" pitchFamily="49" charset="-122"/>
              </a:rPr>
              <a:t>A</a:t>
            </a:r>
            <a:r>
              <a:rPr altLang="en-US" lang="zh-CN" b="1" sz="2800">
                <a:cs typeface="黑体" panose="02010609060101010101" pitchFamily="49" charset="-122"/>
                <a:ea typeface="黑体" panose="02010609060101010101" pitchFamily="49" charset="-122"/>
                <a:latin typeface="黑体" panose="02010609060101010101" pitchFamily="49" charset="-122"/>
              </a:rPr>
              <a:t>公司提供服务时有</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欺诈行为</a:t>
            </a:r>
            <a:r>
              <a:rPr altLang="zh-CN" lang="en-US" b="1" sz="2800">
                <a:cs typeface="黑体" panose="02010609060101010101" pitchFamily="49" charset="-122"/>
                <a:highlight>
                  <a:srgbClr val="FFFF00"/>
                </a:highlight>
                <a:ea typeface="黑体" panose="02010609060101010101" pitchFamily="49" charset="-122"/>
                <a:latin typeface="黑体" panose="02010609060101010101" pitchFamily="49" charset="-122"/>
              </a:rPr>
              <a:t>/</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侵犯了消费者知情权、公平交易权</a:t>
            </a:r>
            <a:r>
              <a:rPr altLang="zh-CN" lang="en-US" b="1" sz="2800">
                <a:cs typeface="黑体" panose="02010609060101010101" pitchFamily="49" charset="-122"/>
                <a:ea typeface="黑体" panose="02010609060101010101" pitchFamily="49" charset="-122"/>
                <a:latin typeface="黑体" panose="02010609060101010101" pitchFamily="49" charset="-122"/>
              </a:rPr>
              <a:t> </a:t>
            </a:r>
            <a:r>
              <a:rPr altLang="en-US" lang="zh-CN" b="1" sz="2800">
                <a:cs typeface="黑体" panose="02010609060101010101" pitchFamily="49" charset="-122"/>
                <a:ea typeface="黑体" panose="02010609060101010101" pitchFamily="49" charset="-122"/>
                <a:latin typeface="黑体" panose="02010609060101010101" pitchFamily="49" charset="-122"/>
              </a:rPr>
              <a:t>、自主选择权</a:t>
            </a:r>
            <a:r>
              <a:rPr altLang="zh-CN" lang="en-US" b="1" sz="2800">
                <a:cs typeface="黑体" panose="02010609060101010101" pitchFamily="49" charset="-122"/>
                <a:ea typeface="黑体" panose="02010609060101010101" pitchFamily="49" charset="-122"/>
                <a:latin typeface="黑体" panose="02010609060101010101" pitchFamily="49" charset="-122"/>
              </a:rPr>
              <a:t> </a:t>
            </a:r>
            <a:r>
              <a:rPr altLang="en-US" lang="zh-CN" b="1" sz="2800">
                <a:cs typeface="黑体" panose="02010609060101010101" pitchFamily="49" charset="-122"/>
                <a:ea typeface="黑体" panose="02010609060101010101" pitchFamily="49" charset="-122"/>
                <a:latin typeface="黑体" panose="02010609060101010101" pitchFamily="49" charset="-122"/>
              </a:rPr>
              <a:t>（</a:t>
            </a:r>
            <a:r>
              <a:rPr altLang="zh-CN" lang="en-US" b="1" sz="2800">
                <a:cs typeface="黑体" panose="02010609060101010101" pitchFamily="49" charset="-122"/>
                <a:ea typeface="黑体" panose="02010609060101010101" pitchFamily="49" charset="-122"/>
                <a:latin typeface="黑体" panose="02010609060101010101" pitchFamily="49" charset="-122"/>
              </a:rPr>
              <a:t>1</a:t>
            </a:r>
            <a:r>
              <a:rPr altLang="en-US" lang="zh-CN" b="1" sz="2800">
                <a:cs typeface="黑体" panose="02010609060101010101" pitchFamily="49" charset="-122"/>
                <a:ea typeface="黑体" panose="02010609060101010101" pitchFamily="49" charset="-122"/>
                <a:latin typeface="黑体" panose="02010609060101010101" pitchFamily="49" charset="-122"/>
              </a:rPr>
              <a:t>分）</a:t>
            </a:r>
            <a:r>
              <a:rPr altLang="zh-CN" lang="en-US" b="1" sz="2800">
                <a:cs typeface="黑体" panose="02010609060101010101" pitchFamily="49" charset="-122"/>
                <a:ea typeface="黑体" panose="02010609060101010101" pitchFamily="49" charset="-122"/>
                <a:latin typeface="黑体" panose="02010609060101010101" pitchFamily="49" charset="-122"/>
              </a:rPr>
              <a:t> </a:t>
            </a:r>
            <a:r>
              <a:rPr altLang="en-US" lang="zh-CN" b="1" sz="2800">
                <a:cs typeface="黑体" panose="02010609060101010101" pitchFamily="49" charset="-122"/>
                <a:ea typeface="黑体" panose="02010609060101010101" pitchFamily="49" charset="-122"/>
                <a:latin typeface="黑体" panose="02010609060101010101" pitchFamily="49" charset="-122"/>
              </a:rPr>
              <a:t>法院应支持退还票款</a:t>
            </a:r>
            <a:r>
              <a:rPr altLang="zh-CN" lang="en-US" b="1" sz="2800">
                <a:cs typeface="黑体" panose="02010609060101010101" pitchFamily="49" charset="-122"/>
                <a:ea typeface="黑体" panose="02010609060101010101" pitchFamily="49" charset="-122"/>
                <a:latin typeface="黑体" panose="02010609060101010101" pitchFamily="49" charset="-122"/>
              </a:rPr>
              <a:t>310</a:t>
            </a:r>
            <a:r>
              <a:rPr altLang="en-US" lang="zh-CN" b="1" sz="2800">
                <a:cs typeface="黑体" panose="02010609060101010101" pitchFamily="49" charset="-122"/>
                <a:ea typeface="黑体" panose="02010609060101010101" pitchFamily="49" charset="-122"/>
                <a:latin typeface="黑体" panose="02010609060101010101" pitchFamily="49" charset="-122"/>
              </a:rPr>
              <a:t>元和三倍赔偿的诉讼请求。</a:t>
            </a:r>
            <a:endParaRPr altLang="en-US" lang="zh-CN" b="1" sz="2800">
              <a:cs typeface="黑体" panose="02010609060101010101" pitchFamily="49" charset="-122"/>
              <a:ea typeface="黑体" panose="02010609060101010101" pitchFamily="49" charset="-122"/>
              <a:latin typeface="黑体" panose="02010609060101010101" pitchFamily="49" charset="-122"/>
            </a:endParaRPr>
          </a:p>
          <a:p>
            <a:pPr marL="0" indent="0" algn="just" defTabSz="266700">
              <a:spcBef>
                <a:spcPct val="0"/>
              </a:spcBef>
              <a:spcAft>
                <a:spcPct val="0"/>
              </a:spcAft>
            </a:pPr>
            <a:r>
              <a:rPr altLang="en-US" lang="en-US" b="1" sz="2800">
                <a:cs typeface="黑体" panose="02010609060101010101" pitchFamily="49" charset="-122"/>
                <a:ea typeface="黑体" panose="02010609060101010101" pitchFamily="49" charset="-122"/>
                <a:latin typeface="黑体" panose="02010609060101010101" pitchFamily="49" charset="-122"/>
              </a:rPr>
              <a:t>④</a:t>
            </a:r>
            <a:r>
              <a:rPr altLang="en-US" lang="zh-CN" b="1" sz="2800">
                <a:cs typeface="黑体" panose="02010609060101010101" pitchFamily="49" charset="-122"/>
                <a:ea typeface="黑体" panose="02010609060101010101" pitchFamily="49" charset="-122"/>
                <a:latin typeface="黑体" panose="02010609060101010101" pitchFamily="49" charset="-122"/>
              </a:rPr>
              <a:t>支持王某的诉讼请求，有助于维护</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消费者</a:t>
            </a:r>
            <a:r>
              <a:rPr altLang="en-US" lang="zh-CN" b="1" sz="2800">
                <a:cs typeface="黑体" panose="02010609060101010101" pitchFamily="49" charset="-122"/>
                <a:ea typeface="黑体" panose="02010609060101010101" pitchFamily="49" charset="-122"/>
                <a:latin typeface="黑体" panose="02010609060101010101" pitchFamily="49" charset="-122"/>
              </a:rPr>
              <a:t>的合法权益，引导电商</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企业</a:t>
            </a:r>
            <a:r>
              <a:rPr altLang="en-US" lang="zh-CN" b="1" sz="2800">
                <a:cs typeface="黑体" panose="02010609060101010101" pitchFamily="49" charset="-122"/>
                <a:ea typeface="黑体" panose="02010609060101010101" pitchFamily="49" charset="-122"/>
                <a:latin typeface="黑体" panose="02010609060101010101" pitchFamily="49" charset="-122"/>
              </a:rPr>
              <a:t>规范经营</a:t>
            </a:r>
            <a:r>
              <a:rPr altLang="zh-CN" lang="en-US" b="1" sz="2800">
                <a:cs typeface="黑体" panose="02010609060101010101" pitchFamily="49" charset="-122"/>
                <a:ea typeface="黑体" panose="02010609060101010101" pitchFamily="49" charset="-122"/>
                <a:latin typeface="黑体" panose="02010609060101010101" pitchFamily="49" charset="-122"/>
              </a:rPr>
              <a:t>/</a:t>
            </a:r>
            <a:r>
              <a:rPr altLang="en-US" lang="zh-CN" b="1" sz="2800">
                <a:cs typeface="黑体" panose="02010609060101010101" pitchFamily="49" charset="-122"/>
                <a:ea typeface="黑体" panose="02010609060101010101" pitchFamily="49" charset="-122"/>
                <a:latin typeface="黑体" panose="02010609060101010101" pitchFamily="49" charset="-122"/>
              </a:rPr>
              <a:t>有利于规范企业诚信经营，</a:t>
            </a:r>
            <a:r>
              <a:rPr altLang="zh-CN" lang="en-US" b="1" sz="2800">
                <a:cs typeface="黑体" panose="02010609060101010101" pitchFamily="49" charset="-122"/>
                <a:ea typeface="黑体" panose="02010609060101010101" pitchFamily="49" charset="-122"/>
                <a:latin typeface="黑体" panose="02010609060101010101" pitchFamily="49" charset="-122"/>
              </a:rPr>
              <a:t> </a:t>
            </a:r>
            <a:r>
              <a:rPr altLang="en-US" lang="zh-CN" b="1" sz="2800">
                <a:cs typeface="黑体" panose="02010609060101010101" pitchFamily="49" charset="-122"/>
                <a:ea typeface="黑体" panose="02010609060101010101" pitchFamily="49" charset="-122"/>
                <a:latin typeface="黑体" panose="02010609060101010101" pitchFamily="49" charset="-122"/>
              </a:rPr>
              <a:t>规范网络消费</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市场秩序</a:t>
            </a:r>
            <a:r>
              <a:rPr altLang="en-US" lang="zh-CN" b="1" sz="2800">
                <a:cs typeface="黑体" panose="02010609060101010101" pitchFamily="49" charset="-122"/>
                <a:ea typeface="黑体" panose="02010609060101010101" pitchFamily="49" charset="-122"/>
                <a:latin typeface="黑体" panose="02010609060101010101" pitchFamily="49" charset="-122"/>
              </a:rPr>
              <a:t>，持续优化网络</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消费环境</a:t>
            </a:r>
            <a:r>
              <a:rPr altLang="en-US" lang="zh-CN" b="1" sz="2800">
                <a:cs typeface="黑体" panose="02010609060101010101" pitchFamily="49" charset="-122"/>
                <a:ea typeface="黑体" panose="02010609060101010101" pitchFamily="49" charset="-122"/>
                <a:latin typeface="黑体" panose="02010609060101010101" pitchFamily="49" charset="-122"/>
              </a:rPr>
              <a:t>，促进</a:t>
            </a:r>
            <a:r>
              <a:rPr altLang="en-US" lang="zh-CN" b="1" sz="2800">
                <a:cs typeface="黑体" panose="02010609060101010101" pitchFamily="49" charset="-122"/>
                <a:highlight>
                  <a:srgbClr val="FFFF00"/>
                </a:highlight>
                <a:ea typeface="黑体" panose="02010609060101010101" pitchFamily="49" charset="-122"/>
                <a:latin typeface="黑体" panose="02010609060101010101" pitchFamily="49" charset="-122"/>
              </a:rPr>
              <a:t>数字经济</a:t>
            </a:r>
            <a:r>
              <a:rPr altLang="en-US" lang="zh-CN" b="1" sz="2800">
                <a:cs typeface="黑体" panose="02010609060101010101" pitchFamily="49" charset="-122"/>
                <a:ea typeface="黑体" panose="02010609060101010101" pitchFamily="49" charset="-122"/>
                <a:latin typeface="黑体" panose="02010609060101010101" pitchFamily="49" charset="-122"/>
              </a:rPr>
              <a:t>持续健康发展</a:t>
            </a:r>
            <a:r>
              <a:rPr altLang="zh-CN" lang="en-US" b="1" sz="2800">
                <a:cs typeface="黑体" panose="02010609060101010101" pitchFamily="49" charset="-122"/>
                <a:ea typeface="黑体" panose="02010609060101010101" pitchFamily="49" charset="-122"/>
                <a:latin typeface="黑体" panose="02010609060101010101" pitchFamily="49" charset="-122"/>
              </a:rPr>
              <a:t>/</a:t>
            </a:r>
            <a:r>
              <a:rPr altLang="en-US" lang="zh-CN" b="1" sz="2800">
                <a:cs typeface="黑体" panose="02010609060101010101" pitchFamily="49" charset="-122"/>
                <a:ea typeface="黑体" panose="02010609060101010101" pitchFamily="49" charset="-122"/>
                <a:latin typeface="黑体" panose="02010609060101010101" pitchFamily="49" charset="-122"/>
              </a:rPr>
              <a:t>维护司法权威</a:t>
            </a:r>
            <a:r>
              <a:rPr altLang="zh-CN" lang="en-US" b="1" sz="2800">
                <a:cs typeface="黑体" panose="02010609060101010101" pitchFamily="49" charset="-122"/>
                <a:ea typeface="黑体" panose="02010609060101010101" pitchFamily="49" charset="-122"/>
                <a:latin typeface="黑体" panose="02010609060101010101" pitchFamily="49" charset="-122"/>
              </a:rPr>
              <a:t>/</a:t>
            </a:r>
            <a:r>
              <a:rPr altLang="en-US" lang="zh-CN" b="1" sz="2800">
                <a:cs typeface="黑体" panose="02010609060101010101" pitchFamily="49" charset="-122"/>
                <a:ea typeface="黑体" panose="02010609060101010101" pitchFamily="49" charset="-122"/>
                <a:latin typeface="黑体" panose="02010609060101010101" pitchFamily="49" charset="-122"/>
              </a:rPr>
              <a:t>维护社会公平正义</a:t>
            </a:r>
            <a:r>
              <a:rPr altLang="zh-CN" lang="en-US" b="1" sz="2800">
                <a:cs typeface="黑体" panose="02010609060101010101" pitchFamily="49" charset="-122"/>
                <a:ea typeface="黑体" panose="02010609060101010101" pitchFamily="49" charset="-122"/>
                <a:latin typeface="黑体" panose="02010609060101010101" pitchFamily="49" charset="-122"/>
              </a:rPr>
              <a:t>/</a:t>
            </a:r>
            <a:r>
              <a:rPr altLang="en-US" lang="zh-CN" b="1" sz="2800">
                <a:cs typeface="黑体" panose="02010609060101010101" pitchFamily="49" charset="-122"/>
                <a:ea typeface="黑体" panose="02010609060101010101" pitchFamily="49" charset="-122"/>
                <a:latin typeface="黑体" panose="02010609060101010101" pitchFamily="49" charset="-122"/>
              </a:rPr>
              <a:t>弘扬社会主义核心价值观。（</a:t>
            </a:r>
            <a:r>
              <a:rPr altLang="zh-CN" lang="en-US" b="1" sz="2800">
                <a:cs typeface="黑体" panose="02010609060101010101" pitchFamily="49" charset="-122"/>
                <a:ea typeface="黑体" panose="02010609060101010101" pitchFamily="49" charset="-122"/>
                <a:latin typeface="黑体" panose="02010609060101010101" pitchFamily="49" charset="-122"/>
              </a:rPr>
              <a:t>2</a:t>
            </a:r>
            <a:r>
              <a:rPr altLang="en-US" lang="zh-CN" b="1" sz="2800">
                <a:cs typeface="黑体" panose="02010609060101010101" pitchFamily="49" charset="-122"/>
                <a:ea typeface="黑体" panose="02010609060101010101" pitchFamily="49" charset="-122"/>
                <a:latin typeface="黑体" panose="02010609060101010101" pitchFamily="49" charset="-122"/>
              </a:rPr>
              <a:t>分）</a:t>
            </a:r>
            <a:endParaRPr altLang="en-US" lang="zh-CN" b="1" sz="2800">
              <a:cs typeface="黑体" panose="02010609060101010101" pitchFamily="49" charset="-122"/>
              <a:ea typeface="黑体" panose="02010609060101010101" pitchFamily="49" charset="-122"/>
              <a:latin typeface="黑体" panose="02010609060101010101" pitchFamily="49" charset="-122"/>
            </a:endParaRPr>
          </a:p>
        </p:txBody>
      </p:sp>
    </p:spTree>
    <p:custDataLst>
      <p:tags r:id="rId1"/>
    </p:custDataLst>
  </p:cSld>
  <p:clrMapOvr>
    <a:masterClrMapping/>
  </p:clrMapOvr>
</p:sld>
</file>

<file path=ppt/slides/slide28.xml><?xml version="1.0" encoding="UTF-8" standalone="yes"?><p:sld xmlns:p="http://schemas.openxmlformats.org/presentationml/2006/main" xmlns:r="http://schemas.openxmlformats.org/officeDocument/2006/relationships" xmlns:a="http://schemas.openxmlformats.org/drawingml/2006/main"><p:cSld><p:spTree><p:nvGrpSpPr><p:cNvPr id="1" name=""/><p:cNvGrpSpPr/><p:nvPr/></p:nvGrpSpPr><p:grpSpPr/><p:sp><p:nvSpPr><p:cNvPr id="4" name="文本框 3"/><p:cNvSpPr/><p:nvPr/></p:nvSpPr><p:spPr><a:xfrm><a:off x="1188720" y="281305"/><a:ext cx="10297795" cy="829945"/></a:xfrm><a:prstGeom prst="rect"><a:avLst/></a:prstGeom></p:spPr><p:txBody><a:bodyPr wrap="square"><a:spAutoFit/></a:bodyPr><a:p><a:pPr indent="0" algn="l" defTabSz="266700" fontAlgn="auto"><a:lnSpc><a:spcPct val="100000"/></a:lnSpc><a:spcBef><a:spcPct val="0"/></a:spcBef><a:spcAft><a:spcPct val="0"/></a:spcAft><a:tabLst><a:tab w:pos="100000" val="l"/></a:tabLst></a:pPr><a:r><a:rPr altLang="zh-CN" lang="en-US" b="1" sz="2400"><a:ea typeface="宋体" panose="02010600030101010101" pitchFamily="2" charset="-122"/><a:latin typeface="宋体" panose="02010600030101010101" pitchFamily="2" charset="-122"/></a:rPr><a:t>20.</a:t></a:r><a:r><a:rPr altLang="en-US" lang="zh-CN" b="1" sz="2400"><a:ea typeface="宋体" panose="02010600030101010101" pitchFamily="2" charset="-122"/><a:latin typeface="宋体" panose="02010600030101010101" pitchFamily="2" charset="-122"/></a:rPr><a:t>（</a:t></a:r><a:r><a:rPr altLang="zh-CN" lang="en-US" b="1" sz="2400"><a:ea typeface="宋体" panose="02010600030101010101" pitchFamily="2" charset="-122"/><a:latin typeface="宋体" panose="02010600030101010101" pitchFamily="2" charset="-122"/></a:rPr><a:t>9</a:t></a:r><a:r><a:rPr altLang="en-US" lang="zh-CN" b="1" sz="2400"><a:ea typeface="宋体" panose="02010600030101010101" pitchFamily="2" charset="-122"/><a:latin typeface="宋体" panose="02010600030101010101" pitchFamily="2" charset="-122"/></a:rPr><a:t>分）</a:t></a:r><a:r><a:rPr altLang="en-US" lang="zh-CN" b="1" sz="2400"><a:ea typeface="楷体" panose="02010609060101010101" charset="-122"/><a:latin typeface="楷体" panose="02010609060101010101" charset="-122"/></a:rPr><a:t>经济循环畅通需要各产业有序链接、高效畅通。</a:t></a:r><a:endParaRPr altLang="en-US" lang="zh-CN" b="1" sz="2400"><a:ea typeface="楷体" panose="02010609060101010101" charset="-122"/><a:latin typeface="楷体" panose="02010609060101010101" charset="-122"/></a:endParaRPr></a:p><a:p><a:pPr indent="266700" algn="just" defTabSz="266700" fontAlgn="auto"><a:lnSpc><a:spcPct val="100000"/></a:lnSpc><a:spcBef><a:spcPct val="0"/></a:spcBef><a:spcAft><a:spcPct val="0"/></a:spcAft></a:pPr><a:r><a:rPr altLang="en-US" lang="zh-CN" b="1" sz="2400"><a:ea typeface="楷体" panose="02010609060101010101" charset="-122"/><a:latin typeface="楷体" panose="02010609060101010101" charset="-122"/></a:rPr><a:t>当前，全球产业链供应链发展格局波动、重构明显，呈现新态势。</a:t></a:r><a:endParaRPr altLang="en-US" lang="zh-CN" b="1" sz="2400"><a:ea typeface="楷体" panose="02010609060101010101" charset="-122"/><a:latin typeface="楷体" panose="02010609060101010101" charset="-122"/></a:endParaRPr></a:p></p:txBody></p:sp><p:graphicFrame><p:nvGraphicFramePr><p:cNvPr id="5" name="表格 4"/><p:cNvGraphicFramePr/><p:nvPr><p:custDataLst><p:tags r:id="rId1"/></p:custDataLst></p:nvPr></p:nvGraphicFramePr><p:xfrm><a:off x="852170" y="1305560"/><a:ext cx="10647680" cy="4023360"/></p:xfrm><a:graphic><a:graphicData uri="http://schemas.openxmlformats.org/drawingml/2006/table"><a:tbl><a:tblPr/><a:tblGrid><a:gridCol w="2661920"/><a:gridCol w="2661920"/><a:gridCol w="2661920"/><a:gridCol w="2661920"/></a:tblGrid><a:tr h="365760"><a:tc><a:txBody><a:bodyPr/><a:p><a:pPr indent="0" algn="ctr" fontAlgn="auto"><a:spcBef><a:spcPct val="0"/></a:spcBef><a:spcAft><a:spcPct val="0"/></a:spcAft></a:pPr><a:r><a:rPr lang="zh-CN" b="1" sz="2400"><a:ea typeface="楷体" panose="02010609060101010101" charset="-122"/><a:latin typeface="楷体" panose="02010609060101010101" charset="-122"/></a:rPr><a:t>多元化布局</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0" algn="ctr" fontAlgn="auto"><a:spcBef><a:spcPct val="0"/></a:spcBef><a:spcAft><a:spcPct val="0"/></a:spcAft></a:pPr><a:r><a:rPr lang="zh-CN" b="1" sz="2400"><a:ea typeface="楷体" panose="02010609060101010101" charset="-122"/><a:latin typeface="楷体" panose="02010609060101010101" charset="-122"/></a:rPr><a:t>区域化合作</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0" algn="ctr" fontAlgn="auto"><a:spcBef><a:spcPct val="0"/></a:spcBef><a:spcAft><a:spcPct val="0"/></a:spcAft></a:pPr><a:r><a:rPr lang="zh-CN" b="1" sz="2400"><a:ea typeface="楷体" panose="02010609060101010101" charset="-122"/><a:latin typeface="楷体" panose="02010609060101010101" charset="-122"/></a:rPr><a:t>绿色化转型</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0" algn="ctr" fontAlgn="auto"><a:spcBef><a:spcPct val="0"/></a:spcBef><a:spcAft><a:spcPct val="0"/></a:spcAft></a:pPr><a:r><a:rPr lang="zh-CN" b="1" sz="2400"><a:ea typeface="楷体" panose="02010609060101010101" charset="-122"/><a:latin typeface="楷体" panose="02010609060101010101" charset="-122"/></a:rPr><a:t>数字化加速</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r><a:tr h="3657600"><a:tc><a:txBody><a:bodyPr/><a:p><a:pPr indent="266700" algn="l" fontAlgn="auto"><a:spcBef><a:spcPct val="0"/></a:spcBef><a:spcAft><a:spcPct val="0"/></a:spcAft></a:pPr><a:r><a:rPr lang="zh-CN" b="1" sz="2400"><a:ea typeface="楷体" panose="02010609060101010101" charset="-122"/><a:latin typeface="楷体" panose="02010609060101010101" charset="-122"/></a:rPr><a:t>各国着手推动本国产业链供应链多元化布局，跨国公司主动调整战略、分散投资，多点布局产能，推进能源矿产等来源地和运输通道多元化，提高产业链供应链韧性。</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266700" algn="l" fontAlgn="auto"><a:spcBef><a:spcPct val="0"/></a:spcBef><a:spcAft><a:spcPct val="0"/></a:spcAft></a:pPr><a:r><a:rPr lang="zh-CN" b="1" sz="2400"><a:ea typeface="楷体" panose="02010609060101010101" charset="-122"/><a:latin typeface="楷体" panose="02010609060101010101" charset="-122"/></a:rPr><a:t>不少国家缩短产业链长度，将原本分散到各国的生产环节缩短至更近的国家生产，缩短跨境供应链距离，避免出现因供应链过长、产业链过于集中所带来的</a:t></a:r><a:r><a:rPr altLang="en-US" lang="zh-CN" b="1" sz="2400"><a:ea typeface="楷体" panose="02010609060101010101" charset="-122"/><a:latin typeface="楷体" panose="02010609060101010101" charset="-122"/></a:rPr><a:t>“断链”风险。</a:t></a:r><a:endParaRPr altLang="en-US"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266700" algn="l" fontAlgn="auto"><a:spcBef><a:spcPct val="0"/></a:spcBef><a:spcAft><a:spcPct val="0"/></a:spcAft></a:pPr><a:r><a:rPr lang="zh-CN" b="1" sz="2400"><a:ea typeface="楷体" panose="02010609060101010101" charset="-122"/><a:latin typeface="楷体" panose="02010609060101010101" charset="-122"/></a:rPr><a:t>绿色认证等国际规则将直接影响各国产品的国际竞争力。不少国家已通过立法等多种渠道加速绿色低碳转型，在降低碳排放、增加使用清洁能源方面加大政策力度。</a:t></a:r><a:r><a:rPr altLang="en-US" lang="zh-CN" b="1" sz="2400"><a:ea typeface="楷体" panose="02010609060101010101" charset="-122"/><a:latin typeface="楷体" panose="02010609060101010101" charset="-122"/></a:rPr><a:t> </a:t></a:r><a:endParaRPr altLang="en-US"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266700" algn="l" fontAlgn="auto"><a:spcBef><a:spcPct val="0"/></a:spcBef><a:spcAft><a:spcPct val="0"/></a:spcAft></a:pPr><a:r><a:rPr lang="zh-CN" b="1" sz="2400"><a:ea typeface="楷体" panose="02010609060101010101" charset="-122"/><a:latin typeface="楷体" panose="02010609060101010101" charset="-122"/></a:rPr><a:t>全球产业链受高速发展的信息技术冲击，互联网、大数据、人工智能和实体经济深度融合特征也日益彰显。数字技术催生制造业服务化，促使全球产业链协同化、分散化。</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r></a:tbl></a:graphicData></a:graphic></p:graphicFrame><p:sp><p:nvSpPr><p:cNvPr id="6" name="文本框 5"/><p:cNvSpPr/><p:nvPr/></p:nvSpPr><p:spPr><a:xfrm><a:off x="1321435" y="5519420"/><a:ext cx="9580880" cy="829945"/></a:xfrm><a:prstGeom prst="rect"><a:avLst/></a:prstGeom></p:spPr><p:txBody><a:bodyPr wrap="square"><a:spAutoFit/></a:bodyPr><a:p><a:pPr indent="266700" algn="l" defTabSz="266700" fontAlgn="auto"><a:lnSpc><a:spcPct val="100000"/></a:lnSpc><a:spcBef><a:spcPct val="0"/></a:spcBef><a:spcAft><a:spcPct val="0"/></a:spcAft></a:pPr><a:r><a:rPr altLang="zh-CN" lang="en-US" b="1" sz="2400"><a:ea typeface="宋体" panose="02010600030101010101" pitchFamily="2" charset="-122"/><a:latin typeface="宋体" panose="02010600030101010101" pitchFamily="2" charset="-122"/></a:rPr><a:t>  </a:t></a:r><a:r><a:rPr altLang="en-US" lang="zh-CN" b="1" sz="2400"><a:ea typeface="宋体" panose="02010600030101010101" pitchFamily="2" charset="-122"/><a:latin typeface="宋体" panose="02010600030101010101" pitchFamily="2" charset="-122"/></a:rPr><a:t>结合材料，运用</a:t></a:r><a:r><a:rPr altLang="zh-CN" lang="en-US" b="1" sz="2400"><a:ea typeface="宋体" panose="02010600030101010101" pitchFamily="2" charset="-122"/><a:latin typeface="宋体" panose="02010600030101010101" pitchFamily="2" charset="-122"/></a:rPr><a:t>《</a:t></a:r><a:r><a:rPr altLang="en-US" lang="zh-CN" b="1" sz="2400"><a:ea typeface="宋体" panose="02010600030101010101" pitchFamily="2" charset="-122"/><a:latin typeface="宋体" panose="02010600030101010101" pitchFamily="2" charset="-122"/></a:rPr><a:t>当代国际政治与经济</a:t></a:r><a:r><a:rPr altLang="zh-CN" lang="en-US" b="1" sz="2400"><a:ea typeface="宋体" panose="02010600030101010101" pitchFamily="2" charset="-122"/><a:latin typeface="宋体" panose="02010600030101010101" pitchFamily="2" charset="-122"/></a:rPr><a:t>》</a:t></a:r><a:r><a:rPr altLang="en-US" lang="zh-CN" b="1" sz="2400"><a:ea typeface="宋体" panose="02010600030101010101" pitchFamily="2" charset="-122"/><a:latin typeface="宋体" panose="02010600030101010101" pitchFamily="2" charset="-122"/></a:rPr><a:t>知识，说明我国</a:t></a:r><a:r><a:rPr altLang="en-US" lang="zh-CN" b="1" sz="2400"><a:solidFill><a:srgbClr val="FF0000"/></a:solidFill><a:ea typeface="宋体" panose="02010600030101010101" pitchFamily="2" charset="-122"/><a:latin typeface="宋体" panose="02010600030101010101" pitchFamily="2" charset="-122"/></a:rPr><a:t>应如何应对</a:t></a:r><a:r><a:rPr altLang="en-US" lang="zh-CN" b="1" sz="2400"><a:ea typeface="宋体" panose="02010600030101010101" pitchFamily="2" charset="-122"/><a:latin typeface="宋体" panose="02010600030101010101" pitchFamily="2" charset="-122"/></a:rPr><a:t>全球产业链供应链</a:t></a:r><a:r><a:rPr altLang="en-US" lang="zh-CN" b="1" sz="2400"><a:solidFill><a:srgbClr val="FF0000"/></a:solidFill><a:ea typeface="宋体" panose="02010600030101010101" pitchFamily="2" charset="-122"/><a:latin typeface="宋体" panose="02010600030101010101" pitchFamily="2" charset="-122"/></a:rPr><a:t>新态势</a:t></a:r><a:r><a:rPr altLang="en-US" lang="zh-CN" b="1" sz="2400"><a:ea typeface="宋体" panose="02010600030101010101" pitchFamily="2" charset="-122"/><a:latin typeface="宋体" panose="02010600030101010101" pitchFamily="2" charset="-122"/></a:rPr><a:t>，在全球产业变革中</a:t></a:r><a:r><a:rPr altLang="en-US" lang="zh-CN" b="1" sz="2400"><a:solidFill><a:srgbClr val="FF0000"/></a:solidFill><a:ea typeface="宋体" panose="02010600030101010101" pitchFamily="2" charset="-122"/><a:latin typeface="宋体" panose="02010600030101010101" pitchFamily="2" charset="-122"/></a:rPr><a:t>赢得主动</a:t></a:r><a:r><a:rPr altLang="en-US" lang="zh-CN" b="1" sz="2400"><a:ea typeface="宋体" panose="02010600030101010101" pitchFamily="2" charset="-122"/><a:latin typeface="宋体" panose="02010600030101010101" pitchFamily="2" charset="-122"/></a:rPr><a:t>。</a:t></a:r><a:endParaRPr altLang="en-US" lang="zh-CN" b="1" sz="2400"><a:ea typeface="宋体" panose="02010600030101010101" pitchFamily="2" charset="-122"/><a:latin typeface="宋体" panose="02010600030101010101" pitchFamily="2" charset="-122"/></a:endParaRPr></a:p></p:txBody></p:sp></p:spTree><p:custDataLst><p:tags r:id="rId2"/></p:custDataLst></p:cSld><p:clrMapOvr><a:masterClrMapping/></p:clrMapOvr></p:sld>
</file>

<file path=ppt/slides/slide29.xml><?xml version="1.0" encoding="UTF-8" standalone="yes"?><p:sld xmlns:p="http://schemas.openxmlformats.org/presentationml/2006/main" xmlns:r="http://schemas.openxmlformats.org/officeDocument/2006/relationships" xmlns:a="http://schemas.openxmlformats.org/drawingml/2006/main"><p:cSld><p:spTree><p:nvGrpSpPr><p:cNvPr id="1" name=""/><p:cNvGrpSpPr/><p:nvPr/></p:nvGrpSpPr><p:grpSpPr/><p:sp><p:nvSpPr><p:cNvPr id="4" name="文本框 3"/><p:cNvSpPr/><p:nvPr/></p:nvSpPr><p:spPr><a:xfrm><a:off x="1188720" y="281305"/><a:ext cx="10297795" cy="829945"/></a:xfrm><a:prstGeom prst="rect"><a:avLst/></a:prstGeom></p:spPr><p:txBody><a:bodyPr wrap="square"><a:spAutoFit/></a:bodyPr><a:p><a:pPr indent="0" algn="l" defTabSz="266700" fontAlgn="auto"><a:lnSpc><a:spcPct val="100000"/></a:lnSpc><a:spcBef><a:spcPct val="0"/></a:spcBef><a:spcAft><a:spcPct val="0"/></a:spcAft><a:tabLst><a:tab w:pos="100000" val="l"/></a:tabLst></a:pPr><a:r><a:rPr altLang="zh-CN" lang="en-US" b="1" sz="2400"><a:ea typeface="宋体" panose="02010600030101010101" pitchFamily="2" charset="-122"/><a:latin typeface="宋体" panose="02010600030101010101" pitchFamily="2" charset="-122"/></a:rPr><a:t>20.</a:t></a:r><a:r><a:rPr altLang="en-US" lang="zh-CN" b="1" sz="2400"><a:ea typeface="宋体" panose="02010600030101010101" pitchFamily="2" charset="-122"/><a:latin typeface="宋体" panose="02010600030101010101" pitchFamily="2" charset="-122"/></a:rPr><a:t>（</a:t></a:r><a:r><a:rPr altLang="zh-CN" lang="en-US" b="1" sz="2400"><a:ea typeface="宋体" panose="02010600030101010101" pitchFamily="2" charset="-122"/><a:latin typeface="宋体" panose="02010600030101010101" pitchFamily="2" charset="-122"/></a:rPr><a:t>9</a:t></a:r><a:r><a:rPr altLang="en-US" lang="zh-CN" b="1" sz="2400"><a:ea typeface="宋体" panose="02010600030101010101" pitchFamily="2" charset="-122"/><a:latin typeface="宋体" panose="02010600030101010101" pitchFamily="2" charset="-122"/></a:rPr><a:t>分）</a:t></a:r><a:r><a:rPr altLang="en-US" lang="zh-CN" b="1" sz="2400"><a:ea typeface="楷体" panose="02010609060101010101" charset="-122"/><a:latin typeface="楷体" panose="02010609060101010101" charset="-122"/></a:rPr><a:t>经济循环畅通需要各产业有序链接、高效畅通。</a:t></a:r><a:endParaRPr altLang="en-US" lang="zh-CN" b="1" sz="2400"><a:ea typeface="楷体" panose="02010609060101010101" charset="-122"/><a:latin typeface="楷体" panose="02010609060101010101" charset="-122"/></a:endParaRPr></a:p><a:p><a:pPr indent="266700" algn="just" defTabSz="266700" fontAlgn="auto"><a:lnSpc><a:spcPct val="100000"/></a:lnSpc><a:spcBef><a:spcPct val="0"/></a:spcBef><a:spcAft><a:spcPct val="0"/></a:spcAft></a:pPr><a:r><a:rPr altLang="en-US" lang="zh-CN" b="1" sz="2400"><a:ea typeface="楷体" panose="02010609060101010101" charset="-122"/><a:latin typeface="楷体" panose="02010609060101010101" charset="-122"/></a:rPr><a:t>当前，全球产业链供应链发展格局波动、重构明显，呈现新态势。</a:t></a:r><a:endParaRPr altLang="en-US" lang="zh-CN" b="1" sz="2400"><a:ea typeface="楷体" panose="02010609060101010101" charset="-122"/><a:latin typeface="楷体" panose="02010609060101010101" charset="-122"/></a:endParaRPr></a:p></p:txBody></p:sp><p:graphicFrame><p:nvGraphicFramePr><p:cNvPr id="5" name="表格 4"/><p:cNvGraphicFramePr/><p:nvPr><p:custDataLst><p:tags r:id="rId1"/></p:custDataLst></p:nvPr></p:nvGraphicFramePr><p:xfrm><a:off x="852170" y="1305560"/><a:ext cx="10647680" cy="4023360"/></p:xfrm><a:graphic><a:graphicData uri="http://schemas.openxmlformats.org/drawingml/2006/table"><a:tbl><a:tblPr/><a:tblGrid><a:gridCol w="2661920"/><a:gridCol w="2661920"/><a:gridCol w="2661920"/><a:gridCol w="2661920"/></a:tblGrid><a:tr h="365760"><a:tc><a:txBody><a:bodyPr/><a:p><a:pPr indent="0" algn="ctr" fontAlgn="auto"><a:spcBef><a:spcPct val="0"/></a:spcBef><a:spcAft><a:spcPct val="0"/></a:spcAft></a:pPr><a:r><a:rPr lang="zh-CN" b="1" sz="2400"><a:ea typeface="楷体" panose="02010609060101010101" charset="-122"/><a:latin typeface="楷体" panose="02010609060101010101" charset="-122"/></a:rPr><a:t>多元化布局</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0" algn="ctr" fontAlgn="auto"><a:spcBef><a:spcPct val="0"/></a:spcBef><a:spcAft><a:spcPct val="0"/></a:spcAft></a:pPr><a:r><a:rPr lang="zh-CN" b="1" sz="2400"><a:ea typeface="楷体" panose="02010609060101010101" charset="-122"/><a:latin typeface="楷体" panose="02010609060101010101" charset="-122"/></a:rPr><a:t>区域化合作</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0" algn="ctr" fontAlgn="auto"><a:spcBef><a:spcPct val="0"/></a:spcBef><a:spcAft><a:spcPct val="0"/></a:spcAft></a:pPr><a:r><a:rPr lang="zh-CN" b="1" sz="2400"><a:ea typeface="楷体" panose="02010609060101010101" charset="-122"/><a:latin typeface="楷体" panose="02010609060101010101" charset="-122"/></a:rPr><a:t>绿色化转型</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0" algn="ctr" fontAlgn="auto"><a:spcBef><a:spcPct val="0"/></a:spcBef><a:spcAft><a:spcPct val="0"/></a:spcAft></a:pPr><a:r><a:rPr lang="zh-CN" b="1" sz="2400"><a:ea typeface="楷体" panose="02010609060101010101" charset="-122"/><a:latin typeface="楷体" panose="02010609060101010101" charset="-122"/></a:rPr><a:t>数字化加速</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r><a:tr h="3657600"><a:tc><a:txBody><a:bodyPr/><a:p><a:pPr indent="266700" algn="l" fontAlgn="auto"><a:spcBef><a:spcPct val="0"/></a:spcBef><a:spcAft><a:spcPct val="0"/></a:spcAft></a:pPr><a:r><a:rPr lang="zh-CN" b="1" sz="2400"><a:ea typeface="楷体" panose="02010609060101010101" charset="-122"/><a:latin typeface="楷体" panose="02010609060101010101" charset="-122"/></a:rPr><a:t>各国着手推动本国产业链供应链</a:t></a:r><a:r><a:rPr lang="zh-CN" b="1" sz="2400"><a:highlight><a:srgbClr val="00FFFF"/></a:highlight><a:ea typeface="楷体" panose="02010609060101010101" charset="-122"/><a:latin typeface="楷体" panose="02010609060101010101" charset="-122"/></a:rPr><a:t>多元化布局</a:t></a:r><a:r><a:rPr lang="zh-CN" b="1" sz="2400"><a:ea typeface="楷体" panose="02010609060101010101" charset="-122"/><a:latin typeface="楷体" panose="02010609060101010101" charset="-122"/></a:rPr><a:t>，跨国公司主动调整战略、分散投资，多点布局产能，推进能源矿产等来源地和运输通道多元化，提高产业链供应链韧性。</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266700" algn="l" fontAlgn="auto"><a:spcBef><a:spcPct val="0"/></a:spcBef><a:spcAft><a:spcPct val="0"/></a:spcAft></a:pPr><a:r><a:rPr lang="zh-CN" b="1" sz="2400"><a:ea typeface="楷体" panose="02010609060101010101" charset="-122"/><a:latin typeface="楷体" panose="02010609060101010101" charset="-122"/></a:rPr><a:t>不少国家缩短产业链长度，将原本分散到各国的生产环节缩短至更近的国家生产，缩短跨境供应链距离，避免出现因供应链过长、产业链过于集中所带来的</a:t></a:r><a:r><a:rPr altLang="en-US" lang="zh-CN" b="1" sz="2400"><a:ea typeface="楷体" panose="02010609060101010101" charset="-122"/><a:latin typeface="楷体" panose="02010609060101010101" charset="-122"/></a:rPr><a:t>“断链”风险。</a:t></a:r><a:endParaRPr altLang="en-US"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266700" algn="l" fontAlgn="auto"><a:spcBef><a:spcPct val="0"/></a:spcBef><a:spcAft><a:spcPct val="0"/></a:spcAft></a:pPr><a:r><a:rPr lang="zh-CN" b="1" sz="2400"><a:ea typeface="楷体" panose="02010609060101010101" charset="-122"/><a:latin typeface="楷体" panose="02010609060101010101" charset="-122"/></a:rPr><a:t>绿色认证等国际规则将直接影响各国产品的国际竞争力。不少国家已通过立法等多种渠道加速绿色低碳转型，在降低碳排放、增加使用清洁能源方面加大政策力度。</a:t></a:r><a:r><a:rPr altLang="en-US" lang="zh-CN" b="1" sz="2400"><a:ea typeface="楷体" panose="02010609060101010101" charset="-122"/><a:latin typeface="楷体" panose="02010609060101010101" charset="-122"/></a:rPr><a:t> </a:t></a:r><a:endParaRPr altLang="en-US"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c><a:txBody><a:bodyPr/><a:p><a:pPr indent="266700" algn="l" fontAlgn="auto"><a:spcBef><a:spcPct val="0"/></a:spcBef><a:spcAft><a:spcPct val="0"/></a:spcAft></a:pPr><a:r><a:rPr lang="zh-CN" b="1" sz="2400"><a:ea typeface="楷体" panose="02010609060101010101" charset="-122"/><a:latin typeface="楷体" panose="02010609060101010101" charset="-122"/></a:rPr><a:t>全球产业链受高速发展的信息技术冲击，互联网、大数据、人工智能和实体经济深度融合特征也日益彰显。数字技术催生制造业服务化，促使全球产业链协同化、分散化。</a:t></a:r><a:endParaRPr lang="zh-CN" b="1" sz="2400"><a:ea typeface="楷体" panose="02010609060101010101" charset="-122"/><a:latin typeface="楷体" panose="02010609060101010101" charset="-122"/></a:endParaRPr></a:p></a:txBody><a:tcPr marL="68580" marR="68580" marT="0" marB="0" anchor="t" anchorCtr="0"><a:lnL w="6350" cmpd="sng"><a:solidFill><a:srgbClr val="000008"/></a:solidFill><a:prstDash val="solid"/><a:headEnd type="none" w="med" len="med"/><a:tailEnd type="none" w="med" len="med"/></a:lnL><a:lnR w="6350" cmpd="sng"><a:solidFill><a:srgbClr val="000008"/></a:solidFill><a:prstDash val="solid"/><a:headEnd type="none" w="med" len="med"/><a:tailEnd type="none" w="med" len="med"/></a:lnR><a:lnT w="6350" cmpd="sng"><a:solidFill><a:srgbClr val="000008"/></a:solidFill><a:prstDash val="solid"/><a:headEnd type="none" w="med" len="med"/><a:tailEnd type="none" w="med" len="med"/></a:lnT><a:lnB w="6350" cmpd="sng"><a:solidFill><a:srgbClr val="000008"/></a:solidFill><a:prstDash val="solid"/><a:headEnd type="none" w="med" len="med"/><a:tailEnd type="none" w="med" len="med"/></a:lnB><a:noFill/></a:tcPr></a:tc></a:tr></a:tbl></a:graphicData></a:graphic></p:graphicFrame><p:sp><p:nvSpPr><p:cNvPr id="6" name="文本框 5"/><p:cNvSpPr/><p:nvPr/></p:nvSpPr><p:spPr><a:xfrm><a:off x="1321435" y="5519420"/><a:ext cx="9580880" cy="829945"/></a:xfrm><a:prstGeom prst="rect"><a:avLst/></a:prstGeom></p:spPr><p:txBody><a:bodyPr wrap="square"><a:spAutoFit/></a:bodyPr><a:p><a:pPr indent="266700" algn="l" defTabSz="266700" fontAlgn="auto"><a:lnSpc><a:spcPct val="100000"/></a:lnSpc><a:spcBef><a:spcPct val="0"/></a:spcBef><a:spcAft><a:spcPct val="0"/></a:spcAft></a:pPr><a:r><a:rPr altLang="zh-CN" lang="en-US" b="1" sz="2400"><a:solidFill><a:schemeClr val="tx1"/></a:solidFill><a:ea typeface="宋体" panose="02010600030101010101" pitchFamily="2" charset="-122"/><a:latin typeface="宋体" panose="02010600030101010101" pitchFamily="2" charset="-122"/></a:rPr><a:t>  </a:t></a:r><a:r><a:rPr altLang="en-US" lang="zh-CN" b="1" sz="2400"><a:solidFill><a:schemeClr val="tx1"/></a:solidFill><a:ea typeface="宋体" panose="02010600030101010101" pitchFamily="2" charset="-122"/><a:latin typeface="宋体" panose="02010600030101010101" pitchFamily="2" charset="-122"/></a:rPr><a:t>结合材料，运用</a:t></a:r><a:r><a:rPr altLang="zh-CN" lang="en-US" b="1" sz="2400"><a:solidFill><a:schemeClr val="tx1"/></a:solidFill><a:ea typeface="宋体" panose="02010600030101010101" pitchFamily="2" charset="-122"/><a:latin typeface="宋体" panose="02010600030101010101" pitchFamily="2" charset="-122"/></a:rPr><a:t>《</a:t></a:r><a:r><a:rPr altLang="en-US" lang="zh-CN" b="1" sz="2400"><a:solidFill><a:schemeClr val="tx1"/></a:solidFill><a:ea typeface="宋体" panose="02010600030101010101" pitchFamily="2" charset="-122"/><a:latin typeface="宋体" panose="02010600030101010101" pitchFamily="2" charset="-122"/></a:rPr><a:t>当代国际政治与经济</a:t></a:r><a:r><a:rPr altLang="zh-CN" lang="en-US" b="1" sz="2400"><a:solidFill><a:schemeClr val="tx1"/></a:solidFill><a:ea typeface="宋体" panose="02010600030101010101" pitchFamily="2" charset="-122"/><a:latin typeface="宋体" panose="02010600030101010101" pitchFamily="2" charset="-122"/></a:rPr><a:t>》</a:t></a:r><a:r><a:rPr altLang="en-US" lang="zh-CN" b="1" sz="2400"><a:solidFill><a:schemeClr val="tx1"/></a:solidFill><a:ea typeface="宋体" panose="02010600030101010101" pitchFamily="2" charset="-122"/><a:latin typeface="宋体" panose="02010600030101010101" pitchFamily="2" charset="-122"/></a:rPr><a:t>知识，说明我国</a:t></a:r><a:r><a:rPr altLang="en-US" lang="zh-CN" b="1" sz="2400"><a:solidFill><a:schemeClr val="tx1"/></a:solidFill><a:highlight><a:srgbClr val="FFFF00"/></a:highlight><a:ea typeface="宋体" panose="02010600030101010101" pitchFamily="2" charset="-122"/><a:latin typeface="宋体" panose="02010600030101010101" pitchFamily="2" charset="-122"/></a:rPr><a:t>应如何应对</a:t></a:r><a:r><a:rPr altLang="en-US" lang="zh-CN" b="1" sz="2400"><a:solidFill><a:schemeClr val="tx1"/></a:solidFill><a:ea typeface="宋体" panose="02010600030101010101" pitchFamily="2" charset="-122"/><a:latin typeface="宋体" panose="02010600030101010101" pitchFamily="2" charset="-122"/></a:rPr><a:t>全球产业链供应链</a:t></a:r><a:r><a:rPr altLang="en-US" lang="zh-CN" b="1" sz="2400"><a:solidFill><a:schemeClr val="tx1"/></a:solidFill><a:highlight><a:srgbClr val="FFFF00"/></a:highlight><a:ea typeface="宋体" panose="02010600030101010101" pitchFamily="2" charset="-122"/><a:latin typeface="宋体" panose="02010600030101010101" pitchFamily="2" charset="-122"/></a:rPr><a:t>新态势</a:t></a:r><a:r><a:rPr altLang="en-US" lang="zh-CN" b="1" sz="2400"><a:solidFill><a:schemeClr val="tx1"/></a:solidFill><a:ea typeface="宋体" panose="02010600030101010101" pitchFamily="2" charset="-122"/><a:latin typeface="宋体" panose="02010600030101010101" pitchFamily="2" charset="-122"/></a:rPr><a:t>，在全球产业变革中</a:t></a:r><a:r><a:rPr altLang="en-US" lang="zh-CN" b="1" sz="2400"><a:solidFill><a:schemeClr val="tx1"/></a:solidFill><a:highlight><a:srgbClr val="FFFF00"/></a:highlight><a:ea typeface="宋体" panose="02010600030101010101" pitchFamily="2" charset="-122"/><a:latin typeface="宋体" panose="02010600030101010101" pitchFamily="2" charset="-122"/></a:rPr><a:t>赢得主动</a:t></a:r><a:r><a:rPr altLang="en-US" lang="zh-CN" b="1" sz="2400"><a:solidFill><a:schemeClr val="tx1"/></a:solidFill><a:ea typeface="宋体" panose="02010600030101010101" pitchFamily="2" charset="-122"/><a:latin typeface="宋体" panose="02010600030101010101" pitchFamily="2" charset="-122"/></a:rPr><a:t>。</a:t></a:r><a:endParaRPr altLang="en-US" lang="zh-CN" b="1" sz="2400"><a:solidFill><a:schemeClr val="tx1"/></a:solidFill><a:ea typeface="宋体" panose="02010600030101010101" pitchFamily="2" charset="-122"/><a:latin typeface="宋体" panose="02010600030101010101" pitchFamily="2" charset="-122"/></a:endParaRPr></a:p></p:txBody></p:sp></p:spTree><p:custDataLst><p:tags r:id="rId2"/></p:custDataLst></p:cSld><p:clrMapOvr><a:masterClrMapping/></p:clrMapOvr></p:sld>
</file>

<file path=ppt/slides/slide3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300355" y="844550"/>
            <a:ext cx="11744325" cy="4892675"/>
          </a:xfrm>
          <a:prstGeom prst="rect">
            <a:avLst/>
          </a:prstGeom>
        </p:spPr>
        <p:txBody>
          <a:bodyPr wrap="square">
            <a:spAutoFit/>
          </a:bodyPr>
          <a:p>
            <a:pPr indent="304800" algn="just" defTabSz="266700" fontAlgn="auto">
              <a:lnSpc>
                <a:spcPct val="100000"/>
              </a:lnSpc>
              <a:spcBef>
                <a:spcPct val="0"/>
              </a:spcBef>
              <a:spcAft>
                <a:spcPct val="0"/>
              </a:spcAft>
            </a:pPr>
            <a:r>
              <a:rPr altLang="zh-CN" lang="en-US" b="1" sz="2400">
                <a:solidFill>
                  <a:schemeClr val="tx1"/>
                </a:solidFill>
                <a:ea typeface="宋体" panose="02010600030101010101" pitchFamily="2" charset="-122"/>
                <a:latin typeface="宋体" panose="02010600030101010101" pitchFamily="2" charset="-122"/>
              </a:rPr>
              <a:t>①</a:t>
            </a:r>
            <a:r>
              <a:rPr altLang="en-US" lang="zh-CN" b="1" sz="2400">
                <a:solidFill>
                  <a:schemeClr val="tx1"/>
                </a:solidFill>
                <a:ea typeface="宋体" panose="02010600030101010101" pitchFamily="2" charset="-122"/>
                <a:latin typeface="宋体" panose="02010600030101010101" pitchFamily="2" charset="-122"/>
              </a:rPr>
              <a:t>顺应经济全球化趋势，鼓励和支持有实力的跨国公司在全球范围内从事对外直接投资，利用世界各地的优势组织生产经营，</a:t>
            </a:r>
            <a:r>
              <a:rPr altLang="en-US" lang="zh-CN" b="1" sz="2400">
                <a:solidFill>
                  <a:schemeClr val="tx1"/>
                </a:solidFill>
                <a:highlight>
                  <a:srgbClr val="FFFF00"/>
                </a:highlight>
                <a:ea typeface="宋体" panose="02010600030101010101" pitchFamily="2" charset="-122"/>
                <a:latin typeface="宋体" panose="02010600030101010101" pitchFamily="2" charset="-122"/>
              </a:rPr>
              <a:t>维护</a:t>
            </a:r>
            <a:r>
              <a:rPr altLang="en-US" lang="zh-CN" b="1" sz="2400">
                <a:solidFill>
                  <a:schemeClr val="tx1"/>
                </a:solidFill>
                <a:ea typeface="宋体" panose="02010600030101010101" pitchFamily="2" charset="-122"/>
                <a:latin typeface="宋体" panose="02010600030101010101" pitchFamily="2" charset="-122"/>
              </a:rPr>
              <a:t>多元稳定的国际经济格局和经贸关系。（</a:t>
            </a:r>
            <a:r>
              <a:rPr altLang="zh-CN" lang="en-US" b="1" sz="2400">
                <a:solidFill>
                  <a:schemeClr val="tx1"/>
                </a:solidFill>
                <a:ea typeface="宋体" panose="02010600030101010101" pitchFamily="2" charset="-122"/>
                <a:latin typeface="宋体" panose="02010600030101010101" pitchFamily="2" charset="-122"/>
              </a:rPr>
              <a:t>2</a:t>
            </a:r>
            <a:r>
              <a:rPr altLang="en-US" lang="zh-CN" b="1" sz="2400">
                <a:solidFill>
                  <a:schemeClr val="tx1"/>
                </a:solidFill>
                <a:ea typeface="宋体" panose="02010600030101010101" pitchFamily="2" charset="-122"/>
                <a:latin typeface="宋体" panose="02010600030101010101" pitchFamily="2" charset="-122"/>
              </a:rPr>
              <a:t>分）</a:t>
            </a:r>
            <a:endParaRPr altLang="en-US" lang="zh-CN" b="1" sz="2400">
              <a:solidFill>
                <a:schemeClr val="tx1"/>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zh-CN" lang="en-US" b="1" sz="2400">
                <a:solidFill>
                  <a:schemeClr val="tx1"/>
                </a:solidFill>
                <a:ea typeface="宋体" panose="02010600030101010101" pitchFamily="2" charset="-122"/>
                <a:latin typeface="宋体" panose="02010600030101010101" pitchFamily="2" charset="-122"/>
              </a:rPr>
              <a:t>②</a:t>
            </a:r>
            <a:r>
              <a:rPr altLang="en-US" lang="zh-CN" b="1" sz="2400">
                <a:solidFill>
                  <a:schemeClr val="tx1"/>
                </a:solidFill>
                <a:ea typeface="宋体" panose="02010600030101010101" pitchFamily="2" charset="-122"/>
                <a:latin typeface="宋体" panose="02010600030101010101" pitchFamily="2" charset="-122"/>
              </a:rPr>
              <a:t>深化区域经济合作，秉持亲诚惠容的外交理念，加强与周边国家和地区经济合作，促进区域内投资和贸易自由化便利化，推动区域产业链供应链深度融合。（</a:t>
            </a:r>
            <a:r>
              <a:rPr altLang="zh-CN" lang="en-US" b="1" sz="2400">
                <a:solidFill>
                  <a:schemeClr val="tx1"/>
                </a:solidFill>
                <a:ea typeface="宋体" panose="02010600030101010101" pitchFamily="2" charset="-122"/>
                <a:latin typeface="宋体" panose="02010600030101010101" pitchFamily="2" charset="-122"/>
              </a:rPr>
              <a:t>2</a:t>
            </a:r>
            <a:r>
              <a:rPr altLang="en-US" lang="zh-CN" b="1" sz="2400">
                <a:solidFill>
                  <a:schemeClr val="tx1"/>
                </a:solidFill>
                <a:ea typeface="宋体" panose="02010600030101010101" pitchFamily="2" charset="-122"/>
                <a:latin typeface="宋体" panose="02010600030101010101" pitchFamily="2" charset="-122"/>
              </a:rPr>
              <a:t>分）</a:t>
            </a:r>
            <a:endParaRPr altLang="en-US" lang="zh-CN" b="1" sz="2400">
              <a:solidFill>
                <a:schemeClr val="tx1"/>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zh-CN" lang="en-US" b="1" sz="2400">
                <a:solidFill>
                  <a:schemeClr val="tx1"/>
                </a:solidFill>
                <a:ea typeface="宋体" panose="02010600030101010101" pitchFamily="2" charset="-122"/>
                <a:latin typeface="宋体" panose="02010600030101010101" pitchFamily="2" charset="-122"/>
              </a:rPr>
              <a:t>③</a:t>
            </a:r>
            <a:r>
              <a:rPr altLang="en-US" lang="zh-CN" b="1" sz="2400">
                <a:solidFill>
                  <a:schemeClr val="tx1"/>
                </a:solidFill>
                <a:ea typeface="宋体" panose="02010600030101010101" pitchFamily="2" charset="-122"/>
                <a:latin typeface="宋体" panose="02010600030101010101" pitchFamily="2" charset="-122"/>
              </a:rPr>
              <a:t>优化营商环境，降低企业运营成本，依托我国超大规模市场优势吸引更多外资和高端产业留在或落户中国。坚持独立自主、自力更生，加强核心技术攻关，提升产业链的自主可控能力，增强产业链供应链的韧性和抗风险能力。（</a:t>
            </a:r>
            <a:r>
              <a:rPr altLang="zh-CN" lang="en-US" b="1" sz="2400">
                <a:solidFill>
                  <a:schemeClr val="tx1"/>
                </a:solidFill>
                <a:ea typeface="宋体" panose="02010600030101010101" pitchFamily="2" charset="-122"/>
                <a:latin typeface="宋体" panose="02010600030101010101" pitchFamily="2" charset="-122"/>
              </a:rPr>
              <a:t>2</a:t>
            </a:r>
            <a:r>
              <a:rPr altLang="en-US" lang="zh-CN" b="1" sz="2400">
                <a:solidFill>
                  <a:schemeClr val="tx1"/>
                </a:solidFill>
                <a:ea typeface="宋体" panose="02010600030101010101" pitchFamily="2" charset="-122"/>
                <a:latin typeface="宋体" panose="02010600030101010101" pitchFamily="2" charset="-122"/>
              </a:rPr>
              <a:t>分）</a:t>
            </a:r>
            <a:endParaRPr altLang="en-US" lang="zh-CN" b="1" sz="2400">
              <a:solidFill>
                <a:schemeClr val="tx1"/>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zh-CN" lang="en-US" b="1" sz="2400">
                <a:solidFill>
                  <a:schemeClr val="tx1"/>
                </a:solidFill>
                <a:ea typeface="宋体" panose="02010600030101010101" pitchFamily="2" charset="-122"/>
                <a:latin typeface="宋体" panose="02010600030101010101" pitchFamily="2" charset="-122"/>
              </a:rPr>
              <a:t>④</a:t>
            </a:r>
            <a:r>
              <a:rPr altLang="en-US" lang="zh-CN" b="1" sz="2400">
                <a:solidFill>
                  <a:schemeClr val="tx1"/>
                </a:solidFill>
                <a:ea typeface="宋体" panose="02010600030101010101" pitchFamily="2" charset="-122"/>
                <a:latin typeface="宋体" panose="02010600030101010101" pitchFamily="2" charset="-122"/>
              </a:rPr>
              <a:t>坚持绿色发展理念，加大绿色技术研发投入，提升产业链绿色化水平。（</a:t>
            </a:r>
            <a:r>
              <a:rPr altLang="zh-CN" lang="en-US" b="1" sz="2400">
                <a:solidFill>
                  <a:schemeClr val="tx1"/>
                </a:solidFill>
                <a:ea typeface="宋体" panose="02010600030101010101" pitchFamily="2" charset="-122"/>
                <a:latin typeface="宋体" panose="02010600030101010101" pitchFamily="2" charset="-122"/>
              </a:rPr>
              <a:t>1</a:t>
            </a:r>
            <a:r>
              <a:rPr altLang="en-US" lang="zh-CN" b="1" sz="2400">
                <a:solidFill>
                  <a:schemeClr val="tx1"/>
                </a:solidFill>
                <a:ea typeface="宋体" panose="02010600030101010101" pitchFamily="2" charset="-122"/>
                <a:latin typeface="宋体" panose="02010600030101010101" pitchFamily="2" charset="-122"/>
              </a:rPr>
              <a:t>分）</a:t>
            </a:r>
            <a:endParaRPr altLang="en-US" lang="zh-CN" b="1" sz="2400">
              <a:solidFill>
                <a:schemeClr val="tx1"/>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zh-CN" lang="en-US" b="1" sz="2400">
                <a:solidFill>
                  <a:schemeClr val="tx1"/>
                </a:solidFill>
                <a:ea typeface="宋体" panose="02010600030101010101" pitchFamily="2" charset="-122"/>
                <a:latin typeface="宋体" panose="02010600030101010101" pitchFamily="2" charset="-122"/>
              </a:rPr>
              <a:t>⑤</a:t>
            </a:r>
            <a:r>
              <a:rPr altLang="en-US" lang="zh-CN" b="1" sz="2400">
                <a:solidFill>
                  <a:schemeClr val="tx1"/>
                </a:solidFill>
                <a:ea typeface="宋体" panose="02010600030101010101" pitchFamily="2" charset="-122"/>
                <a:latin typeface="宋体" panose="02010600030101010101" pitchFamily="2" charset="-122"/>
              </a:rPr>
              <a:t>推动产业数字化，数字技术与实体经济深度融合，培育数字产品和服务新优势。（</a:t>
            </a:r>
            <a:r>
              <a:rPr altLang="zh-CN" lang="en-US" b="1" sz="2400">
                <a:solidFill>
                  <a:schemeClr val="tx1"/>
                </a:solidFill>
                <a:ea typeface="宋体" panose="02010600030101010101" pitchFamily="2" charset="-122"/>
                <a:latin typeface="宋体" panose="02010600030101010101" pitchFamily="2" charset="-122"/>
              </a:rPr>
              <a:t>1</a:t>
            </a:r>
            <a:r>
              <a:rPr altLang="en-US" lang="zh-CN" b="1" sz="2400">
                <a:solidFill>
                  <a:schemeClr val="tx1"/>
                </a:solidFill>
                <a:ea typeface="宋体" panose="02010600030101010101" pitchFamily="2" charset="-122"/>
                <a:latin typeface="宋体" panose="02010600030101010101" pitchFamily="2" charset="-122"/>
              </a:rPr>
              <a:t>分）</a:t>
            </a:r>
            <a:endParaRPr altLang="en-US" lang="zh-CN" b="1" sz="2400">
              <a:solidFill>
                <a:schemeClr val="tx1"/>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zh-CN" lang="en-US" b="1" sz="2400">
                <a:solidFill>
                  <a:schemeClr val="tx1"/>
                </a:solidFill>
                <a:ea typeface="宋体" panose="02010600030101010101" pitchFamily="2" charset="-122"/>
                <a:latin typeface="宋体" panose="02010600030101010101" pitchFamily="2" charset="-122"/>
              </a:rPr>
              <a:t>⑥</a:t>
            </a:r>
            <a:r>
              <a:rPr altLang="en-US" lang="zh-CN" b="1" sz="2400">
                <a:solidFill>
                  <a:schemeClr val="tx1"/>
                </a:solidFill>
                <a:ea typeface="宋体" panose="02010600030101010101" pitchFamily="2" charset="-122"/>
                <a:latin typeface="宋体" panose="02010600030101010101" pitchFamily="2" charset="-122"/>
              </a:rPr>
              <a:t>积极参与全球经济治理和规则制定，维护多边贸易体系，发展更高水平开放型经济，推动构建开放型世界经济。</a:t>
            </a:r>
            <a:endParaRPr altLang="en-US" lang="zh-CN" b="1" sz="2400">
              <a:solidFill>
                <a:schemeClr val="tx1"/>
              </a:solidFill>
              <a:ea typeface="宋体" panose="02010600030101010101" pitchFamily="2" charset="-122"/>
              <a:latin typeface="宋体" panose="02010600030101010101" pitchFamily="2" charset="-122"/>
            </a:endParaRPr>
          </a:p>
        </p:txBody>
      </p:sp>
    </p:spTree>
    <p:custDataLst>
      <p:tags r:id="rId1"/>
    </p:custDataLst>
  </p:cSld>
  <p:clrMapOvr>
    <a:masterClrMapping/>
  </p:clrMapOvr>
</p:sld>
</file>

<file path=ppt/slides/slide3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360045" y="54610"/>
            <a:ext cx="11764645" cy="6369685"/>
          </a:xfrm>
          <a:prstGeom prst="rect">
            <a:avLst/>
          </a:prstGeom>
        </p:spPr>
        <p:txBody>
          <a:bodyPr wrap="square">
            <a:spAutoFit/>
          </a:bodyPr>
          <a:p>
            <a:pPr indent="0" algn="l" defTabSz="266700" fontAlgn="auto">
              <a:lnSpc>
                <a:spcPct val="100000"/>
              </a:lnSpc>
              <a:spcBef>
                <a:spcPct val="0"/>
              </a:spcBef>
              <a:spcAft>
                <a:spcPct val="0"/>
              </a:spcAft>
            </a:pPr>
            <a:r>
              <a:rPr altLang="zh-CN" lang="en-US" b="1" sz="2400">
                <a:ea typeface="宋体" panose="02010600030101010101" pitchFamily="2" charset="-122"/>
                <a:latin typeface="宋体" panose="02010600030101010101" pitchFamily="2" charset="-122"/>
              </a:rPr>
              <a:t>21.</a:t>
            </a:r>
            <a:r>
              <a:rPr altLang="en-US" lang="zh-CN" b="1" sz="2400">
                <a:ea typeface="宋体" panose="02010600030101010101" pitchFamily="2" charset="-122"/>
                <a:latin typeface="宋体" panose="02010600030101010101" pitchFamily="2" charset="-122"/>
              </a:rPr>
              <a:t>（</a:t>
            </a:r>
            <a:r>
              <a:rPr altLang="zh-CN" lang="en-US" b="1" sz="2400">
                <a:ea typeface="宋体" panose="02010600030101010101" pitchFamily="2" charset="-122"/>
                <a:latin typeface="宋体" panose="02010600030101010101" pitchFamily="2" charset="-122"/>
              </a:rPr>
              <a:t>10</a:t>
            </a:r>
            <a:r>
              <a:rPr altLang="en-US" lang="zh-CN" b="1" sz="2400">
                <a:ea typeface="宋体" panose="02010600030101010101" pitchFamily="2" charset="-122"/>
                <a:latin typeface="宋体" panose="02010600030101010101" pitchFamily="2" charset="-122"/>
              </a:rPr>
              <a:t>分）</a:t>
            </a:r>
            <a:r>
              <a:rPr altLang="en-US" lang="zh-CN" b="1" sz="2400">
                <a:ea typeface="楷体" panose="02010609060101010101" charset="-122"/>
                <a:latin typeface="楷体" panose="02010609060101010101" charset="-122"/>
              </a:rPr>
              <a:t>中国共产党人践行初心使命，能够把好事办好，把实事办实，把难事办妥。</a:t>
            </a:r>
            <a:endParaRPr altLang="en-US" lang="zh-CN" b="1" sz="2400">
              <a:ea typeface="楷体" panose="02010609060101010101" charset="-122"/>
              <a:latin typeface="楷体" panose="02010609060101010101" charset="-122"/>
            </a:endParaRPr>
          </a:p>
          <a:p>
            <a:pPr indent="267970" algn="l" defTabSz="266700" fontAlgn="auto">
              <a:lnSpc>
                <a:spcPct val="100000"/>
              </a:lnSpc>
              <a:spcBef>
                <a:spcPct val="0"/>
              </a:spcBef>
              <a:spcAft>
                <a:spcPct val="0"/>
              </a:spcAft>
            </a:pPr>
            <a:r>
              <a:rPr altLang="en-US" lang="zh-CN" b="1" sz="2400">
                <a:ea typeface="楷体" panose="02010609060101010101" charset="-122"/>
                <a:latin typeface="楷体" panose="02010609060101010101" charset="-122"/>
              </a:rPr>
              <a:t>“大事小事观”：民生是“国之大者”。对老百姓来说，他们身边每一件琐碎的小事，都是实实在在的大事，有的甚至还是急事、难事。要“把人民群众的小事当作我们的大事”，这正是中国共产党人的“大事小事观”，更寄托着中国共产党人把好事办好的深厚情怀。</a:t>
            </a:r>
            <a:endParaRPr altLang="en-US" lang="zh-CN" b="1" sz="2400">
              <a:ea typeface="楷体" panose="02010609060101010101" charset="-122"/>
              <a:latin typeface="楷体" panose="02010609060101010101" charset="-122"/>
            </a:endParaRPr>
          </a:p>
          <a:p>
            <a:pPr indent="267970" algn="l" defTabSz="266700" fontAlgn="auto">
              <a:lnSpc>
                <a:spcPct val="100000"/>
              </a:lnSpc>
              <a:spcBef>
                <a:spcPct val="0"/>
              </a:spcBef>
              <a:spcAft>
                <a:spcPct val="0"/>
              </a:spcAft>
            </a:pPr>
            <a:r>
              <a:rPr altLang="en-US" lang="zh-CN" b="1" sz="2400">
                <a:ea typeface="楷体" panose="02010609060101010101" charset="-122"/>
                <a:latin typeface="楷体" panose="02010609060101010101" charset="-122"/>
              </a:rPr>
              <a:t>“为民办事观”：人民群众是最实在的，不光要听“唱功”，而且要看“做功”。破解“来回跑”，加快推进政务服务“跨省通办”；缓解“看病贵”，医药集中采购提质扩面；化解“落户难”，全面取消在就业地参保户籍限制</a:t>
            </a:r>
            <a:r>
              <a:rPr altLang="zh-CN" lang="en-US" b="1" sz="2400">
                <a:ea typeface="宋体" panose="02010600030101010101" pitchFamily="2" charset="-122"/>
                <a:latin typeface="宋体" panose="02010600030101010101" pitchFamily="2" charset="-122"/>
              </a:rPr>
              <a:t>……</a:t>
            </a:r>
            <a:r>
              <a:rPr altLang="en-US" lang="zh-CN" b="1" sz="2400">
                <a:ea typeface="楷体" panose="02010609060101010101" charset="-122"/>
                <a:latin typeface="楷体" panose="02010609060101010101" charset="-122"/>
              </a:rPr>
              <a:t>过去更多的是要求群众去做事，现在更多的是党员干部给群众办事、做服务，人民群众的美好生活更有保障、更可持续。</a:t>
            </a:r>
            <a:endParaRPr altLang="en-US" lang="zh-CN" b="1" sz="2400">
              <a:ea typeface="楷体" panose="02010609060101010101" charset="-122"/>
              <a:latin typeface="楷体" panose="02010609060101010101" charset="-122"/>
            </a:endParaRPr>
          </a:p>
          <a:p>
            <a:pPr indent="267970" algn="l" defTabSz="266700" fontAlgn="auto">
              <a:lnSpc>
                <a:spcPct val="100000"/>
              </a:lnSpc>
              <a:spcBef>
                <a:spcPct val="0"/>
              </a:spcBef>
              <a:spcAft>
                <a:spcPct val="0"/>
              </a:spcAft>
            </a:pPr>
            <a:r>
              <a:rPr altLang="en-US" lang="zh-CN" b="1" sz="2400">
                <a:ea typeface="楷体" panose="02010609060101010101" charset="-122"/>
                <a:latin typeface="楷体" panose="02010609060101010101" charset="-122"/>
              </a:rPr>
              <a:t>“造福人民的政绩观”：衡量干部业绩好不好，关键要看老百姓口碑好不好。河北滦平，荒山上的光伏板映出灿烂阳光；陕西柞水，“小木耳”变成“大产业”；山西大同，“黄花菜”开出“致富花”；陕西延安，“小苹果”结出“幸福果”</a:t>
            </a:r>
            <a:r>
              <a:rPr altLang="zh-CN" lang="en-US" b="1" sz="2400">
                <a:ea typeface="楷体" panose="02010609060101010101" charset="-122"/>
                <a:latin typeface="楷体" panose="02010609060101010101" charset="-122"/>
              </a:rPr>
              <a:t>……</a:t>
            </a:r>
            <a:r>
              <a:rPr altLang="en-US" lang="zh-CN" b="1" sz="2400">
                <a:ea typeface="楷体" panose="02010609060101010101" charset="-122"/>
                <a:latin typeface="楷体" panose="02010609060101010101" charset="-122"/>
              </a:rPr>
              <a:t>各级领导干部要抓住人民最关心最直接最现实的利益问题，扭住突出民生难题，为官一任、造福一方，真抓实干、久久为功，把丰碑立在人民群众心中。</a:t>
            </a:r>
            <a:endParaRPr altLang="en-US" lang="zh-CN" b="1" sz="2400">
              <a:ea typeface="楷体" panose="02010609060101010101" charset="-122"/>
              <a:latin typeface="楷体" panose="02010609060101010101" charset="-122"/>
            </a:endParaRPr>
          </a:p>
          <a:p>
            <a:pPr indent="266700" algn="l" defTabSz="266700" fontAlgn="auto">
              <a:lnSpc>
                <a:spcPct val="100000"/>
              </a:lnSpc>
              <a:spcBef>
                <a:spcPct val="0"/>
              </a:spcBef>
              <a:spcAft>
                <a:spcPct val="0"/>
              </a:spcAft>
            </a:pPr>
            <a:r>
              <a:rPr altLang="en-US" lang="zh-CN" b="1" sz="2400">
                <a:ea typeface="宋体" panose="02010600030101010101" pitchFamily="2" charset="-122"/>
                <a:latin typeface="宋体" panose="02010600030101010101" pitchFamily="2" charset="-122"/>
              </a:rPr>
              <a:t>结合材料，综合运用所学，谈谈你对中国共产党人的“大事小事观”“为民办事观”“造福人民的政绩观”的理解。</a:t>
            </a:r>
            <a:endParaRPr altLang="en-US" lang="zh-CN" b="1" sz="2400">
              <a:ea typeface="宋体" panose="02010600030101010101" pitchFamily="2" charset="-122"/>
              <a:latin typeface="宋体" panose="02010600030101010101" pitchFamily="2" charset="-122"/>
            </a:endParaRPr>
          </a:p>
        </p:txBody>
      </p:sp>
    </p:spTree>
    <p:custDataLst>
      <p:tags r:id="rId1"/>
    </p:custDataLst>
  </p:cSld>
  <p:clrMapOvr>
    <a:masterClrMapping/>
  </p:clrMapOvr>
</p:sld>
</file>

<file path=ppt/slides/slide32.xml><?xml version="1.0" encoding="UTF-8" standalone="yes"?><p:sld xmlns:p="http://schemas.openxmlformats.org/presentationml/2006/main" xmlns:r="http://schemas.openxmlformats.org/officeDocument/2006/relationships" xmlns:a="http://schemas.openxmlformats.org/drawingml/2006/main"><p:cSld><p:spTree><p:nvGrpSpPr><p:cNvPr id="1" name=""/><p:cNvGrpSpPr/><p:nvPr/></p:nvGrpSpPr><p:grpSpPr><a:xfrm><a:off x="0" y="0"/><a:ext cx="0" cy="0"/><a:chOff x="0" y="0"/><a:chExt cx="0" cy="0"/></a:xfrm></p:grpSpPr><p:graphicFrame><p:nvGraphicFramePr><p:cNvPr id="4" name="表格 3"/><p:cNvGraphicFramePr><a:graphicFrameLocks noGrp="1"/></p:cNvGraphicFramePr><p:nvPr><p:custDataLst><p:tags r:id="rId1"/></p:custDataLst></p:nvPr></p:nvGraphicFramePr><p:xfrm><a:off x="256540" y="628015"/><a:ext cx="11659235" cy="6156325"/></p:xfrm><a:graphic><a:graphicData uri="http://schemas.openxmlformats.org/drawingml/2006/table"><a:tbl><a:tblPr/><a:tblGrid><a:gridCol w="487045"/><a:gridCol w="1847215"/><a:gridCol w="1579880"/><a:gridCol w="7745095"/></a:tblGrid><a:tr h="328930"><a:tc rowSpan="2"><a:txBody><a:bodyPr/><a:p><a:pPr algn="ctr"><a:lnSpc><a:spcPct val="89999"/></a:lnSpc><a:buNone/><a:tabLst><a:tab w:pos="2900000" val="l"/></a:tabLst></a:pPr><a:r><a:rPr altLang="en-US" dirty="0" kern="100" lang="zh-CN" b="1" sz="2400"><a:solidFill><a:srgbClr val="2C1D86"/></a:solidFill><a:effectLst/><a:cs typeface="Courier New" panose="02070309020205020404" pitchFamily="49" charset="0"/><a:ea typeface="微软雅黑" panose="020B0503020204020204" charset="-122"/><a:latin typeface="微软雅黑" panose="020B0503020204020204" charset="-122"/></a:rPr><a:t>为人民</a:t></a:r><a:endParaRPr altLang="en-US" dirty="0" kern="100" lang="zh-CN" b="1" sz="2400"><a:solidFill><a:srgbClr val="2C1D86"/></a:solidFill><a:effectLst/><a:cs typeface="Courier New" panose="02070309020205020404" pitchFamily="49"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 rowSpan="2"><a:txBody><a:bodyPr/><a:lstStyle/><a:p><a:pPr algn="ctr"><a:lnSpc><a:spcPct val="89999"/></a:lnSpc><a:tabLst><a:tab w:pos="2900000" val="l"/></a:tabLst></a:pPr><a:r><a:rPr dirty="0" kern="100" lang="zh-CN" b="1" sz="2800"><a:solidFill><a:srgbClr val="2C1D86"/></a:solidFill><a:effectLst/><a:cs typeface="Courier New" panose="02070309020205020404" pitchFamily="49" charset="0"/><a:ea typeface="微软雅黑" panose="020B0503020204020204" charset="-122"/><a:latin typeface="微软雅黑" panose="020B0503020204020204" charset="-122"/></a:rPr><a:t>始终以人民为中心</a:t></a:r><a:endParaRPr dirty="0" kern="100" lang="zh-CN" b="1" sz="2800"><a:solidFill><a:srgbClr val="2C1D86"/></a:solidFill><a:effectLst/><a:cs typeface="Courier New" panose="02070309020205020404" pitchFamily="49"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a:txBody><a:bodyPr/><a:p><a:pPr algn="ctr"><a:lnSpc><a:spcPct val="89999"/></a:lnSpc><a:buNone/><a:tabLst><a:tab w:pos="2900000" val="l"/></a:tabLst></a:pPr><a:r><a:rPr altLang="en-US" dirty="0" kern="100" lang="zh-CN" b="1" sz="2400"><a:effectLst/><a:cs typeface="Courier New" panose="02070309020205020404" pitchFamily="49" charset="0"/><a:sym typeface="+mn-ea"/><a:ea typeface="微软雅黑" panose="020B0503020204020204" charset="-122"/><a:latin typeface="微软雅黑" panose="020B0503020204020204" charset="-122"/></a:rPr><a:t>党的性质</a:t></a:r><a:endParaRPr altLang="en-US" dirty="0" kern="100" lang="zh-CN" b="1" sz="2400"><a:effectLst/><a:cs typeface="Courier New" panose="02070309020205020404" pitchFamily="49" charset="0"/><a:sym typeface="+mn-ea"/><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a:txBody><a:bodyPr/><a:lstStyle/><a:p><a:pPr algn="ctr"><a:lnSpc><a:spcPct val="89999"/></a:lnSpc><a:tabLst><a:tab w:pos="2900000" val="l"/></a:tabLst></a:pPr><a:r><a:rPr altLang="en-US" dirty="0" kern="100" lang="zh-CN" b="1" sz="2400"><a:effectLst/><a:cs typeface="Courier New" panose="02070309020205020404" pitchFamily="49" charset="0"/><a:ea typeface="微软雅黑" panose="020B0503020204020204" charset="-122"/><a:latin typeface="微软雅黑" panose="020B0503020204020204" charset="-122"/></a:rPr><a:t>两个先锋队</a:t></a:r><a:endParaRPr altLang="en-US" dirty="0" kern="100" lang="zh-CN" b="1" sz="2400"><a:effectLst/><a:cs typeface="Courier New" panose="02070309020205020404" pitchFamily="49"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r><a:tr h="1315720"><a:tc vMerge="1"><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 vMerge="1"><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a:txBody><a:bodyPr/><a:p><a:pPr algn="ctr"><a:lnSpc><a:spcPct val="89999"/></a:lnSpc><a:buNone/><a:tabLst><a:tab w:pos="2900000" val="l"/></a:tabLst></a:pPr><a:r><a:rPr altLang="en-US" dirty="0" kern="100" lang="zh-CN" b="1" sz="2400"><a:effectLst/><a:cs typeface="Courier New" panose="02070309020205020404" pitchFamily="49" charset="0"/><a:sym typeface="+mn-ea"/><a:ea typeface="微软雅黑" panose="020B0503020204020204" charset="-122"/><a:latin typeface="微软雅黑" panose="020B0503020204020204" charset="-122"/></a:rPr><a:t>党的宗旨</a:t></a:r><a:endParaRPr altLang="en-US" dirty="0" kern="100" lang="zh-CN" b="1" sz="2400"><a:effectLst/><a:cs typeface="Courier New" panose="02070309020205020404" pitchFamily="49" charset="0"/><a:sym typeface="+mn-ea"/><a:ea typeface="微软雅黑" panose="020B0503020204020204" charset="-122"/><a:latin typeface="微软雅黑" panose="020B0503020204020204" charset="-122"/></a:endParaRPr></a:p><a:p><a:pPr algn="ctr"><a:lnSpc><a:spcPct val="89999"/></a:lnSpc><a:buNone/><a:tabLst><a:tab w:pos="2900000" val="l"/></a:tabLst></a:pPr><a:r><a:rPr altLang="en-US" dirty="0" kern="100" lang="zh-CN" b="1" sz="2400"><a:effectLst/><a:cs typeface="Courier New" panose="02070309020205020404" pitchFamily="49" charset="0"/><a:sym typeface="+mn-ea"/><a:ea typeface="微软雅黑" panose="020B0503020204020204" charset="-122"/><a:latin typeface="微软雅黑" panose="020B0503020204020204" charset="-122"/></a:rPr><a:t>根本立场</a:t></a:r><a:endParaRPr altLang="en-US" dirty="0" kern="100" lang="zh-CN" b="1" sz="2400"><a:effectLst/><a:cs typeface="Courier New" panose="02070309020205020404" pitchFamily="49" charset="0"/><a:sym typeface="+mn-ea"/><a:ea typeface="微软雅黑" panose="020B0503020204020204" charset="-122"/><a:latin typeface="微软雅黑" panose="020B0503020204020204" charset="-122"/></a:endParaRPr></a:p><a:p><a:pPr algn="ctr"><a:lnSpc><a:spcPct val="89999"/></a:lnSpc><a:buNone/><a:tabLst><a:tab w:pos="2900000" val="l"/></a:tabLst></a:pPr><a:r><a:rPr altLang="en-US" dirty="0" kern="100" lang="zh-CN" b="1" sz="2400"><a:effectLst/><a:cs typeface="Courier New" panose="02070309020205020404" pitchFamily="49" charset="0"/><a:sym typeface="+mn-ea"/><a:ea typeface="微软雅黑" panose="020B0503020204020204" charset="-122"/><a:latin typeface="微软雅黑" panose="020B0503020204020204" charset="-122"/></a:rPr><a:t>执政理念</a:t></a:r><a:endParaRPr altLang="en-US" dirty="0" kern="100" lang="zh-CN" b="1" sz="2400"><a:effectLst/><a:cs typeface="Courier New" panose="02070309020205020404" pitchFamily="49" charset="0"/><a:sym typeface="+mn-ea"/><a:ea typeface="微软雅黑" panose="020B0503020204020204" charset="-122"/><a:latin typeface="微软雅黑" panose="020B0503020204020204" charset="-122"/></a:endParaRPr></a:p><a:p><a:pPr algn="ctr"><a:lnSpc><a:spcPct val="89999"/></a:lnSpc><a:buNone/><a:tabLst><a:tab w:pos="2900000" val="l"/></a:tabLst></a:pPr><a:r><a:rPr altLang="en-US" dirty="0" kern="100" lang="zh-CN" b="1" sz="2400"><a:effectLst/><a:cs typeface="Courier New" panose="02070309020205020404" pitchFamily="49" charset="0"/><a:ea typeface="微软雅黑" panose="020B0503020204020204" charset="-122"/><a:latin typeface="微软雅黑" panose="020B0503020204020204" charset="-122"/></a:rPr><a:t>初心使命</a:t></a:r><a:endParaRPr altLang="en-US" dirty="0" kern="100" lang="zh-CN" b="1" sz="2400"><a:effectLst/><a:cs typeface="Courier New" panose="02070309020205020404" pitchFamily="49"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a:txBody><a:bodyPr/><a:p><a:pPr algn="ctr"><a:lnSpc><a:spcPct val="89999"/></a:lnSpc><a:buNone/><a:tabLst><a:tab w:pos="2900000" val="l"/></a:tabLst></a:pPr><a:r><a:rPr altLang="en-US" dirty="0" kern="100" lang="zh-CN" b="1" sz="2400"><a:effectLst/><a:cs typeface="Courier New" panose="02070309020205020404" pitchFamily="49" charset="0"/><a:ea typeface="微软雅黑" panose="020B0503020204020204" charset="-122"/><a:latin typeface="微软雅黑" panose="020B0503020204020204" charset="-122"/></a:rPr><a:t>全心全意为人民服务</a:t></a:r><a:endParaRPr altLang="en-US" dirty="0" kern="100" lang="zh-CN" b="1" sz="2400"><a:effectLst/><a:cs typeface="Courier New" panose="02070309020205020404" pitchFamily="49" charset="0"/><a:ea typeface="微软雅黑" panose="020B0503020204020204" charset="-122"/><a:latin typeface="微软雅黑" panose="020B0503020204020204" charset="-122"/></a:endParaRPr></a:p><a:p><a:pPr algn="ctr"><a:lnSpc><a:spcPct val="89999"/></a:lnSpc><a:buNone/><a:tabLst><a:tab w:pos="2900000" val="l"/></a:tabLst></a:pPr><a:r><a:rPr altLang="en-US" dirty="0" kern="100" lang="zh-CN" b="1" sz="2400"><a:effectLst/><a:cs typeface="Courier New" panose="02070309020205020404" pitchFamily="49" charset="0"/><a:ea typeface="微软雅黑" panose="020B0503020204020204" charset="-122"/><a:latin typeface="微软雅黑" panose="020B0503020204020204" charset="-122"/></a:rPr><a:t>人民立场</a:t></a:r><a:endParaRPr altLang="en-US" dirty="0" kern="100" lang="zh-CN" b="1" sz="2400"><a:effectLst/><a:cs typeface="Courier New" panose="02070309020205020404" pitchFamily="49" charset="0"/><a:ea typeface="微软雅黑" panose="020B0503020204020204" charset="-122"/><a:latin typeface="微软雅黑" panose="020B0503020204020204" charset="-122"/></a:endParaRPr></a:p><a:p><a:pPr algn="ctr"><a:lnSpc><a:spcPct val="89999"/></a:lnSpc><a:buNone/><a:tabLst><a:tab w:pos="2900000" val="l"/></a:tabLst></a:pPr><a:r><a:rPr altLang="en-US" dirty="0" kern="100" lang="zh-CN" b="1" sz="2400"><a:effectLst/><a:cs typeface="Courier New" panose="02070309020205020404" pitchFamily="49" charset="0"/><a:ea typeface="微软雅黑" panose="020B0503020204020204" charset="-122"/><a:latin typeface="微软雅黑" panose="020B0503020204020204" charset="-122"/></a:rPr><a:t>立党为公、执政为民</a:t></a:r><a:r><a:rPr altLang="en-US" dirty="0" kern="100" lang="zh-CN" b="1" sz="1600"><a:effectLst/><a:cs typeface="Courier New" panose="02070309020205020404" pitchFamily="49" charset="0"/><a:ea typeface="微软雅黑" panose="020B0503020204020204" charset="-122"/><a:latin typeface="微软雅黑" panose="020B0503020204020204" charset="-122"/></a:rPr><a:t>（检验政党政权性质的试金石：为什么人的问题）</a:t></a:r><a:endParaRPr altLang="en-US" dirty="0" kern="100" lang="zh-CN" b="1" sz="1400"><a:effectLst/><a:cs typeface="Courier New" panose="02070309020205020404" pitchFamily="49" charset="0"/><a:ea typeface="微软雅黑" panose="020B0503020204020204" charset="-122"/><a:latin typeface="微软雅黑" panose="020B0503020204020204" charset="-122"/></a:endParaRPr></a:p><a:p><a:pPr algn="ctr"><a:lnSpc><a:spcPct val="89999"/></a:lnSpc><a:buNone/><a:tabLst><a:tab w:pos="2900000" val="l"/></a:tabLst></a:pPr><a:r><a:rPr altLang="zh-CN" dirty="0" kern="100" lang="zh-CN" b="1" sz="2400"><a:effectLst/><a:cs typeface="Courier New" panose="02070309020205020404" pitchFamily="49" charset="0"/><a:ea typeface="微软雅黑" panose="020B0503020204020204" charset="-122"/><a:latin typeface="微软雅黑" panose="020B0503020204020204" charset="-122"/></a:rPr><a:t>为人民谋幸福，为民族谋复兴</a:t></a:r><a:endParaRPr altLang="zh-CN" dirty="0" kern="100" lang="zh-CN" b="1" sz="2400"><a:effectLst/><a:cs typeface="Courier New" panose="02070309020205020404" pitchFamily="49"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r><a:tr h="2133600"><a:tc><a:txBody><a:bodyPr/><a:p><a:pPr algn="ctr"><a:lnSpc><a:spcPct val="89999"/></a:lnSpc><a:buNone/><a:tabLst><a:tab w:pos="2900000" val="l"/></a:tabLst></a:pPr><a:r><a:rPr altLang="en-US" dirty="0" kern="100" lang="zh-CN" b="1" sz="2400"><a:solidFill><a:srgbClr val="2C1D86"/></a:solidFill><a:effectLst/><a:cs typeface="Times New Roman" panose="02020603050405020304" pitchFamily="18" charset="0"/><a:ea typeface="微软雅黑" panose="020B0503020204020204" charset="-122"/><a:latin typeface="微软雅黑" panose="020B0503020204020204" charset="-122"/></a:rPr><a:t>思想新</a:t></a:r><a:endParaRPr altLang="en-US" dirty="0" kern="100" lang="zh-CN" b="1" sz="2400"><a:solidFill><a:srgbClr val="2C1D86"/></a:solidFill><a:effectLst/><a:cs typeface="Times New Roman" panose="02020603050405020304" pitchFamily="18"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 gridSpan="2"><a:txBody><a:bodyPr/><a:lstStyle/><a:p><a:pPr algn="ctr"><a:lnSpc><a:spcPct val="89999"/></a:lnSpc><a:tabLst><a:tab w:pos="2900000" val="l"/></a:tabLst></a:pPr><a:endParaRPr altLang="en-US" dirty="0" kern="100" lang="zh-CN" b="1" sz="2400"><a:solidFill><a:srgbClr val="2C1D86"/></a:solidFill><a:effectLst/><a:cs typeface="Times New Roman" panose="02020603050405020304" pitchFamily="18" charset="0"/><a:ea typeface="微软雅黑" panose="020B0503020204020204" charset="-122"/><a:latin typeface="微软雅黑" panose="020B0503020204020204" charset="-122"/></a:endParaRPr></a:p><a:p><a:pPr algn="ctr"><a:lnSpc><a:spcPct val="89999"/></a:lnSpc><a:tabLst><a:tab w:pos="2900000" val="l"/></a:tabLst></a:pPr><a:endParaRPr altLang="en-US" dirty="0" kern="100" lang="zh-CN" b="1" sz="2400"><a:solidFill><a:srgbClr val="2C1D86"/></a:solidFill><a:effectLst/><a:cs typeface="Times New Roman" panose="02020603050405020304" pitchFamily="18" charset="0"/><a:ea typeface="微软雅黑" panose="020B0503020204020204" charset="-122"/><a:latin typeface="微软雅黑" panose="020B0503020204020204" charset="-122"/></a:endParaRPr></a:p><a:p><a:pPr algn="ctr"><a:lnSpc><a:spcPct val="89999"/></a:lnSpc><a:tabLst><a:tab w:pos="2900000" val="l"/></a:tabLst></a:pPr><a:r><a:rPr altLang="en-US" dirty="0" kern="100" lang="zh-CN" b="1" sz="2400"><a:solidFill><a:srgbClr val="2C1D86"/></a:solidFill><a:effectLst/><a:cs typeface="Times New Roman" panose="02020603050405020304" pitchFamily="18" charset="0"/><a:ea typeface="微软雅黑" panose="020B0503020204020204" charset="-122"/><a:latin typeface="微软雅黑" panose="020B0503020204020204" charset="-122"/></a:rPr><a:t>党的指导思想与时俱进</a:t></a:r><a:endParaRPr altLang="en-US" dirty="0" kern="100" lang="zh-CN" b="1" sz="2400"><a:solidFill><a:srgbClr val="2C1D86"/></a:solidFill><a:effectLst/><a:cs typeface="Times New Roman" panose="02020603050405020304" pitchFamily="18" charset="0"/><a:ea typeface="微软雅黑" panose="020B0503020204020204" charset="-122"/><a:latin typeface="微软雅黑" panose="020B0503020204020204" charset="-122"/></a:endParaRPr></a:p><a:p><a:pPr algn="ctr"><a:lnSpc><a:spcPct val="89999"/></a:lnSpc><a:tabLst><a:tab w:pos="2900000" val="l"/></a:tabLst></a:pPr><a:r><a:rPr altLang="en-US" dirty="0" kern="100" lang="zh-CN" b="1" sz="2000"><a:solidFill><a:srgbClr val="FF0000"/></a:solidFill><a:effectLst/><a:cs typeface="Times New Roman" panose="02020603050405020304" pitchFamily="18" charset="0"/><a:ea typeface="微软雅黑" panose="020B0503020204020204" charset="-122"/><a:latin typeface="微软雅黑" panose="020B0503020204020204" charset="-122"/></a:rPr><a:t>（有新增）</a:t></a:r><a:endParaRPr altLang="en-US" dirty="0" kern="100" lang="zh-CN" b="1" sz="2000"><a:solidFill><a:srgbClr val="FF0000"/></a:solidFill><a:effectLst/><a:cs typeface="Times New Roman" panose="02020603050405020304" pitchFamily="18" charset="0"/><a:ea typeface="微软雅黑" panose="020B0503020204020204" charset="-122"/><a:latin typeface="微软雅黑" panose="020B0503020204020204" charset="-122"/></a:endParaRPr></a:p></a:txBody><a:tcPr marL="29179" marR="29179" marT="0" marB="0" anchor="t" anchorCtr="0"><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 hMerge="1"><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a:txBody><a:bodyPr/><a:lstStyle/><a:p><a:pPr indent="0" algn="l" fontAlgn="auto"><a:lnSpc><a:spcPct val="100000"/></a:lnSpc><a:tabLst><a:tab w:pos="2800000" val="l"/></a:tabLst></a:pPr><a:r><a:rPr altLang="zh-CN" dirty="0" kern="1200" lang="en-US" b="1" sz="2000"><a:solidFill><a:schemeClr val="tx1"/></a:solidFill><a:effectLst/><a:cs typeface="微软雅黑" panose="020B0503020204020204" charset="-122"/><a:ea typeface="微软雅黑" panose="020B0503020204020204" charset="-122"/><a:latin typeface="微软雅黑" panose="020B0503020204020204" charset="-122"/></a:rPr><a:t>      </a:t></a:r><a:r><a:rPr altLang="en-US" dirty="0" kern="1200" lang="zh-CN" b="1" sz="2000"><a:solidFill><a:srgbClr val="FF0000"/></a:solidFill><a:effectLst/><a:cs typeface="微软雅黑" panose="020B0503020204020204" charset="-122"/><a:ea typeface="微软雅黑" panose="020B0503020204020204" charset="-122"/><a:latin typeface="微软雅黑" panose="020B0503020204020204" charset="-122"/></a:rPr><a:t>以接续推进的马克思主义中国化时代化创新理论作为行动指南</a:t></a:r><a:endParaRPr altLang="en-US" dirty="0" kern="1200" lang="zh-CN" b="1" sz="2000"><a:solidFill><a:srgbClr val="FF0000"/></a:solidFill><a:effectLst/><a:cs typeface="微软雅黑" panose="020B0503020204020204" charset="-122"/><a:ea typeface="微软雅黑" panose="020B0503020204020204" charset="-122"/><a:latin typeface="微软雅黑" panose="020B0503020204020204" charset="-122"/></a:endParaRPr></a:p><a:p><a:pPr indent="0" algn="l" fontAlgn="auto"><a:lnSpc><a:spcPct val="100000"/></a:lnSpc><a:tabLst><a:tab w:pos="2800000" val="l"/></a:tabLst></a:pPr><a:r><a:rPr altLang="zh-CN" dirty="0" kern="1200" lang="en-US" b="1" sz="2000"><a:solidFill><a:srgbClr val="FF0000"/></a:solidFill><a:effectLst/><a:cs typeface="微软雅黑" panose="020B0503020204020204" charset="-122"/><a:ea typeface="微软雅黑" panose="020B0503020204020204" charset="-122"/><a:latin typeface="微软雅黑" panose="020B0503020204020204" charset="-122"/></a:rPr><a:t>      </a:t></a:r><a:r><a:rPr altLang="en-US" dirty="0" kern="1200" lang="zh-CN" b="1" sz="2000"><a:solidFill><a:srgbClr val="FF0000"/></a:solidFill><a:effectLst/><a:cs typeface="微软雅黑" panose="020B0503020204020204" charset="-122"/><a:ea typeface="微软雅黑" panose="020B0503020204020204" charset="-122"/><a:latin typeface="微软雅黑" panose="020B0503020204020204" charset="-122"/></a:rPr><a:t>坚持把马克思主义基本原理同中国具体实际相结合、同中华优秀传统文化相结合，</a:t></a:r><a:r><a:rPr altLang="en-US" dirty="0" kern="1200" lang="zh-CN" b="1" sz="2000"><a:solidFill><a:schemeClr val="tx1"/></a:solidFill><a:effectLst/><a:cs typeface="微软雅黑" panose="020B0503020204020204" charset="-122"/><a:ea typeface="微软雅黑" panose="020B0503020204020204" charset="-122"/><a:latin typeface="微软雅黑" panose="020B0503020204020204" charset="-122"/></a:rPr><a:t>坚持</a:t></a:r><a:r><a:rPr altLang="en-US" dirty="0" lang="zh-CN" b="1" sz="2000"><a:effectLst/><a:cs typeface="微软雅黑" panose="020B0503020204020204" charset="-122"/><a:sym typeface="+mn-ea"/><a:ea typeface="微软雅黑" panose="020B0503020204020204" charset="-122"/><a:latin typeface="微软雅黑" panose="020B0503020204020204" charset="-122"/></a:rPr><a:t>毛、邓、三、科，</a:t></a:r><a:r><a:rPr altLang="en-US" dirty="0" lang="zh-CN" b="1" sz="2000"><a:solidFill><a:srgbClr val="FF0000"/></a:solidFill><a:effectLst/><a:cs typeface="微软雅黑" panose="020B0503020204020204" charset="-122"/><a:sym typeface="+mn-ea"/><a:ea typeface="微软雅黑" panose="020B0503020204020204" charset="-122"/><a:latin typeface="微软雅黑" panose="020B0503020204020204" charset="-122"/></a:rPr><a:t>总结运用党的历史经验，从新的实际出发，</a:t></a:r><a:r><a:rPr altLang="en-US" dirty="0" lang="zh-CN" b="1" sz="2000"><a:effectLst/><a:cs typeface="微软雅黑" panose="020B0503020204020204" charset="-122"/><a:sym typeface="+mn-ea"/><a:ea typeface="微软雅黑" panose="020B0503020204020204" charset="-122"/><a:latin typeface="微软雅黑" panose="020B0503020204020204" charset="-122"/></a:rPr><a:t>创立了</a:t></a:r><a:r><a:rPr altLang="zh-CN" dirty="0" lang="en-US" b="1" sz="2000"><a:effectLst/><a:cs typeface="微软雅黑" panose="020B0503020204020204" charset="-122"/><a:sym typeface="+mn-ea"/><a:ea typeface="微软雅黑" panose="020B0503020204020204" charset="-122"/><a:latin typeface="微软雅黑" panose="020B0503020204020204" charset="-122"/></a:rPr><a:t>“</a:t></a:r><a:r><a:rPr altLang="en-US" dirty="0" lang="zh-CN" b="1" sz="2000"><a:effectLst/><a:cs typeface="微软雅黑" panose="020B0503020204020204" charset="-122"/><a:sym typeface="+mn-ea"/><a:ea typeface="微软雅黑" panose="020B0503020204020204" charset="-122"/><a:latin typeface="微软雅黑" panose="020B0503020204020204" charset="-122"/></a:rPr><a:t>习思想</a:t></a:r><a:r><a:rPr altLang="zh-CN" dirty="0" lang="en-US" b="1" sz="2000"><a:effectLst/><a:cs typeface="微软雅黑" panose="020B0503020204020204" charset="-122"/><a:sym typeface="+mn-ea"/><a:ea typeface="微软雅黑" panose="020B0503020204020204" charset="-122"/><a:latin typeface="微软雅黑" panose="020B0503020204020204" charset="-122"/></a:rPr><a:t>”</a:t></a:r><a:r><a:rPr altLang="en-US" dirty="0" lang="zh-CN" b="1" sz="2000"><a:effectLst/><a:cs typeface="微软雅黑" panose="020B0503020204020204" charset="-122"/><a:sym typeface="+mn-ea"/><a:ea typeface="微软雅黑" panose="020B0503020204020204" charset="-122"/><a:latin typeface="微软雅黑" panose="020B0503020204020204" charset="-122"/></a:rPr><a:t>，</a:t></a:r><a:r><a:rPr altLang="en-US" dirty="0" lang="zh-CN" b="1" sz="2000"><a:solidFill><a:srgbClr val="FF0000"/></a:solidFill><a:effectLst/><a:cs typeface="微软雅黑" panose="020B0503020204020204" charset="-122"/><a:sym typeface="+mn-ea"/><a:highlight><a:srgbClr val="FFFF00"/></a:highlight><a:ea typeface="微软雅黑" panose="020B0503020204020204" charset="-122"/><a:latin typeface="微软雅黑" panose="020B0503020204020204" charset="-122"/></a:rPr><a:t>习思想是当代中国马克思主义、二十一世纪马克思主义，是中华文化和中国精神的时代精华，实现了马克思主义中国化时代化新的飞跃</a:t></a:r><a:endParaRPr altLang="en-US" dirty="0" lang="zh-CN" b="1" sz="2000"><a:solidFill><a:srgbClr val="FF0000"/></a:solidFill><a:effectLst/><a:cs typeface="微软雅黑" panose="020B0503020204020204" charset="-122"/><a:sym typeface="+mn-ea"/><a:highlight><a:srgbClr val="FFFF00"/></a:highlight><a:ea typeface="微软雅黑" panose="020B0503020204020204" charset="-122"/><a:latin typeface="微软雅黑" panose="020B0503020204020204" charset="-122"/></a:endParaRPr></a:p><a:p><a:pPr indent="0" algn="l" fontAlgn="auto"><a:lnSpc><a:spcPct val="100000"/></a:lnSpc><a:tabLst><a:tab w:pos="2800000" val="l"/></a:tabLst></a:pPr><a:r><a:rPr altLang="zh-CN" dirty="0" kern="1200" lang="en-US" b="1" sz="2000"><a:solidFill><a:schemeClr val="tx1"/></a:solidFill><a:effectLst/><a:cs typeface="微软雅黑" panose="020B0503020204020204" charset="-122"/><a:sym typeface="+mn-ea"/><a:ea typeface="微软雅黑" panose="020B0503020204020204" charset="-122"/><a:latin typeface="微软雅黑" panose="020B0503020204020204" charset="-122"/></a:rPr><a:t>      </a:t></a:r><a:r><a:rPr altLang="en-US" dirty="0" kern="1200" lang="zh-CN" b="1" sz="2000"><a:solidFill><a:srgbClr val="FF0000"/></a:solidFill><a:effectLst/><a:cs typeface="微软雅黑" panose="020B0503020204020204" charset="-122"/><a:sym typeface="+mn-ea"/><a:ea typeface="微软雅黑" panose="020B0503020204020204" charset="-122"/><a:latin typeface="微软雅黑" panose="020B0503020204020204" charset="-122"/></a:rPr><a:t>一脉相承又与时俱进</a:t></a:r><a:endParaRPr altLang="en-US" dirty="0" kern="1200" lang="zh-CN" b="1" sz="2000"><a:solidFill><a:srgbClr val="FF0000"/></a:solidFill><a:effectLst/><a:cs typeface="微软雅黑" panose="020B0503020204020204" charset="-122"/><a:sym typeface="+mn-ea"/><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r><a:tr h="723900"><a:tc><a:txBody><a:bodyPr/><a:p><a:pPr algn="ctr"><a:lnSpc><a:spcPct val="89999"/></a:lnSpc><a:buNone/><a:tabLst><a:tab w:pos="2900000" val="l"/></a:tabLst></a:pPr><a:r><a:rPr altLang="en-US" dirty="0" kern="100" lang="zh-CN" b="1" sz="2000"><a:solidFill><a:srgbClr val="2C1D86"/></a:solidFill><a:effectLst/><a:cs typeface="Times New Roman" panose="02020603050405020304" pitchFamily="18" charset="0"/><a:ea typeface="微软雅黑" panose="020B0503020204020204" charset="-122"/><a:latin typeface="微软雅黑" panose="020B0503020204020204" charset="-122"/></a:rPr><a:t>有活力</a:t></a:r><a:endParaRPr altLang="en-US" dirty="0" kern="100" lang="zh-CN" b="1" sz="2000"><a:solidFill><a:srgbClr val="2C1D86"/></a:solidFill><a:effectLst/><a:cs typeface="Times New Roman" panose="02020603050405020304" pitchFamily="18"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 gridSpan="2"><a:txBody><a:bodyPr/><a:lstStyle/><a:p><a:pPr algn="ctr"><a:lnSpc><a:spcPct val="89999"/></a:lnSpc><a:tabLst><a:tab w:pos="2900000" val="l"/></a:tabLst></a:pPr><a:r><a:rPr altLang="en-US" dirty="0" kern="100" lang="zh-CN" b="1" sz="1800"><a:solidFill><a:srgbClr val="2C1D86"/></a:solidFill><a:effectLst/><a:cs typeface="Times New Roman" panose="02020603050405020304" pitchFamily="18" charset="0"/><a:ea typeface="微软雅黑" panose="020B0503020204020204" charset="-122"/><a:latin typeface="微软雅黑" panose="020B0503020204020204" charset="-122"/></a:rPr><a:t>党</a:t></a:r><a:r><a:rPr altLang="en-US" dirty="0" kern="100" lang="zh-CN" b="1" sz="1800"><a:solidFill><a:srgbClr val="2C1D86"/></a:solidFill><a:effectLst/><a:cs typeface="Times New Roman" panose="02020603050405020304" pitchFamily="18" charset="0"/><a:sym typeface="+mn-ea"/><a:ea typeface="微软雅黑" panose="020B0503020204020204" charset="-122"/><a:latin typeface="微软雅黑" panose="020B0503020204020204" charset="-122"/></a:rPr><a:t>永葆生机</a:t></a:r><a:endParaRPr altLang="en-US" dirty="0" kern="100" lang="zh-CN" b="1" sz="1800"><a:solidFill><a:srgbClr val="2C1D86"/></a:solidFill><a:effectLst/><a:cs typeface="Times New Roman" panose="02020603050405020304" pitchFamily="18" charset="0"/><a:sym typeface="+mn-ea"/><a:ea typeface="微软雅黑" panose="020B0503020204020204" charset="-122"/><a:latin typeface="微软雅黑" panose="020B0503020204020204" charset="-122"/></a:endParaRPr></a:p><a:p><a:pPr algn="ctr"><a:lnSpc><a:spcPct val="89999"/></a:lnSpc><a:tabLst><a:tab w:pos="2900000" val="l"/></a:tabLst></a:pPr><a:r><a:rPr altLang="en-US" dirty="0" kern="100" lang="zh-CN" b="1" sz="1800"><a:solidFill><a:srgbClr val="2C1D86"/></a:solidFill><a:effectLst/><a:cs typeface="Times New Roman" panose="02020603050405020304" pitchFamily="18" charset="0"/><a:sym typeface="+mn-ea"/><a:ea typeface="微软雅黑" panose="020B0503020204020204" charset="-122"/><a:latin typeface="微软雅黑" panose="020B0503020204020204" charset="-122"/></a:rPr><a:t>活力的</a:t></a:r><a:r><a:rPr altLang="en-US" dirty="0" kern="100" lang="zh-CN" b="1" sz="1800"><a:solidFill><a:srgbClr val="2C1D86"/></a:solidFill><a:effectLst/><a:cs typeface="Times New Roman" panose="02020603050405020304" pitchFamily="18" charset="0"/><a:ea typeface="微软雅黑" panose="020B0503020204020204" charset="-122"/><a:latin typeface="微软雅黑" panose="020B0503020204020204" charset="-122"/></a:rPr><a:t>法宝</a:t></a:r><a:endParaRPr altLang="en-US" dirty="0" kern="100" lang="zh-CN" b="1" sz="1800"><a:solidFill><a:srgbClr val="2C1D86"/></a:solidFill><a:effectLst/><a:cs typeface="Times New Roman" panose="02020603050405020304" pitchFamily="18"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 hMerge="1"><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a:txBody><a:bodyPr/><a:lstStyle/><a:p><a:pPr algn="ctr"><a:lnSpc><a:spcPct val="89999"/></a:lnSpc><a:tabLst><a:tab w:pos="2900000" val="l"/></a:tabLst></a:pPr><a:r><a:rPr altLang="en-US" dirty="0" kern="100" lang="zh-CN" b="1" sz="1800"><a:effectLst/><a:cs typeface="Times New Roman" panose="02020603050405020304" pitchFamily="18" charset="0"/><a:ea typeface="微软雅黑" panose="020B0503020204020204" charset="-122"/><a:latin typeface="微软雅黑" panose="020B0503020204020204" charset="-122"/></a:rPr><a:t>解放思想、实事求是、与时俱进、求真务实</a:t></a:r><a:endParaRPr altLang="en-US" dirty="0" kern="100" lang="zh-CN" b="1" sz="1800"><a:solidFill><a:schemeClr val="tx1"/></a:solidFill><a:effectLst/><a:cs typeface="Times New Roman" panose="02020603050405020304" pitchFamily="18"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r><a:tr h="1555115"><a:tc><a:txBody><a:bodyPr/><a:p><a:pPr algn="ctr"><a:lnSpc><a:spcPct val="89999"/></a:lnSpc><a:buNone/><a:tabLst><a:tab w:pos="2900000" val="l"/></a:tabLst></a:pPr><a:r><a:rPr altLang="en-US" dirty="0" kern="100" lang="zh-CN" b="1" sz="2400"><a:solidFill><a:srgbClr val="2C1D86"/></a:solidFill><a:effectLst/><a:cs typeface="Courier New" panose="02070309020205020404" pitchFamily="49" charset="0"/><a:ea typeface="微软雅黑" panose="020B0503020204020204" charset="-122"/><a:latin typeface="微软雅黑" panose="020B0503020204020204" charset="-122"/></a:rPr><a:t>党员好</a:t></a:r><a:endParaRPr altLang="en-US" dirty="0" kern="100" lang="zh-CN" b="1" sz="2400"><a:solidFill><a:srgbClr val="2C1D86"/></a:solidFill><a:effectLst/><a:cs typeface="Courier New" panose="02070309020205020404" pitchFamily="49"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 gridSpan="2"><a:txBody><a:bodyPr/><a:lstStyle/><a:p><a:pPr algn="ctr"><a:lnSpc><a:spcPct val="89999"/></a:lnSpc><a:tabLst><a:tab w:pos="2900000" val="l"/></a:tabLst></a:pPr><a:r><a:rPr altLang="en-US" dirty="0" kern="100" lang="zh-CN" b="1" sz="2000"><a:solidFill><a:srgbClr val="2C1D86"/></a:solidFill><a:effectLst/><a:cs typeface="Courier New" panose="02070309020205020404" pitchFamily="49" charset="0"/><a:ea typeface="微软雅黑" panose="020B0503020204020204" charset="-122"/><a:latin typeface="微软雅黑" panose="020B0503020204020204" charset="-122"/></a:rPr><a:t>党组织的战斗堡垒</a:t></a:r><a:r><a:rPr altLang="en-US" dirty="0" kern="100" lang="zh-CN" b="1" sz="2000"><a:solidFill><a:srgbClr val="2C1D86"/></a:solidFill><a:effectLst/><a:cs typeface="Courier New" panose="02070309020205020404" pitchFamily="49" charset="0"/><a:ea typeface="微软雅黑" panose="020B0503020204020204" charset="-122"/><a:latin typeface="微软雅黑" panose="020B0503020204020204" charset="-122"/></a:rPr><a:t>作用</a:t></a:r><a:endParaRPr altLang="en-US" dirty="0" kern="100" lang="zh-CN" b="1" sz="2000"><a:solidFill><a:srgbClr val="2C1D86"/></a:solidFill><a:effectLst/><a:cs typeface="Courier New" panose="02070309020205020404" pitchFamily="49" charset="0"/><a:ea typeface="微软雅黑" panose="020B0503020204020204" charset="-122"/><a:latin typeface="微软雅黑" panose="020B0503020204020204" charset="-122"/></a:endParaRPr></a:p><a:p><a:pPr algn="ctr"><a:lnSpc><a:spcPct val="89999"/></a:lnSpc><a:tabLst><a:tab w:pos="2900000" val="l"/></a:tabLst></a:pPr><a:r><a:rPr altLang="en-US" dirty="0" kern="100" lang="zh-CN" b="1" sz="2000"><a:solidFill><a:srgbClr val="2C1D86"/></a:solidFill><a:effectLst/><a:cs typeface="Courier New" panose="02070309020205020404" pitchFamily="49" charset="0"/><a:ea typeface="微软雅黑" panose="020B0503020204020204" charset="-122"/><a:latin typeface="微软雅黑" panose="020B0503020204020204" charset="-122"/></a:rPr><a:t>共产党员</a:t></a:r><a:r><a:rPr altLang="en-US" dirty="0" kern="100" lang="zh-CN" b="1" sz="2000"><a:solidFill><a:srgbClr val="2C1D86"/></a:solidFill><a:effectLst/><a:cs typeface="Courier New" panose="02070309020205020404" pitchFamily="49" charset="0"/><a:ea typeface="微软雅黑" panose="020B0503020204020204" charset="-122"/><a:latin typeface="微软雅黑" panose="020B0503020204020204" charset="-122"/></a:rPr><a:t>的先锋模范作用</a:t></a:r><a:endParaRPr altLang="en-US" dirty="0" kern="100" lang="zh-CN" b="1" sz="2000"><a:solidFill><a:srgbClr val="2C1D86"/></a:solidFill><a:effectLst/><a:cs typeface="Courier New" panose="02070309020205020404" pitchFamily="49"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 hMerge="1"><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c><a:txBody><a:bodyPr/><a:lstStyle/><a:p><a:pPr algn="l"><a:lnSpc><a:spcPct val="89999"/></a:lnSpc><a:tabLst><a:tab w:pos="2900000" val="l"/></a:tabLst></a:pPr><a:r><a:rPr altLang="zh-CN" dirty="0" kern="100" lang="en-US" b="1" sz="2000"><a:effectLst/><a:cs typeface="Courier New" panose="02070309020205020404" pitchFamily="49" charset="0"/><a:ea typeface="微软雅黑" panose="020B0503020204020204" charset="-122"/><a:latin typeface="微软雅黑" panose="020B0503020204020204" charset="-122"/></a:rPr><a:t>      </a:t></a:r><a:r><a:rPr altLang="en-US" dirty="0" kern="100" lang="zh-CN" b="1" sz="1800"><a:effectLst/><a:cs typeface="Courier New" panose="02070309020205020404" pitchFamily="49" charset="0"/><a:sym typeface="+mn-ea"/><a:ea typeface="微软雅黑" panose="020B0503020204020204" charset="-122"/><a:latin typeface="微软雅黑" panose="020B0503020204020204" charset="-122"/></a:rPr><a:t>共产党员的先锋模范作用，是指坚定马克思主义信仰，践行为人民服务宗旨，通过自己的骨干、带头、桥梁作用，影响带动群众共同贯彻党的理论、路线、方略</a:t></a:r><a:endParaRPr altLang="zh-CN" dirty="0" kern="100" lang="en-US" b="1" sz="2000"><a:effectLst/><a:cs typeface="Courier New" panose="02070309020205020404" pitchFamily="49" charset="0"/><a:ea typeface="微软雅黑" panose="020B0503020204020204" charset="-122"/><a:latin typeface="微软雅黑" panose="020B0503020204020204" charset="-122"/></a:endParaRPr></a:p><a:p><a:pPr algn="l"><a:lnSpc><a:spcPct val="89999"/></a:lnSpc><a:tabLst><a:tab w:pos="2900000" val="l"/></a:tabLst></a:pPr><a:r><a:rPr altLang="zh-CN" dirty="0" kern="100" lang="en-US" b="1" sz="2000"><a:effectLst/><a:cs typeface="Courier New" panose="02070309020205020404" pitchFamily="49" charset="0"/><a:ea typeface="微软雅黑" panose="020B0503020204020204" charset="-122"/><a:latin typeface="微软雅黑" panose="020B0503020204020204" charset="-122"/></a:rPr><a:t>      </a:t></a:r><a:r><a:rPr altLang="en-US" dirty="0" kern="100" lang="zh-CN" b="1" sz="1800"><a:effectLst/><a:cs typeface="Courier New" panose="02070309020205020404" pitchFamily="49" charset="0"/><a:ea typeface="微软雅黑" panose="020B0503020204020204" charset="-122"/><a:latin typeface="微软雅黑" panose="020B0503020204020204" charset="-122"/></a:rPr><a:t>是由</a:t></a:r><a:r><a:rPr altLang="en-US" dirty="0" kern="100" lang="zh-CN" b="1" sz="1800"><a:solidFill><a:srgbClr val="FF0000"/></a:solidFill><a:effectLst/><a:cs typeface="Courier New" panose="02070309020205020404" pitchFamily="49" charset="0"/><a:ea typeface="微软雅黑" panose="020B0503020204020204" charset="-122"/><a:latin typeface="微软雅黑" panose="020B0503020204020204" charset="-122"/></a:rPr><a:t>党的先锋队性质决定的</a:t></a:r><a:r><a:rPr altLang="en-US" dirty="0" kern="100" lang="zh-CN" b="1" sz="1800"><a:effectLst/><a:cs typeface="Courier New" panose="02070309020205020404" pitchFamily="49" charset="0"/><a:ea typeface="微软雅黑" panose="020B0503020204020204" charset="-122"/><a:latin typeface="微软雅黑" panose="020B0503020204020204" charset="-122"/></a:rPr><a:t>，是中国共产党先进性的直接而具体的体现，是使党始终成为时代先锋</a:t></a:r><a:r><a:rPr dirty="0" kern="100" lang="zh-CN" b="1" sz="1800"><a:effectLst/><a:cs typeface="Courier New" panose="02070309020205020404" pitchFamily="49" charset="0"/><a:ea typeface="微软雅黑" panose="020B0503020204020204" charset="-122"/><a:latin typeface="微软雅黑" panose="020B0503020204020204" charset="-122"/></a:rPr><a:t>，</a:t></a:r><a:r><a:rPr altLang="en-US" dirty="0" kern="100" lang="zh-CN" b="1" sz="1800"><a:effectLst/><a:cs typeface="Courier New" panose="02070309020205020404" pitchFamily="49" charset="0"/><a:ea typeface="微软雅黑" panose="020B0503020204020204" charset="-122"/><a:latin typeface="微软雅黑" panose="020B0503020204020204" charset="-122"/></a:rPr><a:t>不断取得胜利的坚强保证。</a:t></a:r><a:endParaRPr altLang="en-US" dirty="0" kern="100" lang="zh-CN" b="1" sz="1800"><a:effectLst/><a:cs typeface="Courier New" panose="02070309020205020404" pitchFamily="49" charset="0"/><a:ea typeface="微软雅黑" panose="020B0503020204020204" charset="-122"/><a:latin typeface="微软雅黑" panose="020B0503020204020204" charset="-122"/></a:endParaRPr></a:p><a:p><a:pPr algn="l"><a:lnSpc><a:spcPct val="89999"/></a:lnSpc><a:tabLst><a:tab w:pos="2900000" val="l"/></a:tabLst></a:pPr><a:r><a:rPr altLang="zh-CN" dirty="0" kern="100" lang="en-US" b="1" sz="1800"><a:effectLst/><a:cs typeface="Courier New" panose="02070309020205020404" pitchFamily="49" charset="0"/><a:ea typeface="微软雅黑" panose="020B0503020204020204" charset="-122"/><a:latin typeface="微软雅黑" panose="020B0503020204020204" charset="-122"/></a:rPr><a:t>      </a:t></a:r><a:r><a:rPr altLang="en-US" dirty="0" kern="100" lang="zh-CN" b="1" sz="1800"><a:effectLst/><a:cs typeface="Courier New" panose="02070309020205020404" pitchFamily="49" charset="0"/><a:ea typeface="微软雅黑" panose="020B0503020204020204" charset="-122"/><a:latin typeface="微软雅黑" panose="020B0503020204020204" charset="-122"/></a:rPr><a:t>不同时期有不同的内容</a:t></a:r><a:endParaRPr altLang="en-US" dirty="0" kern="100" lang="zh-CN" b="1" sz="1800"><a:effectLst/><a:cs typeface="Courier New" panose="02070309020205020404" pitchFamily="49" charset="0"/><a:ea typeface="微软雅黑" panose="020B0503020204020204" charset="-122"/><a:latin typeface="微软雅黑" panose="020B0503020204020204" charset="-122"/></a:endParaRPr></a:p></a:txBody><a:tcPr marL="29179" marR="29179" marT="0" marB="0" anchor="ctr"><a:lnL w="12700" cmpd="sng"><a:solidFill><a:srgbClr val="000000"/></a:solidFill><a:prstDash val="solid"/><a:round/><a:headEnd type="none" w="med" len="med"/><a:tailEnd type="none" w="med" len="med"/></a:lnL><a:lnR w="12700" cmpd="sng"><a:solidFill><a:srgbClr val="000000"/></a:solidFill><a:prstDash val="solid"/><a:round/><a:headEnd type="none" w="med" len="med"/><a:tailEnd type="none" w="med" len="med"/></a:lnR><a:lnT w="12700" cmpd="sng"><a:solidFill><a:srgbClr val="000000"/></a:solidFill><a:prstDash val="solid"/><a:round/><a:headEnd type="none" w="med" len="med"/><a:tailEnd type="none" w="med" len="med"/></a:lnT><a:lnB w="12700" cmpd="sng"><a:solidFill><a:srgbClr val="000000"/></a:solidFill><a:prstDash val="solid"/><a:round/><a:headEnd type="none" w="med" len="med"/><a:tailEnd type="none" w="med" len="med"/></a:lnB></a:tcPr></a:tc></a:tr></a:tbl></a:graphicData></a:graphic></p:graphicFrame><p:sp><p:nvSpPr><p:cNvPr id="5" name="文本框 4"/><p:cNvSpPr/><p:nvPr/></p:nvSpPr><p:spPr><a:xfrm><a:off x="-812800" y="-31750"/><a:ext cx="11548110" cy="521970"/></a:xfrm><a:prstGeom prst="rect"><a:avLst/></a:prstGeom><a:noFill/></p:spPr><p:txBody><a:bodyPr wrap="square"><a:spAutoFit/></a:bodyPr><a:lstStyle/><a:p><a:pPr marR="0" indent="0" lvl="2" algn="ctr" defTabSz="914400" rtl="0" eaLnBrk="1" latinLnBrk="0" hangingPunct="1" fontAlgn="auto"><a:lnSpc><a:spcPct val="100000"/></a:lnSpc><a:spcBef><a:spcPts val="0"/></a:spcBef><a:spcAft><a:spcPts val="0"/></a:spcAft><a:buNone/><a:defRPr/></a:pPr><a:r><a:rPr altLang="en-US" lang="zh-CN" b="1" sz="2800"><a:solidFill><a:srgbClr val="2C1D86"/></a:solidFill><a:sym typeface="+mn-ea"/></a:rPr><a:t>【</a:t></a:r><a:r><a:rPr altLang="en-US" dirty="0" kern="100" lang="zh-CN" b="1" sz="2800"><a:solidFill><a:srgbClr val="2C1D86"/></a:solidFill><a:cs typeface="Times New Roman" panose="02020603050405020304" pitchFamily="18" charset="0"/><a:sym typeface="+mn-ea"/><a:ea typeface="微软雅黑" panose="020B0503020204020204" charset="-122"/><a:latin typeface="微软雅黑" panose="020B0503020204020204" charset="-122"/></a:rPr><a:t>党的先进性体现在什么地方</a:t></a:r><a:r><a:rPr altLang="en-US" lang="zh-CN" b="1" sz="2800"><a:solidFill><a:srgbClr val="2C1D86"/></a:solidFill><a:sym typeface="+mn-ea"/></a:rPr><a:t>】</a:t></a:r><a:r><a:rPr altLang="en-US" dirty="0" kern="100" lang="zh-CN" b="1" sz="2800"><a:solidFill><a:srgbClr val="2C1D86"/></a:solidFill><a:cs typeface="Times New Roman" panose="02020603050405020304" pitchFamily="18" charset="0"/><a:ea typeface="微软雅黑" panose="020B0503020204020204" charset="-122"/><a:latin typeface="微软雅黑" panose="020B0503020204020204" charset="-122"/></a:rPr><a:t>（或</a:t></a:r><a:r><a:rPr altLang="en-US" dirty="0" kern="100" lang="zh-CN" b="1" sz="2800"><a:solidFill><a:srgbClr val="2C1D86"/></a:solidFill><a:cs typeface="Times New Roman" panose="02020603050405020304" pitchFamily="18" charset="0"/><a:sym typeface="+mn-ea"/><a:ea typeface="微软雅黑" panose="020B0503020204020204" charset="-122"/><a:latin typeface="微软雅黑" panose="020B0503020204020204" charset="-122"/></a:rPr><a:t>为什么党能始终走在时代前列</a:t></a:r><a:r><a:rPr altLang="en-US" dirty="0" kern="100" lang="zh-CN" b="1" sz="2800"><a:solidFill><a:srgbClr val="2C1D86"/></a:solidFill><a:cs typeface="Times New Roman" panose="02020603050405020304" pitchFamily="18" charset="0"/><a:ea typeface="微软雅黑" panose="020B0503020204020204" charset="-122"/><a:latin typeface="微软雅黑" panose="020B0503020204020204" charset="-122"/></a:rPr><a:t>）</a:t></a:r><a:endParaRPr altLang="en-US" dirty="0" kern="100" kumimoji="0" lang="zh-CN" normalizeH="0" b="1" cap="none" i="0" noProof="0" spc="0" strike="noStrike" sz="2800" u="none"><a:ln><a:noFill/></a:ln><a:solidFill><a:srgbClr val="2C1D86"/></a:solidFill><a:effectLst/><a:uLnTx/><a:uFillTx/><a:cs typeface="Times New Roman" panose="02020603050405020304" pitchFamily="18" charset="0"/><a:ea typeface="微软雅黑" panose="020B0503020204020204" charset="-122"/><a:latin typeface="微软雅黑" panose="020B0503020204020204" charset="-122"/></a:endParaRPr></a:p></p:txBody></p:sp></p:spTree></p:cSld><p:clrMapOvr><a:masterClrMapping/></p:clrMapOvr><p:timing><p:tnLst><p:par><p:cTn id="1" dur="indefinite" restart="never" nodeType="tmRoot"/></p:par></p:tnLst></p:timing></p:sld>
</file>

<file path=ppt/slides/slide3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7" name="任意多边形: 形状 26"/>
          <p:cNvSpPr/>
          <p:nvPr/>
        </p:nvSpPr>
        <p:spPr>
          <a:xfrm>
            <a:off x="9949815" y="6780530"/>
            <a:ext cx="2139315" cy="120015"/>
          </a:xfrm>
          <a:custGeom>
            <a:avLst/>
            <a:gdLst>
              <a:gd name="connsiteX0" fmla="*/ 906513 w 2162679"/>
              <a:gd name="connsiteY0" fmla="*/ 2 h 577170"/>
              <a:gd name="connsiteX1" fmla="*/ 1669193 w 2162679"/>
              <a:gd name="connsiteY1" fmla="*/ 105457 h 577170"/>
              <a:gd name="connsiteX2" fmla="*/ 2061376 w 2162679"/>
              <a:gd name="connsiteY2" fmla="*/ 319174 h 577170"/>
              <a:gd name="connsiteX3" fmla="*/ 2162679 w 2162679"/>
              <a:gd name="connsiteY3" fmla="*/ 386682 h 577170"/>
              <a:gd name="connsiteX4" fmla="*/ 2162679 w 2162679"/>
              <a:gd name="connsiteY4" fmla="*/ 577170 h 577170"/>
              <a:gd name="connsiteX5" fmla="*/ 1175354 w 2162679"/>
              <a:gd name="connsiteY5" fmla="*/ 577170 h 577170"/>
              <a:gd name="connsiteX6" fmla="*/ 1088622 w 2162679"/>
              <a:gd name="connsiteY6" fmla="*/ 555400 h 577170"/>
              <a:gd name="connsiteX7" fmla="*/ 50 w 2162679"/>
              <a:gd name="connsiteY7" fmla="*/ 410257 h 577170"/>
              <a:gd name="connsiteX8" fmla="*/ 1132165 w 2162679"/>
              <a:gd name="connsiteY8" fmla="*/ 352200 h 577170"/>
              <a:gd name="connsiteX9" fmla="*/ 1901422 w 2162679"/>
              <a:gd name="connsiteY9" fmla="*/ 511857 h 577170"/>
              <a:gd name="connsiteX10" fmla="*/ 1277308 w 2162679"/>
              <a:gd name="connsiteY10" fmla="*/ 149000 h 577170"/>
              <a:gd name="connsiteX11" fmla="*/ 783822 w 2162679"/>
              <a:gd name="connsiteY11" fmla="*/ 3857 h 577170"/>
              <a:gd name="connsiteX12" fmla="*/ 906513 w 2162679"/>
              <a:gd name="connsiteY12" fmla="*/ 2 h 57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h="577170" w="2162679">
                <a:moveTo>
                  <a:pt x="906513" y="2"/>
                </a:moveTo>
                <a:cubicBezTo>
                  <a:pt x="1092704" y="-225"/>
                  <a:pt x="1438779" y="16558"/>
                  <a:pt x="1669193" y="105457"/>
                </a:cubicBezTo>
                <a:cubicBezTo>
                  <a:pt x="1784400" y="149907"/>
                  <a:pt x="1923420" y="230076"/>
                  <a:pt x="2061376" y="319174"/>
                </a:cubicBezTo>
                <a:lnTo>
                  <a:pt x="2162679" y="386682"/>
                </a:lnTo>
                <a:lnTo>
                  <a:pt x="2162679" y="577170"/>
                </a:lnTo>
                <a:lnTo>
                  <a:pt x="1175354" y="577170"/>
                </a:lnTo>
                <a:lnTo>
                  <a:pt x="1088622" y="555400"/>
                </a:lnTo>
                <a:cubicBezTo>
                  <a:pt x="769308" y="492505"/>
                  <a:pt x="-7207" y="444124"/>
                  <a:pt x="50" y="410257"/>
                </a:cubicBezTo>
                <a:cubicBezTo>
                  <a:pt x="7307" y="376390"/>
                  <a:pt x="815270" y="335267"/>
                  <a:pt x="1132165" y="352200"/>
                </a:cubicBezTo>
                <a:cubicBezTo>
                  <a:pt x="1449060" y="369133"/>
                  <a:pt x="1877232" y="545724"/>
                  <a:pt x="1901422" y="511857"/>
                </a:cubicBezTo>
                <a:cubicBezTo>
                  <a:pt x="1925612" y="477990"/>
                  <a:pt x="1463575" y="233667"/>
                  <a:pt x="1277308" y="149000"/>
                </a:cubicBezTo>
                <a:cubicBezTo>
                  <a:pt x="1091041" y="64333"/>
                  <a:pt x="718508" y="11114"/>
                  <a:pt x="783822" y="3857"/>
                </a:cubicBezTo>
                <a:cubicBezTo>
                  <a:pt x="800151" y="2043"/>
                  <a:pt x="844449" y="78"/>
                  <a:pt x="906513" y="2"/>
                </a:cubicBezTo>
                <a:close/>
              </a:path>
            </a:pathLst>
          </a:custGeom>
          <a:solidFill>
            <a:srgbClr val="B40006"/>
          </a:solidFill>
          <a:ln w="12700">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ltLang="en-US" lang="zh-CN" sz="2090">
              <a:solidFill>
                <a:schemeClr val="lt1"/>
              </a:solidFill>
              <a:cs typeface="汉仪尚巍手书W" panose="00020600040101010101" pitchFamily="18" charset="-122"/>
              <a:latin typeface="汉仪尚巍手书W" panose="00020600040101010101" pitchFamily="18" charset="-122"/>
            </a:endParaRPr>
          </a:p>
        </p:txBody>
      </p:sp>
      <p:sp>
        <p:nvSpPr>
          <p:cNvPr id="3" name="文本框 2"/>
          <p:cNvSpPr/>
          <p:nvPr/>
        </p:nvSpPr>
        <p:spPr>
          <a:xfrm>
            <a:off x="104140" y="98425"/>
            <a:ext cx="12097385" cy="7774305"/>
          </a:xfrm>
          <a:prstGeom prst="rect">
            <a:avLst/>
          </a:prstGeom>
          <a:noFill/>
        </p:spPr>
        <p:txBody>
          <a:bodyPr wrap="square">
            <a:spAutoFit/>
          </a:bodyPr>
          <a:lstStyle/>
          <a:p>
            <a:pPr marR="0" indent="0" lvl="0" algn="ctr" defTabSz="914400" rtl="0" eaLnBrk="1" latinLnBrk="0" hangingPunct="1" fontAlgn="auto">
              <a:lnSpc>
                <a:spcPct val="129999"/>
              </a:lnSpc>
              <a:spcBef>
                <a:spcPts val="0"/>
              </a:spcBef>
              <a:spcAft>
                <a:spcPts val="0"/>
              </a:spcAft>
              <a:buNone/>
              <a:defRPr/>
            </a:pPr>
            <a:r>
              <a:rPr altLang="en-US" dirty="0" lang="zh-CN" b="1" noProof="0" sz="3600">
                <a:ln>
                  <a:noFill/>
                </a:ln>
                <a:solidFill>
                  <a:srgbClr val="C00000"/>
                </a:solidFill>
                <a:effectLst/>
                <a:uLnTx/>
                <a:uFillTx/>
                <a:cs typeface="微软雅黑" panose="020B0503020204020204" charset="-122"/>
                <a:sym typeface="+mn-ea"/>
                <a:ea typeface="微软雅黑" panose="020B0503020204020204" charset="-122"/>
                <a:latin typeface="微软雅黑" panose="020B0503020204020204" charset="-122"/>
              </a:rPr>
              <a:t>【核心问题二：怎样坚持和加强党的全面领导】</a:t>
            </a:r>
            <a:endParaRPr altLang="en-US" dirty="0" lang="zh-CN" b="1" noProof="0" sz="3600">
              <a:ln>
                <a:noFill/>
              </a:ln>
              <a:solidFill>
                <a:srgbClr val="C00000"/>
              </a:solidFill>
              <a:effectLst/>
              <a:uLnTx/>
              <a:uFillTx/>
              <a:cs typeface="微软雅黑" panose="020B0503020204020204" charset="-122"/>
              <a:sym typeface="+mn-ea"/>
              <a:ea typeface="微软雅黑" panose="020B0503020204020204" charset="-122"/>
              <a:latin typeface="微软雅黑" panose="020B0503020204020204" charset="-122"/>
            </a:endParaRPr>
          </a:p>
          <a:p>
            <a:pPr marR="0" indent="0" lvl="0" algn="l" defTabSz="914400" rtl="0" eaLnBrk="1" latinLnBrk="0" hangingPunct="1" fontAlgn="auto">
              <a:lnSpc>
                <a:spcPct val="129999"/>
              </a:lnSpc>
              <a:spcBef>
                <a:spcPts val="0"/>
              </a:spcBef>
              <a:spcAft>
                <a:spcPts val="0"/>
              </a:spcAft>
              <a:buNone/>
              <a:defRPr/>
            </a:pPr>
            <a:r>
              <a:rPr altLang="zh-CN" dirty="0" kern="1200" kumimoji="0" lang="en-US" normalizeH="0" b="1" cap="none" i="0" noProof="0" spc="0" strike="noStrike" sz="2800" u="none">
                <a:ln>
                  <a:noFill/>
                </a:ln>
                <a:solidFill>
                  <a:srgbClr val="2C1D86"/>
                </a:solidFill>
                <a:effectLst/>
                <a:uLnTx/>
                <a:uFillTx/>
                <a:cs typeface="+mj-ea"/>
                <a:ea typeface="+mj-ea"/>
                <a:latin typeface="+mj-ea"/>
              </a:rPr>
              <a:t>1.</a:t>
            </a:r>
            <a:r>
              <a:rPr altLang="en-US" dirty="0" kern="1200" kumimoji="0" lang="zh-CN" normalizeH="0" b="1" cap="none" i="0" noProof="0" spc="0" strike="noStrike" sz="2800" u="none">
                <a:ln>
                  <a:noFill/>
                </a:ln>
                <a:solidFill>
                  <a:srgbClr val="2C1D86"/>
                </a:solidFill>
                <a:effectLst/>
                <a:uLnTx/>
                <a:uFillTx/>
                <a:cs typeface="+mj-ea"/>
                <a:ea typeface="+mj-ea"/>
                <a:latin typeface="+mj-ea"/>
              </a:rPr>
              <a:t>坚持党的全面领导</a:t>
            </a:r>
            <a:endParaRPr altLang="en-US" dirty="0" kern="1200" kumimoji="0" lang="zh-CN" normalizeH="0" b="1" cap="none" i="0" noProof="0" spc="0" strike="noStrike" sz="2800" u="none">
              <a:ln>
                <a:noFill/>
              </a:ln>
              <a:solidFill>
                <a:srgbClr val="2C1D86"/>
              </a:solidFill>
              <a:effectLst/>
              <a:uLnTx/>
              <a:uFillTx/>
              <a:cs typeface="+mj-ea"/>
              <a:ea typeface="+mj-ea"/>
              <a:latin typeface="+mj-ea"/>
            </a:endParaRPr>
          </a:p>
          <a:p>
            <a:pPr marR="0" indent="0" lvl="0" algn="l" defTabSz="914400" rtl="0" eaLnBrk="1" latinLnBrk="0" hangingPunct="1" fontAlgn="auto">
              <a:lnSpc>
                <a:spcPct val="129999"/>
              </a:lnSpc>
              <a:spcBef>
                <a:spcPts val="0"/>
              </a:spcBef>
              <a:spcAft>
                <a:spcPts val="0"/>
              </a:spcAft>
              <a:buNone/>
              <a:defRPr/>
            </a:pPr>
            <a:r>
              <a:rPr altLang="en-US" dirty="0" kern="1200" kumimoji="0" lang="zh-CN" normalizeH="0" b="1" cap="none" i="0" noProof="0" spc="0" strike="noStrike" sz="2800" u="none">
                <a:ln>
                  <a:noFill/>
                </a:ln>
                <a:solidFill>
                  <a:srgbClr val="000000"/>
                </a:solidFill>
                <a:effectLst/>
                <a:uLnTx/>
                <a:uFillTx/>
                <a:cs typeface="+mj-ea"/>
                <a:ea typeface="+mj-ea"/>
                <a:latin typeface="+mj-ea"/>
              </a:rPr>
              <a:t> </a:t>
            </a:r>
            <a:r>
              <a:rPr altLang="zh-CN" dirty="0" kern="1200" kumimoji="0" lang="en-US" normalizeH="0" b="1" cap="none" i="0" noProof="0" spc="0" strike="noStrike" sz="2800" u="none">
                <a:ln>
                  <a:noFill/>
                </a:ln>
                <a:solidFill>
                  <a:srgbClr val="000000"/>
                </a:solidFill>
                <a:effectLst/>
                <a:uLnTx/>
                <a:uFillTx/>
                <a:cs typeface="+mj-ea"/>
                <a:ea typeface="+mj-ea"/>
                <a:latin typeface="+mj-ea"/>
              </a:rPr>
              <a:t>     </a:t>
            </a:r>
            <a:r>
              <a:rPr altLang="zh-CN" dirty="0" kern="1200" kumimoji="0" lang="en-US" normalizeH="0" b="1" cap="none" i="0" noProof="0" spc="0" strike="noStrike" sz="2400" u="none">
                <a:ln>
                  <a:noFill/>
                </a:ln>
                <a:solidFill>
                  <a:srgbClr val="000000"/>
                </a:solidFill>
                <a:effectLst/>
                <a:uLnTx/>
                <a:uFillTx/>
                <a:cs typeface="+mj-ea"/>
                <a:ea typeface="+mj-ea"/>
                <a:latin typeface="+mj-ea"/>
              </a:rPr>
              <a:t> </a:t>
            </a:r>
            <a:r>
              <a:rPr altLang="en-US" dirty="0" kern="1200" kumimoji="0" lang="zh-CN" normalizeH="0" b="1" cap="none" i="0" noProof="0" spc="0" strike="noStrike" sz="2400" u="none">
                <a:ln>
                  <a:noFill/>
                </a:ln>
                <a:solidFill>
                  <a:srgbClr val="FF0000"/>
                </a:solidFill>
                <a:effectLst/>
                <a:uLnTx/>
                <a:uFillTx/>
                <a:cs typeface="+mj-ea"/>
                <a:ea typeface="+mj-ea"/>
                <a:latin typeface="+mj-ea"/>
              </a:rPr>
              <a:t>中国共产党</a:t>
            </a:r>
            <a:r>
              <a:rPr altLang="en-US" dirty="0" lang="zh-CN" b="1" sz="2400">
                <a:solidFill>
                  <a:srgbClr val="FF0000"/>
                </a:solidFill>
                <a:cs typeface="+mj-ea"/>
                <a:sym typeface="+mn-ea"/>
                <a:ea typeface="+mj-ea"/>
                <a:latin typeface="+mj-ea"/>
              </a:rPr>
              <a:t>是中国特色社会主义事业的领导核心，是我国最高政治领导力量，中国共产党领导是中国特色社会主义最本质的特征,是中国特色社会主义制度的最大优势；</a:t>
            </a:r>
            <a:endParaRPr altLang="en-US" dirty="0" lang="zh-CN" b="1" sz="2400">
              <a:solidFill>
                <a:srgbClr val="FF0000"/>
              </a:solidFill>
              <a:cs typeface="+mj-ea"/>
              <a:sym typeface="+mn-ea"/>
              <a:ea typeface="+mj-ea"/>
              <a:latin typeface="+mj-ea"/>
            </a:endParaRPr>
          </a:p>
          <a:p>
            <a:pPr marR="0" indent="0" lvl="0" algn="l" defTabSz="914400" rtl="0" eaLnBrk="1" latinLnBrk="0" hangingPunct="1" fontAlgn="auto">
              <a:lnSpc>
                <a:spcPct val="129999"/>
              </a:lnSpc>
              <a:spcBef>
                <a:spcPts val="0"/>
              </a:spcBef>
              <a:spcAft>
                <a:spcPts val="0"/>
              </a:spcAft>
              <a:buNone/>
              <a:defRPr/>
            </a:pPr>
            <a:r>
              <a:rPr altLang="en-US" dirty="0" lang="zh-CN" b="1" sz="2400">
                <a:solidFill>
                  <a:prstClr val="black"/>
                </a:solidFill>
                <a:cs typeface="+mj-ea"/>
                <a:sym typeface="+mn-ea"/>
                <a:ea typeface="+mj-ea"/>
                <a:latin typeface="+mj-ea"/>
              </a:rPr>
              <a:t> </a:t>
            </a:r>
            <a:r>
              <a:rPr altLang="zh-CN" dirty="0" lang="en-US" b="1" sz="2400">
                <a:solidFill>
                  <a:prstClr val="black"/>
                </a:solidFill>
                <a:cs typeface="+mj-ea"/>
                <a:sym typeface="+mn-ea"/>
                <a:ea typeface="+mj-ea"/>
                <a:latin typeface="+mj-ea"/>
              </a:rPr>
              <a:t>     </a:t>
            </a:r>
            <a:r>
              <a:rPr altLang="en-US" dirty="0" lang="zh-CN" b="1" noProof="0" sz="2400">
                <a:ln>
                  <a:noFill/>
                </a:ln>
                <a:solidFill>
                  <a:srgbClr val="FF0000"/>
                </a:solidFill>
                <a:effectLst/>
                <a:uLnTx/>
                <a:uFillTx/>
                <a:cs typeface="+mj-ea"/>
                <a:sym typeface="+mn-ea"/>
                <a:ea typeface="+mj-ea"/>
                <a:latin typeface="+mj-ea"/>
              </a:rPr>
              <a:t>党的领导是</a:t>
            </a:r>
            <a:r>
              <a:rPr altLang="en-US" dirty="0" lang="zh-CN" b="1" noProof="0" sz="2400">
                <a:ln>
                  <a:noFill/>
                </a:ln>
                <a:solidFill>
                  <a:srgbClr val="FF0000"/>
                </a:solidFill>
                <a:effectLst/>
                <a:uLnTx/>
                <a:uFillTx/>
                <a:cs typeface="+mj-ea"/>
                <a:sym typeface="+mn-ea"/>
                <a:highlight>
                  <a:srgbClr val="FFFF00"/>
                </a:highlight>
                <a:ea typeface="+mj-ea"/>
                <a:latin typeface="+mj-ea"/>
              </a:rPr>
              <a:t>全面的、系统的、整体的</a:t>
            </a:r>
            <a:r>
              <a:rPr altLang="en-US" dirty="0" lang="zh-CN" b="1" noProof="0" sz="2400">
                <a:ln>
                  <a:noFill/>
                </a:ln>
                <a:solidFill>
                  <a:schemeClr val="tx1"/>
                </a:solidFill>
                <a:effectLst/>
                <a:uLnTx/>
                <a:uFillTx/>
                <a:cs typeface="+mj-ea"/>
                <a:sym typeface="+mn-ea"/>
                <a:ea typeface="+mj-ea"/>
                <a:latin typeface="+mj-ea"/>
              </a:rPr>
              <a:t>，主要方式包括</a:t>
            </a:r>
            <a:r>
              <a:rPr altLang="en-US" dirty="0" lang="zh-CN" b="1" noProof="0" sz="2400">
                <a:ln>
                  <a:noFill/>
                </a:ln>
                <a:solidFill>
                  <a:schemeClr val="tx1"/>
                </a:solidFill>
                <a:effectLst/>
                <a:uLnTx/>
                <a:uFillTx/>
                <a:cs typeface="+mj-ea"/>
                <a:sym typeface="+mn-ea"/>
                <a:highlight>
                  <a:srgbClr val="FFFF00"/>
                </a:highlight>
                <a:ea typeface="+mj-ea"/>
                <a:latin typeface="+mj-ea"/>
              </a:rPr>
              <a:t>政治领导、思想领导、组织领导</a:t>
            </a:r>
            <a:endParaRPr altLang="en-US" dirty="0" kern="1200" kumimoji="0" lang="zh-CN" normalizeH="0" b="1" cap="none" i="0" noProof="0" spc="0" strike="noStrike" sz="2400" u="none">
              <a:ln>
                <a:noFill/>
              </a:ln>
              <a:solidFill>
                <a:schemeClr val="tx1"/>
              </a:solidFill>
              <a:effectLst/>
              <a:uLnTx/>
              <a:uFillTx/>
              <a:cs typeface="+mj-ea"/>
              <a:highlight>
                <a:srgbClr val="FFFF00"/>
              </a:highlight>
              <a:ea typeface="+mj-ea"/>
              <a:latin typeface="+mj-ea"/>
            </a:endParaRPr>
          </a:p>
          <a:p>
            <a:pPr marR="0" indent="0" lvl="0" algn="l" defTabSz="914400" rtl="0" eaLnBrk="1" latinLnBrk="0" hangingPunct="1" fontAlgn="auto">
              <a:lnSpc>
                <a:spcPct val="129999"/>
              </a:lnSpc>
              <a:spcBef>
                <a:spcPts val="0"/>
              </a:spcBef>
              <a:spcAft>
                <a:spcPts val="0"/>
              </a:spcAft>
              <a:buNone/>
              <a:defRPr/>
            </a:pPr>
            <a:r>
              <a:rPr altLang="zh-CN" dirty="0" kern="1200" kumimoji="0" lang="en-US" normalizeH="0" b="1" cap="none" i="0" noProof="0" spc="0" strike="noStrike" sz="2800" u="none">
                <a:ln>
                  <a:noFill/>
                </a:ln>
                <a:solidFill>
                  <a:srgbClr val="2C1D86"/>
                </a:solidFill>
                <a:effectLst/>
                <a:uLnTx/>
                <a:uFillTx/>
                <a:cs typeface="+mj-ea"/>
                <a:ea typeface="+mj-ea"/>
                <a:latin typeface="+mj-ea"/>
              </a:rPr>
              <a:t>2.</a:t>
            </a:r>
            <a:r>
              <a:rPr altLang="en-US" dirty="0" kern="1200" kumimoji="0" lang="zh-CN" normalizeH="0" b="1" cap="none" i="0" noProof="0" spc="0" strike="noStrike" sz="2800" u="none">
                <a:ln>
                  <a:noFill/>
                </a:ln>
                <a:solidFill>
                  <a:srgbClr val="2C1D86"/>
                </a:solidFill>
                <a:effectLst/>
                <a:uLnTx/>
                <a:uFillTx/>
                <a:cs typeface="+mj-ea"/>
                <a:ea typeface="+mj-ea"/>
                <a:latin typeface="+mj-ea"/>
              </a:rPr>
              <a:t>巩固党的执政地位</a:t>
            </a:r>
            <a:endParaRPr altLang="en-US" dirty="0" kern="1200" kumimoji="0" lang="zh-CN" normalizeH="0" b="1" cap="none" i="0" noProof="0" spc="0" strike="noStrike" sz="2800" u="none">
              <a:ln>
                <a:noFill/>
              </a:ln>
              <a:solidFill>
                <a:srgbClr val="2C1D86"/>
              </a:solidFill>
              <a:effectLst/>
              <a:uLnTx/>
              <a:uFillTx/>
              <a:cs typeface="+mj-ea"/>
              <a:ea typeface="+mj-ea"/>
              <a:latin typeface="+mj-ea"/>
            </a:endParaRPr>
          </a:p>
          <a:p>
            <a:pPr marR="0" indent="0" lvl="0" algn="l" defTabSz="914400" rtl="0" eaLnBrk="1" latinLnBrk="0" hangingPunct="1" fontAlgn="auto">
              <a:lnSpc>
                <a:spcPct val="129999"/>
              </a:lnSpc>
              <a:spcBef>
                <a:spcPts val="0"/>
              </a:spcBef>
              <a:spcAft>
                <a:spcPts val="0"/>
              </a:spcAft>
              <a:buNone/>
              <a:defRPr/>
            </a:pPr>
            <a:r>
              <a:rPr altLang="zh-CN" dirty="0" lang="en-US" b="1" sz="2800">
                <a:solidFill>
                  <a:prstClr val="black"/>
                </a:solidFill>
                <a:effectLst>
                  <a:outerShdw blurRad="38100" dist="38100" dir="2700000" algn="tl">
                    <a:srgbClr val="000000">
                      <a:alpha val="43137"/>
                    </a:srgbClr>
                  </a:outerShdw>
                </a:effectLst>
                <a:cs typeface="+mj-ea"/>
                <a:sym typeface="+mn-ea"/>
                <a:ea typeface="+mj-ea"/>
                <a:latin typeface="+mj-ea"/>
              </a:rPr>
              <a:t>        </a:t>
            </a:r>
            <a:r>
              <a:rPr altLang="en-US" dirty="0" lang="zh-CN" b="1" sz="2800">
                <a:solidFill>
                  <a:prstClr val="black"/>
                </a:solidFill>
                <a:effectLst/>
                <a:cs typeface="+mj-ea"/>
                <a:sym typeface="+mn-ea"/>
                <a:ea typeface="+mj-ea"/>
                <a:latin typeface="+mj-ea"/>
              </a:rPr>
              <a:t>坚持</a:t>
            </a:r>
            <a:r>
              <a:rPr altLang="en-US" dirty="0" lang="zh-CN" b="1" sz="2800">
                <a:solidFill>
                  <a:srgbClr val="FF0000"/>
                </a:solidFill>
                <a:effectLst/>
                <a:cs typeface="+mj-ea"/>
                <a:sym typeface="+mn-ea"/>
                <a:ea typeface="+mj-ea"/>
                <a:latin typeface="+mj-ea"/>
              </a:rPr>
              <a:t>科学执政、民主执政、依法执政</a:t>
            </a:r>
            <a:endParaRPr altLang="en-US" dirty="0" kern="1200" kumimoji="0" lang="zh-CN" normalizeH="0" b="1" cap="none" i="0" noProof="0" spc="0" strike="noStrike" sz="2800" u="none">
              <a:ln>
                <a:noFill/>
              </a:ln>
              <a:solidFill>
                <a:srgbClr val="FF0000"/>
              </a:solidFill>
              <a:effectLst/>
              <a:uLnTx/>
              <a:uFillTx/>
              <a:cs typeface="+mj-ea"/>
              <a:ea typeface="+mj-ea"/>
              <a:latin typeface="+mj-ea"/>
            </a:endParaRPr>
          </a:p>
          <a:p>
            <a:pPr marR="0" indent="0" lvl="0" algn="l" defTabSz="914400" rtl="0" eaLnBrk="1" latinLnBrk="0" hangingPunct="1" fontAlgn="auto">
              <a:lnSpc>
                <a:spcPct val="129999"/>
              </a:lnSpc>
              <a:spcBef>
                <a:spcPts val="0"/>
              </a:spcBef>
              <a:spcAft>
                <a:spcPts val="0"/>
              </a:spcAft>
              <a:buNone/>
              <a:defRPr/>
            </a:pPr>
            <a:r>
              <a:rPr altLang="zh-CN" dirty="0" kern="1200" kumimoji="0" lang="en-US" normalizeH="0" b="1" cap="none" i="0" noProof="0" spc="0" strike="noStrike" sz="2800" u="none">
                <a:ln>
                  <a:noFill/>
                </a:ln>
                <a:solidFill>
                  <a:srgbClr val="2C1D86"/>
                </a:solidFill>
                <a:effectLst/>
                <a:uLnTx/>
                <a:uFillTx/>
                <a:cs typeface="+mj-ea"/>
                <a:ea typeface="+mj-ea"/>
                <a:latin typeface="+mj-ea"/>
              </a:rPr>
              <a:t>3.</a:t>
            </a:r>
            <a:r>
              <a:rPr altLang="en-US" dirty="0" kern="1200" kumimoji="0" lang="zh-CN" normalizeH="0" b="1" cap="none" i="0" noProof="0" spc="0" strike="noStrike" sz="2800" u="none">
                <a:ln>
                  <a:noFill/>
                </a:ln>
                <a:solidFill>
                  <a:srgbClr val="2C1D86"/>
                </a:solidFill>
                <a:effectLst/>
                <a:uLnTx/>
                <a:uFillTx/>
                <a:cs typeface="+mj-ea"/>
                <a:ea typeface="+mj-ea"/>
                <a:latin typeface="+mj-ea"/>
              </a:rPr>
              <a:t>全面从严治党</a:t>
            </a:r>
            <a:endParaRPr altLang="en-US" dirty="0" kern="1200" kumimoji="0" lang="zh-CN" normalizeH="0" b="1" cap="none" i="0" noProof="0" spc="0" strike="noStrike" sz="2800" u="none">
              <a:ln>
                <a:noFill/>
              </a:ln>
              <a:solidFill>
                <a:srgbClr val="2C1D86"/>
              </a:solidFill>
              <a:effectLst/>
              <a:uLnTx/>
              <a:uFillTx/>
              <a:cs typeface="+mj-ea"/>
              <a:ea typeface="+mj-ea"/>
              <a:latin typeface="+mj-ea"/>
            </a:endParaRPr>
          </a:p>
          <a:p>
            <a:pPr marR="0" indent="0" lvl="0" algn="l" defTabSz="914400" rtl="0" eaLnBrk="1" latinLnBrk="0" hangingPunct="1" fontAlgn="auto">
              <a:lnSpc>
                <a:spcPct val="129999"/>
              </a:lnSpc>
              <a:spcBef>
                <a:spcPts val="0"/>
              </a:spcBef>
              <a:spcAft>
                <a:spcPts val="0"/>
              </a:spcAft>
              <a:buNone/>
              <a:defRPr/>
            </a:pPr>
            <a:r>
              <a:rPr altLang="en-US" dirty="0" kern="1200" kumimoji="0" lang="zh-CN" normalizeH="0" b="1" cap="none" i="0" noProof="0" spc="0" strike="noStrike" sz="2800" u="none">
                <a:ln>
                  <a:noFill/>
                </a:ln>
                <a:solidFill>
                  <a:srgbClr val="000000"/>
                </a:solidFill>
                <a:effectLst/>
                <a:uLnTx/>
                <a:uFillTx/>
                <a:cs typeface="+mj-ea"/>
                <a:ea typeface="+mj-ea"/>
                <a:latin typeface="+mj-ea"/>
              </a:rPr>
              <a:t> </a:t>
            </a:r>
            <a:r>
              <a:rPr altLang="zh-CN" dirty="0" kern="1200" kumimoji="0" lang="en-US" normalizeH="0" b="1" cap="none" i="0" noProof="0" spc="0" strike="noStrike" sz="2800" u="none">
                <a:ln>
                  <a:noFill/>
                </a:ln>
                <a:solidFill>
                  <a:srgbClr val="000000"/>
                </a:solidFill>
                <a:effectLst/>
                <a:uLnTx/>
                <a:uFillTx/>
                <a:cs typeface="+mj-ea"/>
                <a:ea typeface="+mj-ea"/>
                <a:latin typeface="+mj-ea"/>
              </a:rPr>
              <a:t> </a:t>
            </a:r>
            <a:r>
              <a:rPr altLang="zh-CN" dirty="0" kern="1200" kumimoji="0" lang="en-US" normalizeH="0" b="1" cap="none" i="0" noProof="0" spc="0" strike="noStrike" u="none">
                <a:ln>
                  <a:noFill/>
                </a:ln>
                <a:solidFill>
                  <a:srgbClr val="000000"/>
                </a:solidFill>
                <a:effectLst/>
                <a:uLnTx/>
                <a:uFillTx/>
                <a:cs typeface="+mj-ea"/>
                <a:ea typeface="+mj-ea"/>
                <a:latin typeface="+mj-ea"/>
              </a:rPr>
              <a:t>   </a:t>
            </a:r>
            <a:r>
              <a:rPr altLang="zh-CN" dirty="0" kern="1200" kumimoji="0" lang="en-US" normalizeH="0" b="1" cap="none" i="0" noProof="0" spc="0" strike="noStrike" sz="2400" u="none">
                <a:ln>
                  <a:noFill/>
                </a:ln>
                <a:solidFill>
                  <a:srgbClr val="000000"/>
                </a:solidFill>
                <a:effectLst/>
                <a:uLnTx/>
                <a:uFillTx/>
                <a:cs typeface="+mj-ea"/>
                <a:ea typeface="+mj-ea"/>
                <a:latin typeface="+mj-ea"/>
              </a:rPr>
              <a:t>  </a:t>
            </a:r>
            <a:r>
              <a:rPr altLang="en-US" dirty="0" kern="1200" kumimoji="0" lang="zh-CN" normalizeH="0" b="1" cap="none" i="0" noProof="0" spc="0" strike="noStrike" sz="2400" u="none">
                <a:ln>
                  <a:noFill/>
                </a:ln>
                <a:solidFill>
                  <a:srgbClr val="000000"/>
                </a:solidFill>
                <a:effectLst/>
                <a:uLnTx/>
                <a:uFillTx/>
                <a:cs typeface="+mj-ea"/>
                <a:ea typeface="+mj-ea"/>
                <a:latin typeface="+mj-ea"/>
              </a:rPr>
              <a:t>治国必先治党，治党必须从严。坚持党要管党，坚持全面从严治党。</a:t>
            </a:r>
            <a:r>
              <a:rPr altLang="en-US" dirty="0" lang="zh-CN" b="1" noProof="0" sz="2400">
                <a:ln>
                  <a:noFill/>
                </a:ln>
                <a:solidFill>
                  <a:srgbClr val="000000"/>
                </a:solidFill>
                <a:effectLst/>
                <a:uLnTx/>
                <a:uFillTx/>
                <a:cs typeface="+mj-ea"/>
                <a:sym typeface="+mn-ea"/>
                <a:ea typeface="+mj-ea"/>
                <a:latin typeface="+mj-ea"/>
              </a:rPr>
              <a:t>全面从严治党</a:t>
            </a:r>
            <a:r>
              <a:rPr altLang="en-US" lang="zh-CN" b="1" sz="2400">
                <a:solidFill>
                  <a:srgbClr val="FF0000"/>
                </a:solidFill>
                <a:sym typeface="+mn-ea"/>
                <a:ea typeface="微软雅黑" panose="020B0503020204020204" charset="-122"/>
                <a:latin typeface="微软雅黑" panose="020B0503020204020204" charset="-122"/>
              </a:rPr>
              <a:t>核心</a:t>
            </a:r>
            <a:r>
              <a:rPr altLang="en-US" lang="zh-CN" b="1" sz="2400">
                <a:sym typeface="+mn-ea"/>
                <a:ea typeface="微软雅黑" panose="020B0503020204020204" charset="-122"/>
                <a:latin typeface="微软雅黑" panose="020B0503020204020204" charset="-122"/>
              </a:rPr>
              <a:t>是加强党的领导，</a:t>
            </a:r>
            <a:r>
              <a:rPr altLang="en-US" lang="zh-CN" b="1" sz="2400">
                <a:solidFill>
                  <a:srgbClr val="FF0000"/>
                </a:solidFill>
                <a:sym typeface="+mn-ea"/>
                <a:ea typeface="微软雅黑" panose="020B0503020204020204" charset="-122"/>
                <a:latin typeface="微软雅黑" panose="020B0503020204020204" charset="-122"/>
              </a:rPr>
              <a:t>关键</a:t>
            </a:r>
            <a:r>
              <a:rPr altLang="en-US" lang="zh-CN" b="1" sz="2400">
                <a:sym typeface="+mn-ea"/>
                <a:ea typeface="微软雅黑" panose="020B0503020204020204" charset="-122"/>
                <a:latin typeface="微软雅黑" panose="020B0503020204020204" charset="-122"/>
              </a:rPr>
              <a:t>在严，</a:t>
            </a:r>
            <a:r>
              <a:rPr altLang="en-US" lang="zh-CN" b="1" sz="2400">
                <a:solidFill>
                  <a:srgbClr val="FF0000"/>
                </a:solidFill>
                <a:sym typeface="+mn-ea"/>
                <a:ea typeface="微软雅黑" panose="020B0503020204020204" charset="-122"/>
                <a:latin typeface="微软雅黑" panose="020B0503020204020204" charset="-122"/>
              </a:rPr>
              <a:t>基础</a:t>
            </a:r>
            <a:r>
              <a:rPr altLang="en-US" lang="zh-CN" b="1" sz="2400">
                <a:sym typeface="+mn-ea"/>
                <a:ea typeface="微软雅黑" panose="020B0503020204020204" charset="-122"/>
                <a:latin typeface="微软雅黑" panose="020B0503020204020204" charset="-122"/>
              </a:rPr>
              <a:t>在全面，</a:t>
            </a:r>
            <a:r>
              <a:rPr altLang="en-US" lang="zh-CN" b="1" sz="2400">
                <a:solidFill>
                  <a:srgbClr val="FF0000"/>
                </a:solidFill>
                <a:sym typeface="+mn-ea"/>
                <a:ea typeface="微软雅黑" panose="020B0503020204020204" charset="-122"/>
                <a:latin typeface="微软雅黑" panose="020B0503020204020204" charset="-122"/>
              </a:rPr>
              <a:t>要害</a:t>
            </a:r>
            <a:r>
              <a:rPr altLang="en-US" lang="zh-CN" b="1" sz="2400">
                <a:sym typeface="+mn-ea"/>
                <a:ea typeface="微软雅黑" panose="020B0503020204020204" charset="-122"/>
                <a:latin typeface="微软雅黑" panose="020B0503020204020204" charset="-122"/>
              </a:rPr>
              <a:t>在治。</a:t>
            </a:r>
            <a:endParaRPr altLang="en-US" lang="zh-CN" b="1" sz="2400">
              <a:sym typeface="+mn-ea"/>
              <a:ea typeface="微软雅黑" panose="020B0503020204020204" charset="-122"/>
              <a:latin typeface="微软雅黑" panose="020B0503020204020204" charset="-122"/>
            </a:endParaRPr>
          </a:p>
          <a:p>
            <a:pPr marR="0" indent="0" lvl="0" algn="l" defTabSz="914400" rtl="0" eaLnBrk="1" latinLnBrk="0" hangingPunct="1" fontAlgn="auto">
              <a:lnSpc>
                <a:spcPct val="129999"/>
              </a:lnSpc>
              <a:spcBef>
                <a:spcPts val="0"/>
              </a:spcBef>
              <a:spcAft>
                <a:spcPts val="0"/>
              </a:spcAft>
              <a:buNone/>
              <a:defRPr/>
            </a:pPr>
            <a:r>
              <a:rPr altLang="en-US" lang="zh-CN" b="1" sz="2400">
                <a:sym typeface="+mn-ea"/>
                <a:ea typeface="微软雅黑" panose="020B0503020204020204" charset="-122"/>
                <a:latin typeface="微软雅黑" panose="020B0503020204020204" charset="-122"/>
              </a:rPr>
              <a:t> </a:t>
            </a:r>
            <a:r>
              <a:rPr altLang="zh-CN" lang="en-US" b="1" sz="2400">
                <a:sym typeface="+mn-ea"/>
                <a:ea typeface="微软雅黑" panose="020B0503020204020204" charset="-122"/>
                <a:latin typeface="微软雅黑" panose="020B0503020204020204" charset="-122"/>
              </a:rPr>
              <a:t>      </a:t>
            </a:r>
            <a:r>
              <a:rPr altLang="en-US" dirty="0" kern="1200" kumimoji="0" lang="zh-CN" normalizeH="0" b="1" cap="none" i="0" noProof="0" spc="0" strike="noStrike" sz="2400" u="none">
                <a:ln>
                  <a:noFill/>
                </a:ln>
                <a:solidFill>
                  <a:srgbClr val="FF0000"/>
                </a:solidFill>
                <a:effectLst/>
                <a:uLnTx/>
                <a:uFillTx/>
                <a:cs typeface="+mj-ea"/>
                <a:ea typeface="+mj-ea"/>
                <a:latin typeface="+mj-ea"/>
              </a:rPr>
              <a:t>勇于自我革命</a:t>
            </a:r>
            <a:r>
              <a:rPr altLang="en-US" dirty="0" kern="1200" kumimoji="0" lang="zh-CN" normalizeH="0" b="1" cap="none" i="0" noProof="0" spc="0" strike="noStrike" sz="2400" u="none">
                <a:ln>
                  <a:noFill/>
                </a:ln>
                <a:solidFill>
                  <a:srgbClr val="000000"/>
                </a:solidFill>
                <a:effectLst/>
                <a:uLnTx/>
                <a:uFillTx/>
                <a:cs typeface="+mj-ea"/>
                <a:ea typeface="+mj-ea"/>
                <a:latin typeface="+mj-ea"/>
              </a:rPr>
              <a:t>是中国共产党区别于其他政党的显著标志。</a:t>
            </a:r>
            <a:r>
              <a:rPr altLang="zh-CN" dirty="0" kern="1200" kumimoji="0" lang="en-US" normalizeH="0" b="1" cap="none" i="0" noProof="0" spc="0" strike="noStrike" sz="2400" u="none">
                <a:ln>
                  <a:noFill/>
                </a:ln>
                <a:solidFill>
                  <a:srgbClr val="000000"/>
                </a:solidFill>
                <a:effectLst/>
                <a:uLnTx/>
                <a:uFillTx/>
                <a:cs typeface="+mj-ea"/>
                <a:ea typeface="+mj-ea"/>
                <a:latin typeface="+mj-ea"/>
              </a:rPr>
              <a:t>全面从严治党是推进党的建设新的伟大工程的必然要求。</a:t>
            </a:r>
            <a:endParaRPr altLang="zh-CN" dirty="0" kern="1200" kumimoji="0" lang="en-US" normalizeH="0" b="1" cap="none" i="0" noProof="0" spc="0" strike="noStrike" sz="2400" u="none">
              <a:ln>
                <a:noFill/>
              </a:ln>
              <a:solidFill>
                <a:srgbClr val="000000"/>
              </a:solidFill>
              <a:effectLst/>
              <a:uLnTx/>
              <a:uFillTx/>
              <a:cs typeface="+mj-ea"/>
              <a:ea typeface="+mj-ea"/>
              <a:latin typeface="+mj-ea"/>
            </a:endParaRPr>
          </a:p>
          <a:p>
            <a:pPr marR="0" indent="0" lvl="0" algn="l" defTabSz="914400" rtl="0" eaLnBrk="1" latinLnBrk="0" hangingPunct="1" fontAlgn="auto">
              <a:lnSpc>
                <a:spcPct val="129999"/>
              </a:lnSpc>
              <a:spcBef>
                <a:spcPts val="0"/>
              </a:spcBef>
              <a:spcAft>
                <a:spcPts val="0"/>
              </a:spcAft>
              <a:buNone/>
              <a:defRPr/>
            </a:pPr>
            <a:endParaRPr altLang="zh-CN" dirty="0" kern="1200" kumimoji="0" lang="en-US" normalizeH="0" b="1" cap="none" i="0" noProof="0" spc="0" strike="noStrike" sz="2800" u="none">
              <a:ln>
                <a:noFill/>
              </a:ln>
              <a:solidFill>
                <a:srgbClr val="000000"/>
              </a:solidFill>
              <a:effectLst/>
              <a:uLnTx/>
              <a:uFillTx/>
              <a:cs typeface="+mj-ea"/>
              <a:ea typeface="+mj-ea"/>
              <a:latin typeface="+mj-ea"/>
            </a:endParaRPr>
          </a:p>
          <a:p>
            <a:pPr marR="0" lvl="0" algn="ctr" defTabSz="914400" rtl="0" eaLnBrk="1" latinLnBrk="0" hangingPunct="1" fontAlgn="auto">
              <a:lnSpc>
                <a:spcPct val="150000"/>
              </a:lnSpc>
              <a:spcBef>
                <a:spcPts val="0"/>
              </a:spcBef>
              <a:spcAft>
                <a:spcPts val="0"/>
              </a:spcAft>
              <a:defRPr/>
            </a:pPr>
            <a:endParaRPr altLang="zh-CN" dirty="0" kern="1200" kumimoji="0" lang="en-US" normalizeH="0" b="1" cap="none" i="0" noProof="0" spc="0" strike="noStrike" sz="2800" u="none">
              <a:ln>
                <a:noFill/>
              </a:ln>
              <a:solidFill>
                <a:srgbClr val="000000"/>
              </a:solidFill>
              <a:effectLst/>
              <a:uLnTx/>
              <a:uFillTx/>
              <a:cs typeface="+mj-ea"/>
              <a:ea typeface="+mj-ea"/>
              <a:latin typeface="+mj-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strips(downLeft)">
                                      <p:cBhvr>
                                        <p:cTn id="7" dur="500"/>
                                        <p:tgtEl>
                                          <p:spTgt spid="3">
                                            <p:txEl>
                                              <p:pRg st="1" end="1"/>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strips(downLeft)">
                                      <p:cBhvr>
                                        <p:cTn id="10" dur="500"/>
                                        <p:tgtEl>
                                          <p:spTgt spid="3">
                                            <p:txEl>
                                              <p:pRg st="2" end="2"/>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strips(downLeft)">
                                      <p:cBhvr>
                                        <p:cTn id="13" dur="500"/>
                                        <p:tgtEl>
                                          <p:spTgt spid="3">
                                            <p:txEl>
                                              <p:pRg st="3" end="3"/>
                                            </p:txEl>
                                          </p:spTgt>
                                        </p:tgtEl>
                                      </p:cBhvr>
                                    </p:animEffect>
                                  </p:childTnLst>
                                </p:cTn>
                              </p:par>
                              <p:par>
                                <p:cTn id="14" presetID="18" presetClass="entr" presetSubtype="12"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strips(downLeft)">
                                      <p:cBhvr>
                                        <p:cTn id="16" dur="500"/>
                                        <p:tgtEl>
                                          <p:spTgt spid="3">
                                            <p:txEl>
                                              <p:pRg st="4" end="4"/>
                                            </p:txEl>
                                          </p:spTgt>
                                        </p:tgtEl>
                                      </p:cBhvr>
                                    </p:animEffect>
                                  </p:childTnLst>
                                </p:cTn>
                              </p:par>
                              <p:par>
                                <p:cTn id="17" presetID="18" presetClass="entr" presetSubtype="12"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strips(downLeft)">
                                      <p:cBhvr>
                                        <p:cTn id="19" dur="500"/>
                                        <p:tgtEl>
                                          <p:spTgt spid="3">
                                            <p:txEl>
                                              <p:pRg st="5" end="5"/>
                                            </p:txEl>
                                          </p:spTgt>
                                        </p:tgtEl>
                                      </p:cBhvr>
                                    </p:animEffect>
                                  </p:childTnLst>
                                </p:cTn>
                              </p:par>
                              <p:par>
                                <p:cTn id="20" presetID="18" presetClass="entr" presetSubtype="12"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strips(downLeft)">
                                      <p:cBhvr>
                                        <p:cTn id="22" dur="500"/>
                                        <p:tgtEl>
                                          <p:spTgt spid="3">
                                            <p:txEl>
                                              <p:pRg st="6" end="6"/>
                                            </p:txEl>
                                          </p:spTgt>
                                        </p:tgtEl>
                                      </p:cBhvr>
                                    </p:animEffect>
                                  </p:childTnLst>
                                </p:cTn>
                              </p:par>
                              <p:par>
                                <p:cTn id="23" presetID="18" presetClass="entr" presetSubtype="12"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strips(downLeft)">
                                      <p:cBhvr>
                                        <p:cTn id="25" dur="500"/>
                                        <p:tgtEl>
                                          <p:spTgt spid="3">
                                            <p:txEl>
                                              <p:pRg st="7" end="7"/>
                                            </p:txEl>
                                          </p:spTgt>
                                        </p:tgtEl>
                                      </p:cBhvr>
                                    </p:animEffect>
                                  </p:childTnLst>
                                </p:cTn>
                              </p:par>
                              <p:par>
                                <p:cTn id="26" presetID="18" presetClass="entr" presetSubtype="12"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strips(downLeft)">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 name="文本框 3"/>
          <p:cNvSpPr/>
          <p:nvPr/>
        </p:nvSpPr>
        <p:spPr>
          <a:xfrm>
            <a:off x="482600" y="-12065"/>
            <a:ext cx="11339195" cy="6457315"/>
          </a:xfrm>
          <a:prstGeom prst="rect">
            <a:avLst/>
          </a:prstGeom>
        </p:spPr>
        <p:txBody>
          <a:bodyPr wrap="square">
            <a:noAutofit/>
          </a:bodyPr>
          <a:p>
            <a:pPr indent="306070" algn="just" defTabSz="266700" fontAlgn="auto">
              <a:lnSpc>
                <a:spcPct val="100000"/>
              </a:lnSpc>
              <a:spcBef>
                <a:spcPct val="0"/>
              </a:spcBef>
              <a:spcAft>
                <a:spcPct val="0"/>
              </a:spcAft>
            </a:pPr>
            <a:r>
              <a:rPr altLang="en-US" lang="en-US" b="1" sz="2000">
                <a:solidFill>
                  <a:srgbClr val="0000FF"/>
                </a:solidFill>
                <a:ea typeface="宋体" panose="02010600030101010101" pitchFamily="2" charset="-122"/>
                <a:latin typeface="宋体" panose="02010600030101010101" pitchFamily="2" charset="-122"/>
              </a:rPr>
              <a:t>①</a:t>
            </a:r>
            <a:r>
              <a:rPr altLang="en-US" lang="zh-CN" b="1" sz="2000">
                <a:solidFill>
                  <a:srgbClr val="0000FF"/>
                </a:solidFill>
                <a:ea typeface="宋体" panose="02010600030101010101" pitchFamily="2" charset="-122"/>
                <a:latin typeface="宋体" panose="02010600030101010101" pitchFamily="2" charset="-122"/>
              </a:rPr>
              <a:t>是什么（</a:t>
            </a:r>
            <a:r>
              <a:rPr altLang="zh-CN" lang="en-US" b="1" sz="2000">
                <a:solidFill>
                  <a:srgbClr val="0000FF"/>
                </a:solidFill>
                <a:ea typeface="宋体" panose="02010600030101010101" pitchFamily="2" charset="-122"/>
                <a:latin typeface="宋体" panose="02010600030101010101" pitchFamily="2" charset="-122"/>
              </a:rPr>
              <a:t>2</a:t>
            </a:r>
            <a:r>
              <a:rPr altLang="en-US" lang="zh-CN" b="1" sz="2000">
                <a:solidFill>
                  <a:srgbClr val="0000FF"/>
                </a:solidFill>
                <a:ea typeface="宋体" panose="02010600030101010101" pitchFamily="2" charset="-122"/>
                <a:latin typeface="宋体" panose="02010600030101010101" pitchFamily="2" charset="-122"/>
              </a:rPr>
              <a:t>分）</a:t>
            </a:r>
            <a:endParaRPr altLang="en-US" lang="zh-CN" b="1" sz="2000">
              <a:solidFill>
                <a:srgbClr val="0000FF"/>
              </a:solidFill>
              <a:ea typeface="宋体" panose="02010600030101010101" pitchFamily="2" charset="-122"/>
              <a:latin typeface="宋体" panose="02010600030101010101" pitchFamily="2" charset="-122"/>
            </a:endParaRPr>
          </a:p>
          <a:p>
            <a:pPr indent="160020" algn="just" defTabSz="266700" fontAlgn="auto">
              <a:lnSpc>
                <a:spcPct val="100000"/>
              </a:lnSpc>
              <a:spcBef>
                <a:spcPct val="0"/>
              </a:spcBef>
              <a:spcAft>
                <a:spcPct val="0"/>
              </a:spcAft>
            </a:pPr>
            <a:r>
              <a:rPr altLang="en-US" lang="zh-CN" b="1" sz="2000">
                <a:ea typeface="宋体" panose="02010600030101010101" pitchFamily="2" charset="-122"/>
                <a:latin typeface="宋体" panose="02010600030101010101" pitchFamily="2" charset="-122"/>
              </a:rPr>
              <a:t>“大事小事观”涉及如何正确看待对待党的事和人民群众的事的关系，</a:t>
            </a:r>
            <a:endParaRPr altLang="en-US" lang="zh-CN" b="1" sz="2000">
              <a:ea typeface="宋体" panose="02010600030101010101" pitchFamily="2" charset="-122"/>
              <a:latin typeface="宋体" panose="02010600030101010101" pitchFamily="2" charset="-122"/>
            </a:endParaRPr>
          </a:p>
          <a:p>
            <a:pPr indent="160020" algn="just" defTabSz="266700" fontAlgn="auto">
              <a:lnSpc>
                <a:spcPct val="100000"/>
              </a:lnSpc>
              <a:spcBef>
                <a:spcPct val="0"/>
              </a:spcBef>
              <a:spcAft>
                <a:spcPct val="0"/>
              </a:spcAft>
            </a:pPr>
            <a:r>
              <a:rPr altLang="en-US" lang="zh-CN" b="1" sz="2000">
                <a:ea typeface="宋体" panose="02010600030101010101" pitchFamily="2" charset="-122"/>
                <a:latin typeface="宋体" panose="02010600030101010101" pitchFamily="2" charset="-122"/>
              </a:rPr>
              <a:t>“为民办事观”涉及如何正确看待对待要求群众和服务群众的关系，</a:t>
            </a:r>
            <a:endParaRPr altLang="en-US" lang="zh-CN" b="1" sz="2000">
              <a:ea typeface="宋体" panose="02010600030101010101" pitchFamily="2" charset="-122"/>
              <a:latin typeface="宋体" panose="02010600030101010101" pitchFamily="2" charset="-122"/>
            </a:endParaRPr>
          </a:p>
          <a:p>
            <a:pPr indent="160020" algn="just" defTabSz="266700" fontAlgn="auto">
              <a:lnSpc>
                <a:spcPct val="100000"/>
              </a:lnSpc>
              <a:spcBef>
                <a:spcPct val="0"/>
              </a:spcBef>
              <a:spcAft>
                <a:spcPct val="0"/>
              </a:spcAft>
            </a:pPr>
            <a:r>
              <a:rPr altLang="en-US" lang="zh-CN" b="1" sz="2000">
                <a:ea typeface="宋体" panose="02010600030101010101" pitchFamily="2" charset="-122"/>
                <a:latin typeface="宋体" panose="02010600030101010101" pitchFamily="2" charset="-122"/>
              </a:rPr>
              <a:t>“造福人民的政绩观”涉及如何正确看待对待自我评价和群众评价的关系。</a:t>
            </a:r>
            <a:endParaRPr altLang="en-US" lang="zh-CN" b="1" sz="2000">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注：三个观集中统一写也可，体现党和人民关系等，内容合理即可。</a:t>
            </a:r>
            <a:r>
              <a:rPr altLang="zh-CN" lang="en-US" b="1" sz="2000">
                <a:solidFill>
                  <a:srgbClr val="0000FF"/>
                </a:solidFill>
                <a:ea typeface="宋体" panose="02010600030101010101" pitchFamily="2" charset="-122"/>
                <a:latin typeface="宋体" panose="02010600030101010101" pitchFamily="2" charset="-122"/>
              </a:rPr>
              <a:t>  </a:t>
            </a:r>
            <a:endParaRPr altLang="zh-CN" lang="en-US" b="1" sz="2000">
              <a:solidFill>
                <a:srgbClr val="0000FF"/>
              </a:solidFill>
              <a:ea typeface="宋体" panose="02010600030101010101" pitchFamily="2" charset="-122"/>
              <a:latin typeface="宋体" panose="02010600030101010101" pitchFamily="2" charset="-122"/>
            </a:endParaRPr>
          </a:p>
          <a:p>
            <a:pPr indent="306070" algn="just" defTabSz="266700" fontAlgn="auto">
              <a:lnSpc>
                <a:spcPct val="100000"/>
              </a:lnSpc>
              <a:spcBef>
                <a:spcPct val="0"/>
              </a:spcBef>
              <a:spcAft>
                <a:spcPct val="0"/>
              </a:spcAft>
            </a:pPr>
            <a:r>
              <a:rPr altLang="zh-CN" lang="en-US" b="1" sz="2000">
                <a:solidFill>
                  <a:srgbClr val="0000FF"/>
                </a:solidFill>
                <a:sym typeface="+mn-ea"/>
                <a:ea typeface="宋体" panose="02010600030101010101" pitchFamily="2" charset="-122"/>
                <a:latin typeface="宋体" panose="02010600030101010101" pitchFamily="2" charset="-122"/>
              </a:rPr>
              <a:t>②</a:t>
            </a:r>
            <a:r>
              <a:rPr altLang="en-US" lang="zh-CN" b="1" sz="2000">
                <a:solidFill>
                  <a:srgbClr val="0000FF"/>
                </a:solidFill>
                <a:ea typeface="宋体" panose="02010600030101010101" pitchFamily="2" charset="-122"/>
                <a:latin typeface="宋体" panose="02010600030101010101" pitchFamily="2" charset="-122"/>
              </a:rPr>
              <a:t>为什么</a:t>
            </a:r>
            <a:endParaRPr altLang="en-US" lang="zh-CN" b="1" sz="2000">
              <a:solidFill>
                <a:srgbClr val="0000FF"/>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端正和践行上述观念，体现了中国共产党人</a:t>
            </a:r>
            <a:endParaRPr altLang="en-US" lang="zh-CN" b="1" sz="2000">
              <a:solidFill>
                <a:srgbClr val="FF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坚持以人民为中心的发展思想，</a:t>
            </a:r>
            <a:endParaRPr altLang="en-US" lang="zh-CN" b="1" sz="2000">
              <a:solidFill>
                <a:srgbClr val="FF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坚守党的性质、宗旨、初心使命、执政理念和</a:t>
            </a:r>
            <a:r>
              <a:rPr altLang="en-US" lang="zh-CN" b="1" sz="2000">
                <a:ea typeface="宋体" panose="02010600030101010101" pitchFamily="2" charset="-122"/>
                <a:latin typeface="宋体" panose="02010600030101010101" pitchFamily="2" charset="-122"/>
              </a:rPr>
              <a:t>不负人民的精神</a:t>
            </a:r>
            <a:r>
              <a:rPr altLang="en-US" lang="zh-CN" b="1" sz="2000">
                <a:solidFill>
                  <a:srgbClr val="000000"/>
                </a:solidFill>
                <a:ea typeface="宋体" panose="02010600030101010101" pitchFamily="2" charset="-122"/>
                <a:latin typeface="宋体" panose="02010600030101010101" pitchFamily="2" charset="-122"/>
              </a:rPr>
              <a:t>，</a:t>
            </a:r>
            <a:endParaRPr altLang="en-US" lang="zh-CN" b="1" sz="2000">
              <a:solidFill>
                <a:srgbClr val="00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坚持实事求是、求真务实，</a:t>
            </a:r>
            <a:endParaRPr altLang="en-US" lang="zh-CN" b="1" sz="2000">
              <a:solidFill>
                <a:srgbClr val="FF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加强思想建设、作风建设、组织建设</a:t>
            </a:r>
            <a:r>
              <a:rPr altLang="en-US" lang="zh-CN" b="1" sz="2000">
                <a:ea typeface="宋体" panose="02010600030101010101" pitchFamily="2" charset="-122"/>
                <a:latin typeface="宋体" panose="02010600030101010101" pitchFamily="2" charset="-122"/>
              </a:rPr>
              <a:t>。</a:t>
            </a:r>
            <a:r>
              <a:rPr altLang="en-US" lang="zh-CN" b="1" sz="2000">
                <a:solidFill>
                  <a:srgbClr val="0000FF"/>
                </a:solidFill>
                <a:ea typeface="宋体" panose="02010600030101010101" pitchFamily="2" charset="-122"/>
                <a:latin typeface="宋体" panose="02010600030101010101" pitchFamily="2" charset="-122"/>
              </a:rPr>
              <a:t>写出任意一个角度即可（</a:t>
            </a:r>
            <a:r>
              <a:rPr altLang="zh-CN" lang="en-US" b="1" sz="2000">
                <a:solidFill>
                  <a:srgbClr val="0000FF"/>
                </a:solidFill>
                <a:ea typeface="宋体" panose="02010600030101010101" pitchFamily="2" charset="-122"/>
                <a:latin typeface="宋体" panose="02010600030101010101" pitchFamily="2" charset="-122"/>
              </a:rPr>
              <a:t>2</a:t>
            </a:r>
            <a:r>
              <a:rPr altLang="en-US" lang="zh-CN" b="1" sz="2000">
                <a:solidFill>
                  <a:srgbClr val="0000FF"/>
                </a:solidFill>
                <a:ea typeface="宋体" panose="02010600030101010101" pitchFamily="2" charset="-122"/>
                <a:latin typeface="宋体" panose="02010600030101010101" pitchFamily="2" charset="-122"/>
              </a:rPr>
              <a:t>分）</a:t>
            </a:r>
            <a:endParaRPr altLang="zh-CN" lang="en-US" b="1" sz="2000">
              <a:solidFill>
                <a:srgbClr val="FF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尊重人民群众主体地位，坚持群众观点和群众路线，</a:t>
            </a:r>
            <a:r>
              <a:rPr altLang="en-US" lang="zh-CN" b="1" sz="2000">
                <a:solidFill>
                  <a:srgbClr val="0000FF"/>
                </a:solidFill>
                <a:highlight>
                  <a:srgbClr val="FFFF00"/>
                </a:highlight>
                <a:ea typeface="宋体" panose="02010600030101010101" pitchFamily="2" charset="-122"/>
                <a:latin typeface="宋体" panose="02010600030101010101" pitchFamily="2" charset="-122"/>
              </a:rPr>
              <a:t>（群众观</a:t>
            </a:r>
            <a:r>
              <a:rPr altLang="zh-CN" lang="en-US" b="1" sz="2000">
                <a:solidFill>
                  <a:srgbClr val="0000FF"/>
                </a:solidFill>
                <a:highlight>
                  <a:srgbClr val="FFFF00"/>
                </a:highlight>
                <a:ea typeface="宋体" panose="02010600030101010101" pitchFamily="2" charset="-122"/>
                <a:latin typeface="宋体" panose="02010600030101010101" pitchFamily="2" charset="-122"/>
              </a:rPr>
              <a:t>+</a:t>
            </a:r>
            <a:r>
              <a:rPr altLang="en-US" lang="zh-CN" b="1" sz="2000">
                <a:solidFill>
                  <a:srgbClr val="0000FF"/>
                </a:solidFill>
                <a:highlight>
                  <a:srgbClr val="FFFF00"/>
                </a:highlight>
                <a:ea typeface="宋体" panose="02010600030101010101" pitchFamily="2" charset="-122"/>
                <a:latin typeface="宋体" panose="02010600030101010101" pitchFamily="2" charset="-122"/>
              </a:rPr>
              <a:t>方法论）</a:t>
            </a:r>
            <a:endParaRPr altLang="en-US" lang="zh-CN" b="1" sz="2000">
              <a:solidFill>
                <a:srgbClr val="0000FF"/>
              </a:solidFill>
              <a:highlight>
                <a:srgbClr val="FFFF00"/>
              </a:highlight>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重视价值观导向作用，自觉站在最广大人民立场上，</a:t>
            </a:r>
            <a:r>
              <a:rPr altLang="en-US" lang="zh-CN" b="1" sz="2000">
                <a:solidFill>
                  <a:srgbClr val="0000FF"/>
                </a:solidFill>
                <a:highlight>
                  <a:srgbClr val="FFFF00"/>
                </a:highlight>
                <a:ea typeface="宋体" panose="02010600030101010101" pitchFamily="2" charset="-122"/>
                <a:latin typeface="宋体" panose="02010600030101010101" pitchFamily="2" charset="-122"/>
              </a:rPr>
              <a:t>（价值观</a:t>
            </a:r>
            <a:r>
              <a:rPr altLang="zh-CN" lang="en-US" b="1" sz="2000">
                <a:solidFill>
                  <a:srgbClr val="0000FF"/>
                </a:solidFill>
                <a:highlight>
                  <a:srgbClr val="FFFF00"/>
                </a:highlight>
                <a:ea typeface="宋体" panose="02010600030101010101" pitchFamily="2" charset="-122"/>
                <a:latin typeface="宋体" panose="02010600030101010101" pitchFamily="2" charset="-122"/>
              </a:rPr>
              <a:t>+</a:t>
            </a:r>
            <a:r>
              <a:rPr altLang="en-US" lang="zh-CN" b="1" sz="2000">
                <a:solidFill>
                  <a:srgbClr val="0000FF"/>
                </a:solidFill>
                <a:highlight>
                  <a:srgbClr val="FFFF00"/>
                </a:highlight>
                <a:ea typeface="宋体" panose="02010600030101010101" pitchFamily="2" charset="-122"/>
                <a:latin typeface="宋体" panose="02010600030101010101" pitchFamily="2" charset="-122"/>
              </a:rPr>
              <a:t>方法论）</a:t>
            </a:r>
            <a:endParaRPr altLang="en-US" lang="zh-CN" b="1" sz="2000">
              <a:solidFill>
                <a:srgbClr val="0000FF"/>
              </a:solidFill>
              <a:highlight>
                <a:srgbClr val="FFFF00"/>
              </a:highlight>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把人民群众利益作为最高价值标准，</a:t>
            </a:r>
            <a:endParaRPr altLang="en-US" lang="zh-CN" b="1" sz="2000">
              <a:solidFill>
                <a:srgbClr val="FF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努力实现好、维护好、发展好最广大人民的根本利益。</a:t>
            </a:r>
            <a:r>
              <a:rPr altLang="en-US" lang="zh-CN" b="1" sz="2000">
                <a:solidFill>
                  <a:srgbClr val="0000FF"/>
                </a:solidFill>
                <a:ea typeface="宋体" panose="02010600030101010101" pitchFamily="2" charset="-122"/>
                <a:latin typeface="宋体" panose="02010600030101010101" pitchFamily="2" charset="-122"/>
              </a:rPr>
              <a:t>写出任意一行层意即可（</a:t>
            </a:r>
            <a:r>
              <a:rPr altLang="zh-CN" lang="en-US" b="1" sz="2000">
                <a:solidFill>
                  <a:srgbClr val="0000FF"/>
                </a:solidFill>
                <a:ea typeface="宋体" panose="02010600030101010101" pitchFamily="2" charset="-122"/>
                <a:latin typeface="宋体" panose="02010600030101010101" pitchFamily="2" charset="-122"/>
              </a:rPr>
              <a:t>2</a:t>
            </a:r>
            <a:r>
              <a:rPr altLang="en-US" lang="zh-CN" b="1" sz="2000">
                <a:solidFill>
                  <a:srgbClr val="0000FF"/>
                </a:solidFill>
                <a:ea typeface="宋体" panose="02010600030101010101" pitchFamily="2" charset="-122"/>
                <a:latin typeface="宋体" panose="02010600030101010101" pitchFamily="2" charset="-122"/>
              </a:rPr>
              <a:t>分）</a:t>
            </a:r>
            <a:endParaRPr altLang="en-US" lang="zh-CN" b="1" sz="2000">
              <a:solidFill>
                <a:srgbClr val="0000FF"/>
              </a:solidFill>
              <a:ea typeface="宋体" panose="02010600030101010101" pitchFamily="2" charset="-122"/>
              <a:latin typeface="宋体" panose="02010600030101010101" pitchFamily="2" charset="-122"/>
            </a:endParaRPr>
          </a:p>
          <a:p>
            <a:pPr indent="320040" algn="just" defTabSz="266700" fontAlgn="auto">
              <a:lnSpc>
                <a:spcPct val="100000"/>
              </a:lnSpc>
              <a:spcBef>
                <a:spcPct val="0"/>
              </a:spcBef>
              <a:spcAft>
                <a:spcPct val="0"/>
              </a:spcAft>
            </a:pPr>
            <a:r>
              <a:rPr altLang="en-US" lang="zh-CN" b="1" sz="2000">
                <a:ea typeface="宋体" panose="02010600030101010101" pitchFamily="2" charset="-122"/>
                <a:latin typeface="宋体" panose="02010600030101010101" pitchFamily="2" charset="-122"/>
              </a:rPr>
              <a:t>践行上述观念，</a:t>
            </a:r>
            <a:r>
              <a:rPr altLang="en-US" lang="zh-CN" b="1" sz="2000">
                <a:solidFill>
                  <a:srgbClr val="FF0000"/>
                </a:solidFill>
                <a:ea typeface="宋体" panose="02010600030101010101" pitchFamily="2" charset="-122"/>
                <a:latin typeface="宋体" panose="02010600030101010101" pitchFamily="2" charset="-122"/>
              </a:rPr>
              <a:t>有利于坚持党的全面领导，巩固党的执政地位，建设中国式现代化，推进中华民族伟大复兴。（意义具体也酌情给分）</a:t>
            </a:r>
            <a:r>
              <a:rPr altLang="en-US" lang="zh-CN" b="1" sz="2000">
                <a:solidFill>
                  <a:srgbClr val="0000FF"/>
                </a:solidFill>
                <a:ea typeface="宋体" panose="02010600030101010101" pitchFamily="2" charset="-122"/>
                <a:latin typeface="宋体" panose="02010600030101010101" pitchFamily="2" charset="-122"/>
              </a:rPr>
              <a:t>写出任意一个角度即可（</a:t>
            </a:r>
            <a:r>
              <a:rPr altLang="zh-CN" lang="en-US" b="1" sz="2000">
                <a:solidFill>
                  <a:srgbClr val="0000FF"/>
                </a:solidFill>
                <a:ea typeface="宋体" panose="02010600030101010101" pitchFamily="2" charset="-122"/>
                <a:latin typeface="宋体" panose="02010600030101010101" pitchFamily="2" charset="-122"/>
              </a:rPr>
              <a:t>1</a:t>
            </a:r>
            <a:r>
              <a:rPr altLang="en-US" lang="zh-CN" b="1" sz="2000">
                <a:solidFill>
                  <a:srgbClr val="0000FF"/>
                </a:solidFill>
                <a:ea typeface="宋体" panose="02010600030101010101" pitchFamily="2" charset="-122"/>
                <a:latin typeface="宋体" panose="02010600030101010101" pitchFamily="2" charset="-122"/>
              </a:rPr>
              <a:t>分）</a:t>
            </a:r>
            <a:endParaRPr altLang="en-US" lang="zh-CN" b="1" sz="2000">
              <a:solidFill>
                <a:srgbClr val="0000FF"/>
              </a:solidFill>
              <a:ea typeface="宋体" panose="02010600030101010101" pitchFamily="2" charset="-122"/>
              <a:latin typeface="宋体" panose="02010600030101010101" pitchFamily="2" charset="-122"/>
            </a:endParaRPr>
          </a:p>
          <a:p>
            <a:pPr indent="306070" algn="just" defTabSz="266700" fontAlgn="auto">
              <a:lnSpc>
                <a:spcPct val="100000"/>
              </a:lnSpc>
              <a:spcBef>
                <a:spcPct val="0"/>
              </a:spcBef>
              <a:spcAft>
                <a:spcPct val="0"/>
              </a:spcAft>
            </a:pPr>
            <a:r>
              <a:rPr altLang="zh-CN" lang="en-US" b="1" sz="2000">
                <a:solidFill>
                  <a:srgbClr val="0000FF"/>
                </a:solidFill>
                <a:sym typeface="+mn-ea"/>
                <a:ea typeface="宋体" panose="02010600030101010101" pitchFamily="2" charset="-122"/>
                <a:latin typeface="宋体" panose="02010600030101010101" pitchFamily="2" charset="-122"/>
              </a:rPr>
              <a:t>③</a:t>
            </a:r>
            <a:r>
              <a:rPr altLang="en-US" lang="zh-CN" b="1" sz="2000">
                <a:solidFill>
                  <a:srgbClr val="0000FF"/>
                </a:solidFill>
                <a:ea typeface="宋体" panose="02010600030101010101" pitchFamily="2" charset="-122"/>
                <a:latin typeface="宋体" panose="02010600030101010101" pitchFamily="2" charset="-122"/>
              </a:rPr>
              <a:t>怎么办</a:t>
            </a:r>
            <a:endParaRPr altLang="en-US" lang="zh-CN" b="1" sz="2000">
              <a:solidFill>
                <a:srgbClr val="0000FF"/>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党组织、党员、干部</a:t>
            </a:r>
            <a:endParaRPr altLang="en-US" lang="zh-CN" b="1" sz="2000">
              <a:solidFill>
                <a:srgbClr val="FF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应该践行习近平新时代中国特色社会主义思想，</a:t>
            </a:r>
            <a:endParaRPr altLang="en-US" lang="zh-CN" b="1" sz="2000">
              <a:solidFill>
                <a:srgbClr val="FF0000"/>
              </a:solidFill>
              <a:ea typeface="宋体" panose="02010600030101010101" pitchFamily="2" charset="-122"/>
              <a:latin typeface="宋体" panose="02010600030101010101" pitchFamily="2" charset="-122"/>
            </a:endParaRPr>
          </a:p>
          <a:p>
            <a:pPr indent="304800" algn="just" defTabSz="266700" fontAlgn="auto">
              <a:lnSpc>
                <a:spcPct val="100000"/>
              </a:lnSpc>
              <a:spcBef>
                <a:spcPct val="0"/>
              </a:spcBef>
              <a:spcAft>
                <a:spcPct val="0"/>
              </a:spcAft>
            </a:pPr>
            <a:r>
              <a:rPr altLang="en-US" lang="zh-CN" b="1" sz="2000">
                <a:solidFill>
                  <a:srgbClr val="FF0000"/>
                </a:solidFill>
                <a:ea typeface="宋体" panose="02010600030101010101" pitchFamily="2" charset="-122"/>
                <a:latin typeface="宋体" panose="02010600030101010101" pitchFamily="2" charset="-122"/>
              </a:rPr>
              <a:t>坚持并发扬光大</a:t>
            </a:r>
            <a:r>
              <a:rPr altLang="en-US" lang="zh-CN" b="1" sz="2000">
                <a:ea typeface="宋体" panose="02010600030101010101" pitchFamily="2" charset="-122"/>
                <a:latin typeface="宋体" panose="02010600030101010101" pitchFamily="2" charset="-122"/>
              </a:rPr>
              <a:t>“大事小事观”“为民办事观”“造福人民的政绩观，</a:t>
            </a:r>
            <a:endParaRPr altLang="en-US" lang="zh-CN" b="1" sz="2000">
              <a:ea typeface="宋体" panose="02010600030101010101" pitchFamily="2" charset="-122"/>
              <a:latin typeface="宋体" panose="02010600030101010101" pitchFamily="2" charset="-122"/>
            </a:endParaRPr>
          </a:p>
          <a:p>
            <a:pPr indent="320040" algn="just" defTabSz="266700" fontAlgn="auto">
              <a:lnSpc>
                <a:spcPct val="100000"/>
              </a:lnSpc>
              <a:spcBef>
                <a:spcPct val="0"/>
              </a:spcBef>
              <a:spcAft>
                <a:spcPct val="0"/>
              </a:spcAft>
            </a:pPr>
            <a:r>
              <a:rPr altLang="en-US" lang="zh-CN" b="1" sz="2000">
                <a:ea typeface="宋体" panose="02010600030101010101" pitchFamily="2" charset="-122"/>
                <a:latin typeface="宋体" panose="02010600030101010101" pitchFamily="2" charset="-122"/>
              </a:rPr>
              <a:t>为人民群众把好事办好，把实事办实，把难事办妥。</a:t>
            </a:r>
            <a:endParaRPr altLang="en-US" lang="zh-CN" b="1" sz="2000">
              <a:ea typeface="宋体" panose="02010600030101010101" pitchFamily="2" charset="-122"/>
              <a:latin typeface="宋体" panose="02010600030101010101" pitchFamily="2" charset="-122"/>
            </a:endParaRPr>
          </a:p>
        </p:txBody>
      </p:sp>
    </p:spTree>
    <p:custDataLst>
      <p:tags r:id="rId1"/>
    </p:custDataLst>
  </p:cSld>
  <p:clrMapOvr>
    <a:masterClrMapping/>
  </p:clrMapOvr>
</p:sld>
</file>

<file path=ppt/slides/slide36.xml><?xml version="1.0" encoding="UTF-8" standalone="yes"?><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TABLE_ENDDRAG_ORIGIN_RECT" val="914*213"/>
  <p:tag name="TABLE_ENDDRAG_RECT" val="22*97*914*213"/>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TABLE_ENDDRAG_ORIGIN_RECT" val="773*115"/>
  <p:tag name="TABLE_ENDDRAG_RECT" val="80*46*773*115"/>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TABLE_ENDDRAG_ORIGIN_RECT" val="840*97"/>
  <p:tag name="TABLE_ENDDRAG_RECT" val="73*237*840*97"/>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TABLE_ENDDRAG_ORIGIN_RECT" val="753*116"/>
  <p:tag name="TABLE_ENDDRAG_RECT" val="68*344*753*116"/>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104.xml><?xml version="1.0" encoding="utf-8"?>
<p:tagLst xmlns:p="http://schemas.openxmlformats.org/presentationml/2006/main">
  <p:tag name="KSO_WM_UNIT_TABLE_BEAUTIFY" val="smartTable{6e16d288-fb16-4b5b-ad5e-d9428408a4b3}"/>
  <p:tag name="TABLE_ENDDRAG_ORIGIN_RECT" val="373*445"/>
  <p:tag name="TABLE_ENDDRAG_RECT" val="12*53*373*445"/>
</p:tagLst>
</file>

<file path=ppt/tags/tag105.xml><?xml version="1.0" encoding="utf-8"?>
<p:tagLst xmlns:p="http://schemas.openxmlformats.org/presentationml/2006/main">
  <p:tag name="TABLE_ENDDRAG_ORIGIN_RECT" val="485*460"/>
  <p:tag name="TABLE_ENDDRAG_RECT" val="454*46*485*460"/>
</p:tagLst>
</file>

<file path=ppt/tags/tag106.xml><?xml version="1.0" encoding="utf-8"?>
<p:tagLst xmlns:p="http://schemas.openxmlformats.org/presentationml/2006/main">
  <p:tag name="KSO_WM_SPECIAL_SOURCE" val="bdnull"/>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TABLE_ENDDRAG_ORIGIN_RECT" val="838*261"/>
  <p:tag name="TABLE_ENDDRAG_RECT" val="79*141*838*261"/>
</p:tagLst>
</file>

<file path=ppt/tags/tag109.xml><?xml version="1.0" encoding="utf-8"?>
<p:tagLst xmlns:p="http://schemas.openxmlformats.org/presentationml/2006/main">
  <p:tag name="KSO_WM_BEAUTIFY_FLAG" val="#wm#"/>
  <p:tag name="KSO_WM_TEMPLATE_CATEGORY" val="custom"/>
  <p:tag name="KSO_WM_TEMPLATE_INDEX" val="20205081"/>
</p:tagLst>
</file>

<file path=ppt/tags/tag110.xml><?xml version="1.0" encoding="utf-8"?>
<p:tagLst xmlns:p="http://schemas.openxmlformats.org/presentationml/2006/main">
  <p:tag name="TABLE_ENDDRAG_ORIGIN_RECT" val="838*261"/>
  <p:tag name="TABLE_ENDDRAG_RECT" val="79*141*838*261"/>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BEAUTIFY_FLAG" val="#wm#"/>
  <p:tag name="KSO_WM_TEMPLATE_CATEGORY" val="custom"/>
  <p:tag name="KSO_WM_TEMPLATE_INDEX" val="20205081"/>
</p:tagLst>
</file>

<file path=ppt/tags/tag113.xml><?xml version="1.0" encoding="utf-8"?>
<p:tagLst xmlns:p="http://schemas.openxmlformats.org/presentationml/2006/main">
  <p:tag name="KSO_WM_BEAUTIFY_FLAG" val="#wm#"/>
  <p:tag name="KSO_WM_TEMPLATE_CATEGORY" val="custom"/>
  <p:tag name="KSO_WM_TEMPLATE_INDEX" val="20205081"/>
</p:tagLst>
</file>

<file path=ppt/tags/tag114.xml><?xml version="1.0" encoding="utf-8"?>
<p:tagLst xmlns:p="http://schemas.openxmlformats.org/presentationml/2006/main">
  <p:tag name="KSO_WM_UNIT_TABLE_BEAUTIFY" val="smartTable{1177f8ed-c50e-4605-930a-accc721de050}"/>
  <p:tag name="TABLE_ENDDRAG_ORIGIN_RECT" val="918*485"/>
  <p:tag name="TABLE_ENDDRAG_RECT" val="20*49*918*485"/>
</p:tagLst>
</file>

<file path=ppt/tags/tag115.xml><?xml version="1.0" encoding="utf-8"?>
<p:tagLst xmlns:p="http://schemas.openxmlformats.org/presentationml/2006/main">
  <p:tag name="AS_UNIQUEID" val="5074"/>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 name="KSO_WM_UNIT_TEXT_FILL_FORE_SCHEMECOLOR_INDEX" val="2"/>
  <p:tag name="KSO_WM_UNIT_TEXT_FILL_FORE_SCHEMECOLOR_INDEX_BRIGHTNESS" val="0"/>
  <p:tag name="KSO_WM_UNIT_TEXT_FILL_TYPE" val="1"/>
</p:tagLst>
</file>

<file path=ppt/tags/tag116.xml><?xml version="1.0" encoding="utf-8"?>
<p:tagLst xmlns:p="http://schemas.openxmlformats.org/presentationml/2006/main">
  <p:tag name="KSO_WM_SLIDE_BACKGROUND_TYPE" val="general"/>
  <p:tag name="KSO_WM_SLIDE_BK_DARK_LIGHT" val="2"/>
  <p:tag name="KSO_WM_SPECIAL_SOURCE" val="bdnull"/>
</p:tagLst>
</file>

<file path=ppt/tags/tag117.xml><?xml version="1.0" encoding="utf-8"?>
<p:tagLst xmlns:p="http://schemas.openxmlformats.org/presentationml/2006/main">
  <p:tag name="KSO_WM_BEAUTIFY_FLAG" val="#wm#"/>
  <p:tag name="KSO_WM_TEMPLATE_CATEGORY" val="custom"/>
  <p:tag name="KSO_WM_TEMPLATE_INDEX" val="20205081"/>
</p:tagLst>
</file>

<file path=ppt/tags/tag118.xml><?xml version="1.0" encoding="utf-8"?>
<p:tagLst xmlns:p="http://schemas.openxmlformats.org/presentationml/2006/main">
  <p:tag name="commondata" val="eyJoZGlkIjoiYTQ5NTk2MzMzOWQxNzUwYzkwNjMyY2E2MWZlNmEyNjc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15742</Words>
  <Application>WPS 演示</Application>
  <PresentationFormat>宽屏</PresentationFormat>
  <Paragraphs>675</Paragraphs>
  <Slides>38</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38</vt:i4>
      </vt:variant>
    </vt:vector>
  </HeadingPairs>
  <TitlesOfParts>
    <vt:vector size="54" baseType="lpstr">
      <vt:lpstr>Arial</vt:lpstr>
      <vt:lpstr>宋体</vt:lpstr>
      <vt:lpstr>Wingdings</vt:lpstr>
      <vt:lpstr>Wingdings</vt:lpstr>
      <vt:lpstr>微软雅黑</vt:lpstr>
      <vt:lpstr>楷体</vt:lpstr>
      <vt:lpstr>Arial Unicode MS</vt:lpstr>
      <vt:lpstr>Calibri</vt:lpstr>
      <vt:lpstr>Wingdings</vt:lpstr>
      <vt:lpstr>黑体</vt:lpstr>
      <vt:lpstr>Calibri</vt:lpstr>
      <vt:lpstr>Courier New</vt:lpstr>
      <vt:lpstr>Times New Roman</vt:lpstr>
      <vt:lpstr>等线</vt:lpstr>
      <vt:lpstr>汉仪尚巍手书W</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法律实务类问题的解析思路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 KH </cp:lastModifiedBy>
  <cp:revision>192</cp:revision>
  <dcterms:created xsi:type="dcterms:W3CDTF">2019-06-19T02:08:00Z</dcterms:created>
  <dcterms:modified xsi:type="dcterms:W3CDTF">2025-03-31T06:00:02Z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KSOProductBuildVer">
    <vt:lpwstr>2052-12.1.0.20754</vt:lpwstr>
  </property>
  <property fmtid="{D5CDD505-2E9C-101B-9397-08002B2CF9AE}" pid="3" name="ICV">
    <vt:lpwstr>B761A97962FC4A97AD2AC4D879F82C87_11</vt:lpwstr>
  </property>
</Properties>
</file>