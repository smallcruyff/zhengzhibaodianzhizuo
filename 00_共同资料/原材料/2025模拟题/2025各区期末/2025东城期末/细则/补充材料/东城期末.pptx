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dp" ContentType="image/vnd.ms-photo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3"/>
    <p:sldId id="268" r:id="rId4"/>
    <p:sldId id="257" r:id="rId5"/>
    <p:sldId id="258" r:id="rId6"/>
    <p:sldId id="269" r:id="rId7"/>
    <p:sldId id="259" r:id="rId8"/>
    <p:sldId id="260" r:id="rId9"/>
    <p:sldId id="261" r:id="rId10"/>
    <p:sldId id="262" r:id="rId11"/>
    <p:sldId id="263" r:id="rId12"/>
    <p:sldId id="264" r:id="rId14"/>
    <p:sldId id="265" r:id="rId15"/>
    <p:sldId id="266" r:id="rId16"/>
    <p:sldId id="267" r:id="rId17"/>
    <p:sldId id="270" r:id="rId18"/>
    <p:sldId id="282" r:id="rId19"/>
    <p:sldId id="284" r:id="rId20"/>
    <p:sldId id="285" r:id="rId21"/>
    <p:sldId id="286" r:id="rId22"/>
    <p:sldId id="287" r:id="rId23"/>
    <p:sldId id="299" r:id="rId24"/>
    <p:sldId id="288" r:id="rId25"/>
    <p:sldId id="289" r:id="rId26"/>
    <p:sldId id="290" r:id="rId27"/>
    <p:sldId id="300" r:id="rId28"/>
    <p:sldId id="291" r:id="rId29"/>
    <p:sldId id="292" r:id="rId30"/>
    <p:sldId id="293" r:id="rId31"/>
    <p:sldId id="301" r:id="rId32"/>
    <p:sldId id="294" r:id="rId33"/>
    <p:sldId id="295" r:id="rId34"/>
    <p:sldId id="296" r:id="rId35"/>
    <p:sldId id="297" r:id="rId36"/>
    <p:sldId id="298" r:id="rId37"/>
  </p:sldIdLst>
  <p:sldSz cx="9144000" cy="51435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18" d="100"/>
          <a:sy n="118" d="100"/>
        </p:scale>
        <p:origin x="-376" y="-10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F811F4-803F-524E-A64A-EBD9D8DAC90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38124C-DF11-6E47-9EC8-9F9B60E8B29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38124C-DF11-6E47-9EC8-9F9B60E8B29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 smtClean="0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88665-2218-7245-864A-3B44D627C1F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FDDB-05BD-8048-A217-D2CFD54BC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88665-2218-7245-864A-3B44D627C1F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FDDB-05BD-8048-A217-D2CFD54BC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88665-2218-7245-864A-3B44D627C1F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FDDB-05BD-8048-A217-D2CFD54BC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88665-2218-7245-864A-3B44D627C1F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FDDB-05BD-8048-A217-D2CFD54BC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88665-2218-7245-864A-3B44D627C1F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FDDB-05BD-8048-A217-D2CFD54BC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88665-2218-7245-864A-3B44D627C1F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FDDB-05BD-8048-A217-D2CFD54BC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88665-2218-7245-864A-3B44D627C1F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FDDB-05BD-8048-A217-D2CFD54BC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88665-2218-7245-864A-3B44D627C1F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FDDB-05BD-8048-A217-D2CFD54BC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88665-2218-7245-864A-3B44D627C1F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FDDB-05BD-8048-A217-D2CFD54BC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88665-2218-7245-864A-3B44D627C1F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FDDB-05BD-8048-A217-D2CFD54BC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竖排文本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88665-2218-7245-864A-3B44D627C1F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7FDDB-05BD-8048-A217-D2CFD54BC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smtClean="0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B88665-2218-7245-864A-3B44D627C1FA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7FDDB-05BD-8048-A217-D2CFD54BC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hdphoto" Target="../media/image2.wdp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hdphoto" Target="../media/image2.wdp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hdphoto" Target="../media/image4.wdp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microsoft.com/office/2007/relationships/hdphoto" Target="../media/image7.wdp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microsoft.com/office/2007/relationships/hdphoto" Target="../media/image12.wdp"/><Relationship Id="rId3" Type="http://schemas.openxmlformats.org/officeDocument/2006/relationships/image" Target="../media/image11.jpeg"/><Relationship Id="rId2" Type="http://schemas.microsoft.com/office/2007/relationships/hdphoto" Target="../media/image10.wdp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jpe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WechatIMG4321.jpeg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2135"/>
            <a:ext cx="9144000" cy="466554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209902" y="4305310"/>
            <a:ext cx="473545" cy="301372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948896" y="667322"/>
            <a:ext cx="3078045" cy="78571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87446" y="1799180"/>
            <a:ext cx="8652966" cy="785719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87446" y="2714059"/>
            <a:ext cx="8652966" cy="1515908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WechatIMG4321.jpeg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2135"/>
            <a:ext cx="9144000" cy="466554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043952" y="796482"/>
            <a:ext cx="7049369" cy="80724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b="1" dirty="0" smtClean="0">
                <a:solidFill>
                  <a:srgbClr val="FF0000"/>
                </a:solidFill>
              </a:rPr>
              <a:t>政府履行经济职能</a:t>
            </a:r>
            <a:r>
              <a:rPr kumimoji="1" lang="zh-CN" altLang="en-US" b="1" dirty="0" smtClean="0">
                <a:solidFill>
                  <a:schemeClr val="tx1"/>
                </a:solidFill>
              </a:rPr>
              <a:t>，为航天核心技术创新提供财力支持。践行创新发展理念，核心技术攻关取得重大突破，为探月工程提供技术支持。</a:t>
            </a:r>
            <a:r>
              <a:rPr kumimoji="1" lang="en-US" altLang="zh-CN" b="1" dirty="0" smtClean="0">
                <a:solidFill>
                  <a:schemeClr val="tx1"/>
                </a:solidFill>
              </a:rPr>
              <a:t>2</a:t>
            </a:r>
            <a:r>
              <a:rPr kumimoji="1" lang="zh-CN" altLang="en-US" b="1" dirty="0" smtClean="0">
                <a:solidFill>
                  <a:schemeClr val="tx1"/>
                </a:solidFill>
              </a:rPr>
              <a:t>分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43952" y="1874524"/>
            <a:ext cx="7049369" cy="71037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b="1" dirty="0" smtClean="0">
                <a:solidFill>
                  <a:srgbClr val="FF0000"/>
                </a:solidFill>
              </a:rPr>
              <a:t>制度优势：</a:t>
            </a:r>
            <a:r>
              <a:rPr kumimoji="1" lang="zh-CN" altLang="en-US" b="1" dirty="0" smtClean="0">
                <a:solidFill>
                  <a:schemeClr val="tx1"/>
                </a:solidFill>
              </a:rPr>
              <a:t>充分发挥社会主义基本经济制度的显著优势，发挥新型举国体制作用，集中力量办大事。</a:t>
            </a:r>
            <a:r>
              <a:rPr kumimoji="1" lang="en-US" altLang="zh-CN" b="1" dirty="0" smtClean="0">
                <a:solidFill>
                  <a:schemeClr val="tx1"/>
                </a:solidFill>
              </a:rPr>
              <a:t>3</a:t>
            </a:r>
            <a:r>
              <a:rPr kumimoji="1" lang="zh-CN" altLang="en-US" b="1" dirty="0" smtClean="0">
                <a:solidFill>
                  <a:schemeClr val="tx1"/>
                </a:solidFill>
              </a:rPr>
              <a:t>分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43952" y="3006381"/>
            <a:ext cx="7049369" cy="9329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b="1" dirty="0" smtClean="0">
                <a:solidFill>
                  <a:schemeClr val="tx1"/>
                </a:solidFill>
              </a:rPr>
              <a:t>坚持两个毫不动摇，深化体制机制改革，拓宽民间投资领域和发展渠道，调动</a:t>
            </a:r>
            <a:r>
              <a:rPr kumimoji="1" lang="zh-CN" altLang="en-US" b="1" dirty="0" smtClean="0">
                <a:solidFill>
                  <a:srgbClr val="FF0000"/>
                </a:solidFill>
              </a:rPr>
              <a:t>民营</a:t>
            </a:r>
            <a:r>
              <a:rPr kumimoji="1" lang="zh-CN" altLang="en-US" b="1" dirty="0" smtClean="0">
                <a:solidFill>
                  <a:schemeClr val="tx1"/>
                </a:solidFill>
              </a:rPr>
              <a:t>企业积极性，有效利用各种所有制资源，推动探月工程发展。</a:t>
            </a:r>
            <a:r>
              <a:rPr kumimoji="1" lang="zh-CN" altLang="en-US" b="1" dirty="0" smtClean="0">
                <a:solidFill>
                  <a:schemeClr val="tx1"/>
                </a:solidFill>
              </a:rPr>
              <a:t>（非公有制也可以）</a:t>
            </a:r>
            <a:r>
              <a:rPr kumimoji="1" lang="en-US" altLang="zh-CN" b="1" dirty="0" smtClean="0">
                <a:solidFill>
                  <a:schemeClr val="tx1"/>
                </a:solidFill>
              </a:rPr>
              <a:t>3</a:t>
            </a:r>
            <a:r>
              <a:rPr kumimoji="1" lang="zh-CN" altLang="en-US" b="1" dirty="0" smtClean="0">
                <a:solidFill>
                  <a:schemeClr val="tx1"/>
                </a:solidFill>
              </a:rPr>
              <a:t>分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WechatIMG4322.jpeg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23297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19733" y="3325852"/>
            <a:ext cx="8114846" cy="1571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sz="2000" b="1" dirty="0" smtClean="0">
                <a:solidFill>
                  <a:schemeClr val="tx1"/>
                </a:solidFill>
              </a:rPr>
              <a:t>登月服的设计体现了思路新、方法新、结果新。</a:t>
            </a:r>
            <a:r>
              <a:rPr kumimoji="1" lang="en-US" altLang="zh-CN" sz="2000" b="1" dirty="0" smtClean="0">
                <a:solidFill>
                  <a:srgbClr val="FF0000"/>
                </a:solidFill>
              </a:rPr>
              <a:t>1</a:t>
            </a:r>
            <a:r>
              <a:rPr kumimoji="1" lang="zh-CN" altLang="en-US" sz="2000" b="1" dirty="0" smtClean="0">
                <a:solidFill>
                  <a:srgbClr val="FF0000"/>
                </a:solidFill>
              </a:rPr>
              <a:t>分</a:t>
            </a:r>
            <a:endParaRPr kumimoji="1" lang="en-US" altLang="zh-CN" sz="2000" b="1" dirty="0" smtClean="0">
              <a:solidFill>
                <a:srgbClr val="FF0000"/>
              </a:solidFill>
            </a:endParaRPr>
          </a:p>
          <a:p>
            <a:r>
              <a:rPr kumimoji="1" lang="zh-CN" altLang="en-US" sz="2000" b="1" dirty="0" smtClean="0">
                <a:solidFill>
                  <a:schemeClr val="tx1"/>
                </a:solidFill>
              </a:rPr>
              <a:t>聚焦完成登月任务核心问题，综合考虑了月面环境问题、航天员行走等不同需要，体现了聚合思维和发散思维。同时，把服装造型设计和火箭形象、传统文化联系起来，体现了联想思维。</a:t>
            </a:r>
            <a:r>
              <a:rPr kumimoji="1" lang="en-US" altLang="zh-CN" sz="2000" b="1" dirty="0" smtClean="0">
                <a:solidFill>
                  <a:srgbClr val="FF0000"/>
                </a:solidFill>
              </a:rPr>
              <a:t>3</a:t>
            </a:r>
            <a:r>
              <a:rPr kumimoji="1" lang="zh-CN" altLang="en-US" sz="2000" b="1" dirty="0" smtClean="0">
                <a:solidFill>
                  <a:srgbClr val="FF0000"/>
                </a:solidFill>
              </a:rPr>
              <a:t>分</a:t>
            </a:r>
            <a:endParaRPr kumimoji="1" lang="zh-CN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7535" y="186125"/>
            <a:ext cx="8584355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b="1" dirty="0">
                <a:solidFill>
                  <a:srgbClr val="FF0000"/>
                </a:solidFill>
              </a:rPr>
              <a:t>阅卷细则：</a:t>
            </a:r>
            <a:endParaRPr lang="zh-CN" altLang="zh-CN" sz="2000" b="1" dirty="0">
              <a:solidFill>
                <a:srgbClr val="FF0000"/>
              </a:solidFill>
            </a:endParaRPr>
          </a:p>
          <a:p>
            <a:r>
              <a:rPr lang="zh-CN" altLang="zh-CN" sz="2000" b="1" dirty="0"/>
              <a:t>第一层次：创新思维表现、特点</a:t>
            </a:r>
            <a:endParaRPr lang="zh-CN" altLang="zh-CN" sz="2000" dirty="0"/>
          </a:p>
          <a:p>
            <a:r>
              <a:rPr lang="zh-CN" altLang="zh-CN" sz="2000" dirty="0"/>
              <a:t>登月服的设计体现了思路新、方法新、结果新</a:t>
            </a:r>
            <a:r>
              <a:rPr lang="en-US" altLang="zh-CN" sz="2000" dirty="0"/>
              <a:t>/</a:t>
            </a:r>
            <a:r>
              <a:rPr lang="zh-CN" altLang="zh-CN" sz="2000" dirty="0"/>
              <a:t>或创新思维具有多向性、跨越性、独特性。写出任何一个词可得</a:t>
            </a:r>
            <a:r>
              <a:rPr lang="en-US" altLang="zh-CN" sz="2000" dirty="0"/>
              <a:t>1</a:t>
            </a:r>
            <a:r>
              <a:rPr lang="zh-CN" altLang="zh-CN" sz="2000" dirty="0"/>
              <a:t>分。</a:t>
            </a:r>
            <a:endParaRPr lang="zh-CN" altLang="zh-CN" sz="2000" dirty="0"/>
          </a:p>
          <a:p>
            <a:r>
              <a:rPr lang="zh-CN" altLang="zh-CN" sz="2000" b="1" dirty="0"/>
              <a:t>第二层次：具体方法</a:t>
            </a:r>
            <a:endParaRPr lang="zh-CN" altLang="zh-CN" sz="2000" dirty="0"/>
          </a:p>
          <a:p>
            <a:r>
              <a:rPr lang="zh-CN" altLang="zh-CN" sz="2000" dirty="0"/>
              <a:t>（</a:t>
            </a:r>
            <a:r>
              <a:rPr lang="en-US" altLang="zh-CN" sz="2000" dirty="0"/>
              <a:t>1</a:t>
            </a:r>
            <a:r>
              <a:rPr lang="zh-CN" altLang="zh-CN" sz="2000" dirty="0"/>
              <a:t>）聚焦完成登月任务核心问题，综合考虑了月面环境问题、航天员行走等不同需要</a:t>
            </a:r>
            <a:r>
              <a:rPr lang="en-US" altLang="zh-CN" sz="2000" dirty="0"/>
              <a:t>,</a:t>
            </a:r>
            <a:r>
              <a:rPr lang="zh-CN" altLang="zh-CN" sz="2000" dirty="0"/>
              <a:t>体现了聚合思维和发散思维。</a:t>
            </a:r>
            <a:endParaRPr lang="zh-CN" altLang="zh-CN" sz="2000" dirty="0"/>
          </a:p>
          <a:p>
            <a:r>
              <a:rPr lang="zh-CN" altLang="zh-CN" sz="2000" dirty="0"/>
              <a:t>（</a:t>
            </a:r>
            <a:r>
              <a:rPr lang="en-US" altLang="zh-CN" sz="2000" dirty="0"/>
              <a:t>2</a:t>
            </a:r>
            <a:r>
              <a:rPr lang="zh-CN" altLang="zh-CN" sz="2000" dirty="0"/>
              <a:t>）把服装造型设计和火箭形象、传统文化联系起，体现了联想思维。</a:t>
            </a:r>
            <a:endParaRPr lang="zh-CN" altLang="zh-CN" sz="2000" dirty="0"/>
          </a:p>
          <a:p>
            <a:r>
              <a:rPr lang="zh-CN" altLang="zh-CN" sz="2000" dirty="0"/>
              <a:t>（</a:t>
            </a:r>
            <a:r>
              <a:rPr lang="en-US" altLang="zh-CN" sz="2000" dirty="0"/>
              <a:t>3</a:t>
            </a:r>
            <a:r>
              <a:rPr lang="zh-CN" altLang="zh-CN" sz="2000" dirty="0"/>
              <a:t>）提前预判月面特殊环境和航天员登陆后需求，据此设计航天服细节，体现了超前思维</a:t>
            </a:r>
            <a:r>
              <a:rPr lang="zh-CN" altLang="zh-CN" sz="2000" dirty="0" smtClean="0"/>
              <a:t>。</a:t>
            </a:r>
            <a:endParaRPr lang="en-US" altLang="zh-CN" sz="2000" dirty="0" smtClean="0"/>
          </a:p>
          <a:p>
            <a:endParaRPr lang="zh-CN" altLang="zh-CN" sz="2000" dirty="0"/>
          </a:p>
          <a:p>
            <a:r>
              <a:rPr lang="zh-CN" altLang="zh-CN" sz="2000" dirty="0"/>
              <a:t>以上</a:t>
            </a:r>
            <a:r>
              <a:rPr lang="en-US" altLang="zh-CN" sz="2000" dirty="0"/>
              <a:t>3</a:t>
            </a:r>
            <a:r>
              <a:rPr lang="zh-CN" altLang="zh-CN" sz="2000" dirty="0"/>
              <a:t>点写对一点得</a:t>
            </a:r>
            <a:r>
              <a:rPr lang="en-US" altLang="zh-CN" sz="2000" dirty="0"/>
              <a:t>2</a:t>
            </a:r>
            <a:r>
              <a:rPr lang="zh-CN" altLang="zh-CN" sz="2000" dirty="0"/>
              <a:t>分，写对</a:t>
            </a:r>
            <a:r>
              <a:rPr lang="en-US" altLang="zh-CN" sz="2000" dirty="0"/>
              <a:t>2</a:t>
            </a:r>
            <a:r>
              <a:rPr lang="zh-CN" altLang="zh-CN" sz="2000" dirty="0"/>
              <a:t>点得</a:t>
            </a:r>
            <a:r>
              <a:rPr lang="en-US" altLang="zh-CN" sz="2000" dirty="0"/>
              <a:t>3</a:t>
            </a:r>
            <a:r>
              <a:rPr lang="zh-CN" altLang="zh-CN" sz="2000" dirty="0"/>
              <a:t>分。第二层次满分</a:t>
            </a:r>
            <a:r>
              <a:rPr lang="en-US" altLang="zh-CN" sz="2000" dirty="0"/>
              <a:t>3</a:t>
            </a:r>
            <a:r>
              <a:rPr lang="zh-CN" altLang="zh-CN" sz="2000" dirty="0"/>
              <a:t>分。</a:t>
            </a:r>
            <a:endParaRPr lang="zh-CN" altLang="zh-CN" sz="2000" dirty="0"/>
          </a:p>
          <a:p>
            <a:r>
              <a:rPr lang="zh-CN" altLang="zh-CN" sz="2000" dirty="0"/>
              <a:t>如果通篇答案只回答创新思维的表现和特点，并且材料说明充分，最多得</a:t>
            </a:r>
            <a:r>
              <a:rPr lang="en-US" altLang="zh-CN" sz="2000" dirty="0"/>
              <a:t>2</a:t>
            </a:r>
            <a:r>
              <a:rPr lang="zh-CN" altLang="zh-CN" sz="2000" dirty="0"/>
              <a:t>分。</a:t>
            </a:r>
            <a:endParaRPr lang="zh-CN" altLang="zh-CN" sz="2000" dirty="0"/>
          </a:p>
          <a:p>
            <a:r>
              <a:rPr lang="zh-CN" altLang="zh-CN" sz="2000" dirty="0"/>
              <a:t>如果答案没有学科知识，但分析材料充分，得</a:t>
            </a:r>
            <a:r>
              <a:rPr lang="en-US" altLang="zh-CN" sz="2000" dirty="0"/>
              <a:t>1</a:t>
            </a:r>
            <a:r>
              <a:rPr lang="zh-CN" altLang="zh-CN" sz="2000" dirty="0"/>
              <a:t>分。</a:t>
            </a:r>
            <a:endParaRPr lang="zh-CN" altLang="zh-CN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4" name="图片 3" descr="C:\Users\h\Documents\WeChat Files\wxid_c0g009posbtq22\FileStorage\Temp\8c9ffd26a390d14d85cd7e631c60aa2.jpg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2872" y="400110"/>
            <a:ext cx="8363928" cy="474339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0" y="0"/>
            <a:ext cx="12234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 smtClean="0">
                <a:solidFill>
                  <a:srgbClr val="FF0000"/>
                </a:solidFill>
              </a:rPr>
              <a:t>满分试卷</a:t>
            </a:r>
            <a:endParaRPr kumimoji="1" lang="zh-CN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737117" y="1414742"/>
            <a:ext cx="5581311" cy="230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rgbClr val="FF0000"/>
                </a:solidFill>
              </a:rPr>
              <a:t>存在问题：</a:t>
            </a:r>
            <a:endParaRPr lang="zh-CN" altLang="zh-CN" sz="2400" b="1" dirty="0">
              <a:solidFill>
                <a:srgbClr val="FF0000"/>
              </a:solidFill>
            </a:endParaRPr>
          </a:p>
          <a:p>
            <a:r>
              <a:rPr lang="en-US" altLang="zh-CN" sz="2400" dirty="0"/>
              <a:t>1.</a:t>
            </a:r>
            <a:r>
              <a:rPr lang="zh-CN" altLang="zh-CN" sz="2400" dirty="0"/>
              <a:t>遗漏创新思维表现、特点这一知识点，</a:t>
            </a:r>
            <a:r>
              <a:rPr lang="en-US" altLang="zh-CN" sz="2400" dirty="0"/>
              <a:t>3</a:t>
            </a:r>
            <a:r>
              <a:rPr lang="zh-CN" altLang="zh-CN" sz="2400" dirty="0"/>
              <a:t>分卷较多。</a:t>
            </a:r>
            <a:endParaRPr lang="zh-CN" altLang="zh-CN" sz="2400" dirty="0"/>
          </a:p>
          <a:p>
            <a:r>
              <a:rPr lang="en-US" altLang="zh-CN" sz="2400" dirty="0"/>
              <a:t>2.</a:t>
            </a:r>
            <a:r>
              <a:rPr lang="zh-CN" altLang="zh-CN" sz="2400" dirty="0"/>
              <a:t>不掌握</a:t>
            </a:r>
            <a:r>
              <a:rPr lang="en-US" altLang="zh-CN" sz="2400" dirty="0"/>
              <a:t>“</a:t>
            </a:r>
            <a:r>
              <a:rPr lang="zh-CN" altLang="zh-CN" sz="2400" dirty="0"/>
              <a:t>创新思维</a:t>
            </a:r>
            <a:r>
              <a:rPr lang="en-US" altLang="zh-CN" sz="2400" dirty="0"/>
              <a:t>”</a:t>
            </a:r>
            <a:r>
              <a:rPr lang="zh-CN" altLang="zh-CN" sz="2400" dirty="0"/>
              <a:t>相关知识，答题表述没有学科术语，</a:t>
            </a:r>
            <a:r>
              <a:rPr lang="en-US" altLang="zh-CN" sz="2400" dirty="0"/>
              <a:t>0-1</a:t>
            </a:r>
            <a:r>
              <a:rPr lang="zh-CN" altLang="zh-CN" sz="2400" dirty="0"/>
              <a:t>分卷较多。</a:t>
            </a:r>
            <a:endParaRPr lang="zh-CN" altLang="zh-CN" sz="2400" dirty="0"/>
          </a:p>
          <a:p>
            <a:r>
              <a:rPr lang="en-US" altLang="zh-CN" sz="2400" dirty="0"/>
              <a:t>3.</a:t>
            </a:r>
            <a:r>
              <a:rPr lang="zh-CN" altLang="zh-CN" sz="2400" dirty="0"/>
              <a:t>“发散聚合”结合材料不准确。</a:t>
            </a:r>
            <a:endParaRPr lang="zh-CN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WechatIMG4327.jpeg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680269" cy="51435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090613" y="4811706"/>
            <a:ext cx="473545" cy="301372"/>
          </a:xfrm>
          <a:prstGeom prst="rect">
            <a:avLst/>
          </a:prstGeom>
          <a:noFill/>
          <a:ln w="28575" cmpd="sng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64128" y="429411"/>
            <a:ext cx="7221567" cy="4399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b="1" dirty="0">
                <a:solidFill>
                  <a:srgbClr val="FF0000"/>
                </a:solidFill>
              </a:rPr>
              <a:t>第一层：</a:t>
            </a:r>
            <a:endParaRPr lang="zh-CN" altLang="zh-CN" sz="2000" b="1" dirty="0">
              <a:solidFill>
                <a:srgbClr val="FF0000"/>
              </a:solidFill>
            </a:endParaRPr>
          </a:p>
          <a:p>
            <a:r>
              <a:rPr lang="zh-CN" altLang="zh-CN" sz="2000" dirty="0"/>
              <a:t>做法：法院行使审判权</a:t>
            </a:r>
            <a:r>
              <a:rPr lang="en-US" altLang="zh-CN" sz="2000" dirty="0"/>
              <a:t>/</a:t>
            </a:r>
            <a:r>
              <a:rPr lang="zh-CN" altLang="zh-CN" sz="2000" dirty="0"/>
              <a:t>公正司法</a:t>
            </a:r>
            <a:r>
              <a:rPr lang="en-US" altLang="zh-CN" sz="2000" dirty="0"/>
              <a:t>/</a:t>
            </a:r>
            <a:r>
              <a:rPr lang="zh-CN" altLang="zh-CN" sz="2000" dirty="0"/>
              <a:t>加大对破坏生态行为的惩处力度</a:t>
            </a:r>
            <a:r>
              <a:rPr lang="en-US" altLang="zh-CN" sz="2000" dirty="0"/>
              <a:t>  2</a:t>
            </a:r>
            <a:r>
              <a:rPr lang="zh-CN" altLang="zh-CN" sz="2000" dirty="0"/>
              <a:t>分</a:t>
            </a:r>
            <a:endParaRPr lang="zh-CN" altLang="zh-CN" sz="2000" dirty="0"/>
          </a:p>
          <a:p>
            <a:r>
              <a:rPr lang="zh-CN" altLang="zh-CN" sz="2000" dirty="0"/>
              <a:t>结果：为生态环境治理提供法治保障</a:t>
            </a:r>
            <a:r>
              <a:rPr lang="en-US" altLang="zh-CN" sz="2000" dirty="0"/>
              <a:t>/</a:t>
            </a:r>
            <a:r>
              <a:rPr lang="zh-CN" altLang="zh-CN" sz="2000" dirty="0"/>
              <a:t>法治护航生态环境治理</a:t>
            </a:r>
            <a:r>
              <a:rPr lang="en-US" altLang="zh-CN" sz="2000" dirty="0"/>
              <a:t>/</a:t>
            </a:r>
            <a:r>
              <a:rPr lang="zh-CN" altLang="zh-CN" sz="2000" dirty="0"/>
              <a:t>法治氛围</a:t>
            </a:r>
            <a:r>
              <a:rPr lang="en-US" altLang="zh-CN" sz="2000" dirty="0"/>
              <a:t>/</a:t>
            </a:r>
            <a:r>
              <a:rPr lang="zh-CN" altLang="zh-CN" sz="2000" dirty="0"/>
              <a:t>增加违法犯罪成本……</a:t>
            </a:r>
            <a:r>
              <a:rPr lang="en-US" altLang="zh-CN" sz="2000" dirty="0"/>
              <a:t> </a:t>
            </a:r>
            <a:r>
              <a:rPr lang="en-US" altLang="zh-CN" sz="2000" dirty="0" smtClean="0"/>
              <a:t>1</a:t>
            </a:r>
            <a:r>
              <a:rPr lang="zh-CN" altLang="zh-CN" sz="2000" dirty="0" smtClean="0"/>
              <a:t>分</a:t>
            </a:r>
            <a:endParaRPr lang="en-US" altLang="zh-CN" sz="2000" dirty="0" smtClean="0"/>
          </a:p>
          <a:p>
            <a:endParaRPr lang="zh-CN" altLang="zh-CN" sz="2000" dirty="0"/>
          </a:p>
          <a:p>
            <a:r>
              <a:rPr lang="zh-CN" altLang="zh-CN" sz="2000" b="1" dirty="0">
                <a:solidFill>
                  <a:srgbClr val="FF0000"/>
                </a:solidFill>
              </a:rPr>
              <a:t>第二层：</a:t>
            </a:r>
            <a:endParaRPr lang="zh-CN" altLang="zh-CN" sz="2000" b="1" dirty="0">
              <a:solidFill>
                <a:srgbClr val="FF0000"/>
              </a:solidFill>
            </a:endParaRPr>
          </a:p>
          <a:p>
            <a:r>
              <a:rPr lang="zh-CN" altLang="zh-CN" sz="2000" dirty="0"/>
              <a:t>做法：法院创新执行方式</a:t>
            </a:r>
            <a:r>
              <a:rPr lang="en-US" altLang="zh-CN" sz="2000" dirty="0"/>
              <a:t>/</a:t>
            </a:r>
            <a:r>
              <a:rPr lang="zh-CN" altLang="zh-CN" sz="2000" dirty="0"/>
              <a:t>劳务代偿修复生态</a:t>
            </a:r>
            <a:r>
              <a:rPr lang="en-US" altLang="zh-CN" sz="2000" dirty="0"/>
              <a:t> 2</a:t>
            </a:r>
            <a:r>
              <a:rPr lang="zh-CN" altLang="zh-CN" sz="2000" dirty="0"/>
              <a:t>分</a:t>
            </a:r>
            <a:endParaRPr lang="zh-CN" altLang="zh-CN" sz="2000" dirty="0"/>
          </a:p>
          <a:p>
            <a:r>
              <a:rPr lang="zh-CN" altLang="zh-CN" sz="2000" dirty="0"/>
              <a:t>结果：促进绿色发展</a:t>
            </a:r>
            <a:r>
              <a:rPr lang="en-US" altLang="zh-CN" sz="2000" dirty="0"/>
              <a:t>/</a:t>
            </a:r>
            <a:r>
              <a:rPr lang="zh-CN" altLang="zh-CN" sz="2000" dirty="0"/>
              <a:t>可持续发展</a:t>
            </a:r>
            <a:r>
              <a:rPr lang="en-US" altLang="zh-CN" sz="2000" dirty="0"/>
              <a:t>/</a:t>
            </a:r>
            <a:r>
              <a:rPr lang="zh-CN" altLang="zh-CN" sz="2000" dirty="0"/>
              <a:t>生态文明建设……</a:t>
            </a:r>
            <a:r>
              <a:rPr lang="en-US" altLang="zh-CN" sz="2000" dirty="0" smtClean="0"/>
              <a:t>1</a:t>
            </a:r>
            <a:r>
              <a:rPr lang="zh-CN" altLang="zh-CN" sz="2000" dirty="0" smtClean="0"/>
              <a:t>分</a:t>
            </a:r>
            <a:endParaRPr lang="en-US" altLang="zh-CN" sz="2000" dirty="0" smtClean="0"/>
          </a:p>
          <a:p>
            <a:endParaRPr lang="zh-CN" altLang="zh-CN" sz="2000" dirty="0"/>
          </a:p>
          <a:p>
            <a:r>
              <a:rPr lang="zh-CN" altLang="zh-CN" sz="2000" b="1" dirty="0">
                <a:solidFill>
                  <a:srgbClr val="FF0000"/>
                </a:solidFill>
              </a:rPr>
              <a:t>第三层：</a:t>
            </a:r>
            <a:endParaRPr lang="zh-CN" altLang="zh-CN" sz="2000" b="1" dirty="0">
              <a:solidFill>
                <a:srgbClr val="FF0000"/>
              </a:solidFill>
            </a:endParaRPr>
          </a:p>
          <a:p>
            <a:r>
              <a:rPr lang="zh-CN" altLang="zh-CN" sz="2000" dirty="0"/>
              <a:t>做法：宣传教育</a:t>
            </a:r>
            <a:r>
              <a:rPr lang="en-US" altLang="zh-CN" sz="2000" dirty="0"/>
              <a:t>/</a:t>
            </a:r>
            <a:r>
              <a:rPr lang="zh-CN" altLang="zh-CN" sz="2000" dirty="0"/>
              <a:t>要求违法犯罪者公开道歉</a:t>
            </a:r>
            <a:r>
              <a:rPr lang="en-US" altLang="zh-CN" sz="2000" dirty="0"/>
              <a:t> 2</a:t>
            </a:r>
            <a:r>
              <a:rPr lang="zh-CN" altLang="zh-CN" sz="2000" dirty="0"/>
              <a:t>分</a:t>
            </a:r>
            <a:endParaRPr lang="zh-CN" altLang="zh-CN" sz="2000" dirty="0"/>
          </a:p>
          <a:p>
            <a:r>
              <a:rPr lang="zh-CN" altLang="zh-CN" sz="2000" dirty="0"/>
              <a:t>结果：发挥案例的警示作用</a:t>
            </a:r>
            <a:r>
              <a:rPr lang="en-US" altLang="zh-CN" sz="2000" dirty="0"/>
              <a:t>/</a:t>
            </a:r>
            <a:r>
              <a:rPr lang="zh-CN" altLang="zh-CN" sz="2000" dirty="0"/>
              <a:t>增强法治观念</a:t>
            </a:r>
            <a:r>
              <a:rPr lang="en-US" altLang="zh-CN" sz="2000" dirty="0"/>
              <a:t>/</a:t>
            </a:r>
            <a:r>
              <a:rPr lang="zh-CN" altLang="zh-CN" sz="2000" dirty="0"/>
              <a:t>全民守法</a:t>
            </a:r>
            <a:r>
              <a:rPr lang="en-US" altLang="zh-CN" sz="2000" dirty="0"/>
              <a:t>/</a:t>
            </a:r>
            <a:r>
              <a:rPr lang="zh-CN" altLang="zh-CN" sz="2000" dirty="0"/>
              <a:t>法治意识</a:t>
            </a:r>
            <a:r>
              <a:rPr lang="en-US" altLang="zh-CN" sz="2000" dirty="0"/>
              <a:t>/</a:t>
            </a:r>
            <a:r>
              <a:rPr lang="zh-CN" altLang="zh-CN" sz="2000" dirty="0"/>
              <a:t>法律效益、生态效益、社会效益的同意……</a:t>
            </a:r>
            <a:r>
              <a:rPr lang="en-US" altLang="zh-CN" sz="2000" dirty="0"/>
              <a:t>1</a:t>
            </a:r>
            <a:r>
              <a:rPr lang="zh-CN" altLang="zh-CN" sz="2000" dirty="0"/>
              <a:t>分 </a:t>
            </a:r>
            <a:endParaRPr lang="zh-CN" altLang="zh-CN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/>
        </p:nvPicPr>
        <p:blipFill>
          <a:blip r:embed="rId1"/>
          <a:srcRect l="9932" t="21548" r="5310" b="10267"/>
          <a:stretch>
            <a:fillRect/>
          </a:stretch>
        </p:blipFill>
        <p:spPr>
          <a:xfrm>
            <a:off x="1261347" y="0"/>
            <a:ext cx="788265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37934" y="11385"/>
            <a:ext cx="69342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 smtClean="0">
                <a:solidFill>
                  <a:srgbClr val="FF0000"/>
                </a:solidFill>
              </a:rPr>
              <a:t>优秀</a:t>
            </a:r>
            <a:endParaRPr kumimoji="1" lang="zh-CN" altLang="en-US" sz="2000" b="1" dirty="0" smtClean="0">
              <a:solidFill>
                <a:srgbClr val="FF0000"/>
              </a:solidFill>
            </a:endParaRPr>
          </a:p>
          <a:p>
            <a:r>
              <a:rPr kumimoji="1" lang="zh-CN" altLang="en-US" sz="2000" b="1" dirty="0" smtClean="0">
                <a:solidFill>
                  <a:srgbClr val="FF0000"/>
                </a:solidFill>
              </a:rPr>
              <a:t>试卷</a:t>
            </a:r>
            <a:endParaRPr kumimoji="1" lang="zh-CN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WechatIMG4331.jpeg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6308702" cy="2841505"/>
          </a:xfrm>
          <a:prstGeom prst="rect">
            <a:avLst/>
          </a:prstGeom>
        </p:spPr>
      </p:pic>
      <p:pic>
        <p:nvPicPr>
          <p:cNvPr id="5" name="图片 4" descr="WechatIMG4332.jpeg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8610"/>
          <a:stretch>
            <a:fillRect/>
          </a:stretch>
        </p:blipFill>
        <p:spPr>
          <a:xfrm>
            <a:off x="214813" y="2841503"/>
            <a:ext cx="6169226" cy="2012733"/>
          </a:xfrm>
          <a:prstGeom prst="rect">
            <a:avLst/>
          </a:prstGeom>
        </p:spPr>
      </p:pic>
      <p:pic>
        <p:nvPicPr>
          <p:cNvPr id="6" name="图片 5" descr="WechatIMG4332.jpe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28" t="39762"/>
          <a:stretch>
            <a:fillRect/>
          </a:stretch>
        </p:blipFill>
        <p:spPr>
          <a:xfrm>
            <a:off x="6308702" y="0"/>
            <a:ext cx="2835298" cy="2669292"/>
          </a:xfrm>
          <a:prstGeom prst="rect">
            <a:avLst/>
          </a:prstGeom>
        </p:spPr>
      </p:pic>
      <p:pic>
        <p:nvPicPr>
          <p:cNvPr id="7" name="图片 6" descr="WechatIMG4332.jpe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029" r="44944" b="8225"/>
          <a:stretch>
            <a:fillRect/>
          </a:stretch>
        </p:blipFill>
        <p:spPr>
          <a:xfrm>
            <a:off x="6308702" y="2841504"/>
            <a:ext cx="2835298" cy="201273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308702" y="2841504"/>
            <a:ext cx="2835298" cy="20127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753367" y="171093"/>
            <a:ext cx="7221567" cy="5015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/>
              <a:t>19</a:t>
            </a:r>
            <a:r>
              <a:rPr lang="zh-CN" altLang="zh-CN" sz="2000" b="1" dirty="0"/>
              <a:t>（</a:t>
            </a:r>
            <a:r>
              <a:rPr lang="en-US" altLang="zh-CN" sz="2000" b="1" dirty="0"/>
              <a:t>1</a:t>
            </a:r>
            <a:r>
              <a:rPr lang="zh-CN" altLang="zh-CN" sz="2000" b="1" dirty="0"/>
              <a:t>）评分细则（两种思路都可以得分，如果在同样的思路中，要求涉及具体问题不同，</a:t>
            </a:r>
            <a:r>
              <a:rPr lang="en-US" altLang="zh-CN" sz="2000" b="1" dirty="0"/>
              <a:t>1</a:t>
            </a:r>
            <a:r>
              <a:rPr lang="zh-CN" altLang="zh-CN" sz="2000" b="1" dirty="0"/>
              <a:t>个问题</a:t>
            </a:r>
            <a:r>
              <a:rPr lang="en-US" altLang="zh-CN" sz="2000" b="1" dirty="0"/>
              <a:t>1</a:t>
            </a:r>
            <a:r>
              <a:rPr lang="zh-CN" altLang="zh-CN" sz="2000" b="1" dirty="0"/>
              <a:t>分</a:t>
            </a:r>
            <a:r>
              <a:rPr lang="zh-CN" altLang="zh-CN" sz="2000" b="1" dirty="0" smtClean="0"/>
              <a:t>）</a:t>
            </a:r>
            <a:endParaRPr lang="en-US" altLang="zh-CN" sz="2000" b="1" dirty="0" smtClean="0"/>
          </a:p>
          <a:p>
            <a:endParaRPr lang="zh-CN" altLang="zh-CN" sz="2000" dirty="0"/>
          </a:p>
          <a:p>
            <a:r>
              <a:rPr lang="zh-CN" altLang="zh-CN" sz="2000" b="1" dirty="0">
                <a:solidFill>
                  <a:srgbClr val="FF0000"/>
                </a:solidFill>
              </a:rPr>
              <a:t>思路</a:t>
            </a:r>
            <a:r>
              <a:rPr lang="en-US" altLang="zh-CN" sz="2000" b="1" dirty="0">
                <a:solidFill>
                  <a:srgbClr val="FF0000"/>
                </a:solidFill>
              </a:rPr>
              <a:t>1</a:t>
            </a:r>
            <a:r>
              <a:rPr lang="en-US" altLang="zh-CN" sz="2000" dirty="0"/>
              <a:t>.</a:t>
            </a:r>
            <a:r>
              <a:rPr lang="zh-CN" altLang="zh-CN" sz="2000" dirty="0"/>
              <a:t>充电桩方案的具体内容是否</a:t>
            </a:r>
            <a:r>
              <a:rPr lang="en-US" altLang="zh-CN" sz="2000" dirty="0"/>
              <a:t>符合</a:t>
            </a:r>
            <a:r>
              <a:rPr lang="en-US" altLang="zh-CN" sz="2000" dirty="0"/>
              <a:t>/</a:t>
            </a:r>
            <a:r>
              <a:rPr lang="en-US" altLang="zh-CN" sz="2000" dirty="0"/>
              <a:t>违反规定（依法依规）</a:t>
            </a:r>
            <a:endParaRPr lang="zh-CN" altLang="zh-CN" sz="2000" dirty="0"/>
          </a:p>
          <a:p>
            <a:r>
              <a:rPr lang="en-US" altLang="zh-CN" sz="2000" b="1" dirty="0"/>
              <a:t>如：</a:t>
            </a:r>
            <a:endParaRPr lang="zh-CN" altLang="zh-CN" sz="2000" dirty="0"/>
          </a:p>
          <a:p>
            <a:r>
              <a:rPr lang="en-US" altLang="zh-CN" sz="2000" b="1" dirty="0"/>
              <a:t>设置充电</a:t>
            </a:r>
            <a:r>
              <a:rPr lang="zh-CN" altLang="zh-CN" sz="2000" b="1" dirty="0"/>
              <a:t>柜</a:t>
            </a:r>
            <a:r>
              <a:rPr lang="en-US" altLang="zh-CN" sz="2000" b="1" dirty="0"/>
              <a:t>是否违反消防</a:t>
            </a:r>
            <a:r>
              <a:rPr lang="en-US" altLang="zh-CN" sz="2000" b="1" u="sng" dirty="0"/>
              <a:t>规定；</a:t>
            </a:r>
            <a:endParaRPr lang="zh-CN" altLang="zh-CN" sz="2000" dirty="0"/>
          </a:p>
          <a:p>
            <a:r>
              <a:rPr lang="en-US" altLang="zh-CN" sz="2000" b="1" dirty="0"/>
              <a:t>改变公有部分用途的</a:t>
            </a:r>
            <a:r>
              <a:rPr lang="en-US" altLang="zh-CN" sz="2000" b="1" u="sng" dirty="0"/>
              <a:t>法律程序</a:t>
            </a:r>
            <a:r>
              <a:rPr lang="en-US" altLang="zh-CN" sz="2000" b="1" dirty="0"/>
              <a:t>问题</a:t>
            </a:r>
            <a:r>
              <a:rPr lang="zh-CN" altLang="zh-CN" sz="2000" b="1" dirty="0"/>
              <a:t>；</a:t>
            </a:r>
            <a:endParaRPr lang="zh-CN" altLang="zh-CN" sz="2000" dirty="0"/>
          </a:p>
          <a:p>
            <a:r>
              <a:rPr lang="en-US" altLang="zh-CN" sz="2000" b="1" dirty="0"/>
              <a:t>涉及民法典对公共区域功能改变的</a:t>
            </a:r>
            <a:r>
              <a:rPr lang="en-US" altLang="zh-CN" sz="2000" b="1" u="sng" dirty="0"/>
              <a:t>规定</a:t>
            </a:r>
            <a:r>
              <a:rPr lang="zh-CN" altLang="zh-CN" sz="2000" b="1" u="sng" dirty="0" smtClean="0"/>
              <a:t>；</a:t>
            </a:r>
            <a:endParaRPr lang="en-US" altLang="zh-CN" sz="2000" b="1" u="sng" dirty="0" smtClean="0"/>
          </a:p>
          <a:p>
            <a:endParaRPr lang="zh-CN" altLang="zh-CN" sz="2000" dirty="0"/>
          </a:p>
          <a:p>
            <a:r>
              <a:rPr lang="zh-CN" altLang="zh-CN" sz="2000" b="1" dirty="0">
                <a:solidFill>
                  <a:srgbClr val="FF0000"/>
                </a:solidFill>
              </a:rPr>
              <a:t>思路</a:t>
            </a:r>
            <a:r>
              <a:rPr lang="en-US" altLang="zh-CN" sz="2000" b="1" dirty="0">
                <a:solidFill>
                  <a:srgbClr val="FF0000"/>
                </a:solidFill>
              </a:rPr>
              <a:t>2</a:t>
            </a:r>
            <a:r>
              <a:rPr lang="en-US" altLang="zh-CN" sz="2000" dirty="0"/>
              <a:t>.</a:t>
            </a:r>
            <a:r>
              <a:rPr lang="zh-CN" altLang="zh-CN" sz="2000" dirty="0"/>
              <a:t>充电桩方案的具体内容涉及哪些</a:t>
            </a:r>
            <a:r>
              <a:rPr lang="en-US" altLang="zh-CN" sz="2000" dirty="0"/>
              <a:t>权利</a:t>
            </a:r>
            <a:r>
              <a:rPr lang="zh-CN" altLang="zh-CN" sz="2000" dirty="0"/>
              <a:t>？</a:t>
            </a:r>
            <a:endParaRPr lang="zh-CN" altLang="zh-CN" sz="2000" dirty="0"/>
          </a:p>
          <a:p>
            <a:r>
              <a:rPr lang="en-US" altLang="zh-CN" sz="2000" b="1" dirty="0"/>
              <a:t>如：</a:t>
            </a:r>
            <a:endParaRPr lang="zh-CN" altLang="zh-CN" sz="2000" dirty="0"/>
          </a:p>
          <a:p>
            <a:r>
              <a:rPr lang="en-US" altLang="zh-CN" sz="2000" b="1" dirty="0"/>
              <a:t>公共区域设置充电</a:t>
            </a:r>
            <a:r>
              <a:rPr lang="zh-CN" altLang="zh-CN" sz="2000" b="1" dirty="0"/>
              <a:t>柜</a:t>
            </a:r>
            <a:r>
              <a:rPr lang="en-US" altLang="zh-CN" sz="2000" b="1" dirty="0"/>
              <a:t>是否涉及</a:t>
            </a:r>
            <a:r>
              <a:rPr lang="en-US" altLang="zh-CN" sz="2000" b="1" u="sng" dirty="0"/>
              <a:t>侵权</a:t>
            </a:r>
            <a:r>
              <a:rPr lang="en-US" altLang="zh-CN" sz="2000" b="1" dirty="0"/>
              <a:t>问题； </a:t>
            </a:r>
            <a:endParaRPr lang="zh-CN" altLang="zh-CN" sz="2000" dirty="0"/>
          </a:p>
          <a:p>
            <a:r>
              <a:rPr lang="en-US" altLang="zh-CN" sz="2000" b="1" dirty="0"/>
              <a:t>可能侵害部分业主对公共部分的合法</a:t>
            </a:r>
            <a:r>
              <a:rPr lang="en-US" altLang="zh-CN" sz="2000" b="1" u="sng" dirty="0"/>
              <a:t>权利</a:t>
            </a:r>
            <a:endParaRPr lang="zh-CN" altLang="zh-CN" sz="2000" dirty="0"/>
          </a:p>
          <a:p>
            <a:r>
              <a:rPr lang="en-US" altLang="zh-CN" sz="2000" b="1" dirty="0"/>
              <a:t>充电</a:t>
            </a:r>
            <a:r>
              <a:rPr lang="zh-CN" altLang="zh-CN" sz="2000" b="1" dirty="0"/>
              <a:t>柜</a:t>
            </a:r>
            <a:r>
              <a:rPr lang="en-US" altLang="zh-CN" sz="2000" b="1" dirty="0"/>
              <a:t>建设是否损害</a:t>
            </a:r>
            <a:r>
              <a:rPr lang="en-US" altLang="zh-CN" sz="2000" b="1" u="sng" dirty="0"/>
              <a:t>相邻权</a:t>
            </a:r>
            <a:r>
              <a:rPr lang="en-US" altLang="zh-CN" sz="2000" b="1" dirty="0"/>
              <a:t>的问题</a:t>
            </a:r>
            <a:endParaRPr lang="zh-CN" altLang="zh-CN" sz="2000" dirty="0"/>
          </a:p>
          <a:p>
            <a:r>
              <a:rPr lang="zh-CN" altLang="zh-CN" sz="2000" b="1" dirty="0"/>
              <a:t>充电柜</a:t>
            </a:r>
            <a:r>
              <a:rPr lang="en-US" altLang="zh-CN" sz="2000" b="1" dirty="0"/>
              <a:t>安全问题可能侵犯居民的</a:t>
            </a:r>
            <a:r>
              <a:rPr lang="en-US" altLang="zh-CN" sz="2000" b="1" u="sng" dirty="0"/>
              <a:t>人身安全和财产权</a:t>
            </a:r>
            <a:endParaRPr lang="zh-CN" altLang="zh-CN" sz="2000" dirty="0"/>
          </a:p>
          <a:p>
            <a:r>
              <a:rPr lang="en-US" altLang="zh-CN" sz="2000" b="1" dirty="0"/>
              <a:t>xx</a:t>
            </a:r>
            <a:r>
              <a:rPr lang="en-US" altLang="zh-CN" sz="2000" b="1" dirty="0"/>
              <a:t>问题侵犯了居民的</a:t>
            </a:r>
            <a:r>
              <a:rPr lang="en-US" altLang="zh-CN" sz="2000" b="1" u="sng" dirty="0"/>
              <a:t>合法权益</a:t>
            </a:r>
            <a:endParaRPr lang="zh-CN" altLang="zh-CN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45022" y="577483"/>
            <a:ext cx="7393765" cy="2676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>
                <a:solidFill>
                  <a:srgbClr val="FF0000"/>
                </a:solidFill>
              </a:rPr>
              <a:t>19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（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1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）</a:t>
            </a:r>
            <a:r>
              <a:rPr lang="zh-CN" altLang="zh-CN" sz="2400" b="1" dirty="0" smtClean="0">
                <a:solidFill>
                  <a:srgbClr val="FF0000"/>
                </a:solidFill>
              </a:rPr>
              <a:t>存在问题</a:t>
            </a:r>
            <a:r>
              <a:rPr lang="zh-CN" altLang="zh-CN" sz="2400" b="1" dirty="0">
                <a:solidFill>
                  <a:srgbClr val="FF0000"/>
                </a:solidFill>
              </a:rPr>
              <a:t>：</a:t>
            </a:r>
            <a:endParaRPr lang="zh-CN" altLang="zh-CN" sz="2400" dirty="0">
              <a:solidFill>
                <a:srgbClr val="FF0000"/>
              </a:solidFill>
            </a:endParaRPr>
          </a:p>
          <a:p>
            <a:pPr lvl="0"/>
            <a:r>
              <a:rPr lang="en-US" altLang="zh-CN" sz="2400" dirty="0"/>
              <a:t>只陈述问题本身，不联系法律知识</a:t>
            </a:r>
            <a:r>
              <a:rPr lang="zh-CN" altLang="zh-CN" sz="2400" dirty="0"/>
              <a:t>，不展现法律思维和语言。如“消防安全、安全隐患的问题”、“公共区域改变用途的问题”，因此得了</a:t>
            </a:r>
            <a:r>
              <a:rPr lang="en-US" altLang="zh-CN" sz="2400" dirty="0"/>
              <a:t>0</a:t>
            </a:r>
            <a:r>
              <a:rPr lang="zh-CN" altLang="zh-CN" sz="2400" dirty="0"/>
              <a:t>分</a:t>
            </a:r>
            <a:endParaRPr lang="zh-CN" altLang="zh-CN" sz="2400" dirty="0"/>
          </a:p>
          <a:p>
            <a:pPr lvl="0"/>
            <a:r>
              <a:rPr lang="zh-CN" altLang="zh-CN" sz="2400" dirty="0"/>
              <a:t>泛泛而谈，没有结合充电柜的方案把“具体问题”和“法律表述”对应上，如“涉及财产权”“涉及健康权”，酌情扣分。</a:t>
            </a:r>
            <a:endParaRPr lang="zh-CN" altLang="zh-CN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544728" y="3631883"/>
            <a:ext cx="45448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 smtClean="0">
                <a:solidFill>
                  <a:srgbClr val="FF0000"/>
                </a:solidFill>
              </a:rPr>
              <a:t>启示：语言规范，答题要用法言法语！</a:t>
            </a:r>
            <a:endParaRPr kumimoji="1" lang="zh-CN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71753" y="339036"/>
            <a:ext cx="6844883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19</a:t>
            </a:r>
            <a:r>
              <a:rPr lang="en-US" altLang="zh-CN" sz="2000" b="1" dirty="0">
                <a:solidFill>
                  <a:srgbClr val="FF0000"/>
                </a:solidFill>
              </a:rPr>
              <a:t>（</a:t>
            </a:r>
            <a:r>
              <a:rPr lang="en-US" altLang="zh-CN" sz="2000" b="1" dirty="0">
                <a:solidFill>
                  <a:srgbClr val="FF0000"/>
                </a:solidFill>
              </a:rPr>
              <a:t>2</a:t>
            </a:r>
            <a:r>
              <a:rPr lang="en-US" altLang="zh-CN" sz="2000" b="1" dirty="0">
                <a:solidFill>
                  <a:srgbClr val="FF0000"/>
                </a:solidFill>
              </a:rPr>
              <a:t>）利益相关方（</a:t>
            </a:r>
            <a:r>
              <a:rPr lang="en-US" altLang="zh-CN" sz="2000" b="1" dirty="0">
                <a:solidFill>
                  <a:srgbClr val="FF0000"/>
                </a:solidFill>
              </a:rPr>
              <a:t>1</a:t>
            </a:r>
            <a:r>
              <a:rPr lang="zh-CN" altLang="zh-CN" sz="2000" b="1" dirty="0">
                <a:solidFill>
                  <a:srgbClr val="FF0000"/>
                </a:solidFill>
              </a:rPr>
              <a:t>个</a:t>
            </a:r>
            <a:r>
              <a:rPr lang="en-US" altLang="zh-CN" sz="2000" b="1" dirty="0">
                <a:solidFill>
                  <a:srgbClr val="FF0000"/>
                </a:solidFill>
              </a:rPr>
              <a:t>主体</a:t>
            </a:r>
            <a:r>
              <a:rPr lang="en-US" altLang="zh-CN" sz="2000" b="1" dirty="0">
                <a:solidFill>
                  <a:srgbClr val="FF0000"/>
                </a:solidFill>
              </a:rPr>
              <a:t>1</a:t>
            </a:r>
            <a:r>
              <a:rPr lang="zh-CN" altLang="zh-CN" sz="2000" b="1" dirty="0">
                <a:solidFill>
                  <a:srgbClr val="FF0000"/>
                </a:solidFill>
              </a:rPr>
              <a:t>分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）</a:t>
            </a:r>
            <a:endParaRPr lang="en-US" altLang="zh-CN" sz="2000" b="1" dirty="0" smtClean="0">
              <a:solidFill>
                <a:srgbClr val="FF0000"/>
              </a:solidFill>
            </a:endParaRPr>
          </a:p>
          <a:p>
            <a:endParaRPr lang="zh-CN" altLang="zh-CN" sz="2000" dirty="0">
              <a:solidFill>
                <a:srgbClr val="FF0000"/>
              </a:solidFill>
            </a:endParaRPr>
          </a:p>
          <a:p>
            <a:r>
              <a:rPr lang="zh-CN" altLang="zh-CN" sz="2000" b="1" dirty="0">
                <a:solidFill>
                  <a:schemeClr val="accent2"/>
                </a:solidFill>
              </a:rPr>
              <a:t>得分的主体有：</a:t>
            </a:r>
            <a:endParaRPr lang="zh-CN" altLang="zh-CN" sz="2000" dirty="0">
              <a:solidFill>
                <a:schemeClr val="accent2"/>
              </a:solidFill>
            </a:endParaRPr>
          </a:p>
          <a:p>
            <a:pPr lvl="0"/>
            <a:r>
              <a:rPr lang="en-US" altLang="zh-CN" sz="2000" dirty="0"/>
              <a:t>充电设施供应商</a:t>
            </a:r>
            <a:r>
              <a:rPr lang="en-US" altLang="zh-CN" sz="2000" dirty="0"/>
              <a:t>/</a:t>
            </a:r>
            <a:r>
              <a:rPr lang="en-US" altLang="zh-CN" sz="2000" dirty="0"/>
              <a:t>安装充电桩的企业</a:t>
            </a:r>
            <a:r>
              <a:rPr lang="en-US" altLang="zh-CN" sz="2000" dirty="0"/>
              <a:t>/</a:t>
            </a:r>
            <a:r>
              <a:rPr lang="en-US" altLang="zh-CN" sz="2000" dirty="0"/>
              <a:t>充电桩专家</a:t>
            </a:r>
            <a:endParaRPr lang="zh-CN" altLang="zh-CN" sz="2000" dirty="0"/>
          </a:p>
          <a:p>
            <a:pPr lvl="0"/>
            <a:r>
              <a:rPr lang="en-US" altLang="zh-CN" sz="2000" dirty="0"/>
              <a:t>街道办事处</a:t>
            </a:r>
            <a:r>
              <a:rPr lang="en-US" altLang="zh-CN" sz="2000" dirty="0"/>
              <a:t>/</a:t>
            </a:r>
            <a:r>
              <a:rPr lang="en-US" altLang="zh-CN" sz="2000" dirty="0"/>
              <a:t>街道</a:t>
            </a:r>
            <a:r>
              <a:rPr lang="en-US" altLang="zh-CN" sz="2000" dirty="0"/>
              <a:t>/</a:t>
            </a:r>
            <a:r>
              <a:rPr lang="en-US" altLang="zh-CN" sz="2000" dirty="0"/>
              <a:t>政府 </a:t>
            </a:r>
            <a:endParaRPr lang="zh-CN" altLang="zh-CN" sz="2000" dirty="0"/>
          </a:p>
          <a:p>
            <a:pPr lvl="0"/>
            <a:r>
              <a:rPr lang="en-US" altLang="zh-CN" sz="2000" dirty="0"/>
              <a:t>社区基层自治组织</a:t>
            </a:r>
            <a:r>
              <a:rPr lang="en-US" altLang="zh-CN" sz="2000" dirty="0"/>
              <a:t>/</a:t>
            </a:r>
            <a:r>
              <a:rPr lang="en-US" altLang="zh-CN" sz="2000" dirty="0"/>
              <a:t>居委会</a:t>
            </a:r>
            <a:endParaRPr lang="zh-CN" altLang="zh-CN" sz="2000" dirty="0"/>
          </a:p>
          <a:p>
            <a:pPr lvl="0"/>
            <a:r>
              <a:rPr lang="en-US" altLang="zh-CN" sz="2000" dirty="0"/>
              <a:t>消防部门</a:t>
            </a:r>
            <a:r>
              <a:rPr lang="en-US" altLang="zh-CN" sz="2000" dirty="0"/>
              <a:t>/</a:t>
            </a:r>
            <a:r>
              <a:rPr lang="en-US" altLang="zh-CN" sz="2000" dirty="0"/>
              <a:t>消防队员 </a:t>
            </a:r>
            <a:endParaRPr lang="zh-CN" altLang="zh-CN" sz="2000" dirty="0"/>
          </a:p>
          <a:p>
            <a:pPr lvl="0"/>
            <a:r>
              <a:rPr lang="en-US" altLang="zh-CN" sz="2000" dirty="0"/>
              <a:t>社区工作人员</a:t>
            </a:r>
            <a:r>
              <a:rPr lang="en-US" altLang="zh-CN" sz="2000" dirty="0"/>
              <a:t>/</a:t>
            </a:r>
            <a:r>
              <a:rPr lang="zh-CN" altLang="zh-CN" sz="2000" dirty="0"/>
              <a:t>社区志愿者 </a:t>
            </a:r>
            <a:endParaRPr lang="zh-CN" altLang="zh-CN" sz="2000" dirty="0"/>
          </a:p>
          <a:p>
            <a:pPr lvl="0"/>
            <a:r>
              <a:rPr lang="en-US" altLang="zh-CN" sz="2000" dirty="0"/>
              <a:t>党</a:t>
            </a:r>
            <a:r>
              <a:rPr lang="en-US" altLang="zh-CN" sz="2000" dirty="0"/>
              <a:t>/</a:t>
            </a:r>
            <a:r>
              <a:rPr lang="zh-CN" altLang="zh-CN" sz="2000" dirty="0"/>
              <a:t>基层党组织 </a:t>
            </a:r>
            <a:endParaRPr lang="en-US" altLang="zh-CN" sz="2000" dirty="0" smtClean="0"/>
          </a:p>
          <a:p>
            <a:pPr lvl="0"/>
            <a:endParaRPr lang="zh-CN" altLang="zh-CN" sz="2000" dirty="0"/>
          </a:p>
          <a:p>
            <a:r>
              <a:rPr lang="zh-CN" altLang="zh-CN" sz="2000" b="1" dirty="0">
                <a:solidFill>
                  <a:srgbClr val="C0504D"/>
                </a:solidFill>
              </a:rPr>
              <a:t>不得分的主体有</a:t>
            </a:r>
            <a:r>
              <a:rPr lang="zh-CN" altLang="zh-CN" sz="2000" b="1" dirty="0"/>
              <a:t>：</a:t>
            </a:r>
            <a:r>
              <a:rPr lang="en-US" altLang="zh-CN" sz="2000" dirty="0"/>
              <a:t>社区</a:t>
            </a:r>
            <a:r>
              <a:rPr lang="zh-CN" altLang="zh-CN" sz="2000" dirty="0"/>
              <a:t>（没有明确指向具体身份）、</a:t>
            </a:r>
            <a:r>
              <a:rPr lang="en-US" altLang="zh-CN" sz="2000" dirty="0"/>
              <a:t>车主</a:t>
            </a:r>
            <a:r>
              <a:rPr lang="en-US" altLang="zh-CN" sz="2000" dirty="0"/>
              <a:t>/</a:t>
            </a:r>
            <a:r>
              <a:rPr lang="en-US" altLang="zh-CN" sz="2000" dirty="0"/>
              <a:t>业主</a:t>
            </a:r>
            <a:r>
              <a:rPr lang="en-US" altLang="zh-CN" sz="2000" dirty="0"/>
              <a:t>/</a:t>
            </a:r>
            <a:r>
              <a:rPr lang="en-US" altLang="zh-CN" sz="2000" dirty="0"/>
              <a:t>非车主 （</a:t>
            </a:r>
            <a:r>
              <a:rPr lang="zh-CN" altLang="zh-CN" sz="2000" dirty="0"/>
              <a:t>已</a:t>
            </a:r>
            <a:r>
              <a:rPr lang="en-US" altLang="zh-CN" sz="2000" dirty="0"/>
              <a:t>包含在居民之内）</a:t>
            </a:r>
            <a:r>
              <a:rPr lang="zh-CN" altLang="zh-CN" sz="2000" dirty="0"/>
              <a:t>、</a:t>
            </a:r>
            <a:r>
              <a:rPr lang="en-US" altLang="zh-CN" sz="2000" dirty="0"/>
              <a:t>电动车生产商、商家、企业 </a:t>
            </a:r>
            <a:r>
              <a:rPr lang="zh-CN" altLang="zh-CN" sz="2000" dirty="0"/>
              <a:t>（本方案只和充电柜有关）、</a:t>
            </a:r>
            <a:r>
              <a:rPr lang="en-US" altLang="zh-CN" sz="2000" dirty="0"/>
              <a:t>人大代表</a:t>
            </a:r>
            <a:r>
              <a:rPr lang="zh-CN" altLang="zh-CN" sz="2000" dirty="0"/>
              <a:t>、保安保洁。</a:t>
            </a:r>
            <a:endParaRPr lang="zh-CN" altLang="zh-CN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8523817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/>
              <a:t>19</a:t>
            </a:r>
            <a:r>
              <a:rPr lang="en-US" altLang="zh-CN" sz="2000" b="1" dirty="0"/>
              <a:t>（</a:t>
            </a:r>
            <a:r>
              <a:rPr lang="en-US" altLang="zh-CN" sz="2000" b="1" dirty="0"/>
              <a:t>3</a:t>
            </a:r>
            <a:r>
              <a:rPr lang="en-US" altLang="zh-CN" sz="2000" b="1" dirty="0"/>
              <a:t>）达成共识</a:t>
            </a:r>
            <a:endParaRPr lang="zh-CN" altLang="zh-CN" sz="2000" dirty="0"/>
          </a:p>
          <a:p>
            <a:r>
              <a:rPr lang="zh-CN" altLang="zh-CN" sz="2000" b="1" dirty="0"/>
              <a:t>思路：</a:t>
            </a:r>
            <a:r>
              <a:rPr lang="en-US" altLang="zh-CN" sz="2000" b="1" dirty="0"/>
              <a:t>答案分两层</a:t>
            </a:r>
            <a:endParaRPr lang="zh-CN" altLang="zh-CN" sz="2000" dirty="0"/>
          </a:p>
          <a:p>
            <a:pPr lvl="0"/>
            <a:r>
              <a:rPr lang="en-US" altLang="zh-CN" sz="2000" dirty="0"/>
              <a:t>《法律与生活》</a:t>
            </a:r>
            <a:r>
              <a:rPr lang="en-US" altLang="zh-CN" sz="2000" b="1" dirty="0">
                <a:solidFill>
                  <a:srgbClr val="FF0000"/>
                </a:solidFill>
              </a:rPr>
              <a:t>相邻关系</a:t>
            </a:r>
            <a:r>
              <a:rPr lang="en-US" altLang="zh-CN" sz="2000" dirty="0"/>
              <a:t>（</a:t>
            </a:r>
            <a:r>
              <a:rPr lang="en-US" altLang="zh-CN" sz="2000" dirty="0"/>
              <a:t>2</a:t>
            </a:r>
            <a:r>
              <a:rPr lang="en-US" altLang="zh-CN" sz="2000" dirty="0"/>
              <a:t>分）</a:t>
            </a:r>
            <a:endParaRPr lang="zh-CN" altLang="zh-CN" sz="2000" dirty="0"/>
          </a:p>
          <a:p>
            <a:pPr lvl="0"/>
            <a:r>
              <a:rPr lang="en-US" altLang="zh-CN" sz="2000" dirty="0"/>
              <a:t>《政治与法治》</a:t>
            </a:r>
            <a:r>
              <a:rPr lang="en-US" altLang="zh-CN" sz="2000" b="1" dirty="0">
                <a:solidFill>
                  <a:srgbClr val="FF0000"/>
                </a:solidFill>
              </a:rPr>
              <a:t>民主程序与实践</a:t>
            </a:r>
            <a:r>
              <a:rPr lang="en-US" altLang="zh-CN" sz="2000" dirty="0"/>
              <a:t>（</a:t>
            </a:r>
            <a:r>
              <a:rPr lang="en-US" altLang="zh-CN" sz="2000" dirty="0"/>
              <a:t>2</a:t>
            </a:r>
            <a:r>
              <a:rPr lang="en-US" altLang="zh-CN" sz="2000" dirty="0"/>
              <a:t>分）</a:t>
            </a:r>
            <a:endParaRPr lang="zh-CN" altLang="zh-CN" sz="2000" dirty="0"/>
          </a:p>
          <a:p>
            <a:r>
              <a:rPr lang="en-US" altLang="zh-CN" sz="2000" dirty="0">
                <a:solidFill>
                  <a:srgbClr val="C0504D"/>
                </a:solidFill>
              </a:rPr>
              <a:t>第一层满分</a:t>
            </a:r>
            <a:r>
              <a:rPr lang="en-US" altLang="zh-CN" sz="2000" dirty="0" smtClean="0">
                <a:solidFill>
                  <a:srgbClr val="C0504D"/>
                </a:solidFill>
              </a:rPr>
              <a:t>2</a:t>
            </a:r>
            <a:r>
              <a:rPr lang="zh-CN" altLang="zh-CN" sz="2000" dirty="0" smtClean="0">
                <a:solidFill>
                  <a:srgbClr val="C0504D"/>
                </a:solidFill>
              </a:rPr>
              <a:t>分</a:t>
            </a:r>
            <a:r>
              <a:rPr lang="zh-CN" altLang="en-US" sz="2000" dirty="0" smtClean="0">
                <a:solidFill>
                  <a:srgbClr val="C0504D"/>
                </a:solidFill>
              </a:rPr>
              <a:t>：</a:t>
            </a:r>
            <a:endParaRPr lang="zh-CN" altLang="zh-CN" sz="2000" dirty="0">
              <a:solidFill>
                <a:srgbClr val="C0504D"/>
              </a:solidFill>
            </a:endParaRPr>
          </a:p>
          <a:p>
            <a:r>
              <a:rPr lang="en-US" altLang="zh-CN" sz="2000" dirty="0"/>
              <a:t>提到相邻权、相邻关系原则</a:t>
            </a:r>
            <a:r>
              <a:rPr lang="zh-CN" altLang="zh-CN" sz="2000" dirty="0"/>
              <a:t>、</a:t>
            </a:r>
            <a:r>
              <a:rPr lang="en-US" altLang="zh-CN" sz="2000" dirty="0"/>
              <a:t>权利和义务相统一</a:t>
            </a:r>
            <a:r>
              <a:rPr lang="zh-CN" altLang="zh-CN" sz="2000" dirty="0"/>
              <a:t>、</a:t>
            </a:r>
            <a:r>
              <a:rPr lang="en-US" altLang="zh-CN" sz="2000" dirty="0"/>
              <a:t>权利有界限不能影响他人的合法权利</a:t>
            </a:r>
            <a:r>
              <a:rPr lang="zh-CN" altLang="zh-CN" sz="2000" dirty="0"/>
              <a:t>。</a:t>
            </a:r>
            <a:endParaRPr lang="zh-CN" altLang="zh-CN" sz="2000" dirty="0"/>
          </a:p>
          <a:p>
            <a:r>
              <a:rPr lang="en-US" altLang="zh-CN" sz="2000" dirty="0"/>
              <a:t>如：要遵循相邻关系原则：有利生产、方便生活、团结互助、公平合理</a:t>
            </a:r>
            <a:endParaRPr lang="zh-CN" altLang="zh-CN" sz="2000" dirty="0"/>
          </a:p>
          <a:p>
            <a:r>
              <a:rPr lang="en-US" altLang="zh-CN" sz="2000" dirty="0"/>
              <a:t>如：应该邻里关系和睦、不影响他人合法权利 </a:t>
            </a:r>
            <a:endParaRPr lang="zh-CN" altLang="zh-CN" sz="2000" dirty="0"/>
          </a:p>
          <a:p>
            <a:r>
              <a:rPr lang="en-US" altLang="zh-CN" sz="2000" dirty="0"/>
              <a:t>如：明确自己相关的权利和义务，权利有界限</a:t>
            </a:r>
            <a:endParaRPr lang="zh-CN" altLang="zh-CN" sz="2000" dirty="0"/>
          </a:p>
          <a:p>
            <a:r>
              <a:rPr lang="en-US" altLang="zh-CN" sz="2000" dirty="0"/>
              <a:t>没说法律术语，</a:t>
            </a:r>
            <a:r>
              <a:rPr lang="zh-CN" altLang="zh-CN" sz="2000" dirty="0"/>
              <a:t>只</a:t>
            </a:r>
            <a:r>
              <a:rPr lang="en-US" altLang="zh-CN" sz="2000" dirty="0"/>
              <a:t>说：邻里和谐、要相互理解、包容</a:t>
            </a:r>
            <a:r>
              <a:rPr lang="zh-CN" altLang="zh-CN" sz="2000" dirty="0"/>
              <a:t>、体谅、谦让；</a:t>
            </a:r>
            <a:r>
              <a:rPr lang="en-US" altLang="zh-CN" sz="2000" dirty="0"/>
              <a:t>社会主义核心价值观的友善、和谐</a:t>
            </a:r>
            <a:r>
              <a:rPr lang="zh-CN" altLang="zh-CN" sz="2000" dirty="0"/>
              <a:t>；民法</a:t>
            </a:r>
            <a:r>
              <a:rPr lang="en-US" altLang="zh-CN" sz="2000" dirty="0"/>
              <a:t>公序良俗</a:t>
            </a:r>
            <a:r>
              <a:rPr lang="zh-CN" altLang="zh-CN" sz="2000" dirty="0"/>
              <a:t>原则；</a:t>
            </a:r>
            <a:r>
              <a:rPr lang="en-US" altLang="zh-CN" sz="2000" dirty="0"/>
              <a:t>以和为贵中华优秀传统美德</a:t>
            </a:r>
            <a:r>
              <a:rPr lang="zh-CN" altLang="zh-CN" sz="2000" dirty="0"/>
              <a:t>，</a:t>
            </a:r>
            <a:r>
              <a:rPr lang="en-US" altLang="zh-CN" sz="2000" dirty="0"/>
              <a:t>给</a:t>
            </a:r>
            <a:r>
              <a:rPr lang="en-US" altLang="zh-CN" sz="2000" dirty="0"/>
              <a:t>1</a:t>
            </a:r>
            <a:r>
              <a:rPr lang="en-US" altLang="zh-CN" sz="2000" dirty="0"/>
              <a:t>分。</a:t>
            </a:r>
            <a:endParaRPr lang="zh-CN" altLang="zh-CN" sz="2000" dirty="0"/>
          </a:p>
          <a:p>
            <a:r>
              <a:rPr lang="en-US" altLang="zh-CN" sz="2000" dirty="0">
                <a:solidFill>
                  <a:srgbClr val="C0504D"/>
                </a:solidFill>
              </a:rPr>
              <a:t>第二层满分情况</a:t>
            </a:r>
            <a:r>
              <a:rPr lang="en-US" altLang="zh-CN" sz="2000" dirty="0">
                <a:solidFill>
                  <a:srgbClr val="C0504D"/>
                </a:solidFill>
              </a:rPr>
              <a:t>2</a:t>
            </a:r>
            <a:r>
              <a:rPr lang="zh-CN" altLang="zh-CN" sz="2000" dirty="0">
                <a:solidFill>
                  <a:srgbClr val="C0504D"/>
                </a:solidFill>
              </a:rPr>
              <a:t>分</a:t>
            </a:r>
            <a:r>
              <a:rPr lang="en-US" altLang="zh-CN" sz="2000" dirty="0">
                <a:solidFill>
                  <a:srgbClr val="C0504D"/>
                </a:solidFill>
              </a:rPr>
              <a:t>: </a:t>
            </a:r>
            <a:endParaRPr lang="zh-CN" altLang="zh-CN" sz="2000" dirty="0">
              <a:solidFill>
                <a:srgbClr val="C0504D"/>
              </a:solidFill>
            </a:endParaRPr>
          </a:p>
          <a:p>
            <a:r>
              <a:rPr lang="en-US" altLang="zh-CN" sz="2000" dirty="0"/>
              <a:t>出现“民主协商”“共同商讨”“共同商量”、“汇集民意、集中民智”</a:t>
            </a:r>
            <a:r>
              <a:rPr lang="en-US" altLang="zh-CN" sz="2000" dirty="0"/>
              <a:t>/</a:t>
            </a:r>
            <a:r>
              <a:rPr lang="en-US" altLang="zh-CN" sz="2000" dirty="0"/>
              <a:t>知情权、参与权、表达权。</a:t>
            </a:r>
            <a:endParaRPr lang="zh-CN" altLang="zh-CN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b="1" dirty="0">
                <a:solidFill>
                  <a:srgbClr val="FF0000"/>
                </a:solidFill>
              </a:rPr>
              <a:t>存在问题：</a:t>
            </a:r>
            <a:endParaRPr lang="zh-CN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>
                <a:solidFill>
                  <a:srgbClr val="FF0000"/>
                </a:solidFill>
              </a:rPr>
              <a:t>问题</a:t>
            </a:r>
            <a:r>
              <a:rPr lang="en-US" altLang="zh-CN" sz="2000" dirty="0">
                <a:solidFill>
                  <a:srgbClr val="FF0000"/>
                </a:solidFill>
              </a:rPr>
              <a:t>1</a:t>
            </a:r>
            <a:r>
              <a:rPr lang="en-US" altLang="zh-CN" sz="2000" dirty="0">
                <a:solidFill>
                  <a:srgbClr val="FF0000"/>
                </a:solidFill>
              </a:rPr>
              <a:t>：</a:t>
            </a:r>
            <a:r>
              <a:rPr lang="zh-CN" altLang="zh-CN" sz="2000" dirty="0">
                <a:solidFill>
                  <a:srgbClr val="FF0000"/>
                </a:solidFill>
              </a:rPr>
              <a:t>缺少相邻关系层</a:t>
            </a:r>
            <a:endParaRPr lang="zh-CN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看到社区问题、看到绿地、通行、采光，以及居民分歧这样的关键词，依然想不到涉及相邻关系或者邻里和睦，所以很多同学只靠民主协商得</a:t>
            </a:r>
            <a:r>
              <a:rPr lang="en-US" altLang="zh-CN" sz="2000" dirty="0"/>
              <a:t>2</a:t>
            </a:r>
            <a:r>
              <a:rPr lang="en-US" altLang="zh-CN" sz="2000" dirty="0"/>
              <a:t>分</a:t>
            </a:r>
            <a:r>
              <a:rPr lang="zh-CN" altLang="zh-CN" sz="2000" dirty="0"/>
              <a:t>。</a:t>
            </a:r>
            <a:endParaRPr lang="zh-CN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问题</a:t>
            </a:r>
            <a:r>
              <a:rPr lang="en-US" altLang="zh-CN" sz="2000" dirty="0">
                <a:solidFill>
                  <a:srgbClr val="FF0000"/>
                </a:solidFill>
              </a:rPr>
              <a:t>2</a:t>
            </a:r>
            <a:r>
              <a:rPr lang="en-US" altLang="zh-CN" sz="2000" dirty="0">
                <a:solidFill>
                  <a:srgbClr val="FF0000"/>
                </a:solidFill>
              </a:rPr>
              <a:t>：</a:t>
            </a:r>
            <a:endParaRPr lang="zh-CN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从技术方面去解决问题，试图想一个完美的现实方案。比如十分详细的谈怎么装柜子、周边应该宽阔，柜子应有什么功能。没有运用《法律与生活》《政治和法治》的知识围绕“分歧”作答。（他的思路是方案要尽可能完美，而这种共识是通过协商、</a:t>
            </a:r>
            <a:r>
              <a:rPr lang="zh-CN" altLang="zh-CN" sz="2000" dirty="0"/>
              <a:t>团结</a:t>
            </a:r>
            <a:r>
              <a:rPr lang="en-US" altLang="zh-CN" sz="2000" dirty="0"/>
              <a:t>互助来实现的，而不是靠一个他认为完美的方案）</a:t>
            </a:r>
            <a:r>
              <a:rPr lang="zh-CN" altLang="zh-CN" sz="2000" dirty="0"/>
              <a:t>，</a:t>
            </a:r>
            <a:r>
              <a:rPr lang="en-US" altLang="zh-CN" sz="2000" dirty="0"/>
              <a:t>0-1</a:t>
            </a:r>
            <a:r>
              <a:rPr lang="zh-CN" altLang="zh-CN" sz="2000" dirty="0"/>
              <a:t>分（如果提到了一点居民权利，给了</a:t>
            </a:r>
            <a:r>
              <a:rPr lang="en-US" altLang="zh-CN" sz="2000" dirty="0"/>
              <a:t>1</a:t>
            </a:r>
            <a:r>
              <a:rPr lang="zh-CN" altLang="zh-CN" sz="2000" dirty="0"/>
              <a:t>分）</a:t>
            </a:r>
            <a:endParaRPr lang="zh-CN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问题</a:t>
            </a:r>
            <a:r>
              <a:rPr lang="en-US" altLang="zh-CN" sz="2000" dirty="0">
                <a:solidFill>
                  <a:srgbClr val="FF0000"/>
                </a:solidFill>
              </a:rPr>
              <a:t>3</a:t>
            </a:r>
            <a:r>
              <a:rPr lang="en-US" altLang="zh-CN" sz="2000" dirty="0">
                <a:solidFill>
                  <a:srgbClr val="FF0000"/>
                </a:solidFill>
              </a:rPr>
              <a:t>：</a:t>
            </a:r>
            <a:endParaRPr lang="zh-CN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从各个主体</a:t>
            </a:r>
            <a:r>
              <a:rPr lang="zh-CN" altLang="zh-CN" sz="2000" dirty="0"/>
              <a:t>做无关</a:t>
            </a:r>
            <a:r>
              <a:rPr lang="en-US" altLang="zh-CN" sz="2000" dirty="0"/>
              <a:t>回答，比如人大立法、政府履行职能、坚持党员的先锋模范作用等</a:t>
            </a:r>
            <a:r>
              <a:rPr lang="zh-CN" altLang="zh-CN" sz="2000" dirty="0"/>
              <a:t>，</a:t>
            </a:r>
            <a:r>
              <a:rPr lang="en-US" altLang="zh-CN" sz="2000" dirty="0"/>
              <a:t>脱离了情境</a:t>
            </a:r>
            <a:r>
              <a:rPr lang="zh-CN" altLang="zh-CN" sz="2000" dirty="0"/>
              <a:t>，</a:t>
            </a:r>
            <a:r>
              <a:rPr lang="en-US" altLang="zh-CN" sz="2000" dirty="0"/>
              <a:t>0-1</a:t>
            </a:r>
            <a:r>
              <a:rPr lang="zh-CN" altLang="zh-CN" sz="2000" dirty="0"/>
              <a:t>分（如果提到了一点居民权利，给了</a:t>
            </a:r>
            <a:r>
              <a:rPr lang="en-US" altLang="zh-CN" sz="2000" dirty="0"/>
              <a:t>1</a:t>
            </a:r>
            <a:r>
              <a:rPr lang="zh-CN" altLang="zh-CN" sz="2000" dirty="0"/>
              <a:t>分）。</a:t>
            </a:r>
            <a:endParaRPr lang="zh-CN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问题</a:t>
            </a:r>
            <a:r>
              <a:rPr lang="en-US" altLang="zh-CN" sz="2000" dirty="0">
                <a:solidFill>
                  <a:srgbClr val="FF0000"/>
                </a:solidFill>
              </a:rPr>
              <a:t>4</a:t>
            </a:r>
            <a:r>
              <a:rPr lang="en-US" altLang="zh-CN" sz="2000" dirty="0">
                <a:solidFill>
                  <a:srgbClr val="FF0000"/>
                </a:solidFill>
              </a:rPr>
              <a:t>：</a:t>
            </a:r>
            <a:endParaRPr lang="zh-CN" altLang="zh-CN" sz="2000" dirty="0">
              <a:solidFill>
                <a:srgbClr val="FF0000"/>
              </a:solidFill>
            </a:endParaRPr>
          </a:p>
          <a:p>
            <a:r>
              <a:rPr lang="zh-CN" altLang="zh-CN" sz="2000" dirty="0"/>
              <a:t>从</a:t>
            </a:r>
            <a:r>
              <a:rPr lang="en-US" altLang="zh-CN" sz="2000" dirty="0"/>
              <a:t>调解</a:t>
            </a:r>
            <a:r>
              <a:rPr lang="zh-CN" altLang="zh-CN" sz="2000" dirty="0"/>
              <a:t>方面作答，认为“分歧”就是民事纠纷，需要居委会或人民调解委员会调解。（没有倒扣分，但是体现出知识不清晰）</a:t>
            </a:r>
            <a:endParaRPr lang="zh-CN" altLang="zh-CN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a2cf3ab5ca988b64ad7f5b7f215287d"/>
          <p:cNvPicPr>
            <a:picLocks noChangeAspect="1"/>
          </p:cNvPicPr>
          <p:nvPr/>
        </p:nvPicPr>
        <p:blipFill>
          <a:blip r:embed="rId1"/>
          <a:srcRect l="5257" t="5568" r="39372" b="4432"/>
          <a:stretch>
            <a:fillRect/>
          </a:stretch>
        </p:blipFill>
        <p:spPr>
          <a:xfrm>
            <a:off x="0" y="0"/>
            <a:ext cx="5008245" cy="51511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260340" y="0"/>
            <a:ext cx="304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材料讲了什么？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6" name="矩形标注 5"/>
          <p:cNvSpPr/>
          <p:nvPr/>
        </p:nvSpPr>
        <p:spPr>
          <a:xfrm>
            <a:off x="5356225" y="527050"/>
            <a:ext cx="1791970" cy="427990"/>
          </a:xfrm>
          <a:prstGeom prst="wedgeRectCallout">
            <a:avLst>
              <a:gd name="adj1" fmla="val -81325"/>
              <a:gd name="adj2" fmla="val 4020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US" altLang="zh-CN" sz="2000" b="1">
                <a:solidFill>
                  <a:schemeClr val="tx1"/>
                </a:solidFill>
              </a:rPr>
              <a:t>“</a:t>
            </a:r>
            <a:r>
              <a:rPr lang="zh-CN" altLang="en-US" sz="2000" b="1">
                <a:solidFill>
                  <a:schemeClr val="tx1"/>
                </a:solidFill>
              </a:rPr>
              <a:t>何尊</a:t>
            </a:r>
            <a:r>
              <a:rPr lang="en-US" altLang="zh-CN" sz="2000" b="1">
                <a:solidFill>
                  <a:schemeClr val="tx1"/>
                </a:solidFill>
              </a:rPr>
              <a:t>”</a:t>
            </a:r>
            <a:r>
              <a:rPr lang="zh-CN" altLang="en-US" sz="2000" b="1">
                <a:solidFill>
                  <a:schemeClr val="tx1"/>
                </a:solidFill>
              </a:rPr>
              <a:t>的由来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7" name="矩形标注 6"/>
          <p:cNvSpPr/>
          <p:nvPr/>
        </p:nvSpPr>
        <p:spPr>
          <a:xfrm>
            <a:off x="5356225" y="1021080"/>
            <a:ext cx="1791970" cy="427990"/>
          </a:xfrm>
          <a:prstGeom prst="wedgeRectCallout">
            <a:avLst>
              <a:gd name="adj1" fmla="val -76906"/>
              <a:gd name="adj2" fmla="val -2448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US" altLang="zh-CN" sz="2000" b="1">
                <a:solidFill>
                  <a:schemeClr val="tx1"/>
                </a:solidFill>
              </a:rPr>
              <a:t>“</a:t>
            </a:r>
            <a:r>
              <a:rPr lang="zh-CN" altLang="en-US" sz="2000" b="1">
                <a:solidFill>
                  <a:schemeClr val="tx1"/>
                </a:solidFill>
              </a:rPr>
              <a:t>何尊</a:t>
            </a:r>
            <a:r>
              <a:rPr lang="en-US" altLang="zh-CN" sz="2000" b="1">
                <a:solidFill>
                  <a:schemeClr val="tx1"/>
                </a:solidFill>
              </a:rPr>
              <a:t>”</a:t>
            </a:r>
            <a:r>
              <a:rPr lang="zh-CN" altLang="en-US" sz="2000" b="1">
                <a:solidFill>
                  <a:schemeClr val="tx1"/>
                </a:solidFill>
              </a:rPr>
              <a:t>的</a:t>
            </a:r>
            <a:r>
              <a:rPr lang="zh-CN" altLang="en-US" sz="2000" b="1">
                <a:solidFill>
                  <a:schemeClr val="tx1"/>
                </a:solidFill>
              </a:rPr>
              <a:t>发现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8" name="矩形标注 7"/>
          <p:cNvSpPr/>
          <p:nvPr/>
        </p:nvSpPr>
        <p:spPr>
          <a:xfrm>
            <a:off x="5356225" y="2091055"/>
            <a:ext cx="2734310" cy="427990"/>
          </a:xfrm>
          <a:prstGeom prst="wedgeRectCallout">
            <a:avLst>
              <a:gd name="adj1" fmla="val -76906"/>
              <a:gd name="adj2" fmla="val -2448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en-US" altLang="zh-CN" sz="2000" b="1">
                <a:solidFill>
                  <a:schemeClr val="tx1"/>
                </a:solidFill>
              </a:rPr>
              <a:t>“</a:t>
            </a:r>
            <a:r>
              <a:rPr lang="zh-CN" altLang="en-US" sz="2000" b="1">
                <a:solidFill>
                  <a:schemeClr val="tx1"/>
                </a:solidFill>
              </a:rPr>
              <a:t>何尊</a:t>
            </a:r>
            <a:r>
              <a:rPr lang="en-US" altLang="zh-CN" sz="2000" b="1">
                <a:solidFill>
                  <a:schemeClr val="tx1"/>
                </a:solidFill>
              </a:rPr>
              <a:t>”</a:t>
            </a:r>
            <a:r>
              <a:rPr lang="zh-CN" altLang="en-US" sz="2000" b="1">
                <a:solidFill>
                  <a:schemeClr val="tx1"/>
                </a:solidFill>
              </a:rPr>
              <a:t>所刻铭文的</a:t>
            </a:r>
            <a:r>
              <a:rPr lang="zh-CN" altLang="en-US" sz="2000" b="1">
                <a:solidFill>
                  <a:schemeClr val="tx1"/>
                </a:solidFill>
              </a:rPr>
              <a:t>价值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9" name="矩形标注 8"/>
          <p:cNvSpPr/>
          <p:nvPr/>
        </p:nvSpPr>
        <p:spPr>
          <a:xfrm>
            <a:off x="5530850" y="3509645"/>
            <a:ext cx="3138170" cy="427990"/>
          </a:xfrm>
          <a:prstGeom prst="wedgeRectCallout">
            <a:avLst>
              <a:gd name="adj1" fmla="val -76906"/>
              <a:gd name="adj2" fmla="val -24480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zh-CN" altLang="en-US" sz="2000" b="1">
                <a:solidFill>
                  <a:schemeClr val="tx1"/>
                </a:solidFill>
              </a:rPr>
              <a:t>借</a:t>
            </a:r>
            <a:r>
              <a:rPr lang="en-US" altLang="zh-CN" sz="2000" b="1">
                <a:solidFill>
                  <a:schemeClr val="tx1"/>
                </a:solidFill>
              </a:rPr>
              <a:t>“</a:t>
            </a:r>
            <a:r>
              <a:rPr lang="zh-CN" altLang="en-US" sz="2000" b="1">
                <a:solidFill>
                  <a:schemeClr val="tx1"/>
                </a:solidFill>
              </a:rPr>
              <a:t>何尊</a:t>
            </a:r>
            <a:r>
              <a:rPr lang="en-US" altLang="zh-CN" sz="2000" b="1">
                <a:solidFill>
                  <a:schemeClr val="tx1"/>
                </a:solidFill>
              </a:rPr>
              <a:t>”</a:t>
            </a:r>
            <a:r>
              <a:rPr lang="zh-CN" altLang="en-US" sz="2000" b="1">
                <a:solidFill>
                  <a:schemeClr val="tx1"/>
                </a:solidFill>
              </a:rPr>
              <a:t>进行</a:t>
            </a:r>
            <a:r>
              <a:rPr lang="zh-CN" altLang="en-US" sz="2000" b="1">
                <a:solidFill>
                  <a:schemeClr val="tx1"/>
                </a:solidFill>
              </a:rPr>
              <a:t>交流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60340" y="4432935"/>
            <a:ext cx="34213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如何结合材料，谈理解？</a:t>
            </a:r>
            <a:endParaRPr lang="zh-CN" altLang="en-US" sz="24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/>
      <p:bldP spid="10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7ed3e2a4fbfe12959d80ef37528ab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140" y="95885"/>
            <a:ext cx="829056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332dd083d26499599be9a9807c16b7b"/>
          <p:cNvPicPr>
            <a:picLocks noChangeAspect="1"/>
          </p:cNvPicPr>
          <p:nvPr/>
        </p:nvPicPr>
        <p:blipFill>
          <a:blip r:embed="rId1"/>
          <a:srcRect l="3873" t="5383" r="16200" b="6963"/>
          <a:stretch>
            <a:fillRect/>
          </a:stretch>
        </p:blipFill>
        <p:spPr>
          <a:xfrm>
            <a:off x="0" y="0"/>
            <a:ext cx="7456170" cy="51612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6a8bd64ef9aa812140b8382c5049b24"/>
          <p:cNvPicPr>
            <a:picLocks noChangeAspect="1"/>
          </p:cNvPicPr>
          <p:nvPr/>
        </p:nvPicPr>
        <p:blipFill>
          <a:blip r:embed="rId1"/>
          <a:srcRect l="3576" t="5093" r="5236" b="6944"/>
          <a:stretch>
            <a:fillRect/>
          </a:stretch>
        </p:blipFill>
        <p:spPr>
          <a:xfrm>
            <a:off x="0" y="0"/>
            <a:ext cx="848550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bbac4a78bf576d7a3723a51a2c90b5a"/>
          <p:cNvPicPr>
            <a:picLocks noChangeAspect="1"/>
          </p:cNvPicPr>
          <p:nvPr/>
        </p:nvPicPr>
        <p:blipFill>
          <a:blip r:embed="rId1"/>
          <a:srcRect l="2649" t="16173" r="7697" b="33148"/>
          <a:stretch>
            <a:fillRect/>
          </a:stretch>
        </p:blipFill>
        <p:spPr>
          <a:xfrm>
            <a:off x="245110" y="879475"/>
            <a:ext cx="8632190" cy="289179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0" y="0"/>
            <a:ext cx="8827770" cy="5015865"/>
          </a:xfrm>
          <a:prstGeom prst="rect">
            <a:avLst/>
          </a:prstGeom>
        </p:spPr>
        <p:txBody>
          <a:bodyPr wrap="square">
            <a:spAutoFit/>
          </a:bodyPr>
          <a:p>
            <a:pPr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答案细则：</a:t>
            </a:r>
            <a:endParaRPr lang="zh-CN" altLang="en-US" sz="2000" b="1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第一层：</a:t>
            </a:r>
            <a:endParaRPr lang="zh-CN" altLang="en-US" sz="2000" b="1">
              <a:solidFill>
                <a:srgbClr val="000000"/>
              </a:solidFill>
              <a:highlight>
                <a:srgbClr val="FFFF00"/>
              </a:highligh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器物是中华文化的载体（器物是中华文化的体现</a:t>
            </a:r>
            <a:r>
              <a:rPr lang="en-US" altLang="zh-CN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器物是中华传统工艺等）。</a:t>
            </a:r>
            <a:r>
              <a:rPr lang="en-US" altLang="zh-CN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分（只写文化载体没有分）</a:t>
            </a:r>
            <a:endParaRPr lang="zh-CN" altLang="en-US" sz="2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第二层：</a:t>
            </a:r>
            <a:endParaRPr lang="zh-CN" altLang="en-US" sz="2000" b="1">
              <a:solidFill>
                <a:srgbClr val="000000"/>
              </a:solidFill>
              <a:highlight>
                <a:srgbClr val="FFFF00"/>
              </a:highligh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有利于筑牢</a:t>
            </a: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中华民族共同体意识</a:t>
            </a:r>
            <a:r>
              <a:rPr lang="en-US" altLang="zh-CN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共同价值观 </a:t>
            </a:r>
            <a:r>
              <a:rPr lang="en-US" altLang="zh-CN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文化认同</a:t>
            </a:r>
            <a:r>
              <a:rPr lang="en-US" altLang="zh-CN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共同精神标识。</a:t>
            </a:r>
            <a:r>
              <a:rPr lang="en-US" altLang="zh-CN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分（强调共同）</a:t>
            </a:r>
            <a:endParaRPr lang="zh-CN" altLang="en-US" sz="2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展现了中华文化源远流长、博大精深</a:t>
            </a:r>
            <a:r>
              <a:rPr lang="en-US" altLang="zh-CN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具有强大的凝聚力和连续性是中华民族共同文化特质的体现 </a:t>
            </a:r>
            <a:r>
              <a:rPr lang="en-US" altLang="zh-CN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是中华文明具有统一性和连续性的重要见证。</a:t>
            </a:r>
            <a:r>
              <a:rPr lang="en-US" altLang="zh-CN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</a:t>
            </a:r>
            <a:endParaRPr lang="zh-CN" altLang="en-US" sz="2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有利于传承中华优秀文化或者坚定文化自信 </a:t>
            </a:r>
            <a:r>
              <a:rPr lang="en-US" altLang="zh-CN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或者有利于提升民族自豪感、凝聚力。（本层共</a:t>
            </a:r>
            <a:r>
              <a:rPr lang="en-US" altLang="zh-CN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分，出</a:t>
            </a:r>
            <a:r>
              <a:rPr lang="en-US" altLang="zh-CN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点即可）</a:t>
            </a:r>
            <a:endParaRPr lang="zh-CN" altLang="en-US" sz="2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C00000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第三层：</a:t>
            </a:r>
            <a:r>
              <a:rPr lang="zh-CN" altLang="en-US" sz="20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意识的能动作用（主观能动性），</a:t>
            </a:r>
            <a:r>
              <a:rPr lang="en-US" altLang="zh-CN" sz="20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</a:t>
            </a:r>
            <a:r>
              <a: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提高对器物价值的认识，做好搜集、保护、研究工作。</a:t>
            </a:r>
            <a:r>
              <a:rPr lang="en-US" altLang="zh-CN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</a:t>
            </a:r>
            <a:endParaRPr lang="zh-CN" altLang="en-US" sz="2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（替换：我们要推动中华优秀传统文化的创造性转化和创新性发展，提炼中华优秀传统文化中适应当下时代需要的内容</a:t>
            </a:r>
            <a:r>
              <a:rPr lang="en-US" altLang="zh-CN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深挖中华文化内涵，推动中华文化传播）。</a:t>
            </a:r>
            <a:r>
              <a:rPr lang="en-US" altLang="zh-CN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</a:t>
            </a:r>
            <a:endParaRPr lang="zh-CN" altLang="en-US" sz="2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fead6c6d7be50bc333ae0634e4ec0f2"/>
          <p:cNvPicPr>
            <a:picLocks noChangeAspect="1"/>
          </p:cNvPicPr>
          <p:nvPr/>
        </p:nvPicPr>
        <p:blipFill>
          <a:blip r:embed="rId1">
            <a:lum contrast="24000"/>
          </a:blip>
          <a:srcRect t="4160" r="1741" b="9728"/>
          <a:stretch>
            <a:fillRect/>
          </a:stretch>
        </p:blipFill>
        <p:spPr>
          <a:xfrm>
            <a:off x="0" y="0"/>
            <a:ext cx="9144000" cy="504571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6bacd39b75bcb57df42bdde2c5b9998"/>
          <p:cNvPicPr>
            <a:picLocks noChangeAspect="1"/>
          </p:cNvPicPr>
          <p:nvPr/>
        </p:nvPicPr>
        <p:blipFill>
          <a:blip r:embed="rId1">
            <a:lum contrast="-6000"/>
          </a:blip>
          <a:stretch>
            <a:fillRect/>
          </a:stretch>
        </p:blipFill>
        <p:spPr>
          <a:xfrm>
            <a:off x="12700" y="0"/>
            <a:ext cx="9169400" cy="514286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320925" y="792480"/>
            <a:ext cx="1497330" cy="4203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zh-CN" altLang="en-US" sz="2000" b="1">
                <a:solidFill>
                  <a:srgbClr val="FF0000"/>
                </a:solidFill>
              </a:rPr>
              <a:t>中国的贡献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20925" y="2266315"/>
            <a:ext cx="1616075" cy="4203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zh-CN" altLang="en-US" sz="2000" b="1">
                <a:solidFill>
                  <a:srgbClr val="FF0000"/>
                </a:solidFill>
              </a:rPr>
              <a:t>欧盟的行为</a:t>
            </a:r>
            <a:endParaRPr lang="en-US" altLang="zh-CN" sz="2000" b="1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2320925" y="3867150"/>
            <a:ext cx="2392680" cy="4203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zh-CN" altLang="en-US" sz="2000" b="1">
                <a:solidFill>
                  <a:srgbClr val="FF0000"/>
                </a:solidFill>
              </a:rPr>
              <a:t>磋商</a:t>
            </a:r>
            <a:r>
              <a:rPr lang="zh-CN" altLang="en-US" sz="2000" b="1">
                <a:solidFill>
                  <a:srgbClr val="FF0000"/>
                </a:solidFill>
              </a:rPr>
              <a:t>交流（怎么办）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0" y="0"/>
            <a:ext cx="9144000" cy="45923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评分细则：</a:t>
            </a:r>
            <a:endParaRPr lang="zh-CN" altLang="en-US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第一层</a:t>
            </a:r>
            <a:r>
              <a:rPr lang="en-US" altLang="zh-CN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zh-CN" altLang="en-US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中国的贡献（</a:t>
            </a:r>
            <a:r>
              <a:rPr lang="en-US" altLang="zh-CN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分）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阐述我国新能源汽车产业的发展对世界经济的贡献：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13335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促进资源优化配置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促进国际贸易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为世界新能源产业注入活力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</a:t>
            </a:r>
            <a:endParaRPr lang="zh-CN" altLang="en-US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13335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（替代：只说我国新能源汽车产业发展好，阐述充分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，不充分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</a:t>
            </a:r>
            <a:endParaRPr lang="zh-CN" altLang="en-US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说明我国用行动为世界气候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环境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绿色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生态保护做贡献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</a:t>
            </a:r>
            <a:endParaRPr lang="zh-CN" altLang="en-US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第二层：批判欧盟行为</a:t>
            </a:r>
            <a:r>
              <a:rPr lang="en-US" altLang="zh-CN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(2</a:t>
            </a:r>
            <a:r>
              <a:rPr lang="zh-CN" altLang="en-US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分）</a:t>
            </a:r>
            <a:endParaRPr lang="zh-CN" altLang="en-US" b="1">
              <a:highlight>
                <a:srgbClr val="FFFF00"/>
              </a:highligh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界定欧盟的行为：违背经济规律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贸易保护主义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逆全球化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</a:t>
            </a:r>
            <a:endParaRPr lang="zh-CN" altLang="en-US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带来的不良影响：破坏市场竞争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破坏市场秩序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不利于自身的发展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损害消费者的利益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</a:t>
            </a:r>
            <a:endParaRPr lang="zh-CN" altLang="en-US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第三层：我国的态度</a:t>
            </a:r>
            <a:r>
              <a:rPr lang="en-US" altLang="zh-CN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怎么做</a:t>
            </a:r>
            <a:r>
              <a:rPr lang="en-US" altLang="zh-CN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(3</a:t>
            </a:r>
            <a:r>
              <a:rPr lang="zh-CN" altLang="en-US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分</a:t>
            </a:r>
            <a:r>
              <a:rPr lang="en-US" altLang="zh-CN" b="1"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en-US" altLang="zh-CN" b="1">
              <a:highlight>
                <a:srgbClr val="FFFF00"/>
              </a:highligh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坚定维护本国利益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互利共赢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和平谈判方式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推动贸易自由便利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维护市场秩序。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个点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分，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个点</a:t>
            </a:r>
            <a:r>
              <a:rPr lang="en-US" altLang="zh-CN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</a:t>
            </a:r>
            <a:endParaRPr lang="zh-CN" altLang="en-US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54166b6260e5d42f826106c5fae9567"/>
          <p:cNvPicPr>
            <a:picLocks noChangeAspect="1"/>
          </p:cNvPicPr>
          <p:nvPr/>
        </p:nvPicPr>
        <p:blipFill>
          <a:blip r:embed="rId1"/>
          <a:srcRect l="10263" r="22825" b="7241"/>
          <a:stretch>
            <a:fillRect/>
          </a:stretch>
        </p:blipFill>
        <p:spPr>
          <a:xfrm>
            <a:off x="330200" y="134620"/>
            <a:ext cx="8589645" cy="48742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77645" y="1203325"/>
            <a:ext cx="6370955" cy="27844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存在问题：</a:t>
            </a:r>
            <a:endParaRPr lang="zh-CN" altLang="en-US" sz="20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脱离设问和材料，套用知识，会什么答什么。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对设问的解读有误，选择了一个角度按“是、为、怎”谈认识。或是将问题直接解读为“怎么做”，只能得到第三层的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分。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04800" indent="-266700" algn="just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③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不能全面关注材料，忽略了部分材料，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分卷很多，缺少第二段对欧盟行为的分析。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0fc89b593b17698b9516ef78a49f2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" y="15875"/>
            <a:ext cx="5118100" cy="2426970"/>
          </a:xfrm>
          <a:prstGeom prst="rect">
            <a:avLst/>
          </a:prstGeom>
        </p:spPr>
      </p:pic>
      <p:pic>
        <p:nvPicPr>
          <p:cNvPr id="3" name="图片 2" descr="e2695e0a4e4d7ba27ddc8345309b72c"/>
          <p:cNvPicPr>
            <a:picLocks noChangeAspect="1"/>
          </p:cNvPicPr>
          <p:nvPr/>
        </p:nvPicPr>
        <p:blipFill>
          <a:blip r:embed="rId2"/>
          <a:srcRect b="16659"/>
          <a:stretch>
            <a:fillRect/>
          </a:stretch>
        </p:blipFill>
        <p:spPr>
          <a:xfrm>
            <a:off x="0" y="2284095"/>
            <a:ext cx="5826125" cy="28594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10275" y="1179830"/>
            <a:ext cx="3004185" cy="2613660"/>
          </a:xfrm>
          <a:prstGeom prst="rect">
            <a:avLst/>
          </a:prstGeom>
        </p:spPr>
        <p:txBody>
          <a:bodyPr wrap="square">
            <a:spAutoFit/>
          </a:bodyPr>
          <a:p>
            <a:pPr marL="234315" indent="298450" algn="l" defTabSz="266700" eaLnBrk="0" fontAlgn="base">
              <a:lnSpc>
                <a:spcPct val="148000"/>
              </a:lnSpc>
              <a:spcBef>
                <a:spcPts val="5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中国式现代化，民生为大是价值取向，更是实践要求。</a:t>
            </a:r>
            <a:endParaRPr lang="zh-CN" altLang="en-US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34315" indent="298450" algn="l" defTabSz="266700" eaLnBrk="0" fontAlgn="base">
              <a:lnSpc>
                <a:spcPct val="148000"/>
              </a:lnSpc>
              <a:spcBef>
                <a:spcPts val="5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结合材料，综合运用所学，谈谈你对这句话的理解。</a:t>
            </a:r>
            <a:endParaRPr lang="zh-CN" altLang="en-US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176895" y="1703705"/>
            <a:ext cx="459105" cy="33210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322695" y="3383915"/>
            <a:ext cx="459105" cy="332105"/>
          </a:xfrm>
          <a:prstGeom prst="rect">
            <a:avLst/>
          </a:prstGeom>
          <a:noFill/>
          <a:ln w="190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gradFill rotWithShape="1">
                  <a:gsLst>
                    <a:gs pos="0">
                      <a:schemeClr val="accent1">
                        <a:tint val="100000"/>
                        <a:shade val="100000"/>
                        <a:satMod val="130000"/>
                      </a:schemeClr>
                    </a:gs>
                    <a:gs pos="100000">
                      <a:schemeClr val="accent1">
                        <a:tint val="50000"/>
                        <a:shade val="100000"/>
                        <a:satMod val="350000"/>
                      </a:schemeClr>
                    </a:gs>
                  </a:gsLst>
                  <a:lin ang="16200000" scaled="0"/>
                </a:gra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219190" y="4001135"/>
            <a:ext cx="2416810" cy="10140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r>
              <a:rPr lang="zh-CN" altLang="en-US" sz="2000" b="1">
                <a:solidFill>
                  <a:schemeClr val="tx1"/>
                </a:solidFill>
              </a:rPr>
              <a:t>答题思路：</a:t>
            </a:r>
            <a:endParaRPr lang="zh-CN" altLang="en-US" sz="2000" b="1">
              <a:solidFill>
                <a:schemeClr val="tx1"/>
              </a:solidFill>
            </a:endParaRPr>
          </a:p>
          <a:p>
            <a:r>
              <a:rPr lang="zh-CN" altLang="en-US" sz="2000" b="1">
                <a:solidFill>
                  <a:schemeClr val="tx1"/>
                </a:solidFill>
              </a:rPr>
              <a:t>是</a:t>
            </a:r>
            <a:r>
              <a:rPr lang="en-US" altLang="zh-CN" sz="2000" b="1">
                <a:solidFill>
                  <a:schemeClr val="tx1"/>
                </a:solidFill>
              </a:rPr>
              <a:t>-</a:t>
            </a:r>
            <a:r>
              <a:rPr lang="zh-CN" altLang="en-US" sz="2000" b="1">
                <a:solidFill>
                  <a:schemeClr val="tx1"/>
                </a:solidFill>
              </a:rPr>
              <a:t>为</a:t>
            </a:r>
            <a:r>
              <a:rPr lang="en-US" altLang="zh-CN" sz="2000" b="1">
                <a:solidFill>
                  <a:schemeClr val="tx1"/>
                </a:solidFill>
              </a:rPr>
              <a:t>-</a:t>
            </a:r>
            <a:r>
              <a:rPr lang="zh-CN" altLang="en-US" sz="2000" b="1">
                <a:solidFill>
                  <a:schemeClr val="tx1"/>
                </a:solidFill>
              </a:rPr>
              <a:t>怎</a:t>
            </a:r>
            <a:r>
              <a:rPr lang="en-US" altLang="zh-CN" sz="2000" b="1">
                <a:solidFill>
                  <a:schemeClr val="tx1"/>
                </a:solidFill>
              </a:rPr>
              <a:t> </a:t>
            </a:r>
            <a:r>
              <a:rPr lang="zh-CN" altLang="en-US" sz="2000" b="1">
                <a:solidFill>
                  <a:schemeClr val="tx1"/>
                </a:solidFill>
              </a:rPr>
              <a:t>／价值取向</a:t>
            </a:r>
            <a:r>
              <a:rPr lang="en-US" altLang="zh-CN" sz="2000" b="1">
                <a:solidFill>
                  <a:schemeClr val="tx1"/>
                </a:solidFill>
              </a:rPr>
              <a:t>-</a:t>
            </a:r>
            <a:r>
              <a:rPr lang="zh-CN" altLang="en-US" sz="2000" b="1">
                <a:solidFill>
                  <a:schemeClr val="tx1"/>
                </a:solidFill>
              </a:rPr>
              <a:t>实践要求</a:t>
            </a:r>
            <a:r>
              <a:rPr lang="en-US" altLang="zh-CN" sz="2000" b="1">
                <a:solidFill>
                  <a:schemeClr val="tx1"/>
                </a:solidFill>
              </a:rPr>
              <a:t>-</a:t>
            </a:r>
            <a:r>
              <a:rPr lang="zh-CN" altLang="en-US" sz="2000" b="1">
                <a:solidFill>
                  <a:schemeClr val="tx1"/>
                </a:solidFill>
              </a:rPr>
              <a:t>总</a:t>
            </a:r>
            <a:endParaRPr lang="zh-CN" altLang="en-US" sz="20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6" grpId="1" animBg="1"/>
      <p:bldP spid="5" grpId="0" animBg="1"/>
      <p:bldP spid="5" grpId="1" animBg="1"/>
      <p:bldP spid="7" grpId="0" animBg="1"/>
      <p:bldP spid="7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0" y="0"/>
            <a:ext cx="9225915" cy="48310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评分细则：</a:t>
            </a:r>
            <a:endParaRPr lang="zh-CN" altLang="en-US" sz="2000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C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2B2B2B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角度一：价值取向</a:t>
            </a:r>
            <a:endParaRPr lang="zh-CN" altLang="en-US" b="1">
              <a:solidFill>
                <a:srgbClr val="2B2B2B"/>
              </a:solidFill>
              <a:highlight>
                <a:srgbClr val="FFFF00"/>
              </a:highligh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13335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文化传承</a:t>
            </a:r>
            <a:r>
              <a:rPr lang="en-US" altLang="zh-CN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同中华优秀传统文化相结合／传承创新／吸收借鉴中华优秀传统文化</a:t>
            </a:r>
            <a:r>
              <a:rPr lang="en-US" altLang="zh-CN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  </a:t>
            </a:r>
            <a:endParaRPr lang="en-US" altLang="zh-CN" b="1">
              <a:solidFill>
                <a:srgbClr val="22222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13335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人民性</a:t>
            </a:r>
            <a:r>
              <a:rPr lang="en-US" altLang="zh-CN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党以人民为中心的发展思想／党的宗旨／初心等 </a:t>
            </a:r>
            <a:r>
              <a:rPr lang="en-US" altLang="zh-CN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                   </a:t>
            </a:r>
            <a:endParaRPr lang="en-US" altLang="zh-CN" b="1">
              <a:solidFill>
                <a:srgbClr val="22222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93345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价值观／价判标准／群众观／发展观</a:t>
            </a:r>
            <a:endParaRPr lang="zh-CN" altLang="en-US" b="1">
              <a:solidFill>
                <a:srgbClr val="22222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933450" algn="l" defTabSz="266700">
              <a:spcBef>
                <a:spcPct val="0"/>
              </a:spcBef>
              <a:spcAft>
                <a:spcPct val="0"/>
              </a:spcAft>
            </a:pPr>
            <a:endParaRPr lang="zh-CN" altLang="en-US" b="1">
              <a:solidFill>
                <a:srgbClr val="22222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222222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角度二：实践要求</a:t>
            </a:r>
            <a:r>
              <a:rPr lang="zh-CN" altLang="en-US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          </a:t>
            </a:r>
            <a:r>
              <a:rPr lang="en-US" altLang="zh-CN" b="1" u="sng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endParaRPr lang="en-US" altLang="zh-CN" b="1" u="sng">
              <a:solidFill>
                <a:srgbClr val="22222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3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发展为民生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优化公共服务，发展成果由人民共享，满足人民美好生活需要 </a:t>
            </a:r>
            <a:r>
              <a:rPr lang="en-US" altLang="zh-CN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   </a:t>
            </a:r>
            <a:endParaRPr lang="en-US" altLang="zh-CN" b="1">
              <a:solidFill>
                <a:srgbClr val="22222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 </a:t>
            </a:r>
            <a:r>
              <a:rPr lang="zh-CN" altLang="en-US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替代：提高居民收入／完善收入分配／完善社会保障／文化事业／公共服务设施等</a:t>
            </a:r>
            <a:endParaRPr lang="zh-CN" altLang="en-US" b="1">
              <a:solidFill>
                <a:srgbClr val="22222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53340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共享发展／增强群众的获得感</a:t>
            </a:r>
            <a:endParaRPr lang="zh-CN" altLang="en-US" b="1">
              <a:solidFill>
                <a:srgbClr val="22222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4</a:t>
            </a:r>
            <a:r>
              <a:rPr lang="zh-CN" altLang="en-US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治理重民生</a:t>
            </a:r>
            <a:r>
              <a:rPr lang="en-US" altLang="zh-CN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——</a:t>
            </a:r>
            <a:r>
              <a:rPr lang="zh-CN" altLang="en-US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全过程民主，科学民主立法，</a:t>
            </a:r>
            <a:r>
              <a:rPr lang="zh-CN" altLang="en-US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实现维护好最广大人民根本利益</a:t>
            </a:r>
            <a:r>
              <a:rPr lang="en-US" altLang="zh-CN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  </a:t>
            </a:r>
            <a:endParaRPr lang="en-US" altLang="zh-CN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106680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公正司法，保障人民权益，维护公平正义 </a:t>
            </a:r>
            <a:r>
              <a:rPr lang="en-US" altLang="zh-CN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          </a:t>
            </a:r>
            <a:endParaRPr lang="en-US" altLang="zh-CN" b="1">
              <a:solidFill>
                <a:srgbClr val="22222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1066800" algn="l" defTabSz="266700">
              <a:spcBef>
                <a:spcPct val="0"/>
              </a:spcBef>
              <a:spcAft>
                <a:spcPct val="0"/>
              </a:spcAft>
            </a:pPr>
            <a:endParaRPr lang="en-US" altLang="zh-CN" b="1">
              <a:solidFill>
                <a:srgbClr val="22222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222222"/>
                </a:solidFill>
                <a:highlight>
                  <a:srgbClr val="FFFF00"/>
                </a:highlight>
                <a:latin typeface="宋体" panose="02010600030101010101" pitchFamily="2" charset="-122"/>
                <a:ea typeface="宋体" panose="02010600030101010101" pitchFamily="2" charset="-122"/>
              </a:rPr>
              <a:t>角度三：总</a:t>
            </a:r>
            <a:r>
              <a:rPr lang="en-US" altLang="zh-CN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                                                             </a:t>
            </a:r>
            <a:endParaRPr lang="en-US" altLang="zh-CN" b="1">
              <a:solidFill>
                <a:srgbClr val="22222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2B2B2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5</a:t>
            </a:r>
            <a:r>
              <a:rPr lang="zh-CN" altLang="en-US" b="1">
                <a:solidFill>
                  <a:srgbClr val="2B2B2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中国式现代化是全体人民共同富裕的现代化</a:t>
            </a:r>
            <a:r>
              <a:rPr lang="zh-CN" altLang="en-US" b="1">
                <a:solidFill>
                  <a:srgbClr val="22222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／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在发展中保障和改善民生是中国式现代化的重大任务等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556385" y="1104265"/>
            <a:ext cx="5547360" cy="34766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76200" algn="l" defTabSz="266700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评分细则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7620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  9-10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分：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个方面知识运用准确，分析具体，</a:t>
            </a:r>
            <a:r>
              <a: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表达清晰</a:t>
            </a:r>
            <a:endParaRPr lang="zh-CN" altLang="en-US" sz="20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08915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7-8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分：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个方面知识运用准确，分析较具体，</a:t>
            </a:r>
            <a:r>
              <a:rPr lang="zh-CN" altLang="en-US" sz="20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表达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清晰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08915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5-6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分：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个方面知识运用准确，有知识有分析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endParaRPr lang="en-US" altLang="zh-CN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7620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  4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分： 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 2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个方面知识运用准确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08915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分： </a:t>
            </a: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 1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个方面知识运用准确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08915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分： 白话简单解读材料或抄材料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26670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2000" b="1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分： 空白卷或所写内容与题无关</a:t>
            </a:r>
            <a:endParaRPr lang="zh-CN" altLang="en-US" sz="20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4" descr="C:\Users\user\Documents\WeChat Files\wxid_d4dyfpfvhkmf21\FileStorage\Temp\9825c293951236c0359b0f7258eb890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4" t="6422" r="17660" b="7645"/>
          <a:stretch>
            <a:fillRect/>
          </a:stretch>
        </p:blipFill>
        <p:spPr>
          <a:xfrm>
            <a:off x="304800" y="167005"/>
            <a:ext cx="8534400" cy="4849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3563</Words>
  <Application>WPS 演示</Application>
  <PresentationFormat>全屏显示(16:9)</PresentationFormat>
  <Paragraphs>178</Paragraphs>
  <Slides>34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3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赞 李</dc:creator>
  <cp:lastModifiedBy>赞</cp:lastModifiedBy>
  <cp:revision>44</cp:revision>
  <dcterms:created xsi:type="dcterms:W3CDTF">2025-01-12T02:18:00Z</dcterms:created>
  <dcterms:modified xsi:type="dcterms:W3CDTF">2025-01-14T00:20:17Z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5C2E7B2E35CE42DCAF027C83379B3DBF_12</vt:lpwstr>
  </property>
  <property fmtid="{D5CDD505-2E9C-101B-9397-08002B2CF9AE}" pid="3" name="KSOProductBuildVer">
    <vt:lpwstr>2052-12.1.0.19770</vt:lpwstr>
  </property>
</Properties>
</file>