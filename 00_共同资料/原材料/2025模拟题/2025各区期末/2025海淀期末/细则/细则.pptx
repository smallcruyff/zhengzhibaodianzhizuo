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324" r:id="rId13"/>
    <p:sldId id="267" r:id="rId14"/>
    <p:sldId id="268" r:id="rId15"/>
    <p:sldId id="325" r:id="rId16"/>
    <p:sldId id="269" r:id="rId17"/>
    <p:sldId id="270" r:id="rId18"/>
    <p:sldId id="271" r:id="rId19"/>
    <p:sldId id="272" r:id="rId20"/>
    <p:sldId id="273" r:id="rId21"/>
    <p:sldId id="274" r:id="rId22"/>
    <p:sldId id="326"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28" r:id="rId57"/>
    <p:sldId id="327" r:id="rId58"/>
    <p:sldId id="330" r:id="rId59"/>
    <p:sldId id="329" r:id="rId60"/>
    <p:sldId id="310" r:id="rId61"/>
    <p:sldId id="311" r:id="rId62"/>
    <p:sldId id="312" r:id="rId63"/>
    <p:sldId id="313" r:id="rId64"/>
    <p:sldId id="314" r:id="rId65"/>
    <p:sldId id="315" r:id="rId66"/>
    <p:sldId id="316" r:id="rId67"/>
    <p:sldId id="317" r:id="rId68"/>
    <p:sldId id="318" r:id="rId69"/>
    <p:sldId id="319" r:id="rId70"/>
    <p:sldId id="320" r:id="rId71"/>
    <p:sldId id="322" r:id="rId7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48" y="11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1088" y="80009"/>
            <a:ext cx="2466975" cy="513715"/>
          </a:xfrm>
          <a:prstGeom prst="rect">
            <a:avLst/>
          </a:prstGeom>
        </p:spPr>
        <p:txBody>
          <a:bodyPr wrap="square" lIns="0" tIns="0" rIns="0" bIns="0">
            <a:spAutoFit/>
          </a:bodyPr>
          <a:lstStyle>
            <a:lvl1pPr>
              <a:defRPr sz="3600" b="0" i="0">
                <a:solidFill>
                  <a:schemeClr val="tx1"/>
                </a:solidFill>
                <a:latin typeface="Microsoft YaHei"/>
                <a:cs typeface="Microsoft YaHe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Microsoft YaHei"/>
                <a:cs typeface="Microsoft YaHe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Microsoft YaHei"/>
                <a:cs typeface="Microsoft YaHe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356472" y="1590903"/>
            <a:ext cx="3075304" cy="4618355"/>
          </a:xfrm>
          <a:prstGeom prst="rect">
            <a:avLst/>
          </a:prstGeom>
        </p:spPr>
        <p:txBody>
          <a:bodyPr wrap="square" lIns="0" tIns="0" rIns="0" bIns="0">
            <a:spAutoFit/>
          </a:bodyPr>
          <a:lstStyle>
            <a:lvl1pPr>
              <a:defRPr sz="2000" b="0" i="0">
                <a:solidFill>
                  <a:schemeClr val="tx1"/>
                </a:solidFill>
                <a:latin typeface="SimSun"/>
                <a:cs typeface="SimSun"/>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Microsoft YaHei"/>
                <a:cs typeface="Microsoft Ya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5841" y="129921"/>
            <a:ext cx="2768600" cy="574040"/>
          </a:xfrm>
          <a:prstGeom prst="rect">
            <a:avLst/>
          </a:prstGeom>
        </p:spPr>
        <p:txBody>
          <a:bodyPr wrap="square" lIns="0" tIns="0" rIns="0" bIns="0">
            <a:spAutoFit/>
          </a:bodyPr>
          <a:lstStyle>
            <a:lvl1pPr>
              <a:defRPr sz="3600" b="0" i="0">
                <a:solidFill>
                  <a:schemeClr val="tx1"/>
                </a:solidFill>
                <a:latin typeface="Microsoft YaHei"/>
                <a:cs typeface="Microsoft YaHei"/>
              </a:defRPr>
            </a:lvl1pPr>
          </a:lstStyle>
          <a:p>
            <a:endParaRPr/>
          </a:p>
        </p:txBody>
      </p:sp>
      <p:sp>
        <p:nvSpPr>
          <p:cNvPr id="3" name="Holder 3"/>
          <p:cNvSpPr>
            <a:spLocks noGrp="1"/>
          </p:cNvSpPr>
          <p:nvPr>
            <p:ph type="body" idx="1"/>
          </p:nvPr>
        </p:nvSpPr>
        <p:spPr>
          <a:xfrm>
            <a:off x="346075" y="1287780"/>
            <a:ext cx="11572240" cy="43783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1/20/2025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0489" y="91009"/>
            <a:ext cx="5298522" cy="427744"/>
          </a:xfrm>
          <a:prstGeom prst="rect">
            <a:avLst/>
          </a:prstGeom>
        </p:spPr>
      </p:pic>
      <p:sp>
        <p:nvSpPr>
          <p:cNvPr id="3" name="object 3"/>
          <p:cNvSpPr txBox="1"/>
          <p:nvPr/>
        </p:nvSpPr>
        <p:spPr>
          <a:xfrm>
            <a:off x="91439" y="-1037"/>
            <a:ext cx="5283835" cy="537210"/>
          </a:xfrm>
          <a:prstGeom prst="rect">
            <a:avLst/>
          </a:prstGeom>
        </p:spPr>
        <p:txBody>
          <a:bodyPr vert="horz" wrap="square" lIns="0" tIns="24130" rIns="0" bIns="0" rtlCol="0">
            <a:spAutoFit/>
          </a:bodyPr>
          <a:lstStyle/>
          <a:p>
            <a:pPr>
              <a:lnSpc>
                <a:spcPct val="100000"/>
              </a:lnSpc>
              <a:spcBef>
                <a:spcPts val="190"/>
              </a:spcBef>
            </a:pPr>
            <a:r>
              <a:rPr sz="3200" b="1" spc="-20" dirty="0">
                <a:solidFill>
                  <a:srgbClr val="FFFFFF"/>
                </a:solidFill>
                <a:latin typeface="Microsoft YaHei"/>
                <a:cs typeface="Microsoft YaHei"/>
              </a:rPr>
              <a:t>海淀区小学教师在线研修课程</a:t>
            </a:r>
            <a:endParaRPr sz="3200">
              <a:latin typeface="Microsoft YaHei"/>
              <a:cs typeface="Microsoft YaHei"/>
            </a:endParaRPr>
          </a:p>
        </p:txBody>
      </p:sp>
      <p:grpSp>
        <p:nvGrpSpPr>
          <p:cNvPr id="4" name="object 4"/>
          <p:cNvGrpSpPr/>
          <p:nvPr/>
        </p:nvGrpSpPr>
        <p:grpSpPr>
          <a:xfrm>
            <a:off x="10760540" y="5618011"/>
            <a:ext cx="1431925" cy="1240155"/>
            <a:chOff x="10760540" y="5618011"/>
            <a:chExt cx="1431925" cy="1240155"/>
          </a:xfrm>
        </p:grpSpPr>
        <p:pic>
          <p:nvPicPr>
            <p:cNvPr id="5" name="object 5"/>
            <p:cNvPicPr/>
            <p:nvPr/>
          </p:nvPicPr>
          <p:blipFill>
            <a:blip r:embed="rId3" cstate="print"/>
            <a:stretch>
              <a:fillRect/>
            </a:stretch>
          </p:blipFill>
          <p:spPr>
            <a:xfrm>
              <a:off x="10760540" y="5618011"/>
              <a:ext cx="1431459" cy="1239988"/>
            </a:xfrm>
            <a:prstGeom prst="rect">
              <a:avLst/>
            </a:prstGeom>
          </p:spPr>
        </p:pic>
        <p:pic>
          <p:nvPicPr>
            <p:cNvPr id="6" name="object 6"/>
            <p:cNvPicPr/>
            <p:nvPr/>
          </p:nvPicPr>
          <p:blipFill>
            <a:blip r:embed="rId4" cstate="print"/>
            <a:stretch>
              <a:fillRect/>
            </a:stretch>
          </p:blipFill>
          <p:spPr>
            <a:xfrm>
              <a:off x="10911840" y="5742406"/>
              <a:ext cx="1280159" cy="1115593"/>
            </a:xfrm>
            <a:prstGeom prst="rect">
              <a:avLst/>
            </a:prstGeom>
          </p:spPr>
        </p:pic>
      </p:grpSp>
      <p:grpSp>
        <p:nvGrpSpPr>
          <p:cNvPr id="7" name="object 7"/>
          <p:cNvGrpSpPr/>
          <p:nvPr/>
        </p:nvGrpSpPr>
        <p:grpSpPr>
          <a:xfrm>
            <a:off x="10361341" y="4704248"/>
            <a:ext cx="813435" cy="814705"/>
            <a:chOff x="10361341" y="4704248"/>
            <a:chExt cx="813435" cy="814705"/>
          </a:xfrm>
        </p:grpSpPr>
        <p:pic>
          <p:nvPicPr>
            <p:cNvPr id="8" name="object 8"/>
            <p:cNvPicPr/>
            <p:nvPr/>
          </p:nvPicPr>
          <p:blipFill>
            <a:blip r:embed="rId5" cstate="print"/>
            <a:stretch>
              <a:fillRect/>
            </a:stretch>
          </p:blipFill>
          <p:spPr>
            <a:xfrm>
              <a:off x="10361341" y="4704248"/>
              <a:ext cx="812911" cy="814316"/>
            </a:xfrm>
            <a:prstGeom prst="rect">
              <a:avLst/>
            </a:prstGeom>
          </p:spPr>
        </p:pic>
        <p:pic>
          <p:nvPicPr>
            <p:cNvPr id="9" name="object 9"/>
            <p:cNvPicPr/>
            <p:nvPr/>
          </p:nvPicPr>
          <p:blipFill>
            <a:blip r:embed="rId6" cstate="print"/>
            <a:stretch>
              <a:fillRect/>
            </a:stretch>
          </p:blipFill>
          <p:spPr>
            <a:xfrm>
              <a:off x="10512806" y="4856302"/>
              <a:ext cx="456488" cy="456488"/>
            </a:xfrm>
            <a:prstGeom prst="rect">
              <a:avLst/>
            </a:prstGeom>
          </p:spPr>
        </p:pic>
      </p:grpSp>
      <p:grpSp>
        <p:nvGrpSpPr>
          <p:cNvPr id="10" name="object 10"/>
          <p:cNvGrpSpPr/>
          <p:nvPr/>
        </p:nvGrpSpPr>
        <p:grpSpPr>
          <a:xfrm>
            <a:off x="9192768" y="5678423"/>
            <a:ext cx="1621790" cy="1179830"/>
            <a:chOff x="9192768" y="5678423"/>
            <a:chExt cx="1621790" cy="1179830"/>
          </a:xfrm>
        </p:grpSpPr>
        <p:pic>
          <p:nvPicPr>
            <p:cNvPr id="11" name="object 11"/>
            <p:cNvPicPr/>
            <p:nvPr/>
          </p:nvPicPr>
          <p:blipFill>
            <a:blip r:embed="rId7" cstate="print"/>
            <a:stretch>
              <a:fillRect/>
            </a:stretch>
          </p:blipFill>
          <p:spPr>
            <a:xfrm>
              <a:off x="9192768" y="5678423"/>
              <a:ext cx="1621662" cy="1179576"/>
            </a:xfrm>
            <a:prstGeom prst="rect">
              <a:avLst/>
            </a:prstGeom>
          </p:spPr>
        </p:pic>
        <p:sp>
          <p:nvSpPr>
            <p:cNvPr id="12" name="object 12"/>
            <p:cNvSpPr/>
            <p:nvPr/>
          </p:nvSpPr>
          <p:spPr>
            <a:xfrm>
              <a:off x="9371838" y="5857218"/>
              <a:ext cx="1093470" cy="1001394"/>
            </a:xfrm>
            <a:custGeom>
              <a:avLst/>
              <a:gdLst/>
              <a:ahLst/>
              <a:cxnLst/>
              <a:rect l="l" t="t" r="r" b="b"/>
              <a:pathLst>
                <a:path w="1093470" h="1001395">
                  <a:moveTo>
                    <a:pt x="1092911" y="0"/>
                  </a:moveTo>
                  <a:lnTo>
                    <a:pt x="0" y="0"/>
                  </a:lnTo>
                  <a:lnTo>
                    <a:pt x="0" y="1000781"/>
                  </a:lnTo>
                  <a:lnTo>
                    <a:pt x="1092911" y="1000781"/>
                  </a:lnTo>
                  <a:lnTo>
                    <a:pt x="1092911" y="0"/>
                  </a:lnTo>
                  <a:close/>
                </a:path>
              </a:pathLst>
            </a:custGeom>
            <a:solidFill>
              <a:srgbClr val="FFFFFF"/>
            </a:solidFill>
          </p:spPr>
          <p:txBody>
            <a:bodyPr wrap="square" lIns="0" tIns="0" rIns="0" bIns="0" rtlCol="0"/>
            <a:lstStyle/>
            <a:p>
              <a:endParaRPr/>
            </a:p>
          </p:txBody>
        </p:sp>
      </p:grpSp>
      <p:pic>
        <p:nvPicPr>
          <p:cNvPr id="13" name="object 13"/>
          <p:cNvPicPr/>
          <p:nvPr/>
        </p:nvPicPr>
        <p:blipFill>
          <a:blip r:embed="rId8" cstate="print"/>
          <a:stretch>
            <a:fillRect/>
          </a:stretch>
        </p:blipFill>
        <p:spPr>
          <a:xfrm>
            <a:off x="3336163" y="2825242"/>
            <a:ext cx="5525770" cy="522986"/>
          </a:xfrm>
          <a:prstGeom prst="rect">
            <a:avLst/>
          </a:prstGeom>
        </p:spPr>
      </p:pic>
      <p:pic>
        <p:nvPicPr>
          <p:cNvPr id="14" name="object 14"/>
          <p:cNvPicPr/>
          <p:nvPr/>
        </p:nvPicPr>
        <p:blipFill>
          <a:blip r:embed="rId9" cstate="print"/>
          <a:stretch>
            <a:fillRect/>
          </a:stretch>
        </p:blipFill>
        <p:spPr>
          <a:xfrm>
            <a:off x="0" y="0"/>
            <a:ext cx="12191999" cy="2710688"/>
          </a:xfrm>
          <a:prstGeom prst="rect">
            <a:avLst/>
          </a:prstGeom>
        </p:spPr>
      </p:pic>
      <p:sp>
        <p:nvSpPr>
          <p:cNvPr id="15" name="object 15"/>
          <p:cNvSpPr txBox="1"/>
          <p:nvPr/>
        </p:nvSpPr>
        <p:spPr>
          <a:xfrm>
            <a:off x="5403596" y="4980254"/>
            <a:ext cx="144907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52525"/>
                </a:solidFill>
                <a:latin typeface="Times New Roman"/>
                <a:cs typeface="Times New Roman"/>
              </a:rPr>
              <a:t>2025-01-</a:t>
            </a:r>
            <a:r>
              <a:rPr sz="2400" b="1" spc="-25" dirty="0">
                <a:solidFill>
                  <a:srgbClr val="252525"/>
                </a:solidFill>
                <a:latin typeface="Times New Roman"/>
                <a:cs typeface="Times New Roman"/>
              </a:rPr>
              <a:t>18</a:t>
            </a:r>
            <a:endParaRPr sz="24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sp>
          <p:nvSpPr>
            <p:cNvPr id="7" name="object 7"/>
            <p:cNvSpPr/>
            <p:nvPr/>
          </p:nvSpPr>
          <p:spPr>
            <a:xfrm>
              <a:off x="838200" y="1264792"/>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grpSp>
      <p:sp>
        <p:nvSpPr>
          <p:cNvPr id="8" name="object 8"/>
          <p:cNvSpPr txBox="1"/>
          <p:nvPr/>
        </p:nvSpPr>
        <p:spPr>
          <a:xfrm>
            <a:off x="778560" y="877316"/>
            <a:ext cx="10932795" cy="4189729"/>
          </a:xfrm>
          <a:prstGeom prst="rect">
            <a:avLst/>
          </a:prstGeom>
        </p:spPr>
        <p:txBody>
          <a:bodyPr vert="horz" wrap="square" lIns="0" tIns="12065" rIns="0" bIns="0" rtlCol="0">
            <a:spAutoFit/>
          </a:bodyPr>
          <a:lstStyle/>
          <a:p>
            <a:pPr marL="372110" indent="-359410">
              <a:lnSpc>
                <a:spcPct val="100000"/>
              </a:lnSpc>
              <a:spcBef>
                <a:spcPts val="95"/>
              </a:spcBef>
              <a:buFont typeface="Wingdings"/>
              <a:buChar char=""/>
              <a:tabLst>
                <a:tab pos="372110" algn="l"/>
              </a:tabLst>
            </a:pPr>
            <a:r>
              <a:rPr sz="2200" b="1" spc="-30" dirty="0">
                <a:latin typeface="Microsoft JhengHei"/>
                <a:cs typeface="Microsoft JhengHei"/>
              </a:rPr>
              <a:t>指导思想：</a:t>
            </a:r>
            <a:endParaRPr sz="2200" dirty="0">
              <a:latin typeface="Microsoft JhengHei"/>
              <a:cs typeface="Microsoft JhengHei"/>
            </a:endParaRPr>
          </a:p>
          <a:p>
            <a:pPr marL="12700" marR="283845" indent="558800" algn="just">
              <a:lnSpc>
                <a:spcPct val="120000"/>
              </a:lnSpc>
              <a:spcBef>
                <a:spcPts val="1200"/>
              </a:spcBef>
            </a:pPr>
            <a:r>
              <a:rPr sz="2200" spc="-35" dirty="0">
                <a:latin typeface="SimSun"/>
                <a:cs typeface="SimSun"/>
              </a:rPr>
              <a:t>以习近平新时代中国特色社会主义思想为指导，贯彻党的二十大及历次全会精神和新时代学校思政课建设推进会精神，全面贯彻党的教育方针，落实立德树人根本任务，体现新时代教育评价改革要求，紧扣重大主题，坚持素养评价、精神塑造、价值引领相</a:t>
            </a:r>
            <a:r>
              <a:rPr sz="2200" spc="-40" dirty="0">
                <a:latin typeface="SimSun"/>
                <a:cs typeface="SimSun"/>
              </a:rPr>
              <a:t>统一。</a:t>
            </a:r>
            <a:endParaRPr sz="2200" dirty="0">
              <a:latin typeface="SimSun"/>
              <a:cs typeface="SimSun"/>
            </a:endParaRPr>
          </a:p>
          <a:p>
            <a:pPr marL="372110" indent="-359410">
              <a:lnSpc>
                <a:spcPct val="100000"/>
              </a:lnSpc>
              <a:spcBef>
                <a:spcPts val="1730"/>
              </a:spcBef>
              <a:buFont typeface="Wingdings"/>
              <a:buChar char=""/>
              <a:tabLst>
                <a:tab pos="372110" algn="l"/>
              </a:tabLst>
            </a:pPr>
            <a:r>
              <a:rPr sz="2200" b="1" spc="-30" dirty="0">
                <a:latin typeface="Microsoft JhengHei"/>
                <a:cs typeface="Microsoft JhengHei"/>
              </a:rPr>
              <a:t>命题意图：</a:t>
            </a:r>
            <a:endParaRPr sz="2200" dirty="0">
              <a:latin typeface="Microsoft JhengHei"/>
              <a:cs typeface="Microsoft JhengHei"/>
            </a:endParaRPr>
          </a:p>
          <a:p>
            <a:pPr marL="12700" marR="5080" indent="558800">
              <a:lnSpc>
                <a:spcPct val="120000"/>
              </a:lnSpc>
              <a:spcBef>
                <a:spcPts val="1200"/>
              </a:spcBef>
            </a:pPr>
            <a:r>
              <a:rPr sz="2200" spc="-35" dirty="0">
                <a:latin typeface="SimSun"/>
                <a:cs typeface="SimSun"/>
              </a:rPr>
              <a:t>检测与评价、激励与发展。对高三学生的学习现状进行定量分析，为改进学科教学、复习备考提供参考。</a:t>
            </a:r>
            <a:endParaRPr sz="2200" dirty="0">
              <a:latin typeface="SimSun"/>
              <a:cs typeface="SimSun"/>
            </a:endParaRPr>
          </a:p>
          <a:p>
            <a:pPr marL="372110" indent="-359410">
              <a:lnSpc>
                <a:spcPct val="100000"/>
              </a:lnSpc>
              <a:spcBef>
                <a:spcPts val="1730"/>
              </a:spcBef>
              <a:buFont typeface="Wingdings"/>
              <a:buChar char=""/>
              <a:tabLst>
                <a:tab pos="372110" algn="l"/>
              </a:tabLst>
            </a:pPr>
            <a:r>
              <a:rPr sz="2200" b="1" spc="-20" dirty="0">
                <a:latin typeface="Microsoft JhengHei"/>
                <a:cs typeface="Microsoft JhengHei"/>
              </a:rPr>
              <a:t>命题依据：</a:t>
            </a:r>
            <a:r>
              <a:rPr sz="2200" spc="-35" dirty="0">
                <a:latin typeface="SimSun"/>
                <a:cs typeface="SimSun"/>
              </a:rPr>
              <a:t>课程标准，部编教材，相关文件要求。</a:t>
            </a:r>
            <a:endParaRPr sz="2200" dirty="0">
              <a:latin typeface="SimSun"/>
              <a:cs typeface="SimSu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838200" y="833247"/>
          <a:ext cx="10524487" cy="2226944"/>
        </p:xfrm>
        <a:graphic>
          <a:graphicData uri="http://schemas.openxmlformats.org/drawingml/2006/table">
            <a:tbl>
              <a:tblPr firstRow="1" bandRow="1">
                <a:tableStyleId>{2D5ABB26-0587-4C30-8999-92F81FD0307C}</a:tableStyleId>
              </a:tblPr>
              <a:tblGrid>
                <a:gridCol w="414655">
                  <a:extLst>
                    <a:ext uri="{9D8B030D-6E8A-4147-A177-3AD203B41FA5}">
                      <a16:colId xmlns:a16="http://schemas.microsoft.com/office/drawing/2014/main" val="20000"/>
                    </a:ext>
                  </a:extLst>
                </a:gridCol>
                <a:gridCol w="1588134">
                  <a:extLst>
                    <a:ext uri="{9D8B030D-6E8A-4147-A177-3AD203B41FA5}">
                      <a16:colId xmlns:a16="http://schemas.microsoft.com/office/drawing/2014/main" val="20001"/>
                    </a:ext>
                  </a:extLst>
                </a:gridCol>
                <a:gridCol w="1588135">
                  <a:extLst>
                    <a:ext uri="{9D8B030D-6E8A-4147-A177-3AD203B41FA5}">
                      <a16:colId xmlns:a16="http://schemas.microsoft.com/office/drawing/2014/main" val="20002"/>
                    </a:ext>
                  </a:extLst>
                </a:gridCol>
                <a:gridCol w="1588135">
                  <a:extLst>
                    <a:ext uri="{9D8B030D-6E8A-4147-A177-3AD203B41FA5}">
                      <a16:colId xmlns:a16="http://schemas.microsoft.com/office/drawing/2014/main" val="20003"/>
                    </a:ext>
                  </a:extLst>
                </a:gridCol>
                <a:gridCol w="1588135">
                  <a:extLst>
                    <a:ext uri="{9D8B030D-6E8A-4147-A177-3AD203B41FA5}">
                      <a16:colId xmlns:a16="http://schemas.microsoft.com/office/drawing/2014/main" val="20004"/>
                    </a:ext>
                  </a:extLst>
                </a:gridCol>
                <a:gridCol w="1588134">
                  <a:extLst>
                    <a:ext uri="{9D8B030D-6E8A-4147-A177-3AD203B41FA5}">
                      <a16:colId xmlns:a16="http://schemas.microsoft.com/office/drawing/2014/main" val="20005"/>
                    </a:ext>
                  </a:extLst>
                </a:gridCol>
                <a:gridCol w="1588134">
                  <a:extLst>
                    <a:ext uri="{9D8B030D-6E8A-4147-A177-3AD203B41FA5}">
                      <a16:colId xmlns:a16="http://schemas.microsoft.com/office/drawing/2014/main" val="20006"/>
                    </a:ext>
                  </a:extLst>
                </a:gridCol>
                <a:gridCol w="581025">
                  <a:extLst>
                    <a:ext uri="{9D8B030D-6E8A-4147-A177-3AD203B41FA5}">
                      <a16:colId xmlns:a16="http://schemas.microsoft.com/office/drawing/2014/main" val="20007"/>
                    </a:ext>
                  </a:extLst>
                </a:gridCol>
              </a:tblGrid>
              <a:tr h="424815">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B w="6350">
                      <a:solidFill>
                        <a:srgbClr val="D0CECE"/>
                      </a:solidFill>
                      <a:prstDash val="sysDash"/>
                    </a:lnB>
                    <a:solidFill>
                      <a:srgbClr val="FFFFFF"/>
                    </a:solidFill>
                  </a:tcPr>
                </a:tc>
                <a:tc rowSpan="2">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rowSpan="2">
                  <a:txBody>
                    <a:bodyPr/>
                    <a:lstStyle/>
                    <a:p>
                      <a:pPr marL="472440">
                        <a:lnSpc>
                          <a:spcPct val="100000"/>
                        </a:lnSpc>
                        <a:spcBef>
                          <a:spcPts val="2060"/>
                        </a:spcBef>
                      </a:pPr>
                      <a:r>
                        <a:rPr sz="2000" b="1" dirty="0">
                          <a:latin typeface="Microsoft JhengHei"/>
                          <a:cs typeface="Microsoft JhengHei"/>
                        </a:rPr>
                        <a:t>必修</a:t>
                      </a:r>
                      <a:r>
                        <a:rPr sz="2000" b="1" spc="-50" dirty="0">
                          <a:latin typeface="Times New Roman"/>
                          <a:cs typeface="Times New Roman"/>
                        </a:rPr>
                        <a:t>4</a:t>
                      </a:r>
                      <a:endParaRPr sz="2000">
                        <a:latin typeface="Times New Roman"/>
                        <a:cs typeface="Times New Roman"/>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rowSpan="2">
                  <a:txBody>
                    <a:bodyPr/>
                    <a:lstStyle/>
                    <a:p>
                      <a:pPr marL="92075">
                        <a:lnSpc>
                          <a:spcPct val="100000"/>
                        </a:lnSpc>
                        <a:spcBef>
                          <a:spcPts val="2060"/>
                        </a:spcBef>
                      </a:pPr>
                      <a:r>
                        <a:rPr sz="2000" b="1" dirty="0">
                          <a:latin typeface="Microsoft JhengHei"/>
                          <a:cs typeface="Microsoft JhengHei"/>
                        </a:rPr>
                        <a:t>选择性必修</a:t>
                      </a:r>
                      <a:r>
                        <a:rPr sz="2000" b="1" spc="-50" dirty="0">
                          <a:latin typeface="Times New Roman"/>
                          <a:cs typeface="Times New Roman"/>
                        </a:rPr>
                        <a:t>2</a:t>
                      </a:r>
                      <a:endParaRPr sz="2000">
                        <a:latin typeface="Times New Roman"/>
                        <a:cs typeface="Times New Roman"/>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rowSpan="2">
                  <a:txBody>
                    <a:bodyPr/>
                    <a:lstStyle/>
                    <a:p>
                      <a:pPr marL="92075">
                        <a:lnSpc>
                          <a:spcPct val="100000"/>
                        </a:lnSpc>
                        <a:spcBef>
                          <a:spcPts val="2060"/>
                        </a:spcBef>
                      </a:pPr>
                      <a:r>
                        <a:rPr sz="2000" b="1" dirty="0">
                          <a:latin typeface="Microsoft JhengHei"/>
                          <a:cs typeface="Microsoft JhengHei"/>
                        </a:rPr>
                        <a:t>选择性必修</a:t>
                      </a:r>
                      <a:r>
                        <a:rPr sz="2000" b="1" spc="-50" dirty="0">
                          <a:latin typeface="Times New Roman"/>
                          <a:cs typeface="Times New Roman"/>
                        </a:rPr>
                        <a:t>3</a:t>
                      </a:r>
                      <a:endParaRPr sz="2000">
                        <a:latin typeface="Times New Roman"/>
                        <a:cs typeface="Times New Roman"/>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rowSpan="2">
                  <a:txBody>
                    <a:bodyPr/>
                    <a:lstStyle/>
                    <a:p>
                      <a:pPr marL="1905" algn="ctr">
                        <a:lnSpc>
                          <a:spcPct val="100000"/>
                        </a:lnSpc>
                        <a:spcBef>
                          <a:spcPts val="2060"/>
                        </a:spcBef>
                      </a:pPr>
                      <a:r>
                        <a:rPr sz="2000" b="1" spc="-25" dirty="0">
                          <a:latin typeface="Microsoft JhengHei"/>
                          <a:cs typeface="Microsoft JhengHei"/>
                        </a:rPr>
                        <a:t>综合</a:t>
                      </a:r>
                      <a:endParaRPr sz="2000">
                        <a:latin typeface="Microsoft JhengHei"/>
                        <a:cs typeface="Microsoft JhengHei"/>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rowSpan="2">
                  <a:txBody>
                    <a:bodyPr/>
                    <a:lstStyle/>
                    <a:p>
                      <a:pPr marL="1905" algn="ctr">
                        <a:lnSpc>
                          <a:spcPct val="100000"/>
                        </a:lnSpc>
                        <a:spcBef>
                          <a:spcPts val="2060"/>
                        </a:spcBef>
                      </a:pPr>
                      <a:r>
                        <a:rPr sz="2000" b="1" spc="-25" dirty="0">
                          <a:latin typeface="Microsoft JhengHei"/>
                          <a:cs typeface="Microsoft JhengHei"/>
                        </a:rPr>
                        <a:t>合计</a:t>
                      </a:r>
                      <a:endParaRPr sz="2000">
                        <a:latin typeface="Microsoft JhengHei"/>
                        <a:cs typeface="Microsoft JhengHei"/>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B w="6350">
                      <a:solidFill>
                        <a:srgbClr val="D0CECE"/>
                      </a:solidFill>
                      <a:prstDash val="sysDash"/>
                    </a:lnB>
                    <a:solidFill>
                      <a:srgbClr val="FFFFFF"/>
                    </a:solidFill>
                  </a:tcPr>
                </a:tc>
                <a:extLst>
                  <a:ext uri="{0D108BD9-81ED-4DB2-BD59-A6C34878D82A}">
                    <a16:rowId xmlns:a16="http://schemas.microsoft.com/office/drawing/2014/main" val="10000"/>
                  </a:ext>
                </a:extLst>
              </a:tr>
              <a:tr h="413384">
                <a:tc rowSpan="3">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6350">
                      <a:solidFill>
                        <a:srgbClr val="D0CECE"/>
                      </a:solidFill>
                      <a:prstDash val="sysDash"/>
                    </a:lnT>
                    <a:solidFill>
                      <a:srgbClr val="FFFFFF"/>
                    </a:solidFill>
                  </a:tcPr>
                </a:tc>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vMerge="1">
                  <a:txBody>
                    <a:bodyPr/>
                    <a:lstStyle/>
                    <a:p>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vMerge="1">
                  <a:txBody>
                    <a:bodyPr/>
                    <a:lstStyle/>
                    <a:p>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vMerge="1">
                  <a:txBody>
                    <a:bodyPr/>
                    <a:lstStyle/>
                    <a:p>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vMerge="1">
                  <a:txBody>
                    <a:bodyPr/>
                    <a:lstStyle/>
                    <a:p>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vMerge="1">
                  <a:txBody>
                    <a:bodyPr/>
                    <a:lstStyle/>
                    <a:p>
                      <a:endParaRPr/>
                    </a:p>
                  </a:txBody>
                  <a:tcPr marL="0" marR="0" marT="261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rowSpan="3">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T w="6350">
                      <a:solidFill>
                        <a:srgbClr val="D0CECE"/>
                      </a:solidFill>
                      <a:prstDash val="sysDash"/>
                    </a:lnT>
                    <a:solidFill>
                      <a:srgbClr val="FFFFFF"/>
                    </a:solidFill>
                  </a:tcPr>
                </a:tc>
                <a:extLst>
                  <a:ext uri="{0D108BD9-81ED-4DB2-BD59-A6C34878D82A}">
                    <a16:rowId xmlns:a16="http://schemas.microsoft.com/office/drawing/2014/main" val="10001"/>
                  </a:ext>
                </a:extLst>
              </a:tr>
              <a:tr h="789305">
                <a:tc vMerge="1">
                  <a:txBody>
                    <a:bodyPr/>
                    <a:lstStyle/>
                    <a:p>
                      <a:endParaRPr/>
                    </a:p>
                  </a:txBody>
                  <a:tcPr marL="0" marR="0" marT="0" marB="0">
                    <a:lnR w="12700">
                      <a:solidFill>
                        <a:srgbClr val="000000"/>
                      </a:solidFill>
                      <a:prstDash val="solid"/>
                    </a:lnR>
                    <a:lnT w="6350">
                      <a:solidFill>
                        <a:srgbClr val="D0CECE"/>
                      </a:solidFill>
                      <a:prstDash val="sysDash"/>
                    </a:lnT>
                    <a:solidFill>
                      <a:srgbClr val="FFFFFF"/>
                    </a:solidFill>
                  </a:tcPr>
                </a:tc>
                <a:tc>
                  <a:txBody>
                    <a:bodyPr/>
                    <a:lstStyle/>
                    <a:p>
                      <a:pPr algn="ctr">
                        <a:lnSpc>
                          <a:spcPct val="100000"/>
                        </a:lnSpc>
                        <a:spcBef>
                          <a:spcPts val="1864"/>
                        </a:spcBef>
                      </a:pPr>
                      <a:r>
                        <a:rPr sz="2000" b="1" spc="-10" dirty="0">
                          <a:latin typeface="Microsoft JhengHei"/>
                          <a:cs typeface="Microsoft JhengHei"/>
                        </a:rPr>
                        <a:t>客观题题号</a:t>
                      </a:r>
                      <a:endParaRPr sz="2000">
                        <a:latin typeface="Microsoft JhengHei"/>
                        <a:cs typeface="Microsoft JhengHei"/>
                      </a:endParaRPr>
                    </a:p>
                  </a:txBody>
                  <a:tcPr marL="0" marR="0" marT="23685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8575">
                        <a:lnSpc>
                          <a:spcPts val="2390"/>
                        </a:lnSpc>
                        <a:spcBef>
                          <a:spcPts val="665"/>
                        </a:spcBef>
                      </a:pPr>
                      <a:r>
                        <a:rPr sz="2000" b="1" spc="-10" dirty="0">
                          <a:latin typeface="Times New Roman"/>
                          <a:cs typeface="Times New Roman"/>
                        </a:rPr>
                        <a:t>1</a:t>
                      </a:r>
                      <a:r>
                        <a:rPr sz="2000" b="1" dirty="0">
                          <a:latin typeface="Microsoft JhengHei"/>
                          <a:cs typeface="Microsoft JhengHei"/>
                        </a:rPr>
                        <a:t>、</a:t>
                      </a:r>
                      <a:r>
                        <a:rPr sz="2000" b="1" spc="-10" dirty="0">
                          <a:latin typeface="Times New Roman"/>
                          <a:cs typeface="Times New Roman"/>
                        </a:rPr>
                        <a:t>3</a:t>
                      </a:r>
                      <a:r>
                        <a:rPr sz="2000" b="1" dirty="0">
                          <a:latin typeface="Microsoft JhengHei"/>
                          <a:cs typeface="Microsoft JhengHei"/>
                        </a:rPr>
                        <a:t>、</a:t>
                      </a:r>
                      <a:r>
                        <a:rPr sz="2000" b="1" spc="-10" dirty="0">
                          <a:latin typeface="Times New Roman"/>
                          <a:cs typeface="Times New Roman"/>
                        </a:rPr>
                        <a:t>4</a:t>
                      </a:r>
                      <a:r>
                        <a:rPr sz="2000" b="1" dirty="0">
                          <a:latin typeface="Microsoft JhengHei"/>
                          <a:cs typeface="Microsoft JhengHei"/>
                        </a:rPr>
                        <a:t>、</a:t>
                      </a:r>
                      <a:r>
                        <a:rPr sz="2000" b="1" spc="-10" dirty="0">
                          <a:latin typeface="Times New Roman"/>
                          <a:cs typeface="Times New Roman"/>
                        </a:rPr>
                        <a:t>6</a:t>
                      </a:r>
                      <a:r>
                        <a:rPr sz="2000" b="1" spc="-50" dirty="0">
                          <a:latin typeface="Microsoft JhengHei"/>
                          <a:cs typeface="Microsoft JhengHei"/>
                        </a:rPr>
                        <a:t>、</a:t>
                      </a:r>
                      <a:endParaRPr sz="2000">
                        <a:latin typeface="Microsoft JhengHei"/>
                        <a:cs typeface="Microsoft JhengHei"/>
                      </a:endParaRPr>
                    </a:p>
                    <a:p>
                      <a:pPr marR="117475" algn="ctr">
                        <a:lnSpc>
                          <a:spcPts val="2390"/>
                        </a:lnSpc>
                      </a:pPr>
                      <a:r>
                        <a:rPr sz="2000" b="1" spc="-50" dirty="0">
                          <a:latin typeface="Times New Roman"/>
                          <a:cs typeface="Times New Roman"/>
                        </a:rPr>
                        <a:t>7</a:t>
                      </a:r>
                      <a:endParaRPr sz="2000">
                        <a:latin typeface="Times New Roman"/>
                        <a:cs typeface="Times New Roman"/>
                      </a:endParaRPr>
                    </a:p>
                  </a:txBody>
                  <a:tcPr marL="0" marR="0" marT="844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1270" algn="ctr">
                        <a:lnSpc>
                          <a:spcPct val="100000"/>
                        </a:lnSpc>
                        <a:spcBef>
                          <a:spcPts val="1839"/>
                        </a:spcBef>
                      </a:pPr>
                      <a:r>
                        <a:rPr sz="2000" b="1" dirty="0">
                          <a:latin typeface="Times New Roman"/>
                          <a:cs typeface="Times New Roman"/>
                        </a:rPr>
                        <a:t>9-</a:t>
                      </a:r>
                      <a:r>
                        <a:rPr sz="2000" b="1" spc="-25" dirty="0">
                          <a:latin typeface="Times New Roman"/>
                          <a:cs typeface="Times New Roman"/>
                        </a:rPr>
                        <a:t>15</a:t>
                      </a:r>
                      <a:endParaRPr sz="2000">
                        <a:latin typeface="Times New Roman"/>
                        <a:cs typeface="Times New Roman"/>
                      </a:endParaRPr>
                    </a:p>
                  </a:txBody>
                  <a:tcPr marL="0" marR="0" marT="2336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2540" algn="ctr">
                        <a:lnSpc>
                          <a:spcPct val="100000"/>
                        </a:lnSpc>
                        <a:spcBef>
                          <a:spcPts val="1864"/>
                        </a:spcBef>
                      </a:pPr>
                      <a:r>
                        <a:rPr sz="2000" b="1" dirty="0">
                          <a:latin typeface="Times New Roman"/>
                          <a:cs typeface="Times New Roman"/>
                        </a:rPr>
                        <a:t>2</a:t>
                      </a:r>
                      <a:r>
                        <a:rPr sz="2000" b="1" dirty="0">
                          <a:latin typeface="Microsoft JhengHei"/>
                          <a:cs typeface="Microsoft JhengHei"/>
                        </a:rPr>
                        <a:t>、</a:t>
                      </a:r>
                      <a:r>
                        <a:rPr sz="2000" b="1" dirty="0">
                          <a:latin typeface="Times New Roman"/>
                          <a:cs typeface="Times New Roman"/>
                        </a:rPr>
                        <a:t>5</a:t>
                      </a:r>
                      <a:r>
                        <a:rPr sz="2000" b="1" dirty="0">
                          <a:latin typeface="Microsoft JhengHei"/>
                          <a:cs typeface="Microsoft JhengHei"/>
                        </a:rPr>
                        <a:t>、</a:t>
                      </a:r>
                      <a:r>
                        <a:rPr sz="2000" b="1" spc="-50" dirty="0">
                          <a:latin typeface="Times New Roman"/>
                          <a:cs typeface="Times New Roman"/>
                        </a:rPr>
                        <a:t>8</a:t>
                      </a:r>
                      <a:endParaRPr sz="2000">
                        <a:latin typeface="Times New Roman"/>
                        <a:cs typeface="Times New Roman"/>
                      </a:endParaRPr>
                    </a:p>
                  </a:txBody>
                  <a:tcPr marL="0" marR="0" marT="23685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1905" algn="ctr">
                        <a:lnSpc>
                          <a:spcPct val="100000"/>
                        </a:lnSpc>
                        <a:spcBef>
                          <a:spcPts val="1839"/>
                        </a:spcBef>
                      </a:pPr>
                      <a:r>
                        <a:rPr sz="2000" b="1" dirty="0">
                          <a:latin typeface="Times New Roman"/>
                          <a:cs typeface="Times New Roman"/>
                        </a:rPr>
                        <a:t>1-</a:t>
                      </a:r>
                      <a:r>
                        <a:rPr sz="2000" b="1" spc="-25" dirty="0">
                          <a:latin typeface="Times New Roman"/>
                          <a:cs typeface="Times New Roman"/>
                        </a:rPr>
                        <a:t>15</a:t>
                      </a:r>
                      <a:endParaRPr sz="2000">
                        <a:latin typeface="Times New Roman"/>
                        <a:cs typeface="Times New Roman"/>
                      </a:endParaRPr>
                    </a:p>
                  </a:txBody>
                  <a:tcPr marL="0" marR="0" marT="2336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vMerge="1">
                  <a:txBody>
                    <a:bodyPr/>
                    <a:lstStyle/>
                    <a:p>
                      <a:endParaRPr/>
                    </a:p>
                  </a:txBody>
                  <a:tcPr marL="0" marR="0" marT="0" marB="0">
                    <a:lnL w="12700">
                      <a:solidFill>
                        <a:srgbClr val="000000"/>
                      </a:solidFill>
                      <a:prstDash val="solid"/>
                    </a:lnL>
                    <a:lnT w="6350">
                      <a:solidFill>
                        <a:srgbClr val="D0CECE"/>
                      </a:solidFill>
                      <a:prstDash val="sysDash"/>
                    </a:lnT>
                    <a:solidFill>
                      <a:srgbClr val="FFFFFF"/>
                    </a:solidFill>
                  </a:tcPr>
                </a:tc>
                <a:extLst>
                  <a:ext uri="{0D108BD9-81ED-4DB2-BD59-A6C34878D82A}">
                    <a16:rowId xmlns:a16="http://schemas.microsoft.com/office/drawing/2014/main" val="10002"/>
                  </a:ext>
                </a:extLst>
              </a:tr>
              <a:tr h="599440">
                <a:tc vMerge="1">
                  <a:txBody>
                    <a:bodyPr/>
                    <a:lstStyle/>
                    <a:p>
                      <a:endParaRPr/>
                    </a:p>
                  </a:txBody>
                  <a:tcPr marL="0" marR="0" marT="0" marB="0">
                    <a:lnR w="12700">
                      <a:solidFill>
                        <a:srgbClr val="000000"/>
                      </a:solidFill>
                      <a:prstDash val="solid"/>
                    </a:lnR>
                    <a:lnT w="6350">
                      <a:solidFill>
                        <a:srgbClr val="D0CECE"/>
                      </a:solidFill>
                      <a:prstDash val="sysDash"/>
                    </a:lnT>
                    <a:solidFill>
                      <a:srgbClr val="FFFFFF"/>
                    </a:solidFill>
                  </a:tcPr>
                </a:tc>
                <a:tc>
                  <a:txBody>
                    <a:bodyPr/>
                    <a:lstStyle/>
                    <a:p>
                      <a:pPr algn="ctr">
                        <a:lnSpc>
                          <a:spcPct val="100000"/>
                        </a:lnSpc>
                        <a:spcBef>
                          <a:spcPts val="1120"/>
                        </a:spcBef>
                      </a:pPr>
                      <a:r>
                        <a:rPr sz="2000" b="1" spc="-10" dirty="0">
                          <a:latin typeface="Microsoft JhengHei"/>
                          <a:cs typeface="Microsoft JhengHei"/>
                        </a:rPr>
                        <a:t>主观题题号</a:t>
                      </a:r>
                      <a:endParaRPr sz="2000">
                        <a:latin typeface="Microsoft JhengHei"/>
                        <a:cs typeface="Microsoft JhengHei"/>
                      </a:endParaRPr>
                    </a:p>
                  </a:txBody>
                  <a:tcPr marL="0" marR="0" marT="142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1440">
                        <a:lnSpc>
                          <a:spcPct val="100000"/>
                        </a:lnSpc>
                        <a:spcBef>
                          <a:spcPts val="1120"/>
                        </a:spcBef>
                      </a:pPr>
                      <a:r>
                        <a:rPr sz="2000" b="1" dirty="0">
                          <a:latin typeface="Times New Roman"/>
                          <a:cs typeface="Times New Roman"/>
                        </a:rPr>
                        <a:t>16</a:t>
                      </a:r>
                      <a:r>
                        <a:rPr sz="2000" b="1" dirty="0">
                          <a:latin typeface="Microsoft JhengHei"/>
                          <a:cs typeface="Microsoft JhengHei"/>
                        </a:rPr>
                        <a:t>、</a:t>
                      </a:r>
                      <a:r>
                        <a:rPr sz="2000" b="1" spc="-20" dirty="0">
                          <a:latin typeface="Times New Roman"/>
                          <a:cs typeface="Times New Roman"/>
                        </a:rPr>
                        <a:t>17</a:t>
                      </a:r>
                      <a:r>
                        <a:rPr sz="2000" b="1" spc="-20" dirty="0">
                          <a:latin typeface="Microsoft JhengHei"/>
                          <a:cs typeface="Microsoft JhengHei"/>
                        </a:rPr>
                        <a:t>（</a:t>
                      </a:r>
                      <a:r>
                        <a:rPr sz="2000" b="1" spc="-20" dirty="0">
                          <a:latin typeface="Times New Roman"/>
                          <a:cs typeface="Times New Roman"/>
                        </a:rPr>
                        <a:t>2</a:t>
                      </a:r>
                      <a:r>
                        <a:rPr sz="2000" b="1" spc="-20" dirty="0">
                          <a:latin typeface="Microsoft JhengHei"/>
                          <a:cs typeface="Microsoft JhengHei"/>
                        </a:rPr>
                        <a:t>）</a:t>
                      </a:r>
                      <a:endParaRPr sz="2000">
                        <a:latin typeface="Microsoft JhengHei"/>
                        <a:cs typeface="Microsoft JhengHei"/>
                      </a:endParaRPr>
                    </a:p>
                  </a:txBody>
                  <a:tcPr marL="0" marR="0" marT="142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1270" algn="ctr">
                        <a:lnSpc>
                          <a:spcPct val="100000"/>
                        </a:lnSpc>
                        <a:spcBef>
                          <a:spcPts val="1120"/>
                        </a:spcBef>
                      </a:pPr>
                      <a:r>
                        <a:rPr sz="2000" b="1" dirty="0">
                          <a:latin typeface="Times New Roman"/>
                          <a:cs typeface="Times New Roman"/>
                        </a:rPr>
                        <a:t>19</a:t>
                      </a:r>
                      <a:r>
                        <a:rPr sz="2000" b="1" dirty="0">
                          <a:latin typeface="Microsoft JhengHei"/>
                          <a:cs typeface="Microsoft JhengHei"/>
                        </a:rPr>
                        <a:t>、</a:t>
                      </a:r>
                      <a:r>
                        <a:rPr sz="2000" b="1" spc="-10" dirty="0">
                          <a:latin typeface="Times New Roman"/>
                          <a:cs typeface="Times New Roman"/>
                        </a:rPr>
                        <a:t>20</a:t>
                      </a:r>
                      <a:r>
                        <a:rPr sz="2000" b="1" dirty="0">
                          <a:latin typeface="Microsoft JhengHei"/>
                          <a:cs typeface="Microsoft JhengHei"/>
                        </a:rPr>
                        <a:t>、</a:t>
                      </a:r>
                      <a:r>
                        <a:rPr sz="2000" b="1" spc="-25" dirty="0">
                          <a:latin typeface="Times New Roman"/>
                          <a:cs typeface="Times New Roman"/>
                        </a:rPr>
                        <a:t>21</a:t>
                      </a:r>
                      <a:endParaRPr sz="2000">
                        <a:latin typeface="Times New Roman"/>
                        <a:cs typeface="Times New Roman"/>
                      </a:endParaRPr>
                    </a:p>
                  </a:txBody>
                  <a:tcPr marL="0" marR="0" marT="142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1905" algn="ctr">
                        <a:lnSpc>
                          <a:spcPct val="100000"/>
                        </a:lnSpc>
                        <a:spcBef>
                          <a:spcPts val="1120"/>
                        </a:spcBef>
                      </a:pPr>
                      <a:r>
                        <a:rPr sz="2000" b="1" dirty="0">
                          <a:latin typeface="Times New Roman"/>
                          <a:cs typeface="Times New Roman"/>
                        </a:rPr>
                        <a:t>17</a:t>
                      </a:r>
                      <a:r>
                        <a:rPr sz="2000" b="1" dirty="0">
                          <a:latin typeface="Microsoft JhengHei"/>
                          <a:cs typeface="Microsoft JhengHei"/>
                        </a:rPr>
                        <a:t>（</a:t>
                      </a:r>
                      <a:r>
                        <a:rPr sz="2000" b="1" dirty="0">
                          <a:latin typeface="Times New Roman"/>
                          <a:cs typeface="Times New Roman"/>
                        </a:rPr>
                        <a:t>1</a:t>
                      </a:r>
                      <a:r>
                        <a:rPr sz="2000" b="1" dirty="0">
                          <a:latin typeface="Microsoft JhengHei"/>
                          <a:cs typeface="Microsoft JhengHei"/>
                        </a:rPr>
                        <a:t>）、</a:t>
                      </a:r>
                      <a:r>
                        <a:rPr sz="2000" b="1" spc="-25" dirty="0">
                          <a:latin typeface="Times New Roman"/>
                          <a:cs typeface="Times New Roman"/>
                        </a:rPr>
                        <a:t>18</a:t>
                      </a:r>
                      <a:endParaRPr sz="2000">
                        <a:latin typeface="Times New Roman"/>
                        <a:cs typeface="Times New Roman"/>
                      </a:endParaRPr>
                    </a:p>
                  </a:txBody>
                  <a:tcPr marL="0" marR="0" marT="142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1905" algn="ctr">
                        <a:lnSpc>
                          <a:spcPct val="100000"/>
                        </a:lnSpc>
                        <a:spcBef>
                          <a:spcPts val="1095"/>
                        </a:spcBef>
                      </a:pPr>
                      <a:r>
                        <a:rPr sz="2000" b="1" spc="-25" dirty="0">
                          <a:latin typeface="Times New Roman"/>
                          <a:cs typeface="Times New Roman"/>
                        </a:rPr>
                        <a:t>22</a:t>
                      </a:r>
                      <a:endParaRPr sz="2000">
                        <a:latin typeface="Times New Roman"/>
                        <a:cs typeface="Times New Roman"/>
                      </a:endParaRPr>
                    </a:p>
                  </a:txBody>
                  <a:tcPr marL="0" marR="0" marT="1390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1905" algn="ctr">
                        <a:lnSpc>
                          <a:spcPct val="100000"/>
                        </a:lnSpc>
                        <a:spcBef>
                          <a:spcPts val="1095"/>
                        </a:spcBef>
                      </a:pPr>
                      <a:r>
                        <a:rPr sz="2000" b="1" dirty="0">
                          <a:latin typeface="Times New Roman"/>
                          <a:cs typeface="Times New Roman"/>
                        </a:rPr>
                        <a:t>16-</a:t>
                      </a:r>
                      <a:r>
                        <a:rPr sz="2000" b="1" spc="-25" dirty="0">
                          <a:latin typeface="Times New Roman"/>
                          <a:cs typeface="Times New Roman"/>
                        </a:rPr>
                        <a:t>22</a:t>
                      </a:r>
                      <a:endParaRPr sz="2000">
                        <a:latin typeface="Times New Roman"/>
                        <a:cs typeface="Times New Roman"/>
                      </a:endParaRPr>
                    </a:p>
                  </a:txBody>
                  <a:tcPr marL="0" marR="0" marT="1390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vMerge="1">
                  <a:txBody>
                    <a:bodyPr/>
                    <a:lstStyle/>
                    <a:p>
                      <a:endParaRPr/>
                    </a:p>
                  </a:txBody>
                  <a:tcPr marL="0" marR="0" marT="0" marB="0">
                    <a:lnL w="12700">
                      <a:solidFill>
                        <a:srgbClr val="000000"/>
                      </a:solidFill>
                      <a:prstDash val="solid"/>
                    </a:lnL>
                    <a:lnT w="6350">
                      <a:solidFill>
                        <a:srgbClr val="D0CECE"/>
                      </a:solidFill>
                      <a:prstDash val="sysDash"/>
                    </a:lnT>
                    <a:solidFill>
                      <a:srgbClr val="FFFFFF"/>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nvGraphicFramePr>
        <p:xfrm>
          <a:off x="1246377" y="3617340"/>
          <a:ext cx="9528808" cy="2227580"/>
        </p:xfrm>
        <a:graphic>
          <a:graphicData uri="http://schemas.openxmlformats.org/drawingml/2006/table">
            <a:tbl>
              <a:tblPr firstRow="1" bandRow="1">
                <a:tableStyleId>{2D5ABB26-0587-4C30-8999-92F81FD0307C}</a:tableStyleId>
              </a:tblPr>
              <a:tblGrid>
                <a:gridCol w="1588135">
                  <a:extLst>
                    <a:ext uri="{9D8B030D-6E8A-4147-A177-3AD203B41FA5}">
                      <a16:colId xmlns:a16="http://schemas.microsoft.com/office/drawing/2014/main" val="20000"/>
                    </a:ext>
                  </a:extLst>
                </a:gridCol>
                <a:gridCol w="1588135">
                  <a:extLst>
                    <a:ext uri="{9D8B030D-6E8A-4147-A177-3AD203B41FA5}">
                      <a16:colId xmlns:a16="http://schemas.microsoft.com/office/drawing/2014/main" val="20001"/>
                    </a:ext>
                  </a:extLst>
                </a:gridCol>
                <a:gridCol w="1588134">
                  <a:extLst>
                    <a:ext uri="{9D8B030D-6E8A-4147-A177-3AD203B41FA5}">
                      <a16:colId xmlns:a16="http://schemas.microsoft.com/office/drawing/2014/main" val="20002"/>
                    </a:ext>
                  </a:extLst>
                </a:gridCol>
                <a:gridCol w="1588135">
                  <a:extLst>
                    <a:ext uri="{9D8B030D-6E8A-4147-A177-3AD203B41FA5}">
                      <a16:colId xmlns:a16="http://schemas.microsoft.com/office/drawing/2014/main" val="20003"/>
                    </a:ext>
                  </a:extLst>
                </a:gridCol>
                <a:gridCol w="1588135">
                  <a:extLst>
                    <a:ext uri="{9D8B030D-6E8A-4147-A177-3AD203B41FA5}">
                      <a16:colId xmlns:a16="http://schemas.microsoft.com/office/drawing/2014/main" val="20004"/>
                    </a:ext>
                  </a:extLst>
                </a:gridCol>
                <a:gridCol w="1588134">
                  <a:extLst>
                    <a:ext uri="{9D8B030D-6E8A-4147-A177-3AD203B41FA5}">
                      <a16:colId xmlns:a16="http://schemas.microsoft.com/office/drawing/2014/main" val="20005"/>
                    </a:ext>
                  </a:extLst>
                </a:gridCol>
              </a:tblGrid>
              <a:tr h="537845">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a:txBody>
                    <a:bodyPr/>
                    <a:lstStyle/>
                    <a:p>
                      <a:pPr algn="ctr">
                        <a:lnSpc>
                          <a:spcPct val="100000"/>
                        </a:lnSpc>
                        <a:spcBef>
                          <a:spcPts val="880"/>
                        </a:spcBef>
                      </a:pPr>
                      <a:r>
                        <a:rPr sz="2000" b="1" dirty="0">
                          <a:latin typeface="Microsoft JhengHei"/>
                          <a:cs typeface="Microsoft JhengHei"/>
                        </a:rPr>
                        <a:t>必修</a:t>
                      </a:r>
                      <a:r>
                        <a:rPr sz="2000" b="1" spc="-50" dirty="0">
                          <a:latin typeface="Times New Roman"/>
                          <a:cs typeface="Times New Roman"/>
                        </a:rPr>
                        <a:t>4</a:t>
                      </a:r>
                      <a:endParaRPr sz="2000">
                        <a:latin typeface="Times New Roman"/>
                        <a:cs typeface="Times New Roman"/>
                      </a:endParaRPr>
                    </a:p>
                  </a:txBody>
                  <a:tcPr marL="0" marR="0" marT="1117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a:txBody>
                    <a:bodyPr/>
                    <a:lstStyle/>
                    <a:p>
                      <a:pPr marL="3175" algn="ctr">
                        <a:lnSpc>
                          <a:spcPct val="100000"/>
                        </a:lnSpc>
                        <a:spcBef>
                          <a:spcPts val="880"/>
                        </a:spcBef>
                      </a:pPr>
                      <a:r>
                        <a:rPr sz="2000" b="1" dirty="0">
                          <a:latin typeface="Microsoft JhengHei"/>
                          <a:cs typeface="Microsoft JhengHei"/>
                        </a:rPr>
                        <a:t>选择性必修</a:t>
                      </a:r>
                      <a:r>
                        <a:rPr sz="2000" b="1" spc="-50" dirty="0">
                          <a:latin typeface="Times New Roman"/>
                          <a:cs typeface="Times New Roman"/>
                        </a:rPr>
                        <a:t>2</a:t>
                      </a:r>
                      <a:endParaRPr sz="2000">
                        <a:latin typeface="Times New Roman"/>
                        <a:cs typeface="Times New Roman"/>
                      </a:endParaRPr>
                    </a:p>
                  </a:txBody>
                  <a:tcPr marL="0" marR="0" marT="1117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a:txBody>
                    <a:bodyPr/>
                    <a:lstStyle/>
                    <a:p>
                      <a:pPr marL="3810" algn="ctr">
                        <a:lnSpc>
                          <a:spcPct val="100000"/>
                        </a:lnSpc>
                        <a:spcBef>
                          <a:spcPts val="880"/>
                        </a:spcBef>
                      </a:pPr>
                      <a:r>
                        <a:rPr sz="2000" b="1" dirty="0">
                          <a:latin typeface="Microsoft JhengHei"/>
                          <a:cs typeface="Microsoft JhengHei"/>
                        </a:rPr>
                        <a:t>选择性必修</a:t>
                      </a:r>
                      <a:r>
                        <a:rPr sz="2000" b="1" spc="-50" dirty="0">
                          <a:latin typeface="Times New Roman"/>
                          <a:cs typeface="Times New Roman"/>
                        </a:rPr>
                        <a:t>3</a:t>
                      </a:r>
                      <a:endParaRPr sz="2000">
                        <a:latin typeface="Times New Roman"/>
                        <a:cs typeface="Times New Roman"/>
                      </a:endParaRPr>
                    </a:p>
                  </a:txBody>
                  <a:tcPr marL="0" marR="0" marT="1117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a:txBody>
                    <a:bodyPr/>
                    <a:lstStyle/>
                    <a:p>
                      <a:pPr marL="1905" algn="ctr">
                        <a:lnSpc>
                          <a:spcPct val="100000"/>
                        </a:lnSpc>
                        <a:spcBef>
                          <a:spcPts val="880"/>
                        </a:spcBef>
                      </a:pPr>
                      <a:r>
                        <a:rPr sz="2000" b="1" spc="-25" dirty="0">
                          <a:latin typeface="Microsoft JhengHei"/>
                          <a:cs typeface="Microsoft JhengHei"/>
                        </a:rPr>
                        <a:t>综合</a:t>
                      </a:r>
                      <a:endParaRPr sz="2000">
                        <a:latin typeface="Microsoft JhengHei"/>
                        <a:cs typeface="Microsoft JhengHei"/>
                      </a:endParaRPr>
                    </a:p>
                  </a:txBody>
                  <a:tcPr marL="0" marR="0" marT="1117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tc>
                  <a:txBody>
                    <a:bodyPr/>
                    <a:lstStyle/>
                    <a:p>
                      <a:pPr marL="1905" algn="ctr">
                        <a:lnSpc>
                          <a:spcPct val="100000"/>
                        </a:lnSpc>
                        <a:spcBef>
                          <a:spcPts val="880"/>
                        </a:spcBef>
                      </a:pPr>
                      <a:r>
                        <a:rPr sz="2000" b="1" spc="-25" dirty="0">
                          <a:latin typeface="Microsoft JhengHei"/>
                          <a:cs typeface="Microsoft JhengHei"/>
                        </a:rPr>
                        <a:t>合计</a:t>
                      </a:r>
                      <a:endParaRPr sz="2000">
                        <a:latin typeface="Microsoft JhengHei"/>
                        <a:cs typeface="Microsoft JhengHei"/>
                      </a:endParaRPr>
                    </a:p>
                  </a:txBody>
                  <a:tcPr marL="0" marR="0" marT="1117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E699"/>
                    </a:solidFill>
                  </a:tcPr>
                </a:tc>
                <a:extLst>
                  <a:ext uri="{0D108BD9-81ED-4DB2-BD59-A6C34878D82A}">
                    <a16:rowId xmlns:a16="http://schemas.microsoft.com/office/drawing/2014/main" val="10000"/>
                  </a:ext>
                </a:extLst>
              </a:tr>
              <a:tr h="581025">
                <a:tc>
                  <a:txBody>
                    <a:bodyPr/>
                    <a:lstStyle/>
                    <a:p>
                      <a:pPr algn="ctr">
                        <a:lnSpc>
                          <a:spcPct val="100000"/>
                        </a:lnSpc>
                        <a:spcBef>
                          <a:spcPts val="1050"/>
                        </a:spcBef>
                      </a:pPr>
                      <a:r>
                        <a:rPr sz="2000" b="1" spc="-10" dirty="0">
                          <a:latin typeface="Microsoft JhengHei"/>
                          <a:cs typeface="Microsoft JhengHei"/>
                        </a:rPr>
                        <a:t>客观题分值</a:t>
                      </a:r>
                      <a:endParaRPr sz="2000">
                        <a:latin typeface="Microsoft JhengHei"/>
                        <a:cs typeface="Microsoft JhengHei"/>
                      </a:endParaRPr>
                    </a:p>
                  </a:txBody>
                  <a:tcPr marL="0" marR="0" marT="133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025"/>
                        </a:spcBef>
                      </a:pPr>
                      <a:r>
                        <a:rPr sz="2000" b="1" spc="-25" dirty="0">
                          <a:latin typeface="Times New Roman"/>
                          <a:cs typeface="Times New Roman"/>
                        </a:rPr>
                        <a:t>15</a:t>
                      </a:r>
                      <a:endParaRPr sz="2000">
                        <a:latin typeface="Times New Roman"/>
                        <a:cs typeface="Times New Roman"/>
                      </a:endParaRPr>
                    </a:p>
                  </a:txBody>
                  <a:tcPr marL="0" marR="0" marT="130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1025"/>
                        </a:spcBef>
                      </a:pPr>
                      <a:r>
                        <a:rPr sz="2000" b="1" spc="-25" dirty="0">
                          <a:latin typeface="Times New Roman"/>
                          <a:cs typeface="Times New Roman"/>
                        </a:rPr>
                        <a:t>21</a:t>
                      </a:r>
                      <a:endParaRPr sz="2000">
                        <a:latin typeface="Times New Roman"/>
                        <a:cs typeface="Times New Roman"/>
                      </a:endParaRPr>
                    </a:p>
                  </a:txBody>
                  <a:tcPr marL="0" marR="0" marT="130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025"/>
                        </a:spcBef>
                      </a:pPr>
                      <a:r>
                        <a:rPr sz="2000" b="1" spc="-50" dirty="0">
                          <a:latin typeface="Times New Roman"/>
                          <a:cs typeface="Times New Roman"/>
                        </a:rPr>
                        <a:t>9</a:t>
                      </a:r>
                      <a:endParaRPr sz="2000">
                        <a:latin typeface="Times New Roman"/>
                        <a:cs typeface="Times New Roman"/>
                      </a:endParaRPr>
                    </a:p>
                  </a:txBody>
                  <a:tcPr marL="0" marR="0" marT="130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025"/>
                        </a:spcBef>
                      </a:pPr>
                      <a:r>
                        <a:rPr sz="2000" b="1" spc="-25" dirty="0">
                          <a:latin typeface="Times New Roman"/>
                          <a:cs typeface="Times New Roman"/>
                        </a:rPr>
                        <a:t>45</a:t>
                      </a:r>
                      <a:endParaRPr sz="2000">
                        <a:latin typeface="Times New Roman"/>
                        <a:cs typeface="Times New Roman"/>
                      </a:endParaRPr>
                    </a:p>
                  </a:txBody>
                  <a:tcPr marL="0" marR="0" marT="130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54355">
                <a:tc>
                  <a:txBody>
                    <a:bodyPr/>
                    <a:lstStyle/>
                    <a:p>
                      <a:pPr algn="ctr">
                        <a:lnSpc>
                          <a:spcPct val="100000"/>
                        </a:lnSpc>
                        <a:spcBef>
                          <a:spcPts val="950"/>
                        </a:spcBef>
                      </a:pPr>
                      <a:r>
                        <a:rPr sz="2000" b="1" spc="-10" dirty="0">
                          <a:latin typeface="Microsoft JhengHei"/>
                          <a:cs typeface="Microsoft JhengHei"/>
                        </a:rPr>
                        <a:t>主观题分值</a:t>
                      </a:r>
                      <a:endParaRPr sz="2000">
                        <a:latin typeface="Microsoft JhengHei"/>
                        <a:cs typeface="Microsoft JhengHei"/>
                      </a:endParaRPr>
                    </a:p>
                  </a:txBody>
                  <a:tcPr marL="0" marR="0" marT="1206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925"/>
                        </a:spcBef>
                      </a:pPr>
                      <a:r>
                        <a:rPr sz="2000" b="1" spc="-25" dirty="0">
                          <a:latin typeface="Times New Roman"/>
                          <a:cs typeface="Times New Roman"/>
                        </a:rPr>
                        <a:t>16</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925"/>
                        </a:spcBef>
                      </a:pPr>
                      <a:r>
                        <a:rPr sz="2000" b="1" spc="-25" dirty="0">
                          <a:latin typeface="Times New Roman"/>
                          <a:cs typeface="Times New Roman"/>
                        </a:rPr>
                        <a:t>20</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925"/>
                        </a:spcBef>
                      </a:pPr>
                      <a:r>
                        <a:rPr sz="2000" b="1" spc="-25" dirty="0">
                          <a:latin typeface="Times New Roman"/>
                          <a:cs typeface="Times New Roman"/>
                        </a:rPr>
                        <a:t>10</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925"/>
                        </a:spcBef>
                      </a:pPr>
                      <a:r>
                        <a:rPr sz="2000" b="1" spc="-50" dirty="0">
                          <a:latin typeface="Times New Roman"/>
                          <a:cs typeface="Times New Roman"/>
                        </a:rPr>
                        <a:t>9</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925"/>
                        </a:spcBef>
                      </a:pPr>
                      <a:r>
                        <a:rPr sz="2000" b="1" spc="-25" dirty="0">
                          <a:latin typeface="Times New Roman"/>
                          <a:cs typeface="Times New Roman"/>
                        </a:rPr>
                        <a:t>55</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54355">
                <a:tc>
                  <a:txBody>
                    <a:bodyPr/>
                    <a:lstStyle/>
                    <a:p>
                      <a:pPr algn="ctr">
                        <a:lnSpc>
                          <a:spcPct val="100000"/>
                        </a:lnSpc>
                        <a:spcBef>
                          <a:spcPts val="950"/>
                        </a:spcBef>
                      </a:pPr>
                      <a:r>
                        <a:rPr sz="2000" b="1" spc="-25" dirty="0">
                          <a:latin typeface="Microsoft JhengHei"/>
                          <a:cs typeface="Microsoft JhengHei"/>
                        </a:rPr>
                        <a:t>合计</a:t>
                      </a:r>
                      <a:endParaRPr sz="2000">
                        <a:latin typeface="Microsoft JhengHei"/>
                        <a:cs typeface="Microsoft JhengHei"/>
                      </a:endParaRPr>
                    </a:p>
                  </a:txBody>
                  <a:tcPr marL="0" marR="0" marT="1206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925"/>
                        </a:spcBef>
                      </a:pPr>
                      <a:r>
                        <a:rPr sz="2000" b="1" spc="-25" dirty="0">
                          <a:latin typeface="Times New Roman"/>
                          <a:cs typeface="Times New Roman"/>
                        </a:rPr>
                        <a:t>31</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925"/>
                        </a:spcBef>
                      </a:pPr>
                      <a:r>
                        <a:rPr sz="2000" b="1" spc="-25" dirty="0">
                          <a:latin typeface="Times New Roman"/>
                          <a:cs typeface="Times New Roman"/>
                        </a:rPr>
                        <a:t>41</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925"/>
                        </a:spcBef>
                      </a:pPr>
                      <a:r>
                        <a:rPr sz="2000" b="1" spc="-25" dirty="0">
                          <a:latin typeface="Times New Roman"/>
                          <a:cs typeface="Times New Roman"/>
                        </a:rPr>
                        <a:t>19</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925"/>
                        </a:spcBef>
                      </a:pPr>
                      <a:r>
                        <a:rPr sz="2000" b="1" spc="-50" dirty="0">
                          <a:latin typeface="Times New Roman"/>
                          <a:cs typeface="Times New Roman"/>
                        </a:rPr>
                        <a:t>9</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925"/>
                        </a:spcBef>
                      </a:pPr>
                      <a:r>
                        <a:rPr sz="2000" b="1" spc="-25" dirty="0">
                          <a:latin typeface="Times New Roman"/>
                          <a:cs typeface="Times New Roman"/>
                        </a:rPr>
                        <a:t>100</a:t>
                      </a:r>
                      <a:endParaRPr sz="2000">
                        <a:latin typeface="Times New Roman"/>
                        <a:cs typeface="Times New Roman"/>
                      </a:endParaRPr>
                    </a:p>
                  </a:txBody>
                  <a:tcPr marL="0" marR="0" marT="1174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sp>
          <p:nvSpPr>
            <p:cNvPr id="7" name="object 7"/>
            <p:cNvSpPr/>
            <p:nvPr/>
          </p:nvSpPr>
          <p:spPr>
            <a:xfrm>
              <a:off x="838200" y="1264792"/>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grpSp>
      <p:pic>
        <p:nvPicPr>
          <p:cNvPr id="8" name="object 8"/>
          <p:cNvPicPr/>
          <p:nvPr/>
        </p:nvPicPr>
        <p:blipFill>
          <a:blip r:embed="rId4" cstate="print"/>
          <a:stretch>
            <a:fillRect/>
          </a:stretch>
        </p:blipFill>
        <p:spPr>
          <a:xfrm>
            <a:off x="763549" y="1424177"/>
            <a:ext cx="10585704" cy="31414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sp>
          <p:nvSpPr>
            <p:cNvPr id="7" name="object 7"/>
            <p:cNvSpPr/>
            <p:nvPr/>
          </p:nvSpPr>
          <p:spPr>
            <a:xfrm>
              <a:off x="838200" y="1264792"/>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grpSp>
      <p:pic>
        <p:nvPicPr>
          <p:cNvPr id="8" name="object 8"/>
          <p:cNvPicPr/>
          <p:nvPr/>
        </p:nvPicPr>
        <p:blipFill>
          <a:blip r:embed="rId4" cstate="print"/>
          <a:stretch>
            <a:fillRect/>
          </a:stretch>
        </p:blipFill>
        <p:spPr>
          <a:xfrm>
            <a:off x="724903" y="1305305"/>
            <a:ext cx="10798810" cy="34433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sp>
          <p:nvSpPr>
            <p:cNvPr id="7" name="object 7"/>
            <p:cNvSpPr/>
            <p:nvPr/>
          </p:nvSpPr>
          <p:spPr>
            <a:xfrm>
              <a:off x="838200" y="1264792"/>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grpSp>
      <p:pic>
        <p:nvPicPr>
          <p:cNvPr id="8" name="object 8"/>
          <p:cNvPicPr/>
          <p:nvPr/>
        </p:nvPicPr>
        <p:blipFill>
          <a:blip r:embed="rId4" cstate="print"/>
          <a:stretch>
            <a:fillRect/>
          </a:stretch>
        </p:blipFill>
        <p:spPr>
          <a:xfrm>
            <a:off x="912494" y="864361"/>
            <a:ext cx="10367010" cy="39789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sp>
          <p:nvSpPr>
            <p:cNvPr id="7" name="object 7"/>
            <p:cNvSpPr/>
            <p:nvPr/>
          </p:nvSpPr>
          <p:spPr>
            <a:xfrm>
              <a:off x="838200" y="1264792"/>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grpSp>
      <p:pic>
        <p:nvPicPr>
          <p:cNvPr id="8" name="object 8"/>
          <p:cNvPicPr/>
          <p:nvPr/>
        </p:nvPicPr>
        <p:blipFill>
          <a:blip r:embed="rId4" cstate="print"/>
          <a:stretch>
            <a:fillRect/>
          </a:stretch>
        </p:blipFill>
        <p:spPr>
          <a:xfrm>
            <a:off x="1385061" y="1102994"/>
            <a:ext cx="9421876" cy="3728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sp>
          <p:nvSpPr>
            <p:cNvPr id="7" name="object 7"/>
            <p:cNvSpPr/>
            <p:nvPr/>
          </p:nvSpPr>
          <p:spPr>
            <a:xfrm>
              <a:off x="838200" y="1264792"/>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pic>
          <p:nvPicPr>
            <p:cNvPr id="8" name="object 8"/>
            <p:cNvPicPr/>
            <p:nvPr/>
          </p:nvPicPr>
          <p:blipFill>
            <a:blip r:embed="rId4" cstate="print"/>
            <a:stretch>
              <a:fillRect/>
            </a:stretch>
          </p:blipFill>
          <p:spPr>
            <a:xfrm>
              <a:off x="780211" y="903477"/>
              <a:ext cx="10631551" cy="3866007"/>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3400" y="76200"/>
            <a:ext cx="6477000" cy="6291466"/>
          </a:xfrm>
          <a:prstGeom prst="rect">
            <a:avLst/>
          </a:prstGeom>
        </p:spPr>
        <p:txBody>
          <a:bodyPr vert="horz" wrap="square" lIns="0" tIns="12700" rIns="0" bIns="0" rtlCol="0">
            <a:spAutoFit/>
          </a:bodyPr>
          <a:lstStyle/>
          <a:p>
            <a:pPr marL="12700">
              <a:lnSpc>
                <a:spcPts val="2850"/>
              </a:lnSpc>
              <a:spcBef>
                <a:spcPts val="100"/>
              </a:spcBef>
            </a:pPr>
            <a:r>
              <a:rPr sz="2400" spc="-10" dirty="0">
                <a:latin typeface="Times New Roman"/>
                <a:cs typeface="Times New Roman"/>
              </a:rPr>
              <a:t>16.</a:t>
            </a:r>
            <a:r>
              <a:rPr sz="2400" spc="-10" dirty="0">
                <a:latin typeface="SimSun"/>
                <a:cs typeface="SimSun"/>
              </a:rPr>
              <a:t>（</a:t>
            </a:r>
            <a:r>
              <a:rPr sz="2400" spc="-10" dirty="0">
                <a:latin typeface="Times New Roman"/>
                <a:cs typeface="Times New Roman"/>
              </a:rPr>
              <a:t>8</a:t>
            </a:r>
            <a:r>
              <a:rPr sz="2400" dirty="0">
                <a:latin typeface="SimSun"/>
                <a:cs typeface="SimSun"/>
              </a:rPr>
              <a:t>分）</a:t>
            </a:r>
            <a:r>
              <a:rPr sz="2400" spc="-5" dirty="0">
                <a:latin typeface="SimSun"/>
                <a:cs typeface="SimSun"/>
              </a:rPr>
              <a:t>守正不守旧，尊古不复古。</a:t>
            </a:r>
            <a:endParaRPr sz="2400" dirty="0">
              <a:latin typeface="SimSun"/>
              <a:cs typeface="SimSun"/>
            </a:endParaRPr>
          </a:p>
          <a:p>
            <a:pPr marL="12700" marR="233679" indent="761365">
              <a:lnSpc>
                <a:spcPts val="2880"/>
              </a:lnSpc>
              <a:spcBef>
                <a:spcPts val="65"/>
              </a:spcBef>
            </a:pPr>
            <a:r>
              <a:rPr sz="2400" spc="-5" dirty="0">
                <a:latin typeface="SimSun"/>
                <a:cs typeface="SimSun"/>
              </a:rPr>
              <a:t>作为中华文明的重要组成部分，中医药是我们观察中华文明的一个生</a:t>
            </a:r>
            <a:r>
              <a:rPr sz="2400" spc="-20" dirty="0">
                <a:latin typeface="SimSun"/>
                <a:cs typeface="SimSun"/>
              </a:rPr>
              <a:t>动视角。</a:t>
            </a:r>
            <a:endParaRPr sz="2400" dirty="0">
              <a:latin typeface="SimSun"/>
              <a:cs typeface="SimSun"/>
            </a:endParaRPr>
          </a:p>
          <a:p>
            <a:pPr marL="12700" marR="80645" indent="608965" algn="just">
              <a:lnSpc>
                <a:spcPts val="2880"/>
              </a:lnSpc>
            </a:pPr>
            <a:r>
              <a:rPr sz="2400" spc="-5" dirty="0">
                <a:latin typeface="SimSun"/>
                <a:cs typeface="SimSun"/>
              </a:rPr>
              <a:t>“药食同源”是中医药文化的重要理念。它主张食物与药物之间并无绝对界限，很多食材既可以入药也可以作为日常饮食的一部分。近年来，结合中药元素的烘焙产品悄然兴起，成为中医药新时尚。</a:t>
            </a:r>
            <a:endParaRPr sz="2400" dirty="0">
              <a:latin typeface="SimSun"/>
              <a:cs typeface="SimSun"/>
            </a:endParaRPr>
          </a:p>
          <a:p>
            <a:pPr marL="12700" indent="685165">
              <a:lnSpc>
                <a:spcPts val="2785"/>
              </a:lnSpc>
            </a:pPr>
            <a:r>
              <a:rPr sz="2400" spc="-15" dirty="0">
                <a:latin typeface="SimSun"/>
                <a:cs typeface="SimSun"/>
              </a:rPr>
              <a:t>北京某老字号品牌针对经常熬夜的人群，推出石斛曲奇、彩椒恰巴塔等</a:t>
            </a:r>
            <a:r>
              <a:rPr sz="2400" spc="-5" dirty="0">
                <a:latin typeface="SimSun"/>
                <a:cs typeface="SimSun"/>
              </a:rPr>
              <a:t>招牌食品；天津某医院的烘焙店提供荷叶消暑包、当归罗汉果吐司等多款养生系列面包；河南郑州某药房旗下的烘焙馆以青稞零蔗糖面包、黑枸杞板栗</a:t>
            </a:r>
            <a:r>
              <a:rPr sz="2400" spc="-15" dirty="0">
                <a:latin typeface="SimSun"/>
                <a:cs typeface="SimSun"/>
              </a:rPr>
              <a:t>面包等产品吸引大批顾客。此外，浙江杭州、广东深圳、山东济南、福建漳</a:t>
            </a:r>
            <a:r>
              <a:rPr sz="2400" spc="-5" dirty="0">
                <a:latin typeface="SimSun"/>
                <a:cs typeface="SimSun"/>
              </a:rPr>
              <a:t>州等地也开设了中药面包店。</a:t>
            </a:r>
            <a:endParaRPr sz="2400" dirty="0">
              <a:latin typeface="SimSun"/>
              <a:cs typeface="SimSun"/>
            </a:endParaRPr>
          </a:p>
          <a:p>
            <a:pPr marL="12700" marR="27940" indent="615315">
              <a:lnSpc>
                <a:spcPct val="100000"/>
              </a:lnSpc>
              <a:spcBef>
                <a:spcPts val="265"/>
              </a:spcBef>
            </a:pPr>
            <a:r>
              <a:rPr sz="2400" spc="-5" dirty="0">
                <a:solidFill>
                  <a:srgbClr val="7030A0"/>
                </a:solidFill>
                <a:latin typeface="SimSun"/>
                <a:cs typeface="SimSun"/>
              </a:rPr>
              <a:t>结合材料</a:t>
            </a:r>
            <a:r>
              <a:rPr sz="2400" spc="-5" dirty="0">
                <a:latin typeface="SimSun"/>
                <a:cs typeface="SimSun"/>
              </a:rPr>
              <a:t>，</a:t>
            </a:r>
            <a:r>
              <a:rPr sz="2400" b="1" spc="-5" dirty="0">
                <a:solidFill>
                  <a:srgbClr val="0070C0"/>
                </a:solidFill>
                <a:latin typeface="SimSun"/>
                <a:cs typeface="SimSun"/>
              </a:rPr>
              <a:t>运用《哲学与文化》知识</a:t>
            </a:r>
            <a:r>
              <a:rPr sz="2400" spc="-5" dirty="0">
                <a:latin typeface="SimSun"/>
                <a:cs typeface="SimSun"/>
              </a:rPr>
              <a:t>，谈谈我们是</a:t>
            </a:r>
            <a:r>
              <a:rPr sz="2400" spc="-5" dirty="0">
                <a:solidFill>
                  <a:srgbClr val="FF0000"/>
                </a:solidFill>
                <a:latin typeface="SimSun"/>
                <a:cs typeface="SimSun"/>
              </a:rPr>
              <a:t>如何打造中医药新时</a:t>
            </a:r>
            <a:r>
              <a:rPr sz="2400" spc="-20" dirty="0">
                <a:solidFill>
                  <a:srgbClr val="FF0000"/>
                </a:solidFill>
                <a:latin typeface="SimSun"/>
                <a:cs typeface="SimSun"/>
              </a:rPr>
              <a:t>尚的</a:t>
            </a:r>
            <a:r>
              <a:rPr sz="2400" spc="-20" dirty="0">
                <a:latin typeface="SimSun"/>
                <a:cs typeface="SimSun"/>
              </a:rPr>
              <a:t>。</a:t>
            </a:r>
            <a:endParaRPr sz="2400" dirty="0">
              <a:latin typeface="SimSun"/>
              <a:cs typeface="SimSun"/>
            </a:endParaRPr>
          </a:p>
        </p:txBody>
      </p:sp>
      <p:cxnSp>
        <p:nvCxnSpPr>
          <p:cNvPr id="4" name="直接连接符 3"/>
          <p:cNvCxnSpPr/>
          <p:nvPr/>
        </p:nvCxnSpPr>
        <p:spPr>
          <a:xfrm>
            <a:off x="1981200" y="457200"/>
            <a:ext cx="33528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1371600" y="1524000"/>
            <a:ext cx="48768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768626" y="2667000"/>
            <a:ext cx="60893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1133061" y="3429000"/>
            <a:ext cx="5724939" cy="2312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7086600" y="152400"/>
            <a:ext cx="4800600" cy="1477328"/>
          </a:xfrm>
          <a:prstGeom prst="rect">
            <a:avLst/>
          </a:prstGeom>
          <a:ln w="38100">
            <a:solidFill>
              <a:schemeClr val="tx1"/>
            </a:solidFill>
          </a:ln>
        </p:spPr>
        <p:txBody>
          <a:bodyPr wrap="square">
            <a:spAutoFit/>
          </a:bodyPr>
          <a:lstStyle/>
          <a:p>
            <a:r>
              <a:rPr lang="zh-CN" altLang="en-US" dirty="0"/>
              <a:t>坚持辩证否定，推动创新</a:t>
            </a:r>
            <a:endParaRPr lang="en-US" altLang="zh-CN" dirty="0"/>
          </a:p>
          <a:p>
            <a:r>
              <a:rPr lang="zh-CN" altLang="en-US" dirty="0"/>
              <a:t>中华优秀传统文化的创造性转化和创新性发展</a:t>
            </a:r>
            <a:endParaRPr lang="en-US" altLang="zh-CN" dirty="0"/>
          </a:p>
          <a:p>
            <a:r>
              <a:rPr lang="en-US" altLang="zh-CN" dirty="0"/>
              <a:t>/</a:t>
            </a:r>
            <a:r>
              <a:rPr lang="zh-CN" altLang="en-US" dirty="0"/>
              <a:t>传统文化取其精华，去其糟粕</a:t>
            </a:r>
            <a:r>
              <a:rPr lang="en-US" altLang="zh-CN" dirty="0"/>
              <a:t>/</a:t>
            </a:r>
            <a:r>
              <a:rPr lang="zh-CN" altLang="en-US" dirty="0"/>
              <a:t>批判继承，古为今用</a:t>
            </a:r>
          </a:p>
          <a:p>
            <a:endParaRPr lang="zh-CN" altLang="en-US" dirty="0"/>
          </a:p>
        </p:txBody>
      </p:sp>
      <p:sp>
        <p:nvSpPr>
          <p:cNvPr id="17" name="矩形 16"/>
          <p:cNvSpPr/>
          <p:nvPr/>
        </p:nvSpPr>
        <p:spPr>
          <a:xfrm>
            <a:off x="7182749" y="1676400"/>
            <a:ext cx="4856851" cy="1302921"/>
          </a:xfrm>
          <a:prstGeom prst="rect">
            <a:avLst/>
          </a:prstGeom>
          <a:ln w="28575">
            <a:solidFill>
              <a:schemeClr val="tx1"/>
            </a:solidFill>
          </a:ln>
        </p:spPr>
        <p:txBody>
          <a:bodyPr wrap="square">
            <a:spAutoFit/>
          </a:bodyPr>
          <a:lstStyle/>
          <a:p>
            <a:pPr marL="434975" marR="324485" indent="-342900">
              <a:lnSpc>
                <a:spcPct val="100000"/>
              </a:lnSpc>
              <a:spcBef>
                <a:spcPts val="425"/>
              </a:spcBef>
              <a:buFont typeface="Wingdings"/>
              <a:buChar char=""/>
              <a:tabLst>
                <a:tab pos="434975" algn="l"/>
              </a:tabLst>
            </a:pPr>
            <a:r>
              <a:rPr lang="zh-CN" altLang="en-US" sz="1800" b="1" spc="-20" dirty="0">
                <a:latin typeface="SimSun"/>
                <a:cs typeface="SimSun"/>
              </a:rPr>
              <a:t>坚持联系观点</a:t>
            </a:r>
            <a:r>
              <a:rPr lang="en-US" altLang="zh-CN" sz="1800" b="1" spc="-20" dirty="0">
                <a:latin typeface="SimSun"/>
                <a:cs typeface="SimSun"/>
              </a:rPr>
              <a:t>/</a:t>
            </a:r>
            <a:r>
              <a:rPr lang="zh-CN" altLang="en-US" sz="1800" b="1" spc="-20" dirty="0">
                <a:latin typeface="SimSun"/>
                <a:cs typeface="SimSun"/>
              </a:rPr>
              <a:t>根据固有联系建立新的</a:t>
            </a:r>
            <a:r>
              <a:rPr lang="zh-CN" altLang="en-US" sz="1800" b="1" spc="-25" dirty="0">
                <a:latin typeface="SimSun"/>
                <a:cs typeface="SimSun"/>
              </a:rPr>
              <a:t>联系</a:t>
            </a:r>
            <a:endParaRPr lang="en-US" altLang="zh-CN" sz="1800" b="1" spc="-25" dirty="0">
              <a:latin typeface="SimSun"/>
              <a:cs typeface="SimSun"/>
            </a:endParaRPr>
          </a:p>
          <a:p>
            <a:pPr marL="434975" marR="324485" indent="-342900">
              <a:lnSpc>
                <a:spcPct val="100000"/>
              </a:lnSpc>
              <a:spcBef>
                <a:spcPts val="425"/>
              </a:spcBef>
              <a:buFont typeface="Wingdings"/>
              <a:buChar char=""/>
              <a:tabLst>
                <a:tab pos="434975" algn="l"/>
              </a:tabLst>
            </a:pPr>
            <a:r>
              <a:rPr lang="zh-CN" altLang="en-US" sz="1800" b="1" dirty="0">
                <a:latin typeface="SimSun"/>
                <a:cs typeface="SimSun"/>
              </a:rPr>
              <a:t>坚持客观规律和发挥主观能动性相结合</a:t>
            </a:r>
            <a:endParaRPr lang="en-US" altLang="zh-CN" sz="1800" b="1" dirty="0">
              <a:latin typeface="SimSun"/>
              <a:cs typeface="SimSun"/>
            </a:endParaRPr>
          </a:p>
          <a:p>
            <a:pPr marL="434975" marR="324485" indent="-342900">
              <a:lnSpc>
                <a:spcPct val="100000"/>
              </a:lnSpc>
              <a:spcBef>
                <a:spcPts val="425"/>
              </a:spcBef>
              <a:buFont typeface="Wingdings"/>
              <a:buChar char=""/>
              <a:tabLst>
                <a:tab pos="434975" algn="l"/>
              </a:tabLst>
            </a:pPr>
            <a:r>
              <a:rPr lang="zh-CN" altLang="en-US" sz="1800" b="1" dirty="0">
                <a:latin typeface="SimSun"/>
                <a:cs typeface="SimSun"/>
              </a:rPr>
              <a:t>融通不同资源，实现了综合创新</a:t>
            </a:r>
            <a:endParaRPr lang="en-US" altLang="zh-CN" sz="1800" b="1" dirty="0">
              <a:latin typeface="SimSun"/>
              <a:cs typeface="SimSun"/>
            </a:endParaRPr>
          </a:p>
        </p:txBody>
      </p:sp>
      <p:sp>
        <p:nvSpPr>
          <p:cNvPr id="18" name="矩形 17"/>
          <p:cNvSpPr/>
          <p:nvPr/>
        </p:nvSpPr>
        <p:spPr>
          <a:xfrm>
            <a:off x="7123079" y="3381967"/>
            <a:ext cx="4876800" cy="1200329"/>
          </a:xfrm>
          <a:prstGeom prst="rect">
            <a:avLst/>
          </a:prstGeom>
          <a:ln w="38100">
            <a:solidFill>
              <a:schemeClr val="tx1"/>
            </a:solidFill>
          </a:ln>
        </p:spPr>
        <p:txBody>
          <a:bodyPr wrap="square">
            <a:spAutoFit/>
          </a:bodyPr>
          <a:lstStyle/>
          <a:p>
            <a:pPr marL="434975" marR="323850" indent="-342900">
              <a:lnSpc>
                <a:spcPct val="100000"/>
              </a:lnSpc>
              <a:buFont typeface="Wingdings"/>
              <a:buChar char=""/>
              <a:tabLst>
                <a:tab pos="434975" algn="l"/>
              </a:tabLst>
            </a:pPr>
            <a:r>
              <a:rPr lang="zh-CN" altLang="en-US" sz="1800" b="1" spc="-20" dirty="0">
                <a:latin typeface="SimSun"/>
                <a:cs typeface="SimSun"/>
              </a:rPr>
              <a:t>坚持具体问题具体分析</a:t>
            </a:r>
            <a:r>
              <a:rPr lang="en-US" altLang="zh-CN" sz="1800" b="1" spc="-20" dirty="0">
                <a:latin typeface="SimSun"/>
                <a:cs typeface="SimSun"/>
              </a:rPr>
              <a:t>/</a:t>
            </a:r>
            <a:r>
              <a:rPr lang="zh-CN" altLang="en-US" sz="1800" b="1" spc="-20" dirty="0">
                <a:latin typeface="SimSun"/>
                <a:cs typeface="SimSun"/>
              </a:rPr>
              <a:t>坚持矛盾普遍</a:t>
            </a:r>
            <a:r>
              <a:rPr lang="zh-CN" altLang="en-US" sz="1800" b="1" spc="-5" dirty="0">
                <a:latin typeface="SimSun"/>
                <a:cs typeface="SimSun"/>
              </a:rPr>
              <a:t>性和特殊性的辩证统一</a:t>
            </a:r>
            <a:endParaRPr lang="en-US" altLang="zh-CN" sz="1800" b="1" spc="-5" dirty="0">
              <a:latin typeface="SimSun"/>
              <a:cs typeface="SimSun"/>
            </a:endParaRPr>
          </a:p>
          <a:p>
            <a:pPr marL="434975" marR="323850" indent="-342900">
              <a:lnSpc>
                <a:spcPct val="100000"/>
              </a:lnSpc>
              <a:buFont typeface="Wingdings"/>
              <a:buChar char=""/>
              <a:tabLst>
                <a:tab pos="434975" algn="l"/>
              </a:tabLst>
            </a:pPr>
            <a:r>
              <a:rPr lang="zh-CN" altLang="en-US" sz="1800" b="1" dirty="0">
                <a:latin typeface="SimSun"/>
                <a:cs typeface="SimSun"/>
              </a:rPr>
              <a:t>立足时代之基，回应时代问题</a:t>
            </a:r>
            <a:endParaRPr lang="en-US" altLang="zh-CN" sz="1800" b="1" dirty="0">
              <a:latin typeface="SimSun"/>
              <a:cs typeface="SimSun"/>
            </a:endParaRPr>
          </a:p>
          <a:p>
            <a:pPr marL="434975" marR="323850" indent="-342900">
              <a:lnSpc>
                <a:spcPct val="100000"/>
              </a:lnSpc>
              <a:buFont typeface="Wingdings"/>
              <a:buChar char=""/>
              <a:tabLst>
                <a:tab pos="434975" algn="l"/>
              </a:tabLst>
            </a:pPr>
            <a:r>
              <a:rPr lang="zh-CN" altLang="en-US" sz="1800" b="1" dirty="0">
                <a:latin typeface="SimSun"/>
                <a:cs typeface="SimSun"/>
              </a:rPr>
              <a:t>坚持人民立场</a:t>
            </a:r>
          </a:p>
        </p:txBody>
      </p:sp>
      <p:sp>
        <p:nvSpPr>
          <p:cNvPr id="19" name="文本框 18"/>
          <p:cNvSpPr txBox="1"/>
          <p:nvPr/>
        </p:nvSpPr>
        <p:spPr>
          <a:xfrm>
            <a:off x="1295400" y="6273225"/>
            <a:ext cx="3581400" cy="584775"/>
          </a:xfrm>
          <a:prstGeom prst="rect">
            <a:avLst/>
          </a:prstGeom>
          <a:solidFill>
            <a:srgbClr val="FFFF00"/>
          </a:solidFill>
        </p:spPr>
        <p:txBody>
          <a:bodyPr wrap="square" rtlCol="0">
            <a:spAutoFit/>
          </a:bodyPr>
          <a:lstStyle/>
          <a:p>
            <a:r>
              <a:rPr lang="zh-CN" altLang="en-US" sz="3200" b="1" dirty="0"/>
              <a:t>措施后对应的知识</a:t>
            </a:r>
          </a:p>
        </p:txBody>
      </p:sp>
      <p:sp>
        <p:nvSpPr>
          <p:cNvPr id="20" name="文本框 19"/>
          <p:cNvSpPr txBox="1"/>
          <p:nvPr/>
        </p:nvSpPr>
        <p:spPr>
          <a:xfrm>
            <a:off x="5105400" y="6304002"/>
            <a:ext cx="2971800" cy="523220"/>
          </a:xfrm>
          <a:prstGeom prst="rect">
            <a:avLst/>
          </a:prstGeom>
          <a:solidFill>
            <a:srgbClr val="00B050"/>
          </a:solidFill>
        </p:spPr>
        <p:txBody>
          <a:bodyPr wrap="square" rtlCol="0">
            <a:spAutoFit/>
          </a:bodyPr>
          <a:lstStyle/>
          <a:p>
            <a:r>
              <a:rPr lang="zh-CN" altLang="en-US" sz="2800" b="1" dirty="0"/>
              <a:t>文化创新的途径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230261" y="1637664"/>
          <a:ext cx="9718675" cy="4638674"/>
        </p:xfrm>
        <a:graphic>
          <a:graphicData uri="http://schemas.openxmlformats.org/drawingml/2006/table">
            <a:tbl>
              <a:tblPr firstRow="1" bandRow="1">
                <a:tableStyleId>{2D5ABB26-0587-4C30-8999-92F81FD0307C}</a:tableStyleId>
              </a:tblPr>
              <a:tblGrid>
                <a:gridCol w="1537335">
                  <a:extLst>
                    <a:ext uri="{9D8B030D-6E8A-4147-A177-3AD203B41FA5}">
                      <a16:colId xmlns:a16="http://schemas.microsoft.com/office/drawing/2014/main" val="20000"/>
                    </a:ext>
                  </a:extLst>
                </a:gridCol>
                <a:gridCol w="8181340">
                  <a:extLst>
                    <a:ext uri="{9D8B030D-6E8A-4147-A177-3AD203B41FA5}">
                      <a16:colId xmlns:a16="http://schemas.microsoft.com/office/drawing/2014/main" val="20001"/>
                    </a:ext>
                  </a:extLst>
                </a:gridCol>
              </a:tblGrid>
              <a:tr h="514984">
                <a:tc>
                  <a:txBody>
                    <a:bodyPr/>
                    <a:lstStyle/>
                    <a:p>
                      <a:pPr algn="ctr">
                        <a:lnSpc>
                          <a:spcPct val="100000"/>
                        </a:lnSpc>
                        <a:spcBef>
                          <a:spcPts val="595"/>
                        </a:spcBef>
                      </a:pPr>
                      <a:r>
                        <a:rPr sz="2000" spc="-15" dirty="0">
                          <a:solidFill>
                            <a:srgbClr val="FFFFFF"/>
                          </a:solidFill>
                          <a:latin typeface="SimSun"/>
                          <a:cs typeface="SimSun"/>
                        </a:rPr>
                        <a:t>等级水平</a:t>
                      </a:r>
                      <a:endParaRPr sz="2000">
                        <a:latin typeface="SimSun"/>
                        <a:cs typeface="SimSun"/>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266065" algn="ctr">
                        <a:lnSpc>
                          <a:spcPct val="100000"/>
                        </a:lnSpc>
                        <a:spcBef>
                          <a:spcPts val="595"/>
                        </a:spcBef>
                      </a:pPr>
                      <a:r>
                        <a:rPr sz="2000" spc="-15" dirty="0">
                          <a:solidFill>
                            <a:srgbClr val="FFFFFF"/>
                          </a:solidFill>
                          <a:latin typeface="SimSun"/>
                          <a:cs typeface="SimSun"/>
                        </a:rPr>
                        <a:t>等级描述</a:t>
                      </a:r>
                      <a:endParaRPr sz="2000">
                        <a:latin typeface="SimSun"/>
                        <a:cs typeface="SimSun"/>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1083945">
                <a:tc>
                  <a:txBody>
                    <a:bodyPr/>
                    <a:lstStyle/>
                    <a:p>
                      <a:pPr>
                        <a:lnSpc>
                          <a:spcPct val="100000"/>
                        </a:lnSpc>
                        <a:spcBef>
                          <a:spcPts val="535"/>
                        </a:spcBef>
                      </a:pPr>
                      <a:endParaRPr sz="2000">
                        <a:latin typeface="Times New Roman"/>
                        <a:cs typeface="Times New Roman"/>
                      </a:endParaRPr>
                    </a:p>
                    <a:p>
                      <a:pPr algn="ctr">
                        <a:lnSpc>
                          <a:spcPct val="100000"/>
                        </a:lnSpc>
                      </a:pPr>
                      <a:r>
                        <a:rPr sz="2000" dirty="0">
                          <a:solidFill>
                            <a:srgbClr val="FFFFFF"/>
                          </a:solidFill>
                          <a:latin typeface="SimSun"/>
                          <a:cs typeface="SimSun"/>
                        </a:rPr>
                        <a:t>水平</a:t>
                      </a:r>
                      <a:r>
                        <a:rPr sz="2000" spc="-50" dirty="0">
                          <a:solidFill>
                            <a:srgbClr val="FFFFFF"/>
                          </a:solidFill>
                          <a:latin typeface="SimSun"/>
                          <a:cs typeface="SimSun"/>
                        </a:rPr>
                        <a:t>4</a:t>
                      </a:r>
                      <a:endParaRPr sz="2000">
                        <a:latin typeface="SimSun"/>
                        <a:cs typeface="SimSun"/>
                      </a:endParaRPr>
                    </a:p>
                  </a:txBody>
                  <a:tcPr marL="0" marR="0" marT="679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5B9BD4"/>
                    </a:solidFill>
                  </a:tcPr>
                </a:tc>
                <a:tc>
                  <a:txBody>
                    <a:bodyPr/>
                    <a:lstStyle/>
                    <a:p>
                      <a:pPr marL="68580">
                        <a:lnSpc>
                          <a:spcPts val="2100"/>
                        </a:lnSpc>
                        <a:spcBef>
                          <a:spcPts val="1935"/>
                        </a:spcBef>
                      </a:pPr>
                      <a:r>
                        <a:rPr sz="2000" spc="-20" dirty="0">
                          <a:latin typeface="SimSun"/>
                          <a:cs typeface="SimSun"/>
                        </a:rPr>
                        <a:t>观点鲜明，能明确表达自己的见解；紧扣问题，综合运用所学知识展开</a:t>
                      </a:r>
                      <a:endParaRPr sz="2000">
                        <a:latin typeface="SimSun"/>
                        <a:cs typeface="SimSun"/>
                      </a:endParaRPr>
                    </a:p>
                    <a:p>
                      <a:pPr marL="68580">
                        <a:lnSpc>
                          <a:spcPts val="2100"/>
                        </a:lnSpc>
                      </a:pPr>
                      <a:r>
                        <a:rPr sz="2000" spc="-10" dirty="0">
                          <a:latin typeface="SimSun"/>
                          <a:cs typeface="SimSun"/>
                        </a:rPr>
                        <a:t>论述；逻辑严密，条理清晰。</a:t>
                      </a:r>
                      <a:endParaRPr sz="2000">
                        <a:latin typeface="SimSun"/>
                        <a:cs typeface="SimSun"/>
                      </a:endParaRPr>
                    </a:p>
                  </a:txBody>
                  <a:tcPr marL="0" marR="0" marT="2457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1"/>
                  </a:ext>
                </a:extLst>
              </a:tr>
              <a:tr h="1083945">
                <a:tc>
                  <a:txBody>
                    <a:bodyPr/>
                    <a:lstStyle/>
                    <a:p>
                      <a:pPr>
                        <a:lnSpc>
                          <a:spcPct val="100000"/>
                        </a:lnSpc>
                        <a:spcBef>
                          <a:spcPts val="540"/>
                        </a:spcBef>
                      </a:pPr>
                      <a:endParaRPr sz="2000">
                        <a:latin typeface="Times New Roman"/>
                        <a:cs typeface="Times New Roman"/>
                      </a:endParaRPr>
                    </a:p>
                    <a:p>
                      <a:pPr algn="ctr">
                        <a:lnSpc>
                          <a:spcPct val="100000"/>
                        </a:lnSpc>
                      </a:pPr>
                      <a:r>
                        <a:rPr sz="2000" dirty="0">
                          <a:solidFill>
                            <a:srgbClr val="FFFFFF"/>
                          </a:solidFill>
                          <a:latin typeface="SimSun"/>
                          <a:cs typeface="SimSun"/>
                        </a:rPr>
                        <a:t>水平</a:t>
                      </a:r>
                      <a:r>
                        <a:rPr sz="2000" spc="-50" dirty="0">
                          <a:solidFill>
                            <a:srgbClr val="FFFFFF"/>
                          </a:solidFill>
                          <a:latin typeface="SimSun"/>
                          <a:cs typeface="SimSun"/>
                        </a:rPr>
                        <a:t>3</a:t>
                      </a:r>
                      <a:endParaRPr sz="2000">
                        <a:latin typeface="SimSun"/>
                        <a:cs typeface="SimSun"/>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B9BD4"/>
                    </a:solidFill>
                  </a:tcPr>
                </a:tc>
                <a:tc>
                  <a:txBody>
                    <a:bodyPr/>
                    <a:lstStyle/>
                    <a:p>
                      <a:pPr marL="68580">
                        <a:lnSpc>
                          <a:spcPts val="2100"/>
                        </a:lnSpc>
                        <a:spcBef>
                          <a:spcPts val="1935"/>
                        </a:spcBef>
                      </a:pPr>
                      <a:r>
                        <a:rPr sz="2000" spc="-20" dirty="0">
                          <a:latin typeface="SimSun"/>
                          <a:cs typeface="SimSun"/>
                        </a:rPr>
                        <a:t>观点比较明确，能表达自己的见解；能扣住问题展开论述，知识运用比</a:t>
                      </a:r>
                      <a:endParaRPr sz="2000">
                        <a:latin typeface="SimSun"/>
                        <a:cs typeface="SimSun"/>
                      </a:endParaRPr>
                    </a:p>
                    <a:p>
                      <a:pPr marL="68580">
                        <a:lnSpc>
                          <a:spcPts val="2100"/>
                        </a:lnSpc>
                      </a:pPr>
                      <a:r>
                        <a:rPr sz="2000" spc="-10" dirty="0">
                          <a:latin typeface="SimSun"/>
                          <a:cs typeface="SimSun"/>
                        </a:rPr>
                        <a:t>较准确；逻辑性较强，有条理。</a:t>
                      </a:r>
                      <a:endParaRPr sz="2000">
                        <a:latin typeface="SimSun"/>
                        <a:cs typeface="SimSun"/>
                      </a:endParaRPr>
                    </a:p>
                  </a:txBody>
                  <a:tcPr marL="0" marR="0" marT="2457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2"/>
                  </a:ext>
                </a:extLst>
              </a:tr>
              <a:tr h="1083945">
                <a:tc>
                  <a:txBody>
                    <a:bodyPr/>
                    <a:lstStyle/>
                    <a:p>
                      <a:pPr>
                        <a:lnSpc>
                          <a:spcPct val="100000"/>
                        </a:lnSpc>
                        <a:spcBef>
                          <a:spcPts val="540"/>
                        </a:spcBef>
                      </a:pPr>
                      <a:endParaRPr sz="2000">
                        <a:latin typeface="Times New Roman"/>
                        <a:cs typeface="Times New Roman"/>
                      </a:endParaRPr>
                    </a:p>
                    <a:p>
                      <a:pPr algn="ctr">
                        <a:lnSpc>
                          <a:spcPct val="100000"/>
                        </a:lnSpc>
                      </a:pPr>
                      <a:r>
                        <a:rPr sz="2000" dirty="0">
                          <a:solidFill>
                            <a:srgbClr val="FFFFFF"/>
                          </a:solidFill>
                          <a:latin typeface="SimSun"/>
                          <a:cs typeface="SimSun"/>
                        </a:rPr>
                        <a:t>水平</a:t>
                      </a:r>
                      <a:r>
                        <a:rPr sz="2000" spc="-50" dirty="0">
                          <a:solidFill>
                            <a:srgbClr val="FFFFFF"/>
                          </a:solidFill>
                          <a:latin typeface="SimSun"/>
                          <a:cs typeface="SimSun"/>
                        </a:rPr>
                        <a:t>2</a:t>
                      </a:r>
                      <a:endParaRPr sz="2000">
                        <a:latin typeface="SimSun"/>
                        <a:cs typeface="SimSun"/>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B9BD4"/>
                    </a:solidFill>
                  </a:tcPr>
                </a:tc>
                <a:tc>
                  <a:txBody>
                    <a:bodyPr/>
                    <a:lstStyle/>
                    <a:p>
                      <a:pPr>
                        <a:lnSpc>
                          <a:spcPct val="100000"/>
                        </a:lnSpc>
                        <a:spcBef>
                          <a:spcPts val="240"/>
                        </a:spcBef>
                      </a:pPr>
                      <a:endParaRPr sz="2000">
                        <a:latin typeface="Times New Roman"/>
                        <a:cs typeface="Times New Roman"/>
                      </a:endParaRPr>
                    </a:p>
                    <a:p>
                      <a:pPr marL="68580" marR="225425">
                        <a:lnSpc>
                          <a:spcPct val="75000"/>
                        </a:lnSpc>
                      </a:pPr>
                      <a:r>
                        <a:rPr sz="2000" spc="-20" dirty="0">
                          <a:latin typeface="SimSun"/>
                          <a:cs typeface="SimSun"/>
                        </a:rPr>
                        <a:t>观点不明确；论述不能集中指向问题，罗列知识；知识运用不正确；论</a:t>
                      </a:r>
                      <a:r>
                        <a:rPr sz="2000" spc="-5" dirty="0">
                          <a:latin typeface="SimSun"/>
                          <a:cs typeface="SimSun"/>
                        </a:rPr>
                        <a:t>述缺乏逻辑，条理性差。</a:t>
                      </a:r>
                      <a:endParaRPr sz="2000">
                        <a:latin typeface="SimSun"/>
                        <a:cs typeface="SimSu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3"/>
                  </a:ext>
                </a:extLst>
              </a:tr>
              <a:tr h="871855">
                <a:tc>
                  <a:txBody>
                    <a:bodyPr/>
                    <a:lstStyle/>
                    <a:p>
                      <a:pPr algn="ctr">
                        <a:lnSpc>
                          <a:spcPct val="100000"/>
                        </a:lnSpc>
                        <a:spcBef>
                          <a:spcPts val="2005"/>
                        </a:spcBef>
                      </a:pPr>
                      <a:r>
                        <a:rPr sz="2000" dirty="0">
                          <a:solidFill>
                            <a:srgbClr val="FFFFFF"/>
                          </a:solidFill>
                          <a:latin typeface="SimSun"/>
                          <a:cs typeface="SimSun"/>
                        </a:rPr>
                        <a:t>水平</a:t>
                      </a:r>
                      <a:r>
                        <a:rPr sz="2000" spc="-50" dirty="0">
                          <a:solidFill>
                            <a:srgbClr val="FFFFFF"/>
                          </a:solidFill>
                          <a:latin typeface="SimSun"/>
                          <a:cs typeface="SimSun"/>
                        </a:rPr>
                        <a:t>1</a:t>
                      </a:r>
                      <a:endParaRPr sz="2000">
                        <a:latin typeface="SimSun"/>
                        <a:cs typeface="SimSun"/>
                      </a:endParaRPr>
                    </a:p>
                  </a:txBody>
                  <a:tcPr marL="0" marR="0" marT="254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B9BD4"/>
                    </a:solidFill>
                  </a:tcPr>
                </a:tc>
                <a:tc>
                  <a:txBody>
                    <a:bodyPr/>
                    <a:lstStyle/>
                    <a:p>
                      <a:pPr marL="68580">
                        <a:lnSpc>
                          <a:spcPct val="100000"/>
                        </a:lnSpc>
                        <a:spcBef>
                          <a:spcPts val="2005"/>
                        </a:spcBef>
                      </a:pPr>
                      <a:r>
                        <a:rPr sz="2000" spc="-20" dirty="0">
                          <a:latin typeface="SimSun"/>
                          <a:cs typeface="SimSun"/>
                        </a:rPr>
                        <a:t>应答与试题无关；或重复试题内容；或没有应答。</a:t>
                      </a:r>
                      <a:endParaRPr sz="2000">
                        <a:latin typeface="SimSun"/>
                        <a:cs typeface="SimSun"/>
                      </a:endParaRPr>
                    </a:p>
                  </a:txBody>
                  <a:tcPr marL="0" marR="0" marT="254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4"/>
                  </a:ext>
                </a:extLst>
              </a:tr>
            </a:tbl>
          </a:graphicData>
        </a:graphic>
      </p:graphicFrame>
      <p:sp>
        <p:nvSpPr>
          <p:cNvPr id="3" name="object 3"/>
          <p:cNvSpPr txBox="1">
            <a:spLocks noGrp="1"/>
          </p:cNvSpPr>
          <p:nvPr>
            <p:ph type="title"/>
          </p:nvPr>
        </p:nvSpPr>
        <p:spPr>
          <a:xfrm>
            <a:off x="903528" y="671271"/>
            <a:ext cx="10693400" cy="744220"/>
          </a:xfrm>
          <a:prstGeom prst="rect">
            <a:avLst/>
          </a:prstGeom>
        </p:spPr>
        <p:txBody>
          <a:bodyPr vert="horz" wrap="square" lIns="0" tIns="12700" rIns="0" bIns="0" rtlCol="0">
            <a:spAutoFit/>
          </a:bodyPr>
          <a:lstStyle/>
          <a:p>
            <a:pPr marL="12700">
              <a:lnSpc>
                <a:spcPts val="2825"/>
              </a:lnSpc>
              <a:spcBef>
                <a:spcPts val="100"/>
              </a:spcBef>
            </a:pPr>
            <a:r>
              <a:rPr sz="2400" spc="-15" dirty="0">
                <a:latin typeface="SimSun"/>
                <a:cs typeface="SimSun"/>
              </a:rPr>
              <a:t>可从联系的观点、发展的观点、实现中华优秀传统文化创造性转化与创新性发展</a:t>
            </a:r>
            <a:endParaRPr sz="2400">
              <a:latin typeface="SimSun"/>
              <a:cs typeface="SimSun"/>
            </a:endParaRPr>
          </a:p>
          <a:p>
            <a:pPr marL="12700">
              <a:lnSpc>
                <a:spcPts val="2825"/>
              </a:lnSpc>
            </a:pPr>
            <a:r>
              <a:rPr sz="2400" spc="-10" dirty="0">
                <a:latin typeface="SimSun"/>
                <a:cs typeface="SimSun"/>
              </a:rPr>
              <a:t>等角度作答。</a:t>
            </a:r>
            <a:endParaRPr sz="2400">
              <a:latin typeface="SimSun"/>
              <a:cs typeface="SimSu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805920599"/>
              </p:ext>
            </p:extLst>
          </p:nvPr>
        </p:nvGraphicFramePr>
        <p:xfrm>
          <a:off x="194424" y="490093"/>
          <a:ext cx="11800205" cy="5918835"/>
        </p:xfrm>
        <a:graphic>
          <a:graphicData uri="http://schemas.openxmlformats.org/drawingml/2006/table">
            <a:tbl>
              <a:tblPr firstRow="1" bandRow="1">
                <a:tableStyleId>{2D5ABB26-0587-4C30-8999-92F81FD0307C}</a:tableStyleId>
              </a:tblPr>
              <a:tblGrid>
                <a:gridCol w="1034415">
                  <a:extLst>
                    <a:ext uri="{9D8B030D-6E8A-4147-A177-3AD203B41FA5}">
                      <a16:colId xmlns:a16="http://schemas.microsoft.com/office/drawing/2014/main" val="20000"/>
                    </a:ext>
                  </a:extLst>
                </a:gridCol>
                <a:gridCol w="4976495">
                  <a:extLst>
                    <a:ext uri="{9D8B030D-6E8A-4147-A177-3AD203B41FA5}">
                      <a16:colId xmlns:a16="http://schemas.microsoft.com/office/drawing/2014/main" val="20001"/>
                    </a:ext>
                  </a:extLst>
                </a:gridCol>
                <a:gridCol w="826135">
                  <a:extLst>
                    <a:ext uri="{9D8B030D-6E8A-4147-A177-3AD203B41FA5}">
                      <a16:colId xmlns:a16="http://schemas.microsoft.com/office/drawing/2014/main" val="20002"/>
                    </a:ext>
                  </a:extLst>
                </a:gridCol>
                <a:gridCol w="4963160">
                  <a:extLst>
                    <a:ext uri="{9D8B030D-6E8A-4147-A177-3AD203B41FA5}">
                      <a16:colId xmlns:a16="http://schemas.microsoft.com/office/drawing/2014/main" val="20003"/>
                    </a:ext>
                  </a:extLst>
                </a:gridCol>
              </a:tblGrid>
              <a:tr h="429895">
                <a:tc>
                  <a:txBody>
                    <a:bodyPr/>
                    <a:lstStyle/>
                    <a:p>
                      <a:pPr algn="ctr">
                        <a:lnSpc>
                          <a:spcPct val="100000"/>
                        </a:lnSpc>
                        <a:spcBef>
                          <a:spcPts val="425"/>
                        </a:spcBef>
                      </a:pPr>
                      <a:r>
                        <a:rPr sz="2000" spc="-25" dirty="0">
                          <a:latin typeface="SimSun"/>
                          <a:cs typeface="SimSun"/>
                        </a:rPr>
                        <a:t>角度</a:t>
                      </a:r>
                      <a:endParaRPr sz="2000">
                        <a:latin typeface="SimSun"/>
                        <a:cs typeface="SimSun"/>
                      </a:endParaRPr>
                    </a:p>
                  </a:txBody>
                  <a:tcPr marL="0" marR="0" marT="539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25"/>
                        </a:spcBef>
                      </a:pPr>
                      <a:r>
                        <a:rPr sz="2000" dirty="0">
                          <a:latin typeface="SimSun"/>
                          <a:cs typeface="SimSun"/>
                        </a:rPr>
                        <a:t>每层3分（原理</a:t>
                      </a:r>
                      <a:r>
                        <a:rPr sz="2000" spc="-10" dirty="0">
                          <a:latin typeface="SimSun"/>
                          <a:cs typeface="SimSun"/>
                        </a:rPr>
                        <a:t>2+材料</a:t>
                      </a:r>
                      <a:r>
                        <a:rPr sz="2000" spc="-25" dirty="0">
                          <a:latin typeface="SimSun"/>
                          <a:cs typeface="SimSun"/>
                        </a:rPr>
                        <a:t>1）</a:t>
                      </a:r>
                      <a:endParaRPr sz="2000">
                        <a:latin typeface="SimSun"/>
                        <a:cs typeface="SimSun"/>
                      </a:endParaRPr>
                    </a:p>
                  </a:txBody>
                  <a:tcPr marL="0" marR="0" marT="539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8750">
                        <a:lnSpc>
                          <a:spcPct val="100000"/>
                        </a:lnSpc>
                        <a:spcBef>
                          <a:spcPts val="425"/>
                        </a:spcBef>
                      </a:pPr>
                      <a:r>
                        <a:rPr sz="2000" spc="-25" dirty="0">
                          <a:latin typeface="SimSun"/>
                          <a:cs typeface="SimSun"/>
                        </a:rPr>
                        <a:t>角度</a:t>
                      </a:r>
                      <a:endParaRPr sz="2000">
                        <a:latin typeface="SimSun"/>
                        <a:cs typeface="SimSun"/>
                      </a:endParaRPr>
                    </a:p>
                  </a:txBody>
                  <a:tcPr marL="0" marR="0" marT="539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marR="3175" algn="ctr">
                        <a:lnSpc>
                          <a:spcPct val="100000"/>
                        </a:lnSpc>
                        <a:spcBef>
                          <a:spcPts val="425"/>
                        </a:spcBef>
                      </a:pPr>
                      <a:r>
                        <a:rPr sz="2000" dirty="0">
                          <a:latin typeface="SimSun"/>
                          <a:cs typeface="SimSun"/>
                        </a:rPr>
                        <a:t>每层3分（原理</a:t>
                      </a:r>
                      <a:r>
                        <a:rPr sz="2000" spc="-10" dirty="0">
                          <a:latin typeface="SimSun"/>
                          <a:cs typeface="SimSun"/>
                        </a:rPr>
                        <a:t>2+材料</a:t>
                      </a:r>
                      <a:r>
                        <a:rPr sz="2000" spc="-25" dirty="0">
                          <a:latin typeface="SimSun"/>
                          <a:cs typeface="SimSun"/>
                        </a:rPr>
                        <a:t>1）</a:t>
                      </a:r>
                      <a:endParaRPr sz="2000">
                        <a:latin typeface="SimSun"/>
                        <a:cs typeface="SimSun"/>
                      </a:endParaRPr>
                    </a:p>
                  </a:txBody>
                  <a:tcPr marL="0" marR="0" marT="539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75305">
                <a:tc>
                  <a:txBody>
                    <a:bodyPr/>
                    <a:lstStyle/>
                    <a:p>
                      <a:pPr>
                        <a:lnSpc>
                          <a:spcPct val="100000"/>
                        </a:lnSpc>
                      </a:pPr>
                      <a:endParaRPr sz="2000" dirty="0">
                        <a:latin typeface="Times New Roman"/>
                        <a:cs typeface="Times New Roman"/>
                      </a:endParaRPr>
                    </a:p>
                    <a:p>
                      <a:pPr>
                        <a:lnSpc>
                          <a:spcPct val="100000"/>
                        </a:lnSpc>
                      </a:pPr>
                      <a:endParaRPr sz="2000" dirty="0">
                        <a:latin typeface="Times New Roman"/>
                        <a:cs typeface="Times New Roman"/>
                      </a:endParaRPr>
                    </a:p>
                    <a:p>
                      <a:pPr>
                        <a:lnSpc>
                          <a:spcPct val="100000"/>
                        </a:lnSpc>
                      </a:pPr>
                      <a:endParaRPr sz="2000" dirty="0">
                        <a:latin typeface="Times New Roman"/>
                        <a:cs typeface="Times New Roman"/>
                      </a:endParaRPr>
                    </a:p>
                    <a:p>
                      <a:pPr>
                        <a:lnSpc>
                          <a:spcPct val="100000"/>
                        </a:lnSpc>
                        <a:spcBef>
                          <a:spcPts val="1775"/>
                        </a:spcBef>
                      </a:pPr>
                      <a:endParaRPr sz="2000" dirty="0">
                        <a:latin typeface="Times New Roman"/>
                        <a:cs typeface="Times New Roman"/>
                      </a:endParaRPr>
                    </a:p>
                    <a:p>
                      <a:pPr algn="ctr">
                        <a:lnSpc>
                          <a:spcPct val="100000"/>
                        </a:lnSpc>
                      </a:pPr>
                      <a:r>
                        <a:rPr sz="2000" spc="-25" dirty="0">
                          <a:latin typeface="SimSun"/>
                          <a:cs typeface="SimSun"/>
                        </a:rPr>
                        <a:t>文化</a:t>
                      </a:r>
                      <a:endParaRPr sz="2000" dirty="0">
                        <a:latin typeface="SimSun"/>
                        <a:cs typeface="SimSu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70"/>
                        </a:spcBef>
                      </a:pPr>
                      <a:endParaRPr sz="2000" dirty="0">
                        <a:latin typeface="Times New Roman"/>
                        <a:cs typeface="Times New Roman"/>
                      </a:endParaRPr>
                    </a:p>
                    <a:p>
                      <a:pPr marL="434340" marR="210185" indent="-342900" algn="just">
                        <a:lnSpc>
                          <a:spcPct val="100000"/>
                        </a:lnSpc>
                        <a:spcBef>
                          <a:spcPts val="5"/>
                        </a:spcBef>
                        <a:buFont typeface="Wingdings"/>
                        <a:buChar char=""/>
                        <a:tabLst>
                          <a:tab pos="434340" algn="l"/>
                        </a:tabLst>
                      </a:pPr>
                      <a:r>
                        <a:rPr sz="2000" spc="-20" dirty="0">
                          <a:latin typeface="SimSun"/>
                          <a:cs typeface="SimSun"/>
                        </a:rPr>
                        <a:t>中华优秀传统文化的创造性转化和创新性发展/传统文化取其精华，去其糟粕/</a:t>
                      </a:r>
                      <a:r>
                        <a:rPr sz="2000" spc="-10" dirty="0">
                          <a:latin typeface="SimSun"/>
                          <a:cs typeface="SimSun"/>
                        </a:rPr>
                        <a:t>批判继承，古为今用</a:t>
                      </a:r>
                      <a:endParaRPr sz="2000" dirty="0">
                        <a:latin typeface="SimSun"/>
                        <a:cs typeface="SimSun"/>
                      </a:endParaRPr>
                    </a:p>
                    <a:p>
                      <a:pPr marL="433705" indent="-342265" algn="just">
                        <a:lnSpc>
                          <a:spcPct val="100000"/>
                        </a:lnSpc>
                        <a:buFont typeface="Wingdings"/>
                        <a:buChar char=""/>
                        <a:tabLst>
                          <a:tab pos="433705" algn="l"/>
                        </a:tabLst>
                      </a:pPr>
                      <a:r>
                        <a:rPr sz="2000" spc="-10" dirty="0">
                          <a:latin typeface="SimSun"/>
                          <a:cs typeface="SimSun"/>
                        </a:rPr>
                        <a:t>融通不同资源，实现了综合创新</a:t>
                      </a:r>
                      <a:endParaRPr sz="2000" dirty="0">
                        <a:latin typeface="SimSun"/>
                        <a:cs typeface="SimSun"/>
                      </a:endParaRPr>
                    </a:p>
                    <a:p>
                      <a:pPr marL="433705" indent="-342265" algn="just">
                        <a:lnSpc>
                          <a:spcPct val="100000"/>
                        </a:lnSpc>
                        <a:buFont typeface="Wingdings"/>
                        <a:buChar char=""/>
                        <a:tabLst>
                          <a:tab pos="433705" algn="l"/>
                        </a:tabLst>
                      </a:pPr>
                      <a:r>
                        <a:rPr sz="2000" spc="-20" dirty="0">
                          <a:latin typeface="SimSun"/>
                          <a:cs typeface="SimSun"/>
                        </a:rPr>
                        <a:t>立足时代之基，回应时代问题</a:t>
                      </a:r>
                      <a:endParaRPr sz="2000" dirty="0">
                        <a:latin typeface="SimSun"/>
                        <a:cs typeface="SimSun"/>
                      </a:endParaRPr>
                    </a:p>
                    <a:p>
                      <a:pPr marL="433705" indent="-342265" algn="just">
                        <a:lnSpc>
                          <a:spcPct val="100000"/>
                        </a:lnSpc>
                        <a:spcBef>
                          <a:spcPts val="5"/>
                        </a:spcBef>
                        <a:buFont typeface="Wingdings"/>
                        <a:buChar char=""/>
                        <a:tabLst>
                          <a:tab pos="433705" algn="l"/>
                        </a:tabLst>
                      </a:pPr>
                      <a:r>
                        <a:rPr sz="2000" spc="-15" dirty="0">
                          <a:latin typeface="SimSun"/>
                          <a:cs typeface="SimSun"/>
                        </a:rPr>
                        <a:t>人民立场</a:t>
                      </a:r>
                      <a:endParaRPr sz="2000" dirty="0">
                        <a:latin typeface="SimSun"/>
                        <a:cs typeface="SimSun"/>
                      </a:endParaRPr>
                    </a:p>
                    <a:p>
                      <a:pPr marL="434340" marR="83820" indent="-342900" algn="just">
                        <a:lnSpc>
                          <a:spcPct val="100000"/>
                        </a:lnSpc>
                        <a:buFont typeface="Wingdings"/>
                        <a:buChar char=""/>
                        <a:tabLst>
                          <a:tab pos="434340" algn="l"/>
                        </a:tabLst>
                      </a:pPr>
                      <a:r>
                        <a:rPr sz="2000" dirty="0">
                          <a:latin typeface="SimSun"/>
                          <a:cs typeface="SimSun"/>
                        </a:rPr>
                        <a:t>坚持习近平文化思想（</a:t>
                      </a:r>
                      <a:r>
                        <a:rPr sz="2000" spc="-10" dirty="0">
                          <a:latin typeface="SimSun"/>
                          <a:cs typeface="SimSun"/>
                        </a:rPr>
                        <a:t>单独1</a:t>
                      </a:r>
                      <a:r>
                        <a:rPr sz="2000" spc="-15" dirty="0">
                          <a:latin typeface="SimSun"/>
                          <a:cs typeface="SimSun"/>
                        </a:rPr>
                        <a:t>分，不需要</a:t>
                      </a:r>
                      <a:r>
                        <a:rPr sz="2000" dirty="0">
                          <a:latin typeface="SimSun"/>
                          <a:cs typeface="SimSun"/>
                        </a:rPr>
                        <a:t>材料分析</a:t>
                      </a:r>
                      <a:r>
                        <a:rPr sz="2000" spc="-50" dirty="0">
                          <a:latin typeface="SimSun"/>
                          <a:cs typeface="SimSun"/>
                        </a:rPr>
                        <a:t>）</a:t>
                      </a:r>
                      <a:endParaRPr lang="en-US" sz="2000" spc="-50" dirty="0">
                        <a:latin typeface="SimSun"/>
                        <a:cs typeface="SimSun"/>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1025"/>
                        </a:spcBef>
                      </a:pPr>
                      <a:endParaRPr sz="2000">
                        <a:latin typeface="Times New Roman"/>
                        <a:cs typeface="Times New Roman"/>
                      </a:endParaRPr>
                    </a:p>
                    <a:p>
                      <a:pPr marL="92075">
                        <a:lnSpc>
                          <a:spcPct val="100000"/>
                        </a:lnSpc>
                        <a:spcBef>
                          <a:spcPts val="5"/>
                        </a:spcBef>
                      </a:pPr>
                      <a:r>
                        <a:rPr sz="2000" spc="-30" dirty="0">
                          <a:latin typeface="SimSun"/>
                          <a:cs typeface="SimSun"/>
                        </a:rPr>
                        <a:t>哲学</a:t>
                      </a:r>
                      <a:endParaRPr sz="2000">
                        <a:latin typeface="SimSun"/>
                        <a:cs typeface="SimSu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34975" marR="324485" indent="-342900">
                        <a:lnSpc>
                          <a:spcPct val="100000"/>
                        </a:lnSpc>
                        <a:spcBef>
                          <a:spcPts val="425"/>
                        </a:spcBef>
                        <a:buFont typeface="Wingdings"/>
                        <a:buChar char=""/>
                        <a:tabLst>
                          <a:tab pos="434975" algn="l"/>
                        </a:tabLst>
                      </a:pPr>
                      <a:r>
                        <a:rPr sz="2000" spc="-20" dirty="0">
                          <a:latin typeface="SimSun"/>
                          <a:cs typeface="SimSun"/>
                        </a:rPr>
                        <a:t>坚持联系观点/根据固有联系建立新的</a:t>
                      </a:r>
                      <a:r>
                        <a:rPr sz="2000" spc="-25" dirty="0">
                          <a:latin typeface="SimSun"/>
                          <a:cs typeface="SimSun"/>
                        </a:rPr>
                        <a:t>联系</a:t>
                      </a:r>
                      <a:endParaRPr sz="2000" dirty="0">
                        <a:latin typeface="SimSun"/>
                        <a:cs typeface="SimSun"/>
                      </a:endParaRPr>
                    </a:p>
                    <a:p>
                      <a:pPr marL="434975" marR="3175" indent="-342900">
                        <a:lnSpc>
                          <a:spcPct val="100000"/>
                        </a:lnSpc>
                        <a:buFont typeface="Wingdings"/>
                        <a:buChar char=""/>
                        <a:tabLst>
                          <a:tab pos="434975" algn="l"/>
                        </a:tabLst>
                      </a:pPr>
                      <a:r>
                        <a:rPr sz="2000" spc="-15" dirty="0">
                          <a:latin typeface="SimSun"/>
                          <a:cs typeface="SimSun"/>
                        </a:rPr>
                        <a:t>坚持对立统一的观点</a:t>
                      </a:r>
                      <a:endParaRPr sz="2000" dirty="0">
                        <a:latin typeface="SimSun"/>
                        <a:cs typeface="SimSun"/>
                      </a:endParaRPr>
                    </a:p>
                    <a:p>
                      <a:pPr marL="434975" marR="323850" indent="-342900">
                        <a:lnSpc>
                          <a:spcPct val="100000"/>
                        </a:lnSpc>
                        <a:buFont typeface="Wingdings"/>
                        <a:buChar char=""/>
                        <a:tabLst>
                          <a:tab pos="434975" algn="l"/>
                        </a:tabLst>
                      </a:pPr>
                      <a:r>
                        <a:rPr sz="2000" spc="-20" dirty="0">
                          <a:latin typeface="SimSun"/>
                          <a:cs typeface="SimSun"/>
                        </a:rPr>
                        <a:t>坚持具体问题具体分析/坚持矛盾普遍</a:t>
                      </a:r>
                      <a:r>
                        <a:rPr sz="2000" spc="-5" dirty="0">
                          <a:latin typeface="SimSun"/>
                          <a:cs typeface="SimSun"/>
                        </a:rPr>
                        <a:t>性和特殊性的辩证统一</a:t>
                      </a:r>
                      <a:endParaRPr sz="2000" dirty="0">
                        <a:latin typeface="SimSun"/>
                        <a:cs typeface="SimSun"/>
                      </a:endParaRPr>
                    </a:p>
                    <a:p>
                      <a:pPr marL="434975" marR="3175" indent="-342900">
                        <a:lnSpc>
                          <a:spcPct val="100000"/>
                        </a:lnSpc>
                        <a:buFont typeface="Wingdings"/>
                        <a:buChar char=""/>
                        <a:tabLst>
                          <a:tab pos="434975" algn="l"/>
                        </a:tabLst>
                      </a:pPr>
                      <a:r>
                        <a:rPr sz="2000" spc="-20" dirty="0">
                          <a:latin typeface="SimSun"/>
                          <a:cs typeface="SimSun"/>
                        </a:rPr>
                        <a:t>坚持辩证否定，推动创新/坚持发展的</a:t>
                      </a:r>
                      <a:endParaRPr sz="2000" dirty="0">
                        <a:latin typeface="SimSun"/>
                        <a:cs typeface="SimSun"/>
                      </a:endParaRPr>
                    </a:p>
                    <a:p>
                      <a:pPr marL="434975" marR="3175">
                        <a:lnSpc>
                          <a:spcPct val="100000"/>
                        </a:lnSpc>
                      </a:pPr>
                      <a:r>
                        <a:rPr sz="2000" spc="-30" dirty="0">
                          <a:latin typeface="SimSun"/>
                          <a:cs typeface="SimSun"/>
                        </a:rPr>
                        <a:t>观点</a:t>
                      </a:r>
                      <a:endParaRPr sz="2000" dirty="0">
                        <a:latin typeface="SimSun"/>
                        <a:cs typeface="SimSun"/>
                      </a:endParaRPr>
                    </a:p>
                    <a:p>
                      <a:pPr marL="434975" marR="3175" indent="-342900">
                        <a:lnSpc>
                          <a:spcPct val="100000"/>
                        </a:lnSpc>
                        <a:spcBef>
                          <a:spcPts val="5"/>
                        </a:spcBef>
                        <a:buFont typeface="Wingdings"/>
                        <a:buChar char=""/>
                        <a:tabLst>
                          <a:tab pos="434975" algn="l"/>
                        </a:tabLst>
                      </a:pPr>
                      <a:r>
                        <a:rPr sz="2000" spc="-10" dirty="0">
                          <a:latin typeface="SimSun"/>
                          <a:cs typeface="SimSun"/>
                        </a:rPr>
                        <a:t>坚持人民立场</a:t>
                      </a:r>
                      <a:endParaRPr sz="2000" dirty="0">
                        <a:latin typeface="SimSun"/>
                        <a:cs typeface="SimSun"/>
                      </a:endParaRPr>
                    </a:p>
                    <a:p>
                      <a:pPr marL="434975" marR="3175" indent="-342900">
                        <a:lnSpc>
                          <a:spcPct val="100000"/>
                        </a:lnSpc>
                        <a:buFont typeface="Wingdings"/>
                        <a:buChar char=""/>
                        <a:tabLst>
                          <a:tab pos="434975" algn="l"/>
                        </a:tabLst>
                      </a:pPr>
                      <a:r>
                        <a:rPr sz="2000" spc="-15" dirty="0">
                          <a:latin typeface="SimSun"/>
                          <a:cs typeface="SimSun"/>
                        </a:rPr>
                        <a:t>坚持客观规律和发挥主观能动性相结合</a:t>
                      </a:r>
                      <a:endParaRPr sz="2000" dirty="0">
                        <a:latin typeface="SimSun"/>
                        <a:cs typeface="SimSun"/>
                      </a:endParaRPr>
                    </a:p>
                  </a:txBody>
                  <a:tcPr marL="0" marR="0" marT="539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413635">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1475"/>
                        </a:spcBef>
                      </a:pPr>
                      <a:endParaRPr sz="2000">
                        <a:latin typeface="Times New Roman"/>
                        <a:cs typeface="Times New Roman"/>
                      </a:endParaRPr>
                    </a:p>
                    <a:p>
                      <a:pPr algn="ctr">
                        <a:lnSpc>
                          <a:spcPct val="100000"/>
                        </a:lnSpc>
                        <a:spcBef>
                          <a:spcPts val="5"/>
                        </a:spcBef>
                      </a:pPr>
                      <a:r>
                        <a:rPr sz="2000" spc="-25" dirty="0">
                          <a:latin typeface="SimSun"/>
                          <a:cs typeface="SimSun"/>
                        </a:rPr>
                        <a:t>备注</a:t>
                      </a:r>
                      <a:endParaRPr sz="2000">
                        <a:latin typeface="SimSun"/>
                        <a:cs typeface="SimSu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3">
                  <a:txBody>
                    <a:bodyPr/>
                    <a:lstStyle/>
                    <a:p>
                      <a:pPr marL="91440" marR="108585">
                        <a:lnSpc>
                          <a:spcPct val="100000"/>
                        </a:lnSpc>
                        <a:spcBef>
                          <a:spcPts val="1175"/>
                        </a:spcBef>
                      </a:pPr>
                      <a:r>
                        <a:rPr sz="2000" dirty="0">
                          <a:latin typeface="SimSun"/>
                          <a:cs typeface="SimSun"/>
                        </a:rPr>
                        <a:t>1、</a:t>
                      </a:r>
                      <a:r>
                        <a:rPr sz="2000" dirty="0">
                          <a:solidFill>
                            <a:srgbClr val="FF0000"/>
                          </a:solidFill>
                          <a:latin typeface="SimSun"/>
                          <a:cs typeface="SimSun"/>
                        </a:rPr>
                        <a:t>一共采3个点。</a:t>
                      </a:r>
                      <a:r>
                        <a:rPr sz="2000" spc="-10" dirty="0">
                          <a:latin typeface="SimSun"/>
                          <a:cs typeface="SimSun"/>
                        </a:rPr>
                        <a:t>3个点</a:t>
                      </a:r>
                      <a:r>
                        <a:rPr sz="2000" dirty="0">
                          <a:latin typeface="SimSun"/>
                          <a:cs typeface="SimSun"/>
                        </a:rPr>
                        <a:t>8</a:t>
                      </a:r>
                      <a:r>
                        <a:rPr sz="2000" spc="-15" dirty="0">
                          <a:latin typeface="SimSun"/>
                          <a:cs typeface="SimSun"/>
                        </a:rPr>
                        <a:t>分，</a:t>
                      </a:r>
                      <a:r>
                        <a:rPr sz="2000" spc="-10" dirty="0">
                          <a:latin typeface="SimSun"/>
                          <a:cs typeface="SimSun"/>
                        </a:rPr>
                        <a:t>2</a:t>
                      </a:r>
                      <a:r>
                        <a:rPr sz="2000" dirty="0">
                          <a:latin typeface="SimSun"/>
                          <a:cs typeface="SimSun"/>
                        </a:rPr>
                        <a:t>个点</a:t>
                      </a:r>
                      <a:r>
                        <a:rPr sz="2000" spc="-10" dirty="0">
                          <a:latin typeface="SimSun"/>
                          <a:cs typeface="SimSun"/>
                        </a:rPr>
                        <a:t>6</a:t>
                      </a:r>
                      <a:r>
                        <a:rPr sz="2000" spc="-5" dirty="0">
                          <a:latin typeface="SimSun"/>
                          <a:cs typeface="SimSun"/>
                        </a:rPr>
                        <a:t>分，</a:t>
                      </a:r>
                      <a:r>
                        <a:rPr sz="2000" spc="-10" dirty="0">
                          <a:latin typeface="SimSun"/>
                          <a:cs typeface="SimSun"/>
                        </a:rPr>
                        <a:t>1个点3</a:t>
                      </a:r>
                      <a:r>
                        <a:rPr sz="2000" spc="-20" dirty="0">
                          <a:latin typeface="SimSun"/>
                          <a:cs typeface="SimSun"/>
                        </a:rPr>
                        <a:t>分。可以纯文化知识+材料分析，也可以纯哲学理论+材料分析，也可以哲学与文化混搭理论+材料分析。理论与材料要匹配</a:t>
                      </a:r>
                      <a:endParaRPr sz="2000" dirty="0">
                        <a:latin typeface="SimSun"/>
                        <a:cs typeface="SimSun"/>
                      </a:endParaRPr>
                    </a:p>
                    <a:p>
                      <a:pPr marL="91440">
                        <a:lnSpc>
                          <a:spcPct val="100000"/>
                        </a:lnSpc>
                      </a:pPr>
                      <a:r>
                        <a:rPr sz="2000" dirty="0">
                          <a:latin typeface="SimSun"/>
                          <a:cs typeface="SimSun"/>
                        </a:rPr>
                        <a:t>2</a:t>
                      </a:r>
                      <a:r>
                        <a:rPr sz="2000" spc="-15" dirty="0">
                          <a:latin typeface="SimSun"/>
                          <a:cs typeface="SimSun"/>
                        </a:rPr>
                        <a:t>、典型的不给分的答案：整体部分、真理和谬误、选必</a:t>
                      </a:r>
                      <a:r>
                        <a:rPr sz="2000" spc="-10" dirty="0">
                          <a:latin typeface="SimSun"/>
                          <a:cs typeface="SimSun"/>
                        </a:rPr>
                        <a:t>3（</a:t>
                      </a:r>
                      <a:r>
                        <a:rPr sz="2000" spc="-15" dirty="0">
                          <a:latin typeface="SimSun"/>
                          <a:cs typeface="SimSun"/>
                        </a:rPr>
                        <a:t>分析综合、创新思维发散聚合等）</a:t>
                      </a:r>
                      <a:r>
                        <a:rPr sz="2000" spc="-50" dirty="0">
                          <a:latin typeface="SimSun"/>
                          <a:cs typeface="SimSun"/>
                        </a:rPr>
                        <a:t>、</a:t>
                      </a:r>
                      <a:r>
                        <a:rPr sz="2000" spc="-20" dirty="0">
                          <a:latin typeface="SimSun"/>
                          <a:cs typeface="SimSun"/>
                        </a:rPr>
                        <a:t>文化价值和功能、中华文化特点、意义分析</a:t>
                      </a:r>
                      <a:endParaRPr sz="2000" dirty="0">
                        <a:latin typeface="SimSun"/>
                        <a:cs typeface="SimSun"/>
                      </a:endParaRPr>
                    </a:p>
                    <a:p>
                      <a:pPr marL="91440" marR="3175">
                        <a:lnSpc>
                          <a:spcPct val="100000"/>
                        </a:lnSpc>
                      </a:pPr>
                      <a:r>
                        <a:rPr sz="2000" dirty="0">
                          <a:latin typeface="SimSun"/>
                          <a:cs typeface="SimSun"/>
                        </a:rPr>
                        <a:t>3</a:t>
                      </a:r>
                      <a:r>
                        <a:rPr sz="2000" spc="-15" dirty="0">
                          <a:latin typeface="SimSun"/>
                          <a:cs typeface="SimSun"/>
                        </a:rPr>
                        <a:t>、原理不准确该条不给原理分，材料结合浮于表面酌情扣</a:t>
                      </a:r>
                      <a:r>
                        <a:rPr sz="2000" spc="-10" dirty="0">
                          <a:latin typeface="SimSun"/>
                          <a:cs typeface="SimSun"/>
                        </a:rPr>
                        <a:t>1</a:t>
                      </a:r>
                      <a:r>
                        <a:rPr sz="2000" spc="-50" dirty="0">
                          <a:latin typeface="SimSun"/>
                          <a:cs typeface="SimSun"/>
                        </a:rPr>
                        <a:t>分</a:t>
                      </a:r>
                      <a:endParaRPr sz="2000" dirty="0">
                        <a:latin typeface="SimSun"/>
                        <a:cs typeface="SimSun"/>
                      </a:endParaRPr>
                    </a:p>
                    <a:p>
                      <a:pPr marL="91440" marR="3175">
                        <a:lnSpc>
                          <a:spcPct val="100000"/>
                        </a:lnSpc>
                      </a:pPr>
                      <a:r>
                        <a:rPr sz="2000" dirty="0">
                          <a:latin typeface="SimSun"/>
                          <a:cs typeface="SimSun"/>
                        </a:rPr>
                        <a:t>4</a:t>
                      </a:r>
                      <a:r>
                        <a:rPr sz="2000" spc="-15" dirty="0">
                          <a:latin typeface="SimSun"/>
                          <a:cs typeface="SimSun"/>
                        </a:rPr>
                        <a:t>、通篇罗列知识没有结合材料 给</a:t>
                      </a:r>
                      <a:r>
                        <a:rPr sz="2000" dirty="0">
                          <a:latin typeface="SimSun"/>
                          <a:cs typeface="SimSun"/>
                        </a:rPr>
                        <a:t>2</a:t>
                      </a:r>
                      <a:r>
                        <a:rPr sz="2000" spc="-50" dirty="0">
                          <a:latin typeface="SimSun"/>
                          <a:cs typeface="SimSun"/>
                        </a:rPr>
                        <a:t>分</a:t>
                      </a:r>
                      <a:endParaRPr sz="2000" dirty="0">
                        <a:latin typeface="SimSun"/>
                        <a:cs typeface="SimSun"/>
                      </a:endParaRPr>
                    </a:p>
                    <a:p>
                      <a:pPr marL="91440" marR="3175">
                        <a:lnSpc>
                          <a:spcPct val="100000"/>
                        </a:lnSpc>
                      </a:pPr>
                      <a:r>
                        <a:rPr sz="2000" dirty="0">
                          <a:latin typeface="SimSun"/>
                          <a:cs typeface="SimSun"/>
                        </a:rPr>
                        <a:t>5</a:t>
                      </a:r>
                      <a:r>
                        <a:rPr sz="2000" spc="-15" dirty="0">
                          <a:latin typeface="SimSun"/>
                          <a:cs typeface="SimSun"/>
                        </a:rPr>
                        <a:t>、抄材料 </a:t>
                      </a:r>
                      <a:r>
                        <a:rPr sz="2000" dirty="0">
                          <a:latin typeface="SimSun"/>
                          <a:cs typeface="SimSun"/>
                        </a:rPr>
                        <a:t>0-1</a:t>
                      </a:r>
                      <a:r>
                        <a:rPr sz="2000" spc="-50" dirty="0">
                          <a:latin typeface="SimSun"/>
                          <a:cs typeface="SimSun"/>
                        </a:rPr>
                        <a:t>分</a:t>
                      </a:r>
                      <a:endParaRPr sz="2000" dirty="0">
                        <a:latin typeface="SimSun"/>
                        <a:cs typeface="SimSun"/>
                      </a:endParaRPr>
                    </a:p>
                  </a:txBody>
                  <a:tcPr marL="0" marR="0" marT="1492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4294967295"/>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033463" y="-38100"/>
            <a:ext cx="14258925" cy="6934200"/>
          </a:xfrm>
          <a:prstGeom prst="rect">
            <a:avLst/>
          </a:prstGeom>
        </p:spPr>
      </p:pic>
    </p:spTree>
    <p:extLst>
      <p:ext uri="{BB962C8B-B14F-4D97-AF65-F5344CB8AC3E}">
        <p14:creationId xmlns:p14="http://schemas.microsoft.com/office/powerpoint/2010/main" val="2942193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63016"/>
            <a:ext cx="3383279" cy="697230"/>
          </a:xfrm>
          <a:prstGeom prst="rect">
            <a:avLst/>
          </a:prstGeom>
        </p:spPr>
        <p:txBody>
          <a:bodyPr vert="horz" wrap="square" lIns="0" tIns="13335" rIns="0" bIns="0" rtlCol="0">
            <a:spAutoFit/>
          </a:bodyPr>
          <a:lstStyle/>
          <a:p>
            <a:pPr marL="12700">
              <a:lnSpc>
                <a:spcPct val="100000"/>
              </a:lnSpc>
              <a:spcBef>
                <a:spcPts val="105"/>
              </a:spcBef>
            </a:pPr>
            <a:r>
              <a:rPr sz="4400" spc="-10" dirty="0">
                <a:latin typeface="SimSun"/>
                <a:cs typeface="SimSun"/>
              </a:rPr>
              <a:t>学生典型问题</a:t>
            </a:r>
            <a:endParaRPr sz="4400">
              <a:latin typeface="SimSun"/>
              <a:cs typeface="SimSun"/>
            </a:endParaRPr>
          </a:p>
        </p:txBody>
      </p:sp>
      <p:sp>
        <p:nvSpPr>
          <p:cNvPr id="3" name="object 3"/>
          <p:cNvSpPr txBox="1"/>
          <p:nvPr/>
        </p:nvSpPr>
        <p:spPr>
          <a:xfrm>
            <a:off x="916939" y="1870913"/>
            <a:ext cx="10201275" cy="3821429"/>
          </a:xfrm>
          <a:prstGeom prst="rect">
            <a:avLst/>
          </a:prstGeom>
        </p:spPr>
        <p:txBody>
          <a:bodyPr vert="horz" wrap="square" lIns="0" tIns="12065" rIns="0" bIns="0" rtlCol="0">
            <a:spAutoFit/>
          </a:bodyPr>
          <a:lstStyle/>
          <a:p>
            <a:pPr marL="240029" marR="180975" indent="-227329">
              <a:lnSpc>
                <a:spcPct val="100000"/>
              </a:lnSpc>
              <a:spcBef>
                <a:spcPts val="95"/>
              </a:spcBef>
              <a:buFont typeface="Arial MT"/>
              <a:buChar char="•"/>
              <a:tabLst>
                <a:tab pos="241300" algn="l"/>
              </a:tabLst>
            </a:pPr>
            <a:r>
              <a:rPr sz="2800" dirty="0">
                <a:latin typeface="SimSun"/>
                <a:cs typeface="SimSun"/>
              </a:rPr>
              <a:t>1</a:t>
            </a:r>
            <a:r>
              <a:rPr sz="2800" spc="-45" dirty="0">
                <a:latin typeface="SimSun"/>
                <a:cs typeface="SimSun"/>
              </a:rPr>
              <a:t>. 无法识别设问任务要求，将措施类题目答成说明、意义类，	</a:t>
            </a:r>
            <a:r>
              <a:rPr sz="2800" spc="-40" dirty="0">
                <a:latin typeface="SimSun"/>
                <a:cs typeface="SimSun"/>
              </a:rPr>
              <a:t>答题过程中大段写“体现”“有利于”等；</a:t>
            </a:r>
            <a:endParaRPr sz="2800">
              <a:latin typeface="SimSun"/>
              <a:cs typeface="SimSun"/>
            </a:endParaRPr>
          </a:p>
          <a:p>
            <a:pPr marL="240029" marR="5080" indent="-227329">
              <a:lnSpc>
                <a:spcPct val="96500"/>
              </a:lnSpc>
              <a:spcBef>
                <a:spcPts val="1120"/>
              </a:spcBef>
              <a:buFont typeface="Arial MT"/>
              <a:buChar char="•"/>
              <a:tabLst>
                <a:tab pos="241300" algn="l"/>
              </a:tabLst>
            </a:pPr>
            <a:r>
              <a:rPr sz="2800" dirty="0">
                <a:latin typeface="SimSun"/>
                <a:cs typeface="SimSun"/>
              </a:rPr>
              <a:t>2</a:t>
            </a:r>
            <a:r>
              <a:rPr sz="2800" spc="-40" dirty="0">
                <a:latin typeface="SimSun"/>
                <a:cs typeface="SimSun"/>
              </a:rPr>
              <a:t>. 材料结合意识薄弱，仅仅是观点堆砌，或者大段照抄文段而	</a:t>
            </a:r>
            <a:r>
              <a:rPr sz="2800" spc="-35" dirty="0">
                <a:latin typeface="SimSun"/>
                <a:cs typeface="SimSun"/>
              </a:rPr>
              <a:t>缺少解读</a:t>
            </a:r>
            <a:r>
              <a:rPr sz="2800" spc="-45" dirty="0">
                <a:latin typeface="SimSun"/>
                <a:cs typeface="SimSun"/>
              </a:rPr>
              <a:t>（主张食物与药物之间并无绝对界限，很多食材既可以	</a:t>
            </a:r>
            <a:r>
              <a:rPr sz="2800" spc="-40" dirty="0">
                <a:latin typeface="SimSun"/>
                <a:cs typeface="SimSun"/>
              </a:rPr>
              <a:t>入药也可以作为日常饮食的一部分</a:t>
            </a:r>
            <a:r>
              <a:rPr sz="2800" spc="-50" dirty="0">
                <a:latin typeface="SimSun"/>
                <a:cs typeface="SimSun"/>
              </a:rPr>
              <a:t>）</a:t>
            </a:r>
            <a:endParaRPr sz="2800">
              <a:latin typeface="SimSun"/>
              <a:cs typeface="SimSun"/>
            </a:endParaRPr>
          </a:p>
          <a:p>
            <a:pPr marL="240029" marR="181610" indent="-227329">
              <a:lnSpc>
                <a:spcPct val="100000"/>
              </a:lnSpc>
              <a:spcBef>
                <a:spcPts val="1235"/>
              </a:spcBef>
              <a:buFont typeface="Arial MT"/>
              <a:buChar char="•"/>
              <a:tabLst>
                <a:tab pos="241300" algn="l"/>
              </a:tabLst>
            </a:pPr>
            <a:r>
              <a:rPr sz="2800" dirty="0">
                <a:latin typeface="SimSun"/>
                <a:cs typeface="SimSun"/>
              </a:rPr>
              <a:t>3</a:t>
            </a:r>
            <a:r>
              <a:rPr sz="2800" spc="-35" dirty="0">
                <a:latin typeface="SimSun"/>
                <a:cs typeface="SimSun"/>
              </a:rPr>
              <a:t>. 模块运用错误，核心观点再现不准确（</a:t>
            </a:r>
            <a:r>
              <a:rPr sz="2800" spc="-40" dirty="0">
                <a:latin typeface="SimSun"/>
                <a:cs typeface="SimSun"/>
              </a:rPr>
              <a:t>矛盾的斗争性与同一	</a:t>
            </a:r>
            <a:r>
              <a:rPr sz="2800" spc="-35" dirty="0">
                <a:latin typeface="SimSun"/>
                <a:cs typeface="SimSun"/>
              </a:rPr>
              <a:t>性、发展的实质、对传统文化的态度等</a:t>
            </a:r>
            <a:r>
              <a:rPr sz="2800" spc="-50" dirty="0">
                <a:latin typeface="SimSun"/>
                <a:cs typeface="SimSun"/>
              </a:rPr>
              <a:t>）</a:t>
            </a:r>
            <a:endParaRPr sz="2800">
              <a:latin typeface="SimSun"/>
              <a:cs typeface="SimSun"/>
            </a:endParaRPr>
          </a:p>
          <a:p>
            <a:pPr marL="240029" indent="-227329">
              <a:lnSpc>
                <a:spcPct val="100000"/>
              </a:lnSpc>
              <a:spcBef>
                <a:spcPts val="1010"/>
              </a:spcBef>
              <a:buFont typeface="Arial MT"/>
              <a:buChar char="•"/>
              <a:tabLst>
                <a:tab pos="240029" algn="l"/>
              </a:tabLst>
            </a:pPr>
            <a:r>
              <a:rPr sz="2800" dirty="0">
                <a:latin typeface="SimSun"/>
                <a:cs typeface="SimSun"/>
              </a:rPr>
              <a:t>4</a:t>
            </a:r>
            <a:r>
              <a:rPr sz="2800" spc="-15" dirty="0">
                <a:latin typeface="SimSun"/>
                <a:cs typeface="SimSun"/>
              </a:rPr>
              <a:t>. 答题与书写</a:t>
            </a:r>
            <a:r>
              <a:rPr sz="2800" spc="-35" dirty="0">
                <a:latin typeface="SimSun"/>
                <a:cs typeface="SimSun"/>
              </a:rPr>
              <a:t>（分条分点作答、字迹难以辨认</a:t>
            </a:r>
            <a:r>
              <a:rPr sz="2800" spc="-50" dirty="0">
                <a:latin typeface="SimSun"/>
                <a:cs typeface="SimSun"/>
              </a:rPr>
              <a:t>）</a:t>
            </a:r>
            <a:endParaRPr sz="2800">
              <a:latin typeface="SimSun"/>
              <a:cs typeface="SimSu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876300"/>
            <a:ext cx="12192000" cy="0"/>
          </a:xfrm>
          <a:custGeom>
            <a:avLst/>
            <a:gdLst/>
            <a:ahLst/>
            <a:cxnLst/>
            <a:rect l="l" t="t" r="r" b="b"/>
            <a:pathLst>
              <a:path w="12192000">
                <a:moveTo>
                  <a:pt x="0" y="0"/>
                </a:moveTo>
                <a:lnTo>
                  <a:pt x="12192000" y="0"/>
                </a:lnTo>
              </a:path>
            </a:pathLst>
          </a:custGeom>
          <a:ln w="50800">
            <a:solidFill>
              <a:srgbClr val="005DA1"/>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340995">
              <a:lnSpc>
                <a:spcPct val="100000"/>
              </a:lnSpc>
              <a:spcBef>
                <a:spcPts val="105"/>
              </a:spcBef>
            </a:pPr>
            <a:r>
              <a:rPr sz="3200" b="1" dirty="0">
                <a:solidFill>
                  <a:srgbClr val="005DA1"/>
                </a:solidFill>
                <a:latin typeface="Times New Roman"/>
                <a:cs typeface="Times New Roman"/>
              </a:rPr>
              <a:t>17</a:t>
            </a:r>
            <a:r>
              <a:rPr sz="3200" b="1" dirty="0">
                <a:solidFill>
                  <a:srgbClr val="005DA1"/>
                </a:solidFill>
                <a:latin typeface="Microsoft JhengHei"/>
                <a:cs typeface="Microsoft JhengHei"/>
              </a:rPr>
              <a:t>题</a:t>
            </a:r>
            <a:r>
              <a:rPr sz="3200" b="1" spc="-25" dirty="0">
                <a:solidFill>
                  <a:srgbClr val="005DA1"/>
                </a:solidFill>
                <a:latin typeface="Microsoft JhengHei"/>
                <a:cs typeface="Microsoft JhengHei"/>
              </a:rPr>
              <a:t>（</a:t>
            </a:r>
            <a:r>
              <a:rPr sz="3200" b="1" spc="-25" dirty="0">
                <a:solidFill>
                  <a:srgbClr val="005DA1"/>
                </a:solidFill>
                <a:latin typeface="Times New Roman"/>
                <a:cs typeface="Times New Roman"/>
              </a:rPr>
              <a:t>1</a:t>
            </a:r>
            <a:r>
              <a:rPr sz="3200" b="1" spc="-25" dirty="0">
                <a:solidFill>
                  <a:srgbClr val="005DA1"/>
                </a:solidFill>
                <a:latin typeface="Microsoft JhengHei"/>
                <a:cs typeface="Microsoft JhengHei"/>
              </a:rPr>
              <a:t>）</a:t>
            </a:r>
            <a:endParaRPr sz="3200">
              <a:latin typeface="Microsoft JhengHei"/>
              <a:cs typeface="Microsoft JhengHei"/>
            </a:endParaRPr>
          </a:p>
        </p:txBody>
      </p:sp>
      <p:sp>
        <p:nvSpPr>
          <p:cNvPr id="4" name="object 4"/>
          <p:cNvSpPr txBox="1"/>
          <p:nvPr/>
        </p:nvSpPr>
        <p:spPr>
          <a:xfrm>
            <a:off x="362508" y="1148842"/>
            <a:ext cx="6883400" cy="1218565"/>
          </a:xfrm>
          <a:prstGeom prst="rect">
            <a:avLst/>
          </a:prstGeom>
        </p:spPr>
        <p:txBody>
          <a:bodyPr vert="horz" wrap="square" lIns="0" tIns="12065" rIns="0" bIns="0" rtlCol="0">
            <a:spAutoFit/>
          </a:bodyPr>
          <a:lstStyle/>
          <a:p>
            <a:pPr marL="469900" indent="-457200">
              <a:lnSpc>
                <a:spcPct val="100000"/>
              </a:lnSpc>
              <a:spcBef>
                <a:spcPts val="95"/>
              </a:spcBef>
              <a:buFont typeface="Wingdings"/>
              <a:buChar char=""/>
              <a:tabLst>
                <a:tab pos="469900" algn="l"/>
              </a:tabLst>
            </a:pPr>
            <a:r>
              <a:rPr sz="2800" spc="-35" dirty="0">
                <a:latin typeface="SimSun"/>
                <a:cs typeface="SimSun"/>
              </a:rPr>
              <a:t>分三层，</a:t>
            </a:r>
            <a:r>
              <a:rPr sz="2800" b="1" spc="-35" dirty="0">
                <a:solidFill>
                  <a:srgbClr val="FF0000"/>
                </a:solidFill>
                <a:latin typeface="Microsoft JhengHei"/>
                <a:cs typeface="Microsoft JhengHei"/>
              </a:rPr>
              <a:t>注意前后逻辑要自洽</a:t>
            </a:r>
            <a:endParaRPr sz="2800">
              <a:latin typeface="Microsoft JhengHei"/>
              <a:cs typeface="Microsoft JhengHei"/>
            </a:endParaRPr>
          </a:p>
          <a:p>
            <a:pPr marL="469900" indent="-457200">
              <a:lnSpc>
                <a:spcPct val="100000"/>
              </a:lnSpc>
              <a:spcBef>
                <a:spcPts val="2680"/>
              </a:spcBef>
              <a:buFont typeface="Wingdings"/>
              <a:buChar char=""/>
              <a:tabLst>
                <a:tab pos="469900" algn="l"/>
              </a:tabLst>
            </a:pPr>
            <a:r>
              <a:rPr sz="2800" spc="-10" dirty="0">
                <a:latin typeface="SimSun"/>
                <a:cs typeface="SimSun"/>
              </a:rPr>
              <a:t>1.</a:t>
            </a:r>
            <a:r>
              <a:rPr sz="2800" spc="-35" dirty="0">
                <a:latin typeface="SimSun"/>
                <a:cs typeface="SimSun"/>
              </a:rPr>
              <a:t>科学思维具有客观性（可检验性</a:t>
            </a:r>
            <a:r>
              <a:rPr sz="2800" dirty="0">
                <a:latin typeface="SimSun"/>
                <a:cs typeface="SimSun"/>
              </a:rPr>
              <a:t>）</a:t>
            </a:r>
            <a:r>
              <a:rPr sz="2800" spc="80" dirty="0">
                <a:latin typeface="SimSun"/>
                <a:cs typeface="SimSun"/>
              </a:rPr>
              <a:t> </a:t>
            </a:r>
            <a:r>
              <a:rPr sz="2800" spc="-10" dirty="0">
                <a:latin typeface="SimSun"/>
                <a:cs typeface="SimSun"/>
              </a:rPr>
              <a:t>2</a:t>
            </a:r>
            <a:r>
              <a:rPr sz="2800" spc="-50" dirty="0">
                <a:latin typeface="SimSun"/>
                <a:cs typeface="SimSun"/>
              </a:rPr>
              <a:t>分</a:t>
            </a:r>
            <a:endParaRPr sz="2800">
              <a:latin typeface="SimSun"/>
              <a:cs typeface="SimSun"/>
            </a:endParaRPr>
          </a:p>
        </p:txBody>
      </p:sp>
      <p:sp>
        <p:nvSpPr>
          <p:cNvPr id="5" name="object 5"/>
          <p:cNvSpPr txBox="1"/>
          <p:nvPr/>
        </p:nvSpPr>
        <p:spPr>
          <a:xfrm>
            <a:off x="362508" y="3450716"/>
            <a:ext cx="11505565" cy="2626995"/>
          </a:xfrm>
          <a:prstGeom prst="rect">
            <a:avLst/>
          </a:prstGeom>
        </p:spPr>
        <p:txBody>
          <a:bodyPr vert="horz" wrap="square" lIns="0" tIns="12065" rIns="0" bIns="0" rtlCol="0">
            <a:spAutoFit/>
          </a:bodyPr>
          <a:lstStyle/>
          <a:p>
            <a:pPr marL="469900" indent="-457200">
              <a:lnSpc>
                <a:spcPct val="100000"/>
              </a:lnSpc>
              <a:spcBef>
                <a:spcPts val="95"/>
              </a:spcBef>
              <a:buFont typeface="Wingdings"/>
              <a:buChar char=""/>
              <a:tabLst>
                <a:tab pos="469900" algn="l"/>
              </a:tabLst>
            </a:pPr>
            <a:r>
              <a:rPr sz="2800" spc="-10" dirty="0">
                <a:latin typeface="SimSun"/>
                <a:cs typeface="SimSun"/>
              </a:rPr>
              <a:t>2.</a:t>
            </a:r>
            <a:r>
              <a:rPr sz="2800" spc="-35" dirty="0">
                <a:latin typeface="SimSun"/>
                <a:cs typeface="SimSun"/>
              </a:rPr>
              <a:t>规律（能量守恒定律</a:t>
            </a:r>
            <a:r>
              <a:rPr sz="2800" spc="-25" dirty="0">
                <a:latin typeface="SimSun"/>
                <a:cs typeface="SimSun"/>
              </a:rPr>
              <a:t>）1</a:t>
            </a:r>
            <a:r>
              <a:rPr sz="2800" spc="-50" dirty="0">
                <a:latin typeface="SimSun"/>
                <a:cs typeface="SimSun"/>
              </a:rPr>
              <a:t>分</a:t>
            </a:r>
            <a:endParaRPr sz="2800">
              <a:latin typeface="SimSun"/>
              <a:cs typeface="SimSun"/>
            </a:endParaRPr>
          </a:p>
          <a:p>
            <a:pPr>
              <a:lnSpc>
                <a:spcPct val="100000"/>
              </a:lnSpc>
              <a:spcBef>
                <a:spcPts val="3460"/>
              </a:spcBef>
              <a:buFont typeface="Wingdings"/>
              <a:buChar char=""/>
            </a:pPr>
            <a:endParaRPr sz="2800">
              <a:latin typeface="SimSun"/>
              <a:cs typeface="SimSun"/>
            </a:endParaRPr>
          </a:p>
          <a:p>
            <a:pPr marL="469900" marR="5080" indent="-457834">
              <a:lnSpc>
                <a:spcPct val="150000"/>
              </a:lnSpc>
              <a:buFont typeface="Wingdings"/>
              <a:buChar char=""/>
              <a:tabLst>
                <a:tab pos="469900" algn="l"/>
              </a:tabLst>
            </a:pPr>
            <a:r>
              <a:rPr sz="2800" spc="-10" dirty="0">
                <a:latin typeface="SimSun"/>
                <a:cs typeface="SimSun"/>
              </a:rPr>
              <a:t>3.</a:t>
            </a:r>
            <a:r>
              <a:rPr sz="2800" spc="-40" dirty="0">
                <a:latin typeface="SimSun"/>
                <a:cs typeface="SimSun"/>
              </a:rPr>
              <a:t>针对客观性的材料分析：没有符合客观条件/违背客观规律/违背客观</a:t>
            </a:r>
            <a:r>
              <a:rPr sz="2800" spc="-15" dirty="0">
                <a:latin typeface="SimSun"/>
                <a:cs typeface="SimSun"/>
              </a:rPr>
              <a:t>情况 </a:t>
            </a:r>
            <a:r>
              <a:rPr sz="2800" spc="-30" dirty="0">
                <a:latin typeface="SimSun"/>
                <a:cs typeface="SimSun"/>
              </a:rPr>
              <a:t>1</a:t>
            </a:r>
            <a:r>
              <a:rPr sz="2800" spc="-50" dirty="0">
                <a:latin typeface="SimSun"/>
                <a:cs typeface="SimSun"/>
              </a:rPr>
              <a:t>分</a:t>
            </a:r>
            <a:endParaRPr sz="2800">
              <a:latin typeface="SimSun"/>
              <a:cs typeface="SimSu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4294967295"/>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2314575" y="95250"/>
            <a:ext cx="16821150" cy="6667500"/>
          </a:xfrm>
          <a:prstGeom prst="rect">
            <a:avLst/>
          </a:prstGeom>
        </p:spPr>
      </p:pic>
    </p:spTree>
    <p:extLst>
      <p:ext uri="{BB962C8B-B14F-4D97-AF65-F5344CB8AC3E}">
        <p14:creationId xmlns:p14="http://schemas.microsoft.com/office/powerpoint/2010/main" val="2204523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990600"/>
            <a:ext cx="6116611" cy="5407462"/>
          </a:xfrm>
          <a:prstGeom prst="rect">
            <a:avLst/>
          </a:prstGeom>
        </p:spPr>
      </p:pic>
      <p:cxnSp>
        <p:nvCxnSpPr>
          <p:cNvPr id="4" name="直接连接符 3"/>
          <p:cNvCxnSpPr/>
          <p:nvPr/>
        </p:nvCxnSpPr>
        <p:spPr>
          <a:xfrm flipV="1">
            <a:off x="1027043" y="1447800"/>
            <a:ext cx="5373757" cy="3810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4191000" y="1975529"/>
            <a:ext cx="2448706" cy="1905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391305" y="2490995"/>
            <a:ext cx="6009495" cy="5106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667000" y="5255297"/>
            <a:ext cx="3733800" cy="250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971800" y="4178561"/>
            <a:ext cx="3429000" cy="1017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57200" y="5825234"/>
            <a:ext cx="55626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785112" y="773018"/>
            <a:ext cx="5257800" cy="2862322"/>
          </a:xfrm>
          <a:prstGeom prst="rect">
            <a:avLst/>
          </a:prstGeom>
          <a:ln w="38100">
            <a:solidFill>
              <a:schemeClr val="tx1"/>
            </a:solidFill>
          </a:ln>
        </p:spPr>
        <p:txBody>
          <a:bodyPr wrap="square">
            <a:spAutoFit/>
          </a:bodyPr>
          <a:lstStyle/>
          <a:p>
            <a:r>
              <a:rPr lang="zh-CN" altLang="en-US" dirty="0"/>
              <a:t>认识有反复性或无限性</a:t>
            </a:r>
            <a:r>
              <a:rPr lang="en-US" altLang="zh-CN" dirty="0"/>
              <a:t>2</a:t>
            </a:r>
            <a:r>
              <a:rPr lang="zh-CN" altLang="en-US" dirty="0"/>
              <a:t>分</a:t>
            </a:r>
            <a:r>
              <a:rPr lang="en-US" altLang="zh-CN" dirty="0"/>
              <a:t>/</a:t>
            </a:r>
            <a:r>
              <a:rPr lang="zh-CN" altLang="en-US" dirty="0"/>
              <a:t>追求真</a:t>
            </a:r>
          </a:p>
          <a:p>
            <a:r>
              <a:rPr lang="zh-CN" altLang="en-US" dirty="0"/>
              <a:t>理是一个过程</a:t>
            </a:r>
            <a:r>
              <a:rPr lang="en-US" altLang="zh-CN" dirty="0"/>
              <a:t>1</a:t>
            </a:r>
            <a:r>
              <a:rPr lang="zh-CN" altLang="en-US" dirty="0"/>
              <a:t>分</a:t>
            </a:r>
          </a:p>
          <a:p>
            <a:r>
              <a:rPr lang="zh-CN" altLang="en-US" dirty="0"/>
              <a:t>“实践是检验认识真理性的唯一标准”或“实践是认识发展的动力”</a:t>
            </a:r>
            <a:r>
              <a:rPr lang="en-US" altLang="zh-CN" dirty="0"/>
              <a:t>2</a:t>
            </a:r>
            <a:r>
              <a:rPr lang="zh-CN" altLang="en-US" dirty="0"/>
              <a:t>分</a:t>
            </a:r>
            <a:r>
              <a:rPr lang="en-US" altLang="zh-CN" dirty="0"/>
              <a:t>/“</a:t>
            </a:r>
            <a:r>
              <a:rPr lang="zh-CN" altLang="en-US" dirty="0"/>
              <a:t>实践是认识的基础”或“实践决定认识”</a:t>
            </a:r>
            <a:r>
              <a:rPr lang="en-US" altLang="zh-CN" dirty="0"/>
              <a:t>1</a:t>
            </a:r>
            <a:r>
              <a:rPr lang="zh-CN" altLang="en-US" dirty="0"/>
              <a:t>分</a:t>
            </a:r>
            <a:endParaRPr lang="en-US" altLang="zh-CN" dirty="0"/>
          </a:p>
          <a:p>
            <a:endParaRPr lang="en-US" altLang="zh-CN" dirty="0"/>
          </a:p>
          <a:p>
            <a:r>
              <a:rPr lang="zh-CN" altLang="en-US" dirty="0"/>
              <a:t>“事物发展的前途是光明的，道路</a:t>
            </a:r>
          </a:p>
          <a:p>
            <a:r>
              <a:rPr lang="zh-CN" altLang="en-US" dirty="0"/>
              <a:t>是曲折的”或“事物发展是前进性</a:t>
            </a:r>
          </a:p>
          <a:p>
            <a:r>
              <a:rPr lang="zh-CN" altLang="en-US" dirty="0"/>
              <a:t>和曲折性的统一”</a:t>
            </a:r>
            <a:r>
              <a:rPr lang="en-US" altLang="zh-CN" dirty="0"/>
              <a:t>2</a:t>
            </a:r>
            <a:r>
              <a:rPr lang="zh-CN" altLang="en-US" dirty="0"/>
              <a:t>分</a:t>
            </a:r>
          </a:p>
          <a:p>
            <a:endParaRPr lang="zh-CN" altLang="en-US" dirty="0"/>
          </a:p>
        </p:txBody>
      </p:sp>
      <p:sp>
        <p:nvSpPr>
          <p:cNvPr id="25" name="矩形 24"/>
          <p:cNvSpPr/>
          <p:nvPr/>
        </p:nvSpPr>
        <p:spPr>
          <a:xfrm>
            <a:off x="6573811" y="3833207"/>
            <a:ext cx="5465920" cy="447430"/>
          </a:xfrm>
          <a:prstGeom prst="rect">
            <a:avLst/>
          </a:prstGeom>
          <a:ln w="38100">
            <a:solidFill>
              <a:schemeClr val="tx1"/>
            </a:solidFill>
          </a:ln>
        </p:spPr>
        <p:txBody>
          <a:bodyPr wrap="none">
            <a:spAutoFit/>
          </a:bodyPr>
          <a:lstStyle/>
          <a:p>
            <a:pPr marL="91440" marR="120650">
              <a:lnSpc>
                <a:spcPct val="101000"/>
              </a:lnSpc>
              <a:spcBef>
                <a:spcPts val="225"/>
              </a:spcBef>
            </a:pPr>
            <a:r>
              <a:rPr lang="zh-CN" altLang="en-US" sz="2400" b="1" spc="-15" dirty="0">
                <a:latin typeface="SimSun"/>
                <a:cs typeface="SimSun"/>
              </a:rPr>
              <a:t>‘量变是质变的前提和必要准备“</a:t>
            </a:r>
            <a:r>
              <a:rPr lang="en-US" altLang="zh-CN" sz="2400" b="1" spc="-25" dirty="0">
                <a:latin typeface="Calibri"/>
                <a:cs typeface="Calibri"/>
              </a:rPr>
              <a:t>2</a:t>
            </a:r>
            <a:r>
              <a:rPr lang="zh-CN" altLang="en-US" sz="2400" b="1" spc="-50" dirty="0">
                <a:latin typeface="SimSun"/>
                <a:cs typeface="SimSun"/>
              </a:rPr>
              <a:t>分</a:t>
            </a:r>
            <a:endParaRPr lang="zh-CN" altLang="en-US" sz="2400" b="1" dirty="0">
              <a:latin typeface="SimSun"/>
              <a:cs typeface="SimSun"/>
            </a:endParaRPr>
          </a:p>
        </p:txBody>
      </p:sp>
      <p:sp>
        <p:nvSpPr>
          <p:cNvPr id="26" name="矩形 25"/>
          <p:cNvSpPr/>
          <p:nvPr/>
        </p:nvSpPr>
        <p:spPr>
          <a:xfrm>
            <a:off x="6593688" y="4901904"/>
            <a:ext cx="5598311" cy="1200329"/>
          </a:xfrm>
          <a:prstGeom prst="rect">
            <a:avLst/>
          </a:prstGeom>
          <a:ln w="38100">
            <a:solidFill>
              <a:schemeClr val="tx1"/>
            </a:solidFill>
          </a:ln>
        </p:spPr>
        <p:txBody>
          <a:bodyPr wrap="square">
            <a:spAutoFit/>
          </a:bodyPr>
          <a:lstStyle/>
          <a:p>
            <a:pPr marL="91440" marR="120650">
              <a:lnSpc>
                <a:spcPct val="100400"/>
              </a:lnSpc>
              <a:spcBef>
                <a:spcPts val="240"/>
              </a:spcBef>
            </a:pPr>
            <a:r>
              <a:rPr lang="zh-CN" altLang="en-US" sz="2400" b="1" spc="-15" dirty="0">
                <a:latin typeface="SimSun"/>
                <a:cs typeface="SimSun"/>
              </a:rPr>
              <a:t>“人民群众是社会历史的主体”或</a:t>
            </a:r>
            <a:r>
              <a:rPr lang="zh-CN" altLang="en-US" sz="2400" b="1" spc="-50" dirty="0">
                <a:latin typeface="SimSun"/>
                <a:cs typeface="SimSun"/>
              </a:rPr>
              <a:t> </a:t>
            </a:r>
            <a:r>
              <a:rPr lang="zh-CN" altLang="en-US" sz="2400" b="1" spc="-10" dirty="0">
                <a:latin typeface="SimSun"/>
                <a:cs typeface="SimSun"/>
              </a:rPr>
              <a:t>“人民群众是历史的创造者”或</a:t>
            </a:r>
            <a:r>
              <a:rPr lang="zh-CN" altLang="en-US" sz="2400" b="1" spc="500" dirty="0">
                <a:latin typeface="SimSun"/>
                <a:cs typeface="SimSun"/>
              </a:rPr>
              <a:t> </a:t>
            </a:r>
            <a:r>
              <a:rPr lang="zh-CN" altLang="en-US" sz="2400" b="1" spc="-20" dirty="0">
                <a:latin typeface="SimSun"/>
                <a:cs typeface="SimSun"/>
              </a:rPr>
              <a:t>“人民群众是精神财富的创造者”</a:t>
            </a:r>
            <a:r>
              <a:rPr lang="en-US" altLang="zh-CN" sz="2400" b="1" spc="-25" dirty="0">
                <a:latin typeface="Calibri"/>
                <a:cs typeface="Calibri"/>
              </a:rPr>
              <a:t>2</a:t>
            </a:r>
            <a:r>
              <a:rPr lang="zh-CN" altLang="en-US" sz="2400" b="1" spc="-50" dirty="0">
                <a:latin typeface="SimSun"/>
                <a:cs typeface="SimSun"/>
              </a:rPr>
              <a:t>分</a:t>
            </a:r>
            <a:endParaRPr lang="zh-CN" altLang="en-US" sz="2400" b="1" dirty="0">
              <a:latin typeface="SimSun"/>
              <a:cs typeface="SimSun"/>
            </a:endParaRPr>
          </a:p>
        </p:txBody>
      </p:sp>
      <p:sp>
        <p:nvSpPr>
          <p:cNvPr id="27" name="矩形 26"/>
          <p:cNvSpPr/>
          <p:nvPr/>
        </p:nvSpPr>
        <p:spPr>
          <a:xfrm>
            <a:off x="665921" y="126687"/>
            <a:ext cx="6096000" cy="646331"/>
          </a:xfrm>
          <a:prstGeom prst="rect">
            <a:avLst/>
          </a:prstGeom>
        </p:spPr>
        <p:txBody>
          <a:bodyPr>
            <a:spAutoFit/>
          </a:bodyPr>
          <a:lstStyle/>
          <a:p>
            <a:pPr marL="91440">
              <a:lnSpc>
                <a:spcPct val="100000"/>
              </a:lnSpc>
            </a:pPr>
            <a:r>
              <a:rPr lang="zh-CN" altLang="en-US" sz="1800" spc="-20" dirty="0">
                <a:latin typeface="SimSun"/>
                <a:cs typeface="SimSun"/>
              </a:rPr>
              <a:t>“矛盾双方在一定条件下相互转化”</a:t>
            </a:r>
            <a:r>
              <a:rPr lang="zh-CN" altLang="en-US" sz="1800" spc="-5" dirty="0">
                <a:latin typeface="SimSun"/>
                <a:cs typeface="SimSun"/>
              </a:rPr>
              <a:t>或“矛盾有同一性”</a:t>
            </a:r>
            <a:r>
              <a:rPr lang="en-US" altLang="zh-CN" sz="1800" spc="-10" dirty="0">
                <a:latin typeface="Calibri"/>
                <a:cs typeface="Calibri"/>
              </a:rPr>
              <a:t>2</a:t>
            </a:r>
            <a:r>
              <a:rPr lang="zh-CN" altLang="en-US" sz="1800" dirty="0">
                <a:latin typeface="SimSun"/>
                <a:cs typeface="SimSun"/>
              </a:rPr>
              <a:t>分</a:t>
            </a:r>
            <a:r>
              <a:rPr lang="en-US" altLang="zh-CN" sz="1800" spc="-10" dirty="0">
                <a:latin typeface="Calibri"/>
                <a:cs typeface="Calibri"/>
              </a:rPr>
              <a:t>/</a:t>
            </a:r>
            <a:r>
              <a:rPr lang="zh-CN" altLang="en-US" sz="1800" spc="-20" dirty="0">
                <a:latin typeface="SimSun"/>
                <a:cs typeface="SimSun"/>
              </a:rPr>
              <a:t>矛盾即对</a:t>
            </a:r>
            <a:r>
              <a:rPr lang="zh-CN" altLang="en-US" sz="1800" spc="-50" dirty="0">
                <a:latin typeface="SimSun"/>
                <a:cs typeface="SimSun"/>
              </a:rPr>
              <a:t> </a:t>
            </a:r>
            <a:r>
              <a:rPr lang="zh-CN" altLang="en-US" sz="1800" spc="-10" dirty="0">
                <a:latin typeface="SimSun"/>
                <a:cs typeface="SimSun"/>
              </a:rPr>
              <a:t>立统一</a:t>
            </a:r>
            <a:r>
              <a:rPr lang="en-US" altLang="zh-CN" sz="1800" dirty="0">
                <a:latin typeface="Calibri"/>
                <a:cs typeface="Calibri"/>
              </a:rPr>
              <a:t>1</a:t>
            </a:r>
            <a:r>
              <a:rPr lang="zh-CN" altLang="en-US" sz="1800" spc="-50" dirty="0">
                <a:latin typeface="SimSun"/>
                <a:cs typeface="SimSun"/>
              </a:rPr>
              <a:t>分</a:t>
            </a:r>
            <a:endParaRPr lang="zh-CN" altLang="en-US" sz="1800" dirty="0">
              <a:latin typeface="SimSun"/>
              <a:cs typeface="SimSun"/>
            </a:endParaRPr>
          </a:p>
        </p:txBody>
      </p:sp>
      <p:sp>
        <p:nvSpPr>
          <p:cNvPr id="29" name="文本框 28"/>
          <p:cNvSpPr txBox="1"/>
          <p:nvPr/>
        </p:nvSpPr>
        <p:spPr>
          <a:xfrm>
            <a:off x="1600200" y="6438844"/>
            <a:ext cx="2133600" cy="369332"/>
          </a:xfrm>
          <a:prstGeom prst="rect">
            <a:avLst/>
          </a:prstGeom>
          <a:noFill/>
        </p:spPr>
        <p:txBody>
          <a:bodyPr wrap="square" rtlCol="0">
            <a:spAutoFit/>
          </a:bodyPr>
          <a:lstStyle/>
          <a:p>
            <a:r>
              <a:rPr lang="zh-CN" altLang="en-US" b="1" dirty="0">
                <a:solidFill>
                  <a:srgbClr val="FF0000"/>
                </a:solidFill>
              </a:rPr>
              <a:t>问原因，侧重原理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xEl>
                                              <p:pRg st="0" end="0"/>
                                            </p:txEl>
                                          </p:spTgt>
                                        </p:tgtEl>
                                        <p:attrNameLst>
                                          <p:attrName>style.visibility</p:attrName>
                                        </p:attrNameLst>
                                      </p:cBhvr>
                                      <p:to>
                                        <p:strVal val="visible"/>
                                      </p:to>
                                    </p:set>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27863" y="118110"/>
          <a:ext cx="11556363" cy="6795134"/>
        </p:xfrm>
        <a:graphic>
          <a:graphicData uri="http://schemas.openxmlformats.org/drawingml/2006/table">
            <a:tbl>
              <a:tblPr firstRow="1" bandRow="1">
                <a:tableStyleId>{2D5ABB26-0587-4C30-8999-92F81FD0307C}</a:tableStyleId>
              </a:tblPr>
              <a:tblGrid>
                <a:gridCol w="978535">
                  <a:extLst>
                    <a:ext uri="{9D8B030D-6E8A-4147-A177-3AD203B41FA5}">
                      <a16:colId xmlns:a16="http://schemas.microsoft.com/office/drawing/2014/main" val="20000"/>
                    </a:ext>
                  </a:extLst>
                </a:gridCol>
                <a:gridCol w="4163059">
                  <a:extLst>
                    <a:ext uri="{9D8B030D-6E8A-4147-A177-3AD203B41FA5}">
                      <a16:colId xmlns:a16="http://schemas.microsoft.com/office/drawing/2014/main" val="20001"/>
                    </a:ext>
                  </a:extLst>
                </a:gridCol>
                <a:gridCol w="2143760">
                  <a:extLst>
                    <a:ext uri="{9D8B030D-6E8A-4147-A177-3AD203B41FA5}">
                      <a16:colId xmlns:a16="http://schemas.microsoft.com/office/drawing/2014/main" val="20002"/>
                    </a:ext>
                  </a:extLst>
                </a:gridCol>
                <a:gridCol w="1489075">
                  <a:extLst>
                    <a:ext uri="{9D8B030D-6E8A-4147-A177-3AD203B41FA5}">
                      <a16:colId xmlns:a16="http://schemas.microsoft.com/office/drawing/2014/main" val="20003"/>
                    </a:ext>
                  </a:extLst>
                </a:gridCol>
                <a:gridCol w="2781934">
                  <a:extLst>
                    <a:ext uri="{9D8B030D-6E8A-4147-A177-3AD203B41FA5}">
                      <a16:colId xmlns:a16="http://schemas.microsoft.com/office/drawing/2014/main" val="20004"/>
                    </a:ext>
                  </a:extLst>
                </a:gridCol>
              </a:tblGrid>
              <a:tr h="577850">
                <a:tc gridSpan="4">
                  <a:txBody>
                    <a:bodyPr/>
                    <a:lstStyle/>
                    <a:p>
                      <a:pPr marL="91440">
                        <a:lnSpc>
                          <a:spcPct val="100000"/>
                        </a:lnSpc>
                        <a:spcBef>
                          <a:spcPts val="250"/>
                        </a:spcBef>
                      </a:pPr>
                      <a:r>
                        <a:rPr sz="2400" dirty="0">
                          <a:solidFill>
                            <a:srgbClr val="FFFFFF"/>
                          </a:solidFill>
                          <a:latin typeface="SimSun"/>
                          <a:cs typeface="SimSun"/>
                        </a:rPr>
                        <a:t>关于观点的要求（侧重原理角度，表述准确，每个</a:t>
                      </a:r>
                      <a:r>
                        <a:rPr sz="2400" b="1" spc="-10" dirty="0">
                          <a:solidFill>
                            <a:srgbClr val="FFFFFF"/>
                          </a:solidFill>
                          <a:latin typeface="Calibri"/>
                          <a:cs typeface="Calibri"/>
                        </a:rPr>
                        <a:t>2</a:t>
                      </a:r>
                      <a:r>
                        <a:rPr sz="2400" dirty="0">
                          <a:solidFill>
                            <a:srgbClr val="FFFFFF"/>
                          </a:solidFill>
                          <a:latin typeface="SimSun"/>
                          <a:cs typeface="SimSun"/>
                        </a:rPr>
                        <a:t>分，共</a:t>
                      </a:r>
                      <a:r>
                        <a:rPr sz="2400" b="1" spc="-10" dirty="0">
                          <a:solidFill>
                            <a:srgbClr val="FFFFFF"/>
                          </a:solidFill>
                          <a:latin typeface="Calibri"/>
                          <a:cs typeface="Calibri"/>
                        </a:rPr>
                        <a:t>4</a:t>
                      </a:r>
                      <a:r>
                        <a:rPr sz="2400" dirty="0">
                          <a:solidFill>
                            <a:srgbClr val="FFFFFF"/>
                          </a:solidFill>
                          <a:latin typeface="SimSun"/>
                          <a:cs typeface="SimSun"/>
                        </a:rPr>
                        <a:t>分</a:t>
                      </a:r>
                      <a:r>
                        <a:rPr sz="2400" spc="-50" dirty="0">
                          <a:solidFill>
                            <a:srgbClr val="FFFFFF"/>
                          </a:solidFill>
                          <a:latin typeface="SimSun"/>
                          <a:cs typeface="SimSun"/>
                        </a:rPr>
                        <a:t>）</a:t>
                      </a:r>
                      <a:endParaRPr sz="2400">
                        <a:latin typeface="SimSun"/>
                        <a:cs typeface="SimSun"/>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rowSpan="2">
                  <a:txBody>
                    <a:bodyPr/>
                    <a:lstStyle/>
                    <a:p>
                      <a:pPr marL="92075">
                        <a:lnSpc>
                          <a:spcPct val="100000"/>
                        </a:lnSpc>
                        <a:spcBef>
                          <a:spcPts val="250"/>
                        </a:spcBef>
                      </a:pPr>
                      <a:r>
                        <a:rPr sz="2400" dirty="0">
                          <a:solidFill>
                            <a:srgbClr val="FFFFFF"/>
                          </a:solidFill>
                          <a:latin typeface="SimSun"/>
                          <a:cs typeface="SimSun"/>
                        </a:rPr>
                        <a:t>结合材料（共</a:t>
                      </a:r>
                      <a:r>
                        <a:rPr sz="2400" b="1" spc="-10" dirty="0">
                          <a:solidFill>
                            <a:srgbClr val="FFFFFF"/>
                          </a:solidFill>
                          <a:latin typeface="Calibri"/>
                          <a:cs typeface="Calibri"/>
                        </a:rPr>
                        <a:t>4</a:t>
                      </a:r>
                      <a:r>
                        <a:rPr sz="2400" dirty="0">
                          <a:solidFill>
                            <a:srgbClr val="FFFFFF"/>
                          </a:solidFill>
                          <a:latin typeface="SimSun"/>
                          <a:cs typeface="SimSun"/>
                        </a:rPr>
                        <a:t>分</a:t>
                      </a:r>
                      <a:r>
                        <a:rPr sz="2400" spc="-50" dirty="0">
                          <a:solidFill>
                            <a:srgbClr val="FFFFFF"/>
                          </a:solidFill>
                          <a:latin typeface="SimSun"/>
                          <a:cs typeface="SimSun"/>
                        </a:rPr>
                        <a:t>）</a:t>
                      </a:r>
                      <a:endParaRPr sz="2400">
                        <a:latin typeface="SimSun"/>
                        <a:cs typeface="SimSun"/>
                      </a:endParaRPr>
                    </a:p>
                  </a:txBody>
                  <a:tcPr marL="0" marR="0" marT="3175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457200">
                <a:tc>
                  <a:txBody>
                    <a:bodyPr/>
                    <a:lstStyle/>
                    <a:p>
                      <a:pPr marL="91440">
                        <a:lnSpc>
                          <a:spcPct val="100000"/>
                        </a:lnSpc>
                        <a:spcBef>
                          <a:spcPts val="250"/>
                        </a:spcBef>
                      </a:pPr>
                      <a:r>
                        <a:rPr sz="2400" spc="-25" dirty="0">
                          <a:latin typeface="SimSun"/>
                          <a:cs typeface="SimSun"/>
                        </a:rPr>
                        <a:t>角度</a:t>
                      </a:r>
                      <a:endParaRPr sz="2400">
                        <a:latin typeface="SimSun"/>
                        <a:cs typeface="SimSun"/>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1440" marR="30480">
                        <a:lnSpc>
                          <a:spcPct val="100000"/>
                        </a:lnSpc>
                        <a:spcBef>
                          <a:spcPts val="250"/>
                        </a:spcBef>
                      </a:pPr>
                      <a:r>
                        <a:rPr sz="2400" dirty="0">
                          <a:latin typeface="SimSun"/>
                          <a:cs typeface="SimSun"/>
                        </a:rPr>
                        <a:t>具体观点（给分表述</a:t>
                      </a:r>
                      <a:r>
                        <a:rPr sz="2400" spc="-50" dirty="0">
                          <a:latin typeface="SimSun"/>
                          <a:cs typeface="SimSun"/>
                        </a:rPr>
                        <a:t>）</a:t>
                      </a:r>
                      <a:endParaRPr sz="2400">
                        <a:latin typeface="SimSun"/>
                        <a:cs typeface="SimSun"/>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50"/>
                        </a:spcBef>
                      </a:pPr>
                      <a:r>
                        <a:rPr sz="2400" spc="-10" dirty="0">
                          <a:latin typeface="SimSun"/>
                          <a:cs typeface="SimSun"/>
                        </a:rPr>
                        <a:t>不给分表述</a:t>
                      </a:r>
                      <a:endParaRPr sz="2400">
                        <a:latin typeface="SimSun"/>
                        <a:cs typeface="SimSun"/>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50"/>
                        </a:spcBef>
                      </a:pPr>
                      <a:r>
                        <a:rPr sz="2400" spc="-15" dirty="0">
                          <a:latin typeface="SimSun"/>
                          <a:cs typeface="SimSun"/>
                        </a:rPr>
                        <a:t>选用说明</a:t>
                      </a:r>
                      <a:endParaRPr sz="2400">
                        <a:latin typeface="SimSun"/>
                        <a:cs typeface="SimSun"/>
                      </a:endParaRPr>
                    </a:p>
                  </a:txBody>
                  <a:tcPr marL="0" marR="0" marT="31750" marB="0">
                    <a:lnL w="12700">
                      <a:solidFill>
                        <a:srgbClr val="FFFFFF"/>
                      </a:solidFill>
                      <a:prstDash val="solid"/>
                    </a:lnL>
                    <a:lnR w="38100">
                      <a:solidFill>
                        <a:srgbClr val="FFFFFF"/>
                      </a:solidFill>
                      <a:prstDash val="solid"/>
                    </a:lnR>
                    <a:lnT w="38100">
                      <a:solidFill>
                        <a:srgbClr val="FFFFFF"/>
                      </a:solidFill>
                      <a:prstDash val="solid"/>
                    </a:lnT>
                    <a:lnB w="12700">
                      <a:solidFill>
                        <a:srgbClr val="FFFFFF"/>
                      </a:solidFill>
                      <a:prstDash val="solid"/>
                    </a:lnB>
                    <a:solidFill>
                      <a:srgbClr val="D2DEEE"/>
                    </a:solidFill>
                  </a:tcPr>
                </a:tc>
                <a:tc vMerge="1">
                  <a:txBody>
                    <a:bodyPr/>
                    <a:lstStyle/>
                    <a:p>
                      <a:endParaRPr/>
                    </a:p>
                  </a:txBody>
                  <a:tcPr marL="0" marR="0" marT="31750" marB="0">
                    <a:lnL w="381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1"/>
                  </a:ext>
                </a:extLst>
              </a:tr>
              <a:tr h="1920239">
                <a:tc>
                  <a:txBody>
                    <a:bodyPr/>
                    <a:lstStyle/>
                    <a:p>
                      <a:pPr>
                        <a:lnSpc>
                          <a:spcPct val="100000"/>
                        </a:lnSpc>
                      </a:pPr>
                      <a:endParaRPr sz="2000">
                        <a:latin typeface="Times New Roman"/>
                        <a:cs typeface="Times New Roman"/>
                      </a:endParaRPr>
                    </a:p>
                    <a:p>
                      <a:pPr>
                        <a:lnSpc>
                          <a:spcPct val="100000"/>
                        </a:lnSpc>
                        <a:spcBef>
                          <a:spcPts val="470"/>
                        </a:spcBef>
                      </a:pPr>
                      <a:endParaRPr sz="2000">
                        <a:latin typeface="Times New Roman"/>
                        <a:cs typeface="Times New Roman"/>
                      </a:endParaRPr>
                    </a:p>
                    <a:p>
                      <a:pPr marL="91440">
                        <a:lnSpc>
                          <a:spcPct val="100000"/>
                        </a:lnSpc>
                      </a:pPr>
                      <a:r>
                        <a:rPr sz="2000" spc="-20" dirty="0">
                          <a:latin typeface="SimSun"/>
                          <a:cs typeface="SimSun"/>
                        </a:rPr>
                        <a:t>认识论</a:t>
                      </a:r>
                      <a:endParaRPr sz="2000">
                        <a:latin typeface="SimSun"/>
                        <a:cs typeface="SimSu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1440" marR="30480">
                        <a:lnSpc>
                          <a:spcPct val="100000"/>
                        </a:lnSpc>
                        <a:spcBef>
                          <a:spcPts val="244"/>
                        </a:spcBef>
                      </a:pPr>
                      <a:r>
                        <a:rPr sz="2000" spc="-10" dirty="0">
                          <a:latin typeface="SimSun"/>
                          <a:cs typeface="SimSun"/>
                        </a:rPr>
                        <a:t>认识有反复性或无限性</a:t>
                      </a:r>
                      <a:r>
                        <a:rPr sz="2000" spc="-10" dirty="0">
                          <a:latin typeface="Calibri"/>
                          <a:cs typeface="Calibri"/>
                        </a:rPr>
                        <a:t>2</a:t>
                      </a:r>
                      <a:r>
                        <a:rPr sz="2000" spc="-10" dirty="0">
                          <a:latin typeface="SimSun"/>
                          <a:cs typeface="SimSun"/>
                        </a:rPr>
                        <a:t>分</a:t>
                      </a:r>
                      <a:r>
                        <a:rPr sz="2000" spc="-25" dirty="0">
                          <a:latin typeface="Calibri"/>
                          <a:cs typeface="Calibri"/>
                        </a:rPr>
                        <a:t>/</a:t>
                      </a:r>
                      <a:r>
                        <a:rPr sz="2000" spc="-25" dirty="0">
                          <a:latin typeface="SimSun"/>
                          <a:cs typeface="SimSun"/>
                        </a:rPr>
                        <a:t>追求真</a:t>
                      </a:r>
                      <a:endParaRPr sz="2000" dirty="0">
                        <a:latin typeface="SimSun"/>
                        <a:cs typeface="SimSun"/>
                      </a:endParaRPr>
                    </a:p>
                    <a:p>
                      <a:pPr marL="91440" marR="30480">
                        <a:lnSpc>
                          <a:spcPct val="100000"/>
                        </a:lnSpc>
                      </a:pPr>
                      <a:r>
                        <a:rPr sz="2000" dirty="0">
                          <a:latin typeface="SimSun"/>
                          <a:cs typeface="SimSun"/>
                        </a:rPr>
                        <a:t>理是一个过程</a:t>
                      </a:r>
                      <a:r>
                        <a:rPr sz="2000" dirty="0">
                          <a:latin typeface="Calibri"/>
                          <a:cs typeface="Calibri"/>
                        </a:rPr>
                        <a:t>1</a:t>
                      </a:r>
                      <a:r>
                        <a:rPr sz="2000" spc="-50" dirty="0">
                          <a:latin typeface="SimSun"/>
                          <a:cs typeface="SimSun"/>
                        </a:rPr>
                        <a:t>分</a:t>
                      </a:r>
                      <a:endParaRPr sz="2000" dirty="0">
                        <a:latin typeface="SimSun"/>
                        <a:cs typeface="SimSun"/>
                      </a:endParaRPr>
                    </a:p>
                    <a:p>
                      <a:pPr marL="91440" marR="120650">
                        <a:lnSpc>
                          <a:spcPct val="100000"/>
                        </a:lnSpc>
                      </a:pPr>
                      <a:r>
                        <a:rPr sz="2000" spc="-15" dirty="0">
                          <a:latin typeface="SimSun"/>
                          <a:cs typeface="SimSun"/>
                        </a:rPr>
                        <a:t>“实践是检验认识真理性的唯一标准”或“实践是认识发展的动力”</a:t>
                      </a:r>
                      <a:r>
                        <a:rPr sz="2000" spc="-25" dirty="0">
                          <a:latin typeface="Calibri"/>
                          <a:cs typeface="Calibri"/>
                        </a:rPr>
                        <a:t>2</a:t>
                      </a:r>
                      <a:r>
                        <a:rPr sz="2000" dirty="0">
                          <a:latin typeface="SimSun"/>
                          <a:cs typeface="SimSun"/>
                        </a:rPr>
                        <a:t>分</a:t>
                      </a:r>
                      <a:r>
                        <a:rPr sz="2000" spc="-10" dirty="0">
                          <a:latin typeface="Calibri"/>
                          <a:cs typeface="Calibri"/>
                        </a:rPr>
                        <a:t>/</a:t>
                      </a:r>
                      <a:r>
                        <a:rPr sz="2000" spc="-20" dirty="0">
                          <a:latin typeface="SimSun"/>
                          <a:cs typeface="SimSun"/>
                        </a:rPr>
                        <a:t>“实践是认识的基础”或“实践</a:t>
                      </a:r>
                      <a:r>
                        <a:rPr sz="2000" dirty="0">
                          <a:latin typeface="SimSun"/>
                          <a:cs typeface="SimSun"/>
                        </a:rPr>
                        <a:t>决定认识”</a:t>
                      </a:r>
                      <a:r>
                        <a:rPr sz="2000" dirty="0">
                          <a:latin typeface="Calibri"/>
                          <a:cs typeface="Calibri"/>
                        </a:rPr>
                        <a:t>1</a:t>
                      </a:r>
                      <a:r>
                        <a:rPr sz="2000" spc="-50" dirty="0">
                          <a:latin typeface="SimSun"/>
                          <a:cs typeface="SimSun"/>
                        </a:rPr>
                        <a:t>分</a:t>
                      </a:r>
                      <a:endParaRPr sz="2000" dirty="0">
                        <a:latin typeface="SimSun"/>
                        <a:cs typeface="SimSun"/>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275"/>
                        </a:spcBef>
                      </a:pPr>
                      <a:endParaRPr sz="2000">
                        <a:latin typeface="Times New Roman"/>
                        <a:cs typeface="Times New Roman"/>
                      </a:endParaRPr>
                    </a:p>
                    <a:p>
                      <a:pPr marL="92075" marR="257175">
                        <a:lnSpc>
                          <a:spcPct val="101499"/>
                        </a:lnSpc>
                      </a:pPr>
                      <a:r>
                        <a:rPr sz="2000" spc="-10" dirty="0">
                          <a:latin typeface="SimSun"/>
                          <a:cs typeface="SimSun"/>
                        </a:rPr>
                        <a:t>实践是认识的来源、目的不给分</a:t>
                      </a:r>
                      <a:endParaRPr sz="2000">
                        <a:latin typeface="SimSun"/>
                        <a:cs typeface="SimSun"/>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4">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1025"/>
                        </a:spcBef>
                      </a:pPr>
                      <a:endParaRPr sz="2000">
                        <a:latin typeface="Times New Roman"/>
                        <a:cs typeface="Times New Roman"/>
                      </a:endParaRPr>
                    </a:p>
                    <a:p>
                      <a:pPr marL="92075" marR="121285">
                        <a:lnSpc>
                          <a:spcPts val="2250"/>
                        </a:lnSpc>
                      </a:pPr>
                      <a:r>
                        <a:rPr sz="2000" dirty="0">
                          <a:latin typeface="SimSun"/>
                          <a:cs typeface="SimSun"/>
                        </a:rPr>
                        <a:t>采两个哲学观点，</a:t>
                      </a:r>
                      <a:endParaRPr sz="2000">
                        <a:latin typeface="SimSun"/>
                        <a:cs typeface="SimSun"/>
                      </a:endParaRPr>
                    </a:p>
                    <a:p>
                      <a:pPr>
                        <a:lnSpc>
                          <a:spcPct val="100000"/>
                        </a:lnSpc>
                        <a:spcBef>
                          <a:spcPts val="409"/>
                        </a:spcBef>
                      </a:pPr>
                      <a:endParaRPr sz="2000">
                        <a:latin typeface="Times New Roman"/>
                        <a:cs typeface="Times New Roman"/>
                      </a:endParaRPr>
                    </a:p>
                    <a:p>
                      <a:pPr marL="92075" marR="121285">
                        <a:lnSpc>
                          <a:spcPts val="2240"/>
                        </a:lnSpc>
                      </a:pPr>
                      <a:r>
                        <a:rPr sz="2000" dirty="0">
                          <a:latin typeface="SimSun"/>
                          <a:cs typeface="SimSun"/>
                        </a:rPr>
                        <a:t>分别从两个角度采，</a:t>
                      </a:r>
                      <a:endParaRPr sz="2000">
                        <a:latin typeface="SimSun"/>
                        <a:cs typeface="SimSun"/>
                      </a:endParaRPr>
                    </a:p>
                    <a:p>
                      <a:pPr>
                        <a:lnSpc>
                          <a:spcPct val="100000"/>
                        </a:lnSpc>
                        <a:spcBef>
                          <a:spcPts val="295"/>
                        </a:spcBef>
                      </a:pPr>
                      <a:endParaRPr sz="2000">
                        <a:latin typeface="Times New Roman"/>
                        <a:cs typeface="Times New Roman"/>
                      </a:endParaRPr>
                    </a:p>
                    <a:p>
                      <a:pPr marL="92075" marR="121285" algn="just">
                        <a:lnSpc>
                          <a:spcPct val="96800"/>
                        </a:lnSpc>
                      </a:pPr>
                      <a:r>
                        <a:rPr sz="2000" dirty="0">
                          <a:latin typeface="SimSun"/>
                          <a:cs typeface="SimSun"/>
                        </a:rPr>
                        <a:t>同一个角度的观点只选一个采分</a:t>
                      </a:r>
                      <a:endParaRPr sz="2000">
                        <a:latin typeface="SimSun"/>
                        <a:cs typeface="SimSu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AEEF7"/>
                    </a:solidFill>
                  </a:tcPr>
                </a:tc>
                <a:tc rowSpan="4">
                  <a:txBody>
                    <a:bodyPr/>
                    <a:lstStyle/>
                    <a:p>
                      <a:pPr marL="92075" marR="137160" indent="-81280">
                        <a:lnSpc>
                          <a:spcPct val="100800"/>
                        </a:lnSpc>
                        <a:spcBef>
                          <a:spcPts val="190"/>
                        </a:spcBef>
                        <a:buSzPct val="95000"/>
                        <a:buAutoNum type="arabicPeriod"/>
                        <a:tabLst>
                          <a:tab pos="264795" algn="l"/>
                        </a:tabLst>
                      </a:pPr>
                      <a:r>
                        <a:rPr sz="2000" spc="-15" dirty="0">
                          <a:latin typeface="SimSun"/>
                          <a:cs typeface="SimSun"/>
                        </a:rPr>
                        <a:t>	两个观点都能扣设问</a:t>
                      </a:r>
                      <a:r>
                        <a:rPr sz="2000" spc="-5" dirty="0">
                          <a:latin typeface="SimSun"/>
                          <a:cs typeface="SimSun"/>
                        </a:rPr>
                        <a:t>和题中具体信息结合材</a:t>
                      </a:r>
                      <a:r>
                        <a:rPr sz="2000" dirty="0">
                          <a:latin typeface="SimSun"/>
                          <a:cs typeface="SimSun"/>
                        </a:rPr>
                        <a:t>料可得</a:t>
                      </a:r>
                      <a:r>
                        <a:rPr sz="2000" dirty="0">
                          <a:latin typeface="Calibri"/>
                          <a:cs typeface="Calibri"/>
                        </a:rPr>
                        <a:t>3</a:t>
                      </a:r>
                      <a:r>
                        <a:rPr sz="2000" spc="-25" dirty="0">
                          <a:latin typeface="SimSun"/>
                          <a:cs typeface="SimSun"/>
                        </a:rPr>
                        <a:t>分；</a:t>
                      </a:r>
                      <a:endParaRPr sz="2000">
                        <a:latin typeface="SimSun"/>
                        <a:cs typeface="SimSun"/>
                      </a:endParaRPr>
                    </a:p>
                    <a:p>
                      <a:pPr marL="92075" marR="137160" algn="just">
                        <a:lnSpc>
                          <a:spcPts val="2400"/>
                        </a:lnSpc>
                        <a:spcBef>
                          <a:spcPts val="40"/>
                        </a:spcBef>
                      </a:pPr>
                      <a:r>
                        <a:rPr sz="2000" spc="-5" dirty="0">
                          <a:solidFill>
                            <a:srgbClr val="FF0000"/>
                          </a:solidFill>
                          <a:latin typeface="SimSun"/>
                          <a:cs typeface="SimSun"/>
                        </a:rPr>
                        <a:t>综合两个观点的阐述，</a:t>
                      </a:r>
                      <a:r>
                        <a:rPr sz="2000" dirty="0">
                          <a:solidFill>
                            <a:srgbClr val="FF0000"/>
                          </a:solidFill>
                          <a:latin typeface="SimSun"/>
                          <a:cs typeface="SimSun"/>
                        </a:rPr>
                        <a:t>结合材料充分（</a:t>
                      </a:r>
                      <a:r>
                        <a:rPr sz="2000" spc="-20" dirty="0">
                          <a:solidFill>
                            <a:srgbClr val="FF0000"/>
                          </a:solidFill>
                          <a:latin typeface="SimSun"/>
                          <a:cs typeface="SimSun"/>
                        </a:rPr>
                        <a:t>能回应</a:t>
                      </a:r>
                      <a:r>
                        <a:rPr sz="2000" spc="-10" dirty="0">
                          <a:solidFill>
                            <a:srgbClr val="FF0000"/>
                          </a:solidFill>
                          <a:latin typeface="SimSun"/>
                          <a:cs typeface="SimSun"/>
                        </a:rPr>
                        <a:t>设问）再得</a:t>
                      </a:r>
                      <a:r>
                        <a:rPr sz="2000" spc="-220" dirty="0">
                          <a:solidFill>
                            <a:srgbClr val="FF0000"/>
                          </a:solidFill>
                          <a:latin typeface="SimSun"/>
                          <a:cs typeface="SimSun"/>
                        </a:rPr>
                        <a:t>1</a:t>
                      </a:r>
                      <a:r>
                        <a:rPr sz="2000" spc="-20" dirty="0">
                          <a:solidFill>
                            <a:srgbClr val="FF0000"/>
                          </a:solidFill>
                          <a:latin typeface="SimSun"/>
                          <a:cs typeface="SimSun"/>
                        </a:rPr>
                        <a:t>分，不充</a:t>
                      </a:r>
                      <a:endParaRPr sz="2000">
                        <a:latin typeface="SimSun"/>
                        <a:cs typeface="SimSun"/>
                      </a:endParaRPr>
                    </a:p>
                    <a:p>
                      <a:pPr marL="92075">
                        <a:lnSpc>
                          <a:spcPts val="2320"/>
                        </a:lnSpc>
                      </a:pPr>
                      <a:r>
                        <a:rPr sz="2000" dirty="0">
                          <a:solidFill>
                            <a:srgbClr val="FF0000"/>
                          </a:solidFill>
                          <a:latin typeface="SimSun"/>
                          <a:cs typeface="SimSun"/>
                        </a:rPr>
                        <a:t>分不给这</a:t>
                      </a:r>
                      <a:r>
                        <a:rPr sz="2000" spc="-220" dirty="0">
                          <a:solidFill>
                            <a:srgbClr val="FF0000"/>
                          </a:solidFill>
                          <a:latin typeface="SimSun"/>
                          <a:cs typeface="SimSun"/>
                        </a:rPr>
                        <a:t>1</a:t>
                      </a:r>
                      <a:r>
                        <a:rPr sz="2000" spc="-50" dirty="0">
                          <a:solidFill>
                            <a:srgbClr val="FF0000"/>
                          </a:solidFill>
                          <a:latin typeface="SimSun"/>
                          <a:cs typeface="SimSun"/>
                        </a:rPr>
                        <a:t>分</a:t>
                      </a:r>
                      <a:endParaRPr sz="2000">
                        <a:latin typeface="SimSun"/>
                        <a:cs typeface="SimSun"/>
                      </a:endParaRPr>
                    </a:p>
                    <a:p>
                      <a:pPr marL="92075" marR="137160" indent="-37465" algn="just">
                        <a:lnSpc>
                          <a:spcPct val="100000"/>
                        </a:lnSpc>
                        <a:buSzPct val="95000"/>
                        <a:buAutoNum type="arabicPeriod" startAt="2"/>
                        <a:tabLst>
                          <a:tab pos="308610" algn="l"/>
                        </a:tabLst>
                      </a:pPr>
                      <a:r>
                        <a:rPr sz="2000" spc="-10" dirty="0">
                          <a:latin typeface="SimSun"/>
                          <a:cs typeface="SimSun"/>
                        </a:rPr>
                        <a:t>	每个观点有结合材料</a:t>
                      </a:r>
                      <a:r>
                        <a:rPr sz="2000" spc="-5" dirty="0">
                          <a:latin typeface="SimSun"/>
                          <a:cs typeface="SimSun"/>
                        </a:rPr>
                        <a:t>得语言，但不能扣设问</a:t>
                      </a:r>
                      <a:r>
                        <a:rPr sz="2000" spc="-10" dirty="0">
                          <a:latin typeface="SimSun"/>
                          <a:cs typeface="SimSun"/>
                        </a:rPr>
                        <a:t>或具体材料信息（</a:t>
                      </a:r>
                      <a:r>
                        <a:rPr sz="2000" spc="-30" dirty="0">
                          <a:latin typeface="SimSun"/>
                          <a:cs typeface="SimSun"/>
                        </a:rPr>
                        <a:t>即假</a:t>
                      </a:r>
                      <a:endParaRPr sz="2000">
                        <a:latin typeface="SimSun"/>
                        <a:cs typeface="SimSun"/>
                      </a:endParaRPr>
                    </a:p>
                    <a:p>
                      <a:pPr marL="92075">
                        <a:lnSpc>
                          <a:spcPts val="2380"/>
                        </a:lnSpc>
                        <a:spcBef>
                          <a:spcPts val="40"/>
                        </a:spcBef>
                      </a:pPr>
                      <a:r>
                        <a:rPr sz="2000" dirty="0">
                          <a:latin typeface="SimSun"/>
                          <a:cs typeface="SimSun"/>
                        </a:rPr>
                        <a:t>材料）得</a:t>
                      </a:r>
                      <a:r>
                        <a:rPr sz="2000" spc="-220" dirty="0">
                          <a:latin typeface="SimSun"/>
                          <a:cs typeface="SimSun"/>
                        </a:rPr>
                        <a:t>1</a:t>
                      </a:r>
                      <a:r>
                        <a:rPr sz="2000" spc="-25" dirty="0">
                          <a:latin typeface="SimSun"/>
                          <a:cs typeface="SimSun"/>
                        </a:rPr>
                        <a:t>分；</a:t>
                      </a:r>
                      <a:endParaRPr sz="2000">
                        <a:latin typeface="SimSun"/>
                        <a:cs typeface="SimSun"/>
                      </a:endParaRPr>
                    </a:p>
                    <a:p>
                      <a:pPr marL="92075" marR="137160">
                        <a:lnSpc>
                          <a:spcPts val="2400"/>
                        </a:lnSpc>
                        <a:spcBef>
                          <a:spcPts val="65"/>
                        </a:spcBef>
                      </a:pPr>
                      <a:r>
                        <a:rPr sz="2000" spc="135" dirty="0">
                          <a:latin typeface="SimSun"/>
                          <a:cs typeface="SimSun"/>
                        </a:rPr>
                        <a:t>3</a:t>
                      </a:r>
                      <a:r>
                        <a:rPr sz="2000" spc="-10" dirty="0">
                          <a:latin typeface="SimSun"/>
                          <a:cs typeface="SimSun"/>
                        </a:rPr>
                        <a:t>通篇无哲学观点，如</a:t>
                      </a:r>
                      <a:r>
                        <a:rPr sz="2000" spc="-5" dirty="0">
                          <a:latin typeface="SimSun"/>
                          <a:cs typeface="SimSun"/>
                        </a:rPr>
                        <a:t>果回应设问表述清楚酌</a:t>
                      </a:r>
                      <a:endParaRPr sz="2000">
                        <a:latin typeface="SimSun"/>
                        <a:cs typeface="SimSun"/>
                      </a:endParaRPr>
                    </a:p>
                    <a:p>
                      <a:pPr marL="92075">
                        <a:lnSpc>
                          <a:spcPts val="2355"/>
                        </a:lnSpc>
                      </a:pPr>
                      <a:r>
                        <a:rPr sz="2000" spc="-10" dirty="0">
                          <a:latin typeface="SimSun"/>
                          <a:cs typeface="SimSun"/>
                        </a:rPr>
                        <a:t>情给</a:t>
                      </a:r>
                      <a:r>
                        <a:rPr sz="2000" dirty="0">
                          <a:latin typeface="Calibri"/>
                          <a:cs typeface="Calibri"/>
                        </a:rPr>
                        <a:t>1</a:t>
                      </a:r>
                      <a:r>
                        <a:rPr sz="2000" spc="-10" dirty="0">
                          <a:latin typeface="SimSun"/>
                          <a:cs typeface="SimSun"/>
                        </a:rPr>
                        <a:t>分，否则无分，</a:t>
                      </a:r>
                      <a:endParaRPr sz="2000">
                        <a:latin typeface="SimSun"/>
                        <a:cs typeface="SimSun"/>
                      </a:endParaRPr>
                    </a:p>
                    <a:p>
                      <a:pPr marL="92075">
                        <a:lnSpc>
                          <a:spcPts val="2390"/>
                        </a:lnSpc>
                        <a:spcBef>
                          <a:spcPts val="25"/>
                        </a:spcBef>
                      </a:pPr>
                      <a:r>
                        <a:rPr sz="2000" spc="-10" dirty="0">
                          <a:latin typeface="SimSun"/>
                          <a:cs typeface="SimSun"/>
                        </a:rPr>
                        <a:t>纯抄材料无分</a:t>
                      </a:r>
                      <a:endParaRPr sz="2000">
                        <a:latin typeface="SimSun"/>
                        <a:cs typeface="SimSun"/>
                      </a:endParaRPr>
                    </a:p>
                    <a:p>
                      <a:pPr marL="92075" marR="198755">
                        <a:lnSpc>
                          <a:spcPts val="2420"/>
                        </a:lnSpc>
                        <a:spcBef>
                          <a:spcPts val="50"/>
                        </a:spcBef>
                      </a:pPr>
                      <a:r>
                        <a:rPr sz="2000" spc="-10" dirty="0">
                          <a:latin typeface="Calibri"/>
                          <a:cs typeface="Calibri"/>
                        </a:rPr>
                        <a:t>4.</a:t>
                      </a:r>
                      <a:r>
                        <a:rPr sz="2000" spc="-10" dirty="0">
                          <a:latin typeface="SimSun"/>
                          <a:cs typeface="SimSun"/>
                        </a:rPr>
                        <a:t>通篇堆砌观点，无材</a:t>
                      </a:r>
                      <a:r>
                        <a:rPr sz="2000" dirty="0">
                          <a:latin typeface="SimSun"/>
                          <a:cs typeface="SimSun"/>
                        </a:rPr>
                        <a:t>料，最多给</a:t>
                      </a:r>
                      <a:r>
                        <a:rPr sz="2000" dirty="0">
                          <a:latin typeface="Calibri"/>
                          <a:cs typeface="Calibri"/>
                        </a:rPr>
                        <a:t>2</a:t>
                      </a:r>
                      <a:r>
                        <a:rPr sz="2000" spc="-50" dirty="0">
                          <a:latin typeface="SimSun"/>
                          <a:cs typeface="SimSun"/>
                        </a:rPr>
                        <a:t>分</a:t>
                      </a:r>
                      <a:endParaRPr sz="2000">
                        <a:latin typeface="SimSun"/>
                        <a:cs typeface="SimSun"/>
                      </a:endParaRPr>
                    </a:p>
                  </a:txBody>
                  <a:tcPr marL="0" marR="0" marT="24130" marB="0">
                    <a:lnL w="12700">
                      <a:solidFill>
                        <a:srgbClr val="FFFFFF"/>
                      </a:solidFill>
                      <a:prstDash val="solid"/>
                    </a:lnL>
                    <a:lnR w="12700">
                      <a:solidFill>
                        <a:srgbClr val="FFFFFF"/>
                      </a:solidFill>
                      <a:prstDash val="solid"/>
                    </a:lnR>
                    <a:lnT w="38100">
                      <a:solidFill>
                        <a:srgbClr val="FFFFFF"/>
                      </a:solidFill>
                      <a:prstDash val="solid"/>
                    </a:lnT>
                    <a:solidFill>
                      <a:srgbClr val="EAEEF7"/>
                    </a:solidFill>
                  </a:tcPr>
                </a:tc>
                <a:extLst>
                  <a:ext uri="{0D108BD9-81ED-4DB2-BD59-A6C34878D82A}">
                    <a16:rowId xmlns:a16="http://schemas.microsoft.com/office/drawing/2014/main" val="10002"/>
                  </a:ext>
                </a:extLst>
              </a:tr>
              <a:tr h="1615440">
                <a:tc>
                  <a:txBody>
                    <a:bodyPr/>
                    <a:lstStyle/>
                    <a:p>
                      <a:pPr>
                        <a:lnSpc>
                          <a:spcPct val="100000"/>
                        </a:lnSpc>
                      </a:pPr>
                      <a:endParaRPr sz="2000">
                        <a:latin typeface="Times New Roman"/>
                        <a:cs typeface="Times New Roman"/>
                      </a:endParaRPr>
                    </a:p>
                    <a:p>
                      <a:pPr>
                        <a:lnSpc>
                          <a:spcPct val="100000"/>
                        </a:lnSpc>
                        <a:spcBef>
                          <a:spcPts val="470"/>
                        </a:spcBef>
                      </a:pPr>
                      <a:endParaRPr sz="2000">
                        <a:latin typeface="Times New Roman"/>
                        <a:cs typeface="Times New Roman"/>
                      </a:endParaRPr>
                    </a:p>
                    <a:p>
                      <a:pPr marL="91440">
                        <a:lnSpc>
                          <a:spcPct val="100000"/>
                        </a:lnSpc>
                        <a:spcBef>
                          <a:spcPts val="5"/>
                        </a:spcBef>
                      </a:pPr>
                      <a:r>
                        <a:rPr sz="2000" spc="-20" dirty="0">
                          <a:latin typeface="SimSun"/>
                          <a:cs typeface="SimSun"/>
                        </a:rPr>
                        <a:t>发展观</a:t>
                      </a:r>
                      <a:endParaRPr sz="2000">
                        <a:latin typeface="SimSun"/>
                        <a:cs typeface="SimSu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1440" marR="120650">
                        <a:lnSpc>
                          <a:spcPct val="101000"/>
                        </a:lnSpc>
                        <a:spcBef>
                          <a:spcPts val="225"/>
                        </a:spcBef>
                      </a:pPr>
                      <a:r>
                        <a:rPr sz="2000" spc="-15" dirty="0">
                          <a:latin typeface="SimSun"/>
                          <a:cs typeface="SimSun"/>
                        </a:rPr>
                        <a:t>‘量变是质变的前提和必要准备“</a:t>
                      </a:r>
                      <a:r>
                        <a:rPr sz="2000" spc="-25" dirty="0">
                          <a:latin typeface="Calibri"/>
                          <a:cs typeface="Calibri"/>
                        </a:rPr>
                        <a:t>2</a:t>
                      </a:r>
                      <a:r>
                        <a:rPr sz="2000" spc="-50" dirty="0">
                          <a:latin typeface="SimSun"/>
                          <a:cs typeface="SimSun"/>
                        </a:rPr>
                        <a:t>分</a:t>
                      </a:r>
                      <a:endParaRPr sz="2000" dirty="0">
                        <a:latin typeface="SimSun"/>
                        <a:cs typeface="SimSun"/>
                      </a:endParaRPr>
                    </a:p>
                    <a:p>
                      <a:pPr marL="91440" marR="30480">
                        <a:lnSpc>
                          <a:spcPts val="2375"/>
                        </a:lnSpc>
                      </a:pPr>
                      <a:r>
                        <a:rPr sz="2000" spc="-15" dirty="0">
                          <a:latin typeface="SimSun"/>
                          <a:cs typeface="SimSun"/>
                        </a:rPr>
                        <a:t>“事物发展的前途是光明的，道路</a:t>
                      </a:r>
                      <a:endParaRPr sz="2000" dirty="0">
                        <a:latin typeface="SimSun"/>
                        <a:cs typeface="SimSun"/>
                      </a:endParaRPr>
                    </a:p>
                    <a:p>
                      <a:pPr marL="91440" marR="30480">
                        <a:lnSpc>
                          <a:spcPct val="100000"/>
                        </a:lnSpc>
                      </a:pPr>
                      <a:r>
                        <a:rPr sz="2000" spc="-25" dirty="0">
                          <a:latin typeface="SimSun"/>
                          <a:cs typeface="SimSun"/>
                        </a:rPr>
                        <a:t>是曲折的”或“事物发展是前进性</a:t>
                      </a:r>
                      <a:endParaRPr sz="2000" dirty="0">
                        <a:latin typeface="SimSun"/>
                        <a:cs typeface="SimSun"/>
                      </a:endParaRPr>
                    </a:p>
                    <a:p>
                      <a:pPr marL="91440" marR="30480">
                        <a:lnSpc>
                          <a:spcPct val="100000"/>
                        </a:lnSpc>
                      </a:pPr>
                      <a:r>
                        <a:rPr sz="2000" dirty="0">
                          <a:latin typeface="SimSun"/>
                          <a:cs typeface="SimSun"/>
                        </a:rPr>
                        <a:t>和曲折性的统一”</a:t>
                      </a:r>
                      <a:r>
                        <a:rPr sz="2000" dirty="0">
                          <a:latin typeface="Calibri"/>
                          <a:cs typeface="Calibri"/>
                        </a:rPr>
                        <a:t>2</a:t>
                      </a:r>
                      <a:r>
                        <a:rPr sz="2000" spc="-50" dirty="0">
                          <a:latin typeface="SimSun"/>
                          <a:cs typeface="SimSun"/>
                        </a:rPr>
                        <a:t>分</a:t>
                      </a:r>
                      <a:endParaRPr sz="2000" dirty="0">
                        <a:latin typeface="SimSun"/>
                        <a:cs typeface="SimSun"/>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2075">
                        <a:lnSpc>
                          <a:spcPts val="2380"/>
                        </a:lnSpc>
                        <a:spcBef>
                          <a:spcPts val="250"/>
                        </a:spcBef>
                      </a:pPr>
                      <a:r>
                        <a:rPr sz="2000" spc="-10" dirty="0">
                          <a:latin typeface="SimSun"/>
                          <a:cs typeface="SimSun"/>
                        </a:rPr>
                        <a:t>笼统写事物是</a:t>
                      </a:r>
                      <a:endParaRPr sz="2000">
                        <a:latin typeface="SimSun"/>
                        <a:cs typeface="SimSun"/>
                      </a:endParaRPr>
                    </a:p>
                    <a:p>
                      <a:pPr marL="92075">
                        <a:lnSpc>
                          <a:spcPts val="2380"/>
                        </a:lnSpc>
                      </a:pPr>
                      <a:r>
                        <a:rPr sz="2000" dirty="0">
                          <a:latin typeface="SimSun"/>
                          <a:cs typeface="SimSun"/>
                        </a:rPr>
                        <a:t>（变化）</a:t>
                      </a:r>
                      <a:r>
                        <a:rPr sz="2000" spc="-20" dirty="0">
                          <a:latin typeface="SimSun"/>
                          <a:cs typeface="SimSun"/>
                        </a:rPr>
                        <a:t>发展的</a:t>
                      </a:r>
                      <a:endParaRPr sz="2000">
                        <a:latin typeface="SimSun"/>
                        <a:cs typeface="SimSun"/>
                      </a:endParaRPr>
                    </a:p>
                    <a:p>
                      <a:pPr marL="92075">
                        <a:lnSpc>
                          <a:spcPct val="100000"/>
                        </a:lnSpc>
                        <a:spcBef>
                          <a:spcPts val="60"/>
                        </a:spcBef>
                      </a:pPr>
                      <a:r>
                        <a:rPr sz="2000" spc="-20" dirty="0">
                          <a:latin typeface="SimSun"/>
                          <a:cs typeface="SimSun"/>
                        </a:rPr>
                        <a:t>不给分</a:t>
                      </a:r>
                      <a:endParaRPr sz="2000">
                        <a:latin typeface="SimSun"/>
                        <a:cs typeface="SimSun"/>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vMerge="1">
                  <a:txBody>
                    <a:bodyPr/>
                    <a:lstStyle/>
                    <a:p>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AEEF7"/>
                    </a:solidFill>
                  </a:tcPr>
                </a:tc>
                <a:tc vMerge="1">
                  <a:txBody>
                    <a:bodyPr/>
                    <a:lstStyle/>
                    <a:p>
                      <a:endParaRPr/>
                    </a:p>
                  </a:txBody>
                  <a:tcPr marL="0" marR="0" marT="24130" marB="0">
                    <a:lnL w="12700">
                      <a:solidFill>
                        <a:srgbClr val="FFFFFF"/>
                      </a:solidFill>
                      <a:prstDash val="solid"/>
                    </a:lnL>
                    <a:lnR w="12700">
                      <a:solidFill>
                        <a:srgbClr val="FFFFFF"/>
                      </a:solidFill>
                      <a:prstDash val="solid"/>
                    </a:lnR>
                    <a:lnT w="38100">
                      <a:solidFill>
                        <a:srgbClr val="FFFFFF"/>
                      </a:solidFill>
                      <a:prstDash val="solid"/>
                    </a:lnT>
                    <a:solidFill>
                      <a:srgbClr val="EAEEF7"/>
                    </a:solidFill>
                  </a:tcPr>
                </a:tc>
                <a:extLst>
                  <a:ext uri="{0D108BD9-81ED-4DB2-BD59-A6C34878D82A}">
                    <a16:rowId xmlns:a16="http://schemas.microsoft.com/office/drawing/2014/main" val="10003"/>
                  </a:ext>
                </a:extLst>
              </a:tr>
              <a:tr h="1310005">
                <a:tc>
                  <a:txBody>
                    <a:bodyPr/>
                    <a:lstStyle/>
                    <a:p>
                      <a:pPr marL="91440" marR="370205">
                        <a:lnSpc>
                          <a:spcPct val="100000"/>
                        </a:lnSpc>
                        <a:spcBef>
                          <a:spcPts val="275"/>
                        </a:spcBef>
                      </a:pPr>
                      <a:r>
                        <a:rPr sz="2000" spc="-25" dirty="0">
                          <a:latin typeface="SimSun"/>
                          <a:cs typeface="SimSun"/>
                        </a:rPr>
                        <a:t>群众观点</a:t>
                      </a:r>
                      <a:endParaRPr sz="2000">
                        <a:latin typeface="SimSun"/>
                        <a:cs typeface="SimSun"/>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1440" marR="120650">
                        <a:lnSpc>
                          <a:spcPct val="100400"/>
                        </a:lnSpc>
                        <a:spcBef>
                          <a:spcPts val="240"/>
                        </a:spcBef>
                      </a:pPr>
                      <a:r>
                        <a:rPr sz="2000" spc="-15" dirty="0">
                          <a:latin typeface="SimSun"/>
                          <a:cs typeface="SimSun"/>
                        </a:rPr>
                        <a:t>“人民群众是社会历史的主体”或</a:t>
                      </a:r>
                      <a:r>
                        <a:rPr sz="2000" spc="-50" dirty="0">
                          <a:latin typeface="SimSun"/>
                          <a:cs typeface="SimSun"/>
                        </a:rPr>
                        <a:t> </a:t>
                      </a:r>
                      <a:r>
                        <a:rPr sz="2000" spc="-10" dirty="0">
                          <a:latin typeface="SimSun"/>
                          <a:cs typeface="SimSun"/>
                        </a:rPr>
                        <a:t>“人民群众是历史的创造者”或</a:t>
                      </a:r>
                      <a:r>
                        <a:rPr sz="2000" spc="500" dirty="0">
                          <a:latin typeface="SimSun"/>
                          <a:cs typeface="SimSun"/>
                        </a:rPr>
                        <a:t> </a:t>
                      </a:r>
                      <a:r>
                        <a:rPr sz="2000" spc="-20" dirty="0">
                          <a:latin typeface="SimSun"/>
                          <a:cs typeface="SimSun"/>
                        </a:rPr>
                        <a:t>“人民群众是精神财富的创造者”</a:t>
                      </a:r>
                      <a:r>
                        <a:rPr sz="2000" spc="-25" dirty="0">
                          <a:latin typeface="Calibri"/>
                          <a:cs typeface="Calibri"/>
                        </a:rPr>
                        <a:t>2</a:t>
                      </a:r>
                      <a:r>
                        <a:rPr sz="2000" spc="-50" dirty="0">
                          <a:latin typeface="SimSun"/>
                          <a:cs typeface="SimSun"/>
                        </a:rPr>
                        <a:t>分</a:t>
                      </a:r>
                      <a:endParaRPr sz="2000" dirty="0">
                        <a:latin typeface="SimSun"/>
                        <a:cs typeface="SimSun"/>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xBody>
                    <a:bodyPr/>
                    <a:lstStyle/>
                    <a:p>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AEEF7"/>
                    </a:solidFill>
                  </a:tcPr>
                </a:tc>
                <a:tc vMerge="1">
                  <a:txBody>
                    <a:bodyPr/>
                    <a:lstStyle/>
                    <a:p>
                      <a:endParaRPr/>
                    </a:p>
                  </a:txBody>
                  <a:tcPr marL="0" marR="0" marT="24130" marB="0">
                    <a:lnL w="12700">
                      <a:solidFill>
                        <a:srgbClr val="FFFFFF"/>
                      </a:solidFill>
                      <a:prstDash val="solid"/>
                    </a:lnL>
                    <a:lnR w="12700">
                      <a:solidFill>
                        <a:srgbClr val="FFFFFF"/>
                      </a:solidFill>
                      <a:prstDash val="solid"/>
                    </a:lnR>
                    <a:lnT w="38100">
                      <a:solidFill>
                        <a:srgbClr val="FFFFFF"/>
                      </a:solidFill>
                      <a:prstDash val="solid"/>
                    </a:lnT>
                    <a:solidFill>
                      <a:srgbClr val="EAEEF7"/>
                    </a:solidFill>
                  </a:tcPr>
                </a:tc>
                <a:extLst>
                  <a:ext uri="{0D108BD9-81ED-4DB2-BD59-A6C34878D82A}">
                    <a16:rowId xmlns:a16="http://schemas.microsoft.com/office/drawing/2014/main" val="10004"/>
                  </a:ext>
                </a:extLst>
              </a:tr>
              <a:tr h="851535">
                <a:tc>
                  <a:txBody>
                    <a:bodyPr/>
                    <a:lstStyle/>
                    <a:p>
                      <a:pPr>
                        <a:lnSpc>
                          <a:spcPct val="100000"/>
                        </a:lnSpc>
                        <a:spcBef>
                          <a:spcPts val="375"/>
                        </a:spcBef>
                      </a:pPr>
                      <a:endParaRPr sz="2000">
                        <a:latin typeface="Times New Roman"/>
                        <a:cs typeface="Times New Roman"/>
                      </a:endParaRPr>
                    </a:p>
                    <a:p>
                      <a:pPr marL="91440">
                        <a:lnSpc>
                          <a:spcPct val="100000"/>
                        </a:lnSpc>
                        <a:spcBef>
                          <a:spcPts val="5"/>
                        </a:spcBef>
                      </a:pPr>
                      <a:r>
                        <a:rPr sz="2000" spc="-20" dirty="0">
                          <a:latin typeface="SimSun"/>
                          <a:cs typeface="SimSun"/>
                        </a:rPr>
                        <a:t>矛盾观</a:t>
                      </a:r>
                      <a:endParaRPr sz="2000">
                        <a:latin typeface="SimSun"/>
                        <a:cs typeface="SimSun"/>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solidFill>
                      <a:srgbClr val="D2DEEE"/>
                    </a:solidFill>
                  </a:tcPr>
                </a:tc>
                <a:tc>
                  <a:txBody>
                    <a:bodyPr/>
                    <a:lstStyle/>
                    <a:p>
                      <a:pPr marL="91440">
                        <a:lnSpc>
                          <a:spcPct val="100000"/>
                        </a:lnSpc>
                      </a:pPr>
                      <a:r>
                        <a:rPr sz="2000" spc="-20" dirty="0">
                          <a:latin typeface="SimSun"/>
                          <a:cs typeface="SimSun"/>
                        </a:rPr>
                        <a:t>“矛盾双方在一定条件下相互转化”</a:t>
                      </a:r>
                      <a:r>
                        <a:rPr sz="2000" spc="-5" dirty="0">
                          <a:latin typeface="SimSun"/>
                          <a:cs typeface="SimSun"/>
                        </a:rPr>
                        <a:t>或“矛盾有同一性”</a:t>
                      </a:r>
                      <a:r>
                        <a:rPr sz="2000" spc="-10" dirty="0">
                          <a:latin typeface="Calibri"/>
                          <a:cs typeface="Calibri"/>
                        </a:rPr>
                        <a:t>2</a:t>
                      </a:r>
                      <a:r>
                        <a:rPr sz="2000" dirty="0">
                          <a:latin typeface="SimSun"/>
                          <a:cs typeface="SimSun"/>
                        </a:rPr>
                        <a:t>分</a:t>
                      </a:r>
                      <a:r>
                        <a:rPr sz="2000" spc="-10" dirty="0">
                          <a:latin typeface="Calibri"/>
                          <a:cs typeface="Calibri"/>
                        </a:rPr>
                        <a:t>/</a:t>
                      </a:r>
                      <a:r>
                        <a:rPr sz="2000" spc="-20" dirty="0">
                          <a:latin typeface="SimSun"/>
                          <a:cs typeface="SimSun"/>
                        </a:rPr>
                        <a:t>矛盾即对</a:t>
                      </a:r>
                      <a:r>
                        <a:rPr sz="2000" spc="-50" dirty="0">
                          <a:latin typeface="SimSun"/>
                          <a:cs typeface="SimSun"/>
                        </a:rPr>
                        <a:t> </a:t>
                      </a:r>
                      <a:r>
                        <a:rPr sz="2000" spc="-10" dirty="0">
                          <a:latin typeface="SimSun"/>
                          <a:cs typeface="SimSun"/>
                        </a:rPr>
                        <a:t>立统一</a:t>
                      </a:r>
                      <a:r>
                        <a:rPr sz="2000" dirty="0">
                          <a:latin typeface="Calibri"/>
                          <a:cs typeface="Calibri"/>
                        </a:rPr>
                        <a:t>1</a:t>
                      </a:r>
                      <a:r>
                        <a:rPr sz="2000" spc="-50" dirty="0">
                          <a:latin typeface="SimSun"/>
                          <a:cs typeface="SimSun"/>
                        </a:rPr>
                        <a:t>分</a:t>
                      </a:r>
                      <a:endParaRPr sz="2000" dirty="0">
                        <a:latin typeface="SimSun"/>
                        <a:cs typeface="SimSu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D2DEEE"/>
                    </a:solidFill>
                  </a:tcPr>
                </a:tc>
                <a:tc>
                  <a:txBody>
                    <a:bodyPr/>
                    <a:lstStyle/>
                    <a:p>
                      <a:pPr>
                        <a:lnSpc>
                          <a:spcPct val="100000"/>
                        </a:lnSpc>
                      </a:pP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D2DEEE"/>
                    </a:solidFill>
                  </a:tcPr>
                </a:tc>
                <a:tc vMerge="1">
                  <a:txBody>
                    <a:bodyPr/>
                    <a:lstStyle/>
                    <a:p>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AEEF7"/>
                    </a:solidFill>
                  </a:tcPr>
                </a:tc>
                <a:tc vMerge="1">
                  <a:txBody>
                    <a:bodyPr/>
                    <a:lstStyle/>
                    <a:p>
                      <a:endParaRPr/>
                    </a:p>
                  </a:txBody>
                  <a:tcPr marL="0" marR="0" marT="24130" marB="0">
                    <a:lnL w="12700">
                      <a:solidFill>
                        <a:srgbClr val="FFFFFF"/>
                      </a:solidFill>
                      <a:prstDash val="solid"/>
                    </a:lnL>
                    <a:lnR w="12700">
                      <a:solidFill>
                        <a:srgbClr val="FFFFFF"/>
                      </a:solidFill>
                      <a:prstDash val="solid"/>
                    </a:lnR>
                    <a:lnT w="38100">
                      <a:solidFill>
                        <a:srgbClr val="FFFFFF"/>
                      </a:solidFill>
                      <a:prstDash val="solid"/>
                    </a:lnT>
                    <a:solidFill>
                      <a:srgbClr val="EAEE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4429" y="620344"/>
            <a:ext cx="2263140" cy="697230"/>
          </a:xfrm>
          <a:prstGeom prst="rect">
            <a:avLst/>
          </a:prstGeom>
        </p:spPr>
        <p:txBody>
          <a:bodyPr vert="horz" wrap="square" lIns="0" tIns="13335" rIns="0" bIns="0" rtlCol="0">
            <a:spAutoFit/>
          </a:bodyPr>
          <a:lstStyle/>
          <a:p>
            <a:pPr marL="12700">
              <a:lnSpc>
                <a:spcPct val="100000"/>
              </a:lnSpc>
              <a:spcBef>
                <a:spcPts val="105"/>
              </a:spcBef>
            </a:pPr>
            <a:r>
              <a:rPr sz="4400" spc="-20" dirty="0">
                <a:latin typeface="SimSun"/>
                <a:cs typeface="SimSun"/>
              </a:rPr>
              <a:t>知识问题</a:t>
            </a:r>
            <a:endParaRPr sz="4400">
              <a:latin typeface="SimSun"/>
              <a:cs typeface="SimSun"/>
            </a:endParaRPr>
          </a:p>
        </p:txBody>
      </p:sp>
      <p:sp>
        <p:nvSpPr>
          <p:cNvPr id="3" name="object 3"/>
          <p:cNvSpPr/>
          <p:nvPr/>
        </p:nvSpPr>
        <p:spPr>
          <a:xfrm>
            <a:off x="285546" y="1787169"/>
            <a:ext cx="11621135" cy="3872865"/>
          </a:xfrm>
          <a:custGeom>
            <a:avLst/>
            <a:gdLst/>
            <a:ahLst/>
            <a:cxnLst/>
            <a:rect l="l" t="t" r="r" b="b"/>
            <a:pathLst>
              <a:path w="11621135" h="3872865">
                <a:moveTo>
                  <a:pt x="0" y="3872484"/>
                </a:moveTo>
                <a:lnTo>
                  <a:pt x="11620881" y="3872484"/>
                </a:lnTo>
                <a:lnTo>
                  <a:pt x="11620881" y="0"/>
                </a:lnTo>
                <a:lnTo>
                  <a:pt x="0" y="0"/>
                </a:lnTo>
                <a:lnTo>
                  <a:pt x="0" y="3872484"/>
                </a:lnTo>
                <a:close/>
              </a:path>
            </a:pathLst>
          </a:custGeom>
          <a:ln w="9525">
            <a:solidFill>
              <a:srgbClr val="5B9BD4"/>
            </a:solidFill>
          </a:ln>
        </p:spPr>
        <p:txBody>
          <a:bodyPr wrap="square" lIns="0" tIns="0" rIns="0" bIns="0" rtlCol="0"/>
          <a:lstStyle/>
          <a:p>
            <a:endParaRPr/>
          </a:p>
        </p:txBody>
      </p:sp>
      <p:sp>
        <p:nvSpPr>
          <p:cNvPr id="4" name="object 4"/>
          <p:cNvSpPr txBox="1"/>
          <p:nvPr/>
        </p:nvSpPr>
        <p:spPr>
          <a:xfrm>
            <a:off x="364337" y="1727707"/>
            <a:ext cx="11603990" cy="3852545"/>
          </a:xfrm>
          <a:prstGeom prst="rect">
            <a:avLst/>
          </a:prstGeom>
        </p:spPr>
        <p:txBody>
          <a:bodyPr vert="horz" wrap="square" lIns="0" tIns="13335" rIns="0" bIns="0" rtlCol="0">
            <a:spAutoFit/>
          </a:bodyPr>
          <a:lstStyle/>
          <a:p>
            <a:pPr marL="241300" indent="-228600">
              <a:lnSpc>
                <a:spcPts val="3115"/>
              </a:lnSpc>
              <a:spcBef>
                <a:spcPts val="105"/>
              </a:spcBef>
              <a:buFont typeface="Arial MT"/>
              <a:buChar char="•"/>
              <a:tabLst>
                <a:tab pos="241300" algn="l"/>
              </a:tabLst>
            </a:pPr>
            <a:r>
              <a:rPr sz="2600" spc="-10" dirty="0">
                <a:latin typeface="SimSun"/>
                <a:cs typeface="SimSun"/>
              </a:rPr>
              <a:t>哲学观点表述不准确</a:t>
            </a:r>
            <a:endParaRPr sz="2600">
              <a:latin typeface="SimSun"/>
              <a:cs typeface="SimSun"/>
            </a:endParaRPr>
          </a:p>
          <a:p>
            <a:pPr marL="697865" lvl="1" indent="-227965">
              <a:lnSpc>
                <a:spcPts val="2620"/>
              </a:lnSpc>
              <a:buFont typeface="Arial MT"/>
              <a:buChar char="•"/>
              <a:tabLst>
                <a:tab pos="697865" algn="l"/>
              </a:tabLst>
            </a:pPr>
            <a:r>
              <a:rPr sz="2200" spc="-30" dirty="0">
                <a:latin typeface="SimSun"/>
                <a:cs typeface="SimSun"/>
              </a:rPr>
              <a:t>（事物）发展的前途</a:t>
            </a:r>
            <a:r>
              <a:rPr sz="2200" spc="-25" dirty="0">
                <a:latin typeface="Calibri"/>
                <a:cs typeface="Calibri"/>
              </a:rPr>
              <a:t>……</a:t>
            </a:r>
            <a:endParaRPr sz="2200">
              <a:latin typeface="Calibri"/>
              <a:cs typeface="Calibri"/>
            </a:endParaRPr>
          </a:p>
          <a:p>
            <a:pPr marL="697865" lvl="1" indent="-227965">
              <a:lnSpc>
                <a:spcPts val="2610"/>
              </a:lnSpc>
              <a:buFont typeface="Arial MT"/>
              <a:buChar char="•"/>
              <a:tabLst>
                <a:tab pos="697865" algn="l"/>
              </a:tabLst>
            </a:pPr>
            <a:r>
              <a:rPr sz="2200" spc="-35" dirty="0">
                <a:latin typeface="SimSun"/>
                <a:cs typeface="SimSun"/>
              </a:rPr>
              <a:t>量变是质变的必然（必要）</a:t>
            </a:r>
            <a:r>
              <a:rPr sz="2200" spc="-45" dirty="0">
                <a:latin typeface="SimSun"/>
                <a:cs typeface="SimSun"/>
              </a:rPr>
              <a:t>前提</a:t>
            </a:r>
            <a:endParaRPr sz="2200">
              <a:latin typeface="SimSun"/>
              <a:cs typeface="SimSun"/>
            </a:endParaRPr>
          </a:p>
          <a:p>
            <a:pPr marL="697865" lvl="1" indent="-227965">
              <a:lnSpc>
                <a:spcPts val="2615"/>
              </a:lnSpc>
              <a:buFont typeface="Arial MT"/>
              <a:buChar char="•"/>
              <a:tabLst>
                <a:tab pos="697865" algn="l"/>
              </a:tabLst>
            </a:pPr>
            <a:r>
              <a:rPr sz="2200" spc="-30" dirty="0">
                <a:latin typeface="SimSun"/>
                <a:cs typeface="SimSun"/>
              </a:rPr>
              <a:t>实践是认识（发展）的动力，实践是检验</a:t>
            </a:r>
            <a:r>
              <a:rPr sz="2200" spc="-25" dirty="0">
                <a:latin typeface="SimSun"/>
                <a:cs typeface="SimSun"/>
              </a:rPr>
              <a:t>（</a:t>
            </a:r>
            <a:r>
              <a:rPr sz="2200" spc="-30" dirty="0">
                <a:latin typeface="SimSun"/>
                <a:cs typeface="SimSun"/>
              </a:rPr>
              <a:t>认识</a:t>
            </a:r>
            <a:r>
              <a:rPr sz="2200" spc="-25" dirty="0">
                <a:latin typeface="SimSun"/>
                <a:cs typeface="SimSun"/>
              </a:rPr>
              <a:t>）</a:t>
            </a:r>
            <a:r>
              <a:rPr sz="2200" spc="-35" dirty="0">
                <a:latin typeface="SimSun"/>
                <a:cs typeface="SimSun"/>
              </a:rPr>
              <a:t>真理性的唯一标准</a:t>
            </a:r>
            <a:endParaRPr sz="2200">
              <a:latin typeface="SimSun"/>
              <a:cs typeface="SimSun"/>
            </a:endParaRPr>
          </a:p>
          <a:p>
            <a:pPr marL="697865" lvl="1" indent="-227965">
              <a:lnSpc>
                <a:spcPts val="2610"/>
              </a:lnSpc>
              <a:buFont typeface="Arial MT"/>
              <a:buChar char="•"/>
              <a:tabLst>
                <a:tab pos="697865" algn="l"/>
              </a:tabLst>
            </a:pPr>
            <a:r>
              <a:rPr sz="2200" spc="-30" dirty="0">
                <a:latin typeface="SimSun"/>
                <a:cs typeface="SimSun"/>
              </a:rPr>
              <a:t>人民（群众）是历史的创造者，人类（人民群众</a:t>
            </a:r>
            <a:r>
              <a:rPr sz="2200" spc="-25" dirty="0">
                <a:latin typeface="SimSun"/>
                <a:cs typeface="SimSun"/>
              </a:rPr>
              <a:t>）</a:t>
            </a:r>
            <a:r>
              <a:rPr sz="2200" spc="-35" dirty="0">
                <a:latin typeface="SimSun"/>
                <a:cs typeface="SimSun"/>
              </a:rPr>
              <a:t>是社会历史的主体</a:t>
            </a:r>
            <a:endParaRPr sz="2200">
              <a:latin typeface="SimSun"/>
              <a:cs typeface="SimSun"/>
            </a:endParaRPr>
          </a:p>
          <a:p>
            <a:pPr marL="697865" lvl="1" indent="-227965">
              <a:lnSpc>
                <a:spcPts val="2610"/>
              </a:lnSpc>
              <a:buFont typeface="Arial MT"/>
              <a:buChar char="•"/>
              <a:tabLst>
                <a:tab pos="697865" algn="l"/>
              </a:tabLst>
            </a:pPr>
            <a:r>
              <a:rPr sz="2200" spc="-30" dirty="0">
                <a:latin typeface="SimSun"/>
                <a:cs typeface="SimSun"/>
              </a:rPr>
              <a:t>人民群众是（推动</a:t>
            </a:r>
            <a:r>
              <a:rPr sz="2200" spc="-10" dirty="0">
                <a:latin typeface="Calibri"/>
                <a:cs typeface="Calibri"/>
              </a:rPr>
              <a:t>)</a:t>
            </a:r>
            <a:r>
              <a:rPr sz="2200" spc="-30" dirty="0">
                <a:latin typeface="SimSun"/>
                <a:cs typeface="SimSun"/>
              </a:rPr>
              <a:t>社会发展的主体（决定力量</a:t>
            </a:r>
            <a:r>
              <a:rPr sz="2200" spc="-50" dirty="0">
                <a:latin typeface="SimSun"/>
                <a:cs typeface="SimSun"/>
              </a:rPr>
              <a:t>）</a:t>
            </a:r>
            <a:endParaRPr sz="2200">
              <a:latin typeface="SimSun"/>
              <a:cs typeface="SimSun"/>
            </a:endParaRPr>
          </a:p>
          <a:p>
            <a:pPr marL="697865" lvl="1" indent="-227965">
              <a:lnSpc>
                <a:spcPts val="2620"/>
              </a:lnSpc>
              <a:buFont typeface="Arial MT"/>
              <a:buChar char="•"/>
              <a:tabLst>
                <a:tab pos="697865" algn="l"/>
              </a:tabLst>
            </a:pPr>
            <a:r>
              <a:rPr sz="2200" spc="-35" dirty="0">
                <a:latin typeface="SimSun"/>
                <a:cs typeface="SimSun"/>
              </a:rPr>
              <a:t>用矛盾（对立统一）</a:t>
            </a:r>
            <a:r>
              <a:rPr sz="2200" spc="-40" dirty="0">
                <a:latin typeface="SimSun"/>
                <a:cs typeface="SimSun"/>
              </a:rPr>
              <a:t>的观点看问题</a:t>
            </a:r>
            <a:endParaRPr sz="2200">
              <a:latin typeface="SimSun"/>
              <a:cs typeface="SimSun"/>
            </a:endParaRPr>
          </a:p>
          <a:p>
            <a:pPr marL="697865" lvl="1" indent="-227965">
              <a:lnSpc>
                <a:spcPts val="2610"/>
              </a:lnSpc>
              <a:buFont typeface="Arial MT"/>
              <a:buChar char="•"/>
              <a:tabLst>
                <a:tab pos="697865" algn="l"/>
              </a:tabLst>
            </a:pPr>
            <a:r>
              <a:rPr sz="2200" spc="-30" dirty="0">
                <a:latin typeface="SimSun"/>
                <a:cs typeface="SimSun"/>
              </a:rPr>
              <a:t>事物有前进性、上升性（事物发展的前途是光明的，事物发展是前进性和曲折性的统一</a:t>
            </a:r>
            <a:r>
              <a:rPr sz="2200" spc="-50" dirty="0">
                <a:latin typeface="SimSun"/>
                <a:cs typeface="SimSun"/>
              </a:rPr>
              <a:t>）</a:t>
            </a:r>
            <a:endParaRPr sz="2200">
              <a:latin typeface="SimSun"/>
              <a:cs typeface="SimSun"/>
            </a:endParaRPr>
          </a:p>
          <a:p>
            <a:pPr marL="697865" lvl="1" indent="-227965">
              <a:lnSpc>
                <a:spcPts val="2610"/>
              </a:lnSpc>
              <a:buFont typeface="Arial MT"/>
              <a:buChar char="•"/>
              <a:tabLst>
                <a:tab pos="697865" algn="l"/>
              </a:tabLst>
            </a:pPr>
            <a:r>
              <a:rPr sz="2200" spc="-30" dirty="0">
                <a:latin typeface="SimSun"/>
                <a:cs typeface="SimSun"/>
              </a:rPr>
              <a:t>真理（认识）</a:t>
            </a:r>
            <a:r>
              <a:rPr sz="2200" spc="-35" dirty="0">
                <a:latin typeface="SimSun"/>
                <a:cs typeface="SimSun"/>
              </a:rPr>
              <a:t>有反复性无限性</a:t>
            </a:r>
            <a:endParaRPr sz="2200">
              <a:latin typeface="SimSun"/>
              <a:cs typeface="SimSun"/>
            </a:endParaRPr>
          </a:p>
          <a:p>
            <a:pPr marL="697865" lvl="1" indent="-227965">
              <a:lnSpc>
                <a:spcPts val="2630"/>
              </a:lnSpc>
              <a:buFont typeface="Arial MT"/>
              <a:buChar char="•"/>
              <a:tabLst>
                <a:tab pos="697865" algn="l"/>
              </a:tabLst>
            </a:pPr>
            <a:r>
              <a:rPr sz="2200" spc="-25" dirty="0">
                <a:latin typeface="Calibri"/>
                <a:cs typeface="Calibri"/>
              </a:rPr>
              <a:t>……</a:t>
            </a:r>
            <a:endParaRPr sz="2200">
              <a:latin typeface="Calibri"/>
              <a:cs typeface="Calibri"/>
            </a:endParaRPr>
          </a:p>
          <a:p>
            <a:pPr marL="241300" indent="-228600">
              <a:lnSpc>
                <a:spcPct val="100000"/>
              </a:lnSpc>
              <a:spcBef>
                <a:spcPts val="355"/>
              </a:spcBef>
              <a:buFont typeface="Arial MT"/>
              <a:buChar char="•"/>
              <a:tabLst>
                <a:tab pos="241300" algn="l"/>
              </a:tabLst>
            </a:pPr>
            <a:r>
              <a:rPr sz="2600" spc="-10" dirty="0">
                <a:latin typeface="SimSun"/>
                <a:cs typeface="SimSun"/>
              </a:rPr>
              <a:t>有少部分答选必</a:t>
            </a:r>
            <a:r>
              <a:rPr sz="2600" spc="-10" dirty="0">
                <a:latin typeface="Calibri"/>
                <a:cs typeface="Calibri"/>
              </a:rPr>
              <a:t>3</a:t>
            </a:r>
            <a:r>
              <a:rPr sz="2600" spc="-10" dirty="0">
                <a:latin typeface="SimSun"/>
                <a:cs typeface="SimSun"/>
              </a:rPr>
              <a:t>知识</a:t>
            </a:r>
            <a:r>
              <a:rPr sz="2600" dirty="0">
                <a:latin typeface="SimSun"/>
                <a:cs typeface="SimSun"/>
              </a:rPr>
              <a:t>（</a:t>
            </a:r>
            <a:r>
              <a:rPr sz="2600" spc="-10" dirty="0">
                <a:latin typeface="SimSun"/>
                <a:cs typeface="SimSun"/>
              </a:rPr>
              <a:t>辩证思维</a:t>
            </a:r>
            <a:r>
              <a:rPr sz="2600" spc="-50" dirty="0">
                <a:latin typeface="SimSun"/>
                <a:cs typeface="SimSun"/>
              </a:rPr>
              <a:t>）</a:t>
            </a:r>
            <a:endParaRPr sz="2600">
              <a:latin typeface="SimSun"/>
              <a:cs typeface="SimSu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66921" y="620344"/>
            <a:ext cx="5059680" cy="697230"/>
          </a:xfrm>
          <a:prstGeom prst="rect">
            <a:avLst/>
          </a:prstGeom>
        </p:spPr>
        <p:txBody>
          <a:bodyPr vert="horz" wrap="square" lIns="0" tIns="13335" rIns="0" bIns="0" rtlCol="0">
            <a:spAutoFit/>
          </a:bodyPr>
          <a:lstStyle/>
          <a:p>
            <a:pPr marL="12700">
              <a:lnSpc>
                <a:spcPct val="100000"/>
              </a:lnSpc>
              <a:spcBef>
                <a:spcPts val="105"/>
              </a:spcBef>
            </a:pPr>
            <a:r>
              <a:rPr sz="4400" spc="-15" dirty="0">
                <a:latin typeface="SimSun"/>
                <a:cs typeface="SimSun"/>
              </a:rPr>
              <a:t>其他需要注意的问题</a:t>
            </a:r>
            <a:endParaRPr sz="4400">
              <a:latin typeface="SimSun"/>
              <a:cs typeface="SimSun"/>
            </a:endParaRPr>
          </a:p>
        </p:txBody>
      </p:sp>
      <p:sp>
        <p:nvSpPr>
          <p:cNvPr id="3" name="object 3"/>
          <p:cNvSpPr/>
          <p:nvPr/>
        </p:nvSpPr>
        <p:spPr>
          <a:xfrm>
            <a:off x="410679" y="1912366"/>
            <a:ext cx="11589385" cy="3410585"/>
          </a:xfrm>
          <a:custGeom>
            <a:avLst/>
            <a:gdLst/>
            <a:ahLst/>
            <a:cxnLst/>
            <a:rect l="l" t="t" r="r" b="b"/>
            <a:pathLst>
              <a:path w="11589385" h="3410585">
                <a:moveTo>
                  <a:pt x="0" y="3410458"/>
                </a:moveTo>
                <a:lnTo>
                  <a:pt x="11588877" y="3410458"/>
                </a:lnTo>
                <a:lnTo>
                  <a:pt x="11588877" y="0"/>
                </a:lnTo>
                <a:lnTo>
                  <a:pt x="0" y="0"/>
                </a:lnTo>
                <a:lnTo>
                  <a:pt x="0" y="3410458"/>
                </a:lnTo>
                <a:close/>
              </a:path>
            </a:pathLst>
          </a:custGeom>
          <a:ln w="9525">
            <a:solidFill>
              <a:srgbClr val="5B9BD4"/>
            </a:solidFill>
          </a:ln>
        </p:spPr>
        <p:txBody>
          <a:bodyPr wrap="square" lIns="0" tIns="0" rIns="0" bIns="0" rtlCol="0"/>
          <a:lstStyle/>
          <a:p>
            <a:endParaRPr/>
          </a:p>
        </p:txBody>
      </p:sp>
      <p:sp>
        <p:nvSpPr>
          <p:cNvPr id="4" name="object 4"/>
          <p:cNvSpPr txBox="1"/>
          <p:nvPr/>
        </p:nvSpPr>
        <p:spPr>
          <a:xfrm>
            <a:off x="489610" y="1827631"/>
            <a:ext cx="11154410" cy="3292475"/>
          </a:xfrm>
          <a:prstGeom prst="rect">
            <a:avLst/>
          </a:prstGeom>
        </p:spPr>
        <p:txBody>
          <a:bodyPr vert="horz" wrap="square" lIns="0" tIns="100965" rIns="0" bIns="0" rtlCol="0">
            <a:spAutoFit/>
          </a:bodyPr>
          <a:lstStyle/>
          <a:p>
            <a:pPr marL="241300" indent="-228600">
              <a:lnSpc>
                <a:spcPct val="100000"/>
              </a:lnSpc>
              <a:spcBef>
                <a:spcPts val="795"/>
              </a:spcBef>
              <a:buFont typeface="Arial MT"/>
              <a:buChar char="•"/>
              <a:tabLst>
                <a:tab pos="241300" algn="l"/>
              </a:tabLst>
            </a:pPr>
            <a:r>
              <a:rPr sz="2600" spc="-10" dirty="0">
                <a:latin typeface="SimSun"/>
                <a:cs typeface="SimSun"/>
              </a:rPr>
              <a:t>1</a:t>
            </a:r>
            <a:r>
              <a:rPr sz="2600" spc="-20" dirty="0">
                <a:latin typeface="SimSun"/>
                <a:cs typeface="SimSun"/>
              </a:rPr>
              <a:t>.区分哲学与逻辑、文化的知识</a:t>
            </a:r>
            <a:endParaRPr sz="2600">
              <a:latin typeface="SimSun"/>
              <a:cs typeface="SimSun"/>
            </a:endParaRPr>
          </a:p>
          <a:p>
            <a:pPr marL="241300" indent="-228600">
              <a:lnSpc>
                <a:spcPct val="100000"/>
              </a:lnSpc>
              <a:spcBef>
                <a:spcPts val="695"/>
              </a:spcBef>
              <a:buFont typeface="Arial MT"/>
              <a:buChar char="•"/>
              <a:tabLst>
                <a:tab pos="241300" algn="l"/>
              </a:tabLst>
            </a:pPr>
            <a:r>
              <a:rPr sz="2600" spc="-10" dirty="0">
                <a:latin typeface="SimSun"/>
                <a:cs typeface="SimSun"/>
              </a:rPr>
              <a:t>2</a:t>
            </a:r>
            <a:r>
              <a:rPr sz="2600" spc="-20" dirty="0">
                <a:latin typeface="SimSun"/>
                <a:cs typeface="SimSun"/>
              </a:rPr>
              <a:t>.准确表述基本观点；选择观点时要考虑尽量从不同角度选择；考虑逻辑性</a:t>
            </a:r>
            <a:endParaRPr sz="2600">
              <a:latin typeface="SimSun"/>
              <a:cs typeface="SimSun"/>
            </a:endParaRPr>
          </a:p>
          <a:p>
            <a:pPr marL="241300" indent="-228600">
              <a:lnSpc>
                <a:spcPct val="100000"/>
              </a:lnSpc>
              <a:spcBef>
                <a:spcPts val="685"/>
              </a:spcBef>
              <a:buFont typeface="Arial MT"/>
              <a:buChar char="•"/>
              <a:tabLst>
                <a:tab pos="241300" algn="l"/>
              </a:tabLst>
            </a:pPr>
            <a:r>
              <a:rPr sz="2600" spc="-10" dirty="0">
                <a:latin typeface="SimSun"/>
                <a:cs typeface="SimSun"/>
              </a:rPr>
              <a:t>3</a:t>
            </a:r>
            <a:r>
              <a:rPr sz="2600" spc="-20" dirty="0">
                <a:latin typeface="SimSun"/>
                <a:cs typeface="SimSun"/>
              </a:rPr>
              <a:t>.结合材料时准确把握材料信息及设问要求，并能与哲学观点一致</a:t>
            </a:r>
            <a:endParaRPr sz="2600">
              <a:latin typeface="SimSun"/>
              <a:cs typeface="SimSun"/>
            </a:endParaRPr>
          </a:p>
          <a:p>
            <a:pPr marL="241300" indent="-228600">
              <a:lnSpc>
                <a:spcPct val="100000"/>
              </a:lnSpc>
              <a:spcBef>
                <a:spcPts val="685"/>
              </a:spcBef>
              <a:buFont typeface="Arial MT"/>
              <a:buChar char="•"/>
              <a:tabLst>
                <a:tab pos="241300" algn="l"/>
              </a:tabLst>
            </a:pPr>
            <a:r>
              <a:rPr sz="2600" spc="-10" dirty="0">
                <a:latin typeface="SimSun"/>
                <a:cs typeface="SimSun"/>
              </a:rPr>
              <a:t>4</a:t>
            </a:r>
            <a:r>
              <a:rPr sz="2600" spc="-15" dirty="0">
                <a:latin typeface="SimSun"/>
                <a:cs typeface="SimSun"/>
              </a:rPr>
              <a:t>.忌堆砌观点或几个观点一起写</a:t>
            </a:r>
            <a:r>
              <a:rPr sz="2600" dirty="0">
                <a:latin typeface="SimSun"/>
                <a:cs typeface="SimSun"/>
              </a:rPr>
              <a:t>（</a:t>
            </a:r>
            <a:r>
              <a:rPr sz="2600" spc="-15" dirty="0">
                <a:latin typeface="SimSun"/>
                <a:cs typeface="SimSun"/>
              </a:rPr>
              <a:t>只结合一个材料</a:t>
            </a:r>
            <a:r>
              <a:rPr sz="2600" spc="-50" dirty="0">
                <a:latin typeface="SimSun"/>
                <a:cs typeface="SimSun"/>
              </a:rPr>
              <a:t>）</a:t>
            </a:r>
            <a:endParaRPr sz="2600">
              <a:latin typeface="SimSun"/>
              <a:cs typeface="SimSun"/>
            </a:endParaRPr>
          </a:p>
          <a:p>
            <a:pPr marL="241300" indent="-228600">
              <a:lnSpc>
                <a:spcPct val="100000"/>
              </a:lnSpc>
              <a:spcBef>
                <a:spcPts val="695"/>
              </a:spcBef>
              <a:buFont typeface="Arial MT"/>
              <a:buChar char="•"/>
              <a:tabLst>
                <a:tab pos="241300" algn="l"/>
              </a:tabLst>
            </a:pPr>
            <a:r>
              <a:rPr sz="2600" spc="-10" dirty="0">
                <a:latin typeface="SimSun"/>
                <a:cs typeface="SimSun"/>
              </a:rPr>
              <a:t>5</a:t>
            </a:r>
            <a:r>
              <a:rPr sz="2600" spc="-15" dirty="0">
                <a:latin typeface="SimSun"/>
                <a:cs typeface="SimSun"/>
              </a:rPr>
              <a:t>.非短文要分点写</a:t>
            </a:r>
            <a:endParaRPr sz="2600">
              <a:latin typeface="SimSun"/>
              <a:cs typeface="SimSun"/>
            </a:endParaRPr>
          </a:p>
          <a:p>
            <a:pPr marL="241300" indent="-228600">
              <a:lnSpc>
                <a:spcPct val="100000"/>
              </a:lnSpc>
              <a:spcBef>
                <a:spcPts val="685"/>
              </a:spcBef>
              <a:buFont typeface="Arial MT"/>
              <a:buChar char="•"/>
              <a:tabLst>
                <a:tab pos="241300" algn="l"/>
              </a:tabLst>
            </a:pPr>
            <a:r>
              <a:rPr sz="2600" spc="-10" dirty="0">
                <a:latin typeface="SimSun"/>
                <a:cs typeface="SimSun"/>
              </a:rPr>
              <a:t>6</a:t>
            </a:r>
            <a:r>
              <a:rPr sz="2600" spc="-25" dirty="0">
                <a:latin typeface="SimSun"/>
                <a:cs typeface="SimSun"/>
              </a:rPr>
              <a:t>.一般情况下，要“原理+方法论+材料”</a:t>
            </a:r>
            <a:endParaRPr sz="2600">
              <a:latin typeface="SimSun"/>
              <a:cs typeface="SimSun"/>
            </a:endParaRPr>
          </a:p>
          <a:p>
            <a:pPr marL="697865" lvl="1" indent="-227965">
              <a:lnSpc>
                <a:spcPct val="100000"/>
              </a:lnSpc>
              <a:spcBef>
                <a:spcPts val="225"/>
              </a:spcBef>
              <a:buFont typeface="Arial MT"/>
              <a:buChar char="•"/>
              <a:tabLst>
                <a:tab pos="697865" algn="l"/>
              </a:tabLst>
            </a:pPr>
            <a:r>
              <a:rPr sz="2200" spc="-35" dirty="0">
                <a:latin typeface="SimSun"/>
                <a:cs typeface="SimSun"/>
              </a:rPr>
              <a:t>具体设问偏向方法论角度还是偏向原理角度要会审度</a:t>
            </a:r>
            <a:endParaRPr sz="2200">
              <a:latin typeface="SimSun"/>
              <a:cs typeface="SimSu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15048" y="154810"/>
            <a:ext cx="10452735" cy="6703695"/>
            <a:chOff x="615048" y="154810"/>
            <a:chExt cx="10452735" cy="6703695"/>
          </a:xfrm>
        </p:grpSpPr>
        <p:pic>
          <p:nvPicPr>
            <p:cNvPr id="3" name="object 3"/>
            <p:cNvPicPr/>
            <p:nvPr/>
          </p:nvPicPr>
          <p:blipFill>
            <a:blip r:embed="rId2" cstate="print"/>
            <a:stretch>
              <a:fillRect/>
            </a:stretch>
          </p:blipFill>
          <p:spPr>
            <a:xfrm>
              <a:off x="1124889" y="154810"/>
              <a:ext cx="9942195" cy="6703185"/>
            </a:xfrm>
            <a:prstGeom prst="rect">
              <a:avLst/>
            </a:prstGeom>
          </p:spPr>
        </p:pic>
        <p:sp>
          <p:nvSpPr>
            <p:cNvPr id="4" name="object 4"/>
            <p:cNvSpPr/>
            <p:nvPr/>
          </p:nvSpPr>
          <p:spPr>
            <a:xfrm>
              <a:off x="1384427" y="712215"/>
              <a:ext cx="9683115" cy="4118610"/>
            </a:xfrm>
            <a:custGeom>
              <a:avLst/>
              <a:gdLst/>
              <a:ahLst/>
              <a:cxnLst/>
              <a:rect l="l" t="t" r="r" b="b"/>
              <a:pathLst>
                <a:path w="9683115" h="4118610">
                  <a:moveTo>
                    <a:pt x="954531" y="0"/>
                  </a:moveTo>
                  <a:lnTo>
                    <a:pt x="5083810" y="0"/>
                  </a:lnTo>
                </a:path>
                <a:path w="9683115" h="4118610">
                  <a:moveTo>
                    <a:pt x="6363970" y="1403731"/>
                  </a:moveTo>
                  <a:lnTo>
                    <a:pt x="9682734" y="1403731"/>
                  </a:lnTo>
                </a:path>
                <a:path w="9683115" h="4118610">
                  <a:moveTo>
                    <a:pt x="0" y="2077466"/>
                  </a:moveTo>
                  <a:lnTo>
                    <a:pt x="3389757" y="2077466"/>
                  </a:lnTo>
                </a:path>
                <a:path w="9683115" h="4118610">
                  <a:moveTo>
                    <a:pt x="143636" y="4118102"/>
                  </a:moveTo>
                  <a:lnTo>
                    <a:pt x="6739255" y="4023360"/>
                  </a:lnTo>
                </a:path>
              </a:pathLst>
            </a:custGeom>
            <a:ln w="38100">
              <a:solidFill>
                <a:srgbClr val="FF0000"/>
              </a:solidFill>
            </a:ln>
          </p:spPr>
          <p:txBody>
            <a:bodyPr wrap="square" lIns="0" tIns="0" rIns="0" bIns="0" rtlCol="0"/>
            <a:lstStyle/>
            <a:p>
              <a:endParaRPr/>
            </a:p>
          </p:txBody>
        </p:sp>
        <p:sp>
          <p:nvSpPr>
            <p:cNvPr id="5" name="object 5"/>
            <p:cNvSpPr/>
            <p:nvPr/>
          </p:nvSpPr>
          <p:spPr>
            <a:xfrm>
              <a:off x="643623" y="873505"/>
              <a:ext cx="7785100" cy="4608830"/>
            </a:xfrm>
            <a:custGeom>
              <a:avLst/>
              <a:gdLst/>
              <a:ahLst/>
              <a:cxnLst/>
              <a:rect l="l" t="t" r="r" b="b"/>
              <a:pathLst>
                <a:path w="7785100" h="4608830">
                  <a:moveTo>
                    <a:pt x="3350907" y="404241"/>
                  </a:moveTo>
                  <a:lnTo>
                    <a:pt x="3302141" y="403417"/>
                  </a:lnTo>
                  <a:lnTo>
                    <a:pt x="3262341" y="401177"/>
                  </a:lnTo>
                  <a:lnTo>
                    <a:pt x="3235518" y="397865"/>
                  </a:lnTo>
                  <a:lnTo>
                    <a:pt x="3225685" y="393827"/>
                  </a:lnTo>
                  <a:lnTo>
                    <a:pt x="3225685" y="10414"/>
                  </a:lnTo>
                  <a:lnTo>
                    <a:pt x="3235518" y="6375"/>
                  </a:lnTo>
                  <a:lnTo>
                    <a:pt x="3262341" y="3063"/>
                  </a:lnTo>
                  <a:lnTo>
                    <a:pt x="3302141" y="823"/>
                  </a:lnTo>
                  <a:lnTo>
                    <a:pt x="3350907" y="0"/>
                  </a:lnTo>
                </a:path>
                <a:path w="7785100" h="4608830">
                  <a:moveTo>
                    <a:pt x="4205109" y="1834388"/>
                  </a:moveTo>
                  <a:lnTo>
                    <a:pt x="4147021" y="1833407"/>
                  </a:lnTo>
                  <a:lnTo>
                    <a:pt x="4099588" y="1830736"/>
                  </a:lnTo>
                  <a:lnTo>
                    <a:pt x="4067610" y="1826779"/>
                  </a:lnTo>
                  <a:lnTo>
                    <a:pt x="4055884" y="1821942"/>
                  </a:lnTo>
                  <a:lnTo>
                    <a:pt x="4055884" y="1502918"/>
                  </a:lnTo>
                  <a:lnTo>
                    <a:pt x="4067610" y="1498080"/>
                  </a:lnTo>
                  <a:lnTo>
                    <a:pt x="4099588" y="1494123"/>
                  </a:lnTo>
                  <a:lnTo>
                    <a:pt x="4147021" y="1491452"/>
                  </a:lnTo>
                  <a:lnTo>
                    <a:pt x="4205109" y="1490472"/>
                  </a:lnTo>
                </a:path>
                <a:path w="7785100" h="4608830">
                  <a:moveTo>
                    <a:pt x="7784477" y="3909441"/>
                  </a:moveTo>
                  <a:lnTo>
                    <a:pt x="7735765" y="3908617"/>
                  </a:lnTo>
                  <a:lnTo>
                    <a:pt x="7695958" y="3906377"/>
                  </a:lnTo>
                  <a:lnTo>
                    <a:pt x="7669106" y="3903065"/>
                  </a:lnTo>
                  <a:lnTo>
                    <a:pt x="7659255" y="3899027"/>
                  </a:lnTo>
                  <a:lnTo>
                    <a:pt x="7659255" y="3515614"/>
                  </a:lnTo>
                  <a:lnTo>
                    <a:pt x="7669106" y="3511575"/>
                  </a:lnTo>
                  <a:lnTo>
                    <a:pt x="7695958" y="3508263"/>
                  </a:lnTo>
                  <a:lnTo>
                    <a:pt x="7735765" y="3506023"/>
                  </a:lnTo>
                  <a:lnTo>
                    <a:pt x="7784477" y="3505200"/>
                  </a:lnTo>
                </a:path>
                <a:path w="7785100" h="4608830">
                  <a:moveTo>
                    <a:pt x="2638564" y="724281"/>
                  </a:moveTo>
                  <a:lnTo>
                    <a:pt x="2676055" y="724906"/>
                  </a:lnTo>
                  <a:lnTo>
                    <a:pt x="2706652" y="726614"/>
                  </a:lnTo>
                  <a:lnTo>
                    <a:pt x="2727272" y="729156"/>
                  </a:lnTo>
                  <a:lnTo>
                    <a:pt x="2734830" y="732282"/>
                  </a:lnTo>
                  <a:lnTo>
                    <a:pt x="2734830" y="1156335"/>
                  </a:lnTo>
                  <a:lnTo>
                    <a:pt x="2727272" y="1159460"/>
                  </a:lnTo>
                  <a:lnTo>
                    <a:pt x="2706652" y="1162002"/>
                  </a:lnTo>
                  <a:lnTo>
                    <a:pt x="2676055" y="1163710"/>
                  </a:lnTo>
                  <a:lnTo>
                    <a:pt x="2638564" y="1164336"/>
                  </a:lnTo>
                </a:path>
                <a:path w="7785100" h="4608830">
                  <a:moveTo>
                    <a:pt x="2714002" y="2119630"/>
                  </a:moveTo>
                  <a:lnTo>
                    <a:pt x="2751439" y="2120255"/>
                  </a:lnTo>
                  <a:lnTo>
                    <a:pt x="2782042" y="2121963"/>
                  </a:lnTo>
                  <a:lnTo>
                    <a:pt x="2802692" y="2124505"/>
                  </a:lnTo>
                  <a:lnTo>
                    <a:pt x="2810268" y="2127631"/>
                  </a:lnTo>
                  <a:lnTo>
                    <a:pt x="2810268" y="2551684"/>
                  </a:lnTo>
                  <a:lnTo>
                    <a:pt x="2802692" y="2554809"/>
                  </a:lnTo>
                  <a:lnTo>
                    <a:pt x="2782042" y="2557351"/>
                  </a:lnTo>
                  <a:lnTo>
                    <a:pt x="2751439" y="2559059"/>
                  </a:lnTo>
                  <a:lnTo>
                    <a:pt x="2714002" y="2559685"/>
                  </a:lnTo>
                </a:path>
                <a:path w="7785100" h="4608830">
                  <a:moveTo>
                    <a:pt x="5728347" y="4168521"/>
                  </a:moveTo>
                  <a:lnTo>
                    <a:pt x="5765784" y="4169146"/>
                  </a:lnTo>
                  <a:lnTo>
                    <a:pt x="5796387" y="4170854"/>
                  </a:lnTo>
                  <a:lnTo>
                    <a:pt x="5817037" y="4173396"/>
                  </a:lnTo>
                  <a:lnTo>
                    <a:pt x="5824613" y="4176522"/>
                  </a:lnTo>
                  <a:lnTo>
                    <a:pt x="5824613" y="4600575"/>
                  </a:lnTo>
                  <a:lnTo>
                    <a:pt x="5817037" y="4603700"/>
                  </a:lnTo>
                  <a:lnTo>
                    <a:pt x="5796387" y="4606242"/>
                  </a:lnTo>
                  <a:lnTo>
                    <a:pt x="5765784" y="4607950"/>
                  </a:lnTo>
                  <a:lnTo>
                    <a:pt x="5728347" y="4608576"/>
                  </a:lnTo>
                </a:path>
                <a:path w="7785100" h="4608830">
                  <a:moveTo>
                    <a:pt x="481266" y="3694430"/>
                  </a:moveTo>
                  <a:lnTo>
                    <a:pt x="405209" y="3692390"/>
                  </a:lnTo>
                  <a:lnTo>
                    <a:pt x="339151" y="3686712"/>
                  </a:lnTo>
                  <a:lnTo>
                    <a:pt x="287058" y="3678053"/>
                  </a:lnTo>
                  <a:lnTo>
                    <a:pt x="240626" y="3654425"/>
                  </a:lnTo>
                  <a:lnTo>
                    <a:pt x="240626" y="2718562"/>
                  </a:lnTo>
                  <a:lnTo>
                    <a:pt x="228359" y="2705902"/>
                  </a:lnTo>
                  <a:lnTo>
                    <a:pt x="194199" y="2694889"/>
                  </a:lnTo>
                  <a:lnTo>
                    <a:pt x="142110" y="2686192"/>
                  </a:lnTo>
                  <a:lnTo>
                    <a:pt x="76056" y="2680482"/>
                  </a:lnTo>
                  <a:lnTo>
                    <a:pt x="0" y="2678430"/>
                  </a:lnTo>
                  <a:lnTo>
                    <a:pt x="76056" y="2676389"/>
                  </a:lnTo>
                  <a:lnTo>
                    <a:pt x="142110" y="2670704"/>
                  </a:lnTo>
                  <a:lnTo>
                    <a:pt x="194199" y="2662025"/>
                  </a:lnTo>
                  <a:lnTo>
                    <a:pt x="228359" y="2651006"/>
                  </a:lnTo>
                  <a:lnTo>
                    <a:pt x="240626" y="2638298"/>
                  </a:lnTo>
                  <a:lnTo>
                    <a:pt x="240626" y="1702562"/>
                  </a:lnTo>
                  <a:lnTo>
                    <a:pt x="252895" y="1689853"/>
                  </a:lnTo>
                  <a:lnTo>
                    <a:pt x="287058" y="1678834"/>
                  </a:lnTo>
                  <a:lnTo>
                    <a:pt x="339151" y="1670155"/>
                  </a:lnTo>
                  <a:lnTo>
                    <a:pt x="405209" y="1664470"/>
                  </a:lnTo>
                  <a:lnTo>
                    <a:pt x="481266" y="1662430"/>
                  </a:lnTo>
                </a:path>
              </a:pathLst>
            </a:custGeom>
            <a:ln w="57150">
              <a:solidFill>
                <a:srgbClr val="5B9BD4"/>
              </a:solidFill>
            </a:ln>
          </p:spPr>
          <p:txBody>
            <a:bodyPr wrap="square" lIns="0" tIns="0" rIns="0" bIns="0" rtlCol="0"/>
            <a:lstStyle/>
            <a:p>
              <a:endParaRPr/>
            </a:p>
          </p:txBody>
        </p:sp>
      </p:grpSp>
      <p:sp>
        <p:nvSpPr>
          <p:cNvPr id="6" name="object 6"/>
          <p:cNvSpPr txBox="1"/>
          <p:nvPr/>
        </p:nvSpPr>
        <p:spPr>
          <a:xfrm>
            <a:off x="168655" y="2056587"/>
            <a:ext cx="534670" cy="3665220"/>
          </a:xfrm>
          <a:prstGeom prst="rect">
            <a:avLst/>
          </a:prstGeom>
        </p:spPr>
        <p:txBody>
          <a:bodyPr vert="horz" wrap="square" lIns="0" tIns="15240" rIns="0" bIns="0" rtlCol="0">
            <a:spAutoFit/>
          </a:bodyPr>
          <a:lstStyle/>
          <a:p>
            <a:pPr marL="12700" marR="5080">
              <a:lnSpc>
                <a:spcPct val="99400"/>
              </a:lnSpc>
              <a:spcBef>
                <a:spcPts val="120"/>
              </a:spcBef>
            </a:pPr>
            <a:r>
              <a:rPr sz="2000" spc="-50" dirty="0">
                <a:latin typeface="SimSun"/>
                <a:cs typeface="SimSun"/>
              </a:rPr>
              <a:t>同 </a:t>
            </a:r>
            <a:r>
              <a:rPr sz="2000" spc="-25" dirty="0">
                <a:latin typeface="SimSun"/>
                <a:cs typeface="SimSun"/>
              </a:rPr>
              <a:t>一个角度</a:t>
            </a:r>
            <a:r>
              <a:rPr sz="2000" spc="-30" dirty="0">
                <a:latin typeface="SimSun"/>
                <a:cs typeface="SimSun"/>
              </a:rPr>
              <a:t>，只</a:t>
            </a:r>
            <a:r>
              <a:rPr sz="2000" spc="-25" dirty="0">
                <a:latin typeface="SimSun"/>
                <a:cs typeface="SimSun"/>
              </a:rPr>
              <a:t>能选一个给分</a:t>
            </a:r>
            <a:endParaRPr sz="2000">
              <a:latin typeface="SimSun"/>
              <a:cs typeface="SimSu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52550" y="0"/>
            <a:ext cx="9594215" cy="6725284"/>
            <a:chOff x="1352550" y="0"/>
            <a:chExt cx="9594215" cy="6725284"/>
          </a:xfrm>
        </p:grpSpPr>
        <p:pic>
          <p:nvPicPr>
            <p:cNvPr id="3" name="object 3"/>
            <p:cNvPicPr/>
            <p:nvPr/>
          </p:nvPicPr>
          <p:blipFill>
            <a:blip r:embed="rId2" cstate="print"/>
            <a:stretch>
              <a:fillRect/>
            </a:stretch>
          </p:blipFill>
          <p:spPr>
            <a:xfrm>
              <a:off x="1457070" y="0"/>
              <a:ext cx="9489694" cy="5478653"/>
            </a:xfrm>
            <a:prstGeom prst="rect">
              <a:avLst/>
            </a:prstGeom>
          </p:spPr>
        </p:pic>
        <p:pic>
          <p:nvPicPr>
            <p:cNvPr id="4" name="object 4"/>
            <p:cNvPicPr/>
            <p:nvPr/>
          </p:nvPicPr>
          <p:blipFill>
            <a:blip r:embed="rId3" cstate="print"/>
            <a:stretch>
              <a:fillRect/>
            </a:stretch>
          </p:blipFill>
          <p:spPr>
            <a:xfrm>
              <a:off x="1352550" y="5399506"/>
              <a:ext cx="9486900" cy="1325499"/>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38800" y="838198"/>
            <a:ext cx="6096000" cy="5537413"/>
          </a:xfrm>
          <a:prstGeom prst="rect">
            <a:avLst/>
          </a:prstGeom>
          <a:ln w="38100">
            <a:solidFill>
              <a:schemeClr val="tx1"/>
            </a:solidFill>
          </a:ln>
        </p:spPr>
        <p:txBody>
          <a:bodyPr>
            <a:spAutoFit/>
          </a:bodyPr>
          <a:lstStyle/>
          <a:p>
            <a:pPr indent="266700" algn="just">
              <a:lnSpc>
                <a:spcPts val="1700"/>
              </a:lnSpc>
              <a:spcAft>
                <a:spcPts val="0"/>
              </a:spcAft>
            </a:pPr>
            <a:r>
              <a:rPr lang="zh-CN" altLang="zh-CN" sz="1200" b="1"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rPr>
              <a:t>如：</a:t>
            </a:r>
            <a:r>
              <a:rPr lang="en-US" altLang="zh-CN" sz="1200" b="1" kern="100" dirty="0">
                <a:solidFill>
                  <a:srgbClr val="0000FF"/>
                </a:solidFill>
                <a:effectLst/>
                <a:latin typeface="楷体" panose="02010609060101010101" pitchFamily="49" charset="-122"/>
                <a:ea typeface="宋体" panose="02010600030101010101" pitchFamily="2" charset="-122"/>
                <a:cs typeface="Times New Roman" panose="02020603050405020304" pitchFamily="18" charset="0"/>
              </a:rPr>
              <a:t> </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algn="just">
              <a:lnSpc>
                <a:spcPts val="1700"/>
              </a:lnSpc>
              <a:spcAft>
                <a:spcPts val="0"/>
              </a:spcAft>
            </a:pPr>
            <a:r>
              <a:rPr lang="zh-CN"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角度</a:t>
            </a:r>
            <a:r>
              <a:rPr lang="en-US"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新事物特点</a:t>
            </a:r>
            <a:r>
              <a:rPr lang="en-US"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新事物发展要经历一个从小到大从不完善到完善的过程，新技术不可避免存在弱点和不完善的地方，人们对新技术的认识也有一个过程；</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algn="just">
              <a:lnSpc>
                <a:spcPts val="1700"/>
              </a:lnSpc>
              <a:spcAft>
                <a:spcPts val="0"/>
              </a:spcAft>
            </a:pP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怎么办</a:t>
            </a:r>
            <a:r>
              <a:rPr lang="zh-CN" altLang="zh-CN" sz="1200" b="1" kern="100"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看到技术恐惧具有两面性，怎么办</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algn="just">
              <a:lnSpc>
                <a:spcPts val="1700"/>
              </a:lnSpc>
              <a:spcAft>
                <a:spcPts val="0"/>
              </a:spcAft>
            </a:pPr>
            <a:r>
              <a:rPr lang="zh-CN"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角度</a:t>
            </a:r>
            <a:r>
              <a:rPr lang="en-US"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认识局限</a:t>
            </a:r>
            <a:r>
              <a:rPr lang="zh-CN" altLang="zh-CN" sz="1200" b="1" kern="1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人们对客观事物的认识要受到具体的实践水平的限制，受不同的立场、观点、方法、知识水平、思维能力等条件的限制；</a:t>
            </a:r>
            <a:r>
              <a:rPr lang="en-US"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algn="just">
              <a:lnSpc>
                <a:spcPts val="1700"/>
              </a:lnSpc>
              <a:spcAft>
                <a:spcPts val="0"/>
              </a:spcAft>
            </a:pPr>
            <a:r>
              <a:rPr lang="zh-CN"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角度</a:t>
            </a:r>
            <a:r>
              <a:rPr lang="en-US"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承认矛盾</a:t>
            </a:r>
            <a:r>
              <a:rPr lang="zh-CN" altLang="zh-CN" sz="1200" b="1" kern="1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矛盾就是对立统一，要一分为二辩证看问题，技术恐惧具有两面性。人们对技术的担心、质疑，一方面抵制着技术进步，也从另一方面促使新技术及其配套的政策法规不断完善，推动新事物发展；</a:t>
            </a:r>
            <a:r>
              <a:rPr lang="en-US"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indent="267970" algn="just">
              <a:lnSpc>
                <a:spcPts val="1700"/>
              </a:lnSpc>
              <a:spcAft>
                <a:spcPts val="0"/>
              </a:spcAft>
            </a:pPr>
            <a:r>
              <a:rPr lang="zh-CN" altLang="zh-CN" sz="12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或</a:t>
            </a: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矛盾具有普遍性，面对新技术带来的问题，应坚持问题导向，敢于直面矛盾，积极寻找正确方法解决矛盾，应承认矛盾热情支持和保护新事物，促使其成长壮大；</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algn="just">
              <a:lnSpc>
                <a:spcPts val="1700"/>
              </a:lnSpc>
              <a:spcAft>
                <a:spcPts val="0"/>
              </a:spcAft>
            </a:pPr>
            <a:r>
              <a:rPr lang="en-US"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4-</a:t>
            </a:r>
            <a:r>
              <a:rPr lang="zh-CN"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价值选择</a:t>
            </a:r>
            <a:r>
              <a:rPr lang="en-US" altLang="zh-CN" sz="1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价值观具有导向作用</a:t>
            </a:r>
            <a:r>
              <a:rPr lang="en-US"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kern="10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正确价值判断和价值选择要符合客观规律，符合人民的根本利益，科技要以人为本，要关注受技术变革冲击的群体，</a:t>
            </a:r>
            <a:r>
              <a:rPr lang="zh-CN" altLang="zh-CN" sz="1200" b="1" kern="100" dirty="0">
                <a:solidFill>
                  <a:srgbClr val="7030A0"/>
                </a:solidFill>
                <a:effectLst/>
                <a:latin typeface="Times New Roman" panose="02020603050405020304" pitchFamily="18" charset="0"/>
                <a:ea typeface="宋体" panose="02010600030101010101" pitchFamily="2" charset="-122"/>
                <a:cs typeface="Times New Roman" panose="02020603050405020304" pitchFamily="18" charset="0"/>
              </a:rPr>
              <a:t>既要有科学精神又要有人文关怀等。</a:t>
            </a:r>
            <a:endParaRPr lang="en-US" altLang="zh-CN" sz="1200" b="1" kern="100" dirty="0">
              <a:solidFill>
                <a:srgbClr val="7030A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66700" algn="just">
              <a:lnSpc>
                <a:spcPts val="1700"/>
              </a:lnSpc>
              <a:spcAft>
                <a:spcPts val="0"/>
              </a:spcAft>
            </a:pPr>
            <a:endParaRPr lang="zh-CN" altLang="zh-CN" sz="1200" b="1" kern="100" dirty="0">
              <a:solidFill>
                <a:srgbClr val="7030A0"/>
              </a:solidFill>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1700"/>
              </a:lnSpc>
              <a:spcAft>
                <a:spcPts val="0"/>
              </a:spcAft>
            </a:pP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评阅细则：等级</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 3-5-7 </a:t>
            </a: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algn="just">
              <a:lnSpc>
                <a:spcPts val="1700"/>
              </a:lnSpc>
              <a:spcAft>
                <a:spcPts val="0"/>
              </a:spcAft>
            </a:pP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3</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以上任意一个角度，哲学原理</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分，对应分析</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分，扣题深入解释</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a:t>
            </a: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a:p>
            <a:pPr marL="266700" indent="400050" algn="just">
              <a:lnSpc>
                <a:spcPts val="1700"/>
              </a:lnSpc>
              <a:spcAft>
                <a:spcPts val="0"/>
              </a:spcAft>
            </a:pP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哲学原理一点深入</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3</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分，有技术恐惧的情境但不能分析解释得</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a:t>
            </a: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ts val="1700"/>
              </a:lnSpc>
              <a:spcAft>
                <a:spcPts val="0"/>
              </a:spcAft>
            </a:pP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    5</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以上任意两个角度，至少一点深入，得</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5</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a:t>
            </a:r>
            <a:endPar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endParaRPr>
          </a:p>
          <a:p>
            <a:pPr algn="just">
              <a:lnSpc>
                <a:spcPts val="1700"/>
              </a:lnSpc>
              <a:spcAft>
                <a:spcPts val="0"/>
              </a:spcAft>
            </a:pP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1700"/>
              </a:lnSpc>
              <a:spcAft>
                <a:spcPts val="0"/>
              </a:spcAft>
            </a:pPr>
            <a:r>
              <a:rPr lang="en-US" altLang="zh-CN" b="1" kern="100" dirty="0">
                <a:solidFill>
                  <a:srgbClr val="00B0F0"/>
                </a:solidFill>
                <a:effectLst/>
                <a:latin typeface="Times New Roman" panose="02020603050405020304" pitchFamily="18" charset="0"/>
                <a:ea typeface="楷体" panose="02010609060101010101" pitchFamily="49" charset="-122"/>
                <a:cs typeface="Times New Roman" panose="02020603050405020304" pitchFamily="18" charset="0"/>
              </a:rPr>
              <a:t>6-7</a:t>
            </a:r>
            <a:r>
              <a:rPr lang="zh-CN" altLang="zh-CN" b="1" kern="100" dirty="0">
                <a:solidFill>
                  <a:srgbClr val="00B0F0"/>
                </a:solidFill>
                <a:effectLst/>
                <a:latin typeface="Times New Roman" panose="02020603050405020304" pitchFamily="18" charset="0"/>
                <a:ea typeface="楷体" panose="02010609060101010101" pitchFamily="49" charset="-122"/>
                <a:cs typeface="Times New Roman" panose="02020603050405020304" pitchFamily="18" charset="0"/>
              </a:rPr>
              <a:t>分</a:t>
            </a:r>
            <a:r>
              <a:rPr lang="zh-CN" altLang="zh-CN" b="1" kern="100" dirty="0">
                <a:solidFill>
                  <a:srgbClr val="00B0F0"/>
                </a:solidFill>
                <a:effectLst/>
                <a:latin typeface="Calibri" panose="020F0502020204030204" pitchFamily="34" charset="0"/>
                <a:ea typeface="Times New Roman" panose="02020603050405020304" pitchFamily="18" charset="0"/>
                <a:cs typeface="Times New Roman" panose="02020603050405020304" pitchFamily="18" charset="0"/>
              </a:rPr>
              <a:t> </a:t>
            </a:r>
            <a:r>
              <a:rPr lang="zh-CN" altLang="zh-CN" b="1" kern="100" dirty="0">
                <a:solidFill>
                  <a:srgbClr val="00B0F0"/>
                </a:solidFill>
                <a:effectLst/>
                <a:latin typeface="Times New Roman" panose="02020603050405020304" pitchFamily="18" charset="0"/>
                <a:ea typeface="楷体" panose="02010609060101010101" pitchFamily="49" charset="-122"/>
                <a:cs typeface="Times New Roman" panose="02020603050405020304" pitchFamily="18" charset="0"/>
              </a:rPr>
              <a:t>以上任意三个角度，至少一点深入，有逻辑</a:t>
            </a:r>
            <a:endParaRPr lang="zh-CN" altLang="zh-CN" b="1" kern="100" dirty="0">
              <a:solidFill>
                <a:srgbClr val="00B0F0"/>
              </a:solidFill>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1700"/>
              </a:lnSpc>
              <a:spcAft>
                <a:spcPts val="0"/>
              </a:spcAft>
            </a:pP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罗列知识，出现以上原理的，每个原理给</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分，不超过</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3</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a:t>
            </a: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ts val="1700"/>
              </a:lnSpc>
              <a:spcAft>
                <a:spcPts val="0"/>
              </a:spcAft>
            </a:pP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答题写出技术恐惧，情境给</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a:t>
            </a: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如果没有恰当的原理，只写出意识、社会意识的，总分不给</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0</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分，给</a:t>
            </a:r>
            <a:r>
              <a:rPr lang="en-US"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400" b="1" kern="100" dirty="0">
                <a:solidFill>
                  <a:srgbClr val="0000FF"/>
                </a:solidFill>
                <a:effectLst/>
                <a:latin typeface="Times New Roman" panose="02020603050405020304" pitchFamily="18" charset="0"/>
                <a:ea typeface="楷体" panose="02010609060101010101" pitchFamily="49" charset="-122"/>
                <a:cs typeface="Times New Roman" panose="02020603050405020304" pitchFamily="18" charset="0"/>
              </a:rPr>
              <a:t>分原理分</a:t>
            </a: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矩形 2"/>
          <p:cNvSpPr/>
          <p:nvPr/>
        </p:nvSpPr>
        <p:spPr>
          <a:xfrm>
            <a:off x="533401" y="726630"/>
            <a:ext cx="4572000" cy="5078313"/>
          </a:xfrm>
          <a:prstGeom prst="rect">
            <a:avLst/>
          </a:prstGeom>
        </p:spPr>
        <p:txBody>
          <a:bodyPr wrap="square">
            <a:spAutoFit/>
          </a:bodyPr>
          <a:lstStyle/>
          <a:p>
            <a:r>
              <a:rPr lang="en-US" altLang="zh-CN" dirty="0"/>
              <a:t>18</a:t>
            </a:r>
            <a:r>
              <a:rPr lang="zh-CN" altLang="en-US" dirty="0"/>
              <a:t>．（</a:t>
            </a:r>
            <a:r>
              <a:rPr lang="en-US" altLang="zh-CN" dirty="0"/>
              <a:t>7</a:t>
            </a:r>
            <a:r>
              <a:rPr lang="zh-CN" altLang="en-US" dirty="0"/>
              <a:t>分） </a:t>
            </a:r>
          </a:p>
          <a:p>
            <a:r>
              <a:rPr lang="zh-CN" altLang="en-US" dirty="0"/>
              <a:t>技术恐惧，指的是人们对</a:t>
            </a:r>
            <a:r>
              <a:rPr lang="zh-CN" altLang="en-US" dirty="0">
                <a:solidFill>
                  <a:srgbClr val="00B0F0"/>
                </a:solidFill>
              </a:rPr>
              <a:t>新技术的不信任、焦虑、担忧甚至恐慌，从而产生排斥、拒</a:t>
            </a:r>
          </a:p>
          <a:p>
            <a:r>
              <a:rPr lang="zh-CN" altLang="en-US" dirty="0"/>
              <a:t>绝和抵制新技术的心理和行为。技术恐惧在人类历史上一直存在，并随着科技进步的加速而变得愈发普遍和强烈。</a:t>
            </a:r>
            <a:r>
              <a:rPr lang="zh-CN" altLang="en-US" dirty="0">
                <a:solidFill>
                  <a:srgbClr val="00B0F0"/>
                </a:solidFill>
              </a:rPr>
              <a:t>从历史上看，任何重大技术的快速发展都伴随着社会动荡和对快速变化的焦虑</a:t>
            </a:r>
            <a:r>
              <a:rPr lang="en-US" altLang="zh-CN" dirty="0"/>
              <a:t>——</a:t>
            </a:r>
            <a:r>
              <a:rPr lang="zh-CN" altLang="en-US" dirty="0"/>
              <a:t>印刷机、机器生产、火车、汽车、飞机、广播和电视、核技术、计算机等都曾遭受不少人的抵制。每一次技术的重大革新和急剧迭代，都会有人发出“狼来了”的呼救。</a:t>
            </a:r>
            <a:endParaRPr lang="en-US" altLang="zh-CN" dirty="0"/>
          </a:p>
          <a:p>
            <a:r>
              <a:rPr lang="zh-CN" altLang="en-US" dirty="0"/>
              <a:t>面对人工智能的迅猛发展和智能时代的到来，尤其是生成式人工智能的迅速迭代，人们再一次感觉到“狼来了”，</a:t>
            </a:r>
            <a:r>
              <a:rPr lang="zh-CN" altLang="en-US" dirty="0">
                <a:solidFill>
                  <a:srgbClr val="00B0F0"/>
                </a:solidFill>
              </a:rPr>
              <a:t>担心失去工作、担心隐私泄露、担心安全，备感恐慌和不安。</a:t>
            </a:r>
            <a:endParaRPr lang="en-US" altLang="zh-CN" dirty="0">
              <a:solidFill>
                <a:srgbClr val="00B0F0"/>
              </a:solidFill>
            </a:endParaRPr>
          </a:p>
          <a:p>
            <a:r>
              <a:rPr lang="zh-CN" altLang="en-US" dirty="0"/>
              <a:t> </a:t>
            </a:r>
          </a:p>
          <a:p>
            <a:r>
              <a:rPr lang="zh-CN" altLang="en-US" dirty="0"/>
              <a:t>请运用哲学观点说明，该如何看待技术恐惧？ </a:t>
            </a:r>
          </a:p>
        </p:txBody>
      </p:sp>
      <p:sp>
        <p:nvSpPr>
          <p:cNvPr id="4" name="矩形 3"/>
          <p:cNvSpPr/>
          <p:nvPr/>
        </p:nvSpPr>
        <p:spPr>
          <a:xfrm>
            <a:off x="228601" y="6096000"/>
            <a:ext cx="5181600" cy="528350"/>
          </a:xfrm>
          <a:prstGeom prst="rect">
            <a:avLst/>
          </a:prstGeom>
        </p:spPr>
        <p:txBody>
          <a:bodyPr wrap="square">
            <a:spAutoFit/>
          </a:bodyPr>
          <a:lstStyle/>
          <a:p>
            <a:pPr marL="0" marR="0" lvl="0" indent="266700" algn="just" defTabSz="914400" eaLnBrk="1" fontAlgn="auto" latinLnBrk="0" hangingPunct="1">
              <a:lnSpc>
                <a:spcPts val="1700"/>
              </a:lnSpc>
              <a:spcBef>
                <a:spcPts val="0"/>
              </a:spcBef>
              <a:spcAft>
                <a:spcPts val="0"/>
              </a:spcAft>
              <a:buClrTx/>
              <a:buSzTx/>
              <a:buFontTx/>
              <a:buNone/>
              <a:tabLst/>
              <a:defRPr/>
            </a:pPr>
            <a:r>
              <a:rPr kumimoji="0" lang="zh-CN"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要求从三个维度或从三个原理分析说明（理想答案：为什么</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辩证看</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rPr>
              <a:t>怎么办）</a:t>
            </a:r>
            <a:endParaRPr kumimoji="0" lang="zh-CN" altLang="zh-CN" sz="1600" b="1" i="0" u="none" strike="noStrike" kern="100" cap="none" spc="0" normalizeH="0" baseline="0" noProof="0" dirty="0">
              <a:ln>
                <a:noFill/>
              </a:ln>
              <a:solidFill>
                <a:sysClr val="windowText" lastClr="000000"/>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5" name="文本框 4"/>
          <p:cNvSpPr txBox="1"/>
          <p:nvPr/>
        </p:nvSpPr>
        <p:spPr>
          <a:xfrm>
            <a:off x="304800" y="304800"/>
            <a:ext cx="2057400" cy="369332"/>
          </a:xfrm>
          <a:prstGeom prst="rect">
            <a:avLst/>
          </a:prstGeom>
          <a:noFill/>
        </p:spPr>
        <p:txBody>
          <a:bodyPr wrap="square" rtlCol="0">
            <a:spAutoFit/>
          </a:bodyPr>
          <a:lstStyle/>
          <a:p>
            <a:r>
              <a:rPr lang="en-US" altLang="zh-CN" dirty="0"/>
              <a:t>2025.1</a:t>
            </a:r>
            <a:r>
              <a:rPr lang="zh-CN" altLang="en-US" dirty="0"/>
              <a:t>西城期末</a:t>
            </a:r>
          </a:p>
        </p:txBody>
      </p:sp>
    </p:spTree>
    <p:extLst>
      <p:ext uri="{BB962C8B-B14F-4D97-AF65-F5344CB8AC3E}">
        <p14:creationId xmlns:p14="http://schemas.microsoft.com/office/powerpoint/2010/main" val="90332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32434" y="205738"/>
            <a:ext cx="6978015" cy="6438265"/>
            <a:chOff x="432434" y="205738"/>
            <a:chExt cx="6978015" cy="6438265"/>
          </a:xfrm>
        </p:grpSpPr>
        <p:pic>
          <p:nvPicPr>
            <p:cNvPr id="3" name="object 3"/>
            <p:cNvPicPr/>
            <p:nvPr/>
          </p:nvPicPr>
          <p:blipFill>
            <a:blip r:embed="rId2" cstate="print"/>
            <a:stretch>
              <a:fillRect/>
            </a:stretch>
          </p:blipFill>
          <p:spPr>
            <a:xfrm>
              <a:off x="548900" y="205738"/>
              <a:ext cx="6861256" cy="6377939"/>
            </a:xfrm>
            <a:prstGeom prst="rect">
              <a:avLst/>
            </a:prstGeom>
          </p:spPr>
        </p:pic>
        <p:sp>
          <p:nvSpPr>
            <p:cNvPr id="4" name="object 4"/>
            <p:cNvSpPr/>
            <p:nvPr/>
          </p:nvSpPr>
          <p:spPr>
            <a:xfrm>
              <a:off x="438784" y="1518920"/>
              <a:ext cx="4445635" cy="5076190"/>
            </a:xfrm>
            <a:custGeom>
              <a:avLst/>
              <a:gdLst/>
              <a:ahLst/>
              <a:cxnLst/>
              <a:rect l="l" t="t" r="r" b="b"/>
              <a:pathLst>
                <a:path w="4445635" h="5076190">
                  <a:moveTo>
                    <a:pt x="3216275" y="77850"/>
                  </a:moveTo>
                  <a:lnTo>
                    <a:pt x="3222384" y="47523"/>
                  </a:lnTo>
                  <a:lnTo>
                    <a:pt x="3239055" y="22780"/>
                  </a:lnTo>
                  <a:lnTo>
                    <a:pt x="3263798" y="6109"/>
                  </a:lnTo>
                  <a:lnTo>
                    <a:pt x="3294126" y="0"/>
                  </a:lnTo>
                  <a:lnTo>
                    <a:pt x="4367784" y="0"/>
                  </a:lnTo>
                  <a:lnTo>
                    <a:pt x="4398111" y="6109"/>
                  </a:lnTo>
                  <a:lnTo>
                    <a:pt x="4422854" y="22780"/>
                  </a:lnTo>
                  <a:lnTo>
                    <a:pt x="4439525" y="47523"/>
                  </a:lnTo>
                  <a:lnTo>
                    <a:pt x="4445635" y="77850"/>
                  </a:lnTo>
                  <a:lnTo>
                    <a:pt x="4445635" y="388874"/>
                  </a:lnTo>
                  <a:lnTo>
                    <a:pt x="4439525" y="419201"/>
                  </a:lnTo>
                  <a:lnTo>
                    <a:pt x="4422854" y="443944"/>
                  </a:lnTo>
                  <a:lnTo>
                    <a:pt x="4398111" y="460615"/>
                  </a:lnTo>
                  <a:lnTo>
                    <a:pt x="4367784" y="466725"/>
                  </a:lnTo>
                  <a:lnTo>
                    <a:pt x="3294126" y="466725"/>
                  </a:lnTo>
                  <a:lnTo>
                    <a:pt x="3263798" y="460615"/>
                  </a:lnTo>
                  <a:lnTo>
                    <a:pt x="3239055" y="443944"/>
                  </a:lnTo>
                  <a:lnTo>
                    <a:pt x="3222384" y="419201"/>
                  </a:lnTo>
                  <a:lnTo>
                    <a:pt x="3216275" y="388874"/>
                  </a:lnTo>
                  <a:lnTo>
                    <a:pt x="3216275" y="77850"/>
                  </a:lnTo>
                  <a:close/>
                </a:path>
                <a:path w="4445635" h="5076190">
                  <a:moveTo>
                    <a:pt x="58420" y="392175"/>
                  </a:moveTo>
                  <a:lnTo>
                    <a:pt x="63834" y="365327"/>
                  </a:lnTo>
                  <a:lnTo>
                    <a:pt x="78600" y="343408"/>
                  </a:lnTo>
                  <a:lnTo>
                    <a:pt x="100500" y="328632"/>
                  </a:lnTo>
                  <a:lnTo>
                    <a:pt x="127317" y="323214"/>
                  </a:lnTo>
                  <a:lnTo>
                    <a:pt x="948309" y="323214"/>
                  </a:lnTo>
                  <a:lnTo>
                    <a:pt x="975157" y="328632"/>
                  </a:lnTo>
                  <a:lnTo>
                    <a:pt x="997077" y="343407"/>
                  </a:lnTo>
                  <a:lnTo>
                    <a:pt x="1011852" y="365327"/>
                  </a:lnTo>
                  <a:lnTo>
                    <a:pt x="1017270" y="392175"/>
                  </a:lnTo>
                  <a:lnTo>
                    <a:pt x="1017270" y="667638"/>
                  </a:lnTo>
                  <a:lnTo>
                    <a:pt x="1011852" y="694487"/>
                  </a:lnTo>
                  <a:lnTo>
                    <a:pt x="997077" y="716406"/>
                  </a:lnTo>
                  <a:lnTo>
                    <a:pt x="975157" y="731182"/>
                  </a:lnTo>
                  <a:lnTo>
                    <a:pt x="948309" y="736600"/>
                  </a:lnTo>
                  <a:lnTo>
                    <a:pt x="127317" y="736600"/>
                  </a:lnTo>
                  <a:lnTo>
                    <a:pt x="100500" y="731182"/>
                  </a:lnTo>
                  <a:lnTo>
                    <a:pt x="78600" y="716407"/>
                  </a:lnTo>
                  <a:lnTo>
                    <a:pt x="63834" y="694487"/>
                  </a:lnTo>
                  <a:lnTo>
                    <a:pt x="58420" y="667638"/>
                  </a:lnTo>
                  <a:lnTo>
                    <a:pt x="58420" y="392175"/>
                  </a:lnTo>
                  <a:close/>
                </a:path>
                <a:path w="4445635" h="5076190">
                  <a:moveTo>
                    <a:pt x="3041650" y="2528823"/>
                  </a:moveTo>
                  <a:lnTo>
                    <a:pt x="3045461" y="2509938"/>
                  </a:lnTo>
                  <a:lnTo>
                    <a:pt x="3055858" y="2494518"/>
                  </a:lnTo>
                  <a:lnTo>
                    <a:pt x="3071278" y="2484121"/>
                  </a:lnTo>
                  <a:lnTo>
                    <a:pt x="3090164" y="2480310"/>
                  </a:lnTo>
                  <a:lnTo>
                    <a:pt x="4322826" y="2480310"/>
                  </a:lnTo>
                  <a:lnTo>
                    <a:pt x="4341711" y="2484121"/>
                  </a:lnTo>
                  <a:lnTo>
                    <a:pt x="4357131" y="2494518"/>
                  </a:lnTo>
                  <a:lnTo>
                    <a:pt x="4367528" y="2509938"/>
                  </a:lnTo>
                  <a:lnTo>
                    <a:pt x="4371340" y="2528823"/>
                  </a:lnTo>
                  <a:lnTo>
                    <a:pt x="4371340" y="2722625"/>
                  </a:lnTo>
                  <a:lnTo>
                    <a:pt x="4367528" y="2741511"/>
                  </a:lnTo>
                  <a:lnTo>
                    <a:pt x="4357131" y="2756931"/>
                  </a:lnTo>
                  <a:lnTo>
                    <a:pt x="4341711" y="2767328"/>
                  </a:lnTo>
                  <a:lnTo>
                    <a:pt x="4322826" y="2771140"/>
                  </a:lnTo>
                  <a:lnTo>
                    <a:pt x="3090164" y="2771140"/>
                  </a:lnTo>
                  <a:lnTo>
                    <a:pt x="3071278" y="2767328"/>
                  </a:lnTo>
                  <a:lnTo>
                    <a:pt x="3055858" y="2756931"/>
                  </a:lnTo>
                  <a:lnTo>
                    <a:pt x="3045461" y="2741511"/>
                  </a:lnTo>
                  <a:lnTo>
                    <a:pt x="3041650" y="2722625"/>
                  </a:lnTo>
                  <a:lnTo>
                    <a:pt x="3041650" y="2528823"/>
                  </a:lnTo>
                  <a:close/>
                </a:path>
                <a:path w="4445635" h="5076190">
                  <a:moveTo>
                    <a:pt x="0" y="2826766"/>
                  </a:moveTo>
                  <a:lnTo>
                    <a:pt x="4366" y="2805108"/>
                  </a:lnTo>
                  <a:lnTo>
                    <a:pt x="16275" y="2787427"/>
                  </a:lnTo>
                  <a:lnTo>
                    <a:pt x="33936" y="2775509"/>
                  </a:lnTo>
                  <a:lnTo>
                    <a:pt x="55562" y="2771140"/>
                  </a:lnTo>
                  <a:lnTo>
                    <a:pt x="3001899" y="2771140"/>
                  </a:lnTo>
                  <a:lnTo>
                    <a:pt x="3023556" y="2775509"/>
                  </a:lnTo>
                  <a:lnTo>
                    <a:pt x="3041237" y="2787427"/>
                  </a:lnTo>
                  <a:lnTo>
                    <a:pt x="3053155" y="2805108"/>
                  </a:lnTo>
                  <a:lnTo>
                    <a:pt x="3057525" y="2826766"/>
                  </a:lnTo>
                  <a:lnTo>
                    <a:pt x="3057525" y="3048888"/>
                  </a:lnTo>
                  <a:lnTo>
                    <a:pt x="3053155" y="3070546"/>
                  </a:lnTo>
                  <a:lnTo>
                    <a:pt x="3041237" y="3088227"/>
                  </a:lnTo>
                  <a:lnTo>
                    <a:pt x="3023556" y="3100145"/>
                  </a:lnTo>
                  <a:lnTo>
                    <a:pt x="3001899" y="3104515"/>
                  </a:lnTo>
                  <a:lnTo>
                    <a:pt x="55562" y="3104515"/>
                  </a:lnTo>
                  <a:lnTo>
                    <a:pt x="33936" y="3100145"/>
                  </a:lnTo>
                  <a:lnTo>
                    <a:pt x="16275" y="3088227"/>
                  </a:lnTo>
                  <a:lnTo>
                    <a:pt x="4366" y="3070546"/>
                  </a:lnTo>
                  <a:lnTo>
                    <a:pt x="0" y="3048888"/>
                  </a:lnTo>
                  <a:lnTo>
                    <a:pt x="0" y="2826766"/>
                  </a:lnTo>
                  <a:close/>
                </a:path>
                <a:path w="4445635" h="5076190">
                  <a:moveTo>
                    <a:pt x="1552575" y="4838065"/>
                  </a:moveTo>
                  <a:lnTo>
                    <a:pt x="1556319" y="4819527"/>
                  </a:lnTo>
                  <a:lnTo>
                    <a:pt x="1566529" y="4804389"/>
                  </a:lnTo>
                  <a:lnTo>
                    <a:pt x="1581667" y="4794182"/>
                  </a:lnTo>
                  <a:lnTo>
                    <a:pt x="1600200" y="4790440"/>
                  </a:lnTo>
                  <a:lnTo>
                    <a:pt x="2628265" y="4790440"/>
                  </a:lnTo>
                  <a:lnTo>
                    <a:pt x="2646797" y="4794182"/>
                  </a:lnTo>
                  <a:lnTo>
                    <a:pt x="2661935" y="4804389"/>
                  </a:lnTo>
                  <a:lnTo>
                    <a:pt x="2672145" y="4819527"/>
                  </a:lnTo>
                  <a:lnTo>
                    <a:pt x="2675890" y="4838065"/>
                  </a:lnTo>
                  <a:lnTo>
                    <a:pt x="2675890" y="5028565"/>
                  </a:lnTo>
                  <a:lnTo>
                    <a:pt x="2672145" y="5047102"/>
                  </a:lnTo>
                  <a:lnTo>
                    <a:pt x="2661935" y="5062240"/>
                  </a:lnTo>
                  <a:lnTo>
                    <a:pt x="2646797" y="5072447"/>
                  </a:lnTo>
                  <a:lnTo>
                    <a:pt x="2628265" y="5076190"/>
                  </a:lnTo>
                  <a:lnTo>
                    <a:pt x="1600200" y="5076190"/>
                  </a:lnTo>
                  <a:lnTo>
                    <a:pt x="1581667" y="5072447"/>
                  </a:lnTo>
                  <a:lnTo>
                    <a:pt x="1566529" y="5062240"/>
                  </a:lnTo>
                  <a:lnTo>
                    <a:pt x="1556319" y="5047102"/>
                  </a:lnTo>
                  <a:lnTo>
                    <a:pt x="1552575" y="5028565"/>
                  </a:lnTo>
                  <a:lnTo>
                    <a:pt x="1552575" y="4838065"/>
                  </a:lnTo>
                  <a:close/>
                </a:path>
              </a:pathLst>
            </a:custGeom>
            <a:ln w="12700">
              <a:solidFill>
                <a:srgbClr val="FF0000"/>
              </a:solidFill>
            </a:ln>
          </p:spPr>
          <p:txBody>
            <a:bodyPr wrap="square" lIns="0" tIns="0" rIns="0" bIns="0" rtlCol="0"/>
            <a:lstStyle/>
            <a:p>
              <a:endParaRPr/>
            </a:p>
          </p:txBody>
        </p:sp>
        <p:sp>
          <p:nvSpPr>
            <p:cNvPr id="5" name="object 5"/>
            <p:cNvSpPr/>
            <p:nvPr/>
          </p:nvSpPr>
          <p:spPr>
            <a:xfrm>
              <a:off x="3130549" y="6293484"/>
              <a:ext cx="471805" cy="339090"/>
            </a:xfrm>
            <a:custGeom>
              <a:avLst/>
              <a:gdLst/>
              <a:ahLst/>
              <a:cxnLst/>
              <a:rect l="l" t="t" r="r" b="b"/>
              <a:pathLst>
                <a:path w="471804" h="339090">
                  <a:moveTo>
                    <a:pt x="0" y="56514"/>
                  </a:moveTo>
                  <a:lnTo>
                    <a:pt x="4437" y="34515"/>
                  </a:lnTo>
                  <a:lnTo>
                    <a:pt x="16541" y="16551"/>
                  </a:lnTo>
                  <a:lnTo>
                    <a:pt x="34504" y="4440"/>
                  </a:lnTo>
                  <a:lnTo>
                    <a:pt x="56514" y="0"/>
                  </a:lnTo>
                  <a:lnTo>
                    <a:pt x="415289" y="0"/>
                  </a:lnTo>
                  <a:lnTo>
                    <a:pt x="437300" y="4440"/>
                  </a:lnTo>
                  <a:lnTo>
                    <a:pt x="455263" y="16551"/>
                  </a:lnTo>
                  <a:lnTo>
                    <a:pt x="467367" y="34515"/>
                  </a:lnTo>
                  <a:lnTo>
                    <a:pt x="471804" y="56514"/>
                  </a:lnTo>
                  <a:lnTo>
                    <a:pt x="471804" y="282574"/>
                  </a:lnTo>
                  <a:lnTo>
                    <a:pt x="467367" y="304574"/>
                  </a:lnTo>
                  <a:lnTo>
                    <a:pt x="455263" y="322538"/>
                  </a:lnTo>
                  <a:lnTo>
                    <a:pt x="437300" y="334649"/>
                  </a:lnTo>
                  <a:lnTo>
                    <a:pt x="415289" y="339089"/>
                  </a:lnTo>
                  <a:lnTo>
                    <a:pt x="56514" y="339089"/>
                  </a:lnTo>
                  <a:lnTo>
                    <a:pt x="34504" y="334649"/>
                  </a:lnTo>
                  <a:lnTo>
                    <a:pt x="16541" y="322538"/>
                  </a:lnTo>
                  <a:lnTo>
                    <a:pt x="4437" y="304574"/>
                  </a:lnTo>
                  <a:lnTo>
                    <a:pt x="0" y="282574"/>
                  </a:lnTo>
                  <a:lnTo>
                    <a:pt x="0" y="56514"/>
                  </a:lnTo>
                  <a:close/>
                </a:path>
              </a:pathLst>
            </a:custGeom>
            <a:ln w="12700">
              <a:solidFill>
                <a:srgbClr val="006FC0"/>
              </a:solidFill>
            </a:ln>
          </p:spPr>
          <p:txBody>
            <a:bodyPr wrap="square" lIns="0" tIns="0" rIns="0" bIns="0" rtlCol="0"/>
            <a:lstStyle/>
            <a:p>
              <a:endParaRPr/>
            </a:p>
          </p:txBody>
        </p:sp>
        <p:sp>
          <p:nvSpPr>
            <p:cNvPr id="6" name="object 6"/>
            <p:cNvSpPr/>
            <p:nvPr/>
          </p:nvSpPr>
          <p:spPr>
            <a:xfrm>
              <a:off x="3862705" y="6293484"/>
              <a:ext cx="682625" cy="344170"/>
            </a:xfrm>
            <a:custGeom>
              <a:avLst/>
              <a:gdLst/>
              <a:ahLst/>
              <a:cxnLst/>
              <a:rect l="l" t="t" r="r" b="b"/>
              <a:pathLst>
                <a:path w="682625" h="344170">
                  <a:moveTo>
                    <a:pt x="0" y="57365"/>
                  </a:moveTo>
                  <a:lnTo>
                    <a:pt x="4504" y="35034"/>
                  </a:lnTo>
                  <a:lnTo>
                    <a:pt x="16795" y="16800"/>
                  </a:lnTo>
                  <a:lnTo>
                    <a:pt x="35040" y="4507"/>
                  </a:lnTo>
                  <a:lnTo>
                    <a:pt x="57404" y="0"/>
                  </a:lnTo>
                  <a:lnTo>
                    <a:pt x="625221" y="0"/>
                  </a:lnTo>
                  <a:lnTo>
                    <a:pt x="647584" y="4507"/>
                  </a:lnTo>
                  <a:lnTo>
                    <a:pt x="665829" y="16800"/>
                  </a:lnTo>
                  <a:lnTo>
                    <a:pt x="678120" y="35034"/>
                  </a:lnTo>
                  <a:lnTo>
                    <a:pt x="682625" y="57365"/>
                  </a:lnTo>
                  <a:lnTo>
                    <a:pt x="682625" y="286804"/>
                  </a:lnTo>
                  <a:lnTo>
                    <a:pt x="678120" y="309135"/>
                  </a:lnTo>
                  <a:lnTo>
                    <a:pt x="665829" y="327369"/>
                  </a:lnTo>
                  <a:lnTo>
                    <a:pt x="647584" y="339662"/>
                  </a:lnTo>
                  <a:lnTo>
                    <a:pt x="625221" y="344169"/>
                  </a:lnTo>
                  <a:lnTo>
                    <a:pt x="57404" y="344169"/>
                  </a:lnTo>
                  <a:lnTo>
                    <a:pt x="35040" y="339662"/>
                  </a:lnTo>
                  <a:lnTo>
                    <a:pt x="16795" y="327369"/>
                  </a:lnTo>
                  <a:lnTo>
                    <a:pt x="4504" y="309135"/>
                  </a:lnTo>
                  <a:lnTo>
                    <a:pt x="0" y="286804"/>
                  </a:lnTo>
                  <a:lnTo>
                    <a:pt x="0" y="57365"/>
                  </a:lnTo>
                  <a:close/>
                </a:path>
              </a:pathLst>
            </a:custGeom>
            <a:ln w="12700">
              <a:solidFill>
                <a:srgbClr val="6F2F9F"/>
              </a:solidFill>
            </a:ln>
          </p:spPr>
          <p:txBody>
            <a:bodyPr wrap="square" lIns="0" tIns="0" rIns="0" bIns="0" rtlCol="0"/>
            <a:lstStyle/>
            <a:p>
              <a:endParaRPr/>
            </a:p>
          </p:txBody>
        </p:sp>
      </p:grpSp>
      <p:sp>
        <p:nvSpPr>
          <p:cNvPr id="7" name="object 7"/>
          <p:cNvSpPr txBox="1"/>
          <p:nvPr/>
        </p:nvSpPr>
        <p:spPr>
          <a:xfrm>
            <a:off x="7410156" y="304800"/>
            <a:ext cx="4426203" cy="4439677"/>
          </a:xfrm>
          <a:prstGeom prst="rect">
            <a:avLst/>
          </a:prstGeom>
        </p:spPr>
        <p:txBody>
          <a:bodyPr vert="horz" wrap="square" lIns="0" tIns="13335" rIns="0" bIns="0" rtlCol="0">
            <a:spAutoFit/>
          </a:bodyPr>
          <a:lstStyle/>
          <a:p>
            <a:pPr marL="12700" marR="5080" indent="507365" algn="just">
              <a:lnSpc>
                <a:spcPct val="100000"/>
              </a:lnSpc>
              <a:spcBef>
                <a:spcPts val="105"/>
              </a:spcBef>
            </a:pPr>
            <a:r>
              <a:rPr sz="2400" b="1" spc="-5" dirty="0">
                <a:latin typeface="SimSun"/>
                <a:cs typeface="SimSun"/>
              </a:rPr>
              <a:t>北京城市图书馆在建设新型</a:t>
            </a:r>
            <a:r>
              <a:rPr sz="2400" b="1" spc="-10" dirty="0">
                <a:latin typeface="SimSun"/>
                <a:cs typeface="SimSun"/>
              </a:rPr>
              <a:t>公共文化空间的过程中，运用了</a:t>
            </a:r>
            <a:r>
              <a:rPr sz="2400" b="1" u="sng" spc="-5" dirty="0">
                <a:solidFill>
                  <a:srgbClr val="FF0000"/>
                </a:solidFill>
                <a:uFill>
                  <a:solidFill>
                    <a:srgbClr val="FF0000"/>
                  </a:solidFill>
                </a:uFill>
                <a:latin typeface="SimSun"/>
                <a:cs typeface="SimSun"/>
              </a:rPr>
              <a:t>逆向思维</a:t>
            </a:r>
            <a:r>
              <a:rPr sz="2400" b="1" dirty="0">
                <a:latin typeface="SimSun"/>
                <a:cs typeface="SimSun"/>
              </a:rPr>
              <a:t>，</a:t>
            </a:r>
            <a:r>
              <a:rPr sz="2400" b="1" u="sng" spc="-10" dirty="0">
                <a:solidFill>
                  <a:srgbClr val="006FC0"/>
                </a:solidFill>
                <a:uFill>
                  <a:solidFill>
                    <a:srgbClr val="006FC0"/>
                  </a:solidFill>
                </a:uFill>
                <a:latin typeface="SimSun"/>
                <a:cs typeface="SimSun"/>
              </a:rPr>
              <a:t>对事物结构顺序的已</a:t>
            </a:r>
            <a:r>
              <a:rPr sz="2400" b="1" u="sng" spc="-5" dirty="0">
                <a:solidFill>
                  <a:srgbClr val="006FC0"/>
                </a:solidFill>
                <a:uFill>
                  <a:solidFill>
                    <a:srgbClr val="006FC0"/>
                  </a:solidFill>
                </a:uFill>
                <a:latin typeface="SimSun"/>
                <a:cs typeface="SimSun"/>
              </a:rPr>
              <a:t>有认识进行反向思考</a:t>
            </a:r>
            <a:r>
              <a:rPr sz="2400" b="1" dirty="0">
                <a:latin typeface="SimSun"/>
                <a:cs typeface="SimSun"/>
              </a:rPr>
              <a:t>，</a:t>
            </a:r>
            <a:r>
              <a:rPr sz="2400" b="1" u="sng" spc="-20" dirty="0">
                <a:solidFill>
                  <a:srgbClr val="7B7B7B"/>
                </a:solidFill>
                <a:uFill>
                  <a:solidFill>
                    <a:srgbClr val="7B7B7B"/>
                  </a:solidFill>
                </a:uFill>
                <a:latin typeface="SimSun"/>
                <a:cs typeface="SimSun"/>
              </a:rPr>
              <a:t>借助科技</a:t>
            </a:r>
            <a:r>
              <a:rPr sz="2400" b="1" u="sng" spc="500" dirty="0">
                <a:solidFill>
                  <a:srgbClr val="7B7B7B"/>
                </a:solidFill>
                <a:uFill>
                  <a:solidFill>
                    <a:srgbClr val="7B7B7B"/>
                  </a:solidFill>
                </a:uFill>
                <a:latin typeface="SimSun"/>
                <a:cs typeface="SimSun"/>
              </a:rPr>
              <a:t> </a:t>
            </a:r>
            <a:r>
              <a:rPr sz="2400" b="1" u="sng" spc="-10" dirty="0">
                <a:solidFill>
                  <a:srgbClr val="7B7B7B"/>
                </a:solidFill>
                <a:uFill>
                  <a:solidFill>
                    <a:srgbClr val="7B7B7B"/>
                  </a:solidFill>
                </a:uFill>
                <a:latin typeface="SimSun"/>
                <a:cs typeface="SimSun"/>
              </a:rPr>
              <a:t>实现从“人找书”向“书找人”</a:t>
            </a:r>
            <a:r>
              <a:rPr sz="2400" b="1" u="sng" spc="-5" dirty="0">
                <a:solidFill>
                  <a:srgbClr val="7B7B7B"/>
                </a:solidFill>
                <a:uFill>
                  <a:solidFill>
                    <a:srgbClr val="7B7B7B"/>
                  </a:solidFill>
                </a:uFill>
                <a:latin typeface="SimSun"/>
                <a:cs typeface="SimSun"/>
              </a:rPr>
              <a:t>的转换，给读者提供便利</a:t>
            </a:r>
            <a:r>
              <a:rPr sz="2400" b="1" spc="-50" dirty="0">
                <a:latin typeface="SimSun"/>
                <a:cs typeface="SimSun"/>
              </a:rPr>
              <a:t>；</a:t>
            </a:r>
            <a:endParaRPr sz="2400" b="1" dirty="0">
              <a:latin typeface="SimSun"/>
              <a:cs typeface="SimSun"/>
            </a:endParaRPr>
          </a:p>
          <a:p>
            <a:pPr marL="504825" algn="ctr">
              <a:lnSpc>
                <a:spcPct val="100000"/>
              </a:lnSpc>
            </a:pPr>
            <a:r>
              <a:rPr sz="2400" b="1" dirty="0">
                <a:latin typeface="SimSun"/>
                <a:cs typeface="SimSun"/>
              </a:rPr>
              <a:t>运用了</a:t>
            </a:r>
            <a:r>
              <a:rPr sz="2400" b="1" u="sng" dirty="0">
                <a:solidFill>
                  <a:srgbClr val="FF0000"/>
                </a:solidFill>
                <a:uFill>
                  <a:solidFill>
                    <a:srgbClr val="FF0000"/>
                  </a:solidFill>
                </a:uFill>
                <a:latin typeface="SimSun"/>
                <a:cs typeface="SimSun"/>
              </a:rPr>
              <a:t>联想思维</a:t>
            </a:r>
            <a:r>
              <a:rPr sz="2400" b="1" dirty="0">
                <a:latin typeface="SimSun"/>
                <a:cs typeface="SimSun"/>
              </a:rPr>
              <a:t>，</a:t>
            </a:r>
            <a:r>
              <a:rPr sz="2400" b="1" u="sng" spc="-15" dirty="0">
                <a:solidFill>
                  <a:srgbClr val="006FC0"/>
                </a:solidFill>
                <a:uFill>
                  <a:solidFill>
                    <a:srgbClr val="006FC0"/>
                  </a:solidFill>
                </a:uFill>
                <a:latin typeface="SimSun"/>
                <a:cs typeface="SimSun"/>
              </a:rPr>
              <a:t>将原有的</a:t>
            </a:r>
            <a:endParaRPr sz="2400" b="1" dirty="0">
              <a:latin typeface="SimSun"/>
              <a:cs typeface="SimSun"/>
            </a:endParaRPr>
          </a:p>
          <a:p>
            <a:pPr marL="12700" marR="5080" algn="just">
              <a:lnSpc>
                <a:spcPct val="98900"/>
              </a:lnSpc>
              <a:spcBef>
                <a:spcPts val="130"/>
              </a:spcBef>
            </a:pPr>
            <a:r>
              <a:rPr sz="2400" b="1" u="sng" spc="-10" dirty="0">
                <a:solidFill>
                  <a:srgbClr val="006FC0"/>
                </a:solidFill>
                <a:uFill>
                  <a:solidFill>
                    <a:srgbClr val="006FC0"/>
                  </a:solidFill>
                </a:uFill>
                <a:latin typeface="SimSun"/>
                <a:cs typeface="SimSun"/>
              </a:rPr>
              <a:t>认知经验直接应用到其他工作之</a:t>
            </a:r>
            <a:r>
              <a:rPr sz="2400" b="1" u="sng" spc="500" dirty="0">
                <a:solidFill>
                  <a:srgbClr val="006FC0"/>
                </a:solidFill>
                <a:uFill>
                  <a:solidFill>
                    <a:srgbClr val="006FC0"/>
                  </a:solidFill>
                </a:uFill>
                <a:latin typeface="SimSun"/>
                <a:cs typeface="SimSun"/>
              </a:rPr>
              <a:t> </a:t>
            </a:r>
            <a:r>
              <a:rPr sz="2400" b="1" u="sng" spc="-5" dirty="0">
                <a:solidFill>
                  <a:srgbClr val="006FC0"/>
                </a:solidFill>
                <a:uFill>
                  <a:solidFill>
                    <a:srgbClr val="006FC0"/>
                  </a:solidFill>
                </a:uFill>
                <a:latin typeface="SimSun"/>
                <a:cs typeface="SimSun"/>
              </a:rPr>
              <a:t>中进行同化性迁移</a:t>
            </a:r>
            <a:r>
              <a:rPr sz="2400" b="1" spc="-10" dirty="0">
                <a:latin typeface="SimSun"/>
                <a:cs typeface="SimSun"/>
              </a:rPr>
              <a:t>，</a:t>
            </a:r>
            <a:r>
              <a:rPr sz="2400" b="1" u="sng" spc="-20" dirty="0">
                <a:solidFill>
                  <a:srgbClr val="7B7B7B"/>
                </a:solidFill>
                <a:uFill>
                  <a:solidFill>
                    <a:srgbClr val="7B7B7B"/>
                  </a:solidFill>
                </a:uFill>
                <a:latin typeface="SimSun"/>
                <a:cs typeface="SimSun"/>
              </a:rPr>
              <a:t>将传统“赤</a:t>
            </a:r>
            <a:r>
              <a:rPr sz="2400" b="1" u="sng" spc="-10" dirty="0">
                <a:solidFill>
                  <a:srgbClr val="7B7B7B"/>
                </a:solidFill>
                <a:uFill>
                  <a:solidFill>
                    <a:srgbClr val="7B7B7B"/>
                  </a:solidFill>
                </a:uFill>
                <a:latin typeface="SimSun"/>
                <a:cs typeface="SimSun"/>
              </a:rPr>
              <a:t>印”意象迁移运用到建筑设计之中，打造富有文化韵味的城市地</a:t>
            </a:r>
            <a:r>
              <a:rPr sz="2400" b="1" u="sng" dirty="0">
                <a:solidFill>
                  <a:srgbClr val="7B7B7B"/>
                </a:solidFill>
                <a:uFill>
                  <a:solidFill>
                    <a:srgbClr val="7B7B7B"/>
                  </a:solidFill>
                </a:uFill>
                <a:latin typeface="SimSun"/>
                <a:cs typeface="SimSun"/>
              </a:rPr>
              <a:t>标</a:t>
            </a:r>
            <a:r>
              <a:rPr sz="2400" b="1" spc="-50" dirty="0">
                <a:latin typeface="SimSun"/>
                <a:cs typeface="SimSun"/>
              </a:rPr>
              <a:t>。</a:t>
            </a:r>
            <a:endParaRPr sz="2400" b="1" dirty="0">
              <a:latin typeface="SimSun"/>
              <a:cs typeface="SimSun"/>
            </a:endParaRPr>
          </a:p>
        </p:txBody>
      </p:sp>
      <p:graphicFrame>
        <p:nvGraphicFramePr>
          <p:cNvPr id="8" name="表格 7"/>
          <p:cNvGraphicFramePr>
            <a:graphicFrameLocks noGrp="1"/>
          </p:cNvGraphicFramePr>
          <p:nvPr>
            <p:extLst>
              <p:ext uri="{D42A27DB-BD31-4B8C-83A1-F6EECF244321}">
                <p14:modId xmlns:p14="http://schemas.microsoft.com/office/powerpoint/2010/main" val="887141485"/>
              </p:ext>
            </p:extLst>
          </p:nvPr>
        </p:nvGraphicFramePr>
        <p:xfrm>
          <a:off x="7911689" y="4883149"/>
          <a:ext cx="3670711" cy="1684655"/>
        </p:xfrm>
        <a:graphic>
          <a:graphicData uri="http://schemas.openxmlformats.org/drawingml/2006/table">
            <a:tbl>
              <a:tblPr firstRow="1" bandRow="1">
                <a:tableStyleId>{2D5ABB26-0587-4C30-8999-92F81FD0307C}</a:tableStyleId>
              </a:tblPr>
              <a:tblGrid>
                <a:gridCol w="927511">
                  <a:extLst>
                    <a:ext uri="{9D8B030D-6E8A-4147-A177-3AD203B41FA5}">
                      <a16:colId xmlns:a16="http://schemas.microsoft.com/office/drawing/2014/main" val="1968453395"/>
                    </a:ext>
                  </a:extLst>
                </a:gridCol>
                <a:gridCol w="2743200">
                  <a:extLst>
                    <a:ext uri="{9D8B030D-6E8A-4147-A177-3AD203B41FA5}">
                      <a16:colId xmlns:a16="http://schemas.microsoft.com/office/drawing/2014/main" val="290786009"/>
                    </a:ext>
                  </a:extLst>
                </a:gridCol>
              </a:tblGrid>
              <a:tr h="1188720">
                <a:tc>
                  <a:txBody>
                    <a:bodyPr/>
                    <a:lstStyle/>
                    <a:p>
                      <a:pPr marL="90805" marR="111125">
                        <a:lnSpc>
                          <a:spcPts val="2140"/>
                        </a:lnSpc>
                        <a:spcBef>
                          <a:spcPts val="380"/>
                        </a:spcBef>
                      </a:pPr>
                      <a:r>
                        <a:rPr sz="1800" spc="-10" dirty="0">
                          <a:latin typeface="Microsoft YaHei"/>
                          <a:cs typeface="Microsoft YaHei"/>
                        </a:rPr>
                        <a:t>发散思维、聚合</a:t>
                      </a:r>
                      <a:r>
                        <a:rPr sz="1800" dirty="0">
                          <a:latin typeface="Microsoft YaHei"/>
                          <a:cs typeface="Microsoft YaHei"/>
                        </a:rPr>
                        <a:t>思维</a:t>
                      </a:r>
                      <a:r>
                        <a:rPr sz="1800" spc="-10" dirty="0">
                          <a:latin typeface="Microsoft YaHei"/>
                          <a:cs typeface="Microsoft YaHei"/>
                        </a:rPr>
                        <a:t>（</a:t>
                      </a:r>
                      <a:r>
                        <a:rPr sz="1800" spc="-10" dirty="0">
                          <a:latin typeface="Arial MT"/>
                          <a:cs typeface="Arial MT"/>
                        </a:rPr>
                        <a:t>1</a:t>
                      </a:r>
                      <a:r>
                        <a:rPr sz="1800" dirty="0">
                          <a:latin typeface="Microsoft YaHei"/>
                          <a:cs typeface="Microsoft YaHei"/>
                        </a:rPr>
                        <a:t>分</a:t>
                      </a:r>
                      <a:r>
                        <a:rPr sz="1800" spc="-50" dirty="0">
                          <a:latin typeface="Microsoft YaHei"/>
                          <a:cs typeface="Microsoft YaHei"/>
                        </a:rPr>
                        <a:t>）</a:t>
                      </a:r>
                      <a:endParaRPr sz="1800" dirty="0">
                        <a:latin typeface="Microsoft YaHei"/>
                        <a:cs typeface="Microsoft YaHei"/>
                      </a:endParaRPr>
                    </a:p>
                  </a:txBody>
                  <a:tcPr marL="0" marR="0" marT="482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1440" marR="1043940">
                        <a:lnSpc>
                          <a:spcPct val="100000"/>
                        </a:lnSpc>
                        <a:spcBef>
                          <a:spcPts val="305"/>
                        </a:spcBef>
                      </a:pPr>
                      <a:r>
                        <a:rPr sz="1800" dirty="0">
                          <a:latin typeface="Microsoft YaHei"/>
                          <a:cs typeface="Microsoft YaHei"/>
                        </a:rPr>
                        <a:t>发散思维和聚合思维是创新思维的两翼（</a:t>
                      </a:r>
                      <a:r>
                        <a:rPr sz="1800" dirty="0">
                          <a:latin typeface="Arial MT"/>
                          <a:cs typeface="Arial MT"/>
                        </a:rPr>
                        <a:t>1</a:t>
                      </a:r>
                      <a:r>
                        <a:rPr sz="1800" dirty="0">
                          <a:latin typeface="Microsoft YaHei"/>
                          <a:cs typeface="Microsoft YaHei"/>
                        </a:rPr>
                        <a:t>分</a:t>
                      </a:r>
                      <a:r>
                        <a:rPr sz="1800" spc="-50" dirty="0">
                          <a:latin typeface="Microsoft YaHei"/>
                          <a:cs typeface="Microsoft YaHei"/>
                        </a:rPr>
                        <a:t>）</a:t>
                      </a:r>
                      <a:r>
                        <a:rPr sz="1800" spc="-5" dirty="0">
                          <a:latin typeface="Microsoft YaHei"/>
                          <a:cs typeface="Microsoft YaHei"/>
                        </a:rPr>
                        <a:t>替代：</a:t>
                      </a:r>
                      <a:r>
                        <a:rPr sz="1800" spc="-10" dirty="0">
                          <a:latin typeface="Arial MT"/>
                          <a:cs typeface="Arial MT"/>
                        </a:rPr>
                        <a:t>“</a:t>
                      </a:r>
                      <a:r>
                        <a:rPr sz="1800" dirty="0">
                          <a:latin typeface="Microsoft YaHei"/>
                          <a:cs typeface="Microsoft YaHei"/>
                        </a:rPr>
                        <a:t>发散</a:t>
                      </a:r>
                      <a:r>
                        <a:rPr sz="1800" spc="-10" dirty="0">
                          <a:latin typeface="Arial MT"/>
                          <a:cs typeface="Arial MT"/>
                        </a:rPr>
                        <a:t>-</a:t>
                      </a:r>
                      <a:r>
                        <a:rPr sz="1800" dirty="0">
                          <a:latin typeface="Microsoft YaHei"/>
                          <a:cs typeface="Microsoft YaHei"/>
                        </a:rPr>
                        <a:t>聚合</a:t>
                      </a:r>
                      <a:r>
                        <a:rPr sz="1800" spc="-10" dirty="0">
                          <a:latin typeface="Arial MT"/>
                          <a:cs typeface="Arial MT"/>
                        </a:rPr>
                        <a:t>-</a:t>
                      </a:r>
                      <a:r>
                        <a:rPr sz="1800" dirty="0">
                          <a:latin typeface="Microsoft YaHei"/>
                          <a:cs typeface="Microsoft YaHei"/>
                        </a:rPr>
                        <a:t>发散</a:t>
                      </a:r>
                      <a:r>
                        <a:rPr sz="1800" spc="-10" dirty="0">
                          <a:latin typeface="Arial MT"/>
                          <a:cs typeface="Arial MT"/>
                        </a:rPr>
                        <a:t>-</a:t>
                      </a:r>
                      <a:r>
                        <a:rPr sz="1800" dirty="0">
                          <a:latin typeface="Microsoft YaHei"/>
                          <a:cs typeface="Microsoft YaHei"/>
                        </a:rPr>
                        <a:t>聚合</a:t>
                      </a:r>
                      <a:r>
                        <a:rPr sz="1800" spc="-10" dirty="0">
                          <a:latin typeface="Arial MT"/>
                          <a:cs typeface="Arial MT"/>
                        </a:rPr>
                        <a:t>”“</a:t>
                      </a:r>
                      <a:r>
                        <a:rPr sz="1800" dirty="0">
                          <a:latin typeface="Microsoft YaHei"/>
                          <a:cs typeface="Microsoft YaHei"/>
                        </a:rPr>
                        <a:t>合力</a:t>
                      </a:r>
                      <a:r>
                        <a:rPr sz="1800" spc="-50" dirty="0">
                          <a:latin typeface="Arial MT"/>
                          <a:cs typeface="Arial MT"/>
                        </a:rPr>
                        <a:t>”</a:t>
                      </a:r>
                      <a:endParaRPr sz="1800" dirty="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3674373953"/>
                  </a:ext>
                </a:extLst>
              </a:tr>
            </a:tbl>
          </a:graphicData>
        </a:graphic>
      </p:graphicFrame>
      <p:cxnSp>
        <p:nvCxnSpPr>
          <p:cNvPr id="10" name="直接连接符 9"/>
          <p:cNvCxnSpPr/>
          <p:nvPr/>
        </p:nvCxnSpPr>
        <p:spPr>
          <a:xfrm>
            <a:off x="4038600" y="6019800"/>
            <a:ext cx="3124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595189" y="6273606"/>
            <a:ext cx="4339011" cy="1987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384175" y="1287780"/>
          <a:ext cx="11483338" cy="4378324"/>
        </p:xfrm>
        <a:graphic>
          <a:graphicData uri="http://schemas.openxmlformats.org/drawingml/2006/table">
            <a:tbl>
              <a:tblPr firstRow="1" bandRow="1">
                <a:tableStyleId>{2D5ABB26-0587-4C30-8999-92F81FD0307C}</a:tableStyleId>
              </a:tblPr>
              <a:tblGrid>
                <a:gridCol w="1812925">
                  <a:extLst>
                    <a:ext uri="{9D8B030D-6E8A-4147-A177-3AD203B41FA5}">
                      <a16:colId xmlns:a16="http://schemas.microsoft.com/office/drawing/2014/main" val="20000"/>
                    </a:ext>
                  </a:extLst>
                </a:gridCol>
                <a:gridCol w="5842634">
                  <a:extLst>
                    <a:ext uri="{9D8B030D-6E8A-4147-A177-3AD203B41FA5}">
                      <a16:colId xmlns:a16="http://schemas.microsoft.com/office/drawing/2014/main" val="20001"/>
                    </a:ext>
                  </a:extLst>
                </a:gridCol>
                <a:gridCol w="3827779">
                  <a:extLst>
                    <a:ext uri="{9D8B030D-6E8A-4147-A177-3AD203B41FA5}">
                      <a16:colId xmlns:a16="http://schemas.microsoft.com/office/drawing/2014/main" val="20002"/>
                    </a:ext>
                  </a:extLst>
                </a:gridCol>
              </a:tblGrid>
              <a:tr h="365760">
                <a:tc>
                  <a:txBody>
                    <a:bodyPr/>
                    <a:lstStyle/>
                    <a:p>
                      <a:pPr marL="90805">
                        <a:lnSpc>
                          <a:spcPct val="100000"/>
                        </a:lnSpc>
                        <a:spcBef>
                          <a:spcPts val="280"/>
                        </a:spcBef>
                      </a:pPr>
                      <a:r>
                        <a:rPr sz="1800" spc="-25" dirty="0">
                          <a:solidFill>
                            <a:srgbClr val="FFFFFF"/>
                          </a:solidFill>
                          <a:latin typeface="SimSun"/>
                          <a:cs typeface="SimSun"/>
                        </a:rPr>
                        <a:t>知识</a:t>
                      </a:r>
                      <a:endParaRPr sz="1800">
                        <a:latin typeface="SimSun"/>
                        <a:cs typeface="SimSu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91440">
                        <a:lnSpc>
                          <a:spcPct val="100000"/>
                        </a:lnSpc>
                        <a:spcBef>
                          <a:spcPts val="280"/>
                        </a:spcBef>
                      </a:pPr>
                      <a:r>
                        <a:rPr sz="1800" spc="-15" dirty="0">
                          <a:solidFill>
                            <a:srgbClr val="FFFFFF"/>
                          </a:solidFill>
                          <a:latin typeface="SimSun"/>
                          <a:cs typeface="SimSun"/>
                        </a:rPr>
                        <a:t>知识展开</a:t>
                      </a:r>
                      <a:endParaRPr sz="1800">
                        <a:latin typeface="SimSun"/>
                        <a:cs typeface="SimSu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92075">
                        <a:lnSpc>
                          <a:spcPct val="100000"/>
                        </a:lnSpc>
                        <a:spcBef>
                          <a:spcPts val="280"/>
                        </a:spcBef>
                      </a:pPr>
                      <a:r>
                        <a:rPr sz="1800" spc="-25" dirty="0">
                          <a:solidFill>
                            <a:srgbClr val="FFFFFF"/>
                          </a:solidFill>
                          <a:latin typeface="SimSun"/>
                          <a:cs typeface="SimSun"/>
                        </a:rPr>
                        <a:t>材料</a:t>
                      </a:r>
                      <a:endParaRPr sz="1800">
                        <a:latin typeface="SimSun"/>
                        <a:cs typeface="SimSu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914400">
                <a:tc>
                  <a:txBody>
                    <a:bodyPr/>
                    <a:lstStyle/>
                    <a:p>
                      <a:pPr marL="90805">
                        <a:lnSpc>
                          <a:spcPct val="100000"/>
                        </a:lnSpc>
                        <a:spcBef>
                          <a:spcPts val="275"/>
                        </a:spcBef>
                      </a:pPr>
                      <a:r>
                        <a:rPr sz="1800" dirty="0">
                          <a:latin typeface="SimSun"/>
                          <a:cs typeface="SimSun"/>
                        </a:rPr>
                        <a:t>逆向思维</a:t>
                      </a:r>
                      <a:r>
                        <a:rPr sz="1800" spc="-20" dirty="0">
                          <a:latin typeface="SimSun"/>
                          <a:cs typeface="SimSun"/>
                        </a:rPr>
                        <a:t>（</a:t>
                      </a:r>
                      <a:r>
                        <a:rPr sz="1800" spc="-20" dirty="0">
                          <a:latin typeface="Calibri"/>
                          <a:cs typeface="Calibri"/>
                        </a:rPr>
                        <a:t>1</a:t>
                      </a:r>
                      <a:r>
                        <a:rPr sz="1800" dirty="0">
                          <a:latin typeface="SimSun"/>
                          <a:cs typeface="SimSun"/>
                        </a:rPr>
                        <a:t>分</a:t>
                      </a:r>
                      <a:r>
                        <a:rPr sz="1800" spc="-50" dirty="0">
                          <a:latin typeface="SimSun"/>
                          <a:cs typeface="SimSun"/>
                        </a:rPr>
                        <a:t>）</a:t>
                      </a:r>
                      <a:endParaRPr sz="1800">
                        <a:latin typeface="SimSun"/>
                        <a:cs typeface="SimSun"/>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1440" marR="256540">
                        <a:lnSpc>
                          <a:spcPct val="100000"/>
                        </a:lnSpc>
                        <a:spcBef>
                          <a:spcPts val="275"/>
                        </a:spcBef>
                      </a:pPr>
                      <a:r>
                        <a:rPr sz="1800" dirty="0">
                          <a:latin typeface="SimSun"/>
                          <a:cs typeface="SimSun"/>
                        </a:rPr>
                        <a:t>对事物结构顺序的已有认识进行反向思考。</a:t>
                      </a:r>
                      <a:r>
                        <a:rPr sz="1800" spc="-10" dirty="0">
                          <a:latin typeface="SimSun"/>
                          <a:cs typeface="SimSun"/>
                        </a:rPr>
                        <a:t>（</a:t>
                      </a:r>
                      <a:r>
                        <a:rPr sz="1800" spc="-10" dirty="0">
                          <a:latin typeface="Calibri"/>
                          <a:cs typeface="Calibri"/>
                        </a:rPr>
                        <a:t>1</a:t>
                      </a:r>
                      <a:r>
                        <a:rPr sz="1800" dirty="0">
                          <a:latin typeface="SimSun"/>
                          <a:cs typeface="SimSun"/>
                        </a:rPr>
                        <a:t>分</a:t>
                      </a:r>
                      <a:r>
                        <a:rPr sz="1800" spc="-50" dirty="0">
                          <a:latin typeface="SimSun"/>
                          <a:cs typeface="SimSun"/>
                        </a:rPr>
                        <a:t>）</a:t>
                      </a:r>
                      <a:r>
                        <a:rPr sz="1800" spc="500" dirty="0">
                          <a:latin typeface="SimSun"/>
                          <a:cs typeface="SimSun"/>
                        </a:rPr>
                        <a:t> </a:t>
                      </a:r>
                      <a:r>
                        <a:rPr sz="1800" spc="-5" dirty="0">
                          <a:latin typeface="SimSun"/>
                          <a:cs typeface="SimSun"/>
                        </a:rPr>
                        <a:t>替代：事物存在状态；事物功能；事物之间因果关系作</a:t>
                      </a:r>
                      <a:r>
                        <a:rPr sz="1800" spc="-10" dirty="0">
                          <a:latin typeface="SimSun"/>
                          <a:cs typeface="SimSun"/>
                        </a:rPr>
                        <a:t>交换性思考</a:t>
                      </a:r>
                      <a:endParaRPr sz="1800">
                        <a:latin typeface="SimSun"/>
                        <a:cs typeface="SimSun"/>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75"/>
                        </a:spcBef>
                      </a:pPr>
                      <a:r>
                        <a:rPr sz="1800" dirty="0">
                          <a:latin typeface="SimSun"/>
                          <a:cs typeface="SimSun"/>
                        </a:rPr>
                        <a:t>借助科技实现从</a:t>
                      </a:r>
                      <a:r>
                        <a:rPr sz="1800" dirty="0">
                          <a:latin typeface="Calibri"/>
                          <a:cs typeface="Calibri"/>
                        </a:rPr>
                        <a:t>“</a:t>
                      </a:r>
                      <a:r>
                        <a:rPr sz="1800" dirty="0">
                          <a:latin typeface="SimSun"/>
                          <a:cs typeface="SimSun"/>
                        </a:rPr>
                        <a:t>人找书</a:t>
                      </a:r>
                      <a:r>
                        <a:rPr sz="1800" dirty="0">
                          <a:latin typeface="Calibri"/>
                          <a:cs typeface="Calibri"/>
                        </a:rPr>
                        <a:t>”</a:t>
                      </a:r>
                      <a:r>
                        <a:rPr sz="1800" dirty="0">
                          <a:latin typeface="SimSun"/>
                          <a:cs typeface="SimSun"/>
                        </a:rPr>
                        <a:t>向</a:t>
                      </a:r>
                      <a:r>
                        <a:rPr sz="1800" dirty="0">
                          <a:latin typeface="Calibri"/>
                          <a:cs typeface="Calibri"/>
                        </a:rPr>
                        <a:t>“</a:t>
                      </a:r>
                      <a:r>
                        <a:rPr sz="1800" dirty="0">
                          <a:latin typeface="SimSun"/>
                          <a:cs typeface="SimSun"/>
                        </a:rPr>
                        <a:t>书找人</a:t>
                      </a:r>
                      <a:r>
                        <a:rPr sz="1800" spc="-50" dirty="0">
                          <a:latin typeface="Calibri"/>
                          <a:cs typeface="Calibri"/>
                        </a:rPr>
                        <a:t>”</a:t>
                      </a:r>
                      <a:endParaRPr sz="1800">
                        <a:latin typeface="Calibri"/>
                        <a:cs typeface="Calibri"/>
                      </a:endParaRPr>
                    </a:p>
                    <a:p>
                      <a:pPr marL="92075">
                        <a:lnSpc>
                          <a:spcPct val="100000"/>
                        </a:lnSpc>
                      </a:pPr>
                      <a:r>
                        <a:rPr sz="1800" spc="-10" dirty="0">
                          <a:latin typeface="SimSun"/>
                          <a:cs typeface="SimSun"/>
                        </a:rPr>
                        <a:t>的转换，给读者提供便利。（</a:t>
                      </a:r>
                      <a:r>
                        <a:rPr sz="1800" spc="-10" dirty="0">
                          <a:latin typeface="Calibri"/>
                          <a:cs typeface="Calibri"/>
                        </a:rPr>
                        <a:t>1</a:t>
                      </a:r>
                      <a:r>
                        <a:rPr sz="1800" dirty="0">
                          <a:latin typeface="SimSun"/>
                          <a:cs typeface="SimSun"/>
                        </a:rPr>
                        <a:t>分</a:t>
                      </a:r>
                      <a:r>
                        <a:rPr sz="1800" spc="-50" dirty="0">
                          <a:latin typeface="SimSun"/>
                          <a:cs typeface="SimSun"/>
                        </a:rPr>
                        <a:t>）</a:t>
                      </a:r>
                      <a:endParaRPr sz="1800">
                        <a:latin typeface="SimSun"/>
                        <a:cs typeface="SimSun"/>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1"/>
                  </a:ext>
                </a:extLst>
              </a:tr>
              <a:tr h="995044">
                <a:tc>
                  <a:txBody>
                    <a:bodyPr/>
                    <a:lstStyle/>
                    <a:p>
                      <a:pPr marL="90805">
                        <a:lnSpc>
                          <a:spcPct val="100000"/>
                        </a:lnSpc>
                        <a:spcBef>
                          <a:spcPts val="280"/>
                        </a:spcBef>
                      </a:pPr>
                      <a:r>
                        <a:rPr sz="1800" dirty="0">
                          <a:latin typeface="SimSun"/>
                          <a:cs typeface="SimSun"/>
                        </a:rPr>
                        <a:t>联想思维</a:t>
                      </a:r>
                      <a:r>
                        <a:rPr sz="1800" spc="-20" dirty="0">
                          <a:latin typeface="SimSun"/>
                          <a:cs typeface="SimSun"/>
                        </a:rPr>
                        <a:t>（</a:t>
                      </a:r>
                      <a:r>
                        <a:rPr sz="1800" spc="-20" dirty="0">
                          <a:latin typeface="Calibri"/>
                          <a:cs typeface="Calibri"/>
                        </a:rPr>
                        <a:t>1</a:t>
                      </a:r>
                      <a:r>
                        <a:rPr sz="1800" dirty="0">
                          <a:latin typeface="SimSun"/>
                          <a:cs typeface="SimSun"/>
                        </a:rPr>
                        <a:t>分</a:t>
                      </a:r>
                      <a:r>
                        <a:rPr sz="1800" spc="-50" dirty="0">
                          <a:latin typeface="SimSun"/>
                          <a:cs typeface="SimSun"/>
                        </a:rPr>
                        <a:t>）</a:t>
                      </a:r>
                      <a:endParaRPr sz="1800">
                        <a:latin typeface="SimSun"/>
                        <a:cs typeface="SimSu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1440">
                        <a:lnSpc>
                          <a:spcPct val="100000"/>
                        </a:lnSpc>
                        <a:spcBef>
                          <a:spcPts val="425"/>
                        </a:spcBef>
                      </a:pPr>
                      <a:r>
                        <a:rPr sz="1800" spc="-5" dirty="0">
                          <a:latin typeface="SimSun"/>
                          <a:cs typeface="SimSun"/>
                        </a:rPr>
                        <a:t>将原有的认识经验直接应用到其他工作之中进行同化性</a:t>
                      </a:r>
                      <a:endParaRPr sz="1800">
                        <a:latin typeface="SimSun"/>
                        <a:cs typeface="SimSun"/>
                      </a:endParaRPr>
                    </a:p>
                    <a:p>
                      <a:pPr marL="91440">
                        <a:lnSpc>
                          <a:spcPct val="100000"/>
                        </a:lnSpc>
                        <a:spcBef>
                          <a:spcPts val="20"/>
                        </a:spcBef>
                      </a:pPr>
                      <a:r>
                        <a:rPr sz="2800" u="sng" spc="-40" dirty="0">
                          <a:solidFill>
                            <a:srgbClr val="FF0000"/>
                          </a:solidFill>
                          <a:uFill>
                            <a:solidFill>
                              <a:srgbClr val="FF0000"/>
                            </a:solidFill>
                          </a:uFill>
                          <a:latin typeface="SimSun"/>
                          <a:cs typeface="SimSun"/>
                        </a:rPr>
                        <a:t>迁移</a:t>
                      </a:r>
                      <a:r>
                        <a:rPr sz="1800" dirty="0">
                          <a:latin typeface="SimSun"/>
                          <a:cs typeface="SimSun"/>
                        </a:rPr>
                        <a:t>。</a:t>
                      </a:r>
                      <a:r>
                        <a:rPr sz="1800" spc="-10" dirty="0">
                          <a:latin typeface="SimSun"/>
                          <a:cs typeface="SimSun"/>
                        </a:rPr>
                        <a:t>（</a:t>
                      </a:r>
                      <a:r>
                        <a:rPr sz="1800" spc="-10" dirty="0">
                          <a:latin typeface="Calibri"/>
                          <a:cs typeface="Calibri"/>
                        </a:rPr>
                        <a:t>1</a:t>
                      </a:r>
                      <a:r>
                        <a:rPr sz="1800" dirty="0">
                          <a:latin typeface="SimSun"/>
                          <a:cs typeface="SimSun"/>
                        </a:rPr>
                        <a:t>分</a:t>
                      </a:r>
                      <a:r>
                        <a:rPr sz="1800" spc="-50" dirty="0">
                          <a:latin typeface="SimSun"/>
                          <a:cs typeface="SimSun"/>
                        </a:rPr>
                        <a:t>）</a:t>
                      </a:r>
                      <a:endParaRPr sz="1800">
                        <a:latin typeface="SimSun"/>
                        <a:cs typeface="SimSun"/>
                      </a:endParaRPr>
                    </a:p>
                  </a:txBody>
                  <a:tcPr marL="0" marR="0" marT="539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2075" marR="106045">
                        <a:lnSpc>
                          <a:spcPct val="100000"/>
                        </a:lnSpc>
                        <a:spcBef>
                          <a:spcPts val="280"/>
                        </a:spcBef>
                      </a:pPr>
                      <a:r>
                        <a:rPr sz="1800" dirty="0">
                          <a:latin typeface="SimSun"/>
                          <a:cs typeface="SimSun"/>
                        </a:rPr>
                        <a:t>将中国传统</a:t>
                      </a:r>
                      <a:r>
                        <a:rPr sz="1800" dirty="0">
                          <a:latin typeface="Calibri"/>
                          <a:cs typeface="Calibri"/>
                        </a:rPr>
                        <a:t>“</a:t>
                      </a:r>
                      <a:r>
                        <a:rPr sz="1800" dirty="0">
                          <a:latin typeface="SimSun"/>
                          <a:cs typeface="SimSun"/>
                        </a:rPr>
                        <a:t>赤印</a:t>
                      </a:r>
                      <a:r>
                        <a:rPr sz="1800" dirty="0">
                          <a:latin typeface="Calibri"/>
                          <a:cs typeface="Calibri"/>
                        </a:rPr>
                        <a:t>”</a:t>
                      </a:r>
                      <a:r>
                        <a:rPr sz="1800" spc="-10" dirty="0">
                          <a:latin typeface="SimSun"/>
                          <a:cs typeface="SimSun"/>
                        </a:rPr>
                        <a:t>意象和新型公共空</a:t>
                      </a:r>
                      <a:r>
                        <a:rPr sz="1800" spc="-5" dirty="0">
                          <a:latin typeface="SimSun"/>
                          <a:cs typeface="SimSun"/>
                        </a:rPr>
                        <a:t>间设计有机结合，打造富有文化韵</a:t>
                      </a:r>
                      <a:r>
                        <a:rPr sz="1800" spc="-10" dirty="0">
                          <a:latin typeface="SimSun"/>
                          <a:cs typeface="SimSun"/>
                        </a:rPr>
                        <a:t>味的城市地标。（</a:t>
                      </a:r>
                      <a:r>
                        <a:rPr sz="1800" spc="-10" dirty="0">
                          <a:latin typeface="Calibri"/>
                          <a:cs typeface="Calibri"/>
                        </a:rPr>
                        <a:t>1</a:t>
                      </a:r>
                      <a:r>
                        <a:rPr sz="1800" spc="-10" dirty="0">
                          <a:latin typeface="SimSun"/>
                          <a:cs typeface="SimSun"/>
                        </a:rPr>
                        <a:t>分</a:t>
                      </a:r>
                      <a:r>
                        <a:rPr sz="1800" spc="-50" dirty="0">
                          <a:latin typeface="SimSun"/>
                          <a:cs typeface="SimSun"/>
                        </a:rPr>
                        <a:t>）</a:t>
                      </a:r>
                      <a:endParaRPr sz="1800">
                        <a:latin typeface="SimSun"/>
                        <a:cs typeface="SimSun"/>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2"/>
                  </a:ext>
                </a:extLst>
              </a:tr>
              <a:tr h="1188720">
                <a:tc>
                  <a:txBody>
                    <a:bodyPr/>
                    <a:lstStyle/>
                    <a:p>
                      <a:pPr marL="90805" marR="111125">
                        <a:lnSpc>
                          <a:spcPts val="2140"/>
                        </a:lnSpc>
                        <a:spcBef>
                          <a:spcPts val="380"/>
                        </a:spcBef>
                      </a:pPr>
                      <a:r>
                        <a:rPr sz="1800" spc="-10" dirty="0">
                          <a:latin typeface="Microsoft YaHei"/>
                          <a:cs typeface="Microsoft YaHei"/>
                        </a:rPr>
                        <a:t>发散思维、聚合</a:t>
                      </a:r>
                      <a:r>
                        <a:rPr sz="1800" dirty="0">
                          <a:latin typeface="Microsoft YaHei"/>
                          <a:cs typeface="Microsoft YaHei"/>
                        </a:rPr>
                        <a:t>思维</a:t>
                      </a:r>
                      <a:r>
                        <a:rPr sz="1800" spc="-10" dirty="0">
                          <a:latin typeface="Microsoft YaHei"/>
                          <a:cs typeface="Microsoft YaHei"/>
                        </a:rPr>
                        <a:t>（</a:t>
                      </a:r>
                      <a:r>
                        <a:rPr sz="1800" spc="-10" dirty="0">
                          <a:latin typeface="Arial MT"/>
                          <a:cs typeface="Arial MT"/>
                        </a:rPr>
                        <a:t>1</a:t>
                      </a:r>
                      <a:r>
                        <a:rPr sz="1800" dirty="0">
                          <a:latin typeface="Microsoft YaHei"/>
                          <a:cs typeface="Microsoft YaHei"/>
                        </a:rPr>
                        <a:t>分</a:t>
                      </a:r>
                      <a:r>
                        <a:rPr sz="1800" spc="-50" dirty="0">
                          <a:latin typeface="Microsoft YaHei"/>
                          <a:cs typeface="Microsoft YaHei"/>
                        </a:rPr>
                        <a:t>）</a:t>
                      </a:r>
                      <a:endParaRPr sz="1800" dirty="0">
                        <a:latin typeface="Microsoft YaHei"/>
                        <a:cs typeface="Microsoft YaHei"/>
                      </a:endParaRPr>
                    </a:p>
                  </a:txBody>
                  <a:tcPr marL="0" marR="0" marT="482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1440" marR="1043940">
                        <a:lnSpc>
                          <a:spcPct val="100000"/>
                        </a:lnSpc>
                        <a:spcBef>
                          <a:spcPts val="305"/>
                        </a:spcBef>
                      </a:pPr>
                      <a:r>
                        <a:rPr sz="1800" dirty="0">
                          <a:latin typeface="Microsoft YaHei"/>
                          <a:cs typeface="Microsoft YaHei"/>
                        </a:rPr>
                        <a:t>发散思维和聚合思维是创新思维的两翼（</a:t>
                      </a:r>
                      <a:r>
                        <a:rPr sz="1800" dirty="0">
                          <a:latin typeface="Arial MT"/>
                          <a:cs typeface="Arial MT"/>
                        </a:rPr>
                        <a:t>1</a:t>
                      </a:r>
                      <a:r>
                        <a:rPr sz="1800" dirty="0">
                          <a:latin typeface="Microsoft YaHei"/>
                          <a:cs typeface="Microsoft YaHei"/>
                        </a:rPr>
                        <a:t>分</a:t>
                      </a:r>
                      <a:r>
                        <a:rPr sz="1800" spc="-50" dirty="0">
                          <a:latin typeface="Microsoft YaHei"/>
                          <a:cs typeface="Microsoft YaHei"/>
                        </a:rPr>
                        <a:t>）</a:t>
                      </a:r>
                      <a:r>
                        <a:rPr sz="1800" spc="-5" dirty="0">
                          <a:latin typeface="Microsoft YaHei"/>
                          <a:cs typeface="Microsoft YaHei"/>
                        </a:rPr>
                        <a:t>替代：</a:t>
                      </a:r>
                      <a:r>
                        <a:rPr sz="1800" spc="-10" dirty="0">
                          <a:latin typeface="Arial MT"/>
                          <a:cs typeface="Arial MT"/>
                        </a:rPr>
                        <a:t>“</a:t>
                      </a:r>
                      <a:r>
                        <a:rPr sz="1800" dirty="0">
                          <a:latin typeface="Microsoft YaHei"/>
                          <a:cs typeface="Microsoft YaHei"/>
                        </a:rPr>
                        <a:t>发散</a:t>
                      </a:r>
                      <a:r>
                        <a:rPr sz="1800" spc="-10" dirty="0">
                          <a:latin typeface="Arial MT"/>
                          <a:cs typeface="Arial MT"/>
                        </a:rPr>
                        <a:t>-</a:t>
                      </a:r>
                      <a:r>
                        <a:rPr sz="1800" dirty="0">
                          <a:latin typeface="Microsoft YaHei"/>
                          <a:cs typeface="Microsoft YaHei"/>
                        </a:rPr>
                        <a:t>聚合</a:t>
                      </a:r>
                      <a:r>
                        <a:rPr sz="1800" spc="-10" dirty="0">
                          <a:latin typeface="Arial MT"/>
                          <a:cs typeface="Arial MT"/>
                        </a:rPr>
                        <a:t>-</a:t>
                      </a:r>
                      <a:r>
                        <a:rPr sz="1800" dirty="0">
                          <a:latin typeface="Microsoft YaHei"/>
                          <a:cs typeface="Microsoft YaHei"/>
                        </a:rPr>
                        <a:t>发散</a:t>
                      </a:r>
                      <a:r>
                        <a:rPr sz="1800" spc="-10" dirty="0">
                          <a:latin typeface="Arial MT"/>
                          <a:cs typeface="Arial MT"/>
                        </a:rPr>
                        <a:t>-</a:t>
                      </a:r>
                      <a:r>
                        <a:rPr sz="1800" dirty="0">
                          <a:latin typeface="Microsoft YaHei"/>
                          <a:cs typeface="Microsoft YaHei"/>
                        </a:rPr>
                        <a:t>聚合</a:t>
                      </a:r>
                      <a:r>
                        <a:rPr sz="1800" spc="-10" dirty="0">
                          <a:latin typeface="Arial MT"/>
                          <a:cs typeface="Arial MT"/>
                        </a:rPr>
                        <a:t>”“</a:t>
                      </a:r>
                      <a:r>
                        <a:rPr sz="1800" dirty="0">
                          <a:latin typeface="Microsoft YaHei"/>
                          <a:cs typeface="Microsoft YaHei"/>
                        </a:rPr>
                        <a:t>合力</a:t>
                      </a:r>
                      <a:r>
                        <a:rPr sz="1800" spc="-50" dirty="0">
                          <a:latin typeface="Arial MT"/>
                          <a:cs typeface="Arial MT"/>
                        </a:rPr>
                        <a:t>”</a:t>
                      </a:r>
                      <a:endParaRPr sz="1800" dirty="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2075" marR="298450" algn="just">
                        <a:lnSpc>
                          <a:spcPct val="97800"/>
                        </a:lnSpc>
                        <a:spcBef>
                          <a:spcPts val="470"/>
                        </a:spcBef>
                      </a:pPr>
                      <a:r>
                        <a:rPr sz="1800" spc="-5" dirty="0">
                          <a:latin typeface="SimSun"/>
                          <a:cs typeface="SimSun"/>
                        </a:rPr>
                        <a:t>将京津冀三地相连、充分整合各部门各行业的文化服务数字资源，构建多层次、多门类的公共文化数字</a:t>
                      </a:r>
                      <a:r>
                        <a:rPr sz="1800" dirty="0">
                          <a:latin typeface="SimSun"/>
                          <a:cs typeface="SimSun"/>
                        </a:rPr>
                        <a:t>服务网络群</a:t>
                      </a:r>
                      <a:r>
                        <a:rPr sz="1800" spc="-10" dirty="0">
                          <a:latin typeface="SimSun"/>
                          <a:cs typeface="SimSun"/>
                        </a:rPr>
                        <a:t>（</a:t>
                      </a:r>
                      <a:r>
                        <a:rPr sz="1800" spc="-10" dirty="0">
                          <a:latin typeface="Calibri"/>
                          <a:cs typeface="Calibri"/>
                        </a:rPr>
                        <a:t>1</a:t>
                      </a:r>
                      <a:r>
                        <a:rPr sz="1800" dirty="0">
                          <a:latin typeface="SimSun"/>
                          <a:cs typeface="SimSun"/>
                        </a:rPr>
                        <a:t>分</a:t>
                      </a:r>
                      <a:r>
                        <a:rPr sz="1800" spc="-50" dirty="0">
                          <a:latin typeface="SimSun"/>
                          <a:cs typeface="SimSun"/>
                        </a:rPr>
                        <a:t>）</a:t>
                      </a:r>
                      <a:endParaRPr sz="1800">
                        <a:latin typeface="SimSun"/>
                        <a:cs typeface="SimSun"/>
                      </a:endParaRPr>
                    </a:p>
                  </a:txBody>
                  <a:tcPr marL="0" marR="0" marT="596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3"/>
                  </a:ext>
                </a:extLst>
              </a:tr>
              <a:tr h="914400">
                <a:tc>
                  <a:txBody>
                    <a:bodyPr/>
                    <a:lstStyle/>
                    <a:p>
                      <a:pPr marL="90805">
                        <a:lnSpc>
                          <a:spcPct val="100000"/>
                        </a:lnSpc>
                        <a:spcBef>
                          <a:spcPts val="284"/>
                        </a:spcBef>
                      </a:pPr>
                      <a:r>
                        <a:rPr sz="1800" dirty="0">
                          <a:latin typeface="SimSun"/>
                          <a:cs typeface="SimSun"/>
                        </a:rPr>
                        <a:t>超前思维</a:t>
                      </a:r>
                      <a:r>
                        <a:rPr sz="1800" spc="-20" dirty="0">
                          <a:latin typeface="SimSun"/>
                          <a:cs typeface="SimSun"/>
                        </a:rPr>
                        <a:t>（</a:t>
                      </a:r>
                      <a:r>
                        <a:rPr sz="1800" spc="-20" dirty="0">
                          <a:latin typeface="Calibri"/>
                          <a:cs typeface="Calibri"/>
                        </a:rPr>
                        <a:t>1</a:t>
                      </a:r>
                      <a:r>
                        <a:rPr sz="1800" dirty="0">
                          <a:latin typeface="SimSun"/>
                          <a:cs typeface="SimSun"/>
                        </a:rPr>
                        <a:t>分</a:t>
                      </a:r>
                      <a:r>
                        <a:rPr sz="1800" spc="-50" dirty="0">
                          <a:latin typeface="SimSun"/>
                          <a:cs typeface="SimSun"/>
                        </a:rPr>
                        <a:t>）</a:t>
                      </a:r>
                      <a:endParaRPr sz="1800">
                        <a:latin typeface="SimSun"/>
                        <a:cs typeface="SimSun"/>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1440">
                        <a:lnSpc>
                          <a:spcPts val="2090"/>
                        </a:lnSpc>
                        <a:spcBef>
                          <a:spcPts val="430"/>
                        </a:spcBef>
                      </a:pPr>
                      <a:r>
                        <a:rPr sz="1800" spc="-5" dirty="0">
                          <a:latin typeface="SimSun"/>
                          <a:cs typeface="SimSun"/>
                        </a:rPr>
                        <a:t>运用矛盾分析方法；推理和想象的方法；注重调查研究</a:t>
                      </a:r>
                      <a:endParaRPr sz="1800">
                        <a:latin typeface="SimSun"/>
                        <a:cs typeface="SimSun"/>
                      </a:endParaRPr>
                    </a:p>
                    <a:p>
                      <a:pPr marL="91440">
                        <a:lnSpc>
                          <a:spcPts val="2090"/>
                        </a:lnSpc>
                      </a:pPr>
                      <a:r>
                        <a:rPr sz="1800" spc="-10" dirty="0">
                          <a:latin typeface="SimSun"/>
                          <a:cs typeface="SimSun"/>
                        </a:rPr>
                        <a:t>（</a:t>
                      </a:r>
                      <a:r>
                        <a:rPr sz="1800" spc="-10" dirty="0">
                          <a:latin typeface="Calibri"/>
                          <a:cs typeface="Calibri"/>
                        </a:rPr>
                        <a:t>1</a:t>
                      </a:r>
                      <a:r>
                        <a:rPr sz="1800" spc="-10" dirty="0">
                          <a:latin typeface="SimSun"/>
                          <a:cs typeface="SimSun"/>
                        </a:rPr>
                        <a:t>分）</a:t>
                      </a:r>
                      <a:r>
                        <a:rPr sz="1800" spc="-15" dirty="0">
                          <a:latin typeface="SimSun"/>
                          <a:cs typeface="SimSun"/>
                        </a:rPr>
                        <a:t>【以上三个方法任选一个】</a:t>
                      </a:r>
                      <a:endParaRPr sz="1800">
                        <a:latin typeface="SimSun"/>
                        <a:cs typeface="SimSun"/>
                      </a:endParaRPr>
                    </a:p>
                  </a:txBody>
                  <a:tcPr marL="0" marR="0" marT="546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2075" marR="298450" algn="just">
                        <a:lnSpc>
                          <a:spcPct val="96700"/>
                        </a:lnSpc>
                        <a:spcBef>
                          <a:spcPts val="500"/>
                        </a:spcBef>
                      </a:pPr>
                      <a:r>
                        <a:rPr sz="1800" spc="-5" dirty="0">
                          <a:latin typeface="SimSun"/>
                          <a:cs typeface="SimSun"/>
                        </a:rPr>
                        <a:t>承担京津冀公共服务功能新文化地</a:t>
                      </a:r>
                      <a:r>
                        <a:rPr sz="1800" spc="-15" dirty="0">
                          <a:latin typeface="SimSun"/>
                          <a:cs typeface="SimSun"/>
                        </a:rPr>
                        <a:t>标，为三地文化资源的共建共享创</a:t>
                      </a:r>
                      <a:r>
                        <a:rPr sz="1800" dirty="0">
                          <a:latin typeface="SimSun"/>
                          <a:cs typeface="SimSun"/>
                        </a:rPr>
                        <a:t>造了得天独厚的条件</a:t>
                      </a:r>
                      <a:r>
                        <a:rPr sz="1800" spc="-10" dirty="0">
                          <a:latin typeface="SimSun"/>
                          <a:cs typeface="SimSun"/>
                        </a:rPr>
                        <a:t>（</a:t>
                      </a:r>
                      <a:r>
                        <a:rPr sz="1800" spc="-10" dirty="0">
                          <a:latin typeface="Calibri"/>
                          <a:cs typeface="Calibri"/>
                        </a:rPr>
                        <a:t>1</a:t>
                      </a:r>
                      <a:r>
                        <a:rPr sz="1800" dirty="0">
                          <a:latin typeface="SimSun"/>
                          <a:cs typeface="SimSun"/>
                        </a:rPr>
                        <a:t>分</a:t>
                      </a:r>
                      <a:r>
                        <a:rPr sz="1800" spc="-50" dirty="0">
                          <a:latin typeface="SimSun"/>
                          <a:cs typeface="SimSun"/>
                        </a:rPr>
                        <a:t>）</a:t>
                      </a:r>
                      <a:endParaRPr sz="1800" dirty="0">
                        <a:latin typeface="SimSun"/>
                        <a:cs typeface="SimSun"/>
                      </a:endParaRPr>
                    </a:p>
                  </a:txBody>
                  <a:tcPr marL="0" marR="0" marT="635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4"/>
                  </a:ext>
                </a:extLst>
              </a:tr>
            </a:tbl>
          </a:graphicData>
        </a:graphic>
      </p:graphicFrame>
      <p:sp>
        <p:nvSpPr>
          <p:cNvPr id="3" name="object 3"/>
          <p:cNvSpPr txBox="1"/>
          <p:nvPr/>
        </p:nvSpPr>
        <p:spPr>
          <a:xfrm>
            <a:off x="990600" y="5752360"/>
            <a:ext cx="8789670" cy="732790"/>
          </a:xfrm>
          <a:prstGeom prst="rect">
            <a:avLst/>
          </a:prstGeom>
        </p:spPr>
        <p:txBody>
          <a:bodyPr vert="horz" wrap="square" lIns="0" tIns="12065" rIns="0" bIns="0" rtlCol="0">
            <a:spAutoFit/>
          </a:bodyPr>
          <a:lstStyle/>
          <a:p>
            <a:pPr marL="12700">
              <a:lnSpc>
                <a:spcPct val="100000"/>
              </a:lnSpc>
              <a:spcBef>
                <a:spcPts val="95"/>
              </a:spcBef>
            </a:pPr>
            <a:r>
              <a:rPr sz="1800" dirty="0">
                <a:latin typeface="Microsoft YaHei"/>
                <a:cs typeface="Microsoft YaHei"/>
              </a:rPr>
              <a:t>以上知识角度，选取学生作答好的</a:t>
            </a:r>
            <a:r>
              <a:rPr sz="2800" u="sng" spc="-35" dirty="0">
                <a:solidFill>
                  <a:srgbClr val="FF0000"/>
                </a:solidFill>
                <a:uFill>
                  <a:solidFill>
                    <a:srgbClr val="FF0000"/>
                  </a:solidFill>
                </a:uFill>
                <a:latin typeface="Microsoft YaHei"/>
                <a:cs typeface="Microsoft YaHei"/>
              </a:rPr>
              <a:t>两个角度给分</a:t>
            </a:r>
            <a:r>
              <a:rPr sz="1800" spc="-10" dirty="0">
                <a:latin typeface="Microsoft YaHei"/>
                <a:cs typeface="Microsoft YaHei"/>
              </a:rPr>
              <a:t>，不重复给分。</a:t>
            </a:r>
            <a:endParaRPr sz="1800" dirty="0">
              <a:latin typeface="Microsoft YaHei"/>
              <a:cs typeface="Microsoft YaHei"/>
            </a:endParaRPr>
          </a:p>
          <a:p>
            <a:pPr marL="12700">
              <a:lnSpc>
                <a:spcPct val="100000"/>
              </a:lnSpc>
              <a:spcBef>
                <a:spcPts val="50"/>
              </a:spcBef>
            </a:pPr>
            <a:r>
              <a:rPr sz="1800" dirty="0">
                <a:latin typeface="Microsoft YaHei"/>
                <a:cs typeface="Microsoft YaHei"/>
              </a:rPr>
              <a:t>因为问的是</a:t>
            </a:r>
            <a:r>
              <a:rPr sz="1800" spc="-10" dirty="0">
                <a:latin typeface="Arial MT"/>
                <a:cs typeface="Arial MT"/>
              </a:rPr>
              <a:t>“</a:t>
            </a:r>
            <a:r>
              <a:rPr sz="1800" dirty="0">
                <a:latin typeface="Microsoft YaHei"/>
                <a:cs typeface="Microsoft YaHei"/>
              </a:rPr>
              <a:t>是如何</a:t>
            </a:r>
            <a:r>
              <a:rPr sz="1800" spc="-10" dirty="0">
                <a:latin typeface="Arial MT"/>
                <a:cs typeface="Arial MT"/>
              </a:rPr>
              <a:t>”</a:t>
            </a:r>
            <a:r>
              <a:rPr sz="1800" spc="-10" dirty="0">
                <a:latin typeface="Microsoft YaHei"/>
                <a:cs typeface="Microsoft YaHei"/>
              </a:rPr>
              <a:t>，所以写原因不给分。如</a:t>
            </a:r>
            <a:r>
              <a:rPr sz="1800" spc="-10" dirty="0">
                <a:latin typeface="Arial MT"/>
                <a:cs typeface="Arial MT"/>
              </a:rPr>
              <a:t>“</a:t>
            </a:r>
            <a:r>
              <a:rPr sz="1800" dirty="0">
                <a:latin typeface="Microsoft YaHei"/>
                <a:cs typeface="Microsoft YaHei"/>
              </a:rPr>
              <a:t>联想思维具有联结性、畅想性</a:t>
            </a:r>
            <a:r>
              <a:rPr sz="1800" spc="-10" dirty="0">
                <a:latin typeface="Arial MT"/>
                <a:cs typeface="Arial MT"/>
              </a:rPr>
              <a:t>”</a:t>
            </a:r>
            <a:r>
              <a:rPr sz="1800" spc="-15" dirty="0">
                <a:latin typeface="Microsoft YaHei"/>
                <a:cs typeface="Microsoft YaHei"/>
              </a:rPr>
              <a:t>，不给分。</a:t>
            </a:r>
            <a:endParaRPr sz="1800" dirty="0">
              <a:latin typeface="Microsoft YaHei"/>
              <a:cs typeface="Microsoft YaHei"/>
            </a:endParaRPr>
          </a:p>
        </p:txBody>
      </p:sp>
      <p:sp>
        <p:nvSpPr>
          <p:cNvPr id="4" name="object 4"/>
          <p:cNvSpPr txBox="1"/>
          <p:nvPr/>
        </p:nvSpPr>
        <p:spPr>
          <a:xfrm>
            <a:off x="666699" y="816990"/>
            <a:ext cx="1069467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Microsoft YaHei"/>
                <a:cs typeface="Microsoft YaHei"/>
              </a:rPr>
              <a:t>结合材料，分析北京城市图书馆</a:t>
            </a:r>
            <a:r>
              <a:rPr sz="2400" u="sng" dirty="0">
                <a:solidFill>
                  <a:srgbClr val="FF0000"/>
                </a:solidFill>
                <a:uFill>
                  <a:solidFill>
                    <a:srgbClr val="FF0000"/>
                  </a:solidFill>
                </a:uFill>
                <a:latin typeface="Microsoft YaHei"/>
                <a:cs typeface="Microsoft YaHei"/>
              </a:rPr>
              <a:t>是如何</a:t>
            </a:r>
            <a:r>
              <a:rPr sz="2400" dirty="0">
                <a:latin typeface="Microsoft YaHei"/>
                <a:cs typeface="Microsoft YaHei"/>
              </a:rPr>
              <a:t>运用</a:t>
            </a:r>
            <a:r>
              <a:rPr sz="2400" u="sng" dirty="0">
                <a:solidFill>
                  <a:srgbClr val="FF0000"/>
                </a:solidFill>
                <a:uFill>
                  <a:solidFill>
                    <a:srgbClr val="FF0000"/>
                  </a:solidFill>
                </a:uFill>
                <a:latin typeface="Microsoft YaHei"/>
                <a:cs typeface="Microsoft YaHei"/>
              </a:rPr>
              <a:t>创新思维</a:t>
            </a:r>
            <a:r>
              <a:rPr sz="2400" spc="-5" dirty="0">
                <a:latin typeface="Microsoft YaHei"/>
                <a:cs typeface="Microsoft YaHei"/>
              </a:rPr>
              <a:t>建设新型公共文化空间的。</a:t>
            </a:r>
            <a:endParaRPr sz="2400">
              <a:latin typeface="Microsoft YaHei"/>
              <a:cs typeface="Microsoft YaHei"/>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一、评分细则</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19277"/>
            <a:ext cx="10548620" cy="1300480"/>
          </a:xfrm>
          <a:prstGeom prst="rect">
            <a:avLst/>
          </a:prstGeom>
        </p:spPr>
        <p:txBody>
          <a:bodyPr vert="horz" wrap="square" lIns="0" tIns="88900" rIns="0" bIns="0" rtlCol="0">
            <a:spAutoFit/>
          </a:bodyPr>
          <a:lstStyle/>
          <a:p>
            <a:pPr marL="12700" marR="5080">
              <a:lnSpc>
                <a:spcPts val="4750"/>
              </a:lnSpc>
              <a:spcBef>
                <a:spcPts val="700"/>
              </a:spcBef>
            </a:pPr>
            <a:r>
              <a:rPr sz="4400" spc="-5" dirty="0">
                <a:latin typeface="SimSun"/>
                <a:cs typeface="SimSun"/>
              </a:rPr>
              <a:t>问题：问的是</a:t>
            </a:r>
            <a:r>
              <a:rPr sz="4400" spc="-10" dirty="0">
                <a:latin typeface="Calibri Light"/>
                <a:cs typeface="Calibri Light"/>
              </a:rPr>
              <a:t>“</a:t>
            </a:r>
            <a:r>
              <a:rPr sz="4400" spc="-5" dirty="0">
                <a:latin typeface="SimSun"/>
                <a:cs typeface="SimSun"/>
              </a:rPr>
              <a:t>是如何运用创新思维</a:t>
            </a:r>
            <a:r>
              <a:rPr sz="4400" spc="-10" dirty="0">
                <a:latin typeface="Calibri Light"/>
                <a:cs typeface="Calibri Light"/>
              </a:rPr>
              <a:t>”</a:t>
            </a:r>
            <a:r>
              <a:rPr sz="4400" spc="-20" dirty="0">
                <a:latin typeface="SimSun"/>
                <a:cs typeface="SimSun"/>
              </a:rPr>
              <a:t>，而非</a:t>
            </a:r>
            <a:r>
              <a:rPr sz="4400" spc="-25" dirty="0">
                <a:latin typeface="SimSun"/>
                <a:cs typeface="SimSun"/>
              </a:rPr>
              <a:t>评价</a:t>
            </a:r>
            <a:endParaRPr sz="4400">
              <a:latin typeface="SimSun"/>
              <a:cs typeface="SimSun"/>
            </a:endParaRPr>
          </a:p>
        </p:txBody>
      </p:sp>
      <p:pic>
        <p:nvPicPr>
          <p:cNvPr id="3" name="object 3"/>
          <p:cNvPicPr/>
          <p:nvPr/>
        </p:nvPicPr>
        <p:blipFill>
          <a:blip r:embed="rId2" cstate="print"/>
          <a:stretch>
            <a:fillRect/>
          </a:stretch>
        </p:blipFill>
        <p:spPr>
          <a:xfrm>
            <a:off x="901700" y="1980564"/>
            <a:ext cx="10808335" cy="38893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20344"/>
            <a:ext cx="10095865" cy="697230"/>
          </a:xfrm>
          <a:prstGeom prst="rect">
            <a:avLst/>
          </a:prstGeom>
        </p:spPr>
        <p:txBody>
          <a:bodyPr vert="horz" wrap="square" lIns="0" tIns="13335" rIns="0" bIns="0" rtlCol="0">
            <a:spAutoFit/>
          </a:bodyPr>
          <a:lstStyle/>
          <a:p>
            <a:pPr marL="12700">
              <a:lnSpc>
                <a:spcPct val="100000"/>
              </a:lnSpc>
              <a:spcBef>
                <a:spcPts val="105"/>
              </a:spcBef>
            </a:pPr>
            <a:r>
              <a:rPr sz="4400" spc="-10" dirty="0">
                <a:latin typeface="SimSun"/>
                <a:cs typeface="SimSun"/>
              </a:rPr>
              <a:t>问题：部分学生习惯于表述为“体现了”</a:t>
            </a:r>
            <a:endParaRPr sz="4400">
              <a:latin typeface="SimSun"/>
              <a:cs typeface="SimSun"/>
            </a:endParaRPr>
          </a:p>
        </p:txBody>
      </p:sp>
      <p:pic>
        <p:nvPicPr>
          <p:cNvPr id="3" name="object 3"/>
          <p:cNvPicPr/>
          <p:nvPr/>
        </p:nvPicPr>
        <p:blipFill>
          <a:blip r:embed="rId2" cstate="print"/>
          <a:stretch>
            <a:fillRect/>
          </a:stretch>
        </p:blipFill>
        <p:spPr>
          <a:xfrm>
            <a:off x="838200" y="2531745"/>
            <a:ext cx="10423525" cy="319214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20344"/>
            <a:ext cx="5062220" cy="697230"/>
          </a:xfrm>
          <a:prstGeom prst="rect">
            <a:avLst/>
          </a:prstGeom>
        </p:spPr>
        <p:txBody>
          <a:bodyPr vert="horz" wrap="square" lIns="0" tIns="13335" rIns="0" bIns="0" rtlCol="0">
            <a:spAutoFit/>
          </a:bodyPr>
          <a:lstStyle/>
          <a:p>
            <a:pPr marL="12700">
              <a:lnSpc>
                <a:spcPct val="100000"/>
              </a:lnSpc>
              <a:spcBef>
                <a:spcPts val="105"/>
              </a:spcBef>
            </a:pPr>
            <a:r>
              <a:rPr sz="4400" spc="-10" dirty="0">
                <a:latin typeface="SimSun"/>
                <a:cs typeface="SimSun"/>
              </a:rPr>
              <a:t>问题：知识范围不对</a:t>
            </a:r>
            <a:endParaRPr sz="4400">
              <a:latin typeface="SimSun"/>
              <a:cs typeface="SimSun"/>
            </a:endParaRPr>
          </a:p>
        </p:txBody>
      </p:sp>
      <p:pic>
        <p:nvPicPr>
          <p:cNvPr id="3" name="object 3"/>
          <p:cNvPicPr/>
          <p:nvPr/>
        </p:nvPicPr>
        <p:blipFill>
          <a:blip r:embed="rId2" cstate="print"/>
          <a:stretch>
            <a:fillRect/>
          </a:stretch>
        </p:blipFill>
        <p:spPr>
          <a:xfrm>
            <a:off x="986789" y="1839595"/>
            <a:ext cx="10484485" cy="43249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16303"/>
            <a:ext cx="9340850" cy="2580640"/>
          </a:xfrm>
          <a:prstGeom prst="rect">
            <a:avLst/>
          </a:prstGeom>
        </p:spPr>
        <p:txBody>
          <a:bodyPr vert="horz" wrap="square" lIns="0" tIns="96520" rIns="0" bIns="0" rtlCol="0">
            <a:spAutoFit/>
          </a:bodyPr>
          <a:lstStyle/>
          <a:p>
            <a:pPr marL="240029" indent="-227329">
              <a:lnSpc>
                <a:spcPct val="100000"/>
              </a:lnSpc>
              <a:spcBef>
                <a:spcPts val="760"/>
              </a:spcBef>
              <a:buFont typeface="Arial MT"/>
              <a:buChar char="•"/>
              <a:tabLst>
                <a:tab pos="240029" algn="l"/>
              </a:tabLst>
            </a:pPr>
            <a:r>
              <a:rPr sz="2800" spc="-20" dirty="0">
                <a:latin typeface="Calibri"/>
                <a:cs typeface="Calibri"/>
              </a:rPr>
              <a:t>1.</a:t>
            </a:r>
            <a:r>
              <a:rPr sz="2800" spc="-35" dirty="0">
                <a:latin typeface="SimSun"/>
                <a:cs typeface="SimSun"/>
              </a:rPr>
              <a:t>无原理</a:t>
            </a:r>
            <a:r>
              <a:rPr sz="2800" spc="-35" dirty="0">
                <a:latin typeface="Calibri"/>
                <a:cs typeface="Calibri"/>
              </a:rPr>
              <a:t>——</a:t>
            </a:r>
            <a:r>
              <a:rPr sz="2800" spc="-40" dirty="0">
                <a:latin typeface="SimSun"/>
                <a:cs typeface="SimSun"/>
              </a:rPr>
              <a:t>建议全面复习</a:t>
            </a:r>
            <a:endParaRPr sz="2800">
              <a:latin typeface="SimSun"/>
              <a:cs typeface="SimSun"/>
            </a:endParaRPr>
          </a:p>
          <a:p>
            <a:pPr marL="240029" indent="-227329">
              <a:lnSpc>
                <a:spcPct val="100000"/>
              </a:lnSpc>
              <a:spcBef>
                <a:spcPts val="665"/>
              </a:spcBef>
              <a:buFont typeface="Arial MT"/>
              <a:buChar char="•"/>
              <a:tabLst>
                <a:tab pos="240029" algn="l"/>
              </a:tabLst>
            </a:pPr>
            <a:r>
              <a:rPr sz="2800" spc="-20" dirty="0">
                <a:latin typeface="Calibri"/>
                <a:cs typeface="Calibri"/>
              </a:rPr>
              <a:t>2.</a:t>
            </a:r>
            <a:r>
              <a:rPr sz="2800" spc="-35" dirty="0">
                <a:latin typeface="SimSun"/>
                <a:cs typeface="SimSun"/>
              </a:rPr>
              <a:t>有原理名称，但不准确</a:t>
            </a:r>
            <a:r>
              <a:rPr sz="2800" spc="-30" dirty="0">
                <a:latin typeface="Calibri"/>
                <a:cs typeface="Calibri"/>
              </a:rPr>
              <a:t>——</a:t>
            </a:r>
            <a:r>
              <a:rPr sz="2800" spc="-40" dirty="0">
                <a:latin typeface="SimSun"/>
                <a:cs typeface="SimSun"/>
              </a:rPr>
              <a:t>建议提高准确性</a:t>
            </a:r>
            <a:endParaRPr sz="2800">
              <a:latin typeface="SimSun"/>
              <a:cs typeface="SimSun"/>
            </a:endParaRPr>
          </a:p>
          <a:p>
            <a:pPr marL="240029" indent="-227329">
              <a:lnSpc>
                <a:spcPct val="100000"/>
              </a:lnSpc>
              <a:spcBef>
                <a:spcPts val="670"/>
              </a:spcBef>
              <a:buFont typeface="Arial MT"/>
              <a:buChar char="•"/>
              <a:tabLst>
                <a:tab pos="240029" algn="l"/>
              </a:tabLst>
            </a:pPr>
            <a:r>
              <a:rPr sz="2800" spc="-20" dirty="0">
                <a:latin typeface="Calibri"/>
                <a:cs typeface="Calibri"/>
              </a:rPr>
              <a:t>3.</a:t>
            </a:r>
            <a:r>
              <a:rPr sz="2800" spc="-35" dirty="0">
                <a:latin typeface="SimSun"/>
                <a:cs typeface="SimSun"/>
              </a:rPr>
              <a:t>有原理名称，但无展开</a:t>
            </a:r>
            <a:r>
              <a:rPr sz="2800" spc="-30" dirty="0">
                <a:latin typeface="Calibri"/>
                <a:cs typeface="Calibri"/>
              </a:rPr>
              <a:t>——</a:t>
            </a:r>
            <a:r>
              <a:rPr sz="2800" spc="-40" dirty="0">
                <a:latin typeface="SimSun"/>
                <a:cs typeface="SimSun"/>
              </a:rPr>
              <a:t>建议深入把握原理及相关知识</a:t>
            </a:r>
            <a:endParaRPr sz="2800">
              <a:latin typeface="SimSun"/>
              <a:cs typeface="SimSun"/>
            </a:endParaRPr>
          </a:p>
          <a:p>
            <a:pPr marL="240029" indent="-227329">
              <a:lnSpc>
                <a:spcPct val="100000"/>
              </a:lnSpc>
              <a:spcBef>
                <a:spcPts val="660"/>
              </a:spcBef>
              <a:buFont typeface="Arial MT"/>
              <a:buChar char="•"/>
              <a:tabLst>
                <a:tab pos="240029" algn="l"/>
              </a:tabLst>
            </a:pPr>
            <a:r>
              <a:rPr sz="2800" spc="-20" dirty="0">
                <a:latin typeface="Calibri"/>
                <a:cs typeface="Calibri"/>
              </a:rPr>
              <a:t>4.</a:t>
            </a:r>
            <a:r>
              <a:rPr sz="2800" spc="-40" dirty="0">
                <a:latin typeface="SimSun"/>
                <a:cs typeface="SimSun"/>
              </a:rPr>
              <a:t>材料不对应</a:t>
            </a:r>
            <a:r>
              <a:rPr sz="2800" spc="-40" dirty="0">
                <a:latin typeface="Calibri"/>
                <a:cs typeface="Calibri"/>
              </a:rPr>
              <a:t>——</a:t>
            </a:r>
            <a:r>
              <a:rPr sz="2800" spc="-45" dirty="0">
                <a:latin typeface="SimSun"/>
                <a:cs typeface="SimSun"/>
              </a:rPr>
              <a:t>建议提升阅读理解能力</a:t>
            </a:r>
            <a:endParaRPr sz="2800">
              <a:latin typeface="SimSun"/>
              <a:cs typeface="SimSun"/>
            </a:endParaRPr>
          </a:p>
          <a:p>
            <a:pPr marL="240029" indent="-227329">
              <a:lnSpc>
                <a:spcPct val="100000"/>
              </a:lnSpc>
              <a:spcBef>
                <a:spcPts val="665"/>
              </a:spcBef>
              <a:buFont typeface="Arial MT"/>
              <a:buChar char="•"/>
              <a:tabLst>
                <a:tab pos="240029" algn="l"/>
              </a:tabLst>
            </a:pPr>
            <a:r>
              <a:rPr sz="2800" spc="-20" dirty="0">
                <a:latin typeface="Calibri"/>
                <a:cs typeface="Calibri"/>
              </a:rPr>
              <a:t>5.</a:t>
            </a:r>
            <a:r>
              <a:rPr sz="2800" spc="-35" dirty="0">
                <a:latin typeface="SimSun"/>
                <a:cs typeface="SimSun"/>
              </a:rPr>
              <a:t>不理解设问要求</a:t>
            </a:r>
            <a:r>
              <a:rPr sz="2800" spc="-35" dirty="0">
                <a:latin typeface="Calibri"/>
                <a:cs typeface="Calibri"/>
              </a:rPr>
              <a:t>——</a:t>
            </a:r>
            <a:r>
              <a:rPr sz="2800" spc="-40" dirty="0">
                <a:latin typeface="SimSun"/>
                <a:cs typeface="SimSun"/>
              </a:rPr>
              <a:t>建议强化审题训练</a:t>
            </a:r>
            <a:endParaRPr sz="2800">
              <a:latin typeface="SimSun"/>
              <a:cs typeface="SimSun"/>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三、学生问题</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16303"/>
            <a:ext cx="5140325" cy="2070100"/>
          </a:xfrm>
          <a:prstGeom prst="rect">
            <a:avLst/>
          </a:prstGeom>
        </p:spPr>
        <p:txBody>
          <a:bodyPr vert="horz" wrap="square" lIns="0" tIns="96520" rIns="0" bIns="0" rtlCol="0">
            <a:spAutoFit/>
          </a:bodyPr>
          <a:lstStyle/>
          <a:p>
            <a:pPr marL="240029" indent="-227329">
              <a:lnSpc>
                <a:spcPct val="100000"/>
              </a:lnSpc>
              <a:spcBef>
                <a:spcPts val="760"/>
              </a:spcBef>
              <a:buFont typeface="Arial MT"/>
              <a:buChar char="•"/>
              <a:tabLst>
                <a:tab pos="240029" algn="l"/>
              </a:tabLst>
            </a:pPr>
            <a:r>
              <a:rPr sz="2800" spc="-20" dirty="0">
                <a:latin typeface="Calibri"/>
                <a:cs typeface="Calibri"/>
              </a:rPr>
              <a:t>1.</a:t>
            </a:r>
            <a:r>
              <a:rPr sz="2800" spc="-40" dirty="0">
                <a:latin typeface="SimSun"/>
                <a:cs typeface="SimSun"/>
              </a:rPr>
              <a:t>审设问，审读并梳理设问类型</a:t>
            </a:r>
            <a:endParaRPr sz="2800">
              <a:latin typeface="SimSun"/>
              <a:cs typeface="SimSun"/>
            </a:endParaRPr>
          </a:p>
          <a:p>
            <a:pPr marL="240029" indent="-227329">
              <a:lnSpc>
                <a:spcPct val="100000"/>
              </a:lnSpc>
              <a:spcBef>
                <a:spcPts val="665"/>
              </a:spcBef>
              <a:buFont typeface="Arial MT"/>
              <a:buChar char="•"/>
              <a:tabLst>
                <a:tab pos="240029" algn="l"/>
              </a:tabLst>
            </a:pPr>
            <a:r>
              <a:rPr sz="2800" spc="-20" dirty="0">
                <a:latin typeface="Calibri"/>
                <a:cs typeface="Calibri"/>
              </a:rPr>
              <a:t>2.</a:t>
            </a:r>
            <a:r>
              <a:rPr sz="2800" spc="-40" dirty="0">
                <a:latin typeface="SimSun"/>
                <a:cs typeface="SimSun"/>
              </a:rPr>
              <a:t>圈材料，圈画并提示材料信息</a:t>
            </a:r>
            <a:endParaRPr sz="2800">
              <a:latin typeface="SimSun"/>
              <a:cs typeface="SimSun"/>
            </a:endParaRPr>
          </a:p>
          <a:p>
            <a:pPr marL="240029" indent="-227329">
              <a:lnSpc>
                <a:spcPct val="100000"/>
              </a:lnSpc>
              <a:spcBef>
                <a:spcPts val="670"/>
              </a:spcBef>
              <a:buFont typeface="Arial MT"/>
              <a:buChar char="•"/>
              <a:tabLst>
                <a:tab pos="240029" algn="l"/>
              </a:tabLst>
            </a:pPr>
            <a:r>
              <a:rPr sz="2800" spc="-20" dirty="0">
                <a:latin typeface="Calibri"/>
                <a:cs typeface="Calibri"/>
              </a:rPr>
              <a:t>3.</a:t>
            </a:r>
            <a:r>
              <a:rPr sz="2800" spc="-40" dirty="0">
                <a:latin typeface="SimSun"/>
                <a:cs typeface="SimSun"/>
              </a:rPr>
              <a:t>理知识，梳理和理解知识结构</a:t>
            </a:r>
            <a:endParaRPr sz="2800">
              <a:latin typeface="SimSun"/>
              <a:cs typeface="SimSun"/>
            </a:endParaRPr>
          </a:p>
          <a:p>
            <a:pPr marL="240029" indent="-227329">
              <a:lnSpc>
                <a:spcPct val="100000"/>
              </a:lnSpc>
              <a:spcBef>
                <a:spcPts val="660"/>
              </a:spcBef>
              <a:buFont typeface="Arial MT"/>
              <a:buChar char="•"/>
              <a:tabLst>
                <a:tab pos="240029" algn="l"/>
              </a:tabLst>
            </a:pPr>
            <a:r>
              <a:rPr sz="2800" spc="-20" dirty="0">
                <a:latin typeface="Calibri"/>
                <a:cs typeface="Calibri"/>
              </a:rPr>
              <a:t>4.</a:t>
            </a:r>
            <a:r>
              <a:rPr sz="2800" spc="-45" dirty="0">
                <a:latin typeface="SimSun"/>
                <a:cs typeface="SimSun"/>
              </a:rPr>
              <a:t>品答案，品读答案层次和逻辑</a:t>
            </a:r>
            <a:endParaRPr sz="2800">
              <a:latin typeface="SimSun"/>
              <a:cs typeface="SimSun"/>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四、教学建议</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五、反馈试题</a:t>
            </a:r>
          </a:p>
        </p:txBody>
      </p:sp>
      <p:pic>
        <p:nvPicPr>
          <p:cNvPr id="3" name="object 3"/>
          <p:cNvPicPr/>
          <p:nvPr/>
        </p:nvPicPr>
        <p:blipFill>
          <a:blip r:embed="rId2" cstate="print"/>
          <a:stretch>
            <a:fillRect/>
          </a:stretch>
        </p:blipFill>
        <p:spPr>
          <a:xfrm>
            <a:off x="910610" y="984822"/>
            <a:ext cx="6819244" cy="4958778"/>
          </a:xfrm>
          <a:prstGeom prst="rect">
            <a:avLst/>
          </a:prstGeom>
        </p:spPr>
      </p:pic>
      <p:sp>
        <p:nvSpPr>
          <p:cNvPr id="4" name="object 4"/>
          <p:cNvSpPr txBox="1"/>
          <p:nvPr/>
        </p:nvSpPr>
        <p:spPr>
          <a:xfrm>
            <a:off x="4201795" y="468629"/>
            <a:ext cx="2593340" cy="452120"/>
          </a:xfrm>
          <a:prstGeom prst="rect">
            <a:avLst/>
          </a:prstGeom>
        </p:spPr>
        <p:txBody>
          <a:bodyPr vert="horz" wrap="square" lIns="0" tIns="12065" rIns="0" bIns="0" rtlCol="0">
            <a:spAutoFit/>
          </a:bodyPr>
          <a:lstStyle/>
          <a:p>
            <a:pPr marL="12700">
              <a:lnSpc>
                <a:spcPct val="100000"/>
              </a:lnSpc>
              <a:spcBef>
                <a:spcPts val="95"/>
              </a:spcBef>
            </a:pPr>
            <a:r>
              <a:rPr sz="2800" spc="-20" dirty="0">
                <a:latin typeface="Arial MT"/>
                <a:cs typeface="Arial MT"/>
              </a:rPr>
              <a:t>2024</a:t>
            </a:r>
            <a:r>
              <a:rPr sz="2800" spc="-40" dirty="0">
                <a:latin typeface="Microsoft YaHei"/>
                <a:cs typeface="Microsoft YaHei"/>
              </a:rPr>
              <a:t>年海淀期末</a:t>
            </a:r>
            <a:endParaRPr sz="2800">
              <a:latin typeface="Microsoft YaHei"/>
              <a:cs typeface="Microsoft YaHei"/>
            </a:endParaRPr>
          </a:p>
        </p:txBody>
      </p:sp>
      <p:sp>
        <p:nvSpPr>
          <p:cNvPr id="5" name="object 5"/>
          <p:cNvSpPr txBox="1">
            <a:spLocks noGrp="1"/>
          </p:cNvSpPr>
          <p:nvPr>
            <p:ph sz="half" idx="3"/>
          </p:nvPr>
        </p:nvSpPr>
        <p:spPr>
          <a:xfrm>
            <a:off x="8305800" y="1155033"/>
            <a:ext cx="3075304" cy="4618355"/>
          </a:xfrm>
          <a:prstGeom prst="rect">
            <a:avLst/>
          </a:prstGeom>
        </p:spPr>
        <p:txBody>
          <a:bodyPr vert="horz" wrap="square" lIns="0" tIns="32384" rIns="0" bIns="0" rtlCol="0">
            <a:spAutoFit/>
          </a:bodyPr>
          <a:lstStyle/>
          <a:p>
            <a:pPr marL="12700" marR="5080" indent="457200">
              <a:lnSpc>
                <a:spcPct val="100000"/>
              </a:lnSpc>
              <a:spcBef>
                <a:spcPts val="254"/>
              </a:spcBef>
            </a:pPr>
            <a:r>
              <a:rPr dirty="0"/>
              <a:t>综合运用发散思维和聚</a:t>
            </a:r>
            <a:r>
              <a:rPr spc="-15" dirty="0"/>
              <a:t>合思维，街道与设计团队、</a:t>
            </a:r>
            <a:r>
              <a:rPr spc="-5" dirty="0"/>
              <a:t>周边高校院所、居民等多 </a:t>
            </a:r>
            <a:r>
              <a:rPr spc="-15" dirty="0"/>
              <a:t>元主体共同研讨解决方式，</a:t>
            </a:r>
            <a:r>
              <a:rPr dirty="0"/>
              <a:t>墙上博物馆的设计理念应运而生。</a:t>
            </a:r>
          </a:p>
          <a:p>
            <a:pPr marL="525780">
              <a:lnSpc>
                <a:spcPct val="100000"/>
              </a:lnSpc>
            </a:pPr>
            <a:r>
              <a:rPr spc="-10" dirty="0"/>
              <a:t>运用联想思维，通过</a:t>
            </a:r>
          </a:p>
          <a:p>
            <a:pPr marL="12700" marR="5080">
              <a:lnSpc>
                <a:spcPct val="96800"/>
              </a:lnSpc>
              <a:spcBef>
                <a:spcPts val="234"/>
              </a:spcBef>
            </a:pPr>
            <a:r>
              <a:rPr dirty="0"/>
              <a:t>光雕技术激活老地名，进行</a:t>
            </a:r>
            <a:r>
              <a:rPr spc="80" dirty="0"/>
              <a:t>迁移和想象，创造出 “会</a:t>
            </a:r>
            <a:r>
              <a:rPr spc="-15" dirty="0"/>
              <a:t>说话”的墙上博物馆。</a:t>
            </a:r>
          </a:p>
          <a:p>
            <a:pPr marL="525780">
              <a:lnSpc>
                <a:spcPct val="100000"/>
              </a:lnSpc>
            </a:pPr>
            <a:r>
              <a:rPr spc="-10" dirty="0"/>
              <a:t>运用逆向思维，使围</a:t>
            </a:r>
          </a:p>
          <a:p>
            <a:pPr marL="12700" marR="5080">
              <a:lnSpc>
                <a:spcPct val="97900"/>
              </a:lnSpc>
              <a:spcBef>
                <a:spcPts val="204"/>
              </a:spcBef>
            </a:pPr>
            <a:r>
              <a:rPr spc="-5" dirty="0"/>
              <a:t>墙实现从设施到空间、从 </a:t>
            </a:r>
            <a:r>
              <a:rPr dirty="0"/>
              <a:t>单一功能向复合多元功能的转变，让城市公共空间成为</a:t>
            </a:r>
            <a:r>
              <a:rPr spc="-15" dirty="0"/>
              <a:t>城市文化活态博物馆。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1550" y="169375"/>
            <a:ext cx="8523907" cy="3975348"/>
          </a:xfrm>
          <a:prstGeom prst="rect">
            <a:avLst/>
          </a:prstGeom>
        </p:spPr>
      </p:pic>
      <p:sp>
        <p:nvSpPr>
          <p:cNvPr id="3" name="object 3"/>
          <p:cNvSpPr txBox="1">
            <a:spLocks noGrp="1"/>
          </p:cNvSpPr>
          <p:nvPr>
            <p:ph type="title"/>
          </p:nvPr>
        </p:nvSpPr>
        <p:spPr>
          <a:xfrm>
            <a:off x="2512822" y="20523"/>
            <a:ext cx="3408045" cy="391795"/>
          </a:xfrm>
          <a:prstGeom prst="rect">
            <a:avLst/>
          </a:prstGeom>
        </p:spPr>
        <p:txBody>
          <a:bodyPr vert="horz" wrap="square" lIns="0" tIns="12700" rIns="0" bIns="0" rtlCol="0">
            <a:spAutoFit/>
          </a:bodyPr>
          <a:lstStyle/>
          <a:p>
            <a:pPr marL="12700">
              <a:lnSpc>
                <a:spcPct val="100000"/>
              </a:lnSpc>
              <a:spcBef>
                <a:spcPts val="100"/>
              </a:spcBef>
            </a:pPr>
            <a:r>
              <a:rPr sz="2400" spc="-30" dirty="0"/>
              <a:t>2023</a:t>
            </a:r>
            <a:r>
              <a:rPr sz="2400" spc="-10" dirty="0"/>
              <a:t>海淀期末</a:t>
            </a:r>
            <a:r>
              <a:rPr sz="2400" spc="-20" dirty="0"/>
              <a:t>19（2）</a:t>
            </a:r>
            <a:r>
              <a:rPr sz="2400" spc="-50" dirty="0"/>
              <a:t>题</a:t>
            </a:r>
            <a:endParaRPr sz="2400"/>
          </a:p>
        </p:txBody>
      </p:sp>
      <p:sp>
        <p:nvSpPr>
          <p:cNvPr id="4" name="object 4"/>
          <p:cNvSpPr txBox="1"/>
          <p:nvPr/>
        </p:nvSpPr>
        <p:spPr>
          <a:xfrm>
            <a:off x="233578" y="4369384"/>
            <a:ext cx="11699875" cy="2495550"/>
          </a:xfrm>
          <a:prstGeom prst="rect">
            <a:avLst/>
          </a:prstGeom>
        </p:spPr>
        <p:txBody>
          <a:bodyPr vert="horz" wrap="square" lIns="0" tIns="12700" rIns="0" bIns="0" rtlCol="0">
            <a:spAutoFit/>
          </a:bodyPr>
          <a:lstStyle/>
          <a:p>
            <a:pPr marL="12700" marR="5080" indent="457200" algn="just">
              <a:lnSpc>
                <a:spcPct val="100000"/>
              </a:lnSpc>
              <a:spcBef>
                <a:spcPts val="100"/>
              </a:spcBef>
            </a:pPr>
            <a:r>
              <a:rPr sz="1800" b="1" spc="-15" dirty="0">
                <a:solidFill>
                  <a:srgbClr val="00B0F0"/>
                </a:solidFill>
                <a:latin typeface="SimSun"/>
                <a:cs typeface="SimSun"/>
              </a:rPr>
              <a:t>运用了发散思维的方法</a:t>
            </a:r>
            <a:r>
              <a:rPr sz="1800" spc="-15" dirty="0">
                <a:latin typeface="SimSun"/>
                <a:cs typeface="SimSun"/>
              </a:rPr>
              <a:t>。</a:t>
            </a:r>
            <a:r>
              <a:rPr sz="1800" spc="-15" dirty="0">
                <a:solidFill>
                  <a:schemeClr val="accent2"/>
                </a:solidFill>
                <a:latin typeface="SimSun"/>
                <a:cs typeface="SimSun"/>
              </a:rPr>
              <a:t>发散思维是根据已知的事物信息，从不同的角度、不同的方向思考，以寻求解决问题的</a:t>
            </a:r>
            <a:r>
              <a:rPr sz="1800" spc="-5" dirty="0">
                <a:solidFill>
                  <a:schemeClr val="accent2"/>
                </a:solidFill>
                <a:latin typeface="SimSun"/>
                <a:cs typeface="SimSun"/>
              </a:rPr>
              <a:t>多样性答案的思维方式。</a:t>
            </a:r>
            <a:r>
              <a:rPr sz="1800" spc="-5" dirty="0">
                <a:latin typeface="SimSun"/>
                <a:cs typeface="SimSun"/>
              </a:rPr>
              <a:t>《妇女权益保护法》修订过程中多次征求有关部门、地方和单位意见，征求社会公众意见，以期更好保障妇女权益；</a:t>
            </a:r>
            <a:endParaRPr sz="1800" dirty="0">
              <a:latin typeface="SimSun"/>
              <a:cs typeface="SimSun"/>
            </a:endParaRPr>
          </a:p>
          <a:p>
            <a:pPr marL="12700" marR="5080" indent="457200">
              <a:lnSpc>
                <a:spcPct val="100000"/>
              </a:lnSpc>
              <a:spcBef>
                <a:spcPts val="5"/>
              </a:spcBef>
            </a:pPr>
            <a:r>
              <a:rPr sz="1800" spc="-5" dirty="0">
                <a:solidFill>
                  <a:srgbClr val="00B0F0"/>
                </a:solidFill>
                <a:latin typeface="SimSun"/>
                <a:cs typeface="SimSun"/>
              </a:rPr>
              <a:t>运用了聚合思维的方法</a:t>
            </a:r>
            <a:r>
              <a:rPr sz="1800" spc="-5" dirty="0">
                <a:latin typeface="SimSun"/>
                <a:cs typeface="SimSun"/>
              </a:rPr>
              <a:t>。</a:t>
            </a:r>
            <a:r>
              <a:rPr sz="1800" spc="-5" dirty="0">
                <a:solidFill>
                  <a:srgbClr val="FF0000"/>
                </a:solidFill>
                <a:latin typeface="SimSun"/>
                <a:cs typeface="SimSun"/>
              </a:rPr>
              <a:t>聚合思维是利用已有的知识和经验，把众多信息逐步引导到条理化的逻辑思路中，以便得出合乎逻辑的解决问题的方案</a:t>
            </a:r>
            <a:r>
              <a:rPr sz="1800" spc="-5" dirty="0">
                <a:latin typeface="SimSun"/>
                <a:cs typeface="SimSun"/>
              </a:rPr>
              <a:t>。全国人大常委会在征求各方意见后，多次集中审议最终表决通过《妇女权益保护法</a:t>
            </a:r>
            <a:endParaRPr sz="1800" dirty="0">
              <a:latin typeface="SimSun"/>
              <a:cs typeface="SimSun"/>
            </a:endParaRPr>
          </a:p>
          <a:p>
            <a:pPr marL="12700">
              <a:lnSpc>
                <a:spcPct val="100000"/>
              </a:lnSpc>
            </a:pPr>
            <a:r>
              <a:rPr sz="1800" spc="-25" dirty="0">
                <a:latin typeface="SimSun"/>
                <a:cs typeface="SimSun"/>
              </a:rPr>
              <a:t>》；</a:t>
            </a:r>
            <a:endParaRPr sz="1800" dirty="0">
              <a:latin typeface="SimSun"/>
              <a:cs typeface="SimSun"/>
            </a:endParaRPr>
          </a:p>
          <a:p>
            <a:pPr marL="12700" marR="19685" indent="457200">
              <a:lnSpc>
                <a:spcPct val="100000"/>
              </a:lnSpc>
            </a:pPr>
            <a:r>
              <a:rPr sz="1800" spc="-5" dirty="0">
                <a:solidFill>
                  <a:srgbClr val="FF0000"/>
                </a:solidFill>
                <a:latin typeface="SimSun"/>
                <a:cs typeface="SimSun"/>
              </a:rPr>
              <a:t>发散思维和聚合思维是创新思维的两翼，解决复杂问题，往往需要人们的思维结合实际情况，反复地“发散-聚合-发散-聚合</a:t>
            </a:r>
            <a:r>
              <a:rPr sz="1800" spc="-5" dirty="0">
                <a:latin typeface="SimSun"/>
                <a:cs typeface="SimSun"/>
              </a:rPr>
              <a:t>”。《妇女权益保护法》修订过程中多次征求意见，集中审议，再征求意见，再审议，最终促进了《妇女权益保护法》的完善。</a:t>
            </a:r>
            <a:endParaRPr sz="1800" dirty="0">
              <a:latin typeface="SimSun"/>
              <a:cs typeface="SimSu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09137" y="1544353"/>
            <a:ext cx="8077535" cy="2855402"/>
          </a:xfrm>
          <a:prstGeom prst="rect">
            <a:avLst/>
          </a:prstGeom>
        </p:spPr>
      </p:pic>
      <p:sp>
        <p:nvSpPr>
          <p:cNvPr id="3" name="object 3"/>
          <p:cNvSpPr txBox="1">
            <a:spLocks noGrp="1"/>
          </p:cNvSpPr>
          <p:nvPr>
            <p:ph type="title"/>
          </p:nvPr>
        </p:nvSpPr>
        <p:spPr>
          <a:xfrm>
            <a:off x="4201795" y="468324"/>
            <a:ext cx="4253230" cy="452120"/>
          </a:xfrm>
          <a:prstGeom prst="rect">
            <a:avLst/>
          </a:prstGeom>
        </p:spPr>
        <p:txBody>
          <a:bodyPr vert="horz" wrap="square" lIns="0" tIns="12065" rIns="0" bIns="0" rtlCol="0">
            <a:spAutoFit/>
          </a:bodyPr>
          <a:lstStyle/>
          <a:p>
            <a:pPr marL="12700">
              <a:lnSpc>
                <a:spcPct val="100000"/>
              </a:lnSpc>
              <a:spcBef>
                <a:spcPts val="95"/>
              </a:spcBef>
            </a:pPr>
            <a:r>
              <a:rPr sz="2800" spc="-25" dirty="0">
                <a:latin typeface="Arial MT"/>
                <a:cs typeface="Arial MT"/>
              </a:rPr>
              <a:t>2024</a:t>
            </a:r>
            <a:r>
              <a:rPr sz="2800" spc="-40" dirty="0"/>
              <a:t>年东城期末</a:t>
            </a:r>
            <a:r>
              <a:rPr sz="2800" spc="-30" dirty="0">
                <a:latin typeface="Arial MT"/>
                <a:cs typeface="Arial MT"/>
              </a:rPr>
              <a:t>18</a:t>
            </a:r>
            <a:r>
              <a:rPr sz="2800" spc="-30" dirty="0"/>
              <a:t>（</a:t>
            </a:r>
            <a:r>
              <a:rPr sz="2800" spc="-30" dirty="0">
                <a:latin typeface="Arial MT"/>
                <a:cs typeface="Arial MT"/>
              </a:rPr>
              <a:t>2</a:t>
            </a:r>
            <a:r>
              <a:rPr sz="2800" spc="-30" dirty="0"/>
              <a:t>）</a:t>
            </a:r>
            <a:r>
              <a:rPr sz="2800" spc="-50" dirty="0"/>
              <a:t>题</a:t>
            </a:r>
            <a:endParaRPr sz="2800">
              <a:latin typeface="Arial MT"/>
              <a:cs typeface="Arial MT"/>
            </a:endParaRPr>
          </a:p>
        </p:txBody>
      </p:sp>
      <p:pic>
        <p:nvPicPr>
          <p:cNvPr id="4" name="object 4"/>
          <p:cNvPicPr/>
          <p:nvPr/>
        </p:nvPicPr>
        <p:blipFill>
          <a:blip r:embed="rId3" cstate="print"/>
          <a:stretch>
            <a:fillRect/>
          </a:stretch>
        </p:blipFill>
        <p:spPr>
          <a:xfrm>
            <a:off x="1371600" y="4876800"/>
            <a:ext cx="9669976" cy="11595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38530" y="829632"/>
            <a:ext cx="9351645" cy="5892165"/>
            <a:chOff x="938530" y="829632"/>
            <a:chExt cx="9351645" cy="5892165"/>
          </a:xfrm>
        </p:grpSpPr>
        <p:pic>
          <p:nvPicPr>
            <p:cNvPr id="3" name="object 3"/>
            <p:cNvPicPr/>
            <p:nvPr/>
          </p:nvPicPr>
          <p:blipFill>
            <a:blip r:embed="rId2" cstate="print"/>
            <a:stretch>
              <a:fillRect/>
            </a:stretch>
          </p:blipFill>
          <p:spPr>
            <a:xfrm>
              <a:off x="1747705" y="829632"/>
              <a:ext cx="8465537" cy="3745542"/>
            </a:xfrm>
            <a:prstGeom prst="rect">
              <a:avLst/>
            </a:prstGeom>
          </p:spPr>
        </p:pic>
        <p:pic>
          <p:nvPicPr>
            <p:cNvPr id="4" name="object 4"/>
            <p:cNvPicPr/>
            <p:nvPr/>
          </p:nvPicPr>
          <p:blipFill>
            <a:blip r:embed="rId3" cstate="print"/>
            <a:stretch>
              <a:fillRect/>
            </a:stretch>
          </p:blipFill>
          <p:spPr>
            <a:xfrm>
              <a:off x="938530" y="4495203"/>
              <a:ext cx="9351391" cy="2226564"/>
            </a:xfrm>
            <a:prstGeom prst="rect">
              <a:avLst/>
            </a:prstGeom>
          </p:spPr>
        </p:pic>
      </p:grpSp>
      <p:sp>
        <p:nvSpPr>
          <p:cNvPr id="5" name="object 5"/>
          <p:cNvSpPr txBox="1">
            <a:spLocks noGrp="1"/>
          </p:cNvSpPr>
          <p:nvPr>
            <p:ph type="title"/>
          </p:nvPr>
        </p:nvSpPr>
        <p:spPr>
          <a:xfrm>
            <a:off x="3719576" y="135128"/>
            <a:ext cx="3345179" cy="452120"/>
          </a:xfrm>
          <a:prstGeom prst="rect">
            <a:avLst/>
          </a:prstGeom>
        </p:spPr>
        <p:txBody>
          <a:bodyPr vert="horz" wrap="square" lIns="0" tIns="12065" rIns="0" bIns="0" rtlCol="0">
            <a:spAutoFit/>
          </a:bodyPr>
          <a:lstStyle/>
          <a:p>
            <a:pPr marL="12700">
              <a:lnSpc>
                <a:spcPct val="100000"/>
              </a:lnSpc>
              <a:spcBef>
                <a:spcPts val="95"/>
              </a:spcBef>
            </a:pPr>
            <a:r>
              <a:rPr sz="2800" spc="-20" dirty="0">
                <a:latin typeface="Arial MT"/>
                <a:cs typeface="Arial MT"/>
              </a:rPr>
              <a:t>2025</a:t>
            </a:r>
            <a:r>
              <a:rPr sz="2800" spc="-35" dirty="0"/>
              <a:t>年顺义期末</a:t>
            </a:r>
            <a:r>
              <a:rPr sz="2800" spc="-20" dirty="0">
                <a:latin typeface="Arial MT"/>
                <a:cs typeface="Arial MT"/>
              </a:rPr>
              <a:t>18</a:t>
            </a:r>
            <a:r>
              <a:rPr sz="2800" spc="-50" dirty="0"/>
              <a:t>题</a:t>
            </a:r>
            <a:endParaRPr sz="280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30037" y="175498"/>
            <a:ext cx="8246855" cy="4933950"/>
            <a:chOff x="211345" y="216281"/>
            <a:chExt cx="11849100" cy="4933950"/>
          </a:xfrm>
        </p:grpSpPr>
        <p:pic>
          <p:nvPicPr>
            <p:cNvPr id="3" name="object 3"/>
            <p:cNvPicPr/>
            <p:nvPr/>
          </p:nvPicPr>
          <p:blipFill>
            <a:blip r:embed="rId2" cstate="print"/>
            <a:stretch>
              <a:fillRect/>
            </a:stretch>
          </p:blipFill>
          <p:spPr>
            <a:xfrm>
              <a:off x="211345" y="216281"/>
              <a:ext cx="11848563" cy="4933744"/>
            </a:xfrm>
            <a:prstGeom prst="rect">
              <a:avLst/>
            </a:prstGeom>
          </p:spPr>
        </p:pic>
        <p:sp>
          <p:nvSpPr>
            <p:cNvPr id="4" name="object 4"/>
            <p:cNvSpPr/>
            <p:nvPr/>
          </p:nvSpPr>
          <p:spPr>
            <a:xfrm>
              <a:off x="2713736" y="4611344"/>
              <a:ext cx="6061710" cy="403225"/>
            </a:xfrm>
            <a:custGeom>
              <a:avLst/>
              <a:gdLst/>
              <a:ahLst/>
              <a:cxnLst/>
              <a:rect l="l" t="t" r="r" b="b"/>
              <a:pathLst>
                <a:path w="6061709" h="403225">
                  <a:moveTo>
                    <a:pt x="0" y="403123"/>
                  </a:moveTo>
                  <a:lnTo>
                    <a:pt x="560438" y="403123"/>
                  </a:lnTo>
                  <a:lnTo>
                    <a:pt x="560438" y="0"/>
                  </a:lnTo>
                  <a:lnTo>
                    <a:pt x="0" y="0"/>
                  </a:lnTo>
                  <a:lnTo>
                    <a:pt x="0" y="403123"/>
                  </a:lnTo>
                  <a:close/>
                </a:path>
                <a:path w="6061709" h="403225">
                  <a:moveTo>
                    <a:pt x="3564128" y="403123"/>
                  </a:moveTo>
                  <a:lnTo>
                    <a:pt x="4124566" y="403123"/>
                  </a:lnTo>
                  <a:lnTo>
                    <a:pt x="4124566" y="0"/>
                  </a:lnTo>
                  <a:lnTo>
                    <a:pt x="3564128" y="0"/>
                  </a:lnTo>
                  <a:lnTo>
                    <a:pt x="3564128" y="403123"/>
                  </a:lnTo>
                  <a:close/>
                </a:path>
                <a:path w="6061709" h="403225">
                  <a:moveTo>
                    <a:pt x="5501132" y="403123"/>
                  </a:moveTo>
                  <a:lnTo>
                    <a:pt x="6061570" y="403123"/>
                  </a:lnTo>
                  <a:lnTo>
                    <a:pt x="6061570" y="0"/>
                  </a:lnTo>
                  <a:lnTo>
                    <a:pt x="5501132" y="0"/>
                  </a:lnTo>
                  <a:lnTo>
                    <a:pt x="5501132" y="403123"/>
                  </a:lnTo>
                  <a:close/>
                </a:path>
              </a:pathLst>
            </a:custGeom>
            <a:ln w="38100">
              <a:solidFill>
                <a:srgbClr val="6F2F9F"/>
              </a:solidFill>
            </a:ln>
          </p:spPr>
          <p:txBody>
            <a:bodyPr wrap="square" lIns="0" tIns="0" rIns="0" bIns="0" rtlCol="0"/>
            <a:lstStyle/>
            <a:p>
              <a:endParaRPr/>
            </a:p>
          </p:txBody>
        </p:sp>
      </p:grpSp>
      <p:sp>
        <p:nvSpPr>
          <p:cNvPr id="5" name="object 5"/>
          <p:cNvSpPr txBox="1"/>
          <p:nvPr/>
        </p:nvSpPr>
        <p:spPr>
          <a:xfrm>
            <a:off x="378905" y="5398207"/>
            <a:ext cx="3439160" cy="369570"/>
          </a:xfrm>
          <a:prstGeom prst="rect">
            <a:avLst/>
          </a:prstGeom>
          <a:ln w="12700">
            <a:solidFill>
              <a:srgbClr val="6F2F9F"/>
            </a:solidFill>
          </a:ln>
        </p:spPr>
        <p:txBody>
          <a:bodyPr vert="horz" wrap="square" lIns="0" tIns="54610" rIns="0" bIns="0" rtlCol="0">
            <a:spAutoFit/>
          </a:bodyPr>
          <a:lstStyle/>
          <a:p>
            <a:pPr marL="91440">
              <a:lnSpc>
                <a:spcPct val="100000"/>
              </a:lnSpc>
              <a:spcBef>
                <a:spcPts val="430"/>
              </a:spcBef>
            </a:pPr>
            <a:r>
              <a:rPr sz="1800" b="1" spc="-5" dirty="0">
                <a:latin typeface="Microsoft JhengHei"/>
                <a:cs typeface="Microsoft JhengHei"/>
              </a:rPr>
              <a:t>可综合可单独用必修三和选必二</a:t>
            </a:r>
            <a:endParaRPr sz="1800" dirty="0">
              <a:latin typeface="Microsoft JhengHei"/>
              <a:cs typeface="Microsoft JhengHei"/>
            </a:endParaRPr>
          </a:p>
        </p:txBody>
      </p:sp>
      <p:grpSp>
        <p:nvGrpSpPr>
          <p:cNvPr id="6" name="object 6"/>
          <p:cNvGrpSpPr/>
          <p:nvPr/>
        </p:nvGrpSpPr>
        <p:grpSpPr>
          <a:xfrm>
            <a:off x="2029270" y="4973678"/>
            <a:ext cx="138430" cy="426084"/>
            <a:chOff x="2924810" y="4998211"/>
            <a:chExt cx="138430" cy="426084"/>
          </a:xfrm>
        </p:grpSpPr>
        <p:sp>
          <p:nvSpPr>
            <p:cNvPr id="7" name="object 7"/>
            <p:cNvSpPr/>
            <p:nvPr/>
          </p:nvSpPr>
          <p:spPr>
            <a:xfrm>
              <a:off x="2931160" y="5004561"/>
              <a:ext cx="125730" cy="413384"/>
            </a:xfrm>
            <a:custGeom>
              <a:avLst/>
              <a:gdLst/>
              <a:ahLst/>
              <a:cxnLst/>
              <a:rect l="l" t="t" r="r" b="b"/>
              <a:pathLst>
                <a:path w="125730" h="413385">
                  <a:moveTo>
                    <a:pt x="94106" y="0"/>
                  </a:moveTo>
                  <a:lnTo>
                    <a:pt x="31368" y="0"/>
                  </a:lnTo>
                  <a:lnTo>
                    <a:pt x="31368" y="350266"/>
                  </a:lnTo>
                  <a:lnTo>
                    <a:pt x="0" y="350266"/>
                  </a:lnTo>
                  <a:lnTo>
                    <a:pt x="62737" y="413003"/>
                  </a:lnTo>
                  <a:lnTo>
                    <a:pt x="125475" y="350266"/>
                  </a:lnTo>
                  <a:lnTo>
                    <a:pt x="94106" y="350266"/>
                  </a:lnTo>
                  <a:lnTo>
                    <a:pt x="94106" y="0"/>
                  </a:lnTo>
                  <a:close/>
                </a:path>
              </a:pathLst>
            </a:custGeom>
            <a:solidFill>
              <a:srgbClr val="5B9BD4"/>
            </a:solidFill>
          </p:spPr>
          <p:txBody>
            <a:bodyPr wrap="square" lIns="0" tIns="0" rIns="0" bIns="0" rtlCol="0"/>
            <a:lstStyle/>
            <a:p>
              <a:endParaRPr/>
            </a:p>
          </p:txBody>
        </p:sp>
        <p:sp>
          <p:nvSpPr>
            <p:cNvPr id="8" name="object 8"/>
            <p:cNvSpPr/>
            <p:nvPr/>
          </p:nvSpPr>
          <p:spPr>
            <a:xfrm>
              <a:off x="2931160" y="5004561"/>
              <a:ext cx="125730" cy="413384"/>
            </a:xfrm>
            <a:custGeom>
              <a:avLst/>
              <a:gdLst/>
              <a:ahLst/>
              <a:cxnLst/>
              <a:rect l="l" t="t" r="r" b="b"/>
              <a:pathLst>
                <a:path w="125730" h="413385">
                  <a:moveTo>
                    <a:pt x="0" y="350266"/>
                  </a:moveTo>
                  <a:lnTo>
                    <a:pt x="31368" y="350266"/>
                  </a:lnTo>
                  <a:lnTo>
                    <a:pt x="31368" y="0"/>
                  </a:lnTo>
                  <a:lnTo>
                    <a:pt x="94106" y="0"/>
                  </a:lnTo>
                  <a:lnTo>
                    <a:pt x="94106" y="350266"/>
                  </a:lnTo>
                  <a:lnTo>
                    <a:pt x="125475" y="350266"/>
                  </a:lnTo>
                  <a:lnTo>
                    <a:pt x="62737" y="413003"/>
                  </a:lnTo>
                  <a:lnTo>
                    <a:pt x="0" y="350266"/>
                  </a:lnTo>
                  <a:close/>
                </a:path>
              </a:pathLst>
            </a:custGeom>
            <a:ln w="12700">
              <a:solidFill>
                <a:srgbClr val="213E58"/>
              </a:solidFill>
            </a:ln>
          </p:spPr>
          <p:txBody>
            <a:bodyPr wrap="square" lIns="0" tIns="0" rIns="0" bIns="0" rtlCol="0"/>
            <a:lstStyle/>
            <a:p>
              <a:endParaRPr/>
            </a:p>
          </p:txBody>
        </p:sp>
      </p:grpSp>
      <p:sp>
        <p:nvSpPr>
          <p:cNvPr id="9" name="object 9"/>
          <p:cNvSpPr txBox="1"/>
          <p:nvPr/>
        </p:nvSpPr>
        <p:spPr>
          <a:xfrm>
            <a:off x="2161350" y="5912199"/>
            <a:ext cx="6096000" cy="400685"/>
          </a:xfrm>
          <a:prstGeom prst="rect">
            <a:avLst/>
          </a:prstGeom>
          <a:ln w="9525">
            <a:solidFill>
              <a:srgbClr val="6F2F9F"/>
            </a:solidFill>
          </a:ln>
        </p:spPr>
        <p:txBody>
          <a:bodyPr vert="horz" wrap="square" lIns="0" tIns="55244" rIns="0" bIns="0" rtlCol="0">
            <a:spAutoFit/>
          </a:bodyPr>
          <a:lstStyle/>
          <a:p>
            <a:pPr marL="92075">
              <a:lnSpc>
                <a:spcPct val="100000"/>
              </a:lnSpc>
              <a:spcBef>
                <a:spcPts val="434"/>
              </a:spcBef>
            </a:pPr>
            <a:r>
              <a:rPr sz="2000" b="1" spc="-5" dirty="0">
                <a:latin typeface="Microsoft JhengHei"/>
                <a:cs typeface="Microsoft JhengHei"/>
              </a:rPr>
              <a:t>土地所有权、土地使用权和他项权利的确认、确定</a:t>
            </a:r>
            <a:endParaRPr sz="2000">
              <a:latin typeface="Microsoft JhengHei"/>
              <a:cs typeface="Microsoft JhengHei"/>
            </a:endParaRPr>
          </a:p>
        </p:txBody>
      </p:sp>
      <p:grpSp>
        <p:nvGrpSpPr>
          <p:cNvPr id="10" name="object 10"/>
          <p:cNvGrpSpPr/>
          <p:nvPr/>
        </p:nvGrpSpPr>
        <p:grpSpPr>
          <a:xfrm>
            <a:off x="4679537" y="4850824"/>
            <a:ext cx="2870200" cy="750570"/>
            <a:chOff x="6472301" y="4683633"/>
            <a:chExt cx="2870200" cy="750570"/>
          </a:xfrm>
        </p:grpSpPr>
        <p:sp>
          <p:nvSpPr>
            <p:cNvPr id="11" name="object 11"/>
            <p:cNvSpPr/>
            <p:nvPr/>
          </p:nvSpPr>
          <p:spPr>
            <a:xfrm>
              <a:off x="6478651" y="5014468"/>
              <a:ext cx="125730" cy="413384"/>
            </a:xfrm>
            <a:custGeom>
              <a:avLst/>
              <a:gdLst/>
              <a:ahLst/>
              <a:cxnLst/>
              <a:rect l="l" t="t" r="r" b="b"/>
              <a:pathLst>
                <a:path w="125729" h="413385">
                  <a:moveTo>
                    <a:pt x="94106" y="0"/>
                  </a:moveTo>
                  <a:lnTo>
                    <a:pt x="31369" y="0"/>
                  </a:lnTo>
                  <a:lnTo>
                    <a:pt x="31369" y="350138"/>
                  </a:lnTo>
                  <a:lnTo>
                    <a:pt x="0" y="350138"/>
                  </a:lnTo>
                  <a:lnTo>
                    <a:pt x="62738" y="412876"/>
                  </a:lnTo>
                  <a:lnTo>
                    <a:pt x="125475" y="350138"/>
                  </a:lnTo>
                  <a:lnTo>
                    <a:pt x="94106" y="350138"/>
                  </a:lnTo>
                  <a:lnTo>
                    <a:pt x="94106" y="0"/>
                  </a:lnTo>
                  <a:close/>
                </a:path>
              </a:pathLst>
            </a:custGeom>
            <a:solidFill>
              <a:srgbClr val="5B9BD4"/>
            </a:solidFill>
          </p:spPr>
          <p:txBody>
            <a:bodyPr wrap="square" lIns="0" tIns="0" rIns="0" bIns="0" rtlCol="0"/>
            <a:lstStyle/>
            <a:p>
              <a:endParaRPr/>
            </a:p>
          </p:txBody>
        </p:sp>
        <p:sp>
          <p:nvSpPr>
            <p:cNvPr id="12" name="object 12"/>
            <p:cNvSpPr/>
            <p:nvPr/>
          </p:nvSpPr>
          <p:spPr>
            <a:xfrm>
              <a:off x="6478651" y="5014468"/>
              <a:ext cx="125730" cy="413384"/>
            </a:xfrm>
            <a:custGeom>
              <a:avLst/>
              <a:gdLst/>
              <a:ahLst/>
              <a:cxnLst/>
              <a:rect l="l" t="t" r="r" b="b"/>
              <a:pathLst>
                <a:path w="125729" h="413385">
                  <a:moveTo>
                    <a:pt x="0" y="350138"/>
                  </a:moveTo>
                  <a:lnTo>
                    <a:pt x="31369" y="350138"/>
                  </a:lnTo>
                  <a:lnTo>
                    <a:pt x="31369" y="0"/>
                  </a:lnTo>
                  <a:lnTo>
                    <a:pt x="94106" y="0"/>
                  </a:lnTo>
                  <a:lnTo>
                    <a:pt x="94106" y="350138"/>
                  </a:lnTo>
                  <a:lnTo>
                    <a:pt x="125475" y="350138"/>
                  </a:lnTo>
                  <a:lnTo>
                    <a:pt x="62738" y="412876"/>
                  </a:lnTo>
                  <a:lnTo>
                    <a:pt x="0" y="350138"/>
                  </a:lnTo>
                  <a:close/>
                </a:path>
              </a:pathLst>
            </a:custGeom>
            <a:ln w="12700">
              <a:solidFill>
                <a:srgbClr val="213E58"/>
              </a:solidFill>
            </a:ln>
          </p:spPr>
          <p:txBody>
            <a:bodyPr wrap="square" lIns="0" tIns="0" rIns="0" bIns="0" rtlCol="0"/>
            <a:lstStyle/>
            <a:p>
              <a:endParaRPr/>
            </a:p>
          </p:txBody>
        </p:sp>
        <p:sp>
          <p:nvSpPr>
            <p:cNvPr id="13" name="object 13"/>
            <p:cNvSpPr/>
            <p:nvPr/>
          </p:nvSpPr>
          <p:spPr>
            <a:xfrm>
              <a:off x="8775319" y="4689983"/>
              <a:ext cx="560705" cy="144145"/>
            </a:xfrm>
            <a:custGeom>
              <a:avLst/>
              <a:gdLst/>
              <a:ahLst/>
              <a:cxnLst/>
              <a:rect l="l" t="t" r="r" b="b"/>
              <a:pathLst>
                <a:path w="560704" h="144145">
                  <a:moveTo>
                    <a:pt x="488441" y="0"/>
                  </a:moveTo>
                  <a:lnTo>
                    <a:pt x="488441" y="36068"/>
                  </a:lnTo>
                  <a:lnTo>
                    <a:pt x="0" y="36068"/>
                  </a:lnTo>
                  <a:lnTo>
                    <a:pt x="0" y="108077"/>
                  </a:lnTo>
                  <a:lnTo>
                    <a:pt x="488441" y="108077"/>
                  </a:lnTo>
                  <a:lnTo>
                    <a:pt x="488441" y="144018"/>
                  </a:lnTo>
                  <a:lnTo>
                    <a:pt x="560451" y="72009"/>
                  </a:lnTo>
                  <a:lnTo>
                    <a:pt x="488441" y="0"/>
                  </a:lnTo>
                  <a:close/>
                </a:path>
              </a:pathLst>
            </a:custGeom>
            <a:solidFill>
              <a:srgbClr val="5B9BD4"/>
            </a:solidFill>
          </p:spPr>
          <p:txBody>
            <a:bodyPr wrap="square" lIns="0" tIns="0" rIns="0" bIns="0" rtlCol="0"/>
            <a:lstStyle/>
            <a:p>
              <a:endParaRPr/>
            </a:p>
          </p:txBody>
        </p:sp>
        <p:sp>
          <p:nvSpPr>
            <p:cNvPr id="14" name="object 14"/>
            <p:cNvSpPr/>
            <p:nvPr/>
          </p:nvSpPr>
          <p:spPr>
            <a:xfrm>
              <a:off x="8775319" y="4689983"/>
              <a:ext cx="560705" cy="144145"/>
            </a:xfrm>
            <a:custGeom>
              <a:avLst/>
              <a:gdLst/>
              <a:ahLst/>
              <a:cxnLst/>
              <a:rect l="l" t="t" r="r" b="b"/>
              <a:pathLst>
                <a:path w="560704" h="144145">
                  <a:moveTo>
                    <a:pt x="0" y="36068"/>
                  </a:moveTo>
                  <a:lnTo>
                    <a:pt x="488441" y="36068"/>
                  </a:lnTo>
                  <a:lnTo>
                    <a:pt x="488441" y="0"/>
                  </a:lnTo>
                  <a:lnTo>
                    <a:pt x="560451" y="72009"/>
                  </a:lnTo>
                  <a:lnTo>
                    <a:pt x="488441" y="144018"/>
                  </a:lnTo>
                  <a:lnTo>
                    <a:pt x="488441" y="108077"/>
                  </a:lnTo>
                  <a:lnTo>
                    <a:pt x="0" y="108077"/>
                  </a:lnTo>
                  <a:lnTo>
                    <a:pt x="0" y="36068"/>
                  </a:lnTo>
                  <a:close/>
                </a:path>
              </a:pathLst>
            </a:custGeom>
            <a:ln w="12700">
              <a:solidFill>
                <a:srgbClr val="213E58"/>
              </a:solidFill>
            </a:ln>
          </p:spPr>
          <p:txBody>
            <a:bodyPr wrap="square" lIns="0" tIns="0" rIns="0" bIns="0" rtlCol="0"/>
            <a:lstStyle/>
            <a:p>
              <a:endParaRPr/>
            </a:p>
          </p:txBody>
        </p:sp>
      </p:grpSp>
      <p:sp>
        <p:nvSpPr>
          <p:cNvPr id="15" name="object 15"/>
          <p:cNvSpPr txBox="1"/>
          <p:nvPr/>
        </p:nvSpPr>
        <p:spPr>
          <a:xfrm>
            <a:off x="7434818" y="4709768"/>
            <a:ext cx="877569" cy="369570"/>
          </a:xfrm>
          <a:prstGeom prst="rect">
            <a:avLst/>
          </a:prstGeom>
          <a:ln w="9525">
            <a:solidFill>
              <a:srgbClr val="6F2F9F"/>
            </a:solidFill>
          </a:ln>
        </p:spPr>
        <p:txBody>
          <a:bodyPr vert="horz" wrap="square" lIns="0" tIns="36194" rIns="0" bIns="0" rtlCol="0">
            <a:spAutoFit/>
          </a:bodyPr>
          <a:lstStyle/>
          <a:p>
            <a:pPr marL="92075">
              <a:lnSpc>
                <a:spcPct val="100000"/>
              </a:lnSpc>
              <a:spcBef>
                <a:spcPts val="284"/>
              </a:spcBef>
            </a:pPr>
            <a:r>
              <a:rPr sz="1800" spc="-20" dirty="0">
                <a:latin typeface="SimSun"/>
                <a:cs typeface="SimSun"/>
              </a:rPr>
              <a:t>多角度</a:t>
            </a:r>
            <a:endParaRPr sz="1800" dirty="0">
              <a:latin typeface="SimSun"/>
              <a:cs typeface="SimSun"/>
            </a:endParaRPr>
          </a:p>
        </p:txBody>
      </p:sp>
      <p:sp>
        <p:nvSpPr>
          <p:cNvPr id="16" name="object 2"/>
          <p:cNvSpPr txBox="1"/>
          <p:nvPr/>
        </p:nvSpPr>
        <p:spPr>
          <a:xfrm>
            <a:off x="8576892" y="609600"/>
            <a:ext cx="3386507" cy="6258123"/>
          </a:xfrm>
          <a:prstGeom prst="rect">
            <a:avLst/>
          </a:prstGeom>
          <a:ln w="38100">
            <a:solidFill>
              <a:schemeClr val="tx1"/>
            </a:solidFill>
          </a:ln>
        </p:spPr>
        <p:txBody>
          <a:bodyPr vert="horz" wrap="square" lIns="0" tIns="12700" rIns="0" bIns="0" rtlCol="0">
            <a:spAutoFit/>
          </a:bodyPr>
          <a:lstStyle/>
          <a:p>
            <a:pPr marL="12700" marR="70485" indent="566420">
              <a:lnSpc>
                <a:spcPct val="150100"/>
              </a:lnSpc>
              <a:spcBef>
                <a:spcPts val="100"/>
              </a:spcBef>
            </a:pPr>
            <a:r>
              <a:rPr b="1" spc="-25" dirty="0">
                <a:solidFill>
                  <a:srgbClr val="FF0000"/>
                </a:solidFill>
                <a:latin typeface="Calibri"/>
                <a:cs typeface="Calibri"/>
              </a:rPr>
              <a:t>1</a:t>
            </a:r>
            <a:r>
              <a:rPr spc="-25" dirty="0">
                <a:solidFill>
                  <a:srgbClr val="FF0000"/>
                </a:solidFill>
                <a:latin typeface="SimSun"/>
                <a:cs typeface="SimSun"/>
              </a:rPr>
              <a:t>、权利角度：</a:t>
            </a:r>
            <a:r>
              <a:rPr spc="-30" dirty="0">
                <a:latin typeface="SimSun"/>
                <a:cs typeface="SimSun"/>
              </a:rPr>
              <a:t>有利于确定财产归属</a:t>
            </a:r>
            <a:r>
              <a:rPr dirty="0">
                <a:latin typeface="SimSun"/>
                <a:cs typeface="SimSun"/>
              </a:rPr>
              <a:t>（</a:t>
            </a:r>
            <a:r>
              <a:rPr spc="-30" dirty="0">
                <a:solidFill>
                  <a:srgbClr val="006FC0"/>
                </a:solidFill>
                <a:latin typeface="SimSun"/>
                <a:cs typeface="SimSun"/>
              </a:rPr>
              <a:t>保护农民合法权益</a:t>
            </a:r>
            <a:r>
              <a:rPr b="1" spc="-10" dirty="0">
                <a:solidFill>
                  <a:srgbClr val="006FC0"/>
                </a:solidFill>
                <a:latin typeface="Calibri"/>
                <a:cs typeface="Calibri"/>
              </a:rPr>
              <a:t>/</a:t>
            </a:r>
            <a:r>
              <a:rPr spc="-35" dirty="0">
                <a:solidFill>
                  <a:srgbClr val="006FC0"/>
                </a:solidFill>
                <a:latin typeface="SimSun"/>
                <a:cs typeface="SimSun"/>
              </a:rPr>
              <a:t>保护土地</a:t>
            </a:r>
            <a:r>
              <a:rPr spc="-25" dirty="0">
                <a:solidFill>
                  <a:srgbClr val="006FC0"/>
                </a:solidFill>
                <a:latin typeface="SimSun"/>
                <a:cs typeface="SimSun"/>
              </a:rPr>
              <a:t>承包经营权</a:t>
            </a:r>
            <a:r>
              <a:rPr b="1" spc="-10" dirty="0">
                <a:solidFill>
                  <a:srgbClr val="006FC0"/>
                </a:solidFill>
                <a:latin typeface="Calibri"/>
                <a:cs typeface="Calibri"/>
              </a:rPr>
              <a:t>/</a:t>
            </a:r>
            <a:r>
              <a:rPr spc="-25" dirty="0">
                <a:solidFill>
                  <a:srgbClr val="006FC0"/>
                </a:solidFill>
                <a:latin typeface="SimSun"/>
                <a:cs typeface="SimSun"/>
              </a:rPr>
              <a:t>保护农民财产权</a:t>
            </a:r>
            <a:r>
              <a:rPr b="1" spc="-10" dirty="0">
                <a:solidFill>
                  <a:srgbClr val="006FC0"/>
                </a:solidFill>
                <a:latin typeface="Calibri"/>
                <a:cs typeface="Calibri"/>
              </a:rPr>
              <a:t>/</a:t>
            </a:r>
            <a:r>
              <a:rPr spc="-30" dirty="0">
                <a:solidFill>
                  <a:srgbClr val="006FC0"/>
                </a:solidFill>
                <a:latin typeface="SimSun"/>
                <a:cs typeface="SimSun"/>
              </a:rPr>
              <a:t>保护农民用益物权</a:t>
            </a:r>
            <a:r>
              <a:rPr spc="-20" dirty="0">
                <a:latin typeface="SimSun"/>
                <a:cs typeface="SimSun"/>
              </a:rPr>
              <a:t>）</a:t>
            </a:r>
            <a:r>
              <a:rPr b="1" spc="-20" dirty="0">
                <a:latin typeface="Calibri"/>
                <a:cs typeface="Calibri"/>
              </a:rPr>
              <a:t>2</a:t>
            </a:r>
            <a:r>
              <a:rPr spc="-50" dirty="0">
                <a:latin typeface="SimSun"/>
                <a:cs typeface="SimSun"/>
              </a:rPr>
              <a:t>分</a:t>
            </a:r>
            <a:endParaRPr lang="en-US" dirty="0">
              <a:latin typeface="SimSun"/>
              <a:cs typeface="SimSun"/>
            </a:endParaRPr>
          </a:p>
          <a:p>
            <a:pPr marL="12700" marR="70485" indent="566420">
              <a:lnSpc>
                <a:spcPct val="150100"/>
              </a:lnSpc>
              <a:spcBef>
                <a:spcPts val="100"/>
              </a:spcBef>
            </a:pPr>
            <a:r>
              <a:rPr b="1" spc="-25" dirty="0">
                <a:solidFill>
                  <a:srgbClr val="FF0000"/>
                </a:solidFill>
                <a:latin typeface="Calibri"/>
                <a:cs typeface="Calibri"/>
              </a:rPr>
              <a:t>2</a:t>
            </a:r>
            <a:r>
              <a:rPr spc="-25" dirty="0">
                <a:solidFill>
                  <a:srgbClr val="FF0000"/>
                </a:solidFill>
                <a:latin typeface="SimSun"/>
                <a:cs typeface="SimSun"/>
              </a:rPr>
              <a:t>、解决纠纷角度：</a:t>
            </a:r>
            <a:r>
              <a:rPr spc="-25" dirty="0">
                <a:latin typeface="SimSun"/>
                <a:cs typeface="SimSun"/>
              </a:rPr>
              <a:t>有利于定分止争</a:t>
            </a:r>
            <a:r>
              <a:rPr spc="-10" dirty="0">
                <a:latin typeface="SimSun"/>
                <a:cs typeface="SimSun"/>
              </a:rPr>
              <a:t>（</a:t>
            </a:r>
            <a:r>
              <a:rPr spc="-30" dirty="0">
                <a:solidFill>
                  <a:srgbClr val="006FC0"/>
                </a:solidFill>
                <a:latin typeface="SimSun"/>
                <a:cs typeface="SimSun"/>
              </a:rPr>
              <a:t>有利于减少土地纠纷</a:t>
            </a:r>
            <a:r>
              <a:rPr spc="-10" dirty="0">
                <a:latin typeface="SimSun"/>
                <a:cs typeface="SimSun"/>
              </a:rPr>
              <a:t>）</a:t>
            </a:r>
            <a:r>
              <a:rPr b="1" spc="-10" dirty="0">
                <a:latin typeface="Calibri"/>
                <a:cs typeface="Calibri"/>
              </a:rPr>
              <a:t>2</a:t>
            </a:r>
            <a:r>
              <a:rPr spc="-50" dirty="0">
                <a:latin typeface="SimSun"/>
                <a:cs typeface="SimSun"/>
              </a:rPr>
              <a:t>分</a:t>
            </a:r>
            <a:endParaRPr dirty="0">
              <a:latin typeface="SimSun"/>
              <a:cs typeface="SimSun"/>
            </a:endParaRPr>
          </a:p>
          <a:p>
            <a:pPr marL="12700" marR="5080" indent="566420">
              <a:lnSpc>
                <a:spcPct val="150000"/>
              </a:lnSpc>
            </a:pPr>
            <a:r>
              <a:rPr b="1" spc="-25" dirty="0">
                <a:solidFill>
                  <a:srgbClr val="FF0000"/>
                </a:solidFill>
                <a:latin typeface="Calibri"/>
                <a:cs typeface="Calibri"/>
              </a:rPr>
              <a:t>3</a:t>
            </a:r>
            <a:r>
              <a:rPr spc="-25" dirty="0">
                <a:solidFill>
                  <a:srgbClr val="FF0000"/>
                </a:solidFill>
                <a:latin typeface="SimSun"/>
                <a:cs typeface="SimSun"/>
              </a:rPr>
              <a:t>、此举的具体意义：</a:t>
            </a:r>
            <a:r>
              <a:rPr spc="-30" dirty="0">
                <a:latin typeface="SimSun"/>
                <a:cs typeface="SimSun"/>
              </a:rPr>
              <a:t>有利于促进土地经营权有序流转</a:t>
            </a:r>
            <a:r>
              <a:rPr b="1" dirty="0">
                <a:latin typeface="Calibri"/>
                <a:cs typeface="Calibri"/>
              </a:rPr>
              <a:t>/</a:t>
            </a:r>
            <a:r>
              <a:rPr spc="-35" dirty="0">
                <a:latin typeface="SimSun"/>
                <a:cs typeface="SimSun"/>
              </a:rPr>
              <a:t>优化资源配</a:t>
            </a:r>
            <a:r>
              <a:rPr spc="-25" dirty="0">
                <a:latin typeface="SimSun"/>
                <a:cs typeface="SimSun"/>
              </a:rPr>
              <a:t>置</a:t>
            </a:r>
            <a:r>
              <a:rPr b="1" spc="-10" dirty="0">
                <a:latin typeface="Calibri"/>
                <a:cs typeface="Calibri"/>
              </a:rPr>
              <a:t>/</a:t>
            </a:r>
            <a:r>
              <a:rPr spc="-25" dirty="0">
                <a:latin typeface="SimSun"/>
                <a:cs typeface="SimSun"/>
              </a:rPr>
              <a:t>提高土地利用效率</a:t>
            </a:r>
            <a:r>
              <a:rPr b="1" spc="-10" dirty="0">
                <a:latin typeface="Calibri"/>
                <a:cs typeface="Calibri"/>
              </a:rPr>
              <a:t>/</a:t>
            </a:r>
            <a:r>
              <a:rPr spc="-25" dirty="0">
                <a:latin typeface="SimSun"/>
                <a:cs typeface="SimSun"/>
              </a:rPr>
              <a:t>提高农民积极性</a:t>
            </a:r>
            <a:r>
              <a:rPr b="1" spc="-10" dirty="0">
                <a:latin typeface="Calibri"/>
                <a:cs typeface="Calibri"/>
              </a:rPr>
              <a:t>/</a:t>
            </a:r>
            <a:r>
              <a:rPr spc="-25" dirty="0">
                <a:latin typeface="SimSun"/>
                <a:cs typeface="SimSun"/>
              </a:rPr>
              <a:t>增加农民收入</a:t>
            </a:r>
            <a:r>
              <a:rPr b="1" dirty="0">
                <a:latin typeface="Calibri"/>
                <a:cs typeface="Calibri"/>
              </a:rPr>
              <a:t>/</a:t>
            </a:r>
            <a:r>
              <a:rPr spc="-35" dirty="0">
                <a:latin typeface="SimSun"/>
                <a:cs typeface="SimSun"/>
              </a:rPr>
              <a:t>促进农村经济发</a:t>
            </a:r>
            <a:r>
              <a:rPr spc="-30" dirty="0">
                <a:latin typeface="SimSun"/>
                <a:cs typeface="SimSun"/>
              </a:rPr>
              <a:t>展</a:t>
            </a:r>
            <a:r>
              <a:rPr b="1" spc="-10" dirty="0">
                <a:latin typeface="Calibri"/>
                <a:cs typeface="Calibri"/>
              </a:rPr>
              <a:t>/</a:t>
            </a:r>
            <a:r>
              <a:rPr spc="-30" dirty="0">
                <a:latin typeface="SimSun"/>
                <a:cs typeface="SimSun"/>
              </a:rPr>
              <a:t>推进乡村振兴</a:t>
            </a:r>
            <a:r>
              <a:rPr b="1" spc="-10" dirty="0">
                <a:latin typeface="Calibri"/>
                <a:cs typeface="Calibri"/>
              </a:rPr>
              <a:t>/</a:t>
            </a:r>
            <a:r>
              <a:rPr spc="-30" dirty="0">
                <a:latin typeface="SimSun"/>
                <a:cs typeface="SimSun"/>
              </a:rPr>
              <a:t>实现共同富裕</a:t>
            </a:r>
            <a:r>
              <a:rPr b="1" spc="-10" dirty="0">
                <a:latin typeface="Calibri"/>
                <a:cs typeface="Calibri"/>
              </a:rPr>
              <a:t>/</a:t>
            </a:r>
            <a:r>
              <a:rPr spc="-35" dirty="0">
                <a:latin typeface="SimSun"/>
                <a:cs typeface="SimSun"/>
              </a:rPr>
              <a:t>有利于落实农村土地“三权分置”改</a:t>
            </a:r>
            <a:r>
              <a:rPr spc="-25" dirty="0">
                <a:latin typeface="SimSun"/>
                <a:cs typeface="SimSun"/>
              </a:rPr>
              <a:t>革的要求（任意一点</a:t>
            </a:r>
            <a:r>
              <a:rPr b="1" spc="-25" dirty="0">
                <a:latin typeface="Calibri"/>
                <a:cs typeface="Calibri"/>
              </a:rPr>
              <a:t>1</a:t>
            </a:r>
            <a:r>
              <a:rPr spc="-25" dirty="0">
                <a:latin typeface="SimSun"/>
                <a:cs typeface="SimSun"/>
              </a:rPr>
              <a:t>分</a:t>
            </a:r>
            <a:r>
              <a:rPr b="1" spc="-10" dirty="0">
                <a:latin typeface="Calibri"/>
                <a:cs typeface="Calibri"/>
              </a:rPr>
              <a:t>,</a:t>
            </a:r>
            <a:r>
              <a:rPr spc="-20" dirty="0">
                <a:latin typeface="SimSun"/>
                <a:cs typeface="SimSun"/>
              </a:rPr>
              <a:t>最多</a:t>
            </a:r>
            <a:r>
              <a:rPr b="1" spc="-10" dirty="0">
                <a:latin typeface="Calibri"/>
                <a:cs typeface="Calibri"/>
              </a:rPr>
              <a:t>2</a:t>
            </a:r>
            <a:r>
              <a:rPr spc="-25" dirty="0">
                <a:latin typeface="SimSun"/>
                <a:cs typeface="SimSun"/>
              </a:rPr>
              <a:t>分</a:t>
            </a:r>
            <a:r>
              <a:rPr spc="-50" dirty="0">
                <a:latin typeface="SimSun"/>
                <a:cs typeface="SimSun"/>
              </a:rPr>
              <a:t>）</a:t>
            </a:r>
            <a:endParaRPr dirty="0">
              <a:latin typeface="SimSun"/>
              <a:cs typeface="SimSun"/>
            </a:endParaRPr>
          </a:p>
        </p:txBody>
      </p:sp>
      <p:cxnSp>
        <p:nvCxnSpPr>
          <p:cNvPr id="18" name="直接连接符 17"/>
          <p:cNvCxnSpPr/>
          <p:nvPr/>
        </p:nvCxnSpPr>
        <p:spPr>
          <a:xfrm>
            <a:off x="1752600" y="1600200"/>
            <a:ext cx="4191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右箭头 18"/>
          <p:cNvSpPr/>
          <p:nvPr/>
        </p:nvSpPr>
        <p:spPr>
          <a:xfrm rot="19659164">
            <a:off x="5208886" y="2265190"/>
            <a:ext cx="364868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右箭头 19"/>
          <p:cNvSpPr/>
          <p:nvPr/>
        </p:nvSpPr>
        <p:spPr>
          <a:xfrm rot="3539407">
            <a:off x="5158215" y="2656341"/>
            <a:ext cx="3648680" cy="457200"/>
          </a:xfrm>
          <a:prstGeom prst="rightArrow">
            <a:avLst>
              <a:gd name="adj1" fmla="val 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05000" y="1752600"/>
            <a:ext cx="8077200" cy="3308598"/>
          </a:xfrm>
          <a:prstGeom prst="rect">
            <a:avLst/>
          </a:prstGeom>
        </p:spPr>
        <p:txBody>
          <a:bodyPr vert="horz" wrap="square" lIns="0" tIns="12700" rIns="0" bIns="0" rtlCol="0">
            <a:spAutoFit/>
          </a:bodyPr>
          <a:lstStyle/>
          <a:p>
            <a:pPr marL="12700" marR="70485" indent="566420">
              <a:lnSpc>
                <a:spcPct val="150100"/>
              </a:lnSpc>
              <a:spcBef>
                <a:spcPts val="100"/>
              </a:spcBef>
            </a:pPr>
            <a:r>
              <a:rPr sz="2000" b="1" spc="-25" dirty="0">
                <a:solidFill>
                  <a:srgbClr val="FF0000"/>
                </a:solidFill>
                <a:latin typeface="Calibri"/>
                <a:cs typeface="Calibri"/>
              </a:rPr>
              <a:t>1</a:t>
            </a:r>
            <a:r>
              <a:rPr sz="2000" spc="-25" dirty="0">
                <a:solidFill>
                  <a:srgbClr val="FF0000"/>
                </a:solidFill>
                <a:latin typeface="SimSun"/>
                <a:cs typeface="SimSun"/>
              </a:rPr>
              <a:t>、权利角度：</a:t>
            </a:r>
            <a:r>
              <a:rPr sz="2000" spc="-30" dirty="0">
                <a:latin typeface="SimSun"/>
                <a:cs typeface="SimSun"/>
              </a:rPr>
              <a:t>有利于确定财产归属</a:t>
            </a:r>
            <a:r>
              <a:rPr sz="2000" dirty="0">
                <a:latin typeface="SimSun"/>
                <a:cs typeface="SimSun"/>
              </a:rPr>
              <a:t>（</a:t>
            </a:r>
            <a:r>
              <a:rPr sz="2000" spc="-30" dirty="0">
                <a:solidFill>
                  <a:srgbClr val="006FC0"/>
                </a:solidFill>
                <a:latin typeface="SimSun"/>
                <a:cs typeface="SimSun"/>
              </a:rPr>
              <a:t>保护农民合法权益</a:t>
            </a:r>
            <a:r>
              <a:rPr sz="2000" b="1" spc="-10" dirty="0">
                <a:solidFill>
                  <a:srgbClr val="006FC0"/>
                </a:solidFill>
                <a:latin typeface="Calibri"/>
                <a:cs typeface="Calibri"/>
              </a:rPr>
              <a:t>/</a:t>
            </a:r>
            <a:r>
              <a:rPr sz="2000" spc="-35" dirty="0">
                <a:solidFill>
                  <a:srgbClr val="006FC0"/>
                </a:solidFill>
                <a:latin typeface="SimSun"/>
                <a:cs typeface="SimSun"/>
              </a:rPr>
              <a:t>保护土地</a:t>
            </a:r>
            <a:r>
              <a:rPr sz="2000" spc="-25" dirty="0">
                <a:solidFill>
                  <a:srgbClr val="006FC0"/>
                </a:solidFill>
                <a:latin typeface="SimSun"/>
                <a:cs typeface="SimSun"/>
              </a:rPr>
              <a:t>承包经营权</a:t>
            </a:r>
            <a:r>
              <a:rPr sz="2000" b="1" spc="-10" dirty="0">
                <a:solidFill>
                  <a:srgbClr val="006FC0"/>
                </a:solidFill>
                <a:latin typeface="Calibri"/>
                <a:cs typeface="Calibri"/>
              </a:rPr>
              <a:t>/</a:t>
            </a:r>
            <a:r>
              <a:rPr sz="2000" spc="-25" dirty="0">
                <a:solidFill>
                  <a:srgbClr val="006FC0"/>
                </a:solidFill>
                <a:latin typeface="SimSun"/>
                <a:cs typeface="SimSun"/>
              </a:rPr>
              <a:t>保护农民财产权</a:t>
            </a:r>
            <a:r>
              <a:rPr sz="2000" b="1" spc="-10" dirty="0">
                <a:solidFill>
                  <a:srgbClr val="006FC0"/>
                </a:solidFill>
                <a:latin typeface="Calibri"/>
                <a:cs typeface="Calibri"/>
              </a:rPr>
              <a:t>/</a:t>
            </a:r>
            <a:r>
              <a:rPr sz="2000" spc="-30" dirty="0">
                <a:solidFill>
                  <a:srgbClr val="006FC0"/>
                </a:solidFill>
                <a:latin typeface="SimSun"/>
                <a:cs typeface="SimSun"/>
              </a:rPr>
              <a:t>保护农民用益物权</a:t>
            </a:r>
            <a:r>
              <a:rPr sz="2000" spc="-20" dirty="0">
                <a:latin typeface="SimSun"/>
                <a:cs typeface="SimSun"/>
              </a:rPr>
              <a:t>）</a:t>
            </a:r>
            <a:r>
              <a:rPr sz="2000" b="1" spc="-20" dirty="0">
                <a:latin typeface="Calibri"/>
                <a:cs typeface="Calibri"/>
              </a:rPr>
              <a:t>2</a:t>
            </a:r>
            <a:r>
              <a:rPr sz="2000" spc="-50" dirty="0">
                <a:latin typeface="SimSun"/>
                <a:cs typeface="SimSun"/>
              </a:rPr>
              <a:t>分</a:t>
            </a:r>
            <a:endParaRPr sz="2000" dirty="0">
              <a:latin typeface="SimSun"/>
              <a:cs typeface="SimSun"/>
            </a:endParaRPr>
          </a:p>
          <a:p>
            <a:pPr marL="579120">
              <a:lnSpc>
                <a:spcPct val="100000"/>
              </a:lnSpc>
              <a:spcBef>
                <a:spcPts val="1680"/>
              </a:spcBef>
            </a:pPr>
            <a:r>
              <a:rPr sz="2000" b="1" spc="-25" dirty="0">
                <a:solidFill>
                  <a:srgbClr val="FF0000"/>
                </a:solidFill>
                <a:latin typeface="Calibri"/>
                <a:cs typeface="Calibri"/>
              </a:rPr>
              <a:t>2</a:t>
            </a:r>
            <a:r>
              <a:rPr sz="2000" spc="-25" dirty="0">
                <a:solidFill>
                  <a:srgbClr val="FF0000"/>
                </a:solidFill>
                <a:latin typeface="SimSun"/>
                <a:cs typeface="SimSun"/>
              </a:rPr>
              <a:t>、解决纠纷角度：</a:t>
            </a:r>
            <a:r>
              <a:rPr sz="2000" spc="-25" dirty="0">
                <a:latin typeface="SimSun"/>
                <a:cs typeface="SimSun"/>
              </a:rPr>
              <a:t>有利于定分止争</a:t>
            </a:r>
            <a:r>
              <a:rPr sz="2000" spc="-10" dirty="0">
                <a:latin typeface="SimSun"/>
                <a:cs typeface="SimSun"/>
              </a:rPr>
              <a:t>（</a:t>
            </a:r>
            <a:r>
              <a:rPr sz="2000" spc="-30" dirty="0">
                <a:solidFill>
                  <a:srgbClr val="006FC0"/>
                </a:solidFill>
                <a:latin typeface="SimSun"/>
                <a:cs typeface="SimSun"/>
              </a:rPr>
              <a:t>有利于减少土地纠纷</a:t>
            </a:r>
            <a:r>
              <a:rPr sz="2000" spc="-10" dirty="0">
                <a:latin typeface="SimSun"/>
                <a:cs typeface="SimSun"/>
              </a:rPr>
              <a:t>）</a:t>
            </a:r>
            <a:r>
              <a:rPr sz="2000" b="1" spc="-10" dirty="0">
                <a:latin typeface="Calibri"/>
                <a:cs typeface="Calibri"/>
              </a:rPr>
              <a:t>2</a:t>
            </a:r>
            <a:r>
              <a:rPr sz="2000" spc="-50" dirty="0">
                <a:latin typeface="SimSun"/>
                <a:cs typeface="SimSun"/>
              </a:rPr>
              <a:t>分</a:t>
            </a:r>
            <a:endParaRPr sz="2000" dirty="0">
              <a:latin typeface="SimSun"/>
              <a:cs typeface="SimSun"/>
            </a:endParaRPr>
          </a:p>
          <a:p>
            <a:pPr marL="12700" marR="5080" indent="566420">
              <a:lnSpc>
                <a:spcPct val="150000"/>
              </a:lnSpc>
            </a:pPr>
            <a:r>
              <a:rPr sz="2000" b="1" spc="-25" dirty="0">
                <a:solidFill>
                  <a:srgbClr val="FF0000"/>
                </a:solidFill>
                <a:latin typeface="Calibri"/>
                <a:cs typeface="Calibri"/>
              </a:rPr>
              <a:t>3</a:t>
            </a:r>
            <a:r>
              <a:rPr sz="2000" spc="-25" dirty="0">
                <a:solidFill>
                  <a:srgbClr val="FF0000"/>
                </a:solidFill>
                <a:latin typeface="SimSun"/>
                <a:cs typeface="SimSun"/>
              </a:rPr>
              <a:t>、此举的具体意义：</a:t>
            </a:r>
            <a:r>
              <a:rPr sz="2000" spc="-30" dirty="0">
                <a:latin typeface="SimSun"/>
                <a:cs typeface="SimSun"/>
              </a:rPr>
              <a:t>有利于促进土地经营权有序流转</a:t>
            </a:r>
            <a:r>
              <a:rPr sz="2000" b="1" dirty="0">
                <a:latin typeface="Calibri"/>
                <a:cs typeface="Calibri"/>
              </a:rPr>
              <a:t>/</a:t>
            </a:r>
            <a:r>
              <a:rPr sz="2000" spc="-35" dirty="0">
                <a:latin typeface="SimSun"/>
                <a:cs typeface="SimSun"/>
              </a:rPr>
              <a:t>优化资源配</a:t>
            </a:r>
            <a:r>
              <a:rPr sz="2000" spc="-25" dirty="0">
                <a:latin typeface="SimSun"/>
                <a:cs typeface="SimSun"/>
              </a:rPr>
              <a:t>置</a:t>
            </a:r>
            <a:r>
              <a:rPr sz="2000" b="1" spc="-10" dirty="0">
                <a:latin typeface="Calibri"/>
                <a:cs typeface="Calibri"/>
              </a:rPr>
              <a:t>/</a:t>
            </a:r>
            <a:r>
              <a:rPr sz="2000" spc="-25" dirty="0">
                <a:latin typeface="SimSun"/>
                <a:cs typeface="SimSun"/>
              </a:rPr>
              <a:t>提高土地利用效率</a:t>
            </a:r>
            <a:r>
              <a:rPr sz="2000" b="1" spc="-10" dirty="0">
                <a:latin typeface="Calibri"/>
                <a:cs typeface="Calibri"/>
              </a:rPr>
              <a:t>/</a:t>
            </a:r>
            <a:r>
              <a:rPr sz="2000" spc="-25" dirty="0">
                <a:latin typeface="SimSun"/>
                <a:cs typeface="SimSun"/>
              </a:rPr>
              <a:t>提高农民积极性</a:t>
            </a:r>
            <a:r>
              <a:rPr sz="2000" b="1" spc="-10" dirty="0">
                <a:latin typeface="Calibri"/>
                <a:cs typeface="Calibri"/>
              </a:rPr>
              <a:t>/</a:t>
            </a:r>
            <a:r>
              <a:rPr sz="2000" spc="-25" dirty="0">
                <a:latin typeface="SimSun"/>
                <a:cs typeface="SimSun"/>
              </a:rPr>
              <a:t>增加农民收入</a:t>
            </a:r>
            <a:r>
              <a:rPr sz="2000" b="1" dirty="0">
                <a:latin typeface="Calibri"/>
                <a:cs typeface="Calibri"/>
              </a:rPr>
              <a:t>/</a:t>
            </a:r>
            <a:r>
              <a:rPr sz="2000" spc="-35" dirty="0">
                <a:latin typeface="SimSun"/>
                <a:cs typeface="SimSun"/>
              </a:rPr>
              <a:t>促进农村经济发</a:t>
            </a:r>
            <a:r>
              <a:rPr sz="2000" spc="-30" dirty="0">
                <a:latin typeface="SimSun"/>
                <a:cs typeface="SimSun"/>
              </a:rPr>
              <a:t>展</a:t>
            </a:r>
            <a:r>
              <a:rPr sz="2000" b="1" spc="-10" dirty="0">
                <a:latin typeface="Calibri"/>
                <a:cs typeface="Calibri"/>
              </a:rPr>
              <a:t>/</a:t>
            </a:r>
            <a:r>
              <a:rPr sz="2000" spc="-30" dirty="0">
                <a:latin typeface="SimSun"/>
                <a:cs typeface="SimSun"/>
              </a:rPr>
              <a:t>推进乡村振兴</a:t>
            </a:r>
            <a:r>
              <a:rPr sz="2000" b="1" spc="-10" dirty="0">
                <a:latin typeface="Calibri"/>
                <a:cs typeface="Calibri"/>
              </a:rPr>
              <a:t>/</a:t>
            </a:r>
            <a:r>
              <a:rPr sz="2000" spc="-30" dirty="0">
                <a:latin typeface="SimSun"/>
                <a:cs typeface="SimSun"/>
              </a:rPr>
              <a:t>实现共同富裕</a:t>
            </a:r>
            <a:r>
              <a:rPr sz="2000" b="1" spc="-10" dirty="0">
                <a:latin typeface="Calibri"/>
                <a:cs typeface="Calibri"/>
              </a:rPr>
              <a:t>/</a:t>
            </a:r>
            <a:r>
              <a:rPr sz="2000" spc="-35" dirty="0">
                <a:latin typeface="SimSun"/>
                <a:cs typeface="SimSun"/>
              </a:rPr>
              <a:t>有利于落实农村土地“三权分置”改</a:t>
            </a:r>
            <a:r>
              <a:rPr sz="2000" spc="-25" dirty="0">
                <a:latin typeface="SimSun"/>
                <a:cs typeface="SimSun"/>
              </a:rPr>
              <a:t>革的要求（任意一点</a:t>
            </a:r>
            <a:r>
              <a:rPr sz="2000" b="1" spc="-25" dirty="0">
                <a:latin typeface="Calibri"/>
                <a:cs typeface="Calibri"/>
              </a:rPr>
              <a:t>1</a:t>
            </a:r>
            <a:r>
              <a:rPr sz="2000" spc="-25" dirty="0">
                <a:latin typeface="SimSun"/>
                <a:cs typeface="SimSun"/>
              </a:rPr>
              <a:t>分</a:t>
            </a:r>
            <a:r>
              <a:rPr sz="2000" b="1" spc="-10" dirty="0">
                <a:latin typeface="Calibri"/>
                <a:cs typeface="Calibri"/>
              </a:rPr>
              <a:t>,</a:t>
            </a:r>
            <a:r>
              <a:rPr sz="2000" spc="-20" dirty="0">
                <a:latin typeface="SimSun"/>
                <a:cs typeface="SimSun"/>
              </a:rPr>
              <a:t>最多</a:t>
            </a:r>
            <a:r>
              <a:rPr sz="2000" b="1" spc="-10" dirty="0">
                <a:latin typeface="Calibri"/>
                <a:cs typeface="Calibri"/>
              </a:rPr>
              <a:t>2</a:t>
            </a:r>
            <a:r>
              <a:rPr sz="2000" spc="-25" dirty="0">
                <a:latin typeface="SimSun"/>
                <a:cs typeface="SimSun"/>
              </a:rPr>
              <a:t>分</a:t>
            </a:r>
            <a:r>
              <a:rPr sz="2000" spc="-50" dirty="0">
                <a:latin typeface="SimSun"/>
                <a:cs typeface="SimSun"/>
              </a:rPr>
              <a:t>）</a:t>
            </a:r>
            <a:endParaRPr sz="2000" dirty="0">
              <a:latin typeface="SimSun"/>
              <a:cs typeface="SimSun"/>
            </a:endParaRPr>
          </a:p>
        </p:txBody>
      </p:sp>
      <p:sp>
        <p:nvSpPr>
          <p:cNvPr id="3" name="object 3"/>
          <p:cNvSpPr txBox="1">
            <a:spLocks noGrp="1"/>
          </p:cNvSpPr>
          <p:nvPr>
            <p:ph type="title"/>
          </p:nvPr>
        </p:nvSpPr>
        <p:spPr>
          <a:xfrm>
            <a:off x="511555" y="210058"/>
            <a:ext cx="6140450" cy="756920"/>
          </a:xfrm>
          <a:prstGeom prst="rect">
            <a:avLst/>
          </a:prstGeom>
        </p:spPr>
        <p:txBody>
          <a:bodyPr vert="horz" wrap="square" lIns="0" tIns="12700" rIns="0" bIns="0" rtlCol="0">
            <a:spAutoFit/>
          </a:bodyPr>
          <a:lstStyle/>
          <a:p>
            <a:pPr marL="12700">
              <a:lnSpc>
                <a:spcPct val="100000"/>
              </a:lnSpc>
              <a:spcBef>
                <a:spcPts val="100"/>
              </a:spcBef>
            </a:pPr>
            <a:r>
              <a:rPr sz="4800" spc="-5" dirty="0">
                <a:solidFill>
                  <a:srgbClr val="C55A11"/>
                </a:solidFill>
                <a:latin typeface="SimSun"/>
                <a:cs typeface="SimSun"/>
              </a:rPr>
              <a:t>评分细则：分三个角度</a:t>
            </a:r>
            <a:endParaRPr sz="4800">
              <a:latin typeface="SimSun"/>
              <a:cs typeface="SimSu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5955" y="684403"/>
            <a:ext cx="3690620" cy="756920"/>
          </a:xfrm>
          <a:prstGeom prst="rect">
            <a:avLst/>
          </a:prstGeom>
        </p:spPr>
        <p:txBody>
          <a:bodyPr vert="horz" wrap="square" lIns="0" tIns="12700" rIns="0" bIns="0" rtlCol="0">
            <a:spAutoFit/>
          </a:bodyPr>
          <a:lstStyle/>
          <a:p>
            <a:pPr marL="12700">
              <a:lnSpc>
                <a:spcPct val="100000"/>
              </a:lnSpc>
              <a:spcBef>
                <a:spcPts val="100"/>
              </a:spcBef>
            </a:pPr>
            <a:r>
              <a:rPr sz="4800" spc="-10" dirty="0">
                <a:solidFill>
                  <a:srgbClr val="C55A11"/>
                </a:solidFill>
                <a:latin typeface="SimSun"/>
                <a:cs typeface="SimSun"/>
              </a:rPr>
              <a:t>学生答题情况</a:t>
            </a:r>
            <a:endParaRPr sz="4800">
              <a:latin typeface="SimSun"/>
              <a:cs typeface="SimSun"/>
            </a:endParaRPr>
          </a:p>
        </p:txBody>
      </p:sp>
      <p:sp>
        <p:nvSpPr>
          <p:cNvPr id="3" name="object 3"/>
          <p:cNvSpPr txBox="1"/>
          <p:nvPr/>
        </p:nvSpPr>
        <p:spPr>
          <a:xfrm>
            <a:off x="762000" y="2133600"/>
            <a:ext cx="4600575" cy="2586990"/>
          </a:xfrm>
          <a:prstGeom prst="rect">
            <a:avLst/>
          </a:prstGeom>
          <a:ln w="38100">
            <a:solidFill>
              <a:schemeClr val="tx1"/>
            </a:solidFill>
          </a:ln>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2400" spc="-5" dirty="0">
                <a:latin typeface="SimSun"/>
                <a:cs typeface="SimSun"/>
              </a:rPr>
              <a:t>能够从材料中提取有效信息</a:t>
            </a:r>
            <a:endParaRPr sz="2400" dirty="0">
              <a:latin typeface="SimSun"/>
              <a:cs typeface="SimSun"/>
            </a:endParaRPr>
          </a:p>
          <a:p>
            <a:pPr marL="299085" indent="-286385">
              <a:lnSpc>
                <a:spcPct val="100000"/>
              </a:lnSpc>
              <a:spcBef>
                <a:spcPts val="2885"/>
              </a:spcBef>
              <a:buFont typeface="Arial MT"/>
              <a:buChar char="•"/>
              <a:tabLst>
                <a:tab pos="299085" algn="l"/>
              </a:tabLst>
            </a:pPr>
            <a:r>
              <a:rPr sz="2400" spc="-5" dirty="0">
                <a:latin typeface="SimSun"/>
                <a:cs typeface="SimSun"/>
              </a:rPr>
              <a:t>法律中的基础知识掌握较好</a:t>
            </a:r>
            <a:endParaRPr sz="2400" dirty="0">
              <a:latin typeface="SimSun"/>
              <a:cs typeface="SimSun"/>
            </a:endParaRPr>
          </a:p>
          <a:p>
            <a:pPr marL="299085" indent="-286385">
              <a:lnSpc>
                <a:spcPct val="100000"/>
              </a:lnSpc>
              <a:spcBef>
                <a:spcPts val="2880"/>
              </a:spcBef>
              <a:buFont typeface="Arial MT"/>
              <a:buChar char="•"/>
              <a:tabLst>
                <a:tab pos="299085" algn="l"/>
              </a:tabLst>
            </a:pPr>
            <a:r>
              <a:rPr sz="2400" dirty="0">
                <a:latin typeface="SimSun"/>
                <a:cs typeface="SimSun"/>
              </a:rPr>
              <a:t>一或两个模块均可（侧重法律</a:t>
            </a:r>
            <a:r>
              <a:rPr sz="2400" spc="-50" dirty="0">
                <a:latin typeface="SimSun"/>
                <a:cs typeface="SimSun"/>
              </a:rPr>
              <a:t>）</a:t>
            </a:r>
            <a:endParaRPr sz="2400" dirty="0">
              <a:latin typeface="SimSun"/>
              <a:cs typeface="SimSun"/>
            </a:endParaRPr>
          </a:p>
          <a:p>
            <a:pPr marL="299085" indent="-286385">
              <a:lnSpc>
                <a:spcPct val="100000"/>
              </a:lnSpc>
              <a:spcBef>
                <a:spcPts val="2880"/>
              </a:spcBef>
              <a:buFont typeface="Arial MT"/>
              <a:buChar char="•"/>
              <a:tabLst>
                <a:tab pos="299085" algn="l"/>
              </a:tabLst>
            </a:pPr>
            <a:r>
              <a:rPr sz="2400" dirty="0">
                <a:latin typeface="SimSun"/>
                <a:cs typeface="SimSun"/>
              </a:rPr>
              <a:t>满分较多，平均</a:t>
            </a:r>
            <a:r>
              <a:rPr sz="2400" b="1" spc="-10" dirty="0">
                <a:latin typeface="Calibri"/>
                <a:cs typeface="Calibri"/>
              </a:rPr>
              <a:t>4.5</a:t>
            </a:r>
            <a:r>
              <a:rPr sz="2400" spc="-50" dirty="0">
                <a:latin typeface="SimSun"/>
                <a:cs typeface="SimSun"/>
              </a:rPr>
              <a:t>分</a:t>
            </a:r>
            <a:endParaRPr sz="2400" dirty="0">
              <a:latin typeface="SimSun"/>
              <a:cs typeface="SimSun"/>
            </a:endParaRPr>
          </a:p>
        </p:txBody>
      </p:sp>
      <p:sp>
        <p:nvSpPr>
          <p:cNvPr id="5" name="object 2"/>
          <p:cNvSpPr txBox="1">
            <a:spLocks/>
          </p:cNvSpPr>
          <p:nvPr/>
        </p:nvSpPr>
        <p:spPr>
          <a:xfrm>
            <a:off x="5867401" y="692945"/>
            <a:ext cx="6019800" cy="689932"/>
          </a:xfrm>
          <a:prstGeom prst="rect">
            <a:avLst/>
          </a:prstGeom>
        </p:spPr>
        <p:txBody>
          <a:bodyPr vert="horz" wrap="square" lIns="0" tIns="12700" rIns="0" bIns="0" rtlCol="0">
            <a:spAutoFit/>
          </a:bodyPr>
          <a:lstStyle>
            <a:lvl1pPr>
              <a:defRPr sz="3600" b="0" i="0">
                <a:solidFill>
                  <a:schemeClr val="tx1"/>
                </a:solidFill>
                <a:latin typeface="Microsoft YaHei"/>
                <a:ea typeface="+mj-ea"/>
                <a:cs typeface="Microsoft YaHei"/>
              </a:defRPr>
            </a:lvl1pPr>
          </a:lstStyle>
          <a:p>
            <a:pPr marL="12700">
              <a:spcBef>
                <a:spcPts val="100"/>
              </a:spcBef>
            </a:pPr>
            <a:r>
              <a:rPr lang="zh-CN" altLang="en-US" sz="4400" dirty="0">
                <a:solidFill>
                  <a:srgbClr val="C55A11"/>
                </a:solidFill>
                <a:latin typeface="SimSun"/>
                <a:cs typeface="SimSun"/>
              </a:rPr>
              <a:t>学生答题存在问题</a:t>
            </a:r>
            <a:r>
              <a:rPr lang="zh-CN" altLang="en-US" sz="2800" dirty="0">
                <a:solidFill>
                  <a:srgbClr val="5B9BD4"/>
                </a:solidFill>
                <a:latin typeface="SimSun"/>
                <a:cs typeface="SimSun"/>
              </a:rPr>
              <a:t>（不给分</a:t>
            </a:r>
            <a:r>
              <a:rPr lang="zh-CN" altLang="en-US" sz="2800" spc="-50" dirty="0">
                <a:solidFill>
                  <a:srgbClr val="5B9BD4"/>
                </a:solidFill>
                <a:latin typeface="SimSun"/>
                <a:cs typeface="SimSun"/>
              </a:rPr>
              <a:t>）</a:t>
            </a:r>
            <a:endParaRPr lang="zh-CN" altLang="en-US" sz="2800" dirty="0">
              <a:latin typeface="SimSun"/>
              <a:cs typeface="SimSun"/>
            </a:endParaRPr>
          </a:p>
        </p:txBody>
      </p:sp>
      <p:sp>
        <p:nvSpPr>
          <p:cNvPr id="6" name="object 3"/>
          <p:cNvSpPr txBox="1"/>
          <p:nvPr/>
        </p:nvSpPr>
        <p:spPr>
          <a:xfrm>
            <a:off x="6449951" y="1704701"/>
            <a:ext cx="4854700" cy="3025828"/>
          </a:xfrm>
          <a:prstGeom prst="rect">
            <a:avLst/>
          </a:prstGeom>
          <a:ln w="38100">
            <a:solidFill>
              <a:schemeClr val="tx1"/>
            </a:solidFill>
          </a:ln>
        </p:spPr>
        <p:txBody>
          <a:bodyPr vert="horz" wrap="square" lIns="0" tIns="12065" rIns="0" bIns="0" rtlCol="0">
            <a:spAutoFit/>
          </a:bodyPr>
          <a:lstStyle/>
          <a:p>
            <a:pPr marL="299085" indent="-286385">
              <a:lnSpc>
                <a:spcPct val="100000"/>
              </a:lnSpc>
              <a:spcBef>
                <a:spcPts val="95"/>
              </a:spcBef>
              <a:buFont typeface="Arial MT"/>
              <a:buChar char="•"/>
              <a:tabLst>
                <a:tab pos="299085" algn="l"/>
              </a:tabLst>
            </a:pPr>
            <a:r>
              <a:rPr sz="2800" spc="-30" dirty="0">
                <a:latin typeface="SimSun"/>
                <a:cs typeface="SimSun"/>
              </a:rPr>
              <a:t>知识角度：农民的人身权、农民的土地所有权</a:t>
            </a:r>
            <a:endParaRPr sz="2800" dirty="0">
              <a:latin typeface="SimSun"/>
              <a:cs typeface="SimSun"/>
            </a:endParaRPr>
          </a:p>
          <a:p>
            <a:pPr marL="299085" indent="-286385">
              <a:lnSpc>
                <a:spcPct val="100000"/>
              </a:lnSpc>
              <a:spcBef>
                <a:spcPts val="3579"/>
              </a:spcBef>
              <a:buFont typeface="Arial MT"/>
              <a:buChar char="•"/>
              <a:tabLst>
                <a:tab pos="299085" algn="l"/>
              </a:tabLst>
            </a:pPr>
            <a:r>
              <a:rPr sz="2800" spc="-30" dirty="0">
                <a:latin typeface="SimSun"/>
                <a:cs typeface="SimSun"/>
              </a:rPr>
              <a:t>材料角度：没有分析，照抄材料原文</a:t>
            </a:r>
            <a:r>
              <a:rPr sz="2800" b="1" spc="-10" dirty="0">
                <a:solidFill>
                  <a:srgbClr val="5B9BD4"/>
                </a:solidFill>
                <a:latin typeface="Microsoft JhengHei"/>
                <a:cs typeface="Microsoft JhengHei"/>
              </a:rPr>
              <a:t>（如第二行</a:t>
            </a:r>
            <a:r>
              <a:rPr sz="2800" b="1" spc="-50" dirty="0">
                <a:solidFill>
                  <a:srgbClr val="5B9BD4"/>
                </a:solidFill>
                <a:latin typeface="Microsoft JhengHei"/>
                <a:cs typeface="Microsoft JhengHei"/>
              </a:rPr>
              <a:t>）</a:t>
            </a:r>
            <a:endParaRPr sz="2800" dirty="0">
              <a:latin typeface="Microsoft JhengHei"/>
              <a:cs typeface="Microsoft JhengHei"/>
            </a:endParaRPr>
          </a:p>
          <a:p>
            <a:pPr marL="299085" indent="-286385">
              <a:lnSpc>
                <a:spcPct val="100000"/>
              </a:lnSpc>
              <a:spcBef>
                <a:spcPts val="3145"/>
              </a:spcBef>
              <a:buFont typeface="Arial MT"/>
              <a:buChar char="•"/>
              <a:tabLst>
                <a:tab pos="299085" algn="l"/>
              </a:tabLst>
            </a:pPr>
            <a:r>
              <a:rPr sz="2800" spc="-30" dirty="0">
                <a:latin typeface="SimSun"/>
                <a:cs typeface="SimSun"/>
              </a:rPr>
              <a:t>模块角度：党、哲学等</a:t>
            </a:r>
            <a:endParaRPr sz="2800" dirty="0">
              <a:latin typeface="SimSun"/>
              <a:cs typeface="SimSu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2459" y="211912"/>
            <a:ext cx="2471420" cy="757555"/>
          </a:xfrm>
          <a:prstGeom prst="rect">
            <a:avLst/>
          </a:prstGeom>
        </p:spPr>
        <p:txBody>
          <a:bodyPr vert="horz" wrap="square" lIns="0" tIns="12700" rIns="0" bIns="0" rtlCol="0">
            <a:spAutoFit/>
          </a:bodyPr>
          <a:lstStyle/>
          <a:p>
            <a:pPr marL="12700">
              <a:lnSpc>
                <a:spcPct val="100000"/>
              </a:lnSpc>
              <a:spcBef>
                <a:spcPts val="100"/>
              </a:spcBef>
            </a:pPr>
            <a:r>
              <a:rPr sz="4800" spc="-15" dirty="0">
                <a:solidFill>
                  <a:srgbClr val="C55A11"/>
                </a:solidFill>
                <a:latin typeface="SimSun"/>
                <a:cs typeface="SimSun"/>
              </a:rPr>
              <a:t>复习建议</a:t>
            </a:r>
            <a:endParaRPr sz="4800">
              <a:latin typeface="SimSun"/>
              <a:cs typeface="SimSun"/>
            </a:endParaRPr>
          </a:p>
        </p:txBody>
      </p:sp>
      <p:sp>
        <p:nvSpPr>
          <p:cNvPr id="3" name="object 3"/>
          <p:cNvSpPr txBox="1"/>
          <p:nvPr/>
        </p:nvSpPr>
        <p:spPr>
          <a:xfrm>
            <a:off x="2828289" y="1308608"/>
            <a:ext cx="8281034" cy="4964430"/>
          </a:xfrm>
          <a:prstGeom prst="rect">
            <a:avLst/>
          </a:prstGeom>
        </p:spPr>
        <p:txBody>
          <a:bodyPr vert="horz" wrap="square" lIns="0" tIns="12700" rIns="0" bIns="0" rtlCol="0">
            <a:spAutoFit/>
          </a:bodyPr>
          <a:lstStyle/>
          <a:p>
            <a:pPr marL="469265" indent="-456565">
              <a:lnSpc>
                <a:spcPct val="100000"/>
              </a:lnSpc>
              <a:spcBef>
                <a:spcPts val="100"/>
              </a:spcBef>
              <a:buFont typeface="Arial MT"/>
              <a:buChar char="•"/>
              <a:tabLst>
                <a:tab pos="469265" algn="l"/>
              </a:tabLst>
            </a:pPr>
            <a:r>
              <a:rPr sz="3600" spc="-5" dirty="0">
                <a:latin typeface="SimSun"/>
                <a:cs typeface="SimSun"/>
              </a:rPr>
              <a:t>准确表达学科专业知识</a:t>
            </a:r>
            <a:endParaRPr sz="3600">
              <a:latin typeface="SimSun"/>
              <a:cs typeface="SimSun"/>
            </a:endParaRPr>
          </a:p>
          <a:p>
            <a:pPr marL="469265" indent="-456565">
              <a:lnSpc>
                <a:spcPct val="100000"/>
              </a:lnSpc>
              <a:spcBef>
                <a:spcPts val="4320"/>
              </a:spcBef>
              <a:buFont typeface="Arial MT"/>
              <a:buChar char="•"/>
              <a:tabLst>
                <a:tab pos="469265" algn="l"/>
              </a:tabLst>
            </a:pPr>
            <a:r>
              <a:rPr sz="3600" spc="-5" dirty="0">
                <a:latin typeface="SimSun"/>
                <a:cs typeface="SimSun"/>
              </a:rPr>
              <a:t>指导学生对法条或事件背后意义的思考</a:t>
            </a:r>
            <a:endParaRPr sz="3600">
              <a:latin typeface="SimSun"/>
              <a:cs typeface="SimSun"/>
            </a:endParaRPr>
          </a:p>
          <a:p>
            <a:pPr marL="469265" indent="-456565">
              <a:lnSpc>
                <a:spcPct val="100000"/>
              </a:lnSpc>
              <a:spcBef>
                <a:spcPts val="4320"/>
              </a:spcBef>
              <a:buFont typeface="Arial MT"/>
              <a:buChar char="•"/>
              <a:tabLst>
                <a:tab pos="469265" algn="l"/>
              </a:tabLst>
            </a:pPr>
            <a:r>
              <a:rPr sz="3600" spc="-5" dirty="0">
                <a:latin typeface="SimSun"/>
                <a:cs typeface="SimSun"/>
              </a:rPr>
              <a:t>引导学生对问题进行多角度分析</a:t>
            </a:r>
            <a:endParaRPr sz="3600">
              <a:latin typeface="SimSun"/>
              <a:cs typeface="SimSun"/>
            </a:endParaRPr>
          </a:p>
          <a:p>
            <a:pPr marL="469265" indent="-456565">
              <a:lnSpc>
                <a:spcPct val="100000"/>
              </a:lnSpc>
              <a:spcBef>
                <a:spcPts val="4325"/>
              </a:spcBef>
              <a:buFont typeface="Arial MT"/>
              <a:buChar char="•"/>
              <a:tabLst>
                <a:tab pos="469265" algn="l"/>
              </a:tabLst>
            </a:pPr>
            <a:r>
              <a:rPr sz="3600" spc="-10" dirty="0">
                <a:latin typeface="SimSun"/>
                <a:cs typeface="SimSun"/>
              </a:rPr>
              <a:t>答案条理化、要点化</a:t>
            </a:r>
            <a:endParaRPr sz="3600">
              <a:latin typeface="SimSun"/>
              <a:cs typeface="SimSun"/>
            </a:endParaRPr>
          </a:p>
          <a:p>
            <a:pPr marL="469265" indent="-456565">
              <a:lnSpc>
                <a:spcPct val="100000"/>
              </a:lnSpc>
              <a:spcBef>
                <a:spcPts val="4320"/>
              </a:spcBef>
              <a:buFont typeface="Arial MT"/>
              <a:buChar char="•"/>
              <a:tabLst>
                <a:tab pos="469265" algn="l"/>
              </a:tabLst>
            </a:pPr>
            <a:r>
              <a:rPr sz="3600" spc="-10" dirty="0">
                <a:latin typeface="SimSun"/>
                <a:cs typeface="SimSun"/>
              </a:rPr>
              <a:t>杜绝堆砌理论</a:t>
            </a:r>
            <a:endParaRPr sz="3600">
              <a:latin typeface="SimSun"/>
              <a:cs typeface="SimSu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88950" y="351790"/>
            <a:ext cx="920115" cy="460375"/>
          </a:xfrm>
          <a:prstGeom prst="rect">
            <a:avLst/>
          </a:prstGeom>
          <a:ln w="25400">
            <a:solidFill>
              <a:srgbClr val="5B9BD4"/>
            </a:solidFill>
          </a:ln>
        </p:spPr>
        <p:txBody>
          <a:bodyPr vert="horz" wrap="square" lIns="0" tIns="31750" rIns="0" bIns="0" rtlCol="0">
            <a:spAutoFit/>
          </a:bodyPr>
          <a:lstStyle/>
          <a:p>
            <a:pPr marL="90805">
              <a:lnSpc>
                <a:spcPct val="100000"/>
              </a:lnSpc>
              <a:spcBef>
                <a:spcPts val="250"/>
              </a:spcBef>
            </a:pPr>
            <a:r>
              <a:rPr sz="2400" spc="-10" dirty="0">
                <a:latin typeface="Calibri"/>
                <a:cs typeface="Calibri"/>
              </a:rPr>
              <a:t>20</a:t>
            </a:r>
            <a:r>
              <a:rPr sz="2400" spc="-50" dirty="0">
                <a:latin typeface="SimSun"/>
                <a:cs typeface="SimSun"/>
              </a:rPr>
              <a:t>题</a:t>
            </a:r>
            <a:endParaRPr sz="2400">
              <a:latin typeface="SimSun"/>
              <a:cs typeface="SimSun"/>
            </a:endParaRPr>
          </a:p>
        </p:txBody>
      </p:sp>
      <p:pic>
        <p:nvPicPr>
          <p:cNvPr id="3" name="object 3"/>
          <p:cNvPicPr/>
          <p:nvPr/>
        </p:nvPicPr>
        <p:blipFill>
          <a:blip r:embed="rId2" cstate="print"/>
          <a:stretch>
            <a:fillRect/>
          </a:stretch>
        </p:blipFill>
        <p:spPr>
          <a:xfrm>
            <a:off x="1524000" y="152400"/>
            <a:ext cx="9829800" cy="5232959"/>
          </a:xfrm>
          <a:prstGeom prst="rect">
            <a:avLst/>
          </a:prstGeom>
        </p:spPr>
      </p:pic>
      <p:pic>
        <p:nvPicPr>
          <p:cNvPr id="4" name="图片 3"/>
          <p:cNvPicPr>
            <a:picLocks noChangeAspect="1"/>
          </p:cNvPicPr>
          <p:nvPr/>
        </p:nvPicPr>
        <p:blipFill>
          <a:blip r:embed="rId3"/>
          <a:stretch>
            <a:fillRect/>
          </a:stretch>
        </p:blipFill>
        <p:spPr>
          <a:xfrm>
            <a:off x="1828800" y="5385359"/>
            <a:ext cx="10033000" cy="1485900"/>
          </a:xfrm>
          <a:prstGeom prst="rect">
            <a:avLst/>
          </a:prstGeom>
        </p:spPr>
      </p:pic>
      <p:sp>
        <p:nvSpPr>
          <p:cNvPr id="5" name="文本框 4"/>
          <p:cNvSpPr txBox="1"/>
          <p:nvPr/>
        </p:nvSpPr>
        <p:spPr>
          <a:xfrm>
            <a:off x="944630" y="166478"/>
            <a:ext cx="11277187" cy="1200329"/>
          </a:xfrm>
          <a:prstGeom prst="rect">
            <a:avLst/>
          </a:prstGeom>
          <a:solidFill>
            <a:srgbClr val="FFFF00"/>
          </a:solidFill>
        </p:spPr>
        <p:txBody>
          <a:bodyPr wrap="square" rtlCol="0">
            <a:spAutoFit/>
          </a:bodyPr>
          <a:lstStyle/>
          <a:p>
            <a:r>
              <a:rPr lang="zh-CN" altLang="en-US" sz="2400" b="1" dirty="0"/>
              <a:t>“最严格的无过错责任”立法精神：环境保护，食品安全，药品管理等领域，旨在强化某一领域管理，提高违法成本，确保公共利益的法律条款，保护人民的生命健康和财产安全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728548"/>
            <a:ext cx="1654810" cy="514350"/>
          </a:xfrm>
          <a:prstGeom prst="rect">
            <a:avLst/>
          </a:prstGeom>
        </p:spPr>
        <p:txBody>
          <a:bodyPr vert="horz" wrap="square" lIns="0" tIns="13335" rIns="0" bIns="0" rtlCol="0">
            <a:spAutoFit/>
          </a:bodyPr>
          <a:lstStyle/>
          <a:p>
            <a:pPr marL="12700">
              <a:lnSpc>
                <a:spcPct val="100000"/>
              </a:lnSpc>
              <a:spcBef>
                <a:spcPts val="105"/>
              </a:spcBef>
            </a:pPr>
            <a:r>
              <a:rPr sz="3200" spc="-15" dirty="0">
                <a:latin typeface="SimSun"/>
                <a:cs typeface="SimSun"/>
              </a:rPr>
              <a:t>参考答案</a:t>
            </a:r>
            <a:endParaRPr sz="3200">
              <a:latin typeface="SimSun"/>
              <a:cs typeface="SimSun"/>
            </a:endParaRPr>
          </a:p>
        </p:txBody>
      </p:sp>
      <p:sp>
        <p:nvSpPr>
          <p:cNvPr id="3" name="object 3"/>
          <p:cNvSpPr txBox="1"/>
          <p:nvPr/>
        </p:nvSpPr>
        <p:spPr>
          <a:xfrm>
            <a:off x="3648202" y="780364"/>
            <a:ext cx="5173980" cy="452120"/>
          </a:xfrm>
          <a:prstGeom prst="rect">
            <a:avLst/>
          </a:prstGeom>
        </p:spPr>
        <p:txBody>
          <a:bodyPr vert="horz" wrap="square" lIns="0" tIns="12065" rIns="0" bIns="0" rtlCol="0">
            <a:spAutoFit/>
          </a:bodyPr>
          <a:lstStyle/>
          <a:p>
            <a:pPr marL="12700">
              <a:lnSpc>
                <a:spcPct val="100000"/>
              </a:lnSpc>
              <a:spcBef>
                <a:spcPts val="95"/>
              </a:spcBef>
            </a:pPr>
            <a:r>
              <a:rPr sz="2800" spc="-40" dirty="0">
                <a:latin typeface="SimSun"/>
                <a:cs typeface="SimSun"/>
              </a:rPr>
              <a:t>权利义务</a:t>
            </a:r>
            <a:r>
              <a:rPr sz="2800" spc="-25" dirty="0">
                <a:latin typeface="Calibri Light"/>
                <a:cs typeface="Calibri Light"/>
              </a:rPr>
              <a:t>+</a:t>
            </a:r>
            <a:r>
              <a:rPr sz="2800" spc="-40" dirty="0">
                <a:latin typeface="SimSun"/>
                <a:cs typeface="SimSun"/>
              </a:rPr>
              <a:t>利益考量（责权分配</a:t>
            </a:r>
            <a:r>
              <a:rPr sz="2800" spc="-50" dirty="0">
                <a:latin typeface="SimSun"/>
                <a:cs typeface="SimSun"/>
              </a:rPr>
              <a:t>）</a:t>
            </a:r>
            <a:endParaRPr sz="2800">
              <a:latin typeface="SimSun"/>
              <a:cs typeface="SimSun"/>
            </a:endParaRPr>
          </a:p>
        </p:txBody>
      </p:sp>
      <p:sp>
        <p:nvSpPr>
          <p:cNvPr id="4" name="object 4"/>
          <p:cNvSpPr/>
          <p:nvPr/>
        </p:nvSpPr>
        <p:spPr>
          <a:xfrm>
            <a:off x="1463039" y="1569974"/>
            <a:ext cx="9753600" cy="304800"/>
          </a:xfrm>
          <a:custGeom>
            <a:avLst/>
            <a:gdLst/>
            <a:ahLst/>
            <a:cxnLst/>
            <a:rect l="l" t="t" r="r" b="b"/>
            <a:pathLst>
              <a:path w="9753600" h="304800">
                <a:moveTo>
                  <a:pt x="9753600" y="0"/>
                </a:moveTo>
                <a:lnTo>
                  <a:pt x="0" y="0"/>
                </a:lnTo>
                <a:lnTo>
                  <a:pt x="0" y="304800"/>
                </a:lnTo>
                <a:lnTo>
                  <a:pt x="9753600" y="304800"/>
                </a:lnTo>
                <a:lnTo>
                  <a:pt x="9753600" y="0"/>
                </a:lnTo>
                <a:close/>
              </a:path>
            </a:pathLst>
          </a:custGeom>
          <a:solidFill>
            <a:srgbClr val="FFFF00"/>
          </a:solidFill>
        </p:spPr>
        <p:txBody>
          <a:bodyPr wrap="square" lIns="0" tIns="0" rIns="0" bIns="0" rtlCol="0"/>
          <a:lstStyle/>
          <a:p>
            <a:endParaRPr/>
          </a:p>
        </p:txBody>
      </p:sp>
      <p:grpSp>
        <p:nvGrpSpPr>
          <p:cNvPr id="5" name="object 5"/>
          <p:cNvGrpSpPr/>
          <p:nvPr/>
        </p:nvGrpSpPr>
        <p:grpSpPr>
          <a:xfrm>
            <a:off x="1158239" y="2082038"/>
            <a:ext cx="10058400" cy="304800"/>
            <a:chOff x="1158239" y="2082038"/>
            <a:chExt cx="10058400" cy="304800"/>
          </a:xfrm>
        </p:grpSpPr>
        <p:sp>
          <p:nvSpPr>
            <p:cNvPr id="6" name="object 6"/>
            <p:cNvSpPr/>
            <p:nvPr/>
          </p:nvSpPr>
          <p:spPr>
            <a:xfrm>
              <a:off x="1158239" y="2082038"/>
              <a:ext cx="5486400" cy="304800"/>
            </a:xfrm>
            <a:custGeom>
              <a:avLst/>
              <a:gdLst/>
              <a:ahLst/>
              <a:cxnLst/>
              <a:rect l="l" t="t" r="r" b="b"/>
              <a:pathLst>
                <a:path w="5486400" h="304800">
                  <a:moveTo>
                    <a:pt x="5486400" y="0"/>
                  </a:moveTo>
                  <a:lnTo>
                    <a:pt x="0" y="0"/>
                  </a:lnTo>
                  <a:lnTo>
                    <a:pt x="0" y="304800"/>
                  </a:lnTo>
                  <a:lnTo>
                    <a:pt x="5486400" y="304800"/>
                  </a:lnTo>
                  <a:lnTo>
                    <a:pt x="5486400" y="0"/>
                  </a:lnTo>
                  <a:close/>
                </a:path>
              </a:pathLst>
            </a:custGeom>
            <a:solidFill>
              <a:srgbClr val="FFFF00"/>
            </a:solidFill>
          </p:spPr>
          <p:txBody>
            <a:bodyPr wrap="square" lIns="0" tIns="0" rIns="0" bIns="0" rtlCol="0"/>
            <a:lstStyle/>
            <a:p>
              <a:endParaRPr/>
            </a:p>
          </p:txBody>
        </p:sp>
        <p:sp>
          <p:nvSpPr>
            <p:cNvPr id="7" name="object 7"/>
            <p:cNvSpPr/>
            <p:nvPr/>
          </p:nvSpPr>
          <p:spPr>
            <a:xfrm>
              <a:off x="6644639" y="2082038"/>
              <a:ext cx="4572000" cy="304800"/>
            </a:xfrm>
            <a:custGeom>
              <a:avLst/>
              <a:gdLst/>
              <a:ahLst/>
              <a:cxnLst/>
              <a:rect l="l" t="t" r="r" b="b"/>
              <a:pathLst>
                <a:path w="4572000" h="304800">
                  <a:moveTo>
                    <a:pt x="4572000" y="0"/>
                  </a:moveTo>
                  <a:lnTo>
                    <a:pt x="0" y="0"/>
                  </a:lnTo>
                  <a:lnTo>
                    <a:pt x="0" y="304800"/>
                  </a:lnTo>
                  <a:lnTo>
                    <a:pt x="4572000" y="304800"/>
                  </a:lnTo>
                  <a:lnTo>
                    <a:pt x="4572000" y="0"/>
                  </a:lnTo>
                  <a:close/>
                </a:path>
              </a:pathLst>
            </a:custGeom>
            <a:solidFill>
              <a:srgbClr val="00FF00"/>
            </a:solidFill>
          </p:spPr>
          <p:txBody>
            <a:bodyPr wrap="square" lIns="0" tIns="0" rIns="0" bIns="0" rtlCol="0"/>
            <a:lstStyle/>
            <a:p>
              <a:endParaRPr/>
            </a:p>
          </p:txBody>
        </p:sp>
      </p:grpSp>
      <p:sp>
        <p:nvSpPr>
          <p:cNvPr id="8" name="object 8"/>
          <p:cNvSpPr/>
          <p:nvPr/>
        </p:nvSpPr>
        <p:spPr>
          <a:xfrm>
            <a:off x="1463039" y="3744721"/>
            <a:ext cx="9753600" cy="304800"/>
          </a:xfrm>
          <a:custGeom>
            <a:avLst/>
            <a:gdLst/>
            <a:ahLst/>
            <a:cxnLst/>
            <a:rect l="l" t="t" r="r" b="b"/>
            <a:pathLst>
              <a:path w="9753600" h="304800">
                <a:moveTo>
                  <a:pt x="9753600" y="0"/>
                </a:moveTo>
                <a:lnTo>
                  <a:pt x="0" y="0"/>
                </a:lnTo>
                <a:lnTo>
                  <a:pt x="0" y="304800"/>
                </a:lnTo>
                <a:lnTo>
                  <a:pt x="9753600" y="304800"/>
                </a:lnTo>
                <a:lnTo>
                  <a:pt x="9753600" y="0"/>
                </a:lnTo>
                <a:close/>
              </a:path>
            </a:pathLst>
          </a:custGeom>
          <a:solidFill>
            <a:srgbClr val="FFFF00"/>
          </a:solidFill>
        </p:spPr>
        <p:txBody>
          <a:bodyPr wrap="square" lIns="0" tIns="0" rIns="0" bIns="0" rtlCol="0"/>
          <a:lstStyle/>
          <a:p>
            <a:endParaRPr/>
          </a:p>
        </p:txBody>
      </p:sp>
      <p:grpSp>
        <p:nvGrpSpPr>
          <p:cNvPr id="9" name="object 9"/>
          <p:cNvGrpSpPr/>
          <p:nvPr/>
        </p:nvGrpSpPr>
        <p:grpSpPr>
          <a:xfrm>
            <a:off x="1158239" y="4256785"/>
            <a:ext cx="10058400" cy="304800"/>
            <a:chOff x="1158239" y="4256785"/>
            <a:chExt cx="10058400" cy="304800"/>
          </a:xfrm>
        </p:grpSpPr>
        <p:sp>
          <p:nvSpPr>
            <p:cNvPr id="10" name="object 10"/>
            <p:cNvSpPr/>
            <p:nvPr/>
          </p:nvSpPr>
          <p:spPr>
            <a:xfrm>
              <a:off x="1158239" y="4256785"/>
              <a:ext cx="7315200" cy="304800"/>
            </a:xfrm>
            <a:custGeom>
              <a:avLst/>
              <a:gdLst/>
              <a:ahLst/>
              <a:cxnLst/>
              <a:rect l="l" t="t" r="r" b="b"/>
              <a:pathLst>
                <a:path w="7315200" h="304800">
                  <a:moveTo>
                    <a:pt x="7315200" y="0"/>
                  </a:moveTo>
                  <a:lnTo>
                    <a:pt x="0" y="0"/>
                  </a:lnTo>
                  <a:lnTo>
                    <a:pt x="0" y="304800"/>
                  </a:lnTo>
                  <a:lnTo>
                    <a:pt x="7315200" y="304800"/>
                  </a:lnTo>
                  <a:lnTo>
                    <a:pt x="7315200" y="0"/>
                  </a:lnTo>
                  <a:close/>
                </a:path>
              </a:pathLst>
            </a:custGeom>
            <a:solidFill>
              <a:srgbClr val="FFFF00"/>
            </a:solidFill>
          </p:spPr>
          <p:txBody>
            <a:bodyPr wrap="square" lIns="0" tIns="0" rIns="0" bIns="0" rtlCol="0"/>
            <a:lstStyle/>
            <a:p>
              <a:endParaRPr/>
            </a:p>
          </p:txBody>
        </p:sp>
        <p:sp>
          <p:nvSpPr>
            <p:cNvPr id="11" name="object 11"/>
            <p:cNvSpPr/>
            <p:nvPr/>
          </p:nvSpPr>
          <p:spPr>
            <a:xfrm>
              <a:off x="8473439" y="4256785"/>
              <a:ext cx="2743200" cy="304800"/>
            </a:xfrm>
            <a:custGeom>
              <a:avLst/>
              <a:gdLst/>
              <a:ahLst/>
              <a:cxnLst/>
              <a:rect l="l" t="t" r="r" b="b"/>
              <a:pathLst>
                <a:path w="2743200" h="304800">
                  <a:moveTo>
                    <a:pt x="2743200" y="0"/>
                  </a:moveTo>
                  <a:lnTo>
                    <a:pt x="0" y="0"/>
                  </a:lnTo>
                  <a:lnTo>
                    <a:pt x="0" y="304800"/>
                  </a:lnTo>
                  <a:lnTo>
                    <a:pt x="2743200" y="304800"/>
                  </a:lnTo>
                  <a:lnTo>
                    <a:pt x="2743200" y="0"/>
                  </a:lnTo>
                  <a:close/>
                </a:path>
              </a:pathLst>
            </a:custGeom>
            <a:solidFill>
              <a:srgbClr val="00FF00"/>
            </a:solidFill>
          </p:spPr>
          <p:txBody>
            <a:bodyPr wrap="square" lIns="0" tIns="0" rIns="0" bIns="0" rtlCol="0"/>
            <a:lstStyle/>
            <a:p>
              <a:endParaRPr/>
            </a:p>
          </p:txBody>
        </p:sp>
      </p:grpSp>
      <p:sp>
        <p:nvSpPr>
          <p:cNvPr id="12" name="object 12"/>
          <p:cNvSpPr txBox="1"/>
          <p:nvPr/>
        </p:nvSpPr>
        <p:spPr>
          <a:xfrm>
            <a:off x="1158239" y="2594101"/>
            <a:ext cx="10083800" cy="304800"/>
          </a:xfrm>
          <a:prstGeom prst="rect">
            <a:avLst/>
          </a:prstGeom>
          <a:solidFill>
            <a:srgbClr val="00FF00"/>
          </a:solidFill>
        </p:spPr>
        <p:txBody>
          <a:bodyPr vert="horz" wrap="square" lIns="0" tIns="0" rIns="0" bIns="0" rtlCol="0">
            <a:spAutoFit/>
          </a:bodyPr>
          <a:lstStyle/>
          <a:p>
            <a:pPr>
              <a:lnSpc>
                <a:spcPts val="2400"/>
              </a:lnSpc>
            </a:pPr>
            <a:r>
              <a:rPr sz="2400" spc="-5" dirty="0">
                <a:latin typeface="SimSun"/>
                <a:cs typeface="SimSun"/>
              </a:rPr>
              <a:t>释，明确缺陷产品造成的产品自身损害属于产品责任赔偿范围，切实维护消</a:t>
            </a:r>
            <a:endParaRPr sz="2400">
              <a:latin typeface="SimSun"/>
              <a:cs typeface="SimSun"/>
            </a:endParaRPr>
          </a:p>
        </p:txBody>
      </p:sp>
      <p:sp>
        <p:nvSpPr>
          <p:cNvPr id="13" name="object 13"/>
          <p:cNvSpPr txBox="1"/>
          <p:nvPr/>
        </p:nvSpPr>
        <p:spPr>
          <a:xfrm>
            <a:off x="1158239" y="3106166"/>
            <a:ext cx="2146300" cy="304800"/>
          </a:xfrm>
          <a:prstGeom prst="rect">
            <a:avLst/>
          </a:prstGeom>
          <a:solidFill>
            <a:srgbClr val="00FF00"/>
          </a:solidFill>
        </p:spPr>
        <p:txBody>
          <a:bodyPr vert="horz" wrap="square" lIns="0" tIns="0" rIns="0" bIns="0" rtlCol="0">
            <a:spAutoFit/>
          </a:bodyPr>
          <a:lstStyle/>
          <a:p>
            <a:pPr>
              <a:lnSpc>
                <a:spcPts val="2400"/>
              </a:lnSpc>
            </a:pPr>
            <a:r>
              <a:rPr sz="2400" spc="-10" dirty="0">
                <a:latin typeface="SimSun"/>
                <a:cs typeface="SimSun"/>
              </a:rPr>
              <a:t>费者合法权益。</a:t>
            </a:r>
            <a:endParaRPr sz="2400">
              <a:latin typeface="SimSun"/>
              <a:cs typeface="SimSun"/>
            </a:endParaRPr>
          </a:p>
        </p:txBody>
      </p:sp>
      <p:sp>
        <p:nvSpPr>
          <p:cNvPr id="14" name="object 14"/>
          <p:cNvSpPr txBox="1"/>
          <p:nvPr/>
        </p:nvSpPr>
        <p:spPr>
          <a:xfrm>
            <a:off x="838200" y="1393126"/>
            <a:ext cx="10515600" cy="4351655"/>
          </a:xfrm>
          <a:prstGeom prst="rect">
            <a:avLst/>
          </a:prstGeom>
          <a:ln w="28575">
            <a:solidFill>
              <a:srgbClr val="2D75B6"/>
            </a:solidFill>
          </a:ln>
        </p:spPr>
        <p:txBody>
          <a:bodyPr vert="horz" wrap="square" lIns="0" tIns="20320" rIns="0" bIns="0" rtlCol="0">
            <a:spAutoFit/>
          </a:bodyPr>
          <a:lstStyle/>
          <a:p>
            <a:pPr marL="318770" marR="128270" indent="-227329">
              <a:lnSpc>
                <a:spcPts val="4029"/>
              </a:lnSpc>
              <a:spcBef>
                <a:spcPts val="160"/>
              </a:spcBef>
              <a:buFont typeface="Arial MT"/>
              <a:buChar char="•"/>
              <a:tabLst>
                <a:tab pos="320040" algn="l"/>
              </a:tabLst>
            </a:pPr>
            <a:r>
              <a:rPr sz="2400" spc="-5" dirty="0">
                <a:latin typeface="SimSun"/>
                <a:cs typeface="SimSun"/>
              </a:rPr>
              <a:t>①生产者产品责任是无过错侵权责任，行为人只要损害了他人的民事权益，	</a:t>
            </a:r>
            <a:r>
              <a:rPr sz="2400" spc="-10" dirty="0">
                <a:latin typeface="SimSun"/>
                <a:cs typeface="SimSun"/>
              </a:rPr>
              <a:t>不论其有无过错，均应当承担侵权责任。《解释》从保护消费者角度作出解</a:t>
            </a:r>
            <a:endParaRPr sz="2400">
              <a:latin typeface="SimSun"/>
              <a:cs typeface="SimSun"/>
            </a:endParaRPr>
          </a:p>
          <a:p>
            <a:pPr>
              <a:lnSpc>
                <a:spcPct val="100000"/>
              </a:lnSpc>
              <a:buFont typeface="Arial MT"/>
              <a:buChar char="•"/>
            </a:pPr>
            <a:endParaRPr sz="2400">
              <a:latin typeface="SimSun"/>
              <a:cs typeface="SimSun"/>
            </a:endParaRPr>
          </a:p>
          <a:p>
            <a:pPr>
              <a:lnSpc>
                <a:spcPct val="100000"/>
              </a:lnSpc>
              <a:spcBef>
                <a:spcPts val="2590"/>
              </a:spcBef>
              <a:buFont typeface="Arial MT"/>
              <a:buChar char="•"/>
            </a:pPr>
            <a:endParaRPr sz="2400">
              <a:latin typeface="SimSun"/>
              <a:cs typeface="SimSun"/>
            </a:endParaRPr>
          </a:p>
          <a:p>
            <a:pPr marL="318770" marR="125730" indent="-227329">
              <a:lnSpc>
                <a:spcPct val="140000"/>
              </a:lnSpc>
              <a:spcBef>
                <a:spcPts val="5"/>
              </a:spcBef>
              <a:buFont typeface="Arial MT"/>
              <a:buChar char="•"/>
              <a:tabLst>
                <a:tab pos="320040" algn="l"/>
              </a:tabLst>
            </a:pPr>
            <a:r>
              <a:rPr sz="2400" spc="-5" dirty="0">
                <a:latin typeface="SimSun"/>
                <a:cs typeface="SimSun"/>
              </a:rPr>
              <a:t>②禁止饲养的烈性犬等危险动物造成他人损害的，动物饲养人或者管理人应	</a:t>
            </a:r>
            <a:r>
              <a:rPr sz="2400" spc="-10" dirty="0">
                <a:latin typeface="SimSun"/>
                <a:cs typeface="SimSun"/>
              </a:rPr>
              <a:t>承担无过错侵权责任，没有任何免责事由和减责事由。《解释》阐明民法典</a:t>
            </a:r>
            <a:endParaRPr sz="2400">
              <a:latin typeface="SimSun"/>
              <a:cs typeface="SimSun"/>
            </a:endParaRPr>
          </a:p>
        </p:txBody>
      </p:sp>
      <p:sp>
        <p:nvSpPr>
          <p:cNvPr id="15" name="object 15"/>
          <p:cNvSpPr txBox="1"/>
          <p:nvPr/>
        </p:nvSpPr>
        <p:spPr>
          <a:xfrm>
            <a:off x="1158239" y="4768850"/>
            <a:ext cx="10071100" cy="304800"/>
          </a:xfrm>
          <a:prstGeom prst="rect">
            <a:avLst/>
          </a:prstGeom>
          <a:solidFill>
            <a:srgbClr val="00FF00"/>
          </a:solidFill>
        </p:spPr>
        <p:txBody>
          <a:bodyPr vert="horz" wrap="square" lIns="0" tIns="0" rIns="0" bIns="0" rtlCol="0">
            <a:spAutoFit/>
          </a:bodyPr>
          <a:lstStyle/>
          <a:p>
            <a:pPr>
              <a:lnSpc>
                <a:spcPts val="2400"/>
              </a:lnSpc>
            </a:pPr>
            <a:r>
              <a:rPr sz="2400" spc="-5" dirty="0">
                <a:latin typeface="SimSun"/>
                <a:cs typeface="SimSun"/>
              </a:rPr>
              <a:t>“最严格的无过错责任”立法精神，强化动物饲养人、管理人责任意识，维</a:t>
            </a:r>
            <a:endParaRPr sz="2400" dirty="0">
              <a:latin typeface="SimSun"/>
              <a:cs typeface="SimSun"/>
            </a:endParaRPr>
          </a:p>
        </p:txBody>
      </p:sp>
      <p:sp>
        <p:nvSpPr>
          <p:cNvPr id="16" name="object 16"/>
          <p:cNvSpPr txBox="1"/>
          <p:nvPr/>
        </p:nvSpPr>
        <p:spPr>
          <a:xfrm>
            <a:off x="1158239" y="5280914"/>
            <a:ext cx="7023100" cy="304800"/>
          </a:xfrm>
          <a:prstGeom prst="rect">
            <a:avLst/>
          </a:prstGeom>
          <a:solidFill>
            <a:srgbClr val="00FF00"/>
          </a:solidFill>
        </p:spPr>
        <p:txBody>
          <a:bodyPr vert="horz" wrap="square" lIns="0" tIns="0" rIns="0" bIns="0" rtlCol="0">
            <a:spAutoFit/>
          </a:bodyPr>
          <a:lstStyle/>
          <a:p>
            <a:pPr>
              <a:lnSpc>
                <a:spcPts val="2400"/>
              </a:lnSpc>
            </a:pPr>
            <a:r>
              <a:rPr sz="2400" spc="-5" dirty="0">
                <a:latin typeface="SimSun"/>
                <a:cs typeface="SimSun"/>
              </a:rPr>
              <a:t>护动物饲养管理秩序，保障人民群众生命财产安全。</a:t>
            </a:r>
            <a:endParaRPr sz="2400">
              <a:latin typeface="SimSun"/>
              <a:cs typeface="SimSu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88950" y="832485"/>
            <a:ext cx="11074400" cy="5631180"/>
          </a:xfrm>
          <a:custGeom>
            <a:avLst/>
            <a:gdLst/>
            <a:ahLst/>
            <a:cxnLst/>
            <a:rect l="l" t="t" r="r" b="b"/>
            <a:pathLst>
              <a:path w="11074400" h="5631180">
                <a:moveTo>
                  <a:pt x="0" y="5631180"/>
                </a:moveTo>
                <a:lnTo>
                  <a:pt x="11074400" y="5631180"/>
                </a:lnTo>
                <a:lnTo>
                  <a:pt x="11074400" y="0"/>
                </a:lnTo>
                <a:lnTo>
                  <a:pt x="0" y="0"/>
                </a:lnTo>
                <a:lnTo>
                  <a:pt x="0" y="5631180"/>
                </a:lnTo>
                <a:close/>
              </a:path>
            </a:pathLst>
          </a:custGeom>
          <a:ln w="9525">
            <a:solidFill>
              <a:srgbClr val="5B9BD4"/>
            </a:solidFill>
          </a:ln>
        </p:spPr>
        <p:txBody>
          <a:bodyPr wrap="square" lIns="0" tIns="0" rIns="0" bIns="0" rtlCol="0"/>
          <a:lstStyle/>
          <a:p>
            <a:endParaRPr/>
          </a:p>
        </p:txBody>
      </p:sp>
      <p:sp>
        <p:nvSpPr>
          <p:cNvPr id="3" name="object 3"/>
          <p:cNvSpPr txBox="1"/>
          <p:nvPr/>
        </p:nvSpPr>
        <p:spPr>
          <a:xfrm>
            <a:off x="567639" y="789305"/>
            <a:ext cx="9322435" cy="5513705"/>
          </a:xfrm>
          <a:prstGeom prst="rect">
            <a:avLst/>
          </a:prstGeom>
        </p:spPr>
        <p:txBody>
          <a:bodyPr vert="horz" wrap="square" lIns="0" tIns="195580" rIns="0" bIns="0" rtlCol="0">
            <a:spAutoFit/>
          </a:bodyPr>
          <a:lstStyle/>
          <a:p>
            <a:pPr marL="12700">
              <a:lnSpc>
                <a:spcPct val="100000"/>
              </a:lnSpc>
              <a:spcBef>
                <a:spcPts val="1540"/>
              </a:spcBef>
            </a:pPr>
            <a:r>
              <a:rPr sz="2400" spc="-5" dirty="0">
                <a:latin typeface="SimSun"/>
                <a:cs typeface="SimSun"/>
              </a:rPr>
              <a:t>①法理部分：无过错侵权责任+法理解释</a:t>
            </a:r>
            <a:r>
              <a:rPr sz="2400" dirty="0">
                <a:latin typeface="SimSun"/>
                <a:cs typeface="SimSun"/>
              </a:rPr>
              <a:t>（2分</a:t>
            </a:r>
            <a:r>
              <a:rPr sz="2400" spc="-50" dirty="0">
                <a:latin typeface="SimSun"/>
                <a:cs typeface="SimSun"/>
              </a:rPr>
              <a:t>）</a:t>
            </a:r>
            <a:endParaRPr sz="2400">
              <a:latin typeface="SimSun"/>
              <a:cs typeface="SimSun"/>
            </a:endParaRPr>
          </a:p>
          <a:p>
            <a:pPr marL="317500" marR="613410" indent="1524000">
              <a:lnSpc>
                <a:spcPct val="150000"/>
              </a:lnSpc>
              <a:spcBef>
                <a:spcPts val="5"/>
              </a:spcBef>
            </a:pPr>
            <a:r>
              <a:rPr sz="2400" dirty="0">
                <a:latin typeface="SimSun"/>
                <a:cs typeface="SimSun"/>
              </a:rPr>
              <a:t>或：消费者权利（安全消费权）并展开解释（2分</a:t>
            </a:r>
            <a:r>
              <a:rPr sz="2400" spc="-50" dirty="0">
                <a:latin typeface="SimSun"/>
                <a:cs typeface="SimSun"/>
              </a:rPr>
              <a:t>）</a:t>
            </a:r>
            <a:r>
              <a:rPr sz="2400" dirty="0">
                <a:latin typeface="SimSun"/>
                <a:cs typeface="SimSun"/>
              </a:rPr>
              <a:t>意义部分：双方任何角度（1分</a:t>
            </a:r>
            <a:r>
              <a:rPr sz="2400" spc="-50" dirty="0">
                <a:latin typeface="SimSun"/>
                <a:cs typeface="SimSun"/>
              </a:rPr>
              <a:t>）</a:t>
            </a:r>
            <a:endParaRPr sz="2400">
              <a:latin typeface="SimSun"/>
              <a:cs typeface="SimSun"/>
            </a:endParaRPr>
          </a:p>
          <a:p>
            <a:pPr>
              <a:lnSpc>
                <a:spcPct val="100000"/>
              </a:lnSpc>
              <a:spcBef>
                <a:spcPts val="1245"/>
              </a:spcBef>
            </a:pPr>
            <a:endParaRPr sz="2400">
              <a:latin typeface="SimSun"/>
              <a:cs typeface="SimSun"/>
            </a:endParaRPr>
          </a:p>
          <a:p>
            <a:pPr marL="317500" marR="2900045" indent="-305435">
              <a:lnSpc>
                <a:spcPct val="150000"/>
              </a:lnSpc>
            </a:pPr>
            <a:r>
              <a:rPr sz="2400" dirty="0">
                <a:latin typeface="SimSun"/>
                <a:cs typeface="SimSun"/>
              </a:rPr>
              <a:t>②法理部分：无过错侵权责任+法理解释（2分</a:t>
            </a:r>
            <a:r>
              <a:rPr sz="2400" spc="-50" dirty="0">
                <a:latin typeface="SimSun"/>
                <a:cs typeface="SimSun"/>
              </a:rPr>
              <a:t>）</a:t>
            </a:r>
            <a:r>
              <a:rPr sz="2400" spc="-10" dirty="0">
                <a:latin typeface="SimSun"/>
                <a:cs typeface="SimSun"/>
              </a:rPr>
              <a:t>意义部分：双方任何角度（1分</a:t>
            </a:r>
            <a:r>
              <a:rPr sz="2400" spc="-50" dirty="0">
                <a:latin typeface="SimSun"/>
                <a:cs typeface="SimSun"/>
              </a:rPr>
              <a:t>）</a:t>
            </a:r>
            <a:endParaRPr sz="2400">
              <a:latin typeface="SimSun"/>
              <a:cs typeface="SimSun"/>
            </a:endParaRPr>
          </a:p>
          <a:p>
            <a:pPr>
              <a:lnSpc>
                <a:spcPct val="100000"/>
              </a:lnSpc>
              <a:spcBef>
                <a:spcPts val="2685"/>
              </a:spcBef>
            </a:pPr>
            <a:endParaRPr sz="2400">
              <a:latin typeface="SimSun"/>
              <a:cs typeface="SimSun"/>
            </a:endParaRPr>
          </a:p>
          <a:p>
            <a:pPr marL="12700">
              <a:lnSpc>
                <a:spcPct val="100000"/>
              </a:lnSpc>
              <a:spcBef>
                <a:spcPts val="5"/>
              </a:spcBef>
            </a:pPr>
            <a:r>
              <a:rPr sz="2400" spc="-5" dirty="0">
                <a:latin typeface="SimSun"/>
                <a:cs typeface="SimSun"/>
              </a:rPr>
              <a:t>③ 在法理解释正确的基础上，无过错出现一次，即可满分；</a:t>
            </a:r>
            <a:endParaRPr sz="2400">
              <a:latin typeface="SimSun"/>
              <a:cs typeface="SimSun"/>
            </a:endParaRPr>
          </a:p>
          <a:p>
            <a:pPr marL="469900">
              <a:lnSpc>
                <a:spcPct val="100000"/>
              </a:lnSpc>
              <a:spcBef>
                <a:spcPts val="1440"/>
              </a:spcBef>
            </a:pPr>
            <a:r>
              <a:rPr sz="2400" spc="-5" dirty="0">
                <a:latin typeface="SimSun"/>
                <a:cs typeface="SimSun"/>
              </a:rPr>
              <a:t>如果通篇没有无过错侵权，不能得满分，无过错不重复扣分；</a:t>
            </a:r>
            <a:endParaRPr sz="2400">
              <a:latin typeface="SimSun"/>
              <a:cs typeface="SimSun"/>
            </a:endParaRPr>
          </a:p>
          <a:p>
            <a:pPr marL="469900">
              <a:lnSpc>
                <a:spcPct val="100000"/>
              </a:lnSpc>
              <a:spcBef>
                <a:spcPts val="1440"/>
              </a:spcBef>
            </a:pPr>
            <a:r>
              <a:rPr sz="2400" spc="-5" dirty="0">
                <a:latin typeface="SimSun"/>
                <a:cs typeface="SimSun"/>
              </a:rPr>
              <a:t>法理用错了，主要是烈性犬案例用了过错推定，法理部分不给分；</a:t>
            </a:r>
            <a:endParaRPr sz="2400">
              <a:latin typeface="SimSun"/>
              <a:cs typeface="SimSun"/>
            </a:endParaRPr>
          </a:p>
        </p:txBody>
      </p:sp>
      <p:sp>
        <p:nvSpPr>
          <p:cNvPr id="4" name="object 4"/>
          <p:cNvSpPr txBox="1"/>
          <p:nvPr/>
        </p:nvSpPr>
        <p:spPr>
          <a:xfrm>
            <a:off x="488950" y="232409"/>
            <a:ext cx="1624965" cy="460375"/>
          </a:xfrm>
          <a:prstGeom prst="rect">
            <a:avLst/>
          </a:prstGeom>
          <a:ln w="25400">
            <a:solidFill>
              <a:srgbClr val="5B9BD4"/>
            </a:solidFill>
          </a:ln>
        </p:spPr>
        <p:txBody>
          <a:bodyPr vert="horz" wrap="square" lIns="0" tIns="31750" rIns="0" bIns="0" rtlCol="0">
            <a:spAutoFit/>
          </a:bodyPr>
          <a:lstStyle/>
          <a:p>
            <a:pPr marL="90805">
              <a:lnSpc>
                <a:spcPct val="100000"/>
              </a:lnSpc>
              <a:spcBef>
                <a:spcPts val="250"/>
              </a:spcBef>
            </a:pPr>
            <a:r>
              <a:rPr sz="2400" spc="-10" dirty="0">
                <a:latin typeface="SimSun"/>
                <a:cs typeface="SimSun"/>
              </a:rPr>
              <a:t>评分细则：</a:t>
            </a:r>
            <a:endParaRPr sz="2400">
              <a:latin typeface="SimSun"/>
              <a:cs typeface="SimSu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8950" y="299720"/>
            <a:ext cx="2854325" cy="460375"/>
          </a:xfrm>
          <a:prstGeom prst="rect">
            <a:avLst/>
          </a:prstGeom>
          <a:ln w="25400">
            <a:solidFill>
              <a:srgbClr val="5B9BD4"/>
            </a:solidFill>
          </a:ln>
        </p:spPr>
        <p:txBody>
          <a:bodyPr vert="horz" wrap="square" lIns="0" tIns="32384" rIns="0" bIns="0" rtlCol="0">
            <a:spAutoFit/>
          </a:bodyPr>
          <a:lstStyle/>
          <a:p>
            <a:pPr marL="90805">
              <a:lnSpc>
                <a:spcPct val="100000"/>
              </a:lnSpc>
              <a:spcBef>
                <a:spcPts val="254"/>
              </a:spcBef>
            </a:pPr>
            <a:r>
              <a:rPr sz="2400" spc="-10" dirty="0">
                <a:latin typeface="SimSun"/>
                <a:cs typeface="SimSun"/>
              </a:rPr>
              <a:t>暴露的问题及建议：</a:t>
            </a:r>
            <a:endParaRPr sz="2400">
              <a:latin typeface="SimSun"/>
              <a:cs typeface="SimSun"/>
            </a:endParaRPr>
          </a:p>
        </p:txBody>
      </p:sp>
      <p:sp>
        <p:nvSpPr>
          <p:cNvPr id="3" name="object 3"/>
          <p:cNvSpPr txBox="1"/>
          <p:nvPr/>
        </p:nvSpPr>
        <p:spPr>
          <a:xfrm>
            <a:off x="1217472" y="1669160"/>
            <a:ext cx="8433435" cy="3317875"/>
          </a:xfrm>
          <a:prstGeom prst="rect">
            <a:avLst/>
          </a:prstGeom>
        </p:spPr>
        <p:txBody>
          <a:bodyPr vert="horz" wrap="square" lIns="0" tIns="12700" rIns="0" bIns="0" rtlCol="0">
            <a:spAutoFit/>
          </a:bodyPr>
          <a:lstStyle/>
          <a:p>
            <a:pPr marL="12700">
              <a:lnSpc>
                <a:spcPct val="100000"/>
              </a:lnSpc>
              <a:spcBef>
                <a:spcPts val="100"/>
              </a:spcBef>
            </a:pPr>
            <a:r>
              <a:rPr sz="2400" spc="-20" dirty="0">
                <a:latin typeface="Microsoft YaHei"/>
                <a:cs typeface="Microsoft YaHei"/>
              </a:rPr>
              <a:t>1.</a:t>
            </a:r>
            <a:r>
              <a:rPr sz="2400" spc="-5" dirty="0">
                <a:latin typeface="Microsoft YaHei"/>
                <a:cs typeface="Microsoft YaHei"/>
              </a:rPr>
              <a:t>法律学科语言的准确运用与理解</a:t>
            </a:r>
            <a:endParaRPr sz="2400">
              <a:latin typeface="Microsoft YaHei"/>
              <a:cs typeface="Microsoft YaHei"/>
            </a:endParaRPr>
          </a:p>
          <a:p>
            <a:pPr marL="799465" indent="-786765">
              <a:lnSpc>
                <a:spcPct val="100000"/>
              </a:lnSpc>
              <a:spcBef>
                <a:spcPts val="2880"/>
              </a:spcBef>
              <a:buSzPct val="95833"/>
              <a:buAutoNum type="arabicPlain"/>
              <a:tabLst>
                <a:tab pos="799465" algn="l"/>
              </a:tabLst>
            </a:pPr>
            <a:r>
              <a:rPr sz="2400" spc="-10" dirty="0">
                <a:latin typeface="Microsoft YaHei"/>
                <a:cs typeface="Microsoft YaHei"/>
              </a:rPr>
              <a:t>归责原则：过错责任（一般过错责任、过错推定责任）</a:t>
            </a:r>
            <a:r>
              <a:rPr sz="2400" spc="-50" dirty="0">
                <a:latin typeface="Microsoft YaHei"/>
                <a:cs typeface="Microsoft YaHei"/>
              </a:rPr>
              <a:t>、</a:t>
            </a:r>
            <a:endParaRPr sz="2400">
              <a:latin typeface="Microsoft YaHei"/>
              <a:cs typeface="Microsoft YaHei"/>
            </a:endParaRPr>
          </a:p>
          <a:p>
            <a:pPr marL="2366010">
              <a:lnSpc>
                <a:spcPct val="100000"/>
              </a:lnSpc>
              <a:spcBef>
                <a:spcPts val="2880"/>
              </a:spcBef>
            </a:pPr>
            <a:r>
              <a:rPr sz="2400" spc="-10" dirty="0">
                <a:latin typeface="Microsoft YaHei"/>
                <a:cs typeface="Microsoft YaHei"/>
              </a:rPr>
              <a:t>无过错责任</a:t>
            </a:r>
            <a:endParaRPr sz="2400">
              <a:latin typeface="Microsoft YaHei"/>
              <a:cs typeface="Microsoft YaHei"/>
            </a:endParaRPr>
          </a:p>
          <a:p>
            <a:pPr marL="799465" indent="-786765">
              <a:lnSpc>
                <a:spcPct val="100000"/>
              </a:lnSpc>
              <a:spcBef>
                <a:spcPts val="2880"/>
              </a:spcBef>
              <a:buSzPct val="95833"/>
              <a:buAutoNum type="arabicPlain" startAt="2"/>
              <a:tabLst>
                <a:tab pos="799465" algn="l"/>
              </a:tabLst>
            </a:pPr>
            <a:r>
              <a:rPr sz="2400" spc="-15" dirty="0">
                <a:latin typeface="Microsoft YaHei"/>
                <a:cs typeface="Microsoft YaHei"/>
              </a:rPr>
              <a:t>民事责任、刑事责任</a:t>
            </a:r>
            <a:endParaRPr sz="2400">
              <a:latin typeface="Microsoft YaHei"/>
              <a:cs typeface="Microsoft YaHei"/>
            </a:endParaRPr>
          </a:p>
          <a:p>
            <a:pPr marL="12700">
              <a:lnSpc>
                <a:spcPct val="100000"/>
              </a:lnSpc>
              <a:spcBef>
                <a:spcPts val="2885"/>
              </a:spcBef>
            </a:pPr>
            <a:r>
              <a:rPr sz="2400" spc="-20" dirty="0">
                <a:latin typeface="Microsoft YaHei"/>
                <a:cs typeface="Microsoft YaHei"/>
              </a:rPr>
              <a:t>2.</a:t>
            </a:r>
            <a:r>
              <a:rPr sz="2400" dirty="0">
                <a:latin typeface="Microsoft YaHei"/>
                <a:cs typeface="Microsoft YaHei"/>
              </a:rPr>
              <a:t>政治学科的法律模块（具体知识、学科思想、方法、价值</a:t>
            </a:r>
            <a:r>
              <a:rPr sz="2400" spc="-50" dirty="0">
                <a:latin typeface="Microsoft YaHei"/>
                <a:cs typeface="Microsoft YaHei"/>
              </a:rPr>
              <a:t>）</a:t>
            </a:r>
            <a:endParaRPr sz="2400">
              <a:latin typeface="Microsoft YaHei"/>
              <a:cs typeface="Microsoft YaHe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2265" y="821986"/>
            <a:ext cx="4747347" cy="5870758"/>
          </a:xfrm>
          <a:prstGeom prst="rect">
            <a:avLst/>
          </a:prstGeom>
        </p:spPr>
      </p:pic>
      <p:sp>
        <p:nvSpPr>
          <p:cNvPr id="3" name="object 3"/>
          <p:cNvSpPr txBox="1">
            <a:spLocks noGrp="1"/>
          </p:cNvSpPr>
          <p:nvPr>
            <p:ph type="title"/>
          </p:nvPr>
        </p:nvSpPr>
        <p:spPr>
          <a:xfrm>
            <a:off x="488950" y="232409"/>
            <a:ext cx="5607050" cy="460375"/>
          </a:xfrm>
          <a:prstGeom prst="rect">
            <a:avLst/>
          </a:prstGeom>
          <a:ln w="25400">
            <a:solidFill>
              <a:srgbClr val="5B9BD4"/>
            </a:solidFill>
          </a:ln>
        </p:spPr>
        <p:txBody>
          <a:bodyPr vert="horz" wrap="square" lIns="0" tIns="31750" rIns="0" bIns="0" rtlCol="0">
            <a:spAutoFit/>
          </a:bodyPr>
          <a:lstStyle/>
          <a:p>
            <a:pPr marL="90805">
              <a:lnSpc>
                <a:spcPct val="100000"/>
              </a:lnSpc>
              <a:spcBef>
                <a:spcPts val="250"/>
              </a:spcBef>
            </a:pPr>
            <a:r>
              <a:rPr sz="2400" spc="-5" dirty="0">
                <a:latin typeface="SimSun"/>
                <a:cs typeface="SimSun"/>
              </a:rPr>
              <a:t>反馈试题：</a:t>
            </a:r>
            <a:r>
              <a:rPr sz="2400" spc="-10" dirty="0">
                <a:latin typeface="Calibri"/>
                <a:cs typeface="Calibri"/>
              </a:rPr>
              <a:t>24</a:t>
            </a:r>
            <a:r>
              <a:rPr sz="2400" dirty="0">
                <a:latin typeface="SimSun"/>
                <a:cs typeface="SimSun"/>
              </a:rPr>
              <a:t>年北京高考</a:t>
            </a:r>
            <a:r>
              <a:rPr sz="2400" spc="-35" dirty="0">
                <a:latin typeface="Calibri"/>
                <a:cs typeface="Calibri"/>
              </a:rPr>
              <a:t>——</a:t>
            </a:r>
            <a:r>
              <a:rPr sz="2400" spc="-15" dirty="0">
                <a:latin typeface="SimSun"/>
                <a:cs typeface="SimSun"/>
              </a:rPr>
              <a:t>分析案例</a:t>
            </a:r>
            <a:endParaRPr sz="2400">
              <a:latin typeface="SimSun"/>
              <a:cs typeface="SimSun"/>
            </a:endParaRPr>
          </a:p>
        </p:txBody>
      </p:sp>
      <p:pic>
        <p:nvPicPr>
          <p:cNvPr id="4" name="object 4"/>
          <p:cNvPicPr/>
          <p:nvPr/>
        </p:nvPicPr>
        <p:blipFill>
          <a:blip r:embed="rId3" cstate="print"/>
          <a:stretch>
            <a:fillRect/>
          </a:stretch>
        </p:blipFill>
        <p:spPr>
          <a:xfrm>
            <a:off x="5620580" y="990601"/>
            <a:ext cx="6230901" cy="54102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0092" y="2504008"/>
            <a:ext cx="6131560" cy="940435"/>
          </a:xfrm>
          <a:prstGeom prst="rect">
            <a:avLst/>
          </a:prstGeom>
        </p:spPr>
        <p:txBody>
          <a:bodyPr vert="horz" wrap="square" lIns="0" tIns="12700" rIns="0" bIns="0" rtlCol="0">
            <a:spAutoFit/>
          </a:bodyPr>
          <a:lstStyle/>
          <a:p>
            <a:pPr marL="12700">
              <a:lnSpc>
                <a:spcPct val="100000"/>
              </a:lnSpc>
              <a:spcBef>
                <a:spcPts val="100"/>
              </a:spcBef>
            </a:pPr>
            <a:r>
              <a:rPr sz="6000" spc="-5" dirty="0">
                <a:latin typeface="SimSun"/>
                <a:cs typeface="SimSun"/>
              </a:rPr>
              <a:t>海淀期末</a:t>
            </a:r>
            <a:r>
              <a:rPr sz="6000" spc="-10" dirty="0">
                <a:latin typeface="Calibri Light"/>
                <a:cs typeface="Calibri Light"/>
              </a:rPr>
              <a:t>21</a:t>
            </a:r>
            <a:r>
              <a:rPr sz="6000" spc="-25" dirty="0">
                <a:latin typeface="SimSun"/>
                <a:cs typeface="SimSun"/>
              </a:rPr>
              <a:t>题讲评</a:t>
            </a:r>
            <a:endParaRPr sz="6000">
              <a:latin typeface="SimSun"/>
              <a:cs typeface="SimSu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88441" y="1058114"/>
            <a:ext cx="7604641" cy="5703998"/>
          </a:xfrm>
          <a:prstGeom prst="rect">
            <a:avLst/>
          </a:prstGeom>
        </p:spPr>
      </p:pic>
      <p:sp>
        <p:nvSpPr>
          <p:cNvPr id="3" name="object 3"/>
          <p:cNvSpPr txBox="1">
            <a:spLocks noGrp="1"/>
          </p:cNvSpPr>
          <p:nvPr>
            <p:ph type="title"/>
          </p:nvPr>
        </p:nvSpPr>
        <p:spPr>
          <a:xfrm>
            <a:off x="654202" y="342391"/>
            <a:ext cx="2466975" cy="513715"/>
          </a:xfrm>
          <a:prstGeom prst="rect">
            <a:avLst/>
          </a:prstGeom>
        </p:spPr>
        <p:txBody>
          <a:bodyPr vert="horz" wrap="square" lIns="0" tIns="12700" rIns="0" bIns="0" rtlCol="0">
            <a:spAutoFit/>
          </a:bodyPr>
          <a:lstStyle/>
          <a:p>
            <a:pPr marL="12700">
              <a:lnSpc>
                <a:spcPct val="100000"/>
              </a:lnSpc>
              <a:spcBef>
                <a:spcPts val="100"/>
              </a:spcBef>
            </a:pPr>
            <a:r>
              <a:rPr sz="3200" b="1" spc="-10" dirty="0">
                <a:solidFill>
                  <a:srgbClr val="001F5F"/>
                </a:solidFill>
                <a:latin typeface="Microsoft JhengHei"/>
                <a:cs typeface="Microsoft JhengHei"/>
              </a:rPr>
              <a:t>一、试题分析</a:t>
            </a:r>
            <a:endParaRPr sz="3200">
              <a:latin typeface="Microsoft JhengHei"/>
              <a:cs typeface="Microsoft JhengHe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372995" y="170225"/>
            <a:ext cx="9164955" cy="6685280"/>
            <a:chOff x="2372995" y="170225"/>
            <a:chExt cx="9164955" cy="6685280"/>
          </a:xfrm>
        </p:grpSpPr>
        <p:pic>
          <p:nvPicPr>
            <p:cNvPr id="3" name="object 3"/>
            <p:cNvPicPr/>
            <p:nvPr/>
          </p:nvPicPr>
          <p:blipFill>
            <a:blip r:embed="rId2" cstate="print"/>
            <a:stretch>
              <a:fillRect/>
            </a:stretch>
          </p:blipFill>
          <p:spPr>
            <a:xfrm>
              <a:off x="2617349" y="170225"/>
              <a:ext cx="8690854" cy="6518229"/>
            </a:xfrm>
            <a:prstGeom prst="rect">
              <a:avLst/>
            </a:prstGeom>
          </p:spPr>
        </p:pic>
        <p:sp>
          <p:nvSpPr>
            <p:cNvPr id="4" name="object 4"/>
            <p:cNvSpPr/>
            <p:nvPr/>
          </p:nvSpPr>
          <p:spPr>
            <a:xfrm>
              <a:off x="4052570" y="6376034"/>
              <a:ext cx="2324100" cy="283210"/>
            </a:xfrm>
            <a:custGeom>
              <a:avLst/>
              <a:gdLst/>
              <a:ahLst/>
              <a:cxnLst/>
              <a:rect l="l" t="t" r="r" b="b"/>
              <a:pathLst>
                <a:path w="2324100" h="283209">
                  <a:moveTo>
                    <a:pt x="0" y="47205"/>
                  </a:moveTo>
                  <a:lnTo>
                    <a:pt x="3702" y="28830"/>
                  </a:lnTo>
                  <a:lnTo>
                    <a:pt x="13811" y="13825"/>
                  </a:lnTo>
                  <a:lnTo>
                    <a:pt x="28825" y="3709"/>
                  </a:lnTo>
                  <a:lnTo>
                    <a:pt x="47243" y="0"/>
                  </a:lnTo>
                  <a:lnTo>
                    <a:pt x="2276855" y="0"/>
                  </a:lnTo>
                  <a:lnTo>
                    <a:pt x="2295274" y="3709"/>
                  </a:lnTo>
                  <a:lnTo>
                    <a:pt x="2310288" y="13825"/>
                  </a:lnTo>
                  <a:lnTo>
                    <a:pt x="2320397" y="28830"/>
                  </a:lnTo>
                  <a:lnTo>
                    <a:pt x="2324100" y="47205"/>
                  </a:lnTo>
                  <a:lnTo>
                    <a:pt x="2324100" y="236004"/>
                  </a:lnTo>
                  <a:lnTo>
                    <a:pt x="2320397" y="254379"/>
                  </a:lnTo>
                  <a:lnTo>
                    <a:pt x="2310288" y="269384"/>
                  </a:lnTo>
                  <a:lnTo>
                    <a:pt x="2295274" y="279500"/>
                  </a:lnTo>
                  <a:lnTo>
                    <a:pt x="2276855" y="283209"/>
                  </a:lnTo>
                  <a:lnTo>
                    <a:pt x="47243" y="283209"/>
                  </a:lnTo>
                  <a:lnTo>
                    <a:pt x="28825" y="279500"/>
                  </a:lnTo>
                  <a:lnTo>
                    <a:pt x="13811" y="269384"/>
                  </a:lnTo>
                  <a:lnTo>
                    <a:pt x="3702" y="254379"/>
                  </a:lnTo>
                  <a:lnTo>
                    <a:pt x="0" y="236004"/>
                  </a:lnTo>
                  <a:lnTo>
                    <a:pt x="0" y="47205"/>
                  </a:lnTo>
                  <a:close/>
                </a:path>
              </a:pathLst>
            </a:custGeom>
            <a:ln w="12700">
              <a:solidFill>
                <a:srgbClr val="C00000"/>
              </a:solidFill>
            </a:ln>
          </p:spPr>
          <p:txBody>
            <a:bodyPr wrap="square" lIns="0" tIns="0" rIns="0" bIns="0" rtlCol="0"/>
            <a:lstStyle/>
            <a:p>
              <a:endParaRPr/>
            </a:p>
          </p:txBody>
        </p:sp>
        <p:pic>
          <p:nvPicPr>
            <p:cNvPr id="5" name="object 5"/>
            <p:cNvPicPr/>
            <p:nvPr/>
          </p:nvPicPr>
          <p:blipFill>
            <a:blip r:embed="rId3" cstate="print"/>
            <a:stretch>
              <a:fillRect/>
            </a:stretch>
          </p:blipFill>
          <p:spPr>
            <a:xfrm>
              <a:off x="10621645" y="6644005"/>
              <a:ext cx="341629" cy="189230"/>
            </a:xfrm>
            <a:prstGeom prst="rect">
              <a:avLst/>
            </a:prstGeom>
          </p:spPr>
        </p:pic>
        <p:sp>
          <p:nvSpPr>
            <p:cNvPr id="6" name="object 6"/>
            <p:cNvSpPr/>
            <p:nvPr/>
          </p:nvSpPr>
          <p:spPr>
            <a:xfrm>
              <a:off x="8886189" y="6301105"/>
              <a:ext cx="201295" cy="365125"/>
            </a:xfrm>
            <a:custGeom>
              <a:avLst/>
              <a:gdLst/>
              <a:ahLst/>
              <a:cxnLst/>
              <a:rect l="l" t="t" r="r" b="b"/>
              <a:pathLst>
                <a:path w="201295" h="365125">
                  <a:moveTo>
                    <a:pt x="201294" y="0"/>
                  </a:moveTo>
                  <a:lnTo>
                    <a:pt x="0" y="365125"/>
                  </a:lnTo>
                </a:path>
              </a:pathLst>
            </a:custGeom>
            <a:ln w="12700">
              <a:solidFill>
                <a:srgbClr val="C00000"/>
              </a:solidFill>
            </a:ln>
          </p:spPr>
          <p:txBody>
            <a:bodyPr wrap="square" lIns="0" tIns="0" rIns="0" bIns="0" rtlCol="0"/>
            <a:lstStyle/>
            <a:p>
              <a:endParaRPr/>
            </a:p>
          </p:txBody>
        </p:sp>
        <p:sp>
          <p:nvSpPr>
            <p:cNvPr id="7" name="object 7"/>
            <p:cNvSpPr/>
            <p:nvPr/>
          </p:nvSpPr>
          <p:spPr>
            <a:xfrm>
              <a:off x="6969125" y="6376034"/>
              <a:ext cx="1850389" cy="297815"/>
            </a:xfrm>
            <a:custGeom>
              <a:avLst/>
              <a:gdLst/>
              <a:ahLst/>
              <a:cxnLst/>
              <a:rect l="l" t="t" r="r" b="b"/>
              <a:pathLst>
                <a:path w="1850390" h="297815">
                  <a:moveTo>
                    <a:pt x="1850390" y="0"/>
                  </a:moveTo>
                  <a:lnTo>
                    <a:pt x="0" y="0"/>
                  </a:lnTo>
                  <a:lnTo>
                    <a:pt x="0" y="297814"/>
                  </a:lnTo>
                  <a:lnTo>
                    <a:pt x="1850390" y="297814"/>
                  </a:lnTo>
                  <a:lnTo>
                    <a:pt x="1850390" y="0"/>
                  </a:lnTo>
                  <a:close/>
                </a:path>
              </a:pathLst>
            </a:custGeom>
            <a:solidFill>
              <a:srgbClr val="FF0000">
                <a:alpha val="25097"/>
              </a:srgbClr>
            </a:solidFill>
          </p:spPr>
          <p:txBody>
            <a:bodyPr wrap="square" lIns="0" tIns="0" rIns="0" bIns="0" rtlCol="0"/>
            <a:lstStyle/>
            <a:p>
              <a:endParaRPr/>
            </a:p>
          </p:txBody>
        </p:sp>
        <p:pic>
          <p:nvPicPr>
            <p:cNvPr id="8" name="object 8"/>
            <p:cNvPicPr/>
            <p:nvPr/>
          </p:nvPicPr>
          <p:blipFill>
            <a:blip r:embed="rId4" cstate="print"/>
            <a:stretch>
              <a:fillRect/>
            </a:stretch>
          </p:blipFill>
          <p:spPr>
            <a:xfrm>
              <a:off x="6537960" y="6666230"/>
              <a:ext cx="341630" cy="189229"/>
            </a:xfrm>
            <a:prstGeom prst="rect">
              <a:avLst/>
            </a:prstGeom>
          </p:spPr>
        </p:pic>
        <p:sp>
          <p:nvSpPr>
            <p:cNvPr id="9" name="object 9"/>
            <p:cNvSpPr/>
            <p:nvPr/>
          </p:nvSpPr>
          <p:spPr>
            <a:xfrm>
              <a:off x="9154160" y="6346189"/>
              <a:ext cx="1377315" cy="297815"/>
            </a:xfrm>
            <a:custGeom>
              <a:avLst/>
              <a:gdLst/>
              <a:ahLst/>
              <a:cxnLst/>
              <a:rect l="l" t="t" r="r" b="b"/>
              <a:pathLst>
                <a:path w="1377315" h="297815">
                  <a:moveTo>
                    <a:pt x="1377315" y="0"/>
                  </a:moveTo>
                  <a:lnTo>
                    <a:pt x="0" y="0"/>
                  </a:lnTo>
                  <a:lnTo>
                    <a:pt x="0" y="297815"/>
                  </a:lnTo>
                  <a:lnTo>
                    <a:pt x="1377315" y="297815"/>
                  </a:lnTo>
                  <a:lnTo>
                    <a:pt x="1377315" y="0"/>
                  </a:lnTo>
                  <a:close/>
                </a:path>
              </a:pathLst>
            </a:custGeom>
            <a:solidFill>
              <a:srgbClr val="FFC000">
                <a:alpha val="25097"/>
              </a:srgbClr>
            </a:solidFill>
          </p:spPr>
          <p:txBody>
            <a:bodyPr wrap="square" lIns="0" tIns="0" rIns="0" bIns="0" rtlCol="0"/>
            <a:lstStyle/>
            <a:p>
              <a:endParaRPr/>
            </a:p>
          </p:txBody>
        </p:sp>
        <p:sp>
          <p:nvSpPr>
            <p:cNvPr id="10" name="object 10"/>
            <p:cNvSpPr/>
            <p:nvPr/>
          </p:nvSpPr>
          <p:spPr>
            <a:xfrm>
              <a:off x="2382520" y="390525"/>
              <a:ext cx="9145905" cy="909319"/>
            </a:xfrm>
            <a:custGeom>
              <a:avLst/>
              <a:gdLst/>
              <a:ahLst/>
              <a:cxnLst/>
              <a:rect l="l" t="t" r="r" b="b"/>
              <a:pathLst>
                <a:path w="9145905" h="909319">
                  <a:moveTo>
                    <a:pt x="0" y="909320"/>
                  </a:moveTo>
                  <a:lnTo>
                    <a:pt x="9145905" y="909320"/>
                  </a:lnTo>
                  <a:lnTo>
                    <a:pt x="9145905" y="0"/>
                  </a:lnTo>
                  <a:lnTo>
                    <a:pt x="0" y="0"/>
                  </a:lnTo>
                  <a:lnTo>
                    <a:pt x="0" y="909320"/>
                  </a:lnTo>
                  <a:close/>
                </a:path>
              </a:pathLst>
            </a:custGeom>
            <a:ln w="19050">
              <a:solidFill>
                <a:srgbClr val="2D75B6"/>
              </a:solidFill>
            </a:ln>
          </p:spPr>
          <p:txBody>
            <a:bodyPr wrap="square" lIns="0" tIns="0" rIns="0" bIns="0" rtlCol="0"/>
            <a:lstStyle/>
            <a:p>
              <a:endParaRPr/>
            </a:p>
          </p:txBody>
        </p:sp>
      </p:grpSp>
      <p:sp>
        <p:nvSpPr>
          <p:cNvPr id="11" name="object 11"/>
          <p:cNvSpPr/>
          <p:nvPr/>
        </p:nvSpPr>
        <p:spPr>
          <a:xfrm>
            <a:off x="1074102" y="560958"/>
            <a:ext cx="546735" cy="574675"/>
          </a:xfrm>
          <a:custGeom>
            <a:avLst/>
            <a:gdLst/>
            <a:ahLst/>
            <a:cxnLst/>
            <a:rect l="l" t="t" r="r" b="b"/>
            <a:pathLst>
              <a:path w="546735" h="574675">
                <a:moveTo>
                  <a:pt x="546290" y="0"/>
                </a:moveTo>
                <a:lnTo>
                  <a:pt x="0" y="574548"/>
                </a:lnTo>
              </a:path>
            </a:pathLst>
          </a:custGeom>
          <a:ln w="19050">
            <a:solidFill>
              <a:srgbClr val="2D75B6"/>
            </a:solidFill>
          </a:ln>
        </p:spPr>
        <p:txBody>
          <a:bodyPr wrap="square" lIns="0" tIns="0" rIns="0" bIns="0" rtlCol="0"/>
          <a:lstStyle/>
          <a:p>
            <a:endParaRPr/>
          </a:p>
        </p:txBody>
      </p:sp>
      <p:sp>
        <p:nvSpPr>
          <p:cNvPr id="12" name="object 12"/>
          <p:cNvSpPr txBox="1"/>
          <p:nvPr/>
        </p:nvSpPr>
        <p:spPr>
          <a:xfrm>
            <a:off x="807821" y="1375359"/>
            <a:ext cx="735965" cy="452120"/>
          </a:xfrm>
          <a:prstGeom prst="rect">
            <a:avLst/>
          </a:prstGeom>
        </p:spPr>
        <p:txBody>
          <a:bodyPr vert="horz" wrap="square" lIns="0" tIns="12065" rIns="0" bIns="0" rtlCol="0">
            <a:spAutoFit/>
          </a:bodyPr>
          <a:lstStyle/>
          <a:p>
            <a:pPr marL="12700">
              <a:lnSpc>
                <a:spcPct val="100000"/>
              </a:lnSpc>
              <a:spcBef>
                <a:spcPts val="95"/>
              </a:spcBef>
            </a:pPr>
            <a:r>
              <a:rPr sz="2800" spc="-45" dirty="0">
                <a:latin typeface="SimSun"/>
                <a:cs typeface="SimSun"/>
              </a:rPr>
              <a:t>释义</a:t>
            </a:r>
            <a:endParaRPr sz="2800">
              <a:latin typeface="SimSun"/>
              <a:cs typeface="SimSun"/>
            </a:endParaRPr>
          </a:p>
        </p:txBody>
      </p:sp>
      <p:sp>
        <p:nvSpPr>
          <p:cNvPr id="13" name="object 13"/>
          <p:cNvSpPr/>
          <p:nvPr/>
        </p:nvSpPr>
        <p:spPr>
          <a:xfrm>
            <a:off x="1626870" y="1388744"/>
            <a:ext cx="9763760" cy="4987290"/>
          </a:xfrm>
          <a:custGeom>
            <a:avLst/>
            <a:gdLst/>
            <a:ahLst/>
            <a:cxnLst/>
            <a:rect l="l" t="t" r="r" b="b"/>
            <a:pathLst>
              <a:path w="9763760" h="4987290">
                <a:moveTo>
                  <a:pt x="1424940" y="2644140"/>
                </a:moveTo>
                <a:lnTo>
                  <a:pt x="9648824" y="2644140"/>
                </a:lnTo>
                <a:lnTo>
                  <a:pt x="9648824" y="0"/>
                </a:lnTo>
                <a:lnTo>
                  <a:pt x="1424940" y="0"/>
                </a:lnTo>
                <a:lnTo>
                  <a:pt x="1424940" y="2644140"/>
                </a:lnTo>
                <a:close/>
              </a:path>
              <a:path w="9763760" h="4987290">
                <a:moveTo>
                  <a:pt x="1370584" y="1330325"/>
                </a:moveTo>
                <a:lnTo>
                  <a:pt x="248412" y="2166366"/>
                </a:lnTo>
              </a:path>
              <a:path w="9763760" h="4987290">
                <a:moveTo>
                  <a:pt x="981075" y="4987290"/>
                </a:moveTo>
                <a:lnTo>
                  <a:pt x="9763760" y="4987290"/>
                </a:lnTo>
                <a:lnTo>
                  <a:pt x="9763760" y="2650490"/>
                </a:lnTo>
                <a:lnTo>
                  <a:pt x="981075" y="2650490"/>
                </a:lnTo>
                <a:lnTo>
                  <a:pt x="981075" y="4987290"/>
                </a:lnTo>
                <a:close/>
              </a:path>
              <a:path w="9763760" h="4987290">
                <a:moveTo>
                  <a:pt x="923036" y="3826129"/>
                </a:moveTo>
                <a:lnTo>
                  <a:pt x="0" y="4549762"/>
                </a:lnTo>
              </a:path>
            </a:pathLst>
          </a:custGeom>
          <a:ln w="19050">
            <a:solidFill>
              <a:srgbClr val="2D75B6"/>
            </a:solidFill>
          </a:ln>
        </p:spPr>
        <p:txBody>
          <a:bodyPr wrap="square" lIns="0" tIns="0" rIns="0" bIns="0" rtlCol="0"/>
          <a:lstStyle/>
          <a:p>
            <a:endParaRPr/>
          </a:p>
        </p:txBody>
      </p:sp>
      <p:sp>
        <p:nvSpPr>
          <p:cNvPr id="14" name="object 14"/>
          <p:cNvSpPr txBox="1"/>
          <p:nvPr/>
        </p:nvSpPr>
        <p:spPr>
          <a:xfrm>
            <a:off x="882192" y="3529710"/>
            <a:ext cx="735965" cy="452120"/>
          </a:xfrm>
          <a:prstGeom prst="rect">
            <a:avLst/>
          </a:prstGeom>
        </p:spPr>
        <p:txBody>
          <a:bodyPr vert="horz" wrap="square" lIns="0" tIns="12065" rIns="0" bIns="0" rtlCol="0">
            <a:spAutoFit/>
          </a:bodyPr>
          <a:lstStyle/>
          <a:p>
            <a:pPr marL="12700">
              <a:lnSpc>
                <a:spcPct val="100000"/>
              </a:lnSpc>
              <a:spcBef>
                <a:spcPts val="95"/>
              </a:spcBef>
            </a:pPr>
            <a:r>
              <a:rPr sz="2800" spc="-45" dirty="0">
                <a:latin typeface="SimSun"/>
                <a:cs typeface="SimSun"/>
              </a:rPr>
              <a:t>法条</a:t>
            </a:r>
            <a:endParaRPr sz="2800">
              <a:latin typeface="SimSun"/>
              <a:cs typeface="SimSun"/>
            </a:endParaRPr>
          </a:p>
        </p:txBody>
      </p:sp>
      <p:sp>
        <p:nvSpPr>
          <p:cNvPr id="15" name="object 15"/>
          <p:cNvSpPr txBox="1"/>
          <p:nvPr/>
        </p:nvSpPr>
        <p:spPr>
          <a:xfrm>
            <a:off x="807821" y="5935471"/>
            <a:ext cx="735965" cy="452120"/>
          </a:xfrm>
          <a:prstGeom prst="rect">
            <a:avLst/>
          </a:prstGeom>
        </p:spPr>
        <p:txBody>
          <a:bodyPr vert="horz" wrap="square" lIns="0" tIns="12065" rIns="0" bIns="0" rtlCol="0">
            <a:spAutoFit/>
          </a:bodyPr>
          <a:lstStyle/>
          <a:p>
            <a:pPr marL="12700">
              <a:lnSpc>
                <a:spcPct val="100000"/>
              </a:lnSpc>
              <a:spcBef>
                <a:spcPts val="95"/>
              </a:spcBef>
            </a:pPr>
            <a:r>
              <a:rPr sz="2800" spc="-45" dirty="0">
                <a:latin typeface="SimSun"/>
                <a:cs typeface="SimSun"/>
              </a:rPr>
              <a:t>案例</a:t>
            </a:r>
            <a:endParaRPr sz="2800">
              <a:latin typeface="SimSun"/>
              <a:cs typeface="SimSu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50900" y="410844"/>
          <a:ext cx="11137899" cy="5748655"/>
        </p:xfrm>
        <a:graphic>
          <a:graphicData uri="http://schemas.openxmlformats.org/drawingml/2006/table">
            <a:tbl>
              <a:tblPr firstRow="1" bandRow="1">
                <a:tableStyleId>{2D5ABB26-0587-4C30-8999-92F81FD0307C}</a:tableStyleId>
              </a:tblPr>
              <a:tblGrid>
                <a:gridCol w="1650364">
                  <a:extLst>
                    <a:ext uri="{9D8B030D-6E8A-4147-A177-3AD203B41FA5}">
                      <a16:colId xmlns:a16="http://schemas.microsoft.com/office/drawing/2014/main" val="20000"/>
                    </a:ext>
                  </a:extLst>
                </a:gridCol>
                <a:gridCol w="9487535">
                  <a:extLst>
                    <a:ext uri="{9D8B030D-6E8A-4147-A177-3AD203B41FA5}">
                      <a16:colId xmlns:a16="http://schemas.microsoft.com/office/drawing/2014/main" val="20001"/>
                    </a:ext>
                  </a:extLst>
                </a:gridCol>
              </a:tblGrid>
              <a:tr h="459105">
                <a:tc>
                  <a:txBody>
                    <a:bodyPr/>
                    <a:lstStyle/>
                    <a:p>
                      <a:pPr marR="12700" algn="ctr">
                        <a:lnSpc>
                          <a:spcPct val="100000"/>
                        </a:lnSpc>
                        <a:spcBef>
                          <a:spcPts val="250"/>
                        </a:spcBef>
                      </a:pPr>
                      <a:r>
                        <a:rPr sz="2400" spc="-25" dirty="0">
                          <a:solidFill>
                            <a:srgbClr val="FFFFFF"/>
                          </a:solidFill>
                          <a:latin typeface="SimSun"/>
                          <a:cs typeface="SimSun"/>
                        </a:rPr>
                        <a:t>角度</a:t>
                      </a:r>
                      <a:endParaRPr sz="2400">
                        <a:latin typeface="SimSun"/>
                        <a:cs typeface="SimSun"/>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1270" algn="ctr">
                        <a:lnSpc>
                          <a:spcPct val="100000"/>
                        </a:lnSpc>
                        <a:spcBef>
                          <a:spcPts val="250"/>
                        </a:spcBef>
                      </a:pPr>
                      <a:r>
                        <a:rPr sz="2400" spc="-15" dirty="0">
                          <a:solidFill>
                            <a:srgbClr val="FFFFFF"/>
                          </a:solidFill>
                          <a:latin typeface="SimSun"/>
                          <a:cs typeface="SimSun"/>
                        </a:rPr>
                        <a:t>答案要点</a:t>
                      </a:r>
                      <a:endParaRPr sz="2400">
                        <a:latin typeface="SimSun"/>
                        <a:cs typeface="SimSun"/>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880110">
                <a:tc rowSpan="2">
                  <a:txBody>
                    <a:bodyPr/>
                    <a:lstStyle/>
                    <a:p>
                      <a:pPr marR="12065">
                        <a:lnSpc>
                          <a:spcPct val="100000"/>
                        </a:lnSpc>
                        <a:spcBef>
                          <a:spcPts val="1925"/>
                        </a:spcBef>
                      </a:pPr>
                      <a:endParaRPr sz="2400">
                        <a:latin typeface="Times New Roman"/>
                        <a:cs typeface="Times New Roman"/>
                      </a:endParaRPr>
                    </a:p>
                    <a:p>
                      <a:pPr marL="168910" marR="12065" algn="ctr">
                        <a:lnSpc>
                          <a:spcPct val="100000"/>
                        </a:lnSpc>
                        <a:spcBef>
                          <a:spcPts val="5"/>
                        </a:spcBef>
                      </a:pPr>
                      <a:r>
                        <a:rPr sz="2400" spc="-30" dirty="0">
                          <a:latin typeface="SimSun"/>
                          <a:cs typeface="SimSun"/>
                        </a:rPr>
                        <a:t>规范</a:t>
                      </a:r>
                      <a:endParaRPr sz="2400">
                        <a:latin typeface="SimSun"/>
                        <a:cs typeface="SimSun"/>
                      </a:endParaRPr>
                    </a:p>
                    <a:p>
                      <a:pPr marL="175260" algn="ctr">
                        <a:lnSpc>
                          <a:spcPct val="100000"/>
                        </a:lnSpc>
                      </a:pPr>
                      <a:r>
                        <a:rPr sz="2400" dirty="0">
                          <a:latin typeface="Calibri"/>
                          <a:cs typeface="Calibri"/>
                        </a:rPr>
                        <a:t>“</a:t>
                      </a:r>
                      <a:r>
                        <a:rPr sz="2400" dirty="0">
                          <a:latin typeface="SimSun"/>
                          <a:cs typeface="SimSun"/>
                        </a:rPr>
                        <a:t>竞业限制</a:t>
                      </a:r>
                      <a:r>
                        <a:rPr sz="2400" spc="-50" dirty="0">
                          <a:latin typeface="Calibri"/>
                          <a:cs typeface="Calibri"/>
                        </a:rPr>
                        <a:t>”</a:t>
                      </a:r>
                      <a:endParaRPr sz="2400">
                        <a:latin typeface="Calibri"/>
                        <a:cs typeface="Calibri"/>
                      </a:endParaRPr>
                    </a:p>
                  </a:txBody>
                  <a:tcPr marL="0" marR="0" marT="2444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186055">
                        <a:lnSpc>
                          <a:spcPct val="100000"/>
                        </a:lnSpc>
                        <a:spcBef>
                          <a:spcPts val="550"/>
                        </a:spcBef>
                      </a:pPr>
                      <a:r>
                        <a:rPr sz="2400" spc="-15" dirty="0">
                          <a:latin typeface="SimSun"/>
                          <a:cs typeface="SimSun"/>
                        </a:rPr>
                        <a:t>【意义】</a:t>
                      </a:r>
                      <a:endParaRPr sz="2400">
                        <a:latin typeface="SimSun"/>
                        <a:cs typeface="SimSun"/>
                      </a:endParaRPr>
                    </a:p>
                    <a:p>
                      <a:pPr marL="673100">
                        <a:lnSpc>
                          <a:spcPts val="2815"/>
                        </a:lnSpc>
                        <a:spcBef>
                          <a:spcPts val="585"/>
                        </a:spcBef>
                        <a:tabLst>
                          <a:tab pos="4483735" algn="l"/>
                          <a:tab pos="6769734" algn="l"/>
                        </a:tabLst>
                      </a:pPr>
                      <a:r>
                        <a:rPr sz="2400" dirty="0">
                          <a:latin typeface="SimSun"/>
                          <a:cs typeface="SimSun"/>
                        </a:rPr>
                        <a:t>有利于企业商业秘密保护 </a:t>
                      </a:r>
                      <a:r>
                        <a:rPr sz="2400" spc="-50" dirty="0">
                          <a:latin typeface="SimSun"/>
                          <a:cs typeface="SimSun"/>
                        </a:rPr>
                        <a:t>/</a:t>
                      </a:r>
                      <a:r>
                        <a:rPr sz="2400" dirty="0">
                          <a:latin typeface="SimSun"/>
                          <a:cs typeface="SimSun"/>
                        </a:rPr>
                        <a:t>	保护知识产权</a:t>
                      </a:r>
                      <a:r>
                        <a:rPr sz="2400" spc="-20" dirty="0">
                          <a:latin typeface="SimSun"/>
                          <a:cs typeface="SimSun"/>
                        </a:rPr>
                        <a:t> </a:t>
                      </a:r>
                      <a:r>
                        <a:rPr sz="2400" spc="-50" dirty="0">
                          <a:latin typeface="SimSun"/>
                          <a:cs typeface="SimSun"/>
                        </a:rPr>
                        <a:t>/</a:t>
                      </a:r>
                      <a:r>
                        <a:rPr sz="2400" dirty="0">
                          <a:latin typeface="SimSun"/>
                          <a:cs typeface="SimSun"/>
                        </a:rPr>
                        <a:t>	推动社会创</a:t>
                      </a:r>
                      <a:r>
                        <a:rPr sz="2400" spc="-50" dirty="0">
                          <a:latin typeface="SimSun"/>
                          <a:cs typeface="SimSun"/>
                        </a:rPr>
                        <a:t>新</a:t>
                      </a:r>
                      <a:endParaRPr sz="2400">
                        <a:latin typeface="SimSun"/>
                        <a:cs typeface="SimSun"/>
                      </a:endParaRPr>
                    </a:p>
                  </a:txBody>
                  <a:tcPr marL="0" marR="0" marT="698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1"/>
                  </a:ext>
                </a:extLst>
              </a:tr>
              <a:tr h="1193800">
                <a:tc vMerge="1">
                  <a:txBody>
                    <a:bodyPr/>
                    <a:lstStyle/>
                    <a:p>
                      <a:endParaRPr/>
                    </a:p>
                  </a:txBody>
                  <a:tcPr marL="0" marR="0" marT="2444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186055">
                        <a:lnSpc>
                          <a:spcPts val="2815"/>
                        </a:lnSpc>
                        <a:spcBef>
                          <a:spcPts val="630"/>
                        </a:spcBef>
                      </a:pPr>
                      <a:r>
                        <a:rPr sz="2400" spc="-10" dirty="0">
                          <a:latin typeface="SimSun"/>
                          <a:cs typeface="SimSun"/>
                        </a:rPr>
                        <a:t>【案例一分析】</a:t>
                      </a:r>
                      <a:endParaRPr sz="2400">
                        <a:latin typeface="SimSun"/>
                        <a:cs typeface="SimSun"/>
                      </a:endParaRPr>
                    </a:p>
                    <a:p>
                      <a:pPr marL="902969">
                        <a:lnSpc>
                          <a:spcPts val="2815"/>
                        </a:lnSpc>
                      </a:pPr>
                      <a:r>
                        <a:rPr sz="2400" spc="-15" dirty="0">
                          <a:latin typeface="SimSun"/>
                          <a:cs typeface="SimSun"/>
                        </a:rPr>
                        <a:t>李某作为负有保密义务的劳动者，泄露公司商业秘密/ 违反协</a:t>
                      </a:r>
                      <a:endParaRPr sz="2400">
                        <a:latin typeface="SimSun"/>
                        <a:cs typeface="SimSun"/>
                      </a:endParaRPr>
                    </a:p>
                    <a:p>
                      <a:pPr marL="293370">
                        <a:lnSpc>
                          <a:spcPct val="100000"/>
                        </a:lnSpc>
                      </a:pPr>
                      <a:r>
                        <a:rPr sz="2400" spc="-5" dirty="0">
                          <a:latin typeface="SimSun"/>
                          <a:cs typeface="SimSun"/>
                        </a:rPr>
                        <a:t>议约定，应当承担违约责任。</a:t>
                      </a:r>
                      <a:endParaRPr sz="2400">
                        <a:latin typeface="SimSun"/>
                        <a:cs typeface="SimSun"/>
                      </a:endParaRPr>
                    </a:p>
                  </a:txBody>
                  <a:tcPr marL="0" marR="0" marT="80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2"/>
                  </a:ext>
                </a:extLst>
              </a:tr>
              <a:tr h="1158875">
                <a:tc rowSpan="2">
                  <a:txBody>
                    <a:bodyPr/>
                    <a:lstStyle/>
                    <a:p>
                      <a:pPr marR="12065">
                        <a:lnSpc>
                          <a:spcPct val="100000"/>
                        </a:lnSpc>
                        <a:spcBef>
                          <a:spcPts val="2740"/>
                        </a:spcBef>
                      </a:pPr>
                      <a:endParaRPr sz="2400">
                        <a:latin typeface="Times New Roman"/>
                        <a:cs typeface="Times New Roman"/>
                      </a:endParaRPr>
                    </a:p>
                    <a:p>
                      <a:pPr marL="186690" marR="113664">
                        <a:lnSpc>
                          <a:spcPct val="100000"/>
                        </a:lnSpc>
                      </a:pPr>
                      <a:r>
                        <a:rPr sz="2400" spc="-5" dirty="0">
                          <a:latin typeface="SimSun"/>
                          <a:cs typeface="SimSun"/>
                        </a:rPr>
                        <a:t>对</a:t>
                      </a:r>
                      <a:r>
                        <a:rPr sz="2400" dirty="0">
                          <a:latin typeface="Calibri"/>
                          <a:cs typeface="Calibri"/>
                        </a:rPr>
                        <a:t>“</a:t>
                      </a:r>
                      <a:r>
                        <a:rPr sz="2400" dirty="0">
                          <a:latin typeface="SimSun"/>
                          <a:cs typeface="SimSun"/>
                        </a:rPr>
                        <a:t>竞业</a:t>
                      </a:r>
                      <a:r>
                        <a:rPr sz="2400" spc="-5" dirty="0">
                          <a:latin typeface="SimSun"/>
                          <a:cs typeface="SimSun"/>
                        </a:rPr>
                        <a:t>限制</a:t>
                      </a:r>
                      <a:r>
                        <a:rPr sz="2400" dirty="0">
                          <a:latin typeface="Calibri"/>
                          <a:cs typeface="Calibri"/>
                        </a:rPr>
                        <a:t>”</a:t>
                      </a:r>
                      <a:r>
                        <a:rPr sz="2400" dirty="0">
                          <a:latin typeface="SimSun"/>
                          <a:cs typeface="SimSun"/>
                        </a:rPr>
                        <a:t>的限制</a:t>
                      </a:r>
                      <a:endParaRPr sz="2400">
                        <a:latin typeface="SimSun"/>
                        <a:cs typeface="SimSun"/>
                      </a:endParaRPr>
                    </a:p>
                  </a:txBody>
                  <a:tcPr marL="0" marR="0" marT="347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186055">
                        <a:lnSpc>
                          <a:spcPct val="100000"/>
                        </a:lnSpc>
                        <a:spcBef>
                          <a:spcPts val="290"/>
                        </a:spcBef>
                      </a:pPr>
                      <a:r>
                        <a:rPr sz="2400" spc="-15" dirty="0">
                          <a:latin typeface="SimSun"/>
                          <a:cs typeface="SimSun"/>
                        </a:rPr>
                        <a:t>【意义】</a:t>
                      </a:r>
                      <a:endParaRPr sz="2400">
                        <a:latin typeface="SimSun"/>
                        <a:cs typeface="SimSun"/>
                      </a:endParaRPr>
                    </a:p>
                    <a:p>
                      <a:pPr marL="675005">
                        <a:lnSpc>
                          <a:spcPct val="100000"/>
                        </a:lnSpc>
                        <a:spcBef>
                          <a:spcPts val="210"/>
                        </a:spcBef>
                      </a:pPr>
                      <a:r>
                        <a:rPr sz="2400" spc="-5" dirty="0">
                          <a:latin typeface="SimSun"/>
                          <a:cs typeface="SimSun"/>
                        </a:rPr>
                        <a:t>若不对“竞业限制”加以限制则可能侵犯劳动者的基本劳动权利</a:t>
                      </a:r>
                      <a:endParaRPr sz="2400">
                        <a:latin typeface="SimSun"/>
                        <a:cs typeface="SimSun"/>
                      </a:endParaRPr>
                    </a:p>
                    <a:p>
                      <a:pPr marL="446405">
                        <a:lnSpc>
                          <a:spcPts val="2595"/>
                        </a:lnSpc>
                        <a:spcBef>
                          <a:spcPts val="170"/>
                        </a:spcBef>
                      </a:pPr>
                      <a:r>
                        <a:rPr sz="2400" spc="-5" dirty="0">
                          <a:latin typeface="SimSun"/>
                          <a:cs typeface="SimSun"/>
                        </a:rPr>
                        <a:t>/阻碍人才资源合理配置</a:t>
                      </a:r>
                      <a:endParaRPr sz="2400">
                        <a:latin typeface="SimSun"/>
                        <a:cs typeface="SimSun"/>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3"/>
                  </a:ext>
                </a:extLst>
              </a:tr>
              <a:tr h="1194435">
                <a:tc vMerge="1">
                  <a:txBody>
                    <a:bodyPr/>
                    <a:lstStyle/>
                    <a:p>
                      <a:endParaRPr/>
                    </a:p>
                  </a:txBody>
                  <a:tcPr marL="0" marR="0" marT="347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186055">
                        <a:lnSpc>
                          <a:spcPts val="2870"/>
                        </a:lnSpc>
                        <a:spcBef>
                          <a:spcPts val="695"/>
                        </a:spcBef>
                      </a:pPr>
                      <a:r>
                        <a:rPr sz="2400" spc="-10" dirty="0">
                          <a:latin typeface="SimSun"/>
                          <a:cs typeface="SimSun"/>
                        </a:rPr>
                        <a:t>【案例二分析】</a:t>
                      </a:r>
                      <a:endParaRPr sz="2400">
                        <a:latin typeface="SimSun"/>
                        <a:cs typeface="SimSun"/>
                      </a:endParaRPr>
                    </a:p>
                    <a:p>
                      <a:pPr marL="730885">
                        <a:lnSpc>
                          <a:spcPts val="2870"/>
                        </a:lnSpc>
                      </a:pPr>
                      <a:r>
                        <a:rPr sz="2400" spc="-5" dirty="0">
                          <a:latin typeface="SimSun"/>
                          <a:cs typeface="SimSun"/>
                        </a:rPr>
                        <a:t>刘某作为公司普通员工，并非负有保密义务的人员，餐饮公司与</a:t>
                      </a:r>
                      <a:endParaRPr sz="2400">
                        <a:latin typeface="SimSun"/>
                        <a:cs typeface="SimSun"/>
                      </a:endParaRPr>
                    </a:p>
                    <a:p>
                      <a:pPr marL="349885">
                        <a:lnSpc>
                          <a:spcPts val="2705"/>
                        </a:lnSpc>
                        <a:spcBef>
                          <a:spcPts val="165"/>
                        </a:spcBef>
                      </a:pPr>
                      <a:r>
                        <a:rPr sz="2400" spc="-5" dirty="0">
                          <a:latin typeface="SimSun"/>
                          <a:cs typeface="SimSun"/>
                        </a:rPr>
                        <a:t>其签订的竞业限制协议违反了相关法律规定，协议无效。</a:t>
                      </a:r>
                      <a:endParaRPr sz="2400">
                        <a:latin typeface="SimSun"/>
                        <a:cs typeface="SimSun"/>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4"/>
                  </a:ext>
                </a:extLst>
              </a:tr>
              <a:tr h="862330">
                <a:tc>
                  <a:txBody>
                    <a:bodyPr/>
                    <a:lstStyle/>
                    <a:p>
                      <a:pPr marR="49530" algn="ctr">
                        <a:lnSpc>
                          <a:spcPct val="100000"/>
                        </a:lnSpc>
                        <a:spcBef>
                          <a:spcPts val="1614"/>
                        </a:spcBef>
                      </a:pPr>
                      <a:r>
                        <a:rPr sz="2400" spc="-25" dirty="0">
                          <a:latin typeface="SimSun"/>
                          <a:cs typeface="SimSun"/>
                        </a:rPr>
                        <a:t>综合</a:t>
                      </a:r>
                      <a:endParaRPr sz="2400">
                        <a:latin typeface="SimSun"/>
                        <a:cs typeface="SimSun"/>
                      </a:endParaRPr>
                    </a:p>
                  </a:txBody>
                  <a:tcPr marL="0" marR="0" marT="20510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635635">
                        <a:lnSpc>
                          <a:spcPct val="100000"/>
                        </a:lnSpc>
                        <a:spcBef>
                          <a:spcPts val="2175"/>
                        </a:spcBef>
                      </a:pPr>
                      <a:r>
                        <a:rPr sz="2400" spc="-15" dirty="0">
                          <a:latin typeface="SimSun"/>
                          <a:cs typeface="SimSun"/>
                        </a:rPr>
                        <a:t>平衡劳动者合法权益与企业商业秘密保护</a:t>
                      </a:r>
                      <a:endParaRPr sz="2400">
                        <a:latin typeface="SimSun"/>
                        <a:cs typeface="SimSun"/>
                      </a:endParaRPr>
                    </a:p>
                  </a:txBody>
                  <a:tcPr marL="0" marR="0" marT="276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5"/>
                  </a:ext>
                </a:extLst>
              </a:tr>
            </a:tbl>
          </a:graphicData>
        </a:graphic>
      </p:graphicFrame>
      <p:sp>
        <p:nvSpPr>
          <p:cNvPr id="3" name="object 3"/>
          <p:cNvSpPr/>
          <p:nvPr/>
        </p:nvSpPr>
        <p:spPr>
          <a:xfrm>
            <a:off x="572769" y="977900"/>
            <a:ext cx="231140" cy="4267835"/>
          </a:xfrm>
          <a:custGeom>
            <a:avLst/>
            <a:gdLst/>
            <a:ahLst/>
            <a:cxnLst/>
            <a:rect l="l" t="t" r="r" b="b"/>
            <a:pathLst>
              <a:path w="231140" h="4267835">
                <a:moveTo>
                  <a:pt x="231139" y="4267835"/>
                </a:moveTo>
                <a:lnTo>
                  <a:pt x="186153" y="4266318"/>
                </a:lnTo>
                <a:lnTo>
                  <a:pt x="149418" y="4262183"/>
                </a:lnTo>
                <a:lnTo>
                  <a:pt x="124651" y="4256047"/>
                </a:lnTo>
                <a:lnTo>
                  <a:pt x="115570" y="4248531"/>
                </a:lnTo>
                <a:lnTo>
                  <a:pt x="115570" y="2153158"/>
                </a:lnTo>
                <a:lnTo>
                  <a:pt x="106488" y="2145641"/>
                </a:lnTo>
                <a:lnTo>
                  <a:pt x="81721" y="2139505"/>
                </a:lnTo>
                <a:lnTo>
                  <a:pt x="44986" y="2135370"/>
                </a:lnTo>
                <a:lnTo>
                  <a:pt x="0" y="2133854"/>
                </a:lnTo>
                <a:lnTo>
                  <a:pt x="44986" y="2132357"/>
                </a:lnTo>
                <a:lnTo>
                  <a:pt x="81721" y="2128266"/>
                </a:lnTo>
                <a:lnTo>
                  <a:pt x="106488" y="2122173"/>
                </a:lnTo>
                <a:lnTo>
                  <a:pt x="115570" y="2114677"/>
                </a:lnTo>
                <a:lnTo>
                  <a:pt x="115570" y="19303"/>
                </a:lnTo>
                <a:lnTo>
                  <a:pt x="124651" y="11787"/>
                </a:lnTo>
                <a:lnTo>
                  <a:pt x="149418" y="5651"/>
                </a:lnTo>
                <a:lnTo>
                  <a:pt x="186153" y="1516"/>
                </a:lnTo>
                <a:lnTo>
                  <a:pt x="231139" y="0"/>
                </a:lnTo>
              </a:path>
            </a:pathLst>
          </a:custGeom>
          <a:ln w="12700">
            <a:solidFill>
              <a:srgbClr val="5B9BD4"/>
            </a:solidFill>
          </a:ln>
        </p:spPr>
        <p:txBody>
          <a:bodyPr wrap="square" lIns="0" tIns="0" rIns="0" bIns="0" rtlCol="0"/>
          <a:lstStyle/>
          <a:p>
            <a:endParaRPr/>
          </a:p>
        </p:txBody>
      </p:sp>
      <p:sp>
        <p:nvSpPr>
          <p:cNvPr id="4" name="object 4"/>
          <p:cNvSpPr txBox="1"/>
          <p:nvPr/>
        </p:nvSpPr>
        <p:spPr>
          <a:xfrm>
            <a:off x="84531" y="2807919"/>
            <a:ext cx="330835" cy="734695"/>
          </a:xfrm>
          <a:prstGeom prst="rect">
            <a:avLst/>
          </a:prstGeom>
        </p:spPr>
        <p:txBody>
          <a:bodyPr vert="horz" wrap="square" lIns="0" tIns="12700" rIns="0" bIns="0" rtlCol="0">
            <a:spAutoFit/>
          </a:bodyPr>
          <a:lstStyle/>
          <a:p>
            <a:pPr marL="12700">
              <a:lnSpc>
                <a:spcPts val="2790"/>
              </a:lnSpc>
              <a:spcBef>
                <a:spcPts val="100"/>
              </a:spcBef>
            </a:pPr>
            <a:r>
              <a:rPr sz="2400" spc="-50" dirty="0">
                <a:latin typeface="SimSun"/>
                <a:cs typeface="SimSun"/>
              </a:rPr>
              <a:t>分</a:t>
            </a:r>
            <a:endParaRPr sz="2400">
              <a:latin typeface="SimSun"/>
              <a:cs typeface="SimSun"/>
            </a:endParaRPr>
          </a:p>
          <a:p>
            <a:pPr marL="12700">
              <a:lnSpc>
                <a:spcPts val="2790"/>
              </a:lnSpc>
            </a:pPr>
            <a:r>
              <a:rPr sz="2400" spc="-50" dirty="0">
                <a:latin typeface="SimSun"/>
                <a:cs typeface="SimSun"/>
              </a:rPr>
              <a:t>析</a:t>
            </a:r>
            <a:endParaRPr sz="2400">
              <a:latin typeface="SimSun"/>
              <a:cs typeface="SimSu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518794" y="117475"/>
          <a:ext cx="11391900" cy="6610984"/>
        </p:xfrm>
        <a:graphic>
          <a:graphicData uri="http://schemas.openxmlformats.org/drawingml/2006/table">
            <a:tbl>
              <a:tblPr firstRow="1" bandRow="1">
                <a:tableStyleId>{2D5ABB26-0587-4C30-8999-92F81FD0307C}</a:tableStyleId>
              </a:tblPr>
              <a:tblGrid>
                <a:gridCol w="1463675">
                  <a:extLst>
                    <a:ext uri="{9D8B030D-6E8A-4147-A177-3AD203B41FA5}">
                      <a16:colId xmlns:a16="http://schemas.microsoft.com/office/drawing/2014/main" val="20000"/>
                    </a:ext>
                  </a:extLst>
                </a:gridCol>
                <a:gridCol w="9928225">
                  <a:extLst>
                    <a:ext uri="{9D8B030D-6E8A-4147-A177-3AD203B41FA5}">
                      <a16:colId xmlns:a16="http://schemas.microsoft.com/office/drawing/2014/main" val="20001"/>
                    </a:ext>
                  </a:extLst>
                </a:gridCol>
              </a:tblGrid>
              <a:tr h="575945">
                <a:tc>
                  <a:txBody>
                    <a:bodyPr/>
                    <a:lstStyle/>
                    <a:p>
                      <a:pPr marL="427355">
                        <a:lnSpc>
                          <a:spcPct val="100000"/>
                        </a:lnSpc>
                        <a:spcBef>
                          <a:spcPts val="265"/>
                        </a:spcBef>
                      </a:pPr>
                      <a:r>
                        <a:rPr sz="2400" b="1" spc="-25" dirty="0">
                          <a:solidFill>
                            <a:srgbClr val="FFFFFF"/>
                          </a:solidFill>
                          <a:latin typeface="Microsoft YaHei"/>
                          <a:cs typeface="Microsoft YaHei"/>
                        </a:rPr>
                        <a:t>角度</a:t>
                      </a:r>
                      <a:endParaRPr sz="2400">
                        <a:latin typeface="Microsoft YaHei"/>
                        <a:cs typeface="Microsoft YaHe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1905" algn="ctr">
                        <a:lnSpc>
                          <a:spcPct val="100000"/>
                        </a:lnSpc>
                        <a:spcBef>
                          <a:spcPts val="265"/>
                        </a:spcBef>
                      </a:pPr>
                      <a:r>
                        <a:rPr sz="2400" b="1" spc="-15" dirty="0">
                          <a:solidFill>
                            <a:srgbClr val="FFFFFF"/>
                          </a:solidFill>
                          <a:latin typeface="Microsoft YaHei"/>
                          <a:cs typeface="Microsoft YaHei"/>
                        </a:rPr>
                        <a:t>评分细则</a:t>
                      </a:r>
                      <a:endParaRPr sz="2400">
                        <a:latin typeface="Microsoft YaHei"/>
                        <a:cs typeface="Microsoft YaHe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3383279">
                <a:tc>
                  <a:txBody>
                    <a:bodyPr/>
                    <a:lstStyle/>
                    <a:p>
                      <a:pPr>
                        <a:lnSpc>
                          <a:spcPct val="100000"/>
                        </a:lnSpc>
                      </a:pPr>
                      <a:endParaRPr sz="2400">
                        <a:latin typeface="Times New Roman"/>
                        <a:cs typeface="Times New Roman"/>
                      </a:endParaRPr>
                    </a:p>
                    <a:p>
                      <a:pPr>
                        <a:lnSpc>
                          <a:spcPct val="100000"/>
                        </a:lnSpc>
                      </a:pPr>
                      <a:endParaRPr sz="2400">
                        <a:latin typeface="Times New Roman"/>
                        <a:cs typeface="Times New Roman"/>
                      </a:endParaRPr>
                    </a:p>
                    <a:p>
                      <a:pPr>
                        <a:lnSpc>
                          <a:spcPct val="100000"/>
                        </a:lnSpc>
                        <a:spcBef>
                          <a:spcPts val="575"/>
                        </a:spcBef>
                      </a:pPr>
                      <a:endParaRPr sz="2400">
                        <a:latin typeface="Times New Roman"/>
                        <a:cs typeface="Times New Roman"/>
                      </a:endParaRPr>
                    </a:p>
                    <a:p>
                      <a:pPr marL="427355">
                        <a:lnSpc>
                          <a:spcPct val="100000"/>
                        </a:lnSpc>
                        <a:spcBef>
                          <a:spcPts val="5"/>
                        </a:spcBef>
                      </a:pPr>
                      <a:r>
                        <a:rPr sz="2400" spc="-25" dirty="0">
                          <a:latin typeface="SimSun"/>
                          <a:cs typeface="SimSun"/>
                        </a:rPr>
                        <a:t>意义</a:t>
                      </a:r>
                      <a:endParaRPr sz="2400">
                        <a:latin typeface="SimSun"/>
                        <a:cs typeface="SimSun"/>
                      </a:endParaRPr>
                    </a:p>
                    <a:p>
                      <a:pPr marL="285115">
                        <a:lnSpc>
                          <a:spcPct val="100000"/>
                        </a:lnSpc>
                        <a:spcBef>
                          <a:spcPts val="30"/>
                        </a:spcBef>
                      </a:pPr>
                      <a:r>
                        <a:rPr sz="2000" dirty="0">
                          <a:latin typeface="SimSun"/>
                          <a:cs typeface="SimSun"/>
                        </a:rPr>
                        <a:t>（6分</a:t>
                      </a:r>
                      <a:r>
                        <a:rPr sz="2000" spc="-50" dirty="0">
                          <a:latin typeface="SimSun"/>
                          <a:cs typeface="SimSun"/>
                        </a:rPr>
                        <a:t>）</a:t>
                      </a:r>
                      <a:endParaRPr sz="2000">
                        <a:latin typeface="SimSun"/>
                        <a:cs typeface="SimSu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1440">
                        <a:lnSpc>
                          <a:spcPct val="100000"/>
                        </a:lnSpc>
                        <a:spcBef>
                          <a:spcPts val="219"/>
                        </a:spcBef>
                      </a:pPr>
                      <a:r>
                        <a:rPr sz="2400" spc="-5" dirty="0">
                          <a:latin typeface="SimSun"/>
                          <a:cs typeface="SimSun"/>
                        </a:rPr>
                        <a:t>【规范“竞业限制”】</a:t>
                      </a:r>
                      <a:endParaRPr sz="2400">
                        <a:latin typeface="SimSun"/>
                        <a:cs typeface="SimSun"/>
                      </a:endParaRPr>
                    </a:p>
                    <a:p>
                      <a:pPr marL="548640">
                        <a:lnSpc>
                          <a:spcPct val="100000"/>
                        </a:lnSpc>
                        <a:spcBef>
                          <a:spcPts val="215"/>
                        </a:spcBef>
                        <a:tabLst>
                          <a:tab pos="6340475" algn="l"/>
                          <a:tab pos="6645275" algn="l"/>
                        </a:tabLst>
                      </a:pPr>
                      <a:r>
                        <a:rPr sz="2400" dirty="0">
                          <a:latin typeface="SimSun"/>
                          <a:cs typeface="SimSun"/>
                        </a:rPr>
                        <a:t>有利于企业商业秘密保护 / 保护知识产</a:t>
                      </a:r>
                      <a:r>
                        <a:rPr sz="2400" spc="-50" dirty="0">
                          <a:latin typeface="SimSun"/>
                          <a:cs typeface="SimSun"/>
                        </a:rPr>
                        <a:t>权</a:t>
                      </a:r>
                      <a:r>
                        <a:rPr sz="2400" dirty="0">
                          <a:latin typeface="SimSun"/>
                          <a:cs typeface="SimSun"/>
                        </a:rPr>
                        <a:t>	</a:t>
                      </a:r>
                      <a:r>
                        <a:rPr sz="2400" spc="-50" dirty="0">
                          <a:latin typeface="SimSun"/>
                          <a:cs typeface="SimSun"/>
                        </a:rPr>
                        <a:t>/</a:t>
                      </a:r>
                      <a:r>
                        <a:rPr sz="2400" dirty="0">
                          <a:latin typeface="SimSun"/>
                          <a:cs typeface="SimSun"/>
                        </a:rPr>
                        <a:t>	推动社会创</a:t>
                      </a:r>
                      <a:r>
                        <a:rPr sz="2400" spc="-50" dirty="0">
                          <a:latin typeface="SimSun"/>
                          <a:cs typeface="SimSun"/>
                        </a:rPr>
                        <a:t>新</a:t>
                      </a:r>
                      <a:endParaRPr sz="2400">
                        <a:latin typeface="SimSun"/>
                        <a:cs typeface="SimSun"/>
                      </a:endParaRPr>
                    </a:p>
                    <a:p>
                      <a:pPr marL="6035675">
                        <a:lnSpc>
                          <a:spcPts val="2440"/>
                        </a:lnSpc>
                        <a:spcBef>
                          <a:spcPts val="300"/>
                        </a:spcBef>
                      </a:pPr>
                      <a:r>
                        <a:rPr sz="2100" b="1" spc="-95" dirty="0">
                          <a:latin typeface="Microsoft JhengHei"/>
                          <a:cs typeface="Microsoft JhengHei"/>
                        </a:rPr>
                        <a:t>（</a:t>
                      </a:r>
                      <a:r>
                        <a:rPr sz="2100" b="1" spc="-105" dirty="0">
                          <a:latin typeface="Microsoft JhengHei"/>
                          <a:cs typeface="Microsoft JhengHei"/>
                        </a:rPr>
                        <a:t>以上出现任意两条给</a:t>
                      </a:r>
                      <a:r>
                        <a:rPr sz="2100" b="1" i="1" spc="-165" dirty="0">
                          <a:latin typeface="Arial"/>
                          <a:cs typeface="Arial"/>
                        </a:rPr>
                        <a:t>2</a:t>
                      </a:r>
                      <a:r>
                        <a:rPr sz="2100" b="1" spc="-95" dirty="0">
                          <a:latin typeface="Microsoft JhengHei"/>
                          <a:cs typeface="Microsoft JhengHei"/>
                        </a:rPr>
                        <a:t>分</a:t>
                      </a:r>
                      <a:r>
                        <a:rPr sz="2100" b="1" i="1" spc="250" dirty="0">
                          <a:latin typeface="Arial"/>
                          <a:cs typeface="Arial"/>
                        </a:rPr>
                        <a:t>)</a:t>
                      </a:r>
                      <a:endParaRPr sz="2100">
                        <a:latin typeface="Arial"/>
                        <a:cs typeface="Arial"/>
                      </a:endParaRPr>
                    </a:p>
                    <a:p>
                      <a:pPr marL="91440">
                        <a:lnSpc>
                          <a:spcPts val="2800"/>
                        </a:lnSpc>
                      </a:pPr>
                      <a:r>
                        <a:rPr sz="2400" spc="-15" dirty="0">
                          <a:latin typeface="SimSun"/>
                          <a:cs typeface="SimSun"/>
                        </a:rPr>
                        <a:t>【对“竞业限制”的限制】</a:t>
                      </a:r>
                      <a:endParaRPr sz="2400">
                        <a:latin typeface="SimSun"/>
                        <a:cs typeface="SimSun"/>
                      </a:endParaRPr>
                    </a:p>
                    <a:p>
                      <a:pPr marL="624840">
                        <a:lnSpc>
                          <a:spcPct val="100000"/>
                        </a:lnSpc>
                        <a:spcBef>
                          <a:spcPts val="50"/>
                        </a:spcBef>
                        <a:tabLst>
                          <a:tab pos="4740275" algn="l"/>
                        </a:tabLst>
                      </a:pPr>
                      <a:r>
                        <a:rPr sz="2400" dirty="0">
                          <a:latin typeface="SimSun"/>
                          <a:cs typeface="SimSun"/>
                        </a:rPr>
                        <a:t>保护劳动者的基本劳动权利</a:t>
                      </a:r>
                      <a:r>
                        <a:rPr sz="2400" spc="5" dirty="0">
                          <a:latin typeface="SimSun"/>
                          <a:cs typeface="SimSun"/>
                        </a:rPr>
                        <a:t> </a:t>
                      </a:r>
                      <a:r>
                        <a:rPr sz="2400" spc="-50" dirty="0">
                          <a:latin typeface="SimSun"/>
                          <a:cs typeface="SimSun"/>
                        </a:rPr>
                        <a:t>/</a:t>
                      </a:r>
                      <a:r>
                        <a:rPr sz="2400" dirty="0">
                          <a:latin typeface="SimSun"/>
                          <a:cs typeface="SimSun"/>
                        </a:rPr>
                        <a:t>	有利于人才资源合理配</a:t>
                      </a:r>
                      <a:r>
                        <a:rPr sz="2400" spc="-50" dirty="0">
                          <a:latin typeface="SimSun"/>
                          <a:cs typeface="SimSun"/>
                        </a:rPr>
                        <a:t>置</a:t>
                      </a:r>
                      <a:endParaRPr sz="2400">
                        <a:latin typeface="SimSun"/>
                        <a:cs typeface="SimSun"/>
                      </a:endParaRPr>
                    </a:p>
                    <a:p>
                      <a:pPr marL="6094730">
                        <a:lnSpc>
                          <a:spcPts val="2440"/>
                        </a:lnSpc>
                        <a:spcBef>
                          <a:spcPts val="465"/>
                        </a:spcBef>
                      </a:pPr>
                      <a:r>
                        <a:rPr sz="2100" b="1" spc="-95" dirty="0">
                          <a:latin typeface="Microsoft JhengHei"/>
                          <a:cs typeface="Microsoft JhengHei"/>
                        </a:rPr>
                        <a:t>（</a:t>
                      </a:r>
                      <a:r>
                        <a:rPr sz="2100" b="1" spc="-105" dirty="0">
                          <a:latin typeface="Microsoft JhengHei"/>
                          <a:cs typeface="Microsoft JhengHei"/>
                        </a:rPr>
                        <a:t>以上出现任意一条给</a:t>
                      </a:r>
                      <a:r>
                        <a:rPr sz="2100" b="1" i="1" spc="-165" dirty="0">
                          <a:latin typeface="Arial"/>
                          <a:cs typeface="Arial"/>
                        </a:rPr>
                        <a:t>2</a:t>
                      </a:r>
                      <a:r>
                        <a:rPr sz="2100" b="1" spc="-95" dirty="0">
                          <a:latin typeface="Microsoft JhengHei"/>
                          <a:cs typeface="Microsoft JhengHei"/>
                        </a:rPr>
                        <a:t>分</a:t>
                      </a:r>
                      <a:r>
                        <a:rPr sz="2100" b="1" i="1" spc="250" dirty="0">
                          <a:latin typeface="Arial"/>
                          <a:cs typeface="Arial"/>
                        </a:rPr>
                        <a:t>)</a:t>
                      </a:r>
                      <a:endParaRPr sz="2100">
                        <a:latin typeface="Arial"/>
                        <a:cs typeface="Arial"/>
                      </a:endParaRPr>
                    </a:p>
                    <a:p>
                      <a:pPr marL="91440">
                        <a:lnSpc>
                          <a:spcPts val="2800"/>
                        </a:lnSpc>
                      </a:pPr>
                      <a:r>
                        <a:rPr sz="2400" spc="-20" dirty="0">
                          <a:latin typeface="SimSun"/>
                          <a:cs typeface="SimSun"/>
                        </a:rPr>
                        <a:t>【总结】：</a:t>
                      </a:r>
                      <a:endParaRPr sz="2400">
                        <a:latin typeface="SimSun"/>
                        <a:cs typeface="SimSun"/>
                      </a:endParaRPr>
                    </a:p>
                    <a:p>
                      <a:pPr marL="548640">
                        <a:lnSpc>
                          <a:spcPct val="100000"/>
                        </a:lnSpc>
                        <a:spcBef>
                          <a:spcPts val="55"/>
                        </a:spcBef>
                      </a:pPr>
                      <a:r>
                        <a:rPr sz="2400" dirty="0">
                          <a:latin typeface="SimSun"/>
                          <a:cs typeface="SimSun"/>
                        </a:rPr>
                        <a:t>平衡劳动者合法权益与企业商业秘密保护</a:t>
                      </a:r>
                      <a:r>
                        <a:rPr sz="2100" b="1" spc="-125" dirty="0">
                          <a:latin typeface="Microsoft JhengHei"/>
                          <a:cs typeface="Microsoft JhengHei"/>
                        </a:rPr>
                        <a:t>（</a:t>
                      </a:r>
                      <a:r>
                        <a:rPr sz="2100" b="1" i="1" spc="-125" dirty="0">
                          <a:latin typeface="Arial"/>
                          <a:cs typeface="Arial"/>
                        </a:rPr>
                        <a:t>2</a:t>
                      </a:r>
                      <a:r>
                        <a:rPr sz="2100" b="1" spc="-80" dirty="0">
                          <a:latin typeface="Microsoft JhengHei"/>
                          <a:cs typeface="Microsoft JhengHei"/>
                        </a:rPr>
                        <a:t>分</a:t>
                      </a:r>
                      <a:r>
                        <a:rPr sz="2100" b="1" spc="-50" dirty="0">
                          <a:latin typeface="Microsoft JhengHei"/>
                          <a:cs typeface="Microsoft JhengHei"/>
                        </a:rPr>
                        <a:t>）</a:t>
                      </a:r>
                      <a:endParaRPr sz="2100">
                        <a:latin typeface="Microsoft JhengHei"/>
                        <a:cs typeface="Microsoft JhengHei"/>
                      </a:endParaRPr>
                    </a:p>
                    <a:p>
                      <a:pPr marL="548640">
                        <a:lnSpc>
                          <a:spcPct val="100000"/>
                        </a:lnSpc>
                        <a:spcBef>
                          <a:spcPts val="465"/>
                        </a:spcBef>
                        <a:tabLst>
                          <a:tab pos="4257040" algn="l"/>
                          <a:tab pos="4512945" algn="l"/>
                          <a:tab pos="6176010" algn="l"/>
                        </a:tabLst>
                      </a:pPr>
                      <a:r>
                        <a:rPr sz="2100" b="1" spc="-95" dirty="0">
                          <a:latin typeface="Microsoft JhengHei"/>
                          <a:cs typeface="Microsoft JhengHei"/>
                        </a:rPr>
                        <a:t>（替代</a:t>
                      </a:r>
                      <a:r>
                        <a:rPr sz="2100" b="1" spc="-105" dirty="0">
                          <a:latin typeface="Microsoft JhengHei"/>
                          <a:cs typeface="Microsoft JhengHei"/>
                        </a:rPr>
                        <a:t>答</a:t>
                      </a:r>
                      <a:r>
                        <a:rPr sz="2100" b="1" spc="-95" dirty="0">
                          <a:latin typeface="Microsoft JhengHei"/>
                          <a:cs typeface="Microsoft JhengHei"/>
                        </a:rPr>
                        <a:t>案：维护</a:t>
                      </a:r>
                      <a:r>
                        <a:rPr sz="2100" b="1" spc="-105" dirty="0">
                          <a:latin typeface="Microsoft JhengHei"/>
                          <a:cs typeface="Microsoft JhengHei"/>
                        </a:rPr>
                        <a:t>市场</a:t>
                      </a:r>
                      <a:r>
                        <a:rPr sz="2100" b="1" spc="-95" dirty="0">
                          <a:latin typeface="Microsoft JhengHei"/>
                          <a:cs typeface="Microsoft JhengHei"/>
                        </a:rPr>
                        <a:t>公平竞</a:t>
                      </a:r>
                      <a:r>
                        <a:rPr sz="2100" b="1" spc="-50" dirty="0">
                          <a:latin typeface="Microsoft JhengHei"/>
                          <a:cs typeface="Microsoft JhengHei"/>
                        </a:rPr>
                        <a:t>争</a:t>
                      </a:r>
                      <a:r>
                        <a:rPr sz="2100" b="1" dirty="0">
                          <a:latin typeface="Microsoft JhengHei"/>
                          <a:cs typeface="Microsoft JhengHei"/>
                        </a:rPr>
                        <a:t>	</a:t>
                      </a:r>
                      <a:r>
                        <a:rPr sz="2100" b="1" i="1" spc="360" dirty="0">
                          <a:latin typeface="Arial"/>
                          <a:cs typeface="Arial"/>
                        </a:rPr>
                        <a:t>/</a:t>
                      </a:r>
                      <a:r>
                        <a:rPr sz="2100" b="1" i="1" dirty="0">
                          <a:latin typeface="Arial"/>
                          <a:cs typeface="Arial"/>
                        </a:rPr>
                        <a:t>	</a:t>
                      </a:r>
                      <a:r>
                        <a:rPr sz="2100" b="1" spc="-95" dirty="0">
                          <a:latin typeface="Microsoft JhengHei"/>
                          <a:cs typeface="Microsoft JhengHei"/>
                        </a:rPr>
                        <a:t>遵循公平</a:t>
                      </a:r>
                      <a:r>
                        <a:rPr sz="2100" b="1" spc="-105" dirty="0">
                          <a:latin typeface="Microsoft JhengHei"/>
                          <a:cs typeface="Microsoft JhengHei"/>
                        </a:rPr>
                        <a:t>原</a:t>
                      </a:r>
                      <a:r>
                        <a:rPr sz="2100" b="1" spc="-50" dirty="0">
                          <a:latin typeface="Microsoft JhengHei"/>
                          <a:cs typeface="Microsoft JhengHei"/>
                        </a:rPr>
                        <a:t>则</a:t>
                      </a:r>
                      <a:r>
                        <a:rPr sz="2100" b="1" dirty="0">
                          <a:latin typeface="Microsoft JhengHei"/>
                          <a:cs typeface="Microsoft JhengHei"/>
                        </a:rPr>
                        <a:t>	</a:t>
                      </a:r>
                      <a:r>
                        <a:rPr sz="2100" b="1" i="1" spc="415" dirty="0">
                          <a:latin typeface="Arial"/>
                          <a:cs typeface="Arial"/>
                        </a:rPr>
                        <a:t>/</a:t>
                      </a:r>
                      <a:r>
                        <a:rPr sz="2100" b="1" spc="-95" dirty="0">
                          <a:latin typeface="Microsoft JhengHei"/>
                          <a:cs typeface="Microsoft JhengHei"/>
                        </a:rPr>
                        <a:t>权利和</a:t>
                      </a:r>
                      <a:r>
                        <a:rPr sz="2100" b="1" spc="-105" dirty="0">
                          <a:latin typeface="Microsoft JhengHei"/>
                          <a:cs typeface="Microsoft JhengHei"/>
                        </a:rPr>
                        <a:t>义务</a:t>
                      </a:r>
                      <a:r>
                        <a:rPr sz="2100" b="1" spc="-95" dirty="0">
                          <a:latin typeface="Microsoft JhengHei"/>
                          <a:cs typeface="Microsoft JhengHei"/>
                        </a:rPr>
                        <a:t>相统一，</a:t>
                      </a:r>
                      <a:r>
                        <a:rPr sz="2100" b="1" spc="-80" dirty="0">
                          <a:latin typeface="Microsoft JhengHei"/>
                          <a:cs typeface="Microsoft JhengHei"/>
                        </a:rPr>
                        <a:t>给</a:t>
                      </a:r>
                      <a:r>
                        <a:rPr sz="2100" b="1" i="1" spc="-180" dirty="0">
                          <a:latin typeface="Arial"/>
                          <a:cs typeface="Arial"/>
                        </a:rPr>
                        <a:t>1</a:t>
                      </a:r>
                      <a:r>
                        <a:rPr sz="2100" b="1" spc="-95" dirty="0">
                          <a:latin typeface="Microsoft JhengHei"/>
                          <a:cs typeface="Microsoft JhengHei"/>
                        </a:rPr>
                        <a:t>分</a:t>
                      </a:r>
                      <a:r>
                        <a:rPr sz="2100" b="1" spc="-50" dirty="0">
                          <a:latin typeface="Microsoft JhengHei"/>
                          <a:cs typeface="Microsoft JhengHei"/>
                        </a:rPr>
                        <a:t>）</a:t>
                      </a:r>
                      <a:endParaRPr sz="2100">
                        <a:latin typeface="Microsoft JhengHei"/>
                        <a:cs typeface="Microsoft JhengHei"/>
                      </a:endParaRPr>
                    </a:p>
                  </a:txBody>
                  <a:tcPr marL="0" marR="0" marT="2793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1"/>
                  </a:ext>
                </a:extLst>
              </a:tr>
              <a:tr h="2651760">
                <a:tc>
                  <a:txBody>
                    <a:bodyPr/>
                    <a:lstStyle/>
                    <a:p>
                      <a:pPr>
                        <a:lnSpc>
                          <a:spcPct val="100000"/>
                        </a:lnSpc>
                      </a:pPr>
                      <a:endParaRPr sz="2400">
                        <a:latin typeface="Times New Roman"/>
                        <a:cs typeface="Times New Roman"/>
                      </a:endParaRPr>
                    </a:p>
                    <a:p>
                      <a:pPr>
                        <a:lnSpc>
                          <a:spcPct val="100000"/>
                        </a:lnSpc>
                        <a:spcBef>
                          <a:spcPts val="465"/>
                        </a:spcBef>
                      </a:pPr>
                      <a:endParaRPr sz="2400">
                        <a:latin typeface="Times New Roman"/>
                        <a:cs typeface="Times New Roman"/>
                      </a:endParaRPr>
                    </a:p>
                    <a:p>
                      <a:pPr marL="635" algn="ctr">
                        <a:lnSpc>
                          <a:spcPct val="100000"/>
                        </a:lnSpc>
                      </a:pPr>
                      <a:r>
                        <a:rPr sz="2400" spc="-15" dirty="0">
                          <a:latin typeface="SimSun"/>
                          <a:cs typeface="SimSun"/>
                        </a:rPr>
                        <a:t>案例分析</a:t>
                      </a:r>
                      <a:endParaRPr sz="2400">
                        <a:latin typeface="SimSun"/>
                        <a:cs typeface="SimSun"/>
                      </a:endParaRPr>
                    </a:p>
                    <a:p>
                      <a:pPr algn="ctr">
                        <a:lnSpc>
                          <a:spcPct val="100000"/>
                        </a:lnSpc>
                        <a:spcBef>
                          <a:spcPts val="30"/>
                        </a:spcBef>
                      </a:pPr>
                      <a:r>
                        <a:rPr sz="2000" dirty="0">
                          <a:latin typeface="SimSun"/>
                          <a:cs typeface="SimSun"/>
                        </a:rPr>
                        <a:t>（2分</a:t>
                      </a:r>
                      <a:r>
                        <a:rPr sz="2000" spc="-50" dirty="0">
                          <a:latin typeface="SimSun"/>
                          <a:cs typeface="SimSun"/>
                        </a:rPr>
                        <a:t>）</a:t>
                      </a:r>
                      <a:endParaRPr sz="2000">
                        <a:latin typeface="SimSun"/>
                        <a:cs typeface="SimSu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1440">
                        <a:lnSpc>
                          <a:spcPct val="100000"/>
                        </a:lnSpc>
                        <a:spcBef>
                          <a:spcPts val="225"/>
                        </a:spcBef>
                      </a:pPr>
                      <a:r>
                        <a:rPr sz="2400" dirty="0">
                          <a:latin typeface="SimSun"/>
                          <a:cs typeface="SimSun"/>
                        </a:rPr>
                        <a:t>【案例一分析1</a:t>
                      </a:r>
                      <a:r>
                        <a:rPr sz="2400" spc="-25" dirty="0">
                          <a:latin typeface="SimSun"/>
                          <a:cs typeface="SimSun"/>
                        </a:rPr>
                        <a:t>分】</a:t>
                      </a:r>
                      <a:endParaRPr sz="2400">
                        <a:latin typeface="SimSun"/>
                        <a:cs typeface="SimSun"/>
                      </a:endParaRPr>
                    </a:p>
                    <a:p>
                      <a:pPr marL="701040">
                        <a:lnSpc>
                          <a:spcPct val="100000"/>
                        </a:lnSpc>
                        <a:spcBef>
                          <a:spcPts val="215"/>
                        </a:spcBef>
                      </a:pPr>
                      <a:r>
                        <a:rPr sz="2400" spc="-15" dirty="0">
                          <a:latin typeface="SimSun"/>
                          <a:cs typeface="SimSun"/>
                        </a:rPr>
                        <a:t>李某作为负有保密义务的劳动者，泄露公司商业秘密，违反协议约</a:t>
                      </a:r>
                      <a:endParaRPr sz="2400">
                        <a:latin typeface="SimSun"/>
                        <a:cs typeface="SimSun"/>
                      </a:endParaRPr>
                    </a:p>
                    <a:p>
                      <a:pPr marL="91440">
                        <a:lnSpc>
                          <a:spcPts val="2770"/>
                        </a:lnSpc>
                        <a:tabLst>
                          <a:tab pos="6341745" algn="l"/>
                        </a:tabLst>
                      </a:pPr>
                      <a:r>
                        <a:rPr sz="2400" dirty="0">
                          <a:latin typeface="SimSun"/>
                          <a:cs typeface="SimSun"/>
                        </a:rPr>
                        <a:t>定，应当承担违约责任</a:t>
                      </a:r>
                      <a:r>
                        <a:rPr sz="2400" spc="-50" dirty="0">
                          <a:latin typeface="SimSun"/>
                          <a:cs typeface="SimSun"/>
                        </a:rPr>
                        <a:t>。</a:t>
                      </a:r>
                      <a:r>
                        <a:rPr sz="2400" dirty="0">
                          <a:latin typeface="SimSun"/>
                          <a:cs typeface="SimSun"/>
                        </a:rPr>
                        <a:t>	</a:t>
                      </a:r>
                      <a:r>
                        <a:rPr sz="2100" b="1" spc="-95" dirty="0">
                          <a:latin typeface="Microsoft JhengHei"/>
                          <a:cs typeface="Microsoft JhengHei"/>
                        </a:rPr>
                        <a:t>（以上出</a:t>
                      </a:r>
                      <a:r>
                        <a:rPr sz="2100" b="1" spc="-105" dirty="0">
                          <a:latin typeface="Microsoft JhengHei"/>
                          <a:cs typeface="Microsoft JhengHei"/>
                        </a:rPr>
                        <a:t>现</a:t>
                      </a:r>
                      <a:r>
                        <a:rPr sz="2100" b="1" spc="-95" dirty="0">
                          <a:latin typeface="Microsoft JhengHei"/>
                          <a:cs typeface="Microsoft JhengHei"/>
                        </a:rPr>
                        <a:t>任意一条</a:t>
                      </a:r>
                      <a:r>
                        <a:rPr sz="2100" b="1" spc="-75" dirty="0">
                          <a:latin typeface="Microsoft JhengHei"/>
                          <a:cs typeface="Microsoft JhengHei"/>
                        </a:rPr>
                        <a:t>给</a:t>
                      </a:r>
                      <a:r>
                        <a:rPr sz="2100" b="1" i="1" spc="-180" dirty="0">
                          <a:latin typeface="Arial"/>
                          <a:cs typeface="Arial"/>
                        </a:rPr>
                        <a:t>1</a:t>
                      </a:r>
                      <a:r>
                        <a:rPr sz="2100" b="1" spc="-95" dirty="0">
                          <a:latin typeface="Microsoft JhengHei"/>
                          <a:cs typeface="Microsoft JhengHei"/>
                        </a:rPr>
                        <a:t>分</a:t>
                      </a:r>
                      <a:r>
                        <a:rPr sz="2100" b="1" i="1" spc="250" dirty="0">
                          <a:latin typeface="Arial"/>
                          <a:cs typeface="Arial"/>
                        </a:rPr>
                        <a:t>)</a:t>
                      </a:r>
                      <a:endParaRPr sz="2100">
                        <a:latin typeface="Arial"/>
                        <a:cs typeface="Arial"/>
                      </a:endParaRPr>
                    </a:p>
                    <a:p>
                      <a:pPr marL="91440">
                        <a:lnSpc>
                          <a:spcPts val="2770"/>
                        </a:lnSpc>
                      </a:pPr>
                      <a:r>
                        <a:rPr sz="2400" dirty="0">
                          <a:latin typeface="SimSun"/>
                          <a:cs typeface="SimSun"/>
                        </a:rPr>
                        <a:t>【案例二分析1</a:t>
                      </a:r>
                      <a:r>
                        <a:rPr sz="2400" spc="-25" dirty="0">
                          <a:latin typeface="SimSun"/>
                          <a:cs typeface="SimSun"/>
                        </a:rPr>
                        <a:t>分】</a:t>
                      </a:r>
                      <a:endParaRPr sz="2400">
                        <a:latin typeface="SimSun"/>
                        <a:cs typeface="SimSun"/>
                      </a:endParaRPr>
                    </a:p>
                    <a:p>
                      <a:pPr marL="91440" marR="151130" indent="533400">
                        <a:lnSpc>
                          <a:spcPts val="3050"/>
                        </a:lnSpc>
                        <a:spcBef>
                          <a:spcPts val="10"/>
                        </a:spcBef>
                      </a:pPr>
                      <a:r>
                        <a:rPr sz="2400" spc="-5" dirty="0">
                          <a:latin typeface="SimSun"/>
                          <a:cs typeface="SimSun"/>
                        </a:rPr>
                        <a:t>刘某作为公司普通员工，并非负有保密义务的人员，餐饮公司与其签订的竞业限制协议违反了相关法律规定，协议无效。</a:t>
                      </a:r>
                      <a:endParaRPr sz="2400">
                        <a:latin typeface="SimSun"/>
                        <a:cs typeface="SimSun"/>
                      </a:endParaRPr>
                    </a:p>
                    <a:p>
                      <a:pPr marL="6249035">
                        <a:lnSpc>
                          <a:spcPct val="100000"/>
                        </a:lnSpc>
                        <a:spcBef>
                          <a:spcPts val="170"/>
                        </a:spcBef>
                      </a:pPr>
                      <a:r>
                        <a:rPr sz="2100" b="1" spc="-95" dirty="0">
                          <a:latin typeface="Microsoft JhengHei"/>
                          <a:cs typeface="Microsoft JhengHei"/>
                        </a:rPr>
                        <a:t>（</a:t>
                      </a:r>
                      <a:r>
                        <a:rPr sz="2100" b="1" spc="-105" dirty="0">
                          <a:latin typeface="Microsoft JhengHei"/>
                          <a:cs typeface="Microsoft JhengHei"/>
                        </a:rPr>
                        <a:t>以上出现任意一条给</a:t>
                      </a:r>
                      <a:r>
                        <a:rPr sz="2100" b="1" i="1" spc="-165" dirty="0">
                          <a:latin typeface="Arial"/>
                          <a:cs typeface="Arial"/>
                        </a:rPr>
                        <a:t>1</a:t>
                      </a:r>
                      <a:r>
                        <a:rPr sz="2100" b="1" spc="-95" dirty="0">
                          <a:latin typeface="Microsoft JhengHei"/>
                          <a:cs typeface="Microsoft JhengHei"/>
                        </a:rPr>
                        <a:t>分</a:t>
                      </a:r>
                      <a:r>
                        <a:rPr sz="2100" b="1" i="1" spc="250" dirty="0">
                          <a:latin typeface="Arial"/>
                          <a:cs typeface="Arial"/>
                        </a:rPr>
                        <a:t>)</a:t>
                      </a:r>
                      <a:endParaRPr sz="2100">
                        <a:latin typeface="Arial"/>
                        <a:cs typeface="Arial"/>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05155" y="179273"/>
            <a:ext cx="2466975" cy="514350"/>
          </a:xfrm>
          <a:prstGeom prst="rect">
            <a:avLst/>
          </a:prstGeom>
        </p:spPr>
        <p:txBody>
          <a:bodyPr vert="horz" wrap="square" lIns="0" tIns="13335" rIns="0" bIns="0" rtlCol="0">
            <a:spAutoFit/>
          </a:bodyPr>
          <a:lstStyle/>
          <a:p>
            <a:pPr marL="12700">
              <a:lnSpc>
                <a:spcPct val="100000"/>
              </a:lnSpc>
              <a:spcBef>
                <a:spcPts val="105"/>
              </a:spcBef>
            </a:pPr>
            <a:r>
              <a:rPr sz="3200" b="1" spc="-20" dirty="0">
                <a:solidFill>
                  <a:srgbClr val="001F5F"/>
                </a:solidFill>
                <a:latin typeface="Microsoft JhengHei"/>
                <a:cs typeface="Microsoft JhengHei"/>
              </a:rPr>
              <a:t>二、典型问题</a:t>
            </a:r>
            <a:endParaRPr sz="3200">
              <a:latin typeface="Microsoft JhengHei"/>
              <a:cs typeface="Microsoft JhengHei"/>
            </a:endParaRPr>
          </a:p>
        </p:txBody>
      </p:sp>
      <p:sp>
        <p:nvSpPr>
          <p:cNvPr id="3" name="object 3"/>
          <p:cNvSpPr txBox="1"/>
          <p:nvPr/>
        </p:nvSpPr>
        <p:spPr>
          <a:xfrm>
            <a:off x="683463" y="1161415"/>
            <a:ext cx="2056764" cy="391160"/>
          </a:xfrm>
          <a:prstGeom prst="rect">
            <a:avLst/>
          </a:prstGeom>
        </p:spPr>
        <p:txBody>
          <a:bodyPr vert="horz" wrap="square" lIns="0" tIns="12700" rIns="0" bIns="0" rtlCol="0">
            <a:spAutoFit/>
          </a:bodyPr>
          <a:lstStyle/>
          <a:p>
            <a:pPr marL="12700">
              <a:lnSpc>
                <a:spcPct val="100000"/>
              </a:lnSpc>
              <a:spcBef>
                <a:spcPts val="100"/>
              </a:spcBef>
            </a:pPr>
            <a:r>
              <a:rPr sz="2400" b="1" spc="155" dirty="0">
                <a:solidFill>
                  <a:srgbClr val="252525"/>
                </a:solidFill>
                <a:latin typeface="Times New Roman"/>
                <a:cs typeface="Times New Roman"/>
              </a:rPr>
              <a:t>1</a:t>
            </a:r>
            <a:r>
              <a:rPr sz="2400" b="1" spc="-70" dirty="0">
                <a:solidFill>
                  <a:srgbClr val="252525"/>
                </a:solidFill>
                <a:latin typeface="Times New Roman"/>
                <a:cs typeface="Times New Roman"/>
              </a:rPr>
              <a:t>. </a:t>
            </a:r>
            <a:r>
              <a:rPr sz="2400" b="1" spc="300" dirty="0">
                <a:solidFill>
                  <a:srgbClr val="252525"/>
                </a:solidFill>
                <a:latin typeface="Microsoft JhengHei UI"/>
                <a:cs typeface="Microsoft JhengHei UI"/>
              </a:rPr>
              <a:t>不分析案例</a:t>
            </a:r>
            <a:endParaRPr sz="2400">
              <a:latin typeface="Microsoft JhengHei UI"/>
              <a:cs typeface="Microsoft JhengHei UI"/>
            </a:endParaRPr>
          </a:p>
        </p:txBody>
      </p:sp>
      <p:pic>
        <p:nvPicPr>
          <p:cNvPr id="4" name="object 4"/>
          <p:cNvPicPr/>
          <p:nvPr/>
        </p:nvPicPr>
        <p:blipFill>
          <a:blip r:embed="rId2" cstate="print"/>
          <a:stretch>
            <a:fillRect/>
          </a:stretch>
        </p:blipFill>
        <p:spPr>
          <a:xfrm>
            <a:off x="1270635" y="1871345"/>
            <a:ext cx="9650730" cy="441376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3200" b="1" spc="-10" dirty="0">
                <a:solidFill>
                  <a:srgbClr val="001F5F"/>
                </a:solidFill>
                <a:latin typeface="Microsoft JhengHei"/>
                <a:cs typeface="Microsoft JhengHei"/>
              </a:rPr>
              <a:t>二、典型问题</a:t>
            </a:r>
            <a:endParaRPr sz="3200">
              <a:latin typeface="Microsoft JhengHei"/>
              <a:cs typeface="Microsoft JhengHei"/>
            </a:endParaRPr>
          </a:p>
        </p:txBody>
      </p:sp>
      <p:sp>
        <p:nvSpPr>
          <p:cNvPr id="3" name="object 3"/>
          <p:cNvSpPr txBox="1"/>
          <p:nvPr/>
        </p:nvSpPr>
        <p:spPr>
          <a:xfrm>
            <a:off x="786180" y="1061720"/>
            <a:ext cx="412242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52525"/>
                </a:solidFill>
                <a:latin typeface="Times New Roman"/>
                <a:cs typeface="Times New Roman"/>
              </a:rPr>
              <a:t>2</a:t>
            </a:r>
            <a:r>
              <a:rPr sz="2400" b="1" spc="-195" dirty="0">
                <a:solidFill>
                  <a:srgbClr val="252525"/>
                </a:solidFill>
                <a:latin typeface="Times New Roman"/>
                <a:cs typeface="Times New Roman"/>
              </a:rPr>
              <a:t> . </a:t>
            </a:r>
            <a:r>
              <a:rPr sz="2400" b="1" spc="380" dirty="0">
                <a:solidFill>
                  <a:srgbClr val="252525"/>
                </a:solidFill>
                <a:latin typeface="Microsoft JhengHei UI"/>
                <a:cs typeface="Microsoft JhengHei UI"/>
              </a:rPr>
              <a:t>想不到“ 平衡” 双方利益</a:t>
            </a:r>
            <a:endParaRPr sz="2400">
              <a:latin typeface="Microsoft JhengHei UI"/>
              <a:cs typeface="Microsoft JhengHei UI"/>
            </a:endParaRPr>
          </a:p>
        </p:txBody>
      </p:sp>
      <p:grpSp>
        <p:nvGrpSpPr>
          <p:cNvPr id="4" name="object 4"/>
          <p:cNvGrpSpPr/>
          <p:nvPr/>
        </p:nvGrpSpPr>
        <p:grpSpPr>
          <a:xfrm>
            <a:off x="1146068" y="1856104"/>
            <a:ext cx="4726305" cy="3785235"/>
            <a:chOff x="1146068" y="1856104"/>
            <a:chExt cx="4726305" cy="3785235"/>
          </a:xfrm>
        </p:grpSpPr>
        <p:pic>
          <p:nvPicPr>
            <p:cNvPr id="5" name="object 5"/>
            <p:cNvPicPr/>
            <p:nvPr/>
          </p:nvPicPr>
          <p:blipFill>
            <a:blip r:embed="rId2" cstate="print"/>
            <a:stretch>
              <a:fillRect/>
            </a:stretch>
          </p:blipFill>
          <p:spPr>
            <a:xfrm>
              <a:off x="1146068" y="1856104"/>
              <a:ext cx="4373670" cy="3785100"/>
            </a:xfrm>
            <a:prstGeom prst="rect">
              <a:avLst/>
            </a:prstGeom>
          </p:spPr>
        </p:pic>
        <p:sp>
          <p:nvSpPr>
            <p:cNvPr id="6" name="object 6"/>
            <p:cNvSpPr/>
            <p:nvPr/>
          </p:nvSpPr>
          <p:spPr>
            <a:xfrm>
              <a:off x="4049394" y="2849244"/>
              <a:ext cx="1793875" cy="1146175"/>
            </a:xfrm>
            <a:custGeom>
              <a:avLst/>
              <a:gdLst/>
              <a:ahLst/>
              <a:cxnLst/>
              <a:rect l="l" t="t" r="r" b="b"/>
              <a:pathLst>
                <a:path w="1793875" h="1146175">
                  <a:moveTo>
                    <a:pt x="0" y="191007"/>
                  </a:moveTo>
                  <a:lnTo>
                    <a:pt x="5042" y="147197"/>
                  </a:lnTo>
                  <a:lnTo>
                    <a:pt x="19406" y="106987"/>
                  </a:lnTo>
                  <a:lnTo>
                    <a:pt x="41947" y="71522"/>
                  </a:lnTo>
                  <a:lnTo>
                    <a:pt x="71522" y="41947"/>
                  </a:lnTo>
                  <a:lnTo>
                    <a:pt x="106987" y="19406"/>
                  </a:lnTo>
                  <a:lnTo>
                    <a:pt x="147197" y="5042"/>
                  </a:lnTo>
                  <a:lnTo>
                    <a:pt x="191007" y="0"/>
                  </a:lnTo>
                  <a:lnTo>
                    <a:pt x="1602866" y="0"/>
                  </a:lnTo>
                  <a:lnTo>
                    <a:pt x="1646677" y="5042"/>
                  </a:lnTo>
                  <a:lnTo>
                    <a:pt x="1686887" y="19406"/>
                  </a:lnTo>
                  <a:lnTo>
                    <a:pt x="1722352" y="41947"/>
                  </a:lnTo>
                  <a:lnTo>
                    <a:pt x="1751927" y="71522"/>
                  </a:lnTo>
                  <a:lnTo>
                    <a:pt x="1774468" y="106987"/>
                  </a:lnTo>
                  <a:lnTo>
                    <a:pt x="1788832" y="147197"/>
                  </a:lnTo>
                  <a:lnTo>
                    <a:pt x="1793875" y="191007"/>
                  </a:lnTo>
                  <a:lnTo>
                    <a:pt x="1793875" y="955166"/>
                  </a:lnTo>
                  <a:lnTo>
                    <a:pt x="1788832" y="998977"/>
                  </a:lnTo>
                  <a:lnTo>
                    <a:pt x="1774468" y="1039187"/>
                  </a:lnTo>
                  <a:lnTo>
                    <a:pt x="1751927" y="1074652"/>
                  </a:lnTo>
                  <a:lnTo>
                    <a:pt x="1722352" y="1104227"/>
                  </a:lnTo>
                  <a:lnTo>
                    <a:pt x="1686887" y="1126768"/>
                  </a:lnTo>
                  <a:lnTo>
                    <a:pt x="1646677" y="1141132"/>
                  </a:lnTo>
                  <a:lnTo>
                    <a:pt x="1602866" y="1146174"/>
                  </a:lnTo>
                  <a:lnTo>
                    <a:pt x="191007" y="1146174"/>
                  </a:lnTo>
                  <a:lnTo>
                    <a:pt x="147197" y="1141132"/>
                  </a:lnTo>
                  <a:lnTo>
                    <a:pt x="106987" y="1126768"/>
                  </a:lnTo>
                  <a:lnTo>
                    <a:pt x="71522" y="1104227"/>
                  </a:lnTo>
                  <a:lnTo>
                    <a:pt x="41947" y="1074652"/>
                  </a:lnTo>
                  <a:lnTo>
                    <a:pt x="19406" y="1039187"/>
                  </a:lnTo>
                  <a:lnTo>
                    <a:pt x="5042" y="998977"/>
                  </a:lnTo>
                  <a:lnTo>
                    <a:pt x="0" y="955166"/>
                  </a:lnTo>
                  <a:lnTo>
                    <a:pt x="0" y="191007"/>
                  </a:lnTo>
                  <a:close/>
                </a:path>
              </a:pathLst>
            </a:custGeom>
            <a:ln w="57150">
              <a:solidFill>
                <a:srgbClr val="C00000"/>
              </a:solidFill>
            </a:ln>
          </p:spPr>
          <p:txBody>
            <a:bodyPr wrap="square" lIns="0" tIns="0" rIns="0" bIns="0" rtlCol="0"/>
            <a:lstStyle/>
            <a:p>
              <a:endParaRPr/>
            </a:p>
          </p:txBody>
        </p:sp>
      </p:grpSp>
      <p:sp>
        <p:nvSpPr>
          <p:cNvPr id="7" name="object 7"/>
          <p:cNvSpPr txBox="1"/>
          <p:nvPr/>
        </p:nvSpPr>
        <p:spPr>
          <a:xfrm>
            <a:off x="1487550" y="6155842"/>
            <a:ext cx="3931920" cy="452120"/>
          </a:xfrm>
          <a:prstGeom prst="rect">
            <a:avLst/>
          </a:prstGeom>
        </p:spPr>
        <p:txBody>
          <a:bodyPr vert="horz" wrap="square" lIns="0" tIns="12065" rIns="0" bIns="0" rtlCol="0">
            <a:spAutoFit/>
          </a:bodyPr>
          <a:lstStyle/>
          <a:p>
            <a:pPr marL="12700">
              <a:lnSpc>
                <a:spcPct val="100000"/>
              </a:lnSpc>
              <a:spcBef>
                <a:spcPts val="95"/>
              </a:spcBef>
            </a:pPr>
            <a:r>
              <a:rPr sz="2800" spc="-40" dirty="0">
                <a:latin typeface="SimSun"/>
                <a:cs typeface="SimSun"/>
              </a:rPr>
              <a:t>思想政治学科的关键能力</a:t>
            </a:r>
            <a:endParaRPr sz="2800">
              <a:latin typeface="SimSun"/>
              <a:cs typeface="SimSun"/>
            </a:endParaRPr>
          </a:p>
        </p:txBody>
      </p:sp>
      <p:pic>
        <p:nvPicPr>
          <p:cNvPr id="8" name="object 8"/>
          <p:cNvPicPr/>
          <p:nvPr/>
        </p:nvPicPr>
        <p:blipFill>
          <a:blip r:embed="rId3" cstate="print"/>
          <a:stretch>
            <a:fillRect/>
          </a:stretch>
        </p:blipFill>
        <p:spPr>
          <a:xfrm>
            <a:off x="7896859" y="1663700"/>
            <a:ext cx="3425825" cy="466217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5155" y="179273"/>
            <a:ext cx="2466975" cy="514350"/>
          </a:xfrm>
          <a:prstGeom prst="rect">
            <a:avLst/>
          </a:prstGeom>
        </p:spPr>
        <p:txBody>
          <a:bodyPr vert="horz" wrap="square" lIns="0" tIns="13335" rIns="0" bIns="0" rtlCol="0">
            <a:spAutoFit/>
          </a:bodyPr>
          <a:lstStyle/>
          <a:p>
            <a:pPr marL="12700">
              <a:lnSpc>
                <a:spcPct val="100000"/>
              </a:lnSpc>
              <a:spcBef>
                <a:spcPts val="105"/>
              </a:spcBef>
            </a:pPr>
            <a:r>
              <a:rPr sz="3200" b="1" spc="-20" dirty="0">
                <a:solidFill>
                  <a:srgbClr val="001F5F"/>
                </a:solidFill>
                <a:latin typeface="Microsoft JhengHei"/>
                <a:cs typeface="Microsoft JhengHei"/>
              </a:rPr>
              <a:t>二、典型问题</a:t>
            </a:r>
            <a:endParaRPr sz="3200">
              <a:latin typeface="Microsoft JhengHei"/>
              <a:cs typeface="Microsoft JhengHei"/>
            </a:endParaRPr>
          </a:p>
        </p:txBody>
      </p:sp>
      <p:sp>
        <p:nvSpPr>
          <p:cNvPr id="3" name="object 3"/>
          <p:cNvSpPr txBox="1"/>
          <p:nvPr/>
        </p:nvSpPr>
        <p:spPr>
          <a:xfrm>
            <a:off x="683463" y="1161415"/>
            <a:ext cx="10328910" cy="473011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52525"/>
                </a:solidFill>
                <a:latin typeface="Times New Roman"/>
                <a:cs typeface="Times New Roman"/>
              </a:rPr>
              <a:t>3</a:t>
            </a:r>
            <a:r>
              <a:rPr sz="2400" b="1" spc="-195" dirty="0">
                <a:solidFill>
                  <a:srgbClr val="252525"/>
                </a:solidFill>
                <a:latin typeface="Times New Roman"/>
                <a:cs typeface="Times New Roman"/>
              </a:rPr>
              <a:t> . </a:t>
            </a:r>
            <a:r>
              <a:rPr sz="2400" b="1" spc="300" dirty="0">
                <a:solidFill>
                  <a:srgbClr val="252525"/>
                </a:solidFill>
                <a:latin typeface="Microsoft JhengHei UI"/>
                <a:cs typeface="Microsoft JhengHei UI"/>
              </a:rPr>
              <a:t>基础知识掌握不扎实</a:t>
            </a:r>
            <a:endParaRPr sz="2400">
              <a:latin typeface="Microsoft JhengHei UI"/>
              <a:cs typeface="Microsoft JhengHei UI"/>
            </a:endParaRPr>
          </a:p>
          <a:p>
            <a:pPr marL="409575" marR="5080" indent="456565">
              <a:lnSpc>
                <a:spcPct val="150000"/>
              </a:lnSpc>
              <a:spcBef>
                <a:spcPts val="1735"/>
              </a:spcBef>
            </a:pPr>
            <a:r>
              <a:rPr sz="2400" spc="-5" dirty="0">
                <a:latin typeface="SimSun"/>
                <a:cs typeface="SimSun"/>
              </a:rPr>
              <a:t>例如：对“公平”“平等”“权利义务相统一”等原则不能准确区分；著作权、专利权、商业秘密区分不清。</a:t>
            </a:r>
            <a:endParaRPr sz="2400">
              <a:latin typeface="SimSun"/>
              <a:cs typeface="SimSun"/>
            </a:endParaRPr>
          </a:p>
          <a:p>
            <a:pPr marL="1704975">
              <a:lnSpc>
                <a:spcPct val="100000"/>
              </a:lnSpc>
              <a:spcBef>
                <a:spcPts val="2985"/>
              </a:spcBef>
            </a:pPr>
            <a:r>
              <a:rPr sz="2400" spc="-5" dirty="0">
                <a:latin typeface="SimSun"/>
                <a:cs typeface="SimSun"/>
              </a:rPr>
              <a:t>主体权益对应不准确。“竞业限制”对应成了“劳动者权利”，</a:t>
            </a:r>
            <a:endParaRPr sz="2400">
              <a:latin typeface="SimSun"/>
              <a:cs typeface="SimSun"/>
            </a:endParaRPr>
          </a:p>
          <a:p>
            <a:pPr marR="2338070" algn="ctr">
              <a:lnSpc>
                <a:spcPct val="100000"/>
              </a:lnSpc>
              <a:spcBef>
                <a:spcPts val="1440"/>
              </a:spcBef>
            </a:pPr>
            <a:r>
              <a:rPr sz="2400" spc="-5" dirty="0">
                <a:latin typeface="SimSun"/>
                <a:cs typeface="SimSun"/>
              </a:rPr>
              <a:t>“加以限制”对应成了“企业合法权益”。</a:t>
            </a:r>
            <a:endParaRPr sz="2400">
              <a:latin typeface="SimSun"/>
              <a:cs typeface="SimSun"/>
            </a:endParaRPr>
          </a:p>
          <a:p>
            <a:pPr>
              <a:lnSpc>
                <a:spcPct val="100000"/>
              </a:lnSpc>
              <a:spcBef>
                <a:spcPts val="1300"/>
              </a:spcBef>
            </a:pPr>
            <a:endParaRPr sz="2400">
              <a:latin typeface="SimSun"/>
              <a:cs typeface="SimSun"/>
            </a:endParaRPr>
          </a:p>
          <a:p>
            <a:pPr marR="2336800" algn="ctr">
              <a:lnSpc>
                <a:spcPct val="100000"/>
              </a:lnSpc>
            </a:pPr>
            <a:r>
              <a:rPr sz="2400" spc="-15" dirty="0">
                <a:latin typeface="SimSun"/>
                <a:cs typeface="SimSun"/>
              </a:rPr>
              <a:t>混淆“知识产权”与“专利权”</a:t>
            </a:r>
            <a:endParaRPr sz="2400">
              <a:latin typeface="SimSun"/>
              <a:cs typeface="SimSun"/>
            </a:endParaRPr>
          </a:p>
          <a:p>
            <a:pPr>
              <a:lnSpc>
                <a:spcPct val="100000"/>
              </a:lnSpc>
              <a:spcBef>
                <a:spcPts val="390"/>
              </a:spcBef>
            </a:pPr>
            <a:endParaRPr sz="2400">
              <a:latin typeface="SimSun"/>
              <a:cs typeface="SimSun"/>
            </a:endParaRPr>
          </a:p>
          <a:p>
            <a:pPr marL="1829435">
              <a:lnSpc>
                <a:spcPct val="100000"/>
              </a:lnSpc>
            </a:pPr>
            <a:r>
              <a:rPr sz="2400" spc="-10" dirty="0">
                <a:latin typeface="SimSun"/>
                <a:cs typeface="SimSun"/>
              </a:rPr>
              <a:t>鼓励“劳动者创新”</a:t>
            </a:r>
            <a:endParaRPr sz="2400">
              <a:latin typeface="SimSun"/>
              <a:cs typeface="SimSu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251" y="427736"/>
            <a:ext cx="2466975" cy="513715"/>
          </a:xfrm>
          <a:prstGeom prst="rect">
            <a:avLst/>
          </a:prstGeom>
        </p:spPr>
        <p:txBody>
          <a:bodyPr vert="horz" wrap="square" lIns="0" tIns="13335" rIns="0" bIns="0" rtlCol="0">
            <a:spAutoFit/>
          </a:bodyPr>
          <a:lstStyle/>
          <a:p>
            <a:pPr marL="12700">
              <a:lnSpc>
                <a:spcPct val="100000"/>
              </a:lnSpc>
              <a:spcBef>
                <a:spcPts val="105"/>
              </a:spcBef>
            </a:pPr>
            <a:r>
              <a:rPr sz="3200" b="1" spc="-10" dirty="0">
                <a:solidFill>
                  <a:srgbClr val="001F5F"/>
                </a:solidFill>
                <a:latin typeface="Microsoft JhengHei"/>
                <a:cs typeface="Microsoft JhengHei"/>
              </a:rPr>
              <a:t>三、教学建议</a:t>
            </a:r>
            <a:endParaRPr sz="3200">
              <a:latin typeface="Microsoft JhengHei"/>
              <a:cs typeface="Microsoft JhengHei"/>
            </a:endParaRPr>
          </a:p>
        </p:txBody>
      </p:sp>
      <p:sp>
        <p:nvSpPr>
          <p:cNvPr id="3" name="object 3"/>
          <p:cNvSpPr txBox="1"/>
          <p:nvPr/>
        </p:nvSpPr>
        <p:spPr>
          <a:xfrm>
            <a:off x="2068828" y="1414505"/>
            <a:ext cx="5322571" cy="3351559"/>
          </a:xfrm>
          <a:prstGeom prst="rect">
            <a:avLst/>
          </a:prstGeom>
        </p:spPr>
        <p:txBody>
          <a:bodyPr vert="horz" wrap="square" lIns="0" tIns="286385" rIns="0" bIns="0" rtlCol="0">
            <a:spAutoFit/>
          </a:bodyPr>
          <a:lstStyle/>
          <a:p>
            <a:pPr marL="434340" indent="-421640">
              <a:lnSpc>
                <a:spcPct val="100000"/>
              </a:lnSpc>
              <a:spcBef>
                <a:spcPts val="2255"/>
              </a:spcBef>
              <a:buFont typeface="Times New Roman"/>
              <a:buAutoNum type="arabicPeriod"/>
              <a:tabLst>
                <a:tab pos="434340" algn="l"/>
              </a:tabLst>
            </a:pPr>
            <a:r>
              <a:rPr sz="3600" b="1" spc="300" dirty="0">
                <a:solidFill>
                  <a:srgbClr val="252525"/>
                </a:solidFill>
                <a:latin typeface="Microsoft JhengHei UI"/>
                <a:cs typeface="Microsoft JhengHei UI"/>
              </a:rPr>
              <a:t>研究高考真题</a:t>
            </a:r>
            <a:endParaRPr sz="3600" dirty="0">
              <a:latin typeface="Microsoft JhengHei UI"/>
              <a:cs typeface="Microsoft JhengHei UI"/>
            </a:endParaRPr>
          </a:p>
          <a:p>
            <a:pPr marL="434340" indent="-421640">
              <a:lnSpc>
                <a:spcPct val="100000"/>
              </a:lnSpc>
              <a:spcBef>
                <a:spcPts val="2160"/>
              </a:spcBef>
              <a:buFont typeface="Times New Roman"/>
              <a:buAutoNum type="arabicPeriod"/>
              <a:tabLst>
                <a:tab pos="434340" algn="l"/>
              </a:tabLst>
            </a:pPr>
            <a:r>
              <a:rPr sz="3600" b="1" spc="300" dirty="0">
                <a:solidFill>
                  <a:srgbClr val="252525"/>
                </a:solidFill>
                <a:latin typeface="Microsoft JhengHei UI"/>
                <a:cs typeface="Microsoft JhengHei UI"/>
              </a:rPr>
              <a:t>试题归类整理</a:t>
            </a:r>
            <a:endParaRPr sz="3600" dirty="0">
              <a:latin typeface="Microsoft JhengHei UI"/>
              <a:cs typeface="Microsoft JhengHei UI"/>
            </a:endParaRPr>
          </a:p>
          <a:p>
            <a:pPr marL="434340" indent="-421640">
              <a:lnSpc>
                <a:spcPct val="100000"/>
              </a:lnSpc>
              <a:spcBef>
                <a:spcPts val="2165"/>
              </a:spcBef>
              <a:buFont typeface="Times New Roman"/>
              <a:buAutoNum type="arabicPeriod"/>
              <a:tabLst>
                <a:tab pos="434340" algn="l"/>
              </a:tabLst>
            </a:pPr>
            <a:r>
              <a:rPr sz="3600" b="1" spc="300" dirty="0">
                <a:solidFill>
                  <a:srgbClr val="252525"/>
                </a:solidFill>
                <a:latin typeface="Microsoft JhengHei UI"/>
                <a:cs typeface="Microsoft JhengHei UI"/>
              </a:rPr>
              <a:t>关注典型案例</a:t>
            </a:r>
            <a:endParaRPr sz="3600" dirty="0">
              <a:latin typeface="Microsoft JhengHei UI"/>
              <a:cs typeface="Microsoft JhengHei UI"/>
            </a:endParaRPr>
          </a:p>
          <a:p>
            <a:pPr marL="434340" indent="-421640">
              <a:lnSpc>
                <a:spcPct val="100000"/>
              </a:lnSpc>
              <a:spcBef>
                <a:spcPts val="2160"/>
              </a:spcBef>
              <a:buFont typeface="Times New Roman"/>
              <a:buAutoNum type="arabicPeriod"/>
              <a:tabLst>
                <a:tab pos="434340" algn="l"/>
              </a:tabLst>
            </a:pPr>
            <a:r>
              <a:rPr sz="3600" b="1" spc="300" dirty="0">
                <a:solidFill>
                  <a:srgbClr val="252525"/>
                </a:solidFill>
                <a:latin typeface="Microsoft JhengHei UI"/>
                <a:cs typeface="Microsoft JhengHei UI"/>
              </a:rPr>
              <a:t>专业术语表达</a:t>
            </a:r>
            <a:endParaRPr sz="3600" dirty="0">
              <a:latin typeface="Microsoft JhengHei UI"/>
              <a:cs typeface="Microsoft JhengHei U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76200"/>
            <a:ext cx="2468880" cy="514350"/>
          </a:xfrm>
          <a:prstGeom prst="rect">
            <a:avLst/>
          </a:prstGeom>
        </p:spPr>
        <p:txBody>
          <a:bodyPr vert="horz" wrap="square" lIns="0" tIns="13335" rIns="0" bIns="0" rtlCol="0">
            <a:spAutoFit/>
          </a:bodyPr>
          <a:lstStyle/>
          <a:p>
            <a:pPr marL="12700">
              <a:lnSpc>
                <a:spcPct val="100000"/>
              </a:lnSpc>
              <a:spcBef>
                <a:spcPts val="105"/>
              </a:spcBef>
            </a:pPr>
            <a:r>
              <a:rPr sz="3200" b="1" spc="-10" dirty="0">
                <a:solidFill>
                  <a:srgbClr val="001F5F"/>
                </a:solidFill>
                <a:latin typeface="Microsoft JhengHei"/>
                <a:cs typeface="Microsoft JhengHei"/>
              </a:rPr>
              <a:t>四、反馈试题</a:t>
            </a:r>
            <a:endParaRPr sz="3200" dirty="0">
              <a:latin typeface="Microsoft JhengHei"/>
              <a:cs typeface="Microsoft JhengHei"/>
            </a:endParaRPr>
          </a:p>
        </p:txBody>
      </p:sp>
      <p:sp>
        <p:nvSpPr>
          <p:cNvPr id="3" name="object 3"/>
          <p:cNvSpPr txBox="1"/>
          <p:nvPr/>
        </p:nvSpPr>
        <p:spPr>
          <a:xfrm>
            <a:off x="334789" y="397257"/>
            <a:ext cx="7590012" cy="7499489"/>
          </a:xfrm>
          <a:prstGeom prst="rect">
            <a:avLst/>
          </a:prstGeom>
        </p:spPr>
        <p:txBody>
          <a:bodyPr vert="horz" wrap="square" lIns="0" tIns="12700" rIns="0" bIns="0" rtlCol="0">
            <a:spAutoFit/>
          </a:bodyPr>
          <a:lstStyle/>
          <a:p>
            <a:pPr marL="12700" marR="5080" indent="354965" algn="just">
              <a:lnSpc>
                <a:spcPct val="150000"/>
              </a:lnSpc>
              <a:spcBef>
                <a:spcPts val="100"/>
              </a:spcBef>
            </a:pPr>
            <a:r>
              <a:rPr sz="2000" spc="-10" dirty="0">
                <a:latin typeface="SimSun"/>
                <a:cs typeface="SimSun"/>
              </a:rPr>
              <a:t>（</a:t>
            </a:r>
            <a:r>
              <a:rPr sz="3000" spc="-15" baseline="1388" dirty="0">
                <a:latin typeface="Times New Roman"/>
                <a:cs typeface="Times New Roman"/>
              </a:rPr>
              <a:t>2023·</a:t>
            </a:r>
            <a:r>
              <a:rPr sz="2000" spc="-10" dirty="0">
                <a:latin typeface="SimSun"/>
                <a:cs typeface="SimSun"/>
              </a:rPr>
              <a:t>北京</a:t>
            </a:r>
            <a:r>
              <a:rPr sz="3000" spc="-30" baseline="1388" dirty="0">
                <a:latin typeface="Times New Roman"/>
                <a:cs typeface="Times New Roman"/>
              </a:rPr>
              <a:t>·</a:t>
            </a:r>
            <a:r>
              <a:rPr sz="2000" spc="-5" dirty="0">
                <a:latin typeface="SimSun"/>
                <a:cs typeface="SimSun"/>
              </a:rPr>
              <a:t>高考真题</a:t>
            </a:r>
            <a:r>
              <a:rPr sz="2000" spc="-10" dirty="0">
                <a:latin typeface="SimSun"/>
                <a:cs typeface="SimSun"/>
              </a:rPr>
              <a:t>）</a:t>
            </a:r>
            <a:r>
              <a:rPr sz="2000" spc="-20" dirty="0">
                <a:latin typeface="SimSun"/>
                <a:cs typeface="SimSun"/>
              </a:rPr>
              <a:t>“儿童散学归来早，忙趁东风放纸鸢。”北京扎燕风筝以燕子为造型，通过拟人化的手法，创造出一个和谐的燕子家族——肥燕、瘦燕、比翼燕、半瘦燕、小燕、雏燕，</a:t>
            </a:r>
            <a:r>
              <a:rPr sz="2000" spc="-15" dirty="0">
                <a:latin typeface="SimSun"/>
                <a:cs typeface="SimSun"/>
              </a:rPr>
              <a:t>具有独特的文化魅力。</a:t>
            </a:r>
            <a:endParaRPr sz="2000" dirty="0">
              <a:latin typeface="SimSun"/>
              <a:cs typeface="SimSun"/>
            </a:endParaRPr>
          </a:p>
          <a:p>
            <a:pPr marL="367665">
              <a:lnSpc>
                <a:spcPct val="100000"/>
              </a:lnSpc>
              <a:spcBef>
                <a:spcPts val="1205"/>
              </a:spcBef>
            </a:pPr>
            <a:r>
              <a:rPr sz="2000" spc="-20" dirty="0">
                <a:latin typeface="SimSun"/>
                <a:cs typeface="SimSun"/>
              </a:rPr>
              <a:t>许多人致力于扎燕风筝文化的传承与创新，其中王某独创的雏燕风筝广受欢迎。</a:t>
            </a:r>
            <a:endParaRPr sz="2000" dirty="0">
              <a:latin typeface="SimSun"/>
              <a:cs typeface="SimSun"/>
            </a:endParaRPr>
          </a:p>
          <a:p>
            <a:pPr marL="12700" marR="173990" indent="354965">
              <a:lnSpc>
                <a:spcPct val="150000"/>
              </a:lnSpc>
            </a:pPr>
            <a:r>
              <a:rPr sz="2000" spc="-20" dirty="0">
                <a:latin typeface="SimSun"/>
                <a:cs typeface="SimSun"/>
              </a:rPr>
              <a:t>◇在学校的劳动课上，有老师使用王某的作品讲解风筝的画法和扎法，在老师的悉心指导下，每个同学都制作了自己的“雏燕”。</a:t>
            </a:r>
            <a:endParaRPr sz="2000" dirty="0">
              <a:latin typeface="SimSun"/>
              <a:cs typeface="SimSun"/>
            </a:endParaRPr>
          </a:p>
          <a:p>
            <a:pPr marL="12700" marR="173990" indent="354965">
              <a:lnSpc>
                <a:spcPct val="150000"/>
              </a:lnSpc>
            </a:pPr>
            <a:r>
              <a:rPr sz="2000" spc="-20" dirty="0">
                <a:latin typeface="SimSun"/>
                <a:cs typeface="SimSun"/>
              </a:rPr>
              <a:t>◇一直致力于推广扎燕风筝文化的张某购买了王某最新版雏燕风筝，将其拆解后又重新组装，并将这一过程拍成视频在网络上发布，引发网友广泛关注，吸引了很多人加入到扎燕风筝的创作中来。但有人指出，这样将别人独创的风等公开讲解，可能涉嫌侵犯著作权。</a:t>
            </a:r>
            <a:endParaRPr sz="2000" dirty="0">
              <a:latin typeface="SimSun"/>
              <a:cs typeface="SimSun"/>
            </a:endParaRPr>
          </a:p>
          <a:p>
            <a:pPr marL="12700" marR="194310" indent="635000">
              <a:lnSpc>
                <a:spcPts val="4460"/>
              </a:lnSpc>
            </a:pPr>
            <a:r>
              <a:rPr sz="2000" spc="-15" dirty="0">
                <a:latin typeface="SimSun"/>
                <a:cs typeface="SimSun"/>
              </a:rPr>
              <a:t>结合材料，运用《法律与生活》知识，谈谈在中华优秀传统文化传承与创新中，</a:t>
            </a:r>
            <a:r>
              <a:rPr sz="3600" spc="-22" baseline="-3472" dirty="0">
                <a:solidFill>
                  <a:srgbClr val="FF0000"/>
                </a:solidFill>
                <a:latin typeface="SimSun"/>
                <a:cs typeface="SimSun"/>
              </a:rPr>
              <a:t>法律规定</a:t>
            </a:r>
            <a:r>
              <a:rPr sz="2400" dirty="0">
                <a:solidFill>
                  <a:srgbClr val="FF0000"/>
                </a:solidFill>
                <a:latin typeface="SimSun"/>
                <a:cs typeface="SimSun"/>
              </a:rPr>
              <a:t>著作权并对其加以限制的意义</a:t>
            </a:r>
            <a:r>
              <a:rPr sz="3000" spc="-75" baseline="4166" dirty="0">
                <a:latin typeface="SimSun"/>
                <a:cs typeface="SimSun"/>
              </a:rPr>
              <a:t>。</a:t>
            </a:r>
            <a:endParaRPr sz="3000" baseline="4166" dirty="0">
              <a:latin typeface="SimSun"/>
              <a:cs typeface="SimSun"/>
            </a:endParaRPr>
          </a:p>
        </p:txBody>
      </p:sp>
      <p:sp>
        <p:nvSpPr>
          <p:cNvPr id="5" name="文本框 4">
            <a:extLst>
              <a:ext uri="{FF2B5EF4-FFF2-40B4-BE49-F238E27FC236}">
                <a16:creationId xmlns:a16="http://schemas.microsoft.com/office/drawing/2014/main" id="{54F030C8-B0D0-564E-F1A3-0FC1E0A98F7A}"/>
              </a:ext>
            </a:extLst>
          </p:cNvPr>
          <p:cNvSpPr txBox="1"/>
          <p:nvPr/>
        </p:nvSpPr>
        <p:spPr>
          <a:xfrm>
            <a:off x="8686800" y="1066800"/>
            <a:ext cx="2895600" cy="4247317"/>
          </a:xfrm>
          <a:prstGeom prst="rect">
            <a:avLst/>
          </a:prstGeom>
          <a:noFill/>
        </p:spPr>
        <p:txBody>
          <a:bodyPr wrap="square">
            <a:spAutoFit/>
          </a:bodyPr>
          <a:lstStyle/>
          <a:p>
            <a:r>
              <a:rPr lang="zh-CN" altLang="en-US" dirty="0"/>
              <a:t>①著作权是知识产权的重要种类，是指权利人针对特定作品依法享有的支配和获取利益的权利，他人未经著作权人许可使用著作权人的作品，就可能构成侵权。</a:t>
            </a:r>
            <a:endParaRPr lang="en-US" altLang="zh-CN" dirty="0"/>
          </a:p>
          <a:p>
            <a:endParaRPr lang="en-US" altLang="zh-CN" dirty="0"/>
          </a:p>
          <a:p>
            <a:endParaRPr lang="en-US" altLang="zh-CN" dirty="0"/>
          </a:p>
          <a:p>
            <a:r>
              <a:rPr lang="zh-CN" altLang="en-US" dirty="0"/>
              <a:t>②法律规定著作权并对其加以限制，有利于调动人们参与中华优秀传统文化传承与创新的积极性，推动中华优秀传统文化创造性转化、创新性发展。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300973" y="289914"/>
            <a:ext cx="2962275" cy="565785"/>
          </a:xfrm>
          <a:prstGeom prst="rect">
            <a:avLst/>
          </a:prstGeom>
        </p:spPr>
        <p:txBody>
          <a:bodyPr vert="horz" wrap="square" lIns="0" tIns="41275" rIns="0" bIns="0" rtlCol="0">
            <a:spAutoFit/>
          </a:bodyPr>
          <a:lstStyle/>
          <a:p>
            <a:pPr marL="60325" algn="ctr">
              <a:lnSpc>
                <a:spcPct val="100000"/>
              </a:lnSpc>
              <a:spcBef>
                <a:spcPts val="325"/>
              </a:spcBef>
            </a:pPr>
            <a:r>
              <a:rPr sz="1800" spc="-5" dirty="0">
                <a:latin typeface="SimSun"/>
                <a:cs typeface="SimSun"/>
              </a:rPr>
              <a:t>北京市海淀区教师进修学校</a:t>
            </a:r>
            <a:endParaRPr sz="1800">
              <a:latin typeface="SimSun"/>
              <a:cs typeface="SimSun"/>
            </a:endParaRPr>
          </a:p>
          <a:p>
            <a:pPr algn="ctr">
              <a:lnSpc>
                <a:spcPct val="100000"/>
              </a:lnSpc>
              <a:spcBef>
                <a:spcPts val="185"/>
              </a:spcBef>
            </a:pPr>
            <a:r>
              <a:rPr sz="1400" dirty="0">
                <a:latin typeface="Calibri"/>
                <a:cs typeface="Calibri"/>
              </a:rPr>
              <a:t>Beijing</a:t>
            </a:r>
            <a:r>
              <a:rPr sz="1400" spc="-35" dirty="0">
                <a:latin typeface="Calibri"/>
                <a:cs typeface="Calibri"/>
              </a:rPr>
              <a:t> </a:t>
            </a:r>
            <a:r>
              <a:rPr sz="1400" dirty="0">
                <a:latin typeface="Calibri"/>
                <a:cs typeface="Calibri"/>
              </a:rPr>
              <a:t>Haidian</a:t>
            </a:r>
            <a:r>
              <a:rPr sz="1400" spc="-40" dirty="0">
                <a:latin typeface="Calibri"/>
                <a:cs typeface="Calibri"/>
              </a:rPr>
              <a:t> </a:t>
            </a:r>
            <a:r>
              <a:rPr sz="1400" spc="-20" dirty="0">
                <a:latin typeface="Calibri"/>
                <a:cs typeface="Calibri"/>
              </a:rPr>
              <a:t>Teachers</a:t>
            </a:r>
            <a:r>
              <a:rPr sz="1400" spc="-35" dirty="0">
                <a:latin typeface="Calibri"/>
                <a:cs typeface="Calibri"/>
              </a:rPr>
              <a:t> </a:t>
            </a:r>
            <a:r>
              <a:rPr sz="1400" spc="-20" dirty="0">
                <a:latin typeface="Calibri"/>
                <a:cs typeface="Calibri"/>
              </a:rPr>
              <a:t>Training</a:t>
            </a:r>
            <a:r>
              <a:rPr sz="1400" spc="-45" dirty="0">
                <a:latin typeface="Calibri"/>
                <a:cs typeface="Calibri"/>
              </a:rPr>
              <a:t> </a:t>
            </a:r>
            <a:r>
              <a:rPr sz="1400" spc="-10" dirty="0">
                <a:latin typeface="Calibri"/>
                <a:cs typeface="Calibri"/>
              </a:rPr>
              <a:t>College</a:t>
            </a:r>
            <a:endParaRPr sz="1400">
              <a:latin typeface="Calibri"/>
              <a:cs typeface="Calibri"/>
            </a:endParaRPr>
          </a:p>
        </p:txBody>
      </p:sp>
      <p:pic>
        <p:nvPicPr>
          <p:cNvPr id="3" name="object 3"/>
          <p:cNvPicPr/>
          <p:nvPr/>
        </p:nvPicPr>
        <p:blipFill>
          <a:blip r:embed="rId2" cstate="print"/>
          <a:stretch>
            <a:fillRect/>
          </a:stretch>
        </p:blipFill>
        <p:spPr>
          <a:xfrm>
            <a:off x="11377884" y="286041"/>
            <a:ext cx="645155" cy="645155"/>
          </a:xfrm>
          <a:prstGeom prst="rect">
            <a:avLst/>
          </a:prstGeom>
        </p:spPr>
      </p:pic>
      <p:sp>
        <p:nvSpPr>
          <p:cNvPr id="4" name="object 4"/>
          <p:cNvSpPr txBox="1"/>
          <p:nvPr/>
        </p:nvSpPr>
        <p:spPr>
          <a:xfrm>
            <a:off x="806401" y="572806"/>
            <a:ext cx="10894060" cy="3866515"/>
          </a:xfrm>
          <a:prstGeom prst="rect">
            <a:avLst/>
          </a:prstGeom>
        </p:spPr>
        <p:txBody>
          <a:bodyPr vert="horz" wrap="square" lIns="0" tIns="12700" rIns="0" bIns="0" rtlCol="0">
            <a:spAutoFit/>
          </a:bodyPr>
          <a:lstStyle/>
          <a:p>
            <a:pPr marL="12700" marR="83820" indent="412750">
              <a:lnSpc>
                <a:spcPct val="150000"/>
              </a:lnSpc>
              <a:spcBef>
                <a:spcPts val="100"/>
              </a:spcBef>
            </a:pPr>
            <a:r>
              <a:rPr sz="2400" b="1" spc="-65" dirty="0">
                <a:latin typeface="Microsoft JhengHei"/>
                <a:cs typeface="Microsoft JhengHei"/>
              </a:rPr>
              <a:t>（</a:t>
            </a:r>
            <a:r>
              <a:rPr sz="2400" b="1" spc="-65" dirty="0">
                <a:latin typeface="Arial"/>
                <a:cs typeface="Arial"/>
              </a:rPr>
              <a:t>2019</a:t>
            </a:r>
            <a:r>
              <a:rPr sz="2400" b="1" dirty="0">
                <a:latin typeface="Microsoft JhengHei"/>
                <a:cs typeface="Microsoft JhengHei"/>
              </a:rPr>
              <a:t>北京文综）我国发明专利申请量连续</a:t>
            </a:r>
            <a:r>
              <a:rPr sz="2400" b="1" spc="-90" dirty="0">
                <a:latin typeface="Arial"/>
                <a:cs typeface="Arial"/>
              </a:rPr>
              <a:t>8</a:t>
            </a:r>
            <a:r>
              <a:rPr sz="2400" b="1" dirty="0">
                <a:latin typeface="Microsoft JhengHei"/>
                <a:cs typeface="Microsoft JhengHei"/>
              </a:rPr>
              <a:t>年位居世界第一</a:t>
            </a:r>
            <a:r>
              <a:rPr sz="2400" b="1" spc="-105" dirty="0">
                <a:latin typeface="Arial"/>
                <a:cs typeface="Arial"/>
              </a:rPr>
              <a:t>,</a:t>
            </a:r>
            <a:r>
              <a:rPr sz="2400" b="1" spc="-10" dirty="0">
                <a:latin typeface="Microsoft JhengHei"/>
                <a:cs typeface="Microsoft JhengHei"/>
              </a:rPr>
              <a:t>已经成为国际公认的知识产权大国。</a:t>
            </a:r>
            <a:endParaRPr sz="2400" dirty="0">
              <a:latin typeface="Microsoft JhengHei"/>
              <a:cs typeface="Microsoft JhengHei"/>
            </a:endParaRPr>
          </a:p>
          <a:p>
            <a:pPr marL="12700" marR="5080" indent="551815">
              <a:lnSpc>
                <a:spcPct val="150000"/>
              </a:lnSpc>
            </a:pPr>
            <a:r>
              <a:rPr sz="2400" b="1" dirty="0">
                <a:latin typeface="Microsoft JhengHei"/>
                <a:cs typeface="Microsoft JhengHei"/>
              </a:rPr>
              <a:t>我国对发明专利进行保护并设置了保护期限。有同学提出疑问</a:t>
            </a:r>
            <a:r>
              <a:rPr sz="2400" b="1" spc="-90" dirty="0">
                <a:latin typeface="Arial"/>
                <a:cs typeface="Arial"/>
              </a:rPr>
              <a:t>:</a:t>
            </a:r>
            <a:r>
              <a:rPr sz="2400" b="1" dirty="0">
                <a:latin typeface="Microsoft JhengHei"/>
                <a:cs typeface="Microsoft JhengHei"/>
              </a:rPr>
              <a:t>技术不像苹果</a:t>
            </a:r>
            <a:r>
              <a:rPr sz="2400" b="1" spc="-50" dirty="0">
                <a:latin typeface="Arial"/>
                <a:cs typeface="Arial"/>
              </a:rPr>
              <a:t>,</a:t>
            </a:r>
            <a:r>
              <a:rPr sz="2400" b="1" dirty="0">
                <a:latin typeface="Microsoft JhengHei"/>
                <a:cs typeface="Microsoft JhengHei"/>
              </a:rPr>
              <a:t>一个苹果我吃完了你就不能享用了</a:t>
            </a:r>
            <a:r>
              <a:rPr sz="2400" b="1" spc="-105" dirty="0">
                <a:latin typeface="Arial"/>
                <a:cs typeface="Arial"/>
              </a:rPr>
              <a:t>,</a:t>
            </a:r>
            <a:r>
              <a:rPr sz="2400" b="1" dirty="0">
                <a:latin typeface="Microsoft JhengHei"/>
                <a:cs typeface="Microsoft JhengHei"/>
              </a:rPr>
              <a:t>技术却不一样</a:t>
            </a:r>
            <a:r>
              <a:rPr sz="2400" b="1" spc="-105" dirty="0">
                <a:latin typeface="Arial"/>
                <a:cs typeface="Arial"/>
              </a:rPr>
              <a:t>,</a:t>
            </a:r>
            <a:r>
              <a:rPr sz="2400" b="1" spc="-5" dirty="0">
                <a:latin typeface="Microsoft JhengHei"/>
                <a:cs typeface="Microsoft JhengHei"/>
              </a:rPr>
              <a:t>一个人使用一项技术的同时并不</a:t>
            </a:r>
            <a:r>
              <a:rPr sz="2400" b="1" dirty="0">
                <a:latin typeface="Microsoft JhengHei"/>
                <a:cs typeface="Microsoft JhengHei"/>
              </a:rPr>
              <a:t>会妨碍他人使用</a:t>
            </a:r>
            <a:r>
              <a:rPr sz="2400" b="1" spc="-105" dirty="0">
                <a:latin typeface="Arial"/>
                <a:cs typeface="Arial"/>
              </a:rPr>
              <a:t>,</a:t>
            </a:r>
            <a:r>
              <a:rPr sz="2400" b="1" dirty="0">
                <a:latin typeface="Microsoft JhengHei"/>
                <a:cs typeface="Microsoft JhengHei"/>
              </a:rPr>
              <a:t>技术共享看起来对大家都有利。那么</a:t>
            </a:r>
            <a:r>
              <a:rPr sz="2400" b="1" spc="-105" dirty="0">
                <a:latin typeface="Arial"/>
                <a:cs typeface="Arial"/>
              </a:rPr>
              <a:t>,</a:t>
            </a:r>
            <a:r>
              <a:rPr sz="2400" b="1" dirty="0">
                <a:solidFill>
                  <a:srgbClr val="FF0000"/>
                </a:solidFill>
                <a:latin typeface="Microsoft JhengHei"/>
                <a:cs typeface="Microsoft JhengHei"/>
              </a:rPr>
              <a:t>为什么要对专利进行保护</a:t>
            </a:r>
            <a:r>
              <a:rPr sz="2400" b="1" spc="-505" dirty="0">
                <a:solidFill>
                  <a:srgbClr val="FF0000"/>
                </a:solidFill>
                <a:latin typeface="Arial"/>
                <a:cs typeface="Arial"/>
              </a:rPr>
              <a:t>?</a:t>
            </a:r>
            <a:r>
              <a:rPr sz="2400" b="1" dirty="0">
                <a:solidFill>
                  <a:srgbClr val="FF0000"/>
                </a:solidFill>
                <a:latin typeface="Microsoft JhengHei"/>
                <a:cs typeface="Microsoft JhengHei"/>
              </a:rPr>
              <a:t>而且既然保护</a:t>
            </a:r>
            <a:r>
              <a:rPr sz="2400" b="1" spc="-105" dirty="0">
                <a:solidFill>
                  <a:srgbClr val="FF0000"/>
                </a:solidFill>
                <a:latin typeface="Arial"/>
                <a:cs typeface="Arial"/>
              </a:rPr>
              <a:t>,</a:t>
            </a:r>
            <a:r>
              <a:rPr sz="2400" b="1" dirty="0">
                <a:solidFill>
                  <a:srgbClr val="FF0000"/>
                </a:solidFill>
                <a:latin typeface="Microsoft JhengHei"/>
                <a:cs typeface="Microsoft JhengHei"/>
              </a:rPr>
              <a:t>为什么不是永久保护而要设置保护期限</a:t>
            </a:r>
            <a:r>
              <a:rPr sz="2400" b="1" spc="-505" dirty="0">
                <a:solidFill>
                  <a:srgbClr val="FF0000"/>
                </a:solidFill>
                <a:latin typeface="Arial"/>
                <a:cs typeface="Arial"/>
              </a:rPr>
              <a:t>?</a:t>
            </a:r>
            <a:endParaRPr sz="2400" dirty="0">
              <a:latin typeface="Arial"/>
              <a:cs typeface="Arial"/>
            </a:endParaRPr>
          </a:p>
          <a:p>
            <a:pPr marL="564515">
              <a:lnSpc>
                <a:spcPct val="100000"/>
              </a:lnSpc>
              <a:spcBef>
                <a:spcPts val="1440"/>
              </a:spcBef>
            </a:pPr>
            <a:r>
              <a:rPr sz="2400" b="1" dirty="0">
                <a:latin typeface="Microsoft JhengHei"/>
                <a:cs typeface="Microsoft JhengHei"/>
              </a:rPr>
              <a:t>参考资料包的内容，针对这位同学的疑问，从经济角度谈谈你的认识</a:t>
            </a:r>
            <a:r>
              <a:rPr sz="2400" spc="-50" dirty="0">
                <a:latin typeface="SimSun"/>
                <a:cs typeface="SimSun"/>
              </a:rPr>
              <a:t>。</a:t>
            </a:r>
            <a:endParaRPr sz="2400" dirty="0">
              <a:latin typeface="SimSun"/>
              <a:cs typeface="SimSun"/>
            </a:endParaRPr>
          </a:p>
        </p:txBody>
      </p:sp>
      <p:sp>
        <p:nvSpPr>
          <p:cNvPr id="6" name="文本框 5">
            <a:extLst>
              <a:ext uri="{FF2B5EF4-FFF2-40B4-BE49-F238E27FC236}">
                <a16:creationId xmlns:a16="http://schemas.microsoft.com/office/drawing/2014/main" id="{CBBEB3DE-26C0-F413-1811-4366C86A6D42}"/>
              </a:ext>
            </a:extLst>
          </p:cNvPr>
          <p:cNvSpPr txBox="1"/>
          <p:nvPr/>
        </p:nvSpPr>
        <p:spPr>
          <a:xfrm>
            <a:off x="1752600" y="4953000"/>
            <a:ext cx="8610600" cy="1200329"/>
          </a:xfrm>
          <a:prstGeom prst="rect">
            <a:avLst/>
          </a:prstGeom>
          <a:noFill/>
        </p:spPr>
        <p:txBody>
          <a:bodyPr wrap="square">
            <a:spAutoFit/>
          </a:bodyPr>
          <a:lstStyle/>
          <a:p>
            <a:r>
              <a:rPr lang="zh-CN" altLang="en-US" dirty="0"/>
              <a:t>专利保护制度可以保护知识产权</a:t>
            </a:r>
            <a:r>
              <a:rPr lang="en-US" altLang="zh-CN" dirty="0"/>
              <a:t>,</a:t>
            </a:r>
            <a:r>
              <a:rPr lang="zh-CN" altLang="en-US" dirty="0"/>
              <a:t>使得专利所有者可以通过专利授权获得收益</a:t>
            </a:r>
            <a:r>
              <a:rPr lang="en-US" altLang="zh-CN" dirty="0"/>
              <a:t>,</a:t>
            </a:r>
            <a:r>
              <a:rPr lang="zh-CN" altLang="en-US" dirty="0"/>
              <a:t>激励创新</a:t>
            </a:r>
            <a:r>
              <a:rPr lang="en-US" altLang="zh-CN" dirty="0"/>
              <a:t>,</a:t>
            </a:r>
            <a:r>
              <a:rPr lang="zh-CN" altLang="en-US" dirty="0"/>
              <a:t>增加侵权成本</a:t>
            </a:r>
            <a:r>
              <a:rPr lang="en-US" altLang="zh-CN" dirty="0"/>
              <a:t>,</a:t>
            </a:r>
            <a:r>
              <a:rPr lang="zh-CN" altLang="en-US" dirty="0"/>
              <a:t>抑制假冒商品生产</a:t>
            </a:r>
            <a:r>
              <a:rPr lang="en-US" altLang="zh-CN" dirty="0"/>
              <a:t>,</a:t>
            </a:r>
            <a:r>
              <a:rPr lang="zh-CN" altLang="en-US" dirty="0"/>
              <a:t>维护市场秩序</a:t>
            </a:r>
            <a:r>
              <a:rPr lang="en-US" altLang="zh-CN" dirty="0"/>
              <a:t>,</a:t>
            </a:r>
            <a:r>
              <a:rPr lang="zh-CN" altLang="en-US" dirty="0"/>
              <a:t>创造良好营商环境。设置保护期限</a:t>
            </a:r>
            <a:r>
              <a:rPr lang="en-US" altLang="zh-CN" dirty="0"/>
              <a:t>,</a:t>
            </a:r>
            <a:r>
              <a:rPr lang="zh-CN" altLang="en-US" dirty="0"/>
              <a:t>可以避免技术的过度垄断</a:t>
            </a:r>
            <a:r>
              <a:rPr lang="en-US" altLang="zh-CN" dirty="0"/>
              <a:t>,</a:t>
            </a:r>
            <a:r>
              <a:rPr lang="zh-CN" altLang="en-US" dirty="0"/>
              <a:t>鼓励适度竞争</a:t>
            </a:r>
            <a:r>
              <a:rPr lang="en-US" altLang="zh-CN" dirty="0"/>
              <a:t>,</a:t>
            </a:r>
            <a:r>
              <a:rPr lang="zh-CN" altLang="en-US" dirty="0"/>
              <a:t>在专利的社会效益和发明者的创新激励之间达到平衡。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300973" y="289914"/>
            <a:ext cx="2962275" cy="565785"/>
          </a:xfrm>
          <a:prstGeom prst="rect">
            <a:avLst/>
          </a:prstGeom>
        </p:spPr>
        <p:txBody>
          <a:bodyPr vert="horz" wrap="square" lIns="0" tIns="41275" rIns="0" bIns="0" rtlCol="0">
            <a:spAutoFit/>
          </a:bodyPr>
          <a:lstStyle/>
          <a:p>
            <a:pPr marL="60325" algn="ctr">
              <a:lnSpc>
                <a:spcPct val="100000"/>
              </a:lnSpc>
              <a:spcBef>
                <a:spcPts val="325"/>
              </a:spcBef>
            </a:pPr>
            <a:r>
              <a:rPr sz="1800" spc="-5" dirty="0">
                <a:latin typeface="SimSun"/>
                <a:cs typeface="SimSun"/>
              </a:rPr>
              <a:t>北京市海淀区教师进修学校</a:t>
            </a:r>
            <a:endParaRPr sz="1800">
              <a:latin typeface="SimSun"/>
              <a:cs typeface="SimSun"/>
            </a:endParaRPr>
          </a:p>
          <a:p>
            <a:pPr algn="ctr">
              <a:lnSpc>
                <a:spcPct val="100000"/>
              </a:lnSpc>
              <a:spcBef>
                <a:spcPts val="185"/>
              </a:spcBef>
            </a:pPr>
            <a:r>
              <a:rPr sz="1400" dirty="0">
                <a:latin typeface="Calibri"/>
                <a:cs typeface="Calibri"/>
              </a:rPr>
              <a:t>Beijing</a:t>
            </a:r>
            <a:r>
              <a:rPr sz="1400" spc="-35" dirty="0">
                <a:latin typeface="Calibri"/>
                <a:cs typeface="Calibri"/>
              </a:rPr>
              <a:t> </a:t>
            </a:r>
            <a:r>
              <a:rPr sz="1400" dirty="0">
                <a:latin typeface="Calibri"/>
                <a:cs typeface="Calibri"/>
              </a:rPr>
              <a:t>Haidian</a:t>
            </a:r>
            <a:r>
              <a:rPr sz="1400" spc="-40" dirty="0">
                <a:latin typeface="Calibri"/>
                <a:cs typeface="Calibri"/>
              </a:rPr>
              <a:t> </a:t>
            </a:r>
            <a:r>
              <a:rPr sz="1400" spc="-20" dirty="0">
                <a:latin typeface="Calibri"/>
                <a:cs typeface="Calibri"/>
              </a:rPr>
              <a:t>Teachers</a:t>
            </a:r>
            <a:r>
              <a:rPr sz="1400" spc="-35" dirty="0">
                <a:latin typeface="Calibri"/>
                <a:cs typeface="Calibri"/>
              </a:rPr>
              <a:t> </a:t>
            </a:r>
            <a:r>
              <a:rPr sz="1400" spc="-20" dirty="0">
                <a:latin typeface="Calibri"/>
                <a:cs typeface="Calibri"/>
              </a:rPr>
              <a:t>Training</a:t>
            </a:r>
            <a:r>
              <a:rPr sz="1400" spc="-45" dirty="0">
                <a:latin typeface="Calibri"/>
                <a:cs typeface="Calibri"/>
              </a:rPr>
              <a:t> </a:t>
            </a:r>
            <a:r>
              <a:rPr sz="1400" spc="-10" dirty="0">
                <a:latin typeface="Calibri"/>
                <a:cs typeface="Calibri"/>
              </a:rPr>
              <a:t>College</a:t>
            </a:r>
            <a:endParaRPr sz="1400">
              <a:latin typeface="Calibri"/>
              <a:cs typeface="Calibri"/>
            </a:endParaRPr>
          </a:p>
        </p:txBody>
      </p:sp>
      <p:pic>
        <p:nvPicPr>
          <p:cNvPr id="3" name="object 3"/>
          <p:cNvPicPr/>
          <p:nvPr/>
        </p:nvPicPr>
        <p:blipFill>
          <a:blip r:embed="rId2" cstate="print"/>
          <a:stretch>
            <a:fillRect/>
          </a:stretch>
        </p:blipFill>
        <p:spPr>
          <a:xfrm>
            <a:off x="11377884" y="286041"/>
            <a:ext cx="645155" cy="645155"/>
          </a:xfrm>
          <a:prstGeom prst="rect">
            <a:avLst/>
          </a:prstGeom>
        </p:spPr>
      </p:pic>
      <p:pic>
        <p:nvPicPr>
          <p:cNvPr id="4" name="object 4"/>
          <p:cNvPicPr/>
          <p:nvPr/>
        </p:nvPicPr>
        <p:blipFill>
          <a:blip r:embed="rId3" cstate="print"/>
          <a:stretch>
            <a:fillRect/>
          </a:stretch>
        </p:blipFill>
        <p:spPr>
          <a:xfrm>
            <a:off x="914400" y="1447800"/>
            <a:ext cx="10066088" cy="3786922"/>
          </a:xfrm>
          <a:prstGeom prst="rect">
            <a:avLst/>
          </a:prstGeom>
        </p:spPr>
      </p:pic>
      <p:sp>
        <p:nvSpPr>
          <p:cNvPr id="5" name="object 5"/>
          <p:cNvSpPr txBox="1"/>
          <p:nvPr/>
        </p:nvSpPr>
        <p:spPr>
          <a:xfrm>
            <a:off x="524662" y="801751"/>
            <a:ext cx="208915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SimSun"/>
                <a:cs typeface="SimSun"/>
              </a:rPr>
              <a:t>（</a:t>
            </a:r>
            <a:r>
              <a:rPr sz="1800" spc="-20" dirty="0">
                <a:latin typeface="Calibri"/>
                <a:cs typeface="Calibri"/>
              </a:rPr>
              <a:t>2022</a:t>
            </a:r>
            <a:r>
              <a:rPr sz="1800" dirty="0">
                <a:latin typeface="SimSun"/>
                <a:cs typeface="SimSun"/>
              </a:rPr>
              <a:t>届海淀一模</a:t>
            </a:r>
            <a:r>
              <a:rPr sz="1800" spc="-50" dirty="0">
                <a:latin typeface="SimSun"/>
                <a:cs typeface="SimSun"/>
              </a:rPr>
              <a:t>）</a:t>
            </a:r>
            <a:endParaRPr sz="1800">
              <a:latin typeface="SimSun"/>
              <a:cs typeface="SimSu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8871" y="460095"/>
            <a:ext cx="11457305" cy="6071235"/>
          </a:xfrm>
          <a:prstGeom prst="rect">
            <a:avLst/>
          </a:prstGeom>
        </p:spPr>
        <p:txBody>
          <a:bodyPr vert="horz" wrap="square" lIns="0" tIns="11430" rIns="0" bIns="0" rtlCol="0">
            <a:spAutoFit/>
          </a:bodyPr>
          <a:lstStyle/>
          <a:p>
            <a:pPr marL="12700" marR="216535" indent="284480" algn="just">
              <a:lnSpc>
                <a:spcPct val="116799"/>
              </a:lnSpc>
              <a:spcBef>
                <a:spcPts val="90"/>
              </a:spcBef>
            </a:pPr>
            <a:r>
              <a:rPr sz="2000" dirty="0">
                <a:latin typeface="SimSun"/>
                <a:cs typeface="SimSun"/>
              </a:rPr>
              <a:t>（</a:t>
            </a:r>
            <a:r>
              <a:rPr sz="2000" dirty="0">
                <a:latin typeface="Calibri"/>
                <a:cs typeface="Calibri"/>
              </a:rPr>
              <a:t>2024</a:t>
            </a:r>
            <a:r>
              <a:rPr sz="2000" spc="-5" dirty="0">
                <a:latin typeface="SimSun"/>
                <a:cs typeface="SimSun"/>
              </a:rPr>
              <a:t>年海淀高二期末</a:t>
            </a:r>
            <a:r>
              <a:rPr sz="2000" spc="-20" dirty="0">
                <a:latin typeface="SimSun"/>
                <a:cs typeface="SimSun"/>
              </a:rPr>
              <a:t>）《消费者权益保护法》第五十五条规定：</a:t>
            </a:r>
            <a:r>
              <a:rPr sz="2000" spc="-20" dirty="0">
                <a:highlight>
                  <a:srgbClr val="FFFF00"/>
                </a:highlight>
                <a:latin typeface="SimSun"/>
                <a:cs typeface="SimSun"/>
              </a:rPr>
              <a:t>经营者提供商品或者服务有欺诈行为的</a:t>
            </a:r>
            <a:r>
              <a:rPr sz="2000" spc="-20" dirty="0">
                <a:latin typeface="SimSun"/>
                <a:cs typeface="SimSun"/>
              </a:rPr>
              <a:t>，应当按照消费者的要求增加赔偿其受到的损失，</a:t>
            </a:r>
            <a:r>
              <a:rPr sz="2000" spc="-20" dirty="0">
                <a:solidFill>
                  <a:srgbClr val="FF0000"/>
                </a:solidFill>
                <a:latin typeface="SimSun"/>
                <a:cs typeface="SimSun"/>
              </a:rPr>
              <a:t>增加赔偿的金额为消费者购买商品的价款或者接受服务的费用的三倍</a:t>
            </a:r>
            <a:r>
              <a:rPr sz="2000" spc="-20" dirty="0">
                <a:latin typeface="SimSun"/>
                <a:cs typeface="SimSun"/>
              </a:rPr>
              <a:t>。为了探究这一规定的司法现状，小海搜集到以下资料：</a:t>
            </a:r>
            <a:endParaRPr sz="2000" dirty="0">
              <a:latin typeface="SimSun"/>
              <a:cs typeface="SimSun"/>
            </a:endParaRPr>
          </a:p>
          <a:p>
            <a:pPr marL="522605" algn="just">
              <a:lnSpc>
                <a:spcPct val="100000"/>
              </a:lnSpc>
              <a:spcBef>
                <a:spcPts val="395"/>
              </a:spcBef>
            </a:pPr>
            <a:r>
              <a:rPr sz="2000" b="1" dirty="0">
                <a:latin typeface="Microsoft JhengHei"/>
                <a:cs typeface="Microsoft JhengHei"/>
              </a:rPr>
              <a:t>资料一  </a:t>
            </a:r>
            <a:r>
              <a:rPr sz="2000" spc="-25" dirty="0">
                <a:latin typeface="SimSun"/>
                <a:cs typeface="SimSun"/>
              </a:rPr>
              <a:t>第五十五条规定的</a:t>
            </a:r>
            <a:r>
              <a:rPr sz="2000" spc="-25" dirty="0">
                <a:highlight>
                  <a:srgbClr val="FFFF00"/>
                </a:highlight>
                <a:latin typeface="SimSun"/>
                <a:cs typeface="SimSun"/>
              </a:rPr>
              <a:t>“惩罚性赔偿”为消费者提供了有力的维权武器</a:t>
            </a:r>
            <a:r>
              <a:rPr sz="2000" spc="-25" dirty="0">
                <a:latin typeface="SimSun"/>
                <a:cs typeface="SimSun"/>
              </a:rPr>
              <a:t>。当消费者在购买商</a:t>
            </a:r>
            <a:endParaRPr sz="2000" dirty="0">
              <a:latin typeface="SimSun"/>
              <a:cs typeface="SimSun"/>
            </a:endParaRPr>
          </a:p>
          <a:p>
            <a:pPr marL="12700">
              <a:lnSpc>
                <a:spcPct val="100000"/>
              </a:lnSpc>
              <a:spcBef>
                <a:spcPts val="400"/>
              </a:spcBef>
            </a:pPr>
            <a:r>
              <a:rPr sz="2000" spc="-20" dirty="0">
                <a:latin typeface="SimSun"/>
                <a:cs typeface="SimSun"/>
              </a:rPr>
              <a:t>品或接受服务过程中遇到欺诈行为时，可以根据这一条款要求经营者进行赔偿，</a:t>
            </a:r>
            <a:r>
              <a:rPr sz="2000" spc="-20" dirty="0">
                <a:highlight>
                  <a:srgbClr val="FFFF00"/>
                </a:highlight>
                <a:latin typeface="SimSun"/>
                <a:cs typeface="SimSun"/>
              </a:rPr>
              <a:t>从而维护自身权益</a:t>
            </a:r>
            <a:r>
              <a:rPr sz="2000" spc="-20" dirty="0">
                <a:latin typeface="SimSun"/>
                <a:cs typeface="SimSun"/>
              </a:rPr>
              <a:t>。</a:t>
            </a:r>
            <a:endParaRPr sz="2000" dirty="0">
              <a:latin typeface="SimSun"/>
              <a:cs typeface="SimSun"/>
            </a:endParaRPr>
          </a:p>
          <a:p>
            <a:pPr marL="12700" marR="5080">
              <a:lnSpc>
                <a:spcPct val="116700"/>
              </a:lnSpc>
              <a:spcBef>
                <a:spcPts val="5"/>
              </a:spcBef>
            </a:pPr>
            <a:r>
              <a:rPr sz="2000" spc="-20" dirty="0">
                <a:solidFill>
                  <a:srgbClr val="0070C0"/>
                </a:solidFill>
                <a:latin typeface="SimSun"/>
                <a:cs typeface="SimSun"/>
              </a:rPr>
              <a:t>不过也有个别消费者发现了“商机”:</a:t>
            </a:r>
            <a:r>
              <a:rPr sz="2000" spc="-20" dirty="0">
                <a:latin typeface="SimSun"/>
                <a:cs typeface="SimSun"/>
              </a:rPr>
              <a:t>在发现经营者出售假货时，大量购买假货并要求经营者支付三倍赔偿。甚至产生了</a:t>
            </a:r>
            <a:r>
              <a:rPr sz="2000" spc="-20" dirty="0">
                <a:solidFill>
                  <a:srgbClr val="0070C0"/>
                </a:solidFill>
                <a:latin typeface="SimSun"/>
                <a:cs typeface="SimSun"/>
              </a:rPr>
              <a:t>“职业打假人”群体</a:t>
            </a:r>
            <a:r>
              <a:rPr sz="2000" spc="-20" dirty="0">
                <a:latin typeface="SimSun"/>
                <a:cs typeface="SimSun"/>
              </a:rPr>
              <a:t>，专门以打假赚钱为生。某地市场监督管理局工作人员反映，</a:t>
            </a:r>
            <a:r>
              <a:rPr sz="2000" spc="-25" dirty="0">
                <a:latin typeface="SimSun"/>
                <a:cs typeface="SimSun"/>
              </a:rPr>
              <a:t>许多“打假人”为了获得赔偿，甚至采取了“夹带”“掉包”“造假”等违法行为，</a:t>
            </a:r>
            <a:r>
              <a:rPr sz="2000" spc="-25" dirty="0">
                <a:solidFill>
                  <a:srgbClr val="0070C0"/>
                </a:solidFill>
                <a:latin typeface="SimSun"/>
                <a:cs typeface="SimSun"/>
              </a:rPr>
              <a:t>同时还会以媒体曝</a:t>
            </a:r>
            <a:r>
              <a:rPr sz="2000" spc="-20" dirty="0">
                <a:solidFill>
                  <a:srgbClr val="0070C0"/>
                </a:solidFill>
                <a:latin typeface="SimSun"/>
                <a:cs typeface="SimSun"/>
              </a:rPr>
              <a:t>光等手段来要挟、敲诈经营者。</a:t>
            </a:r>
            <a:endParaRPr sz="2000" dirty="0">
              <a:solidFill>
                <a:srgbClr val="0070C0"/>
              </a:solidFill>
              <a:latin typeface="SimSun"/>
              <a:cs typeface="SimSun"/>
            </a:endParaRPr>
          </a:p>
          <a:p>
            <a:pPr marL="12700" marR="252095" indent="507365">
              <a:lnSpc>
                <a:spcPct val="116500"/>
              </a:lnSpc>
              <a:tabLst>
                <a:tab pos="1414780" algn="l"/>
              </a:tabLst>
            </a:pPr>
            <a:r>
              <a:rPr sz="2000" b="1" dirty="0">
                <a:latin typeface="Microsoft JhengHei"/>
                <a:cs typeface="Microsoft JhengHei"/>
              </a:rPr>
              <a:t>资料</a:t>
            </a:r>
            <a:r>
              <a:rPr sz="2000" b="1" spc="-50" dirty="0">
                <a:latin typeface="Microsoft JhengHei"/>
                <a:cs typeface="Microsoft JhengHei"/>
              </a:rPr>
              <a:t>二</a:t>
            </a:r>
            <a:r>
              <a:rPr sz="2000" b="1" dirty="0">
                <a:latin typeface="Microsoft JhengHei"/>
                <a:cs typeface="Microsoft JhengHei"/>
              </a:rPr>
              <a:t>	</a:t>
            </a:r>
            <a:r>
              <a:rPr sz="2000" dirty="0">
                <a:latin typeface="SimSun"/>
                <a:cs typeface="SimSun"/>
              </a:rPr>
              <a:t>沙某在</a:t>
            </a:r>
            <a:r>
              <a:rPr sz="2000" spc="-15" dirty="0">
                <a:latin typeface="SimSun"/>
                <a:cs typeface="SimSun"/>
              </a:rPr>
              <a:t>某</a:t>
            </a:r>
            <a:r>
              <a:rPr sz="2000" dirty="0">
                <a:latin typeface="SimSun"/>
                <a:cs typeface="SimSun"/>
              </a:rPr>
              <a:t>网</a:t>
            </a:r>
            <a:r>
              <a:rPr sz="2000" spc="-15" dirty="0">
                <a:latin typeface="SimSun"/>
                <a:cs typeface="SimSun"/>
              </a:rPr>
              <a:t>店</a:t>
            </a:r>
            <a:r>
              <a:rPr sz="2000" dirty="0">
                <a:latin typeface="SimSun"/>
                <a:cs typeface="SimSun"/>
              </a:rPr>
              <a:t>购买了</a:t>
            </a:r>
            <a:r>
              <a:rPr sz="2000" spc="-10" dirty="0">
                <a:latin typeface="SimSun"/>
                <a:cs typeface="SimSun"/>
              </a:rPr>
              <a:t>30</a:t>
            </a:r>
            <a:r>
              <a:rPr sz="2000" dirty="0">
                <a:latin typeface="SimSun"/>
                <a:cs typeface="SimSun"/>
              </a:rPr>
              <a:t>盒</a:t>
            </a:r>
            <a:r>
              <a:rPr sz="2000" spc="-15" dirty="0">
                <a:latin typeface="SimSun"/>
                <a:cs typeface="SimSun"/>
              </a:rPr>
              <a:t>“</a:t>
            </a:r>
            <a:r>
              <a:rPr sz="2000" dirty="0">
                <a:latin typeface="SimSun"/>
                <a:cs typeface="SimSun"/>
              </a:rPr>
              <a:t>黄芪薏</a:t>
            </a:r>
            <a:r>
              <a:rPr sz="2000" spc="-15" dirty="0">
                <a:latin typeface="SimSun"/>
                <a:cs typeface="SimSun"/>
              </a:rPr>
              <a:t>米</a:t>
            </a:r>
            <a:r>
              <a:rPr sz="2000" dirty="0">
                <a:latin typeface="SimSun"/>
                <a:cs typeface="SimSun"/>
              </a:rPr>
              <a:t>饼</a:t>
            </a:r>
            <a:r>
              <a:rPr sz="2000" spc="-15" dirty="0">
                <a:latin typeface="SimSun"/>
                <a:cs typeface="SimSun"/>
              </a:rPr>
              <a:t>干</a:t>
            </a:r>
            <a:r>
              <a:rPr sz="2000" spc="-10" dirty="0">
                <a:latin typeface="SimSun"/>
                <a:cs typeface="SimSun"/>
              </a:rPr>
              <a:t>”,</a:t>
            </a:r>
            <a:r>
              <a:rPr sz="2000" dirty="0">
                <a:latin typeface="SimSun"/>
                <a:cs typeface="SimSun"/>
              </a:rPr>
              <a:t>签收后</a:t>
            </a:r>
            <a:r>
              <a:rPr sz="2000" spc="-15" dirty="0">
                <a:latin typeface="SimSun"/>
                <a:cs typeface="SimSun"/>
              </a:rPr>
              <a:t>发</a:t>
            </a:r>
            <a:r>
              <a:rPr sz="2000" dirty="0">
                <a:latin typeface="SimSun"/>
                <a:cs typeface="SimSun"/>
              </a:rPr>
              <a:t>现饼干</a:t>
            </a:r>
            <a:r>
              <a:rPr sz="2000" spc="-15" dirty="0">
                <a:latin typeface="SimSun"/>
                <a:cs typeface="SimSun"/>
              </a:rPr>
              <a:t>不</a:t>
            </a:r>
            <a:r>
              <a:rPr sz="2000" dirty="0">
                <a:latin typeface="SimSun"/>
                <a:cs typeface="SimSun"/>
              </a:rPr>
              <a:t>符</a:t>
            </a:r>
            <a:r>
              <a:rPr sz="2000" spc="-15" dirty="0">
                <a:latin typeface="SimSun"/>
                <a:cs typeface="SimSun"/>
              </a:rPr>
              <a:t>合</a:t>
            </a:r>
            <a:r>
              <a:rPr sz="2000" dirty="0">
                <a:latin typeface="SimSun"/>
                <a:cs typeface="SimSun"/>
              </a:rPr>
              <a:t>食品安</a:t>
            </a:r>
            <a:r>
              <a:rPr sz="2000" spc="-15" dirty="0">
                <a:latin typeface="SimSun"/>
                <a:cs typeface="SimSun"/>
              </a:rPr>
              <a:t>全</a:t>
            </a:r>
            <a:r>
              <a:rPr sz="2000" dirty="0">
                <a:latin typeface="SimSun"/>
                <a:cs typeface="SimSun"/>
              </a:rPr>
              <a:t>标</a:t>
            </a:r>
            <a:r>
              <a:rPr sz="2000" spc="-15" dirty="0">
                <a:latin typeface="SimSun"/>
                <a:cs typeface="SimSun"/>
              </a:rPr>
              <a:t>准</a:t>
            </a:r>
            <a:r>
              <a:rPr sz="2000" dirty="0">
                <a:latin typeface="SimSun"/>
                <a:cs typeface="SimSun"/>
              </a:rPr>
              <a:t>，又</a:t>
            </a:r>
            <a:r>
              <a:rPr sz="2000" spc="-50" dirty="0">
                <a:latin typeface="SimSun"/>
                <a:cs typeface="SimSun"/>
              </a:rPr>
              <a:t>先</a:t>
            </a:r>
            <a:r>
              <a:rPr sz="2000" dirty="0">
                <a:latin typeface="SimSun"/>
                <a:cs typeface="SimSun"/>
              </a:rPr>
              <a:t>后三次</a:t>
            </a:r>
            <a:r>
              <a:rPr sz="2000" spc="-15" dirty="0">
                <a:latin typeface="SimSun"/>
                <a:cs typeface="SimSun"/>
              </a:rPr>
              <a:t>购</a:t>
            </a:r>
            <a:r>
              <a:rPr sz="2000" dirty="0">
                <a:latin typeface="SimSun"/>
                <a:cs typeface="SimSun"/>
              </a:rPr>
              <a:t>买</a:t>
            </a:r>
            <a:r>
              <a:rPr sz="2000" spc="-10" dirty="0">
                <a:latin typeface="SimSun"/>
                <a:cs typeface="SimSun"/>
              </a:rPr>
              <a:t>40</a:t>
            </a:r>
            <a:r>
              <a:rPr sz="2000" dirty="0">
                <a:latin typeface="SimSun"/>
                <a:cs typeface="SimSun"/>
              </a:rPr>
              <a:t>盒、</a:t>
            </a:r>
            <a:r>
              <a:rPr sz="2000" spc="-10" dirty="0">
                <a:latin typeface="SimSun"/>
                <a:cs typeface="SimSun"/>
              </a:rPr>
              <a:t>60</a:t>
            </a:r>
            <a:r>
              <a:rPr sz="2000" dirty="0">
                <a:latin typeface="SimSun"/>
                <a:cs typeface="SimSun"/>
              </a:rPr>
              <a:t>盒、</a:t>
            </a:r>
            <a:r>
              <a:rPr sz="2000" spc="-10" dirty="0">
                <a:latin typeface="SimSun"/>
                <a:cs typeface="SimSun"/>
              </a:rPr>
              <a:t>100</a:t>
            </a:r>
            <a:r>
              <a:rPr sz="2000" dirty="0">
                <a:latin typeface="SimSun"/>
                <a:cs typeface="SimSun"/>
              </a:rPr>
              <a:t>盒“黄芪</a:t>
            </a:r>
            <a:r>
              <a:rPr sz="2000" spc="-15" dirty="0">
                <a:latin typeface="SimSun"/>
                <a:cs typeface="SimSun"/>
              </a:rPr>
              <a:t>薏</a:t>
            </a:r>
            <a:r>
              <a:rPr sz="2000" dirty="0">
                <a:latin typeface="SimSun"/>
                <a:cs typeface="SimSun"/>
              </a:rPr>
              <a:t>米饼干</a:t>
            </a:r>
            <a:r>
              <a:rPr sz="2000" spc="-15" dirty="0">
                <a:latin typeface="SimSun"/>
                <a:cs typeface="SimSun"/>
              </a:rPr>
              <a:t>”</a:t>
            </a:r>
            <a:r>
              <a:rPr sz="2000" dirty="0">
                <a:latin typeface="SimSun"/>
                <a:cs typeface="SimSun"/>
              </a:rPr>
              <a:t>。</a:t>
            </a:r>
            <a:r>
              <a:rPr sz="2000" spc="-15" dirty="0">
                <a:latin typeface="SimSun"/>
                <a:cs typeface="SimSun"/>
              </a:rPr>
              <a:t>随</a:t>
            </a:r>
            <a:r>
              <a:rPr sz="2000" dirty="0">
                <a:latin typeface="SimSun"/>
                <a:cs typeface="SimSun"/>
              </a:rPr>
              <a:t>后沙某</a:t>
            </a:r>
            <a:r>
              <a:rPr sz="2000" spc="-15" dirty="0">
                <a:latin typeface="SimSun"/>
                <a:cs typeface="SimSun"/>
              </a:rPr>
              <a:t>以</a:t>
            </a:r>
            <a:r>
              <a:rPr sz="2000" dirty="0">
                <a:latin typeface="SimSun"/>
                <a:cs typeface="SimSun"/>
              </a:rPr>
              <a:t>产</a:t>
            </a:r>
            <a:r>
              <a:rPr sz="2000" spc="-15" dirty="0">
                <a:latin typeface="SimSun"/>
                <a:cs typeface="SimSun"/>
              </a:rPr>
              <a:t>品</a:t>
            </a:r>
            <a:r>
              <a:rPr sz="2000" dirty="0">
                <a:latin typeface="SimSun"/>
                <a:cs typeface="SimSun"/>
              </a:rPr>
              <a:t>中添加</a:t>
            </a:r>
            <a:r>
              <a:rPr sz="2000" spc="-15" dirty="0">
                <a:latin typeface="SimSun"/>
                <a:cs typeface="SimSun"/>
              </a:rPr>
              <a:t>有</a:t>
            </a:r>
            <a:r>
              <a:rPr sz="2000" dirty="0">
                <a:latin typeface="SimSun"/>
                <a:cs typeface="SimSun"/>
              </a:rPr>
              <a:t>黄</a:t>
            </a:r>
            <a:r>
              <a:rPr sz="2000" spc="-15" dirty="0">
                <a:latin typeface="SimSun"/>
                <a:cs typeface="SimSun"/>
              </a:rPr>
              <a:t>芪</a:t>
            </a:r>
            <a:r>
              <a:rPr sz="2000" dirty="0">
                <a:latin typeface="SimSun"/>
                <a:cs typeface="SimSun"/>
              </a:rPr>
              <a:t>粉、违</a:t>
            </a:r>
            <a:r>
              <a:rPr sz="2000" spc="-15" dirty="0">
                <a:latin typeface="SimSun"/>
                <a:cs typeface="SimSun"/>
              </a:rPr>
              <a:t>反</a:t>
            </a:r>
            <a:r>
              <a:rPr sz="2000" dirty="0">
                <a:latin typeface="SimSun"/>
                <a:cs typeface="SimSun"/>
              </a:rPr>
              <a:t>了</a:t>
            </a:r>
            <a:r>
              <a:rPr sz="2000" spc="-15" dirty="0">
                <a:latin typeface="SimSun"/>
                <a:cs typeface="SimSun"/>
              </a:rPr>
              <a:t>有</a:t>
            </a:r>
            <a:r>
              <a:rPr sz="2000" dirty="0">
                <a:latin typeface="SimSun"/>
                <a:cs typeface="SimSun"/>
              </a:rPr>
              <a:t>关</a:t>
            </a:r>
            <a:r>
              <a:rPr sz="2000" spc="-50" dirty="0">
                <a:latin typeface="SimSun"/>
                <a:cs typeface="SimSun"/>
              </a:rPr>
              <a:t>规</a:t>
            </a:r>
            <a:endParaRPr sz="2000" dirty="0">
              <a:latin typeface="SimSun"/>
              <a:cs typeface="SimSun"/>
            </a:endParaRPr>
          </a:p>
          <a:p>
            <a:pPr marL="12700">
              <a:lnSpc>
                <a:spcPct val="100000"/>
              </a:lnSpc>
              <a:spcBef>
                <a:spcPts val="409"/>
              </a:spcBef>
            </a:pPr>
            <a:r>
              <a:rPr sz="2000" spc="-25" dirty="0">
                <a:latin typeface="SimSun"/>
                <a:cs typeface="SimSun"/>
              </a:rPr>
              <a:t>定为由，起诉请求经营者支付多倍赔偿。</a:t>
            </a:r>
            <a:endParaRPr sz="2000" dirty="0">
              <a:latin typeface="SimSun"/>
              <a:cs typeface="SimSun"/>
            </a:endParaRPr>
          </a:p>
          <a:p>
            <a:pPr marL="12700" marR="259079">
              <a:lnSpc>
                <a:spcPct val="116500"/>
              </a:lnSpc>
              <a:spcBef>
                <a:spcPts val="5"/>
              </a:spcBef>
            </a:pPr>
            <a:r>
              <a:rPr sz="2000" spc="-20" dirty="0">
                <a:latin typeface="SimSun"/>
                <a:cs typeface="SimSun"/>
              </a:rPr>
              <a:t>法院审理认为，</a:t>
            </a:r>
            <a:r>
              <a:rPr sz="2000" spc="-20" dirty="0">
                <a:solidFill>
                  <a:srgbClr val="7030A0"/>
                </a:solidFill>
                <a:latin typeface="SimSun"/>
                <a:cs typeface="SimSun"/>
              </a:rPr>
              <a:t>综合考量案涉饼干的保质期、普通消费者通常的生活消费习惯等因素，沙某的加购行为超出了正常的生活消费所需，购买者不构成《消费者权益保护法》中的“消费者”,对其就三次加</a:t>
            </a:r>
            <a:endParaRPr sz="2000" dirty="0">
              <a:solidFill>
                <a:srgbClr val="7030A0"/>
              </a:solidFill>
              <a:latin typeface="SimSun"/>
              <a:cs typeface="SimSun"/>
            </a:endParaRPr>
          </a:p>
          <a:p>
            <a:pPr marL="12700">
              <a:lnSpc>
                <a:spcPct val="100000"/>
              </a:lnSpc>
              <a:spcBef>
                <a:spcPts val="405"/>
              </a:spcBef>
            </a:pPr>
            <a:r>
              <a:rPr sz="2000" dirty="0">
                <a:solidFill>
                  <a:srgbClr val="7030A0"/>
                </a:solidFill>
                <a:latin typeface="SimSun"/>
                <a:cs typeface="SimSun"/>
              </a:rPr>
              <a:t>购的</a:t>
            </a:r>
            <a:r>
              <a:rPr sz="2000" spc="-10" dirty="0">
                <a:solidFill>
                  <a:srgbClr val="7030A0"/>
                </a:solidFill>
                <a:latin typeface="SimSun"/>
                <a:cs typeface="SimSun"/>
              </a:rPr>
              <a:t>200</a:t>
            </a:r>
            <a:r>
              <a:rPr sz="2000" spc="-20" dirty="0">
                <a:solidFill>
                  <a:srgbClr val="7030A0"/>
                </a:solidFill>
                <a:latin typeface="SimSun"/>
                <a:cs typeface="SimSun"/>
              </a:rPr>
              <a:t>盒饼干所提出的多倍赔偿请求不应支持。</a:t>
            </a:r>
            <a:endParaRPr sz="2000" dirty="0">
              <a:solidFill>
                <a:srgbClr val="7030A0"/>
              </a:solidFill>
              <a:latin typeface="SimSun"/>
              <a:cs typeface="SimSun"/>
            </a:endParaRPr>
          </a:p>
          <a:p>
            <a:pPr marL="411480">
              <a:lnSpc>
                <a:spcPct val="100000"/>
              </a:lnSpc>
              <a:spcBef>
                <a:spcPts val="395"/>
              </a:spcBef>
            </a:pPr>
            <a:r>
              <a:rPr sz="2000" spc="-15" dirty="0">
                <a:latin typeface="SimSun"/>
                <a:cs typeface="SimSun"/>
              </a:rPr>
              <a:t>专家表示：“在适用该项规定时，</a:t>
            </a:r>
            <a:r>
              <a:rPr sz="2000" dirty="0">
                <a:solidFill>
                  <a:srgbClr val="FF0000"/>
                </a:solidFill>
                <a:latin typeface="SimSun"/>
                <a:cs typeface="SimSun"/>
              </a:rPr>
              <a:t>既要激励消费者维权，又要防止过度激励</a:t>
            </a:r>
            <a:r>
              <a:rPr sz="2000" spc="-20" dirty="0">
                <a:latin typeface="SimSun"/>
                <a:cs typeface="SimSun"/>
              </a:rPr>
              <a:t>。”结合资料，运用</a:t>
            </a:r>
            <a:endParaRPr sz="2000" dirty="0">
              <a:latin typeface="SimSun"/>
              <a:cs typeface="SimSun"/>
            </a:endParaRPr>
          </a:p>
          <a:p>
            <a:pPr marL="12700">
              <a:lnSpc>
                <a:spcPct val="100000"/>
              </a:lnSpc>
              <a:spcBef>
                <a:spcPts val="400"/>
              </a:spcBef>
            </a:pPr>
            <a:r>
              <a:rPr sz="2000" spc="-10" dirty="0">
                <a:latin typeface="SimSun"/>
                <a:cs typeface="SimSun"/>
              </a:rPr>
              <a:t>所学知识对此观点进行解释。</a:t>
            </a:r>
            <a:endParaRPr sz="2000" dirty="0">
              <a:latin typeface="SimSun"/>
              <a:cs typeface="SimSu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FC303CC-E115-A0FE-3BBB-33CB73653F1F}"/>
              </a:ext>
            </a:extLst>
          </p:cNvPr>
          <p:cNvSpPr txBox="1"/>
          <p:nvPr/>
        </p:nvSpPr>
        <p:spPr>
          <a:xfrm>
            <a:off x="1409700" y="457200"/>
            <a:ext cx="9372600" cy="6370975"/>
          </a:xfrm>
          <a:prstGeom prst="rect">
            <a:avLst/>
          </a:prstGeom>
          <a:noFill/>
        </p:spPr>
        <p:txBody>
          <a:bodyPr wrap="square">
            <a:spAutoFit/>
          </a:bodyPr>
          <a:lstStyle/>
          <a:p>
            <a:r>
              <a:rPr lang="en-US" altLang="zh-CN" sz="2400" dirty="0"/>
              <a:t>【</a:t>
            </a:r>
            <a:r>
              <a:rPr lang="zh-CN" altLang="en-US" sz="2400" dirty="0"/>
              <a:t>答案</a:t>
            </a:r>
            <a:r>
              <a:rPr lang="en-US" altLang="zh-CN" sz="2400" dirty="0"/>
              <a:t>】①</a:t>
            </a:r>
            <a:r>
              <a:rPr lang="zh-CN" altLang="en-US" sz="2400" dirty="0"/>
              <a:t>消费者享有安全消费的权利</a:t>
            </a:r>
            <a:r>
              <a:rPr lang="en-US" altLang="zh-CN" sz="2400" dirty="0"/>
              <a:t>(</a:t>
            </a:r>
            <a:r>
              <a:rPr lang="zh-CN" altLang="en-US" sz="2400" dirty="0"/>
              <a:t>合同履行应遵循全面履行、诚信履行的原则</a:t>
            </a:r>
            <a:r>
              <a:rPr lang="en-US" altLang="zh-CN" sz="2400" dirty="0"/>
              <a:t>)</a:t>
            </a:r>
            <a:r>
              <a:rPr lang="zh-CN" altLang="en-US" sz="2400" dirty="0"/>
              <a:t>。当消费者在购买商品或接受服务过程中遇到欺诈行为时，那么消费者的合法权益受损，经营者便属于违法行为，可以根据这一条款要求经营者进行赔偿。引入惩罚性赔偿的目的在于加强对消费者权益的保护，通过让经营者为其欺诈行为或提供有缺陷的商品和服务承担额外的责任，来有效遏制此类行为的发生，这样能激励消费者拿起法律武器进行维权，从而更好的维护消费者的合法权益。</a:t>
            </a:r>
            <a:endParaRPr lang="en-US" altLang="zh-CN" sz="2400" dirty="0"/>
          </a:p>
          <a:p>
            <a:endParaRPr lang="zh-CN" altLang="en-US" sz="2400" dirty="0"/>
          </a:p>
          <a:p>
            <a:r>
              <a:rPr lang="zh-CN" altLang="en-US" sz="2400" dirty="0"/>
              <a:t>②民事主体行使民事权利时不能超过正当界限，不得滥用民事权利损害他人的合法权益。沙某的“加购行为”超出了合理生活消费需要的范围，故不适用“</a:t>
            </a:r>
            <a:r>
              <a:rPr lang="en-US" altLang="zh-CN" sz="2400" dirty="0"/>
              <a:t>《</a:t>
            </a:r>
            <a:r>
              <a:rPr lang="zh-CN" altLang="en-US" sz="2400" dirty="0"/>
              <a:t>消费者权益保护法</a:t>
            </a:r>
            <a:r>
              <a:rPr lang="en-US" altLang="zh-CN" sz="2400" dirty="0"/>
              <a:t>》</a:t>
            </a:r>
            <a:r>
              <a:rPr lang="zh-CN" altLang="en-US" sz="2400" dirty="0"/>
              <a:t>第五十五条规定”的惩罚性赔偿原则。</a:t>
            </a:r>
            <a:endParaRPr lang="en-US" altLang="zh-CN" sz="2400" dirty="0"/>
          </a:p>
          <a:p>
            <a:r>
              <a:rPr lang="zh-CN" altLang="en-US" sz="2400" dirty="0"/>
              <a:t> 总结：   惩罚性赔偿制度的设计需要</a:t>
            </a:r>
            <a:r>
              <a:rPr lang="zh-CN" altLang="en-US" sz="2400" dirty="0">
                <a:highlight>
                  <a:srgbClr val="FFFF00"/>
                </a:highlight>
              </a:rPr>
              <a:t>平衡好保护消费者权益与维护市场秩序之间的关系</a:t>
            </a:r>
            <a:r>
              <a:rPr lang="zh-CN" altLang="en-US" sz="2400" dirty="0"/>
              <a:t>，</a:t>
            </a:r>
            <a:r>
              <a:rPr lang="zh-CN" altLang="en-US" sz="2400" dirty="0">
                <a:highlight>
                  <a:srgbClr val="FFFF00"/>
                </a:highlight>
              </a:rPr>
              <a:t>既要有效打击不法行为，又要防止制度被滥用，确保其在促进社会公平正义的同时，不会对市场造成不必要的负面影响。</a:t>
            </a:r>
            <a:endParaRPr lang="en-US" altLang="zh-CN" sz="2400" dirty="0">
              <a:highlight>
                <a:srgbClr val="FFFF00"/>
              </a:highlight>
            </a:endParaRPr>
          </a:p>
          <a:p>
            <a:endParaRPr lang="en-US" altLang="zh-CN" sz="2400" dirty="0"/>
          </a:p>
        </p:txBody>
      </p:sp>
    </p:spTree>
    <p:extLst>
      <p:ext uri="{BB962C8B-B14F-4D97-AF65-F5344CB8AC3E}">
        <p14:creationId xmlns:p14="http://schemas.microsoft.com/office/powerpoint/2010/main" val="17925211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5CA23E7-2C4A-54C5-B49F-70390667783B}"/>
              </a:ext>
            </a:extLst>
          </p:cNvPr>
          <p:cNvSpPr txBox="1"/>
          <p:nvPr/>
        </p:nvSpPr>
        <p:spPr>
          <a:xfrm>
            <a:off x="609600" y="335845"/>
            <a:ext cx="6934200" cy="5909310"/>
          </a:xfrm>
          <a:prstGeom prst="rect">
            <a:avLst/>
          </a:prstGeom>
          <a:noFill/>
        </p:spPr>
        <p:txBody>
          <a:bodyPr wrap="square">
            <a:spAutoFit/>
          </a:bodyPr>
          <a:lstStyle/>
          <a:p>
            <a:r>
              <a:rPr lang="en-US" altLang="zh-CN" dirty="0"/>
              <a:t>19</a:t>
            </a:r>
            <a:r>
              <a:rPr lang="zh-CN" altLang="en-US" dirty="0"/>
              <a:t>．（</a:t>
            </a:r>
            <a:r>
              <a:rPr lang="en-US" altLang="zh-CN" dirty="0"/>
              <a:t>8 </a:t>
            </a:r>
            <a:r>
              <a:rPr lang="zh-CN" altLang="en-US" dirty="0"/>
              <a:t>分）</a:t>
            </a:r>
          </a:p>
          <a:p>
            <a:endParaRPr lang="en-US" altLang="zh-CN" dirty="0"/>
          </a:p>
          <a:p>
            <a:r>
              <a:rPr lang="en-US" altLang="zh-CN" dirty="0"/>
              <a:t>【</a:t>
            </a:r>
            <a:r>
              <a:rPr lang="zh-CN" altLang="en-US" dirty="0"/>
              <a:t>案情回放</a:t>
            </a:r>
            <a:r>
              <a:rPr lang="en-US" altLang="zh-CN" dirty="0"/>
              <a:t>】</a:t>
            </a:r>
          </a:p>
          <a:p>
            <a:r>
              <a:rPr lang="en-US" altLang="zh-CN" dirty="0"/>
              <a:t>“</a:t>
            </a:r>
            <a:r>
              <a:rPr lang="zh-CN" altLang="en-US" dirty="0"/>
              <a:t>小爱同学，今天天气怎么样？”“小爱同学，讲个故事”</a:t>
            </a:r>
            <a:r>
              <a:rPr lang="en-US" altLang="zh-CN" dirty="0"/>
              <a:t>……</a:t>
            </a:r>
            <a:r>
              <a:rPr lang="zh-CN" altLang="en-US" dirty="0"/>
              <a:t>随着 </a:t>
            </a:r>
            <a:r>
              <a:rPr lang="en-US" altLang="zh-CN" dirty="0"/>
              <a:t>M </a:t>
            </a:r>
            <a:r>
              <a:rPr lang="zh-CN" altLang="en-US" dirty="0"/>
              <a:t>公司 </a:t>
            </a:r>
            <a:r>
              <a:rPr lang="en-US" altLang="zh-CN" dirty="0"/>
              <a:t>2017 </a:t>
            </a:r>
            <a:r>
              <a:rPr lang="zh-CN" altLang="en-US" dirty="0"/>
              <a:t>年 </a:t>
            </a:r>
            <a:r>
              <a:rPr lang="en-US" altLang="zh-CN" dirty="0"/>
              <a:t>7</a:t>
            </a:r>
            <a:r>
              <a:rPr lang="zh-CN" altLang="en-US" dirty="0"/>
              <a:t>月推出的“小爱同学”智能语音设备后，“小爱同学”越来越多的参与到我们的生活中。截至 </a:t>
            </a:r>
            <a:r>
              <a:rPr lang="en-US" altLang="zh-CN" dirty="0"/>
              <a:t>2020 </a:t>
            </a:r>
            <a:r>
              <a:rPr lang="zh-CN" altLang="en-US" dirty="0"/>
              <a:t>年 </a:t>
            </a:r>
            <a:r>
              <a:rPr lang="en-US" altLang="zh-CN" dirty="0"/>
              <a:t>12 </a:t>
            </a:r>
            <a:r>
              <a:rPr lang="zh-CN" altLang="en-US" dirty="0"/>
              <a:t>月，</a:t>
            </a:r>
            <a:r>
              <a:rPr lang="zh-CN" altLang="en-US" dirty="0">
                <a:highlight>
                  <a:srgbClr val="FFFF00"/>
                </a:highlight>
              </a:rPr>
              <a:t>其月活跃用户数达到 </a:t>
            </a:r>
            <a:r>
              <a:rPr lang="en-US" altLang="zh-CN" dirty="0">
                <a:highlight>
                  <a:srgbClr val="FFFF00"/>
                </a:highlight>
              </a:rPr>
              <a:t>8670 </a:t>
            </a:r>
            <a:r>
              <a:rPr lang="zh-CN" altLang="en-US" dirty="0">
                <a:highlight>
                  <a:srgbClr val="FFFF00"/>
                </a:highlight>
              </a:rPr>
              <a:t>万人，累计唤醒约 </a:t>
            </a:r>
            <a:r>
              <a:rPr lang="en-US" altLang="zh-CN" dirty="0">
                <a:highlight>
                  <a:srgbClr val="FFFF00"/>
                </a:highlight>
              </a:rPr>
              <a:t>495 </a:t>
            </a:r>
            <a:r>
              <a:rPr lang="zh-CN" altLang="en-US" dirty="0">
                <a:highlight>
                  <a:srgbClr val="FFFF00"/>
                </a:highlight>
              </a:rPr>
              <a:t>亿次</a:t>
            </a:r>
            <a:r>
              <a:rPr lang="zh-CN" altLang="en-US" dirty="0"/>
              <a:t>。陈某于 </a:t>
            </a:r>
            <a:r>
              <a:rPr lang="en-US" altLang="zh-CN" dirty="0"/>
              <a:t>2017 </a:t>
            </a:r>
            <a:r>
              <a:rPr lang="zh-CN" altLang="en-US" dirty="0"/>
              <a:t>年 </a:t>
            </a:r>
            <a:r>
              <a:rPr lang="en-US" altLang="zh-CN" dirty="0"/>
              <a:t>8 </a:t>
            </a:r>
            <a:r>
              <a:rPr lang="zh-CN" altLang="en-US" dirty="0"/>
              <a:t>月至 </a:t>
            </a:r>
            <a:r>
              <a:rPr lang="en-US" altLang="zh-CN" dirty="0"/>
              <a:t>2020 </a:t>
            </a:r>
            <a:r>
              <a:rPr lang="zh-CN" altLang="en-US" dirty="0"/>
              <a:t>年 </a:t>
            </a:r>
            <a:r>
              <a:rPr lang="en-US" altLang="zh-CN" dirty="0"/>
              <a:t>6 </a:t>
            </a:r>
            <a:r>
              <a:rPr lang="zh-CN" altLang="en-US" dirty="0"/>
              <a:t>月间，在不同商品类别上</a:t>
            </a:r>
            <a:r>
              <a:rPr lang="zh-CN" altLang="en-US" dirty="0">
                <a:highlight>
                  <a:srgbClr val="FFFF00"/>
                </a:highlight>
              </a:rPr>
              <a:t>抢先大量申请注册相关商标</a:t>
            </a:r>
            <a:r>
              <a:rPr lang="zh-CN" altLang="en-US" dirty="0"/>
              <a:t>，并向 </a:t>
            </a:r>
            <a:r>
              <a:rPr lang="en-US" altLang="zh-CN" dirty="0"/>
              <a:t>M </a:t>
            </a:r>
            <a:r>
              <a:rPr lang="zh-CN" altLang="en-US" dirty="0"/>
              <a:t>科技关联企业发函，</a:t>
            </a:r>
            <a:r>
              <a:rPr lang="zh-CN" altLang="en-US" dirty="0">
                <a:highlight>
                  <a:srgbClr val="FFFF00"/>
                </a:highlight>
              </a:rPr>
              <a:t>要求停止使用“小爱同学”商标</a:t>
            </a:r>
            <a:r>
              <a:rPr lang="zh-CN" altLang="en-US" dirty="0"/>
              <a:t>。</a:t>
            </a:r>
            <a:r>
              <a:rPr lang="zh-CN" altLang="en-US" dirty="0">
                <a:solidFill>
                  <a:srgbClr val="FF0000"/>
                </a:solidFill>
              </a:rPr>
              <a:t>同时与深圳市 </a:t>
            </a:r>
            <a:r>
              <a:rPr lang="en-US" altLang="zh-CN" dirty="0">
                <a:solidFill>
                  <a:srgbClr val="FF0000"/>
                </a:solidFill>
              </a:rPr>
              <a:t>Y </a:t>
            </a:r>
            <a:r>
              <a:rPr lang="zh-CN" altLang="en-US" dirty="0">
                <a:solidFill>
                  <a:srgbClr val="FF0000"/>
                </a:solidFill>
              </a:rPr>
              <a:t>公司合作，在运动手表、闹钟等商品上使用“小爱同学”商标，并发布相关宣传文章</a:t>
            </a:r>
            <a:r>
              <a:rPr lang="zh-CN" altLang="en-US" dirty="0"/>
              <a:t>。</a:t>
            </a:r>
            <a:r>
              <a:rPr lang="en-US" altLang="zh-CN" dirty="0"/>
              <a:t>M </a:t>
            </a:r>
            <a:r>
              <a:rPr lang="zh-CN" altLang="en-US" dirty="0"/>
              <a:t>公司因此提起诉讼，</a:t>
            </a:r>
            <a:r>
              <a:rPr lang="zh-CN" altLang="en-US" dirty="0">
                <a:solidFill>
                  <a:srgbClr val="FF0000"/>
                </a:solidFill>
              </a:rPr>
              <a:t>指控陈某及深圳市 </a:t>
            </a:r>
            <a:r>
              <a:rPr lang="en-US" altLang="zh-CN" dirty="0">
                <a:solidFill>
                  <a:srgbClr val="FF0000"/>
                </a:solidFill>
              </a:rPr>
              <a:t>Y </a:t>
            </a:r>
            <a:r>
              <a:rPr lang="zh-CN" altLang="en-US" dirty="0">
                <a:solidFill>
                  <a:srgbClr val="FF0000"/>
                </a:solidFill>
              </a:rPr>
              <a:t>公司构成不正当竞争。</a:t>
            </a:r>
          </a:p>
          <a:p>
            <a:r>
              <a:rPr lang="en-US" altLang="zh-CN" dirty="0"/>
              <a:t>【</a:t>
            </a:r>
            <a:r>
              <a:rPr lang="zh-CN" altLang="en-US" dirty="0"/>
              <a:t>判决结果</a:t>
            </a:r>
            <a:r>
              <a:rPr lang="en-US" altLang="zh-CN" dirty="0"/>
              <a:t>】</a:t>
            </a:r>
          </a:p>
          <a:p>
            <a:r>
              <a:rPr lang="zh-CN" altLang="en-US" dirty="0"/>
              <a:t>经人民法院审理，“小爱同学”作为有一定影响力的唤醒词、人工智能引擎的名称以及搭载人工智能引擎的智能音箱等商品的名称，</a:t>
            </a:r>
            <a:r>
              <a:rPr lang="zh-CN" altLang="en-US" dirty="0">
                <a:highlight>
                  <a:srgbClr val="FFFF00"/>
                </a:highlight>
              </a:rPr>
              <a:t>受到反不正当竞争法的保护。</a:t>
            </a:r>
            <a:r>
              <a:rPr lang="zh-CN" altLang="en-US" dirty="0"/>
              <a:t>判决陈某、深圳市 </a:t>
            </a:r>
            <a:r>
              <a:rPr lang="en-US" altLang="zh-CN" dirty="0"/>
              <a:t>Y </a:t>
            </a:r>
            <a:r>
              <a:rPr lang="zh-CN" altLang="en-US" dirty="0"/>
              <a:t>智能科技有限公司立即停止侵权，陈某赔偿 </a:t>
            </a:r>
            <a:r>
              <a:rPr lang="en-US" altLang="zh-CN" dirty="0"/>
              <a:t>M </a:t>
            </a:r>
            <a:r>
              <a:rPr lang="zh-CN" altLang="en-US" dirty="0"/>
              <a:t>科技经济损失及合理支出 </a:t>
            </a:r>
            <a:r>
              <a:rPr lang="en-US" altLang="zh-CN" dirty="0"/>
              <a:t>120 </a:t>
            </a:r>
            <a:r>
              <a:rPr lang="zh-CN" altLang="en-US" dirty="0"/>
              <a:t>万元，深圳市 </a:t>
            </a:r>
            <a:r>
              <a:rPr lang="en-US" altLang="zh-CN" dirty="0"/>
              <a:t>Y </a:t>
            </a:r>
            <a:r>
              <a:rPr lang="zh-CN" altLang="en-US" dirty="0"/>
              <a:t>公司对其中 </a:t>
            </a:r>
            <a:r>
              <a:rPr lang="en-US" altLang="zh-CN" dirty="0"/>
              <a:t>25 </a:t>
            </a:r>
            <a:r>
              <a:rPr lang="zh-CN" altLang="en-US" dirty="0"/>
              <a:t>万元承担连带责任。一审判决后，当事人均未上诉。</a:t>
            </a:r>
            <a:endParaRPr lang="en-US" altLang="zh-CN" dirty="0"/>
          </a:p>
          <a:p>
            <a:endParaRPr lang="zh-CN" altLang="en-US" dirty="0"/>
          </a:p>
          <a:p>
            <a:r>
              <a:rPr lang="zh-CN" altLang="en-US" dirty="0"/>
              <a:t>“唤醒词”亦受法律保护，请运用法律知识分析法院的判决。</a:t>
            </a:r>
          </a:p>
        </p:txBody>
      </p:sp>
      <p:sp>
        <p:nvSpPr>
          <p:cNvPr id="5" name="文本框 4">
            <a:extLst>
              <a:ext uri="{FF2B5EF4-FFF2-40B4-BE49-F238E27FC236}">
                <a16:creationId xmlns:a16="http://schemas.microsoft.com/office/drawing/2014/main" id="{893FB28B-476A-670C-461F-517B88C590B9}"/>
              </a:ext>
            </a:extLst>
          </p:cNvPr>
          <p:cNvSpPr txBox="1"/>
          <p:nvPr/>
        </p:nvSpPr>
        <p:spPr>
          <a:xfrm>
            <a:off x="7696200" y="914400"/>
            <a:ext cx="4003040" cy="5632311"/>
          </a:xfrm>
          <a:prstGeom prst="rect">
            <a:avLst/>
          </a:prstGeom>
          <a:noFill/>
          <a:ln w="28575">
            <a:solidFill>
              <a:schemeClr val="tx1"/>
            </a:solidFill>
          </a:ln>
        </p:spPr>
        <p:txBody>
          <a:bodyPr wrap="square">
            <a:spAutoFit/>
          </a:bodyPr>
          <a:lstStyle/>
          <a:p>
            <a:r>
              <a:rPr lang="zh-CN" altLang="en-US" dirty="0"/>
              <a:t>根据反不正当竞争法，陈某在明知他人已经使用“小爱同学”唤醒词并有一定影响的情况下，抢先注册，并发布引人误解的商业宣传信息</a:t>
            </a:r>
            <a:r>
              <a:rPr lang="zh-CN" altLang="en-US" dirty="0">
                <a:solidFill>
                  <a:srgbClr val="FF0000"/>
                </a:solidFill>
              </a:rPr>
              <a:t>，构成混淆及虚假宣传，属于不正当竞争，违背了诚实信用原则</a:t>
            </a:r>
            <a:r>
              <a:rPr lang="zh-CN" altLang="en-US" dirty="0"/>
              <a:t>。</a:t>
            </a:r>
            <a:r>
              <a:rPr lang="zh-CN" altLang="en-US" dirty="0">
                <a:highlight>
                  <a:srgbClr val="FFFF00"/>
                </a:highlight>
              </a:rPr>
              <a:t>该案判决合理确定各方利益，规制了滥用权利的行为，保护了科技创新型企业的品牌商誉，有利于促进新业态的发展，为数字经济发展营造良好的法治化营商环境</a:t>
            </a:r>
            <a:r>
              <a:rPr lang="zh-CN" altLang="en-US" dirty="0"/>
              <a:t>。</a:t>
            </a:r>
            <a:endParaRPr lang="en-US" altLang="zh-CN" dirty="0"/>
          </a:p>
          <a:p>
            <a:endParaRPr lang="en-US" altLang="zh-CN" dirty="0"/>
          </a:p>
          <a:p>
            <a:endParaRPr lang="zh-CN" altLang="en-US" dirty="0"/>
          </a:p>
          <a:p>
            <a:r>
              <a:rPr lang="zh-CN" altLang="en-US" dirty="0"/>
              <a:t>细则：结合材料描述侵权事实 </a:t>
            </a:r>
            <a:r>
              <a:rPr lang="en-US" altLang="zh-CN" dirty="0"/>
              <a:t>1</a:t>
            </a:r>
            <a:r>
              <a:rPr lang="zh-CN" altLang="en-US" dirty="0"/>
              <a:t>分；引人误解</a:t>
            </a:r>
            <a:r>
              <a:rPr lang="en-US" altLang="zh-CN" dirty="0"/>
              <a:t>/</a:t>
            </a:r>
            <a:r>
              <a:rPr lang="zh-CN" altLang="en-US" dirty="0"/>
              <a:t>混淆</a:t>
            </a:r>
            <a:r>
              <a:rPr lang="en-US" altLang="zh-CN" dirty="0"/>
              <a:t>/</a:t>
            </a:r>
            <a:r>
              <a:rPr lang="zh-CN" altLang="en-US" dirty="0"/>
              <a:t>虚假宣传  </a:t>
            </a:r>
            <a:r>
              <a:rPr lang="en-US" altLang="zh-CN" dirty="0"/>
              <a:t>1</a:t>
            </a:r>
            <a:r>
              <a:rPr lang="zh-CN" altLang="en-US" dirty="0"/>
              <a:t>分；属于不正当竞争</a:t>
            </a:r>
            <a:r>
              <a:rPr lang="en-US" altLang="zh-CN" dirty="0"/>
              <a:t>/</a:t>
            </a:r>
            <a:r>
              <a:rPr lang="zh-CN" altLang="en-US" dirty="0"/>
              <a:t>违反反不正当竞争法  </a:t>
            </a:r>
            <a:r>
              <a:rPr lang="en-US" altLang="zh-CN" dirty="0"/>
              <a:t>1</a:t>
            </a:r>
            <a:r>
              <a:rPr lang="zh-CN" altLang="en-US" dirty="0"/>
              <a:t>分； 违背了诚实信用原则 </a:t>
            </a:r>
            <a:r>
              <a:rPr lang="en-US" altLang="zh-CN" dirty="0"/>
              <a:t>/</a:t>
            </a:r>
            <a:r>
              <a:rPr lang="zh-CN" altLang="en-US" dirty="0"/>
              <a:t>商业道德</a:t>
            </a:r>
            <a:r>
              <a:rPr lang="en-US" altLang="zh-CN" dirty="0"/>
              <a:t>1</a:t>
            </a:r>
            <a:r>
              <a:rPr lang="zh-CN" altLang="en-US" dirty="0"/>
              <a:t>分；</a:t>
            </a:r>
          </a:p>
          <a:p>
            <a:r>
              <a:rPr lang="zh-CN" altLang="en-US" dirty="0"/>
              <a:t>该案判决保护了</a:t>
            </a:r>
            <a:r>
              <a:rPr lang="en-US" altLang="zh-CN" dirty="0"/>
              <a:t>~</a:t>
            </a:r>
            <a:r>
              <a:rPr lang="zh-CN" altLang="en-US" dirty="0"/>
              <a:t>或规范了</a:t>
            </a:r>
            <a:r>
              <a:rPr lang="en-US" altLang="zh-CN" dirty="0"/>
              <a:t>~  2</a:t>
            </a:r>
            <a:r>
              <a:rPr lang="zh-CN" altLang="en-US" dirty="0"/>
              <a:t>分</a:t>
            </a:r>
          </a:p>
          <a:p>
            <a:r>
              <a:rPr lang="zh-CN" altLang="en-US" dirty="0"/>
              <a:t>有利于新业态</a:t>
            </a:r>
            <a:r>
              <a:rPr lang="en-US" altLang="zh-CN" dirty="0"/>
              <a:t>/</a:t>
            </a:r>
            <a:r>
              <a:rPr lang="zh-CN" altLang="en-US" dirty="0"/>
              <a:t>新经济</a:t>
            </a:r>
            <a:r>
              <a:rPr lang="en-US" altLang="zh-CN" dirty="0"/>
              <a:t>/</a:t>
            </a:r>
            <a:r>
              <a:rPr lang="zh-CN" altLang="en-US" dirty="0"/>
              <a:t>数字经济发展</a:t>
            </a:r>
            <a:r>
              <a:rPr lang="en-US" altLang="zh-CN" dirty="0"/>
              <a:t>/</a:t>
            </a:r>
            <a:r>
              <a:rPr lang="zh-CN" altLang="en-US" dirty="0"/>
              <a:t>创新</a:t>
            </a:r>
            <a:r>
              <a:rPr lang="en-US" altLang="zh-CN" dirty="0"/>
              <a:t>/1</a:t>
            </a:r>
            <a:r>
              <a:rPr lang="zh-CN" altLang="en-US" dirty="0"/>
              <a:t>分，维护市场秩序</a:t>
            </a:r>
            <a:r>
              <a:rPr lang="en-US" altLang="zh-CN" dirty="0"/>
              <a:t>/</a:t>
            </a:r>
            <a:r>
              <a:rPr lang="zh-CN" altLang="en-US" dirty="0"/>
              <a:t>营商环境 </a:t>
            </a:r>
            <a:r>
              <a:rPr lang="en-US" altLang="zh-CN" dirty="0"/>
              <a:t>1</a:t>
            </a:r>
            <a:r>
              <a:rPr lang="zh-CN" altLang="en-US" dirty="0"/>
              <a:t>分</a:t>
            </a:r>
          </a:p>
        </p:txBody>
      </p:sp>
    </p:spTree>
    <p:extLst>
      <p:ext uri="{BB962C8B-B14F-4D97-AF65-F5344CB8AC3E}">
        <p14:creationId xmlns:p14="http://schemas.microsoft.com/office/powerpoint/2010/main" val="206579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8C1596D-B713-BDA6-986C-0D04EE2E2F6D}"/>
              </a:ext>
            </a:extLst>
          </p:cNvPr>
          <p:cNvSpPr txBox="1"/>
          <p:nvPr/>
        </p:nvSpPr>
        <p:spPr>
          <a:xfrm>
            <a:off x="1905000" y="1066800"/>
            <a:ext cx="8763000" cy="4524315"/>
          </a:xfrm>
          <a:prstGeom prst="rect">
            <a:avLst/>
          </a:prstGeom>
          <a:noFill/>
        </p:spPr>
        <p:txBody>
          <a:bodyPr wrap="square">
            <a:spAutoFit/>
          </a:bodyPr>
          <a:lstStyle/>
          <a:p>
            <a:r>
              <a:rPr lang="zh-CN" altLang="en-US" sz="2400" dirty="0"/>
              <a:t>    根据反不正当竞争法，陈某在明知他人已经使用“小爱同学”唤醒词并有一定影响的情况下，抢先注册，并发布引人误解的商业宣传信息，构成混淆及虚假宣传，属于不正当竞争，违背了诚实信用原则。该案判决合理确定各方利益，规制了滥用权利的行为，保护了科技创新型企业的品牌商誉，有利于促进新业态的发展，为数字经济发展营造良好的法治化营商环境。</a:t>
            </a:r>
          </a:p>
          <a:p>
            <a:r>
              <a:rPr lang="zh-CN" altLang="en-US" sz="2400" dirty="0"/>
              <a:t>细则：结合材料描述侵权事实 </a:t>
            </a:r>
            <a:r>
              <a:rPr lang="en-US" altLang="zh-CN" sz="2400" dirty="0"/>
              <a:t>1</a:t>
            </a:r>
            <a:r>
              <a:rPr lang="zh-CN" altLang="en-US" sz="2400" dirty="0"/>
              <a:t>分；引人误解</a:t>
            </a:r>
            <a:r>
              <a:rPr lang="en-US" altLang="zh-CN" sz="2400" dirty="0"/>
              <a:t>/</a:t>
            </a:r>
            <a:r>
              <a:rPr lang="zh-CN" altLang="en-US" sz="2400" dirty="0"/>
              <a:t>混淆</a:t>
            </a:r>
            <a:r>
              <a:rPr lang="en-US" altLang="zh-CN" sz="2400" dirty="0"/>
              <a:t>/</a:t>
            </a:r>
            <a:r>
              <a:rPr lang="zh-CN" altLang="en-US" sz="2400" dirty="0"/>
              <a:t>虚假宣传  </a:t>
            </a:r>
            <a:r>
              <a:rPr lang="en-US" altLang="zh-CN" sz="2400" dirty="0"/>
              <a:t>1</a:t>
            </a:r>
            <a:r>
              <a:rPr lang="zh-CN" altLang="en-US" sz="2400" dirty="0"/>
              <a:t>分；属于不正当竞争</a:t>
            </a:r>
            <a:r>
              <a:rPr lang="en-US" altLang="zh-CN" sz="2400" dirty="0"/>
              <a:t>/</a:t>
            </a:r>
            <a:r>
              <a:rPr lang="zh-CN" altLang="en-US" sz="2400" dirty="0"/>
              <a:t>违反反不正当竞争法  </a:t>
            </a:r>
            <a:r>
              <a:rPr lang="en-US" altLang="zh-CN" sz="2400" dirty="0"/>
              <a:t>1</a:t>
            </a:r>
            <a:r>
              <a:rPr lang="zh-CN" altLang="en-US" sz="2400" dirty="0"/>
              <a:t>分； 违背了诚实信用原则 </a:t>
            </a:r>
            <a:r>
              <a:rPr lang="en-US" altLang="zh-CN" sz="2400" dirty="0"/>
              <a:t>/</a:t>
            </a:r>
            <a:r>
              <a:rPr lang="zh-CN" altLang="en-US" sz="2400" dirty="0"/>
              <a:t>商业道德</a:t>
            </a:r>
            <a:r>
              <a:rPr lang="en-US" altLang="zh-CN" sz="2400" dirty="0"/>
              <a:t>1</a:t>
            </a:r>
            <a:r>
              <a:rPr lang="zh-CN" altLang="en-US" sz="2400" dirty="0"/>
              <a:t>分；</a:t>
            </a:r>
          </a:p>
          <a:p>
            <a:r>
              <a:rPr lang="zh-CN" altLang="en-US" sz="2400" dirty="0"/>
              <a:t>该案判决保护了</a:t>
            </a:r>
            <a:r>
              <a:rPr lang="en-US" altLang="zh-CN" sz="2400" dirty="0"/>
              <a:t>~</a:t>
            </a:r>
            <a:r>
              <a:rPr lang="zh-CN" altLang="en-US" sz="2400" dirty="0"/>
              <a:t>或规范了</a:t>
            </a:r>
            <a:r>
              <a:rPr lang="en-US" altLang="zh-CN" sz="2400" dirty="0"/>
              <a:t>~  2</a:t>
            </a:r>
            <a:r>
              <a:rPr lang="zh-CN" altLang="en-US" sz="2400" dirty="0"/>
              <a:t>分</a:t>
            </a:r>
          </a:p>
          <a:p>
            <a:r>
              <a:rPr lang="zh-CN" altLang="en-US" sz="2400" dirty="0"/>
              <a:t>有利于新业态</a:t>
            </a:r>
            <a:r>
              <a:rPr lang="en-US" altLang="zh-CN" sz="2400" dirty="0"/>
              <a:t>/</a:t>
            </a:r>
            <a:r>
              <a:rPr lang="zh-CN" altLang="en-US" sz="2400" dirty="0"/>
              <a:t>新经济</a:t>
            </a:r>
            <a:r>
              <a:rPr lang="en-US" altLang="zh-CN" sz="2400" dirty="0"/>
              <a:t>/</a:t>
            </a:r>
            <a:r>
              <a:rPr lang="zh-CN" altLang="en-US" sz="2400" dirty="0"/>
              <a:t>数字经济发展</a:t>
            </a:r>
            <a:r>
              <a:rPr lang="en-US" altLang="zh-CN" sz="2400" dirty="0"/>
              <a:t>/</a:t>
            </a:r>
            <a:r>
              <a:rPr lang="zh-CN" altLang="en-US" sz="2400" dirty="0"/>
              <a:t>创新</a:t>
            </a:r>
            <a:r>
              <a:rPr lang="en-US" altLang="zh-CN" sz="2400" dirty="0"/>
              <a:t>/1</a:t>
            </a:r>
            <a:r>
              <a:rPr lang="zh-CN" altLang="en-US" sz="2400" dirty="0"/>
              <a:t>分，维护市场秩序</a:t>
            </a:r>
            <a:r>
              <a:rPr lang="en-US" altLang="zh-CN" sz="2400" dirty="0"/>
              <a:t>/</a:t>
            </a:r>
            <a:r>
              <a:rPr lang="zh-CN" altLang="en-US" sz="2400" dirty="0"/>
              <a:t>营商环境 </a:t>
            </a:r>
            <a:r>
              <a:rPr lang="en-US" altLang="zh-CN" sz="2400" dirty="0"/>
              <a:t>1</a:t>
            </a:r>
            <a:r>
              <a:rPr lang="zh-CN" altLang="en-US" sz="2400" dirty="0"/>
              <a:t>分</a:t>
            </a:r>
          </a:p>
        </p:txBody>
      </p:sp>
    </p:spTree>
    <p:extLst>
      <p:ext uri="{BB962C8B-B14F-4D97-AF65-F5344CB8AC3E}">
        <p14:creationId xmlns:p14="http://schemas.microsoft.com/office/powerpoint/2010/main" val="24102378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16782F3-9912-4815-808E-2E20C5660E5E}"/>
              </a:ext>
            </a:extLst>
          </p:cNvPr>
          <p:cNvSpPr txBox="1"/>
          <p:nvPr/>
        </p:nvSpPr>
        <p:spPr>
          <a:xfrm>
            <a:off x="1219200" y="457200"/>
            <a:ext cx="8801100" cy="923330"/>
          </a:xfrm>
          <a:prstGeom prst="rect">
            <a:avLst/>
          </a:prstGeom>
          <a:noFill/>
        </p:spPr>
        <p:txBody>
          <a:bodyPr wrap="square">
            <a:spAutoFit/>
          </a:bodyPr>
          <a:lstStyle/>
          <a:p>
            <a:r>
              <a:rPr lang="zh-CN" altLang="en-US" dirty="0"/>
              <a:t>“小艾”作为一个语音唤醒词，可以被看作是一种特殊的知识产权形式。根据现行的法律和实践，语音唤醒词的法律性质还在探讨之中</a:t>
            </a:r>
            <a:endParaRPr lang="en-US" altLang="zh-CN" dirty="0"/>
          </a:p>
          <a:p>
            <a:endParaRPr lang="zh-CN" altLang="en-US" dirty="0"/>
          </a:p>
        </p:txBody>
      </p:sp>
      <p:sp>
        <p:nvSpPr>
          <p:cNvPr id="5" name="文本框 4">
            <a:extLst>
              <a:ext uri="{FF2B5EF4-FFF2-40B4-BE49-F238E27FC236}">
                <a16:creationId xmlns:a16="http://schemas.microsoft.com/office/drawing/2014/main" id="{B3D7C5E6-F283-D1A9-F37B-563416F963FF}"/>
              </a:ext>
            </a:extLst>
          </p:cNvPr>
          <p:cNvSpPr txBox="1"/>
          <p:nvPr/>
        </p:nvSpPr>
        <p:spPr>
          <a:xfrm>
            <a:off x="495300" y="1828800"/>
            <a:ext cx="10896600" cy="3970318"/>
          </a:xfrm>
          <a:prstGeom prst="rect">
            <a:avLst/>
          </a:prstGeom>
          <a:noFill/>
        </p:spPr>
        <p:txBody>
          <a:bodyPr wrap="square">
            <a:spAutoFit/>
          </a:bodyPr>
          <a:lstStyle/>
          <a:p>
            <a:r>
              <a:rPr lang="zh-CN" altLang="en-US" dirty="0"/>
              <a:t> 商标角度</a:t>
            </a:r>
            <a:r>
              <a:rPr lang="en-US" altLang="zh-CN" dirty="0"/>
              <a:t>1. **</a:t>
            </a:r>
            <a:r>
              <a:rPr lang="zh-CN" altLang="en-US" dirty="0"/>
              <a:t>作为商标的保护**：如果“小艾”被用作识别和区分特定智能设备或服务的来源，那么它可以被视为一种商标。例如，如果“小艾”被小米或其他公司用于其智能音箱、智能家居设备等产品上，用户通过“小艾”唤醒这些设备，那么“小艾”就与特定的品牌建立了联系，可以作为商标进行保护。</a:t>
            </a:r>
            <a:endParaRPr lang="en-US" altLang="zh-CN" dirty="0"/>
          </a:p>
          <a:p>
            <a:r>
              <a:rPr lang="en-US" altLang="zh-CN" dirty="0"/>
              <a:t>2. **</a:t>
            </a:r>
            <a:r>
              <a:rPr lang="zh-CN" altLang="en-US" dirty="0"/>
              <a:t>注册商标**：为了获得更强的法律保护，企业可以尝试将“小艾”作为文字商标或声音商标进行注册。注册成功后，该商标将在特定的商品或服务类别上受到法律保护，他人未经许可不得在相同或类似的商品或服务上使用相同或相似的商标。</a:t>
            </a:r>
            <a:endParaRPr lang="en-US" altLang="zh-CN" dirty="0"/>
          </a:p>
          <a:p>
            <a:r>
              <a:rPr lang="en-US" altLang="zh-CN" dirty="0"/>
              <a:t> </a:t>
            </a:r>
            <a:r>
              <a:rPr lang="zh-CN" altLang="en-US" dirty="0"/>
              <a:t>反不正当竞争法角度</a:t>
            </a:r>
            <a:r>
              <a:rPr lang="en-US" altLang="zh-CN" dirty="0"/>
              <a:t>1. **</a:t>
            </a:r>
            <a:r>
              <a:rPr lang="zh-CN" altLang="en-US" dirty="0"/>
              <a:t>作为商业标记**：即使“小艾”没有注册为商标，如果其经过广泛使用和宣传，已经与特定的产品或服务建立了稳定的联系，并且具有一定的市场影响力，那么它也可以被视为一种商业标记，受到</a:t>
            </a:r>
            <a:r>
              <a:rPr lang="en-US" altLang="zh-CN" dirty="0"/>
              <a:t>《</a:t>
            </a:r>
            <a:r>
              <a:rPr lang="zh-CN" altLang="en-US" dirty="0"/>
              <a:t>反不正当竞争法</a:t>
            </a:r>
            <a:r>
              <a:rPr lang="en-US" altLang="zh-CN" dirty="0"/>
              <a:t>》</a:t>
            </a:r>
            <a:r>
              <a:rPr lang="zh-CN" altLang="en-US" dirty="0"/>
              <a:t>的保护。</a:t>
            </a:r>
            <a:endParaRPr lang="en-US" altLang="zh-CN" dirty="0"/>
          </a:p>
          <a:p>
            <a:r>
              <a:rPr lang="zh-CN" altLang="en-US" dirty="0"/>
              <a:t>小米公司成功通过</a:t>
            </a:r>
            <a:r>
              <a:rPr lang="en-US" altLang="zh-CN" dirty="0"/>
              <a:t>《</a:t>
            </a:r>
            <a:r>
              <a:rPr lang="zh-CN" altLang="en-US" dirty="0"/>
              <a:t>反不正当竞争法</a:t>
            </a:r>
            <a:r>
              <a:rPr lang="en-US" altLang="zh-CN" dirty="0"/>
              <a:t>》</a:t>
            </a:r>
            <a:r>
              <a:rPr lang="zh-CN" altLang="en-US" dirty="0"/>
              <a:t>保护了其“小爱同学”唤醒词。法院认为“小爱同学”经过广泛宣传使用，已经成为具有较高知名度和较大影响力的商业标记，受到</a:t>
            </a:r>
            <a:r>
              <a:rPr lang="en-US" altLang="zh-CN" dirty="0"/>
              <a:t>《</a:t>
            </a:r>
            <a:r>
              <a:rPr lang="zh-CN" altLang="en-US" dirty="0"/>
              <a:t>反不正当竞争法</a:t>
            </a:r>
            <a:r>
              <a:rPr lang="en-US" altLang="zh-CN" dirty="0"/>
              <a:t>》</a:t>
            </a:r>
            <a:r>
              <a:rPr lang="zh-CN" altLang="en-US" dirty="0"/>
              <a:t>的保护。</a:t>
            </a:r>
            <a:endParaRPr lang="en-US" altLang="zh-CN" dirty="0"/>
          </a:p>
          <a:p>
            <a:r>
              <a:rPr lang="zh-CN" altLang="en-US" dirty="0"/>
              <a:t>结论综上所述，“小艾”作为语音唤醒词，可以被视为一种特殊的知识产权形式。它既可以作为商标进行注册保护，也可以作为商业标记受到</a:t>
            </a:r>
            <a:r>
              <a:rPr lang="en-US" altLang="zh-CN" dirty="0"/>
              <a:t>《</a:t>
            </a:r>
            <a:r>
              <a:rPr lang="zh-CN" altLang="en-US" dirty="0"/>
              <a:t>反不正当竞争法</a:t>
            </a:r>
            <a:r>
              <a:rPr lang="en-US" altLang="zh-CN" dirty="0"/>
              <a:t>》</a:t>
            </a:r>
            <a:r>
              <a:rPr lang="zh-CN" altLang="en-US" dirty="0"/>
              <a:t>的保护。具体选择哪种方式，取决于企业的需求和实际情况。如果“小艾”已经具有较高的市场影响力，建议企业尽早进行商标注册，以获得更全面的法律保护。</a:t>
            </a:r>
          </a:p>
        </p:txBody>
      </p:sp>
    </p:spTree>
    <p:extLst>
      <p:ext uri="{BB962C8B-B14F-4D97-AF65-F5344CB8AC3E}">
        <p14:creationId xmlns:p14="http://schemas.microsoft.com/office/powerpoint/2010/main" val="42894649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024621" y="1165860"/>
            <a:ext cx="3076575" cy="3867150"/>
          </a:xfrm>
          <a:prstGeom prst="rect">
            <a:avLst/>
          </a:prstGeom>
        </p:spPr>
        <p:txBody>
          <a:bodyPr vert="horz" wrap="square" lIns="0" tIns="195580" rIns="0" bIns="0" rtlCol="0">
            <a:spAutoFit/>
          </a:bodyPr>
          <a:lstStyle/>
          <a:p>
            <a:pPr marL="279400">
              <a:lnSpc>
                <a:spcPct val="100000"/>
              </a:lnSpc>
              <a:spcBef>
                <a:spcPts val="1540"/>
              </a:spcBef>
            </a:pPr>
            <a:r>
              <a:rPr sz="2400" dirty="0">
                <a:latin typeface="SimSun"/>
                <a:cs typeface="SimSun"/>
              </a:rPr>
              <a:t>22．（9分</a:t>
            </a:r>
            <a:r>
              <a:rPr sz="2400" spc="-50" dirty="0">
                <a:latin typeface="SimSun"/>
                <a:cs typeface="SimSun"/>
              </a:rPr>
              <a:t>）</a:t>
            </a:r>
            <a:endParaRPr sz="2400">
              <a:latin typeface="SimSun"/>
              <a:cs typeface="SimSun"/>
            </a:endParaRPr>
          </a:p>
          <a:p>
            <a:pPr marL="12700" marR="5080" indent="571500" algn="just">
              <a:lnSpc>
                <a:spcPct val="150000"/>
              </a:lnSpc>
              <a:spcBef>
                <a:spcPts val="5"/>
              </a:spcBef>
            </a:pPr>
            <a:r>
              <a:rPr sz="2400" spc="-10" dirty="0">
                <a:latin typeface="SimSun"/>
                <a:cs typeface="SimSun"/>
              </a:rPr>
              <a:t>可从中国共产党的</a:t>
            </a:r>
            <a:r>
              <a:rPr sz="2400" spc="-5" dirty="0">
                <a:latin typeface="SimSun"/>
                <a:cs typeface="SimSun"/>
              </a:rPr>
              <a:t>领导、中国式现代化、中国梦、中华优秀传统文化、中华民族精神、质量互变规律、人类命运共同体等角度作答。</a:t>
            </a:r>
            <a:endParaRPr sz="2400">
              <a:latin typeface="SimSun"/>
              <a:cs typeface="SimSun"/>
            </a:endParaRPr>
          </a:p>
        </p:txBody>
      </p:sp>
      <p:pic>
        <p:nvPicPr>
          <p:cNvPr id="3" name="object 3"/>
          <p:cNvPicPr/>
          <p:nvPr/>
        </p:nvPicPr>
        <p:blipFill>
          <a:blip r:embed="rId2" cstate="print"/>
          <a:stretch>
            <a:fillRect/>
          </a:stretch>
        </p:blipFill>
        <p:spPr>
          <a:xfrm>
            <a:off x="288113" y="92370"/>
            <a:ext cx="6751520" cy="670841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5888" y="116818"/>
            <a:ext cx="10911840" cy="6565900"/>
          </a:xfrm>
          <a:prstGeom prst="rect">
            <a:avLst/>
          </a:prstGeom>
        </p:spPr>
        <p:txBody>
          <a:bodyPr vert="horz" wrap="square" lIns="0" tIns="180975" rIns="0" bIns="0" rtlCol="0">
            <a:spAutoFit/>
          </a:bodyPr>
          <a:lstStyle/>
          <a:p>
            <a:pPr marL="279400">
              <a:lnSpc>
                <a:spcPct val="100000"/>
              </a:lnSpc>
              <a:spcBef>
                <a:spcPts val="1425"/>
              </a:spcBef>
            </a:pPr>
            <a:r>
              <a:rPr sz="2200" spc="-20" dirty="0">
                <a:latin typeface="SimSun"/>
                <a:cs typeface="SimSun"/>
              </a:rPr>
              <a:t>22</a:t>
            </a:r>
            <a:r>
              <a:rPr sz="2200" spc="-35" dirty="0">
                <a:latin typeface="SimSun"/>
                <a:cs typeface="SimSun"/>
              </a:rPr>
              <a:t>.细则</a:t>
            </a:r>
            <a:endParaRPr sz="2200" dirty="0">
              <a:latin typeface="SimSun"/>
              <a:cs typeface="SimSun"/>
            </a:endParaRPr>
          </a:p>
          <a:p>
            <a:pPr marL="279400">
              <a:lnSpc>
                <a:spcPct val="100000"/>
              </a:lnSpc>
              <a:spcBef>
                <a:spcPts val="1320"/>
              </a:spcBef>
            </a:pPr>
            <a:r>
              <a:rPr sz="2200" spc="-30" dirty="0">
                <a:latin typeface="SimSun"/>
                <a:cs typeface="SimSun"/>
              </a:rPr>
              <a:t>一、短文形式部分</a:t>
            </a:r>
            <a:r>
              <a:rPr sz="2200" spc="-25" dirty="0">
                <a:latin typeface="SimSun"/>
                <a:cs typeface="SimSun"/>
              </a:rPr>
              <a:t>（</a:t>
            </a:r>
            <a:r>
              <a:rPr sz="2200" spc="-10" dirty="0">
                <a:latin typeface="SimSun"/>
                <a:cs typeface="SimSun"/>
              </a:rPr>
              <a:t>共</a:t>
            </a:r>
            <a:r>
              <a:rPr sz="2200" spc="-30" dirty="0">
                <a:latin typeface="SimSun"/>
                <a:cs typeface="SimSun"/>
              </a:rPr>
              <a:t>3</a:t>
            </a:r>
            <a:r>
              <a:rPr sz="2200" spc="-20" dirty="0">
                <a:latin typeface="SimSun"/>
                <a:cs typeface="SimSun"/>
              </a:rPr>
              <a:t>分</a:t>
            </a:r>
            <a:r>
              <a:rPr sz="2200" spc="-25" dirty="0">
                <a:latin typeface="SimSun"/>
                <a:cs typeface="SimSun"/>
              </a:rPr>
              <a:t>）：</a:t>
            </a:r>
            <a:endParaRPr sz="2200" dirty="0">
              <a:latin typeface="SimSun"/>
              <a:cs typeface="SimSun"/>
            </a:endParaRPr>
          </a:p>
          <a:p>
            <a:pPr marL="279400">
              <a:lnSpc>
                <a:spcPct val="100000"/>
              </a:lnSpc>
              <a:spcBef>
                <a:spcPts val="1320"/>
              </a:spcBef>
            </a:pPr>
            <a:r>
              <a:rPr sz="2200" spc="-20" dirty="0">
                <a:latin typeface="SimSun"/>
                <a:cs typeface="SimSun"/>
              </a:rPr>
              <a:t>·</a:t>
            </a:r>
            <a:r>
              <a:rPr sz="2200" spc="-30" dirty="0">
                <a:latin typeface="SimSun"/>
                <a:cs typeface="SimSun"/>
              </a:rPr>
              <a:t>标题：</a:t>
            </a:r>
            <a:r>
              <a:rPr sz="2200" spc="-25" dirty="0">
                <a:latin typeface="SimSun"/>
                <a:cs typeface="SimSun"/>
              </a:rPr>
              <a:t>1</a:t>
            </a:r>
            <a:r>
              <a:rPr sz="2200" spc="-50" dirty="0">
                <a:latin typeface="SimSun"/>
                <a:cs typeface="SimSun"/>
              </a:rPr>
              <a:t>分</a:t>
            </a:r>
            <a:endParaRPr sz="2200" dirty="0">
              <a:latin typeface="SimSun"/>
              <a:cs typeface="SimSun"/>
            </a:endParaRPr>
          </a:p>
          <a:p>
            <a:pPr marL="279400">
              <a:lnSpc>
                <a:spcPct val="100000"/>
              </a:lnSpc>
              <a:spcBef>
                <a:spcPts val="1320"/>
              </a:spcBef>
            </a:pPr>
            <a:r>
              <a:rPr sz="2200" spc="-25" dirty="0">
                <a:latin typeface="SimSun"/>
                <a:cs typeface="SimSun"/>
              </a:rPr>
              <a:t>·</a:t>
            </a:r>
            <a:r>
              <a:rPr sz="2200" spc="-30" dirty="0">
                <a:latin typeface="SimSun"/>
                <a:cs typeface="SimSun"/>
              </a:rPr>
              <a:t>分段：</a:t>
            </a:r>
            <a:r>
              <a:rPr sz="2200" spc="-25" dirty="0">
                <a:latin typeface="SimSun"/>
                <a:cs typeface="SimSun"/>
              </a:rPr>
              <a:t>1</a:t>
            </a:r>
            <a:r>
              <a:rPr sz="2200" spc="-35" dirty="0">
                <a:latin typeface="SimSun"/>
                <a:cs typeface="SimSun"/>
              </a:rPr>
              <a:t>分。注：画圈不给分，分的不清楚不给分。</a:t>
            </a:r>
            <a:endParaRPr sz="2200" dirty="0">
              <a:latin typeface="SimSun"/>
              <a:cs typeface="SimSun"/>
            </a:endParaRPr>
          </a:p>
          <a:p>
            <a:pPr marL="12700" marR="5080" indent="266700">
              <a:lnSpc>
                <a:spcPct val="150000"/>
              </a:lnSpc>
              <a:spcBef>
                <a:spcPts val="5"/>
              </a:spcBef>
            </a:pPr>
            <a:r>
              <a:rPr sz="2200" spc="-20" dirty="0">
                <a:latin typeface="SimSun"/>
                <a:cs typeface="SimSun"/>
              </a:rPr>
              <a:t>·</a:t>
            </a:r>
            <a:r>
              <a:rPr sz="2200" spc="-30" dirty="0">
                <a:latin typeface="SimSun"/>
                <a:cs typeface="SimSun"/>
              </a:rPr>
              <a:t>层次：</a:t>
            </a:r>
            <a:r>
              <a:rPr sz="2200" spc="-25" dirty="0">
                <a:latin typeface="SimSun"/>
                <a:cs typeface="SimSun"/>
              </a:rPr>
              <a:t>1</a:t>
            </a:r>
            <a:r>
              <a:rPr sz="2200" spc="-35" dirty="0">
                <a:latin typeface="SimSun"/>
                <a:cs typeface="SimSun"/>
              </a:rPr>
              <a:t>分。注</a:t>
            </a:r>
            <a:r>
              <a:rPr sz="2200" spc="-35" dirty="0">
                <a:solidFill>
                  <a:srgbClr val="FF0000"/>
                </a:solidFill>
                <a:latin typeface="SimSun"/>
                <a:cs typeface="SimSun"/>
              </a:rPr>
              <a:t>：愚公精神的内涵、愚公精神的形成、愚公精神的力量/作用、如何坚持/弘扬愚公精神等层次中，至少要写出两个。</a:t>
            </a:r>
            <a:endParaRPr sz="2200" dirty="0">
              <a:solidFill>
                <a:srgbClr val="FF0000"/>
              </a:solidFill>
              <a:latin typeface="SimSun"/>
              <a:cs typeface="SimSun"/>
            </a:endParaRPr>
          </a:p>
          <a:p>
            <a:pPr marL="279400">
              <a:lnSpc>
                <a:spcPct val="100000"/>
              </a:lnSpc>
              <a:spcBef>
                <a:spcPts val="1320"/>
              </a:spcBef>
            </a:pPr>
            <a:r>
              <a:rPr sz="2200" spc="-30" dirty="0">
                <a:latin typeface="SimSun"/>
                <a:cs typeface="SimSun"/>
              </a:rPr>
              <a:t>二、知识部分（</a:t>
            </a:r>
            <a:r>
              <a:rPr sz="2200" spc="-10" dirty="0">
                <a:latin typeface="SimSun"/>
                <a:cs typeface="SimSun"/>
              </a:rPr>
              <a:t>共</a:t>
            </a:r>
            <a:r>
              <a:rPr sz="2200" spc="-30" dirty="0">
                <a:latin typeface="SimSun"/>
                <a:cs typeface="SimSun"/>
              </a:rPr>
              <a:t>4分</a:t>
            </a:r>
            <a:r>
              <a:rPr sz="2200" spc="-25" dirty="0">
                <a:latin typeface="SimSun"/>
                <a:cs typeface="SimSun"/>
              </a:rPr>
              <a:t>）：</a:t>
            </a:r>
            <a:endParaRPr sz="2200" dirty="0">
              <a:latin typeface="SimSun"/>
              <a:cs typeface="SimSun"/>
            </a:endParaRPr>
          </a:p>
          <a:p>
            <a:pPr marL="279400">
              <a:lnSpc>
                <a:spcPct val="100000"/>
              </a:lnSpc>
              <a:spcBef>
                <a:spcPts val="1320"/>
              </a:spcBef>
            </a:pPr>
            <a:r>
              <a:rPr sz="2200" spc="-20" dirty="0">
                <a:latin typeface="SimSun"/>
                <a:cs typeface="SimSun"/>
              </a:rPr>
              <a:t>·</a:t>
            </a:r>
            <a:r>
              <a:rPr sz="2200" spc="-25" dirty="0">
                <a:latin typeface="SimSun"/>
                <a:cs typeface="SimSun"/>
              </a:rPr>
              <a:t>知识</a:t>
            </a:r>
            <a:r>
              <a:rPr sz="2200" spc="-30" dirty="0">
                <a:latin typeface="SimSun"/>
                <a:cs typeface="SimSun"/>
              </a:rPr>
              <a:t>1分+材料</a:t>
            </a:r>
            <a:r>
              <a:rPr sz="2200" spc="-10" dirty="0">
                <a:latin typeface="SimSun"/>
                <a:cs typeface="SimSun"/>
              </a:rPr>
              <a:t>1</a:t>
            </a:r>
            <a:r>
              <a:rPr sz="2200" spc="-50" dirty="0">
                <a:latin typeface="SimSun"/>
                <a:cs typeface="SimSun"/>
              </a:rPr>
              <a:t>分</a:t>
            </a:r>
            <a:endParaRPr sz="2200" dirty="0">
              <a:latin typeface="SimSun"/>
              <a:cs typeface="SimSun"/>
            </a:endParaRPr>
          </a:p>
          <a:p>
            <a:pPr marL="279400" marR="8246745">
              <a:lnSpc>
                <a:spcPts val="3960"/>
              </a:lnSpc>
              <a:spcBef>
                <a:spcPts val="355"/>
              </a:spcBef>
            </a:pPr>
            <a:r>
              <a:rPr sz="2200" spc="-20" dirty="0">
                <a:latin typeface="SimSun"/>
                <a:cs typeface="SimSun"/>
              </a:rPr>
              <a:t>·</a:t>
            </a:r>
            <a:r>
              <a:rPr sz="2200" spc="-25" dirty="0">
                <a:latin typeface="SimSun"/>
                <a:cs typeface="SimSun"/>
              </a:rPr>
              <a:t>知识</a:t>
            </a:r>
            <a:r>
              <a:rPr sz="2200" spc="-30" dirty="0">
                <a:latin typeface="SimSun"/>
                <a:cs typeface="SimSun"/>
              </a:rPr>
              <a:t>1分+材料</a:t>
            </a:r>
            <a:r>
              <a:rPr sz="2200" spc="-10" dirty="0">
                <a:latin typeface="SimSun"/>
                <a:cs typeface="SimSun"/>
              </a:rPr>
              <a:t>1</a:t>
            </a:r>
            <a:r>
              <a:rPr sz="2200" spc="-50" dirty="0">
                <a:latin typeface="SimSun"/>
                <a:cs typeface="SimSun"/>
              </a:rPr>
              <a:t>分</a:t>
            </a:r>
            <a:r>
              <a:rPr sz="2200" spc="-30" dirty="0">
                <a:latin typeface="SimSun"/>
                <a:cs typeface="SimSun"/>
              </a:rPr>
              <a:t>三、其他（</a:t>
            </a:r>
            <a:r>
              <a:rPr sz="2200" spc="-10" dirty="0">
                <a:latin typeface="SimSun"/>
                <a:cs typeface="SimSun"/>
              </a:rPr>
              <a:t>共</a:t>
            </a:r>
            <a:r>
              <a:rPr sz="2200" spc="-30" dirty="0">
                <a:latin typeface="SimSun"/>
                <a:cs typeface="SimSun"/>
              </a:rPr>
              <a:t>2</a:t>
            </a:r>
            <a:r>
              <a:rPr sz="2200" spc="-20" dirty="0">
                <a:latin typeface="SimSun"/>
                <a:cs typeface="SimSun"/>
              </a:rPr>
              <a:t>分</a:t>
            </a:r>
            <a:r>
              <a:rPr sz="2200" spc="-50" dirty="0">
                <a:latin typeface="SimSun"/>
                <a:cs typeface="SimSun"/>
              </a:rPr>
              <a:t>）</a:t>
            </a:r>
            <a:endParaRPr sz="2200" dirty="0">
              <a:latin typeface="SimSun"/>
              <a:cs typeface="SimSun"/>
            </a:endParaRPr>
          </a:p>
          <a:p>
            <a:pPr marL="279400">
              <a:lnSpc>
                <a:spcPct val="100000"/>
              </a:lnSpc>
              <a:spcBef>
                <a:spcPts val="969"/>
              </a:spcBef>
            </a:pPr>
            <a:r>
              <a:rPr sz="2200" spc="-20" dirty="0">
                <a:latin typeface="SimSun"/>
                <a:cs typeface="SimSun"/>
              </a:rPr>
              <a:t>·</a:t>
            </a:r>
            <a:r>
              <a:rPr sz="2200" spc="-35" dirty="0">
                <a:latin typeface="SimSun"/>
                <a:cs typeface="SimSun"/>
              </a:rPr>
              <a:t>综合运用，即至少使用两个模块知识+</a:t>
            </a:r>
            <a:r>
              <a:rPr sz="2200" spc="-20" dirty="0">
                <a:latin typeface="SimSun"/>
                <a:cs typeface="SimSun"/>
              </a:rPr>
              <a:t>1</a:t>
            </a:r>
            <a:r>
              <a:rPr sz="2200" spc="-50" dirty="0">
                <a:latin typeface="SimSun"/>
                <a:cs typeface="SimSun"/>
              </a:rPr>
              <a:t>分</a:t>
            </a:r>
            <a:endParaRPr sz="2200" dirty="0">
              <a:latin typeface="SimSun"/>
              <a:cs typeface="SimSun"/>
            </a:endParaRPr>
          </a:p>
          <a:p>
            <a:pPr marL="559435">
              <a:lnSpc>
                <a:spcPct val="100000"/>
              </a:lnSpc>
              <a:spcBef>
                <a:spcPts val="1320"/>
              </a:spcBef>
            </a:pPr>
            <a:r>
              <a:rPr sz="2200" spc="-35" dirty="0">
                <a:latin typeface="SimSun"/>
                <a:cs typeface="SimSun"/>
              </a:rPr>
              <a:t>注：哲学文化是一个模块</a:t>
            </a:r>
            <a:endParaRPr sz="2200" dirty="0">
              <a:latin typeface="SimSun"/>
              <a:cs typeface="SimSun"/>
            </a:endParaRPr>
          </a:p>
          <a:p>
            <a:pPr marL="279400">
              <a:lnSpc>
                <a:spcPct val="100000"/>
              </a:lnSpc>
              <a:spcBef>
                <a:spcPts val="1320"/>
              </a:spcBef>
            </a:pPr>
            <a:r>
              <a:rPr sz="2200" spc="-20" dirty="0">
                <a:latin typeface="SimSun"/>
                <a:cs typeface="SimSun"/>
              </a:rPr>
              <a:t>·</a:t>
            </a:r>
            <a:r>
              <a:rPr sz="2200" spc="-35" dirty="0">
                <a:latin typeface="SimSun"/>
                <a:cs typeface="SimSun"/>
              </a:rPr>
              <a:t>论述充分，能用准确的知识，充分论述材料+</a:t>
            </a:r>
            <a:r>
              <a:rPr sz="2200" spc="-20" dirty="0">
                <a:latin typeface="SimSun"/>
                <a:cs typeface="SimSun"/>
              </a:rPr>
              <a:t>1</a:t>
            </a:r>
            <a:r>
              <a:rPr sz="2200" spc="-50" dirty="0">
                <a:latin typeface="SimSun"/>
                <a:cs typeface="SimSun"/>
              </a:rPr>
              <a:t>分</a:t>
            </a:r>
            <a:endParaRPr sz="2200" dirty="0">
              <a:latin typeface="SimSun"/>
              <a:cs typeface="SimSu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7441" y="356491"/>
            <a:ext cx="6157595" cy="6106795"/>
            <a:chOff x="157441" y="356491"/>
            <a:chExt cx="6157595" cy="6106795"/>
          </a:xfrm>
        </p:grpSpPr>
        <p:pic>
          <p:nvPicPr>
            <p:cNvPr id="3" name="object 3"/>
            <p:cNvPicPr/>
            <p:nvPr/>
          </p:nvPicPr>
          <p:blipFill>
            <a:blip r:embed="rId2" cstate="print"/>
            <a:stretch>
              <a:fillRect/>
            </a:stretch>
          </p:blipFill>
          <p:spPr>
            <a:xfrm>
              <a:off x="168818" y="356491"/>
              <a:ext cx="6146088" cy="6106801"/>
            </a:xfrm>
            <a:prstGeom prst="rect">
              <a:avLst/>
            </a:prstGeom>
          </p:spPr>
        </p:pic>
        <p:sp>
          <p:nvSpPr>
            <p:cNvPr id="4" name="object 4"/>
            <p:cNvSpPr/>
            <p:nvPr/>
          </p:nvSpPr>
          <p:spPr>
            <a:xfrm>
              <a:off x="157441" y="1197482"/>
              <a:ext cx="6019800" cy="4292600"/>
            </a:xfrm>
            <a:custGeom>
              <a:avLst/>
              <a:gdLst/>
              <a:ahLst/>
              <a:cxnLst/>
              <a:rect l="l" t="t" r="r" b="b"/>
              <a:pathLst>
                <a:path w="6019800" h="4292600">
                  <a:moveTo>
                    <a:pt x="1883321" y="819022"/>
                  </a:moveTo>
                  <a:lnTo>
                    <a:pt x="5734723" y="819022"/>
                  </a:lnTo>
                </a:path>
                <a:path w="6019800" h="4292600">
                  <a:moveTo>
                    <a:pt x="370408" y="2019045"/>
                  </a:moveTo>
                  <a:lnTo>
                    <a:pt x="1489748" y="2019045"/>
                  </a:lnTo>
                </a:path>
                <a:path w="6019800" h="4292600">
                  <a:moveTo>
                    <a:pt x="3708057" y="1814194"/>
                  </a:moveTo>
                  <a:lnTo>
                    <a:pt x="6019330" y="1814194"/>
                  </a:lnTo>
                </a:path>
                <a:path w="6019800" h="4292600">
                  <a:moveTo>
                    <a:pt x="2909735" y="2231516"/>
                  </a:moveTo>
                  <a:lnTo>
                    <a:pt x="5221008" y="2231516"/>
                  </a:lnTo>
                </a:path>
                <a:path w="6019800" h="4292600">
                  <a:moveTo>
                    <a:pt x="3708057" y="3637406"/>
                  </a:moveTo>
                  <a:lnTo>
                    <a:pt x="6019330" y="3637406"/>
                  </a:lnTo>
                </a:path>
                <a:path w="6019800" h="4292600">
                  <a:moveTo>
                    <a:pt x="3345726" y="4292473"/>
                  </a:moveTo>
                  <a:lnTo>
                    <a:pt x="5656999" y="4292473"/>
                  </a:lnTo>
                </a:path>
                <a:path w="6019800" h="4292600">
                  <a:moveTo>
                    <a:pt x="0" y="0"/>
                  </a:moveTo>
                  <a:lnTo>
                    <a:pt x="1610779" y="0"/>
                  </a:lnTo>
                </a:path>
                <a:path w="6019800" h="4292600">
                  <a:moveTo>
                    <a:pt x="1814614" y="2019045"/>
                  </a:moveTo>
                  <a:lnTo>
                    <a:pt x="4723422" y="2019045"/>
                  </a:lnTo>
                </a:path>
              </a:pathLst>
            </a:custGeom>
            <a:ln w="28575">
              <a:solidFill>
                <a:srgbClr val="FF0000"/>
              </a:solidFill>
            </a:ln>
          </p:spPr>
          <p:txBody>
            <a:bodyPr wrap="square" lIns="0" tIns="0" rIns="0" bIns="0" rtlCol="0"/>
            <a:lstStyle/>
            <a:p>
              <a:endParaRPr/>
            </a:p>
          </p:txBody>
        </p:sp>
      </p:grpSp>
      <p:sp>
        <p:nvSpPr>
          <p:cNvPr id="5" name="object 5"/>
          <p:cNvSpPr txBox="1"/>
          <p:nvPr/>
        </p:nvSpPr>
        <p:spPr>
          <a:xfrm>
            <a:off x="6595364" y="451078"/>
            <a:ext cx="5373370" cy="5970905"/>
          </a:xfrm>
          <a:prstGeom prst="rect">
            <a:avLst/>
          </a:prstGeom>
        </p:spPr>
        <p:txBody>
          <a:bodyPr vert="horz" wrap="square" lIns="0" tIns="12700" rIns="0" bIns="0" rtlCol="0">
            <a:spAutoFit/>
          </a:bodyPr>
          <a:lstStyle/>
          <a:p>
            <a:pPr marL="279400" marR="3560445">
              <a:lnSpc>
                <a:spcPct val="150100"/>
              </a:lnSpc>
              <a:spcBef>
                <a:spcPts val="100"/>
              </a:spcBef>
            </a:pPr>
            <a:r>
              <a:rPr sz="2000" spc="-15" dirty="0">
                <a:latin typeface="SimSun"/>
                <a:cs typeface="SimSun"/>
              </a:rPr>
              <a:t>可选用知识：必修一：</a:t>
            </a:r>
            <a:endParaRPr sz="2000">
              <a:latin typeface="SimSun"/>
              <a:cs typeface="SimSun"/>
            </a:endParaRPr>
          </a:p>
          <a:p>
            <a:pPr marL="279400">
              <a:lnSpc>
                <a:spcPct val="100000"/>
              </a:lnSpc>
              <a:spcBef>
                <a:spcPts val="1200"/>
              </a:spcBef>
            </a:pPr>
            <a:r>
              <a:rPr sz="2000" spc="-20" dirty="0">
                <a:latin typeface="SimSun"/>
                <a:cs typeface="SimSun"/>
              </a:rPr>
              <a:t>中国梦、中华民族伟大复兴、中国式现代化、</a:t>
            </a:r>
            <a:endParaRPr sz="2000">
              <a:latin typeface="SimSun"/>
              <a:cs typeface="SimSun"/>
            </a:endParaRPr>
          </a:p>
          <a:p>
            <a:pPr marL="12700">
              <a:lnSpc>
                <a:spcPct val="100000"/>
              </a:lnSpc>
              <a:spcBef>
                <a:spcPts val="1200"/>
              </a:spcBef>
            </a:pPr>
            <a:r>
              <a:rPr sz="2000" spc="-25" dirty="0">
                <a:latin typeface="SimSun"/>
                <a:cs typeface="SimSun"/>
              </a:rPr>
              <a:t>两个结合、中国特色社会主义道路</a:t>
            </a:r>
            <a:endParaRPr sz="2000">
              <a:latin typeface="SimSun"/>
              <a:cs typeface="SimSun"/>
            </a:endParaRPr>
          </a:p>
          <a:p>
            <a:pPr marL="279400">
              <a:lnSpc>
                <a:spcPct val="100000"/>
              </a:lnSpc>
              <a:spcBef>
                <a:spcPts val="1200"/>
              </a:spcBef>
            </a:pPr>
            <a:r>
              <a:rPr sz="2000" spc="-15" dirty="0">
                <a:latin typeface="SimSun"/>
                <a:cs typeface="SimSun"/>
              </a:rPr>
              <a:t>必修三：</a:t>
            </a:r>
            <a:endParaRPr sz="2000">
              <a:latin typeface="SimSun"/>
              <a:cs typeface="SimSun"/>
            </a:endParaRPr>
          </a:p>
          <a:p>
            <a:pPr marL="279400">
              <a:lnSpc>
                <a:spcPct val="100000"/>
              </a:lnSpc>
              <a:spcBef>
                <a:spcPts val="1200"/>
              </a:spcBef>
            </a:pPr>
            <a:r>
              <a:rPr sz="2000" spc="-20" dirty="0">
                <a:latin typeface="SimSun"/>
                <a:cs typeface="SimSun"/>
              </a:rPr>
              <a:t>坚持党的领导、坚持以人民为中心</a:t>
            </a:r>
            <a:endParaRPr sz="2000">
              <a:latin typeface="SimSun"/>
              <a:cs typeface="SimSun"/>
            </a:endParaRPr>
          </a:p>
          <a:p>
            <a:pPr marL="279400">
              <a:lnSpc>
                <a:spcPct val="100000"/>
              </a:lnSpc>
              <a:spcBef>
                <a:spcPts val="1200"/>
              </a:spcBef>
            </a:pPr>
            <a:r>
              <a:rPr sz="2000" spc="-20" dirty="0">
                <a:latin typeface="SimSun"/>
                <a:cs typeface="SimSun"/>
              </a:rPr>
              <a:t>必修四：</a:t>
            </a:r>
            <a:endParaRPr sz="2000">
              <a:latin typeface="SimSun"/>
              <a:cs typeface="SimSun"/>
            </a:endParaRPr>
          </a:p>
          <a:p>
            <a:pPr marL="12700" marR="5080" indent="266700">
              <a:lnSpc>
                <a:spcPct val="150000"/>
              </a:lnSpc>
              <a:spcBef>
                <a:spcPts val="5"/>
              </a:spcBef>
            </a:pPr>
            <a:r>
              <a:rPr sz="2000" spc="-20" dirty="0">
                <a:latin typeface="SimSun"/>
                <a:cs typeface="SimSun"/>
              </a:rPr>
              <a:t>质量互变规律、人民主体地位、主观能动性、价值观；中华优秀传统文化、中华民族精神</a:t>
            </a:r>
            <a:endParaRPr sz="2000">
              <a:latin typeface="SimSun"/>
              <a:cs typeface="SimSun"/>
            </a:endParaRPr>
          </a:p>
          <a:p>
            <a:pPr marL="279400">
              <a:lnSpc>
                <a:spcPct val="100000"/>
              </a:lnSpc>
              <a:spcBef>
                <a:spcPts val="1200"/>
              </a:spcBef>
            </a:pPr>
            <a:r>
              <a:rPr sz="2000" spc="-20" dirty="0">
                <a:latin typeface="SimSun"/>
                <a:cs typeface="SimSun"/>
              </a:rPr>
              <a:t>选必一：</a:t>
            </a:r>
            <a:endParaRPr sz="2000">
              <a:latin typeface="SimSun"/>
              <a:cs typeface="SimSun"/>
            </a:endParaRPr>
          </a:p>
          <a:p>
            <a:pPr marL="279400">
              <a:lnSpc>
                <a:spcPct val="100000"/>
              </a:lnSpc>
              <a:spcBef>
                <a:spcPts val="1200"/>
              </a:spcBef>
            </a:pPr>
            <a:r>
              <a:rPr sz="2000" spc="-20" dirty="0">
                <a:latin typeface="SimSun"/>
                <a:cs typeface="SimSun"/>
              </a:rPr>
              <a:t>人类命运共同体、中国智慧中国方案</a:t>
            </a:r>
            <a:endParaRPr sz="2000">
              <a:latin typeface="SimSun"/>
              <a:cs typeface="SimSun"/>
            </a:endParaRPr>
          </a:p>
          <a:p>
            <a:pPr marL="279400">
              <a:lnSpc>
                <a:spcPct val="100000"/>
              </a:lnSpc>
              <a:spcBef>
                <a:spcPts val="1200"/>
              </a:spcBef>
            </a:pPr>
            <a:r>
              <a:rPr sz="2000" dirty="0">
                <a:latin typeface="SimSun"/>
                <a:cs typeface="SimSun"/>
              </a:rPr>
              <a:t>（</a:t>
            </a:r>
            <a:r>
              <a:rPr sz="2000" spc="-20" dirty="0">
                <a:latin typeface="SimSun"/>
                <a:cs typeface="SimSun"/>
              </a:rPr>
              <a:t>以上都是学生答案中较为常见的，其他知识</a:t>
            </a:r>
            <a:endParaRPr sz="2000">
              <a:latin typeface="SimSun"/>
              <a:cs typeface="SimSun"/>
            </a:endParaRPr>
          </a:p>
          <a:p>
            <a:pPr marL="12700">
              <a:lnSpc>
                <a:spcPct val="100000"/>
              </a:lnSpc>
              <a:spcBef>
                <a:spcPts val="1200"/>
              </a:spcBef>
            </a:pPr>
            <a:r>
              <a:rPr sz="2000" spc="-15" dirty="0">
                <a:latin typeface="SimSun"/>
                <a:cs typeface="SimSun"/>
              </a:rPr>
              <a:t>言之成理即可得分</a:t>
            </a:r>
            <a:r>
              <a:rPr sz="2000" spc="-50" dirty="0">
                <a:latin typeface="SimSun"/>
                <a:cs typeface="SimSun"/>
              </a:rPr>
              <a:t>）</a:t>
            </a:r>
            <a:endParaRPr sz="2000">
              <a:latin typeface="SimSun"/>
              <a:cs typeface="SimSu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5440" y="527456"/>
            <a:ext cx="1981200" cy="1031875"/>
          </a:xfrm>
          <a:prstGeom prst="rect">
            <a:avLst/>
          </a:prstGeom>
        </p:spPr>
        <p:txBody>
          <a:bodyPr vert="horz" wrap="square" lIns="0" tIns="12700" rIns="0" bIns="0" rtlCol="0">
            <a:spAutoFit/>
          </a:bodyPr>
          <a:lstStyle/>
          <a:p>
            <a:pPr marL="12700" marR="5080">
              <a:lnSpc>
                <a:spcPct val="150100"/>
              </a:lnSpc>
              <a:spcBef>
                <a:spcPts val="100"/>
              </a:spcBef>
            </a:pPr>
            <a:r>
              <a:rPr sz="2200" spc="-35" dirty="0">
                <a:latin typeface="SimSun"/>
                <a:cs typeface="SimSun"/>
              </a:rPr>
              <a:t>第一类错误：</a:t>
            </a:r>
            <a:r>
              <a:rPr sz="2200" spc="-50" dirty="0">
                <a:latin typeface="SimSun"/>
                <a:cs typeface="SimSun"/>
              </a:rPr>
              <a:t> </a:t>
            </a:r>
            <a:r>
              <a:rPr sz="2200" spc="-35" dirty="0">
                <a:latin typeface="SimSun"/>
                <a:cs typeface="SimSun"/>
              </a:rPr>
              <a:t>不符合短文形式</a:t>
            </a:r>
            <a:endParaRPr sz="2200">
              <a:latin typeface="SimSun"/>
              <a:cs typeface="SimSun"/>
            </a:endParaRPr>
          </a:p>
        </p:txBody>
      </p:sp>
      <p:pic>
        <p:nvPicPr>
          <p:cNvPr id="3" name="object 3"/>
          <p:cNvPicPr/>
          <p:nvPr/>
        </p:nvPicPr>
        <p:blipFill>
          <a:blip r:embed="rId2" cstate="print"/>
          <a:stretch>
            <a:fillRect/>
          </a:stretch>
        </p:blipFill>
        <p:spPr>
          <a:xfrm>
            <a:off x="2622042" y="162953"/>
            <a:ext cx="9293987" cy="5969127"/>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7828" y="400964"/>
            <a:ext cx="1981200" cy="1031240"/>
          </a:xfrm>
          <a:prstGeom prst="rect">
            <a:avLst/>
          </a:prstGeom>
        </p:spPr>
        <p:txBody>
          <a:bodyPr vert="horz" wrap="square" lIns="0" tIns="12700" rIns="0" bIns="0" rtlCol="0">
            <a:spAutoFit/>
          </a:bodyPr>
          <a:lstStyle/>
          <a:p>
            <a:pPr marL="12700" marR="5080">
              <a:lnSpc>
                <a:spcPct val="150000"/>
              </a:lnSpc>
              <a:spcBef>
                <a:spcPts val="100"/>
              </a:spcBef>
            </a:pPr>
            <a:r>
              <a:rPr sz="2200" spc="-35" dirty="0">
                <a:latin typeface="SimSun"/>
                <a:cs typeface="SimSun"/>
              </a:rPr>
              <a:t>第一类错误：</a:t>
            </a:r>
            <a:r>
              <a:rPr sz="2200" spc="-50" dirty="0">
                <a:latin typeface="SimSun"/>
                <a:cs typeface="SimSun"/>
              </a:rPr>
              <a:t> </a:t>
            </a:r>
            <a:r>
              <a:rPr sz="2200" spc="-35" dirty="0">
                <a:latin typeface="SimSun"/>
                <a:cs typeface="SimSun"/>
              </a:rPr>
              <a:t>不符合短文形式</a:t>
            </a:r>
            <a:endParaRPr sz="2200">
              <a:latin typeface="SimSun"/>
              <a:cs typeface="SimSun"/>
            </a:endParaRPr>
          </a:p>
        </p:txBody>
      </p:sp>
      <p:pic>
        <p:nvPicPr>
          <p:cNvPr id="3" name="object 3"/>
          <p:cNvPicPr/>
          <p:nvPr/>
        </p:nvPicPr>
        <p:blipFill>
          <a:blip r:embed="rId2" cstate="print"/>
          <a:stretch>
            <a:fillRect/>
          </a:stretch>
        </p:blipFill>
        <p:spPr>
          <a:xfrm>
            <a:off x="955064" y="2751963"/>
            <a:ext cx="7269874" cy="881761"/>
          </a:xfrm>
          <a:prstGeom prst="rect">
            <a:avLst/>
          </a:prstGeom>
        </p:spPr>
      </p:pic>
      <p:sp>
        <p:nvSpPr>
          <p:cNvPr id="4" name="object 4"/>
          <p:cNvSpPr txBox="1"/>
          <p:nvPr/>
        </p:nvSpPr>
        <p:spPr>
          <a:xfrm>
            <a:off x="1017828" y="1699641"/>
            <a:ext cx="2259965" cy="360680"/>
          </a:xfrm>
          <a:prstGeom prst="rect">
            <a:avLst/>
          </a:prstGeom>
        </p:spPr>
        <p:txBody>
          <a:bodyPr vert="horz" wrap="square" lIns="0" tIns="12065" rIns="0" bIns="0" rtlCol="0">
            <a:spAutoFit/>
          </a:bodyPr>
          <a:lstStyle/>
          <a:p>
            <a:pPr marL="12700">
              <a:lnSpc>
                <a:spcPct val="100000"/>
              </a:lnSpc>
              <a:spcBef>
                <a:spcPts val="95"/>
              </a:spcBef>
            </a:pPr>
            <a:r>
              <a:rPr sz="2200" spc="-35" dirty="0">
                <a:latin typeface="SimSun"/>
                <a:cs typeface="SimSun"/>
              </a:rPr>
              <a:t>标题的错误示范：</a:t>
            </a:r>
            <a:endParaRPr sz="2200">
              <a:latin typeface="SimSun"/>
              <a:cs typeface="SimSun"/>
            </a:endParaRPr>
          </a:p>
        </p:txBody>
      </p:sp>
      <p:pic>
        <p:nvPicPr>
          <p:cNvPr id="5" name="object 5"/>
          <p:cNvPicPr/>
          <p:nvPr/>
        </p:nvPicPr>
        <p:blipFill>
          <a:blip r:embed="rId3" cstate="print"/>
          <a:stretch>
            <a:fillRect/>
          </a:stretch>
        </p:blipFill>
        <p:spPr>
          <a:xfrm>
            <a:off x="994856" y="3974109"/>
            <a:ext cx="11197105" cy="79855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276738"/>
            <a:ext cx="2261235" cy="1534160"/>
          </a:xfrm>
          <a:prstGeom prst="rect">
            <a:avLst/>
          </a:prstGeom>
        </p:spPr>
        <p:txBody>
          <a:bodyPr vert="horz" wrap="square" lIns="0" tIns="179705" rIns="0" bIns="0" rtlCol="0">
            <a:spAutoFit/>
          </a:bodyPr>
          <a:lstStyle/>
          <a:p>
            <a:pPr marL="12700">
              <a:lnSpc>
                <a:spcPct val="100000"/>
              </a:lnSpc>
              <a:spcBef>
                <a:spcPts val="1415"/>
              </a:spcBef>
            </a:pPr>
            <a:r>
              <a:rPr sz="2200" spc="-35" dirty="0">
                <a:latin typeface="SimSun"/>
                <a:cs typeface="SimSun"/>
              </a:rPr>
              <a:t>第一类错误：</a:t>
            </a:r>
            <a:endParaRPr sz="2200">
              <a:latin typeface="SimSun"/>
              <a:cs typeface="SimSun"/>
            </a:endParaRPr>
          </a:p>
          <a:p>
            <a:pPr marL="12700">
              <a:lnSpc>
                <a:spcPct val="100000"/>
              </a:lnSpc>
              <a:spcBef>
                <a:spcPts val="1320"/>
              </a:spcBef>
            </a:pPr>
            <a:r>
              <a:rPr sz="2200" spc="-35" dirty="0">
                <a:latin typeface="SimSun"/>
                <a:cs typeface="SimSun"/>
              </a:rPr>
              <a:t>不符合短文形式：</a:t>
            </a:r>
            <a:endParaRPr sz="2200">
              <a:latin typeface="SimSun"/>
              <a:cs typeface="SimSun"/>
            </a:endParaRPr>
          </a:p>
          <a:p>
            <a:pPr marL="12700">
              <a:lnSpc>
                <a:spcPct val="100000"/>
              </a:lnSpc>
              <a:spcBef>
                <a:spcPts val="1320"/>
              </a:spcBef>
            </a:pPr>
            <a:r>
              <a:rPr sz="2200" spc="-35" dirty="0">
                <a:latin typeface="SimSun"/>
                <a:cs typeface="SimSun"/>
              </a:rPr>
              <a:t>没有层次</a:t>
            </a:r>
            <a:endParaRPr sz="2200">
              <a:latin typeface="SimSun"/>
              <a:cs typeface="SimSun"/>
            </a:endParaRPr>
          </a:p>
        </p:txBody>
      </p:sp>
      <p:pic>
        <p:nvPicPr>
          <p:cNvPr id="3" name="object 3"/>
          <p:cNvPicPr/>
          <p:nvPr/>
        </p:nvPicPr>
        <p:blipFill>
          <a:blip r:embed="rId2" cstate="print"/>
          <a:stretch>
            <a:fillRect/>
          </a:stretch>
        </p:blipFill>
        <p:spPr>
          <a:xfrm>
            <a:off x="3034029" y="460273"/>
            <a:ext cx="8594852" cy="593749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87781" y="333654"/>
            <a:ext cx="2259965" cy="2037714"/>
          </a:xfrm>
          <a:prstGeom prst="rect">
            <a:avLst/>
          </a:prstGeom>
        </p:spPr>
        <p:txBody>
          <a:bodyPr vert="horz" wrap="square" lIns="0" tIns="12700" rIns="0" bIns="0" rtlCol="0">
            <a:spAutoFit/>
          </a:bodyPr>
          <a:lstStyle/>
          <a:p>
            <a:pPr marL="12700" marR="5080">
              <a:lnSpc>
                <a:spcPct val="150100"/>
              </a:lnSpc>
              <a:spcBef>
                <a:spcPts val="100"/>
              </a:spcBef>
            </a:pPr>
            <a:r>
              <a:rPr sz="2200" spc="-35" dirty="0">
                <a:latin typeface="SimSun"/>
                <a:cs typeface="SimSun"/>
              </a:rPr>
              <a:t>第二类错误示范：只有知识</a:t>
            </a:r>
            <a:endParaRPr sz="2200">
              <a:latin typeface="SimSun"/>
              <a:cs typeface="SimSun"/>
            </a:endParaRPr>
          </a:p>
          <a:p>
            <a:pPr marL="433070">
              <a:lnSpc>
                <a:spcPct val="100000"/>
              </a:lnSpc>
              <a:spcBef>
                <a:spcPts val="1320"/>
              </a:spcBef>
            </a:pPr>
            <a:r>
              <a:rPr sz="2200" spc="-25" dirty="0">
                <a:latin typeface="SimSun"/>
                <a:cs typeface="SimSun"/>
              </a:rPr>
              <a:t>or</a:t>
            </a:r>
            <a:endParaRPr sz="2200">
              <a:latin typeface="SimSun"/>
              <a:cs typeface="SimSun"/>
            </a:endParaRPr>
          </a:p>
          <a:p>
            <a:pPr marL="12700">
              <a:lnSpc>
                <a:spcPct val="100000"/>
              </a:lnSpc>
              <a:spcBef>
                <a:spcPts val="1320"/>
              </a:spcBef>
            </a:pPr>
            <a:r>
              <a:rPr sz="2200" spc="-35" dirty="0">
                <a:latin typeface="SimSun"/>
                <a:cs typeface="SimSun"/>
              </a:rPr>
              <a:t>只有材料</a:t>
            </a:r>
            <a:endParaRPr sz="2200">
              <a:latin typeface="SimSun"/>
              <a:cs typeface="SimSun"/>
            </a:endParaRPr>
          </a:p>
        </p:txBody>
      </p:sp>
      <p:pic>
        <p:nvPicPr>
          <p:cNvPr id="3" name="object 3"/>
          <p:cNvPicPr/>
          <p:nvPr/>
        </p:nvPicPr>
        <p:blipFill>
          <a:blip r:embed="rId2" cstate="print"/>
          <a:stretch>
            <a:fillRect/>
          </a:stretch>
        </p:blipFill>
        <p:spPr>
          <a:xfrm>
            <a:off x="3002533" y="40"/>
            <a:ext cx="8488045" cy="673684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448" y="621944"/>
            <a:ext cx="1981835" cy="1534795"/>
          </a:xfrm>
          <a:prstGeom prst="rect">
            <a:avLst/>
          </a:prstGeom>
        </p:spPr>
        <p:txBody>
          <a:bodyPr vert="horz" wrap="square" lIns="0" tIns="12700" rIns="0" bIns="0" rtlCol="0">
            <a:spAutoFit/>
          </a:bodyPr>
          <a:lstStyle/>
          <a:p>
            <a:pPr marL="12700" marR="5080" indent="266700" algn="r">
              <a:lnSpc>
                <a:spcPct val="150000"/>
              </a:lnSpc>
              <a:spcBef>
                <a:spcPts val="100"/>
              </a:spcBef>
            </a:pPr>
            <a:r>
              <a:rPr sz="2200" spc="-35" dirty="0">
                <a:latin typeface="SimSun"/>
                <a:cs typeface="SimSun"/>
              </a:rPr>
              <a:t>第三类错误：没有综合运用</a:t>
            </a:r>
            <a:r>
              <a:rPr sz="2200" spc="-50" dirty="0">
                <a:latin typeface="SimSun"/>
                <a:cs typeface="SimSun"/>
              </a:rPr>
              <a:t> </a:t>
            </a:r>
            <a:r>
              <a:rPr sz="2200" spc="-35" dirty="0">
                <a:latin typeface="SimSun"/>
                <a:cs typeface="SimSun"/>
              </a:rPr>
              <a:t>多个模块的知识</a:t>
            </a:r>
            <a:endParaRPr sz="2200">
              <a:latin typeface="SimSun"/>
              <a:cs typeface="SimSun"/>
            </a:endParaRPr>
          </a:p>
        </p:txBody>
      </p:sp>
      <p:pic>
        <p:nvPicPr>
          <p:cNvPr id="3" name="object 3"/>
          <p:cNvPicPr/>
          <p:nvPr/>
        </p:nvPicPr>
        <p:blipFill>
          <a:blip r:embed="rId2" cstate="print"/>
          <a:stretch>
            <a:fillRect/>
          </a:stretch>
        </p:blipFill>
        <p:spPr>
          <a:xfrm>
            <a:off x="2591816" y="307619"/>
            <a:ext cx="8988806" cy="624281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855" y="951763"/>
            <a:ext cx="1703070" cy="1031875"/>
          </a:xfrm>
          <a:prstGeom prst="rect">
            <a:avLst/>
          </a:prstGeom>
        </p:spPr>
        <p:txBody>
          <a:bodyPr vert="horz" wrap="square" lIns="0" tIns="12700" rIns="0" bIns="0" rtlCol="0">
            <a:spAutoFit/>
          </a:bodyPr>
          <a:lstStyle/>
          <a:p>
            <a:pPr marL="12700" marR="5080">
              <a:lnSpc>
                <a:spcPct val="150100"/>
              </a:lnSpc>
              <a:spcBef>
                <a:spcPts val="100"/>
              </a:spcBef>
            </a:pPr>
            <a:r>
              <a:rPr sz="2200" spc="-35" dirty="0">
                <a:latin typeface="SimSun"/>
                <a:cs typeface="SimSun"/>
              </a:rPr>
              <a:t>第三类错误：</a:t>
            </a:r>
            <a:r>
              <a:rPr sz="2200" spc="-30" dirty="0">
                <a:latin typeface="SimSun"/>
                <a:cs typeface="SimSun"/>
              </a:rPr>
              <a:t>论述不充分</a:t>
            </a:r>
            <a:endParaRPr sz="2200">
              <a:latin typeface="SimSun"/>
              <a:cs typeface="SimSun"/>
            </a:endParaRPr>
          </a:p>
        </p:txBody>
      </p:sp>
      <p:pic>
        <p:nvPicPr>
          <p:cNvPr id="3" name="object 3"/>
          <p:cNvPicPr/>
          <p:nvPr/>
        </p:nvPicPr>
        <p:blipFill>
          <a:blip r:embed="rId2" cstate="print"/>
          <a:stretch>
            <a:fillRect/>
          </a:stretch>
        </p:blipFill>
        <p:spPr>
          <a:xfrm>
            <a:off x="2437002" y="145478"/>
            <a:ext cx="9641078" cy="632193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8436" y="408812"/>
            <a:ext cx="1422400" cy="360680"/>
          </a:xfrm>
          <a:prstGeom prst="rect">
            <a:avLst/>
          </a:prstGeom>
        </p:spPr>
        <p:txBody>
          <a:bodyPr vert="horz" wrap="square" lIns="0" tIns="12065" rIns="0" bIns="0" rtlCol="0">
            <a:spAutoFit/>
          </a:bodyPr>
          <a:lstStyle/>
          <a:p>
            <a:pPr marL="12700">
              <a:lnSpc>
                <a:spcPct val="100000"/>
              </a:lnSpc>
              <a:spcBef>
                <a:spcPts val="95"/>
              </a:spcBef>
            </a:pPr>
            <a:r>
              <a:rPr sz="2200" spc="-35" dirty="0">
                <a:latin typeface="SimSun"/>
                <a:cs typeface="SimSun"/>
              </a:rPr>
              <a:t>优秀示例：</a:t>
            </a:r>
            <a:endParaRPr sz="2200">
              <a:latin typeface="SimSun"/>
              <a:cs typeface="SimSun"/>
            </a:endParaRPr>
          </a:p>
        </p:txBody>
      </p:sp>
      <p:pic>
        <p:nvPicPr>
          <p:cNvPr id="3" name="object 3"/>
          <p:cNvPicPr/>
          <p:nvPr/>
        </p:nvPicPr>
        <p:blipFill>
          <a:blip r:embed="rId2" cstate="print"/>
          <a:stretch>
            <a:fillRect/>
          </a:stretch>
        </p:blipFill>
        <p:spPr>
          <a:xfrm>
            <a:off x="2347595" y="75436"/>
            <a:ext cx="8495953" cy="678255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8436" y="408812"/>
            <a:ext cx="1422400" cy="360680"/>
          </a:xfrm>
          <a:prstGeom prst="rect">
            <a:avLst/>
          </a:prstGeom>
        </p:spPr>
        <p:txBody>
          <a:bodyPr vert="horz" wrap="square" lIns="0" tIns="12065" rIns="0" bIns="0" rtlCol="0">
            <a:spAutoFit/>
          </a:bodyPr>
          <a:lstStyle/>
          <a:p>
            <a:pPr marL="12700">
              <a:lnSpc>
                <a:spcPct val="100000"/>
              </a:lnSpc>
              <a:spcBef>
                <a:spcPts val="95"/>
              </a:spcBef>
            </a:pPr>
            <a:r>
              <a:rPr sz="2200" spc="-35" dirty="0">
                <a:latin typeface="SimSun"/>
                <a:cs typeface="SimSun"/>
              </a:rPr>
              <a:t>优秀示例：</a:t>
            </a:r>
            <a:endParaRPr sz="2200">
              <a:latin typeface="SimSun"/>
              <a:cs typeface="SimSun"/>
            </a:endParaRPr>
          </a:p>
        </p:txBody>
      </p:sp>
      <p:pic>
        <p:nvPicPr>
          <p:cNvPr id="3" name="object 3"/>
          <p:cNvPicPr/>
          <p:nvPr/>
        </p:nvPicPr>
        <p:blipFill>
          <a:blip r:embed="rId2" cstate="print"/>
          <a:stretch>
            <a:fillRect/>
          </a:stretch>
        </p:blipFill>
        <p:spPr>
          <a:xfrm>
            <a:off x="2424557" y="44"/>
            <a:ext cx="8469503" cy="6857954"/>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FAC46">
              <a:alpha val="30195"/>
            </a:srgbClr>
          </a:solidFill>
        </p:spPr>
        <p:txBody>
          <a:bodyPr wrap="square" lIns="0" tIns="0" rIns="0" bIns="0" rtlCol="0"/>
          <a:lstStyle/>
          <a:p>
            <a:endParaRPr/>
          </a:p>
        </p:txBody>
      </p:sp>
      <p:grpSp>
        <p:nvGrpSpPr>
          <p:cNvPr id="3" name="object 3"/>
          <p:cNvGrpSpPr/>
          <p:nvPr/>
        </p:nvGrpSpPr>
        <p:grpSpPr>
          <a:xfrm>
            <a:off x="-1586" y="0"/>
            <a:ext cx="12193905" cy="6461760"/>
            <a:chOff x="-1586" y="0"/>
            <a:chExt cx="12193905" cy="6461760"/>
          </a:xfrm>
        </p:grpSpPr>
        <p:pic>
          <p:nvPicPr>
            <p:cNvPr id="4" name="object 4"/>
            <p:cNvPicPr/>
            <p:nvPr/>
          </p:nvPicPr>
          <p:blipFill>
            <a:blip r:embed="rId2" cstate="print"/>
            <a:stretch>
              <a:fillRect/>
            </a:stretch>
          </p:blipFill>
          <p:spPr>
            <a:xfrm>
              <a:off x="-1586" y="0"/>
              <a:ext cx="12193586" cy="2720664"/>
            </a:xfrm>
            <a:prstGeom prst="rect">
              <a:avLst/>
            </a:prstGeom>
          </p:spPr>
        </p:pic>
        <p:pic>
          <p:nvPicPr>
            <p:cNvPr id="5" name="object 5"/>
            <p:cNvPicPr/>
            <p:nvPr/>
          </p:nvPicPr>
          <p:blipFill>
            <a:blip r:embed="rId3" cstate="print"/>
            <a:stretch>
              <a:fillRect/>
            </a:stretch>
          </p:blipFill>
          <p:spPr>
            <a:xfrm>
              <a:off x="361188" y="467868"/>
              <a:ext cx="11465052" cy="5993892"/>
            </a:xfrm>
            <a:prstGeom prst="rect">
              <a:avLst/>
            </a:prstGeom>
          </p:spPr>
        </p:pic>
        <p:sp>
          <p:nvSpPr>
            <p:cNvPr id="6" name="object 6"/>
            <p:cNvSpPr/>
            <p:nvPr/>
          </p:nvSpPr>
          <p:spPr>
            <a:xfrm>
              <a:off x="413829" y="483831"/>
              <a:ext cx="11364595" cy="5890895"/>
            </a:xfrm>
            <a:custGeom>
              <a:avLst/>
              <a:gdLst/>
              <a:ahLst/>
              <a:cxnLst/>
              <a:rect l="l" t="t" r="r" b="b"/>
              <a:pathLst>
                <a:path w="11364595" h="5890895">
                  <a:moveTo>
                    <a:pt x="11364341" y="0"/>
                  </a:moveTo>
                  <a:lnTo>
                    <a:pt x="0" y="0"/>
                  </a:lnTo>
                  <a:lnTo>
                    <a:pt x="0" y="5890387"/>
                  </a:lnTo>
                  <a:lnTo>
                    <a:pt x="11364341" y="5890387"/>
                  </a:lnTo>
                  <a:lnTo>
                    <a:pt x="11364341" y="0"/>
                  </a:lnTo>
                  <a:close/>
                </a:path>
              </a:pathLst>
            </a:custGeom>
            <a:solidFill>
              <a:srgbClr val="FFFFFF"/>
            </a:solidFill>
          </p:spPr>
          <p:txBody>
            <a:bodyPr wrap="square" lIns="0" tIns="0" rIns="0" bIns="0" rtlCol="0"/>
            <a:lstStyle/>
            <a:p>
              <a:endParaRPr/>
            </a:p>
          </p:txBody>
        </p:sp>
        <p:sp>
          <p:nvSpPr>
            <p:cNvPr id="7" name="object 7"/>
            <p:cNvSpPr/>
            <p:nvPr/>
          </p:nvSpPr>
          <p:spPr>
            <a:xfrm>
              <a:off x="838200" y="1264792"/>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grpSp>
      <p:sp>
        <p:nvSpPr>
          <p:cNvPr id="8" name="object 8"/>
          <p:cNvSpPr txBox="1"/>
          <p:nvPr/>
        </p:nvSpPr>
        <p:spPr>
          <a:xfrm>
            <a:off x="832815" y="1468373"/>
            <a:ext cx="10388600" cy="3634740"/>
          </a:xfrm>
          <a:prstGeom prst="rect">
            <a:avLst/>
          </a:prstGeom>
        </p:spPr>
        <p:txBody>
          <a:bodyPr vert="horz" wrap="square" lIns="0" tIns="12700" rIns="0" bIns="0" rtlCol="0">
            <a:spAutoFit/>
          </a:bodyPr>
          <a:lstStyle/>
          <a:p>
            <a:pPr marL="317500" indent="-304800">
              <a:lnSpc>
                <a:spcPct val="100000"/>
              </a:lnSpc>
              <a:spcBef>
                <a:spcPts val="100"/>
              </a:spcBef>
              <a:buSzPct val="95833"/>
              <a:buFont typeface="Times New Roman"/>
              <a:buAutoNum type="arabicPeriod"/>
              <a:tabLst>
                <a:tab pos="317500" algn="l"/>
              </a:tabLst>
            </a:pPr>
            <a:r>
              <a:rPr sz="2400" dirty="0">
                <a:latin typeface="SimSun"/>
                <a:cs typeface="SimSun"/>
              </a:rPr>
              <a:t>重视教材、研读教材、用好教材（如探究与分享、综合探究</a:t>
            </a:r>
            <a:r>
              <a:rPr sz="2400" spc="-50" dirty="0">
                <a:latin typeface="SimSun"/>
                <a:cs typeface="SimSun"/>
              </a:rPr>
              <a:t>）</a:t>
            </a:r>
            <a:endParaRPr sz="2400">
              <a:latin typeface="SimSun"/>
              <a:cs typeface="SimSun"/>
            </a:endParaRPr>
          </a:p>
          <a:p>
            <a:pPr marL="317500" indent="-304800">
              <a:lnSpc>
                <a:spcPct val="100000"/>
              </a:lnSpc>
              <a:spcBef>
                <a:spcPts val="1775"/>
              </a:spcBef>
              <a:buSzPct val="95833"/>
              <a:buFont typeface="Times New Roman"/>
              <a:buAutoNum type="arabicPeriod"/>
              <a:tabLst>
                <a:tab pos="317500" algn="l"/>
              </a:tabLst>
            </a:pPr>
            <a:r>
              <a:rPr sz="2400" dirty="0">
                <a:latin typeface="SimSun"/>
                <a:cs typeface="SimSun"/>
              </a:rPr>
              <a:t>把握主干知识，引导学生建构知识体系（如辩证法，民法等</a:t>
            </a:r>
            <a:r>
              <a:rPr sz="2400" spc="-50" dirty="0">
                <a:latin typeface="SimSun"/>
                <a:cs typeface="SimSun"/>
              </a:rPr>
              <a:t>）</a:t>
            </a:r>
            <a:endParaRPr sz="2400">
              <a:latin typeface="SimSun"/>
              <a:cs typeface="SimSun"/>
            </a:endParaRPr>
          </a:p>
          <a:p>
            <a:pPr marL="316230" indent="-303530">
              <a:lnSpc>
                <a:spcPct val="100000"/>
              </a:lnSpc>
              <a:spcBef>
                <a:spcPts val="1775"/>
              </a:spcBef>
              <a:buSzPct val="95833"/>
              <a:buFont typeface="Times New Roman"/>
              <a:buAutoNum type="arabicPeriod"/>
              <a:tabLst>
                <a:tab pos="316230" algn="l"/>
              </a:tabLst>
            </a:pPr>
            <a:r>
              <a:rPr sz="2400" spc="-10" dirty="0">
                <a:latin typeface="SimSun"/>
                <a:cs typeface="SimSun"/>
              </a:rPr>
              <a:t>讲请讲透，引导学生准确理解重点难点问题（</a:t>
            </a:r>
            <a:r>
              <a:rPr sz="2400" spc="-15" dirty="0">
                <a:latin typeface="SimSun"/>
                <a:cs typeface="SimSun"/>
              </a:rPr>
              <a:t>如形式逻辑、侵权、违约、法</a:t>
            </a:r>
            <a:endParaRPr sz="2400">
              <a:latin typeface="SimSun"/>
              <a:cs typeface="SimSun"/>
            </a:endParaRPr>
          </a:p>
          <a:p>
            <a:pPr marL="12700">
              <a:lnSpc>
                <a:spcPct val="100000"/>
              </a:lnSpc>
              <a:spcBef>
                <a:spcPts val="580"/>
              </a:spcBef>
            </a:pPr>
            <a:r>
              <a:rPr sz="2400" dirty="0">
                <a:latin typeface="SimSun"/>
                <a:cs typeface="SimSun"/>
              </a:rPr>
              <a:t>治经济</a:t>
            </a:r>
            <a:r>
              <a:rPr sz="2400" spc="-50" dirty="0">
                <a:latin typeface="SimSun"/>
                <a:cs typeface="SimSun"/>
              </a:rPr>
              <a:t>）</a:t>
            </a:r>
            <a:endParaRPr sz="2400">
              <a:latin typeface="SimSun"/>
              <a:cs typeface="SimSun"/>
            </a:endParaRPr>
          </a:p>
          <a:p>
            <a:pPr marL="12700" marR="5080" indent="304800">
              <a:lnSpc>
                <a:spcPct val="120100"/>
              </a:lnSpc>
              <a:spcBef>
                <a:spcPts val="1195"/>
              </a:spcBef>
              <a:buSzPct val="95833"/>
              <a:buFont typeface="Times New Roman"/>
              <a:buAutoNum type="arabicPeriod" startAt="4"/>
              <a:tabLst>
                <a:tab pos="317500" algn="l"/>
              </a:tabLst>
            </a:pPr>
            <a:r>
              <a:rPr sz="2400" dirty="0">
                <a:latin typeface="SimSun"/>
                <a:cs typeface="SimSun"/>
              </a:rPr>
              <a:t>关注学情变化，引导学生形成清晰有条理的表达习惯（</a:t>
            </a:r>
            <a:r>
              <a:rPr sz="2400" spc="-10" dirty="0">
                <a:latin typeface="SimSun"/>
                <a:cs typeface="SimSun"/>
              </a:rPr>
              <a:t>如组织答案要点、写</a:t>
            </a:r>
            <a:r>
              <a:rPr sz="2400" dirty="0">
                <a:latin typeface="SimSun"/>
                <a:cs typeface="SimSun"/>
              </a:rPr>
              <a:t>短文</a:t>
            </a:r>
            <a:r>
              <a:rPr sz="2400" spc="-50" dirty="0">
                <a:latin typeface="SimSun"/>
                <a:cs typeface="SimSun"/>
              </a:rPr>
              <a:t>）</a:t>
            </a:r>
            <a:endParaRPr sz="2400">
              <a:latin typeface="SimSun"/>
              <a:cs typeface="SimSun"/>
            </a:endParaRPr>
          </a:p>
          <a:p>
            <a:pPr marL="317500" indent="-304800">
              <a:lnSpc>
                <a:spcPct val="100000"/>
              </a:lnSpc>
              <a:spcBef>
                <a:spcPts val="1775"/>
              </a:spcBef>
              <a:buSzPct val="95833"/>
              <a:buFont typeface="Times New Roman"/>
              <a:buAutoNum type="arabicPeriod" startAt="4"/>
              <a:tabLst>
                <a:tab pos="317500" algn="l"/>
              </a:tabLst>
            </a:pPr>
            <a:r>
              <a:rPr sz="2400" spc="-5" dirty="0">
                <a:latin typeface="SimSun"/>
                <a:cs typeface="SimSun"/>
              </a:rPr>
              <a:t>合理使用各区模拟题，处理好复习与练习的关系</a:t>
            </a:r>
            <a:endParaRPr sz="2400">
              <a:latin typeface="SimSun"/>
              <a:cs typeface="SimSu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271</TotalTime>
  <Words>4425</Words>
  <Application>Microsoft Office PowerPoint</Application>
  <PresentationFormat>宽屏</PresentationFormat>
  <Paragraphs>513</Paragraphs>
  <Slides>71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71</vt:i4>
      </vt:variant>
    </vt:vector>
  </HeadingPairs>
  <TitlesOfParts>
    <vt:vector size="83" baseType="lpstr">
      <vt:lpstr>Arial MT</vt:lpstr>
      <vt:lpstr>Microsoft JhengHei</vt:lpstr>
      <vt:lpstr>Microsoft JhengHei UI</vt:lpstr>
      <vt:lpstr>楷体</vt:lpstr>
      <vt:lpstr>SimSun</vt:lpstr>
      <vt:lpstr>Microsoft YaHei</vt:lpstr>
      <vt:lpstr>Arial</vt:lpstr>
      <vt:lpstr>Calibri</vt:lpstr>
      <vt:lpstr>Calibri Light</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可从联系的观点、发展的观点、实现中华优秀传统文化创造性转化与创新性发展 等角度作答。</vt:lpstr>
      <vt:lpstr>PowerPoint 演示文稿</vt:lpstr>
      <vt:lpstr>PowerPoint 演示文稿</vt:lpstr>
      <vt:lpstr>学生典型问题</vt:lpstr>
      <vt:lpstr>17题（1）</vt:lpstr>
      <vt:lpstr>PowerPoint 演示文稿</vt:lpstr>
      <vt:lpstr>PowerPoint 演示文稿</vt:lpstr>
      <vt:lpstr>PowerPoint 演示文稿</vt:lpstr>
      <vt:lpstr>知识问题</vt:lpstr>
      <vt:lpstr>其他需要注意的问题</vt:lpstr>
      <vt:lpstr>PowerPoint 演示文稿</vt:lpstr>
      <vt:lpstr>PowerPoint 演示文稿</vt:lpstr>
      <vt:lpstr>PowerPoint 演示文稿</vt:lpstr>
      <vt:lpstr>PowerPoint 演示文稿</vt:lpstr>
      <vt:lpstr>一、评分细则</vt:lpstr>
      <vt:lpstr>问题：问的是“是如何运用创新思维”，而非评价</vt:lpstr>
      <vt:lpstr>问题：部分学生习惯于表述为“体现了”</vt:lpstr>
      <vt:lpstr>问题：知识范围不对</vt:lpstr>
      <vt:lpstr>三、学生问题</vt:lpstr>
      <vt:lpstr>四、教学建议</vt:lpstr>
      <vt:lpstr>五、反馈试题</vt:lpstr>
      <vt:lpstr>2023海淀期末19（2）题</vt:lpstr>
      <vt:lpstr>2024年东城期末18（2）题</vt:lpstr>
      <vt:lpstr>2025年顺义期末18题</vt:lpstr>
      <vt:lpstr>PowerPoint 演示文稿</vt:lpstr>
      <vt:lpstr>评分细则：分三个角度</vt:lpstr>
      <vt:lpstr>学生答题情况</vt:lpstr>
      <vt:lpstr>复习建议</vt:lpstr>
      <vt:lpstr>PowerPoint 演示文稿</vt:lpstr>
      <vt:lpstr>参考答案</vt:lpstr>
      <vt:lpstr>PowerPoint 演示文稿</vt:lpstr>
      <vt:lpstr>暴露的问题及建议：</vt:lpstr>
      <vt:lpstr>反馈试题：24年北京高考——分析案例</vt:lpstr>
      <vt:lpstr>海淀期末21题讲评</vt:lpstr>
      <vt:lpstr>一、试题分析</vt:lpstr>
      <vt:lpstr>PowerPoint 演示文稿</vt:lpstr>
      <vt:lpstr>PowerPoint 演示文稿</vt:lpstr>
      <vt:lpstr>PowerPoint 演示文稿</vt:lpstr>
      <vt:lpstr>PowerPoint 演示文稿</vt:lpstr>
      <vt:lpstr>二、典型问题</vt:lpstr>
      <vt:lpstr>二、典型问题</vt:lpstr>
      <vt:lpstr>三、教学建议</vt:lpstr>
      <vt:lpstr>四、反馈试题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第一类错误： 不符合短文形式</vt:lpstr>
      <vt:lpstr>第一类错误： 不符合短文形式</vt:lpstr>
      <vt:lpstr>PowerPoint 演示文稿</vt:lpstr>
      <vt:lpstr>PowerPoint 演示文稿</vt:lpstr>
      <vt:lpstr>第三类错误：没有综合运用 多个模块的知识</vt:lpstr>
      <vt:lpstr>第三类错误：论述不充分</vt:lpstr>
      <vt:lpstr>优秀示例：</vt:lpstr>
      <vt:lpstr>优秀示例：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kogolo</dc:creator>
  <cp:lastModifiedBy>243500719@qq.com</cp:lastModifiedBy>
  <cp:revision>11</cp:revision>
  <dcterms:created xsi:type="dcterms:W3CDTF">2025-01-18T21:56:04Z</dcterms:created>
  <dcterms:modified xsi:type="dcterms:W3CDTF">2025-01-20T05:18:39Z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2025-01-18T00:00:00Z</vt:filetime>
  </property>
  <property fmtid="{D5CDD505-2E9C-101B-9397-08002B2CF9AE}" pid="3" name="Creator">
    <vt:lpwstr>Microsoft® PowerPoint® 2016</vt:lpwstr>
  </property>
  <property fmtid="{D5CDD505-2E9C-101B-9397-08002B2CF9AE}" pid="4" name="LastSaved">
    <vt:filetime>2025-01-18T00:00:00Z</vt:filetime>
  </property>
  <property fmtid="{D5CDD505-2E9C-101B-9397-08002B2CF9AE}" pid="5" name="Producer">
    <vt:lpwstr>Microsoft® PowerPoint® 2016</vt:lpwstr>
  </property>
</Properties>
</file>